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60"/>
  </p:notesMasterIdLst>
  <p:sldIdLst>
    <p:sldId id="258" r:id="rId3"/>
    <p:sldId id="397" r:id="rId4"/>
    <p:sldId id="301" r:id="rId5"/>
    <p:sldId id="300" r:id="rId6"/>
    <p:sldId id="398" r:id="rId7"/>
    <p:sldId id="298" r:id="rId8"/>
    <p:sldId id="302" r:id="rId9"/>
    <p:sldId id="303" r:id="rId10"/>
    <p:sldId id="304" r:id="rId11"/>
    <p:sldId id="306" r:id="rId12"/>
    <p:sldId id="309" r:id="rId13"/>
    <p:sldId id="307" r:id="rId14"/>
    <p:sldId id="399" r:id="rId15"/>
    <p:sldId id="308" r:id="rId16"/>
    <p:sldId id="400" r:id="rId17"/>
    <p:sldId id="402" r:id="rId18"/>
    <p:sldId id="310" r:id="rId19"/>
    <p:sldId id="311" r:id="rId20"/>
    <p:sldId id="312" r:id="rId21"/>
    <p:sldId id="313" r:id="rId22"/>
    <p:sldId id="401" r:id="rId23"/>
    <p:sldId id="314" r:id="rId24"/>
    <p:sldId id="439" r:id="rId25"/>
    <p:sldId id="315" r:id="rId26"/>
    <p:sldId id="316" r:id="rId27"/>
    <p:sldId id="318" r:id="rId28"/>
    <p:sldId id="403" r:id="rId29"/>
    <p:sldId id="404" r:id="rId30"/>
    <p:sldId id="319" r:id="rId31"/>
    <p:sldId id="405" r:id="rId32"/>
    <p:sldId id="320" r:id="rId33"/>
    <p:sldId id="321" r:id="rId34"/>
    <p:sldId id="322" r:id="rId35"/>
    <p:sldId id="323" r:id="rId36"/>
    <p:sldId id="406" r:id="rId37"/>
    <p:sldId id="407" r:id="rId38"/>
    <p:sldId id="324" r:id="rId39"/>
    <p:sldId id="361" r:id="rId40"/>
    <p:sldId id="325" r:id="rId41"/>
    <p:sldId id="408" r:id="rId42"/>
    <p:sldId id="326" r:id="rId43"/>
    <p:sldId id="409" r:id="rId44"/>
    <p:sldId id="327" r:id="rId45"/>
    <p:sldId id="329" r:id="rId46"/>
    <p:sldId id="328" r:id="rId47"/>
    <p:sldId id="330" r:id="rId48"/>
    <p:sldId id="331" r:id="rId49"/>
    <p:sldId id="333" r:id="rId50"/>
    <p:sldId id="332" r:id="rId51"/>
    <p:sldId id="334" r:id="rId52"/>
    <p:sldId id="410" r:id="rId53"/>
    <p:sldId id="411" r:id="rId54"/>
    <p:sldId id="336" r:id="rId55"/>
    <p:sldId id="338" r:id="rId56"/>
    <p:sldId id="412" r:id="rId57"/>
    <p:sldId id="335" r:id="rId58"/>
    <p:sldId id="337" r:id="rId59"/>
    <p:sldId id="341" r:id="rId60"/>
    <p:sldId id="413" r:id="rId61"/>
    <p:sldId id="362" r:id="rId62"/>
    <p:sldId id="363" r:id="rId63"/>
    <p:sldId id="342" r:id="rId64"/>
    <p:sldId id="340" r:id="rId65"/>
    <p:sldId id="414" r:id="rId66"/>
    <p:sldId id="343" r:id="rId67"/>
    <p:sldId id="344" r:id="rId68"/>
    <p:sldId id="347" r:id="rId69"/>
    <p:sldId id="345" r:id="rId70"/>
    <p:sldId id="446" r:id="rId71"/>
    <p:sldId id="447" r:id="rId72"/>
    <p:sldId id="346" r:id="rId73"/>
    <p:sldId id="466" r:id="rId74"/>
    <p:sldId id="415" r:id="rId75"/>
    <p:sldId id="370" r:id="rId76"/>
    <p:sldId id="372" r:id="rId77"/>
    <p:sldId id="369" r:id="rId78"/>
    <p:sldId id="416" r:id="rId79"/>
    <p:sldId id="373" r:id="rId80"/>
    <p:sldId id="348" r:id="rId81"/>
    <p:sldId id="417" r:id="rId82"/>
    <p:sldId id="349" r:id="rId83"/>
    <p:sldId id="350" r:id="rId84"/>
    <p:sldId id="353" r:id="rId85"/>
    <p:sldId id="354" r:id="rId86"/>
    <p:sldId id="418" r:id="rId87"/>
    <p:sldId id="355" r:id="rId88"/>
    <p:sldId id="357" r:id="rId89"/>
    <p:sldId id="419" r:id="rId90"/>
    <p:sldId id="359" r:id="rId91"/>
    <p:sldId id="420" r:id="rId92"/>
    <p:sldId id="358" r:id="rId93"/>
    <p:sldId id="421" r:id="rId94"/>
    <p:sldId id="360" r:id="rId95"/>
    <p:sldId id="366" r:id="rId96"/>
    <p:sldId id="367" r:id="rId97"/>
    <p:sldId id="368" r:id="rId98"/>
    <p:sldId id="427" r:id="rId99"/>
    <p:sldId id="422" r:id="rId100"/>
    <p:sldId id="428" r:id="rId101"/>
    <p:sldId id="374" r:id="rId102"/>
    <p:sldId id="423" r:id="rId103"/>
    <p:sldId id="375" r:id="rId104"/>
    <p:sldId id="376" r:id="rId105"/>
    <p:sldId id="378" r:id="rId106"/>
    <p:sldId id="377" r:id="rId107"/>
    <p:sldId id="379" r:id="rId108"/>
    <p:sldId id="424" r:id="rId109"/>
    <p:sldId id="425" r:id="rId110"/>
    <p:sldId id="384" r:id="rId111"/>
    <p:sldId id="380" r:id="rId112"/>
    <p:sldId id="381" r:id="rId113"/>
    <p:sldId id="383" r:id="rId114"/>
    <p:sldId id="382" r:id="rId115"/>
    <p:sldId id="385" r:id="rId116"/>
    <p:sldId id="386" r:id="rId117"/>
    <p:sldId id="387" r:id="rId118"/>
    <p:sldId id="426" r:id="rId119"/>
    <p:sldId id="388" r:id="rId120"/>
    <p:sldId id="389" r:id="rId121"/>
    <p:sldId id="390" r:id="rId122"/>
    <p:sldId id="391" r:id="rId123"/>
    <p:sldId id="392" r:id="rId124"/>
    <p:sldId id="394" r:id="rId125"/>
    <p:sldId id="393" r:id="rId126"/>
    <p:sldId id="395" r:id="rId127"/>
    <p:sldId id="396" r:id="rId128"/>
    <p:sldId id="429" r:id="rId129"/>
    <p:sldId id="430" r:id="rId130"/>
    <p:sldId id="433" r:id="rId131"/>
    <p:sldId id="434" r:id="rId132"/>
    <p:sldId id="435" r:id="rId133"/>
    <p:sldId id="437" r:id="rId134"/>
    <p:sldId id="438" r:id="rId135"/>
    <p:sldId id="448" r:id="rId136"/>
    <p:sldId id="449" r:id="rId137"/>
    <p:sldId id="450" r:id="rId138"/>
    <p:sldId id="451" r:id="rId139"/>
    <p:sldId id="452" r:id="rId140"/>
    <p:sldId id="453" r:id="rId141"/>
    <p:sldId id="454" r:id="rId142"/>
    <p:sldId id="455" r:id="rId143"/>
    <p:sldId id="456" r:id="rId144"/>
    <p:sldId id="457" r:id="rId145"/>
    <p:sldId id="440" r:id="rId146"/>
    <p:sldId id="458" r:id="rId147"/>
    <p:sldId id="459" r:id="rId148"/>
    <p:sldId id="460" r:id="rId149"/>
    <p:sldId id="461" r:id="rId150"/>
    <p:sldId id="463" r:id="rId151"/>
    <p:sldId id="464" r:id="rId152"/>
    <p:sldId id="465" r:id="rId153"/>
    <p:sldId id="462" r:id="rId154"/>
    <p:sldId id="441" r:id="rId155"/>
    <p:sldId id="442" r:id="rId156"/>
    <p:sldId id="443" r:id="rId157"/>
    <p:sldId id="444" r:id="rId158"/>
    <p:sldId id="445" r:id="rId1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54" Type="http://schemas.openxmlformats.org/officeDocument/2006/relationships/slide" Target="slides/slide152.xml"/><Relationship Id="rId159" Type="http://schemas.openxmlformats.org/officeDocument/2006/relationships/slide" Target="slides/slide157.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slide" Target="slides/slide14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60" Type="http://schemas.openxmlformats.org/officeDocument/2006/relationships/notesMaster" Target="notesMasters/notes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slide" Target="slides/slide15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slide" Target="slides/slide141.xml"/><Relationship Id="rId148" Type="http://schemas.openxmlformats.org/officeDocument/2006/relationships/slide" Target="slides/slide146.xml"/><Relationship Id="rId151" Type="http://schemas.openxmlformats.org/officeDocument/2006/relationships/slide" Target="slides/slide149.xml"/><Relationship Id="rId156" Type="http://schemas.openxmlformats.org/officeDocument/2006/relationships/slide" Target="slides/slide154.xml"/><Relationship Id="rId16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theme" Target="theme/theme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02B8EC6-99C2-4AD2-AB06-AD5DCCEF6092}" type="datetimeFigureOut">
              <a:rPr lang="en-US" smtClean="0"/>
              <a:pPr/>
              <a:t>3/12/2026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50763E-8F8B-4313-A6FE-E021F7DCB88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C50763E-8F8B-4313-A6FE-E021F7DCB887}"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p:spPr>
        <p:txBody>
          <a:bodyPr/>
          <a:lstStyle/>
          <a:p>
            <a:fld id="{853024A3-0C2E-45DB-B82F-473A273E1F35}" type="slidenum">
              <a:rPr lang="en-US" smtClean="0"/>
              <a:pPr/>
              <a:t>48</a:t>
            </a:fld>
            <a:endParaRPr lang="en-US"/>
          </a:p>
        </p:txBody>
      </p:sp>
      <p:sp>
        <p:nvSpPr>
          <p:cNvPr id="249859" name="Rectangle 2"/>
          <p:cNvSpPr>
            <a:spLocks noGrp="1" noRot="1" noChangeAspect="1" noChangeArrowheads="1" noTextEdit="1"/>
          </p:cNvSpPr>
          <p:nvPr>
            <p:ph type="sldImg"/>
          </p:nvPr>
        </p:nvSpPr>
        <p:spPr>
          <a:ln/>
        </p:spPr>
      </p:sp>
      <p:sp>
        <p:nvSpPr>
          <p:cNvPr id="249860"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130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131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132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133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D6CE9E6-CED9-4B47-AE3B-6AD023DF56C3}"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7A604BC-8308-4083-B6FD-9E22D8ED14B1}"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5EB9678-6A8C-4D72-AF37-6AACBDDCCA3C}" type="slidenum">
              <a:rPr lang="en-US"/>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581AE42C-477A-4C9E-9560-4DD398F455E5}"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5EB433EF-D194-497D-AFFA-606830F4E69A}" type="slidenum">
              <a:rPr lang="en-US"/>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791A5C10-49DC-4AAD-A392-47399ABF66D8}" type="slidenum">
              <a:rPr lang="en-US"/>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DA664181-B7F4-47C1-ADBC-A411506A375D}" type="slidenum">
              <a:rPr lang="en-US"/>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CA8AB861-AF41-4CB1-B860-1AA00FDBD18A}" type="slidenum">
              <a:rPr lang="en-US"/>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338F8C75-53DB-41C0-845C-0573187C9BFE}" type="slidenum">
              <a:rPr lang="en-US"/>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6C5E805-56A8-4BAD-A2F9-CBB48157DAE9}" type="slidenum">
              <a:rPr lang="en-US"/>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D626601-F876-4448-819B-88411D430A7B}" type="slidenum">
              <a:rPr lang="en-US"/>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26418E4B-70D6-4E4D-AB7E-9D857DF55EF9}" type="slidenum">
              <a:rPr lang="en-US"/>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00200"/>
            <a:ext cx="4038600" cy="4525963"/>
          </a:xfrm>
        </p:spPr>
        <p:txBody>
          <a:bodyPr/>
          <a:lstStyle/>
          <a:p>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C75899C1-C94D-4C59-92FF-43F146094B63}" type="slidenum">
              <a:rPr lang="en-US"/>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5225"/>
            <a:ext cx="2133600" cy="476250"/>
          </a:xfrm>
        </p:spPr>
        <p:txBody>
          <a:bodyPr/>
          <a:lstStyle>
            <a:lvl1pPr>
              <a:defRPr/>
            </a:lvl1pPr>
          </a:lstStyle>
          <a:p>
            <a:endParaRPr lang="en-US"/>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endParaRPr lang="en-US"/>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fld id="{A327D4D6-0751-4A39-9C10-37B7E31606E0}" type="slidenum">
              <a:rPr lang="en-US"/>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457200" y="6245225"/>
            <a:ext cx="2133600" cy="476250"/>
          </a:xfrm>
        </p:spPr>
        <p:txBody>
          <a:bodyPr/>
          <a:lstStyle>
            <a:lvl1pPr>
              <a:defRPr/>
            </a:lvl1pPr>
          </a:lstStyle>
          <a:p>
            <a:endParaRPr lang="en-US"/>
          </a:p>
        </p:txBody>
      </p:sp>
      <p:sp>
        <p:nvSpPr>
          <p:cNvPr id="4" name="Footer Placeholder 3"/>
          <p:cNvSpPr>
            <a:spLocks noGrp="1"/>
          </p:cNvSpPr>
          <p:nvPr>
            <p:ph type="ftr" sz="quarter" idx="11"/>
          </p:nvPr>
        </p:nvSpPr>
        <p:spPr>
          <a:xfrm>
            <a:off x="3124200" y="6245225"/>
            <a:ext cx="2895600" cy="476250"/>
          </a:xfrm>
        </p:spPr>
        <p:txBody>
          <a:bodyPr/>
          <a:lstStyle>
            <a:lvl1pPr>
              <a:defRPr/>
            </a:lvl1pPr>
          </a:lstStyle>
          <a:p>
            <a:endParaRPr lang="en-US"/>
          </a:p>
        </p:txBody>
      </p:sp>
      <p:sp>
        <p:nvSpPr>
          <p:cNvPr id="5" name="Slide Number Placeholder 4"/>
          <p:cNvSpPr>
            <a:spLocks noGrp="1"/>
          </p:cNvSpPr>
          <p:nvPr>
            <p:ph type="sldNum" sz="quarter" idx="12"/>
          </p:nvPr>
        </p:nvSpPr>
        <p:spPr>
          <a:xfrm>
            <a:off x="6553200" y="6245225"/>
            <a:ext cx="2133600" cy="476250"/>
          </a:xfrm>
        </p:spPr>
        <p:txBody>
          <a:bodyPr/>
          <a:lstStyle>
            <a:lvl1pPr>
              <a:defRPr/>
            </a:lvl1pPr>
          </a:lstStyle>
          <a:p>
            <a:fld id="{89030011-1923-4BF9-A289-EE8F4B6B85C7}" type="slidenum">
              <a:rPr lang="en-US"/>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quarter" idx="1"/>
          </p:nvPr>
        </p:nvSpPr>
        <p:spPr>
          <a:xfrm>
            <a:off x="457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245225"/>
            <a:ext cx="2133600" cy="476250"/>
          </a:xfrm>
        </p:spPr>
        <p:txBody>
          <a:bodyPr/>
          <a:lstStyle>
            <a:lvl1pPr>
              <a:defRPr/>
            </a:lvl1pPr>
          </a:lstStyle>
          <a:p>
            <a:endParaRPr lang="en-US"/>
          </a:p>
        </p:txBody>
      </p:sp>
      <p:sp>
        <p:nvSpPr>
          <p:cNvPr id="8" name="Footer Placeholder 7"/>
          <p:cNvSpPr>
            <a:spLocks noGrp="1"/>
          </p:cNvSpPr>
          <p:nvPr>
            <p:ph type="ftr" sz="quarter" idx="11"/>
          </p:nvPr>
        </p:nvSpPr>
        <p:spPr>
          <a:xfrm>
            <a:off x="3124200" y="6245225"/>
            <a:ext cx="2895600" cy="476250"/>
          </a:xfrm>
        </p:spPr>
        <p:txBody>
          <a:bodyPr/>
          <a:lstStyle>
            <a:lvl1pPr>
              <a:defRPr/>
            </a:lvl1pPr>
          </a:lstStyle>
          <a:p>
            <a:endParaRPr lang="en-US"/>
          </a:p>
        </p:txBody>
      </p:sp>
      <p:sp>
        <p:nvSpPr>
          <p:cNvPr id="9" name="Slide Number Placeholder 8"/>
          <p:cNvSpPr>
            <a:spLocks noGrp="1"/>
          </p:cNvSpPr>
          <p:nvPr>
            <p:ph type="sldNum" sz="quarter" idx="12"/>
          </p:nvPr>
        </p:nvSpPr>
        <p:spPr>
          <a:xfrm>
            <a:off x="6553200" y="6245225"/>
            <a:ext cx="2133600" cy="476250"/>
          </a:xfrm>
        </p:spPr>
        <p:txBody>
          <a:bodyPr/>
          <a:lstStyle>
            <a:lvl1pPr>
              <a:defRPr/>
            </a:lvl1pPr>
          </a:lstStyle>
          <a:p>
            <a:fld id="{F8A6D5DB-2EE1-4C11-A478-A1C78B145B02}" type="slidenum">
              <a:rPr lang="en-US"/>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5225"/>
            <a:ext cx="2133600" cy="476250"/>
          </a:xfrm>
        </p:spPr>
        <p:txBody>
          <a:bodyPr/>
          <a:lstStyle>
            <a:lvl1pPr>
              <a:defRPr/>
            </a:lvl1pPr>
          </a:lstStyle>
          <a:p>
            <a:endParaRPr lang="en-US"/>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endParaRPr lang="en-US"/>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fld id="{63250DF1-BFA7-4AEA-B5A3-1ACB69DB13D5}"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8371"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37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vl1pPr>
          </a:lstStyle>
          <a:p>
            <a:endParaRPr lang="en-US"/>
          </a:p>
        </p:txBody>
      </p:sp>
      <p:sp>
        <p:nvSpPr>
          <p:cNvPr id="5837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5837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A945E353-CA23-4DCB-B0B5-73AE1CDF66E6}"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3.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8.xml"/><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4.xml"/><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5.xml"/><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6.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1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7.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1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8.xml"/><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90600" y="685800"/>
            <a:ext cx="7162800" cy="4800600"/>
          </a:xfrm>
        </p:spPr>
        <p:txBody>
          <a:bodyPr/>
          <a:lstStyle/>
          <a:p>
            <a:pPr marL="514350" indent="-514350" algn="l">
              <a:lnSpc>
                <a:spcPct val="200000"/>
              </a:lnSpc>
            </a:pPr>
            <a:endParaRPr lang="en-US" sz="2400" b="1" dirty="0"/>
          </a:p>
          <a:p>
            <a:pPr marL="514350" indent="-514350" algn="l"/>
            <a:endParaRPr lang="en-US" sz="2400" b="1" dirty="0"/>
          </a:p>
          <a:p>
            <a:r>
              <a:rPr lang="en-IN" sz="8800" b="1" dirty="0"/>
              <a:t>SQL-99 </a:t>
            </a:r>
          </a:p>
          <a:p>
            <a:pPr algn="l"/>
            <a:r>
              <a:rPr lang="en-IN" b="1" dirty="0"/>
              <a:t>Schema Definition</a:t>
            </a:r>
          </a:p>
          <a:p>
            <a:pPr algn="l"/>
            <a:r>
              <a:rPr lang="en-IN" b="1" dirty="0"/>
              <a:t>Basic Constraints </a:t>
            </a:r>
          </a:p>
          <a:p>
            <a:pPr algn="l"/>
            <a:r>
              <a:rPr lang="en-IN" b="1" dirty="0"/>
              <a:t>Queries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8077200" cy="533400"/>
          </a:xfrm>
        </p:spPr>
        <p:txBody>
          <a:bodyPr/>
          <a:lstStyle/>
          <a:p>
            <a:pPr algn="l"/>
            <a:r>
              <a:rPr lang="en-US" sz="2800" dirty="0"/>
              <a:t> </a:t>
            </a:r>
            <a:r>
              <a:rPr lang="en-US" sz="2400" b="1" dirty="0">
                <a:latin typeface="Tahoma" pitchFamily="34" charset="0"/>
                <a:ea typeface="Tahoma" pitchFamily="34" charset="0"/>
                <a:cs typeface="Tahoma" pitchFamily="34" charset="0"/>
              </a:rPr>
              <a:t>SQL - </a:t>
            </a:r>
            <a:r>
              <a:rPr lang="en-US" sz="2000" b="1" dirty="0">
                <a:latin typeface="Tahoma" pitchFamily="34" charset="0"/>
                <a:ea typeface="Tahoma" pitchFamily="34" charset="0"/>
                <a:cs typeface="Tahoma" pitchFamily="34" charset="0"/>
              </a:rPr>
              <a:t>The Relational Database Standard</a:t>
            </a:r>
            <a:endParaRPr lang="en-US" sz="2800" dirty="0">
              <a:latin typeface="Tahoma" pitchFamily="34" charset="0"/>
              <a:ea typeface="Tahoma" pitchFamily="34" charset="0"/>
              <a:cs typeface="Tahoma" pitchFamily="34" charset="0"/>
            </a:endParaRPr>
          </a:p>
        </p:txBody>
      </p:sp>
      <p:sp>
        <p:nvSpPr>
          <p:cNvPr id="3" name="Subtitle 2"/>
          <p:cNvSpPr>
            <a:spLocks noGrp="1"/>
          </p:cNvSpPr>
          <p:nvPr>
            <p:ph type="subTitle" idx="1"/>
          </p:nvPr>
        </p:nvSpPr>
        <p:spPr>
          <a:xfrm>
            <a:off x="381000" y="762000"/>
            <a:ext cx="8458200" cy="5562600"/>
          </a:xfrm>
        </p:spPr>
        <p:txBody>
          <a:bodyPr/>
          <a:lstStyle/>
          <a:p>
            <a:pPr marL="342900" indent="-342900" algn="just">
              <a:lnSpc>
                <a:spcPct val="200000"/>
              </a:lnSpc>
              <a:buFontTx/>
              <a:buChar char="•"/>
            </a:pPr>
            <a:r>
              <a:rPr lang="en-US" sz="2400" dirty="0">
                <a:latin typeface="Tahoma" pitchFamily="34" charset="0"/>
                <a:ea typeface="Tahoma" pitchFamily="34" charset="0"/>
                <a:cs typeface="Tahoma" pitchFamily="34" charset="0"/>
              </a:rPr>
              <a:t>SQL </a:t>
            </a:r>
            <a:r>
              <a:rPr lang="en-US" sz="2400" dirty="0">
                <a:latin typeface="Tahoma" pitchFamily="34" charset="0"/>
                <a:ea typeface="Tahoma" pitchFamily="34" charset="0"/>
                <a:cs typeface="Tahoma" pitchFamily="34" charset="0"/>
                <a:sym typeface="Wingdings" pitchFamily="2" charset="2"/>
              </a:rPr>
              <a:t> </a:t>
            </a:r>
            <a:r>
              <a:rPr lang="en-US" sz="2400" dirty="0">
                <a:latin typeface="Tahoma" pitchFamily="34" charset="0"/>
                <a:ea typeface="Tahoma" pitchFamily="34" charset="0"/>
                <a:cs typeface="Tahoma" pitchFamily="34" charset="0"/>
              </a:rPr>
              <a:t>Structured Query Language</a:t>
            </a:r>
          </a:p>
          <a:p>
            <a:pPr marL="800100" lvl="1" indent="-342900" algn="just">
              <a:lnSpc>
                <a:spcPct val="200000"/>
              </a:lnSpc>
              <a:buFont typeface="Wingdings" pitchFamily="2" charset="2"/>
              <a:buChar char="Ø"/>
            </a:pPr>
            <a:r>
              <a:rPr lang="en-US" sz="1800" dirty="0">
                <a:latin typeface="Tahoma" pitchFamily="34" charset="0"/>
                <a:ea typeface="Tahoma" pitchFamily="34" charset="0"/>
                <a:cs typeface="Tahoma" pitchFamily="34" charset="0"/>
              </a:rPr>
              <a:t>A high-level declarative language interface.</a:t>
            </a:r>
            <a:endParaRPr lang="en-US" sz="1400" dirty="0">
              <a:latin typeface="Tahoma" pitchFamily="34" charset="0"/>
              <a:ea typeface="Tahoma" pitchFamily="34" charset="0"/>
              <a:cs typeface="Tahoma" pitchFamily="34" charset="0"/>
            </a:endParaRPr>
          </a:p>
          <a:p>
            <a:pPr marL="800100" lvl="1" indent="-342900" algn="just">
              <a:lnSpc>
                <a:spcPct val="200000"/>
              </a:lnSpc>
              <a:buFont typeface="Wingdings" pitchFamily="2" charset="2"/>
              <a:buChar char="Ø"/>
            </a:pPr>
            <a:r>
              <a:rPr lang="en-US" sz="1800" dirty="0">
                <a:latin typeface="Tahoma" pitchFamily="34" charset="0"/>
                <a:ea typeface="Tahoma" pitchFamily="34" charset="0"/>
                <a:cs typeface="Tahoma" pitchFamily="34" charset="0"/>
              </a:rPr>
              <a:t>includes some features from relational algebra</a:t>
            </a:r>
          </a:p>
          <a:p>
            <a:pPr marL="800100" lvl="1" indent="-342900" algn="just">
              <a:lnSpc>
                <a:spcPct val="200000"/>
              </a:lnSpc>
              <a:buFont typeface="Wingdings" pitchFamily="2" charset="2"/>
              <a:buChar char="Ø"/>
            </a:pPr>
            <a:r>
              <a:rPr lang="en-US" sz="1800" b="1" i="1" dirty="0">
                <a:latin typeface="Tahoma" pitchFamily="34" charset="0"/>
                <a:ea typeface="Tahoma" pitchFamily="34" charset="0"/>
                <a:cs typeface="Tahoma" pitchFamily="34" charset="0"/>
              </a:rPr>
              <a:t>It is based to a greater extent on the tuple relational calculus</a:t>
            </a:r>
          </a:p>
          <a:p>
            <a:pPr marL="342900" lvl="0" indent="-342900" algn="just">
              <a:lnSpc>
                <a:spcPct val="200000"/>
              </a:lnSpc>
              <a:buFontTx/>
              <a:buChar char="•"/>
            </a:pPr>
            <a:r>
              <a:rPr lang="en-US" sz="2000" dirty="0">
                <a:latin typeface="Tahoma" pitchFamily="34" charset="0"/>
                <a:ea typeface="Tahoma" pitchFamily="34" charset="0"/>
                <a:cs typeface="Tahoma" pitchFamily="34" charset="0"/>
              </a:rPr>
              <a:t>SQL is a comprehensive database language. it include </a:t>
            </a:r>
          </a:p>
          <a:p>
            <a:pPr marL="1257300" lvl="2" indent="-342900" algn="just">
              <a:lnSpc>
                <a:spcPct val="150000"/>
              </a:lnSpc>
              <a:buFont typeface="Wingdings" pitchFamily="2" charset="2"/>
              <a:buChar char="Ø"/>
            </a:pPr>
            <a:r>
              <a:rPr lang="en-US" sz="1800" dirty="0">
                <a:solidFill>
                  <a:srgbClr val="000000"/>
                </a:solidFill>
                <a:ea typeface="+mn-ea"/>
                <a:cs typeface="+mn-cs"/>
              </a:rPr>
              <a:t>statements for data definition, </a:t>
            </a:r>
          </a:p>
          <a:p>
            <a:pPr marL="1257300" lvl="2" indent="-342900" algn="just">
              <a:lnSpc>
                <a:spcPct val="150000"/>
              </a:lnSpc>
              <a:buFont typeface="Wingdings" pitchFamily="2" charset="2"/>
              <a:buChar char="Ø"/>
            </a:pPr>
            <a:r>
              <a:rPr lang="en-US" sz="1800" dirty="0">
                <a:solidFill>
                  <a:srgbClr val="000000"/>
                </a:solidFill>
              </a:rPr>
              <a:t>statements for  </a:t>
            </a:r>
            <a:r>
              <a:rPr lang="en-US" sz="1800" dirty="0">
                <a:solidFill>
                  <a:srgbClr val="000000"/>
                </a:solidFill>
                <a:ea typeface="+mn-ea"/>
                <a:cs typeface="+mn-cs"/>
              </a:rPr>
              <a:t>query, </a:t>
            </a:r>
          </a:p>
          <a:p>
            <a:pPr marL="1257300" lvl="2" indent="-342900" algn="just">
              <a:lnSpc>
                <a:spcPct val="150000"/>
              </a:lnSpc>
              <a:buFont typeface="Wingdings" pitchFamily="2" charset="2"/>
              <a:buChar char="Ø"/>
            </a:pPr>
            <a:r>
              <a:rPr lang="en-US" sz="1800" dirty="0">
                <a:solidFill>
                  <a:srgbClr val="000000"/>
                </a:solidFill>
              </a:rPr>
              <a:t>statements for  </a:t>
            </a:r>
            <a:r>
              <a:rPr lang="en-US" sz="1800" dirty="0">
                <a:solidFill>
                  <a:srgbClr val="000000"/>
                </a:solidFill>
                <a:ea typeface="+mn-ea"/>
                <a:cs typeface="+mn-cs"/>
              </a:rPr>
              <a:t>update.</a:t>
            </a:r>
          </a:p>
          <a:p>
            <a:pPr marL="1257300" lvl="2" indent="-342900" algn="just">
              <a:buFontTx/>
              <a:buChar char="•"/>
            </a:pPr>
            <a:endParaRPr lang="en-US" sz="1600" dirty="0">
              <a:solidFill>
                <a:srgbClr val="000000"/>
              </a:solidFill>
              <a:ea typeface="+mn-ea"/>
              <a:cs typeface="+mn-cs"/>
            </a:endParaRPr>
          </a:p>
          <a:p>
            <a:pPr marL="1257300" lvl="2" indent="-342900" algn="just"/>
            <a:r>
              <a:rPr lang="en-US" sz="1800" b="1" i="1" dirty="0">
                <a:solidFill>
                  <a:srgbClr val="C00000"/>
                </a:solidFill>
                <a:ea typeface="+mn-ea"/>
                <a:cs typeface="+mn-cs"/>
              </a:rPr>
              <a:t>[it is both  a DDL (Data Definition  Language) and a DML (Data Manipulation Language).]</a:t>
            </a:r>
            <a:endParaRPr lang="en-US" sz="900" b="1" i="1" dirty="0">
              <a:solidFill>
                <a:srgbClr val="C00000"/>
              </a:solidFill>
              <a:latin typeface="Tahoma" pitchFamily="34" charset="0"/>
              <a:ea typeface="Tahoma" pitchFamily="34" charset="0"/>
              <a:cs typeface="Tahoma" pitchFamily="34" charset="0"/>
            </a:endParaRPr>
          </a:p>
          <a:p>
            <a:pPr marL="514350" indent="-514350" algn="l">
              <a:lnSpc>
                <a:spcPct val="200000"/>
              </a:lnSpc>
            </a:pPr>
            <a:endParaRPr lang="en-US" sz="2400" b="1" dirty="0"/>
          </a:p>
          <a:p>
            <a:pPr marL="514350" indent="-514350" algn="l"/>
            <a:endParaRPr lang="en-US" sz="2400" b="1" dirty="0"/>
          </a:p>
          <a:p>
            <a:pPr marL="514350" indent="-514350"/>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914400"/>
            <a:ext cx="8458200" cy="5029200"/>
          </a:xfrm>
        </p:spPr>
        <p:txBody>
          <a:bodyPr/>
          <a:lstStyle/>
          <a:p>
            <a:pPr marL="342900" lvl="0" indent="-342900" algn="just">
              <a:lnSpc>
                <a:spcPct val="150000"/>
              </a:lnSpc>
              <a:spcBef>
                <a:spcPts val="500"/>
              </a:spcBef>
              <a:spcAft>
                <a:spcPts val="500"/>
              </a:spcAft>
              <a:buFontTx/>
              <a:buChar char="•"/>
            </a:pPr>
            <a:r>
              <a:rPr lang="en-US" sz="2400" dirty="0">
                <a:solidFill>
                  <a:srgbClr val="000000"/>
                </a:solidFill>
                <a:latin typeface="Tahoma" pitchFamily="34" charset="0"/>
                <a:ea typeface="Tahoma" pitchFamily="34" charset="0"/>
                <a:cs typeface="Tahoma" pitchFamily="34" charset="0"/>
              </a:rPr>
              <a:t>In addition, it has facilities for</a:t>
            </a:r>
          </a:p>
          <a:p>
            <a:pPr marL="800100" lvl="1" indent="-342900" algn="just">
              <a:lnSpc>
                <a:spcPct val="150000"/>
              </a:lnSpc>
              <a:spcBef>
                <a:spcPts val="500"/>
              </a:spcBef>
              <a:spcAft>
                <a:spcPts val="500"/>
              </a:spcAft>
              <a:buFont typeface="Wingdings" pitchFamily="2" charset="2"/>
              <a:buChar char="Ø"/>
            </a:pPr>
            <a:r>
              <a:rPr lang="en-US" sz="1800" dirty="0">
                <a:solidFill>
                  <a:srgbClr val="000000"/>
                </a:solidFill>
                <a:latin typeface="Tahoma" pitchFamily="34" charset="0"/>
                <a:ea typeface="Tahoma" pitchFamily="34" charset="0"/>
                <a:cs typeface="Tahoma" pitchFamily="34" charset="0"/>
              </a:rPr>
              <a:t>defining views on the database</a:t>
            </a:r>
          </a:p>
          <a:p>
            <a:pPr marL="800100" lvl="1" indent="-342900" algn="just">
              <a:lnSpc>
                <a:spcPct val="150000"/>
              </a:lnSpc>
              <a:spcBef>
                <a:spcPts val="500"/>
              </a:spcBef>
              <a:spcAft>
                <a:spcPts val="500"/>
              </a:spcAft>
              <a:buFont typeface="Wingdings" pitchFamily="2" charset="2"/>
              <a:buChar char="Ø"/>
            </a:pPr>
            <a:r>
              <a:rPr lang="en-US" sz="1800" dirty="0">
                <a:solidFill>
                  <a:srgbClr val="000000"/>
                </a:solidFill>
                <a:latin typeface="Tahoma" pitchFamily="34" charset="0"/>
                <a:ea typeface="Tahoma" pitchFamily="34" charset="0"/>
                <a:cs typeface="Tahoma" pitchFamily="34" charset="0"/>
              </a:rPr>
              <a:t>specifying security and authorization</a:t>
            </a:r>
          </a:p>
          <a:p>
            <a:pPr marL="800100" lvl="1" indent="-342900" algn="just">
              <a:lnSpc>
                <a:spcPct val="150000"/>
              </a:lnSpc>
              <a:spcBef>
                <a:spcPts val="500"/>
              </a:spcBef>
              <a:spcAft>
                <a:spcPts val="500"/>
              </a:spcAft>
              <a:buFont typeface="Wingdings" pitchFamily="2" charset="2"/>
              <a:buChar char="Ø"/>
            </a:pPr>
            <a:r>
              <a:rPr lang="en-US" sz="1800" dirty="0">
                <a:solidFill>
                  <a:srgbClr val="000000"/>
                </a:solidFill>
                <a:latin typeface="Tahoma" pitchFamily="34" charset="0"/>
                <a:ea typeface="Tahoma" pitchFamily="34" charset="0"/>
                <a:cs typeface="Tahoma" pitchFamily="34" charset="0"/>
              </a:rPr>
              <a:t>defining integrity constraints</a:t>
            </a:r>
          </a:p>
          <a:p>
            <a:pPr marL="800100" lvl="1" indent="-342900" algn="just">
              <a:lnSpc>
                <a:spcPct val="150000"/>
              </a:lnSpc>
              <a:spcBef>
                <a:spcPts val="500"/>
              </a:spcBef>
              <a:spcAft>
                <a:spcPts val="500"/>
              </a:spcAft>
              <a:buFont typeface="Wingdings" pitchFamily="2" charset="2"/>
              <a:buChar char="Ø"/>
            </a:pPr>
            <a:r>
              <a:rPr lang="en-US" sz="1800" dirty="0">
                <a:solidFill>
                  <a:srgbClr val="000000"/>
                </a:solidFill>
                <a:latin typeface="Tahoma" pitchFamily="34" charset="0"/>
                <a:ea typeface="Tahoma" pitchFamily="34" charset="0"/>
                <a:cs typeface="Tahoma" pitchFamily="34" charset="0"/>
              </a:rPr>
              <a:t> specifying transaction controls </a:t>
            </a:r>
          </a:p>
          <a:p>
            <a:pPr marL="800100" lvl="1" indent="-342900" algn="just">
              <a:lnSpc>
                <a:spcPct val="150000"/>
              </a:lnSpc>
              <a:spcBef>
                <a:spcPts val="500"/>
              </a:spcBef>
              <a:spcAft>
                <a:spcPts val="500"/>
              </a:spcAft>
            </a:pPr>
            <a:endParaRPr lang="en-US" sz="1800" dirty="0">
              <a:solidFill>
                <a:srgbClr val="000000"/>
              </a:solidFill>
              <a:latin typeface="Tahoma" pitchFamily="34" charset="0"/>
              <a:ea typeface="Tahoma" pitchFamily="34" charset="0"/>
              <a:cs typeface="Tahoma" pitchFamily="34" charset="0"/>
            </a:endParaRPr>
          </a:p>
          <a:p>
            <a:pPr marL="514350" indent="-514350" algn="just">
              <a:lnSpc>
                <a:spcPct val="150000"/>
              </a:lnSpc>
              <a:buFont typeface="Arial" pitchFamily="34" charset="0"/>
              <a:buChar char="•"/>
            </a:pPr>
            <a:r>
              <a:rPr lang="en-US" sz="2000" dirty="0">
                <a:latin typeface="Tahoma" pitchFamily="34" charset="0"/>
                <a:ea typeface="Tahoma" pitchFamily="34" charset="0"/>
                <a:cs typeface="Tahoma" pitchFamily="34" charset="0"/>
              </a:rPr>
              <a:t>Allows embedding SQL statements into a general-purpose programming language(C ,C++, java ,Visual basic ...)</a:t>
            </a:r>
          </a:p>
        </p:txBody>
      </p:sp>
      <p:sp>
        <p:nvSpPr>
          <p:cNvPr id="5" name="Title 1"/>
          <p:cNvSpPr txBox="1">
            <a:spLocks/>
          </p:cNvSpPr>
          <p:nvPr/>
        </p:nvSpPr>
        <p:spPr bwMode="auto">
          <a:xfrm>
            <a:off x="0" y="0"/>
            <a:ext cx="8077200" cy="533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0" cap="none" spc="0" normalizeH="0" baseline="0" noProof="0">
                <a:ln>
                  <a:noFill/>
                </a:ln>
                <a:solidFill>
                  <a:schemeClr val="tx2"/>
                </a:solidFill>
                <a:effectLst/>
                <a:uLnTx/>
                <a:uFillTx/>
                <a:latin typeface="+mj-lt"/>
                <a:ea typeface="+mj-ea"/>
                <a:cs typeface="+mj-cs"/>
              </a:rPr>
              <a:t> </a:t>
            </a:r>
            <a:r>
              <a:rPr kumimoji="0" lang="en-US" sz="2400" b="1" i="0" u="none" strike="noStrike" kern="0" cap="none" spc="0" normalizeH="0" baseline="0" noProof="0">
                <a:ln>
                  <a:noFill/>
                </a:ln>
                <a:solidFill>
                  <a:schemeClr val="tx2"/>
                </a:solidFill>
                <a:effectLst/>
                <a:uLnTx/>
                <a:uFillTx/>
                <a:latin typeface="Tahoma" pitchFamily="34" charset="0"/>
                <a:ea typeface="Tahoma" pitchFamily="34" charset="0"/>
                <a:cs typeface="Tahoma" pitchFamily="34" charset="0"/>
              </a:rPr>
              <a:t>SQL - </a:t>
            </a:r>
            <a:r>
              <a:rPr kumimoji="0" lang="en-US" sz="2000" b="1" i="0" u="none" strike="noStrike" kern="0" cap="none" spc="0" normalizeH="0" baseline="0" noProof="0">
                <a:ln>
                  <a:noFill/>
                </a:ln>
                <a:solidFill>
                  <a:schemeClr val="tx2"/>
                </a:solidFill>
                <a:effectLst/>
                <a:uLnTx/>
                <a:uFillTx/>
                <a:latin typeface="Tahoma" pitchFamily="34" charset="0"/>
                <a:ea typeface="Tahoma" pitchFamily="34" charset="0"/>
                <a:cs typeface="Tahoma" pitchFamily="34" charset="0"/>
              </a:rPr>
              <a:t>The Relational Database Standard</a:t>
            </a:r>
            <a:endParaRPr kumimoji="0" lang="en-US" sz="2800" b="0" i="0" u="none" strike="noStrike" kern="0" cap="none" spc="0" normalizeH="0" baseline="0" noProof="0" dirty="0">
              <a:ln>
                <a:noFill/>
              </a:ln>
              <a:solidFill>
                <a:schemeClr val="tx2"/>
              </a:solidFill>
              <a:effectLst/>
              <a:uLnTx/>
              <a:uFillTx/>
              <a:latin typeface="Tahoma" pitchFamily="34" charset="0"/>
              <a:ea typeface="Tahoma" pitchFamily="34" charset="0"/>
              <a:cs typeface="Tahoma"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04800"/>
            <a:ext cx="7772400" cy="685799"/>
          </a:xfrm>
        </p:spPr>
        <p:txBody>
          <a:bodyPr/>
          <a:lstStyle/>
          <a:p>
            <a:pPr marL="514350" indent="-514350" algn="l"/>
            <a:r>
              <a:rPr lang="en-US" sz="2800" b="1" i="1" dirty="0"/>
              <a:t>Topics to be discussed</a:t>
            </a:r>
          </a:p>
        </p:txBody>
      </p:sp>
      <p:sp>
        <p:nvSpPr>
          <p:cNvPr id="3" name="Subtitle 2"/>
          <p:cNvSpPr>
            <a:spLocks noGrp="1"/>
          </p:cNvSpPr>
          <p:nvPr>
            <p:ph type="subTitle" idx="1"/>
          </p:nvPr>
        </p:nvSpPr>
        <p:spPr>
          <a:xfrm>
            <a:off x="304800" y="1066800"/>
            <a:ext cx="8305800" cy="4953000"/>
          </a:xfrm>
        </p:spPr>
        <p:txBody>
          <a:bodyPr/>
          <a:lstStyle/>
          <a:p>
            <a:pPr marL="971550" lvl="1" indent="-514350" algn="l">
              <a:lnSpc>
                <a:spcPct val="150000"/>
              </a:lnSpc>
              <a:buFont typeface="+mj-lt"/>
              <a:buAutoNum type="arabicPeriod"/>
            </a:pPr>
            <a:r>
              <a:rPr lang="en-US" sz="1800" dirty="0"/>
              <a:t>SQL Data Definition and Data Types </a:t>
            </a:r>
          </a:p>
          <a:p>
            <a:pPr marL="971550" lvl="1" indent="-514350" algn="l">
              <a:lnSpc>
                <a:spcPct val="150000"/>
              </a:lnSpc>
              <a:buFont typeface="+mj-lt"/>
              <a:buAutoNum type="arabicPeriod"/>
            </a:pPr>
            <a:r>
              <a:rPr lang="en-US" sz="1800" dirty="0"/>
              <a:t> Specifying Basic Constraints in SQL</a:t>
            </a:r>
          </a:p>
          <a:p>
            <a:pPr marL="971550" lvl="1" indent="-514350" algn="l">
              <a:lnSpc>
                <a:spcPct val="150000"/>
              </a:lnSpc>
              <a:buFont typeface="+mj-lt"/>
              <a:buAutoNum type="arabicPeriod"/>
            </a:pPr>
            <a:r>
              <a:rPr lang="en-US" sz="1800" dirty="0"/>
              <a:t>Schema Change Statements </a:t>
            </a:r>
          </a:p>
          <a:p>
            <a:pPr marL="971550" lvl="1" indent="-514350" algn="l">
              <a:lnSpc>
                <a:spcPct val="150000"/>
              </a:lnSpc>
              <a:buFont typeface="+mj-lt"/>
              <a:buAutoNum type="arabicPeriod"/>
            </a:pPr>
            <a:r>
              <a:rPr lang="en-US" sz="1800" dirty="0"/>
              <a:t>Basic Queries in SQL </a:t>
            </a:r>
          </a:p>
          <a:p>
            <a:pPr marL="971550" lvl="1" indent="-514350" algn="l">
              <a:lnSpc>
                <a:spcPct val="150000"/>
              </a:lnSpc>
              <a:buFont typeface="+mj-lt"/>
              <a:buAutoNum type="arabicPeriod"/>
            </a:pPr>
            <a:r>
              <a:rPr lang="en-US" sz="1800" dirty="0"/>
              <a:t>More Complex Queries </a:t>
            </a:r>
          </a:p>
          <a:p>
            <a:pPr marL="971550" lvl="1" indent="-514350" algn="l">
              <a:lnSpc>
                <a:spcPct val="150000"/>
              </a:lnSpc>
              <a:buFont typeface="+mj-lt"/>
              <a:buAutoNum type="arabicPeriod"/>
            </a:pPr>
            <a:r>
              <a:rPr lang="en-US" sz="1800" dirty="0"/>
              <a:t>Insert , delete and update statements in SQL </a:t>
            </a:r>
          </a:p>
          <a:p>
            <a:pPr marL="971550" lvl="1" indent="-514350" algn="l">
              <a:lnSpc>
                <a:spcPct val="150000"/>
              </a:lnSpc>
              <a:buFont typeface="+mj-lt"/>
              <a:buAutoNum type="arabicPeriod"/>
            </a:pPr>
            <a:r>
              <a:rPr lang="en-US" sz="1800" dirty="0"/>
              <a:t>Additional features of SQL</a:t>
            </a:r>
          </a:p>
          <a:p>
            <a:pPr marL="971550" lvl="1" indent="-514350" algn="l">
              <a:lnSpc>
                <a:spcPct val="150000"/>
              </a:lnSpc>
              <a:buFont typeface="+mj-lt"/>
              <a:buAutoNum type="arabicPeriod"/>
            </a:pPr>
            <a:r>
              <a:rPr lang="en-US" sz="1800" dirty="0"/>
              <a:t>Views (Virtual Tables) in SQL</a:t>
            </a:r>
          </a:p>
          <a:p>
            <a:pPr marL="971550" lvl="1" indent="-514350" algn="l">
              <a:lnSpc>
                <a:spcPct val="150000"/>
              </a:lnSpc>
              <a:buFont typeface="+mj-lt"/>
              <a:buAutoNum type="arabicPeriod"/>
            </a:pPr>
            <a:r>
              <a:rPr lang="en-US" sz="1800" dirty="0"/>
              <a:t>Database Programming : Issues and Techniques </a:t>
            </a:r>
          </a:p>
          <a:p>
            <a:pPr marL="971550" lvl="1" indent="-514350" algn="l">
              <a:lnSpc>
                <a:spcPct val="150000"/>
              </a:lnSpc>
              <a:buFont typeface="+mj-lt"/>
              <a:buAutoNum type="arabicPeriod"/>
            </a:pPr>
            <a:r>
              <a:rPr lang="en-US" sz="1800" dirty="0"/>
              <a:t>Embedded SQL</a:t>
            </a:r>
            <a:endParaRPr lang="en-US" sz="2400" b="1" dirty="0"/>
          </a:p>
          <a:p>
            <a:pPr marL="514350" indent="-514350"/>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8001000" cy="2308324"/>
          </a:xfrm>
          <a:prstGeom prst="rect">
            <a:avLst/>
          </a:prstGeom>
        </p:spPr>
        <p:txBody>
          <a:bodyPr wrap="square">
            <a:spAutoFit/>
          </a:bodyPr>
          <a:lstStyle/>
          <a:p>
            <a:pPr algn="ctr"/>
            <a:r>
              <a:rPr lang="en-IN" sz="4800" b="1" dirty="0"/>
              <a:t>SQL DATA DEFINITION AND </a:t>
            </a:r>
          </a:p>
          <a:p>
            <a:pPr algn="ctr"/>
            <a:r>
              <a:rPr lang="en-IN" sz="4800" b="1" dirty="0"/>
              <a:t>DATA TYPES</a:t>
            </a:r>
            <a:endParaRPr lang="en-IN" sz="4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0" y="228600"/>
            <a:ext cx="8458200" cy="411162"/>
          </a:xfrm>
          <a:noFill/>
        </p:spPr>
        <p:txBody>
          <a:bodyPr lIns="90488" tIns="44450" rIns="90488" bIns="44450"/>
          <a:lstStyle/>
          <a:p>
            <a:pPr algn="l" eaLnBrk="1" hangingPunct="1"/>
            <a:r>
              <a:rPr lang="en-US" sz="2400" b="1" dirty="0">
                <a:latin typeface="Tahoma" pitchFamily="34" charset="0"/>
                <a:ea typeface="Tahoma" pitchFamily="34" charset="0"/>
                <a:cs typeface="Tahoma" pitchFamily="34" charset="0"/>
              </a:rPr>
              <a:t> SQL Data Definition</a:t>
            </a:r>
          </a:p>
        </p:txBody>
      </p:sp>
      <p:sp>
        <p:nvSpPr>
          <p:cNvPr id="14339" name="Rectangle 3"/>
          <p:cNvSpPr>
            <a:spLocks noGrp="1" noChangeArrowheads="1"/>
          </p:cNvSpPr>
          <p:nvPr>
            <p:ph type="body" idx="1"/>
          </p:nvPr>
        </p:nvSpPr>
        <p:spPr>
          <a:xfrm>
            <a:off x="457200" y="914400"/>
            <a:ext cx="8229600" cy="5410200"/>
          </a:xfrm>
          <a:noFill/>
        </p:spPr>
        <p:txBody>
          <a:bodyPr lIns="90488" tIns="44450" rIns="90488" bIns="44450"/>
          <a:lstStyle/>
          <a:p>
            <a:pPr algn="just" eaLnBrk="1" hangingPunct="1">
              <a:lnSpc>
                <a:spcPct val="90000"/>
              </a:lnSpc>
              <a:spcBef>
                <a:spcPts val="500"/>
              </a:spcBef>
              <a:spcAft>
                <a:spcPts val="500"/>
              </a:spcAft>
            </a:pPr>
            <a:r>
              <a:rPr lang="en-US" sz="2400" dirty="0">
                <a:latin typeface="Tahoma" pitchFamily="34" charset="0"/>
                <a:ea typeface="Tahoma" pitchFamily="34" charset="0"/>
                <a:cs typeface="Tahoma" pitchFamily="34" charset="0"/>
              </a:rPr>
              <a:t>In SQL terminology , </a:t>
            </a:r>
          </a:p>
          <a:p>
            <a:pPr lvl="2" algn="just">
              <a:lnSpc>
                <a:spcPct val="150000"/>
              </a:lnSpc>
              <a:spcBef>
                <a:spcPts val="500"/>
              </a:spcBef>
              <a:spcAft>
                <a:spcPts val="500"/>
              </a:spcAft>
            </a:pPr>
            <a:r>
              <a:rPr lang="en-US" sz="1800" dirty="0">
                <a:latin typeface="Tahoma" pitchFamily="34" charset="0"/>
                <a:ea typeface="Tahoma" pitchFamily="34" charset="0"/>
                <a:cs typeface="Tahoma" pitchFamily="34" charset="0"/>
              </a:rPr>
              <a:t>A relation is called a </a:t>
            </a:r>
            <a:r>
              <a:rPr lang="en-US" sz="1800" b="1" dirty="0">
                <a:latin typeface="Tahoma" pitchFamily="34" charset="0"/>
                <a:ea typeface="Tahoma" pitchFamily="34" charset="0"/>
                <a:cs typeface="Tahoma" pitchFamily="34" charset="0"/>
              </a:rPr>
              <a:t>table</a:t>
            </a:r>
          </a:p>
          <a:p>
            <a:pPr lvl="2" algn="just">
              <a:lnSpc>
                <a:spcPct val="150000"/>
              </a:lnSpc>
              <a:spcBef>
                <a:spcPts val="500"/>
              </a:spcBef>
              <a:spcAft>
                <a:spcPts val="500"/>
              </a:spcAft>
            </a:pPr>
            <a:r>
              <a:rPr lang="en-US" sz="1800" dirty="0">
                <a:latin typeface="Tahoma" pitchFamily="34" charset="0"/>
                <a:ea typeface="Tahoma" pitchFamily="34" charset="0"/>
                <a:cs typeface="Tahoma" pitchFamily="34" charset="0"/>
              </a:rPr>
              <a:t>A tuple is called a </a:t>
            </a:r>
            <a:r>
              <a:rPr lang="en-US" sz="1800" b="1" dirty="0">
                <a:latin typeface="Tahoma" pitchFamily="34" charset="0"/>
                <a:ea typeface="Tahoma" pitchFamily="34" charset="0"/>
                <a:cs typeface="Tahoma" pitchFamily="34" charset="0"/>
              </a:rPr>
              <a:t>row</a:t>
            </a:r>
          </a:p>
          <a:p>
            <a:pPr lvl="2" algn="just">
              <a:lnSpc>
                <a:spcPct val="150000"/>
              </a:lnSpc>
              <a:spcBef>
                <a:spcPts val="500"/>
              </a:spcBef>
              <a:spcAft>
                <a:spcPts val="500"/>
              </a:spcAft>
            </a:pPr>
            <a:r>
              <a:rPr lang="en-US" sz="1800" dirty="0">
                <a:latin typeface="Tahoma" pitchFamily="34" charset="0"/>
                <a:ea typeface="Tahoma" pitchFamily="34" charset="0"/>
                <a:cs typeface="Tahoma" pitchFamily="34" charset="0"/>
              </a:rPr>
              <a:t>An</a:t>
            </a:r>
            <a:r>
              <a:rPr lang="en-US" sz="1800" b="1" dirty="0">
                <a:latin typeface="Tahoma" pitchFamily="34" charset="0"/>
                <a:ea typeface="Tahoma" pitchFamily="34" charset="0"/>
                <a:cs typeface="Tahoma" pitchFamily="34" charset="0"/>
              </a:rPr>
              <a:t> </a:t>
            </a:r>
            <a:r>
              <a:rPr lang="en-US" sz="1800" dirty="0">
                <a:latin typeface="Tahoma" pitchFamily="34" charset="0"/>
                <a:ea typeface="Tahoma" pitchFamily="34" charset="0"/>
                <a:cs typeface="Tahoma" pitchFamily="34" charset="0"/>
              </a:rPr>
              <a:t>attribute is called a </a:t>
            </a:r>
            <a:r>
              <a:rPr lang="en-US" sz="1800" b="1" dirty="0">
                <a:latin typeface="Tahoma" pitchFamily="34" charset="0"/>
                <a:ea typeface="Tahoma" pitchFamily="34" charset="0"/>
                <a:cs typeface="Tahoma" pitchFamily="34" charset="0"/>
              </a:rPr>
              <a:t>column</a:t>
            </a:r>
          </a:p>
          <a:p>
            <a:pPr algn="just" eaLnBrk="1" hangingPunct="1">
              <a:lnSpc>
                <a:spcPct val="150000"/>
              </a:lnSpc>
              <a:spcBef>
                <a:spcPts val="500"/>
              </a:spcBef>
              <a:spcAft>
                <a:spcPts val="500"/>
              </a:spcAft>
            </a:pPr>
            <a:r>
              <a:rPr lang="en-US" sz="2000" b="1" dirty="0">
                <a:latin typeface="Tahoma" pitchFamily="34" charset="0"/>
                <a:ea typeface="Tahoma" pitchFamily="34" charset="0"/>
                <a:cs typeface="Tahoma" pitchFamily="34" charset="0"/>
              </a:rPr>
              <a:t>CREATE</a:t>
            </a:r>
            <a:r>
              <a:rPr lang="en-US" sz="2000" dirty="0">
                <a:latin typeface="Tahoma" pitchFamily="34" charset="0"/>
                <a:ea typeface="Tahoma" pitchFamily="34" charset="0"/>
                <a:cs typeface="Tahoma" pitchFamily="34" charset="0"/>
              </a:rPr>
              <a:t> statement : The main SQL command for data definition</a:t>
            </a:r>
            <a:r>
              <a:rPr lang="en-US" sz="2400" dirty="0">
                <a:latin typeface="Tahoma" pitchFamily="34" charset="0"/>
                <a:ea typeface="Tahoma" pitchFamily="34" charset="0"/>
                <a:cs typeface="Tahoma" pitchFamily="34" charset="0"/>
              </a:rPr>
              <a:t>.  It can used to create</a:t>
            </a:r>
          </a:p>
          <a:p>
            <a:pPr lvl="2" algn="just">
              <a:lnSpc>
                <a:spcPct val="90000"/>
              </a:lnSpc>
              <a:spcBef>
                <a:spcPts val="500"/>
              </a:spcBef>
              <a:spcAft>
                <a:spcPts val="500"/>
              </a:spcAft>
            </a:pPr>
            <a:r>
              <a:rPr lang="en-US" sz="1600" b="1" dirty="0">
                <a:latin typeface="Tahoma" pitchFamily="34" charset="0"/>
                <a:ea typeface="Tahoma" pitchFamily="34" charset="0"/>
                <a:cs typeface="Tahoma" pitchFamily="34" charset="0"/>
              </a:rPr>
              <a:t>schemas </a:t>
            </a:r>
          </a:p>
          <a:p>
            <a:pPr lvl="2" algn="just">
              <a:lnSpc>
                <a:spcPct val="90000"/>
              </a:lnSpc>
              <a:spcBef>
                <a:spcPts val="500"/>
              </a:spcBef>
              <a:spcAft>
                <a:spcPts val="500"/>
              </a:spcAft>
            </a:pPr>
            <a:r>
              <a:rPr lang="en-US" sz="1600" b="1" dirty="0">
                <a:latin typeface="Tahoma" pitchFamily="34" charset="0"/>
                <a:ea typeface="Tahoma" pitchFamily="34" charset="0"/>
                <a:cs typeface="Tahoma" pitchFamily="34" charset="0"/>
              </a:rPr>
              <a:t>tables </a:t>
            </a:r>
          </a:p>
          <a:p>
            <a:pPr lvl="2" algn="just">
              <a:lnSpc>
                <a:spcPct val="90000"/>
              </a:lnSpc>
              <a:spcBef>
                <a:spcPts val="500"/>
              </a:spcBef>
              <a:spcAft>
                <a:spcPts val="500"/>
              </a:spcAft>
            </a:pPr>
            <a:r>
              <a:rPr lang="en-US" sz="1600" b="1" dirty="0">
                <a:latin typeface="Tahoma" pitchFamily="34" charset="0"/>
                <a:ea typeface="Tahoma" pitchFamily="34" charset="0"/>
                <a:cs typeface="Tahoma" pitchFamily="34" charset="0"/>
              </a:rPr>
              <a:t>domains</a:t>
            </a:r>
          </a:p>
          <a:p>
            <a:pPr lvl="2" algn="just">
              <a:lnSpc>
                <a:spcPct val="90000"/>
              </a:lnSpc>
              <a:spcBef>
                <a:spcPts val="500"/>
              </a:spcBef>
              <a:spcAft>
                <a:spcPts val="500"/>
              </a:spcAft>
            </a:pPr>
            <a:r>
              <a:rPr lang="en-US" sz="1600" b="1" dirty="0">
                <a:latin typeface="Tahoma" pitchFamily="34" charset="0"/>
                <a:ea typeface="Tahoma" pitchFamily="34" charset="0"/>
                <a:cs typeface="Tahoma" pitchFamily="34" charset="0"/>
              </a:rPr>
              <a:t>views </a:t>
            </a:r>
          </a:p>
          <a:p>
            <a:pPr lvl="2" algn="just">
              <a:lnSpc>
                <a:spcPct val="90000"/>
              </a:lnSpc>
              <a:spcBef>
                <a:spcPts val="500"/>
              </a:spcBef>
              <a:spcAft>
                <a:spcPts val="500"/>
              </a:spcAft>
            </a:pPr>
            <a:r>
              <a:rPr lang="en-US" sz="1600" b="1" dirty="0">
                <a:latin typeface="Tahoma" pitchFamily="34" charset="0"/>
                <a:ea typeface="Tahoma" pitchFamily="34" charset="0"/>
                <a:cs typeface="Tahoma" pitchFamily="34" charset="0"/>
              </a:rPr>
              <a:t>Assertion</a:t>
            </a:r>
          </a:p>
          <a:p>
            <a:pPr lvl="2" algn="just">
              <a:lnSpc>
                <a:spcPct val="90000"/>
              </a:lnSpc>
              <a:spcBef>
                <a:spcPts val="500"/>
              </a:spcBef>
              <a:spcAft>
                <a:spcPts val="500"/>
              </a:spcAft>
            </a:pPr>
            <a:r>
              <a:rPr lang="en-US" sz="1600" b="1" dirty="0">
                <a:latin typeface="Tahoma" pitchFamily="34" charset="0"/>
                <a:ea typeface="Tahoma" pitchFamily="34" charset="0"/>
                <a:cs typeface="Tahoma" pitchFamily="34" charset="0"/>
              </a:rPr>
              <a:t>triggers</a:t>
            </a: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457200" y="1219200"/>
            <a:ext cx="8229600" cy="5105400"/>
          </a:xfrm>
          <a:noFill/>
        </p:spPr>
        <p:txBody>
          <a:bodyPr lIns="90488" tIns="44450" rIns="90488" bIns="44450"/>
          <a:lstStyle/>
          <a:p>
            <a:pPr algn="just" eaLnBrk="1" hangingPunct="1">
              <a:lnSpc>
                <a:spcPct val="90000"/>
              </a:lnSpc>
              <a:spcBef>
                <a:spcPts val="500"/>
              </a:spcBef>
              <a:spcAft>
                <a:spcPts val="500"/>
              </a:spcAft>
              <a:buNone/>
            </a:pPr>
            <a:r>
              <a:rPr lang="en-US" sz="2000" dirty="0">
                <a:solidFill>
                  <a:srgbClr val="000000"/>
                </a:solidFill>
                <a:latin typeface="Tahoma" pitchFamily="34" charset="0"/>
                <a:ea typeface="Tahoma" pitchFamily="34" charset="0"/>
                <a:cs typeface="Tahoma" pitchFamily="34" charset="0"/>
              </a:rPr>
              <a:t>An SQL schema is identified by a </a:t>
            </a:r>
            <a:r>
              <a:rPr lang="en-US" sz="2000" b="1" dirty="0">
                <a:solidFill>
                  <a:srgbClr val="000000"/>
                </a:solidFill>
                <a:latin typeface="Tahoma" pitchFamily="34" charset="0"/>
                <a:ea typeface="Tahoma" pitchFamily="34" charset="0"/>
                <a:cs typeface="Tahoma" pitchFamily="34" charset="0"/>
              </a:rPr>
              <a:t>schema name</a:t>
            </a:r>
            <a:r>
              <a:rPr lang="en-US" sz="2000" dirty="0">
                <a:solidFill>
                  <a:srgbClr val="000000"/>
                </a:solidFill>
                <a:latin typeface="Tahoma" pitchFamily="34" charset="0"/>
                <a:ea typeface="Tahoma" pitchFamily="34" charset="0"/>
                <a:cs typeface="Tahoma" pitchFamily="34" charset="0"/>
              </a:rPr>
              <a:t>, and includes </a:t>
            </a:r>
            <a:endParaRPr lang="en-US" sz="1800" dirty="0">
              <a:solidFill>
                <a:srgbClr val="000000"/>
              </a:solidFill>
              <a:latin typeface="Tahoma" pitchFamily="34" charset="0"/>
              <a:ea typeface="Tahoma" pitchFamily="34" charset="0"/>
              <a:cs typeface="Tahoma" pitchFamily="34" charset="0"/>
            </a:endParaRPr>
          </a:p>
          <a:p>
            <a:pPr lvl="1" algn="just">
              <a:lnSpc>
                <a:spcPct val="150000"/>
              </a:lnSpc>
            </a:pPr>
            <a:r>
              <a:rPr lang="en-US" sz="1800" dirty="0">
                <a:solidFill>
                  <a:srgbClr val="000000"/>
                </a:solidFill>
                <a:latin typeface="Tahoma" pitchFamily="34" charset="0"/>
                <a:ea typeface="Tahoma" pitchFamily="34" charset="0"/>
                <a:cs typeface="Tahoma" pitchFamily="34" charset="0"/>
              </a:rPr>
              <a:t>an </a:t>
            </a:r>
            <a:r>
              <a:rPr lang="en-US" sz="1800" b="1" dirty="0">
                <a:solidFill>
                  <a:srgbClr val="000000"/>
                </a:solidFill>
                <a:latin typeface="Tahoma" pitchFamily="34" charset="0"/>
                <a:ea typeface="Tahoma" pitchFamily="34" charset="0"/>
                <a:cs typeface="Tahoma" pitchFamily="34" charset="0"/>
              </a:rPr>
              <a:t>authorization identifier </a:t>
            </a:r>
            <a:r>
              <a:rPr lang="en-US" sz="1800" dirty="0">
                <a:solidFill>
                  <a:srgbClr val="000000"/>
                </a:solidFill>
                <a:latin typeface="Tahoma" pitchFamily="34" charset="0"/>
                <a:ea typeface="Tahoma" pitchFamily="34" charset="0"/>
                <a:cs typeface="Tahoma" pitchFamily="34" charset="0"/>
              </a:rPr>
              <a:t>to indicate the user or account who owns the schema</a:t>
            </a:r>
          </a:p>
          <a:p>
            <a:pPr lvl="1" algn="just">
              <a:lnSpc>
                <a:spcPct val="150000"/>
              </a:lnSpc>
            </a:pPr>
            <a:r>
              <a:rPr lang="en-US" sz="1800" dirty="0">
                <a:solidFill>
                  <a:srgbClr val="000000"/>
                </a:solidFill>
                <a:latin typeface="Tahoma" pitchFamily="34" charset="0"/>
                <a:ea typeface="Tahoma" pitchFamily="34" charset="0"/>
                <a:cs typeface="Tahoma" pitchFamily="34" charset="0"/>
              </a:rPr>
              <a:t> </a:t>
            </a:r>
            <a:r>
              <a:rPr lang="en-US" sz="1800" b="1" dirty="0">
                <a:solidFill>
                  <a:srgbClr val="000000"/>
                </a:solidFill>
                <a:latin typeface="Tahoma" pitchFamily="34" charset="0"/>
                <a:ea typeface="Tahoma" pitchFamily="34" charset="0"/>
                <a:cs typeface="Tahoma" pitchFamily="34" charset="0"/>
              </a:rPr>
              <a:t>descriptors </a:t>
            </a:r>
            <a:r>
              <a:rPr lang="en-US" sz="1800" dirty="0">
                <a:solidFill>
                  <a:srgbClr val="000000"/>
                </a:solidFill>
                <a:latin typeface="Tahoma" pitchFamily="34" charset="0"/>
                <a:ea typeface="Tahoma" pitchFamily="34" charset="0"/>
                <a:cs typeface="Tahoma" pitchFamily="34" charset="0"/>
              </a:rPr>
              <a:t>for each element in the schema</a:t>
            </a:r>
            <a:r>
              <a:rPr lang="en-US" sz="1400" dirty="0">
                <a:solidFill>
                  <a:srgbClr val="000000"/>
                </a:solidFill>
                <a:latin typeface="Tahoma" pitchFamily="34" charset="0"/>
                <a:ea typeface="Tahoma" pitchFamily="34" charset="0"/>
                <a:cs typeface="Tahoma" pitchFamily="34" charset="0"/>
              </a:rPr>
              <a:t>.</a:t>
            </a:r>
          </a:p>
          <a:p>
            <a:pPr algn="just" eaLnBrk="1" hangingPunct="1">
              <a:lnSpc>
                <a:spcPct val="90000"/>
              </a:lnSpc>
              <a:spcBef>
                <a:spcPts val="500"/>
              </a:spcBef>
              <a:spcAft>
                <a:spcPts val="500"/>
              </a:spcAft>
              <a:buNone/>
            </a:pPr>
            <a:endParaRPr lang="en-US" sz="1100" b="1" dirty="0">
              <a:latin typeface="Tahoma" pitchFamily="34" charset="0"/>
              <a:ea typeface="Tahoma" pitchFamily="34" charset="0"/>
              <a:cs typeface="Tahoma" pitchFamily="34" charset="0"/>
            </a:endParaRPr>
          </a:p>
          <a:p>
            <a:pPr algn="just">
              <a:lnSpc>
                <a:spcPct val="90000"/>
              </a:lnSpc>
              <a:spcBef>
                <a:spcPts val="500"/>
              </a:spcBef>
              <a:spcAft>
                <a:spcPts val="500"/>
              </a:spcAft>
            </a:pPr>
            <a:r>
              <a:rPr lang="en-US" sz="2400" dirty="0">
                <a:solidFill>
                  <a:srgbClr val="000000"/>
                </a:solidFill>
                <a:latin typeface="Tahoma" pitchFamily="34" charset="0"/>
                <a:ea typeface="Tahoma" pitchFamily="34" charset="0"/>
                <a:cs typeface="Tahoma" pitchFamily="34" charset="0"/>
              </a:rPr>
              <a:t>Schema elements include</a:t>
            </a:r>
          </a:p>
          <a:p>
            <a:pPr lvl="1" algn="just">
              <a:lnSpc>
                <a:spcPct val="90000"/>
              </a:lnSpc>
              <a:spcBef>
                <a:spcPts val="500"/>
              </a:spcBef>
              <a:spcAft>
                <a:spcPts val="500"/>
              </a:spcAft>
            </a:pPr>
            <a:r>
              <a:rPr lang="en-US" sz="1800" dirty="0">
                <a:latin typeface="Tahoma" pitchFamily="34" charset="0"/>
                <a:ea typeface="Tahoma" pitchFamily="34" charset="0"/>
                <a:cs typeface="Tahoma" pitchFamily="34" charset="0"/>
              </a:rPr>
              <a:t> tables </a:t>
            </a:r>
          </a:p>
          <a:p>
            <a:pPr lvl="1" algn="just">
              <a:lnSpc>
                <a:spcPct val="90000"/>
              </a:lnSpc>
              <a:spcBef>
                <a:spcPts val="500"/>
              </a:spcBef>
              <a:spcAft>
                <a:spcPts val="500"/>
              </a:spcAft>
            </a:pPr>
            <a:r>
              <a:rPr lang="en-US" sz="1800" dirty="0">
                <a:latin typeface="Tahoma" pitchFamily="34" charset="0"/>
                <a:ea typeface="Tahoma" pitchFamily="34" charset="0"/>
                <a:cs typeface="Tahoma" pitchFamily="34" charset="0"/>
              </a:rPr>
              <a:t>constraints </a:t>
            </a:r>
          </a:p>
          <a:p>
            <a:pPr lvl="1" algn="just">
              <a:lnSpc>
                <a:spcPct val="90000"/>
              </a:lnSpc>
              <a:spcBef>
                <a:spcPts val="500"/>
              </a:spcBef>
              <a:spcAft>
                <a:spcPts val="500"/>
              </a:spcAft>
            </a:pPr>
            <a:r>
              <a:rPr lang="en-US" sz="1800" dirty="0">
                <a:latin typeface="Tahoma" pitchFamily="34" charset="0"/>
                <a:ea typeface="Tahoma" pitchFamily="34" charset="0"/>
                <a:cs typeface="Tahoma" pitchFamily="34" charset="0"/>
              </a:rPr>
              <a:t>views</a:t>
            </a:r>
          </a:p>
          <a:p>
            <a:pPr lvl="1" algn="just">
              <a:lnSpc>
                <a:spcPct val="90000"/>
              </a:lnSpc>
              <a:spcBef>
                <a:spcPts val="500"/>
              </a:spcBef>
              <a:spcAft>
                <a:spcPts val="500"/>
              </a:spcAft>
            </a:pPr>
            <a:r>
              <a:rPr lang="en-US" sz="1800" dirty="0">
                <a:latin typeface="Tahoma" pitchFamily="34" charset="0"/>
                <a:ea typeface="Tahoma" pitchFamily="34" charset="0"/>
                <a:cs typeface="Tahoma" pitchFamily="34" charset="0"/>
              </a:rPr>
              <a:t>domains</a:t>
            </a:r>
          </a:p>
          <a:p>
            <a:pPr lvl="1" algn="just">
              <a:lnSpc>
                <a:spcPct val="90000"/>
              </a:lnSpc>
              <a:spcBef>
                <a:spcPts val="500"/>
              </a:spcBef>
              <a:spcAft>
                <a:spcPts val="500"/>
              </a:spcAft>
            </a:pPr>
            <a:r>
              <a:rPr lang="en-US" sz="1800" dirty="0">
                <a:latin typeface="Tahoma" pitchFamily="34" charset="0"/>
                <a:ea typeface="Tahoma" pitchFamily="34" charset="0"/>
                <a:cs typeface="Tahoma" pitchFamily="34" charset="0"/>
              </a:rPr>
              <a:t>and other constructs (such as authorization grants) that describe the schema</a:t>
            </a:r>
            <a:endParaRPr lang="en-US" sz="1800" dirty="0">
              <a:solidFill>
                <a:srgbClr val="000000"/>
              </a:solidFill>
              <a:latin typeface="Tahoma" pitchFamily="34" charset="0"/>
              <a:ea typeface="Tahoma" pitchFamily="34" charset="0"/>
              <a:cs typeface="Tahoma" pitchFamily="34" charset="0"/>
            </a:endParaRPr>
          </a:p>
          <a:p>
            <a:pPr lvl="1" algn="just">
              <a:lnSpc>
                <a:spcPct val="90000"/>
              </a:lnSpc>
              <a:spcBef>
                <a:spcPts val="500"/>
              </a:spcBef>
              <a:spcAft>
                <a:spcPts val="500"/>
              </a:spcAft>
            </a:pPr>
            <a:endParaRPr lang="en-US" sz="700" b="1" dirty="0">
              <a:latin typeface="Tahoma" pitchFamily="34" charset="0"/>
              <a:ea typeface="Tahoma" pitchFamily="34" charset="0"/>
              <a:cs typeface="Tahoma" pitchFamily="34" charset="0"/>
            </a:endParaRPr>
          </a:p>
        </p:txBody>
      </p:sp>
      <p:sp>
        <p:nvSpPr>
          <p:cNvPr id="5" name="Rectangle 2"/>
          <p:cNvSpPr>
            <a:spLocks noGrp="1" noChangeArrowheads="1"/>
          </p:cNvSpPr>
          <p:nvPr>
            <p:ph type="title"/>
          </p:nvPr>
        </p:nvSpPr>
        <p:spPr>
          <a:xfrm>
            <a:off x="152400" y="152400"/>
            <a:ext cx="8229600" cy="762000"/>
          </a:xfrm>
          <a:noFill/>
        </p:spPr>
        <p:txBody>
          <a:bodyPr lIns="90488" tIns="44450" rIns="90488" bIns="44450"/>
          <a:lstStyle/>
          <a:p>
            <a:pPr algn="l"/>
            <a:r>
              <a:rPr lang="en-US" sz="2400" b="1" dirty="0">
                <a:latin typeface="Tahoma" pitchFamily="34" charset="0"/>
                <a:ea typeface="Tahoma" pitchFamily="34" charset="0"/>
                <a:cs typeface="Tahoma" pitchFamily="34" charset="0"/>
              </a:rPr>
              <a:t> SQL Data Definition : </a:t>
            </a:r>
            <a:r>
              <a:rPr lang="en-US" sz="2400" b="1" u="sng" dirty="0">
                <a:solidFill>
                  <a:srgbClr val="002060"/>
                </a:solidFill>
                <a:latin typeface="Tahoma" pitchFamily="34" charset="0"/>
                <a:ea typeface="Tahoma" pitchFamily="34" charset="0"/>
                <a:cs typeface="Tahoma" pitchFamily="34" charset="0"/>
              </a:rPr>
              <a:t>Schema and Catalog Concepts  </a:t>
            </a:r>
            <a:endParaRPr lang="en-US" sz="2400" b="1"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04800" y="838200"/>
            <a:ext cx="8382000" cy="3886200"/>
          </a:xfrm>
          <a:noFill/>
        </p:spPr>
        <p:txBody>
          <a:bodyPr lIns="90488" tIns="44450" rIns="90488" bIns="44450"/>
          <a:lstStyle/>
          <a:p>
            <a:pPr algn="just" eaLnBrk="1" hangingPunct="1">
              <a:lnSpc>
                <a:spcPct val="150000"/>
              </a:lnSpc>
            </a:pPr>
            <a:r>
              <a:rPr lang="en-US" sz="2000" dirty="0">
                <a:latin typeface="Tahoma" pitchFamily="34" charset="0"/>
                <a:ea typeface="Tahoma" pitchFamily="34" charset="0"/>
                <a:cs typeface="Tahoma" pitchFamily="34" charset="0"/>
              </a:rPr>
              <a:t>A schema is created via the </a:t>
            </a:r>
            <a:r>
              <a:rPr lang="en-US" sz="2000" b="1" dirty="0">
                <a:latin typeface="Tahoma" pitchFamily="34" charset="0"/>
                <a:ea typeface="Tahoma" pitchFamily="34" charset="0"/>
                <a:cs typeface="Tahoma" pitchFamily="34" charset="0"/>
              </a:rPr>
              <a:t>CREATE SCHEMA </a:t>
            </a:r>
            <a:r>
              <a:rPr lang="en-US" sz="2000" dirty="0">
                <a:latin typeface="Tahoma" pitchFamily="34" charset="0"/>
                <a:ea typeface="Tahoma" pitchFamily="34" charset="0"/>
                <a:cs typeface="Tahoma" pitchFamily="34" charset="0"/>
              </a:rPr>
              <a:t>statement, which can include all the schema elements’ definitions.</a:t>
            </a:r>
          </a:p>
          <a:p>
            <a:pPr algn="just" eaLnBrk="1" hangingPunct="1">
              <a:lnSpc>
                <a:spcPct val="90000"/>
              </a:lnSpc>
              <a:spcBef>
                <a:spcPts val="500"/>
              </a:spcBef>
              <a:spcAft>
                <a:spcPts val="500"/>
              </a:spcAft>
              <a:buNone/>
            </a:pPr>
            <a:endParaRPr lang="en-US" sz="1100" b="1" dirty="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r>
              <a:rPr lang="en-US" sz="1800" b="1" dirty="0">
                <a:latin typeface="Tahoma" pitchFamily="34" charset="0"/>
                <a:ea typeface="Tahoma" pitchFamily="34" charset="0"/>
                <a:cs typeface="Tahoma" pitchFamily="34" charset="0"/>
              </a:rPr>
              <a:t>Example: </a:t>
            </a:r>
          </a:p>
          <a:p>
            <a:pPr algn="just" eaLnBrk="1" hangingPunct="1">
              <a:lnSpc>
                <a:spcPct val="150000"/>
              </a:lnSpc>
              <a:spcBef>
                <a:spcPts val="500"/>
              </a:spcBef>
              <a:spcAft>
                <a:spcPts val="500"/>
              </a:spcAft>
              <a:buNone/>
            </a:pPr>
            <a:r>
              <a:rPr lang="en-US" sz="1800" b="1" dirty="0">
                <a:latin typeface="Tahoma" pitchFamily="34" charset="0"/>
                <a:ea typeface="Tahoma" pitchFamily="34" charset="0"/>
                <a:cs typeface="Tahoma" pitchFamily="34" charset="0"/>
              </a:rPr>
              <a:t>     </a:t>
            </a:r>
            <a:r>
              <a:rPr lang="en-US" sz="1800" dirty="0">
                <a:latin typeface="Tahoma" pitchFamily="34" charset="0"/>
                <a:ea typeface="Tahoma" pitchFamily="34" charset="0"/>
                <a:cs typeface="Tahoma" pitchFamily="34" charset="0"/>
              </a:rPr>
              <a:t>The following statement creates a schema called COMPANY, owned by the user with authorization identifier JSMITH</a:t>
            </a:r>
          </a:p>
          <a:p>
            <a:pPr algn="just" eaLnBrk="1" hangingPunct="1">
              <a:lnSpc>
                <a:spcPct val="90000"/>
              </a:lnSpc>
              <a:spcBef>
                <a:spcPts val="500"/>
              </a:spcBef>
              <a:spcAft>
                <a:spcPts val="500"/>
              </a:spcAft>
              <a:buNone/>
            </a:pPr>
            <a:r>
              <a:rPr lang="en-US" sz="1800" b="1" dirty="0">
                <a:latin typeface="Tahoma" pitchFamily="34" charset="0"/>
                <a:ea typeface="Tahoma" pitchFamily="34" charset="0"/>
                <a:cs typeface="Tahoma" pitchFamily="34" charset="0"/>
              </a:rPr>
              <a:t>              </a:t>
            </a:r>
          </a:p>
          <a:p>
            <a:pPr algn="just" eaLnBrk="1" hangingPunct="1">
              <a:lnSpc>
                <a:spcPct val="90000"/>
              </a:lnSpc>
              <a:spcBef>
                <a:spcPts val="500"/>
              </a:spcBef>
              <a:spcAft>
                <a:spcPts val="500"/>
              </a:spcAft>
              <a:buNone/>
            </a:pPr>
            <a:r>
              <a:rPr lang="en-US" sz="1800" b="1" dirty="0">
                <a:latin typeface="Tahoma" pitchFamily="34" charset="0"/>
                <a:ea typeface="Tahoma" pitchFamily="34" charset="0"/>
                <a:cs typeface="Tahoma" pitchFamily="34" charset="0"/>
              </a:rPr>
              <a:t>     </a:t>
            </a:r>
            <a:r>
              <a:rPr lang="en-US" sz="1800" b="1" dirty="0">
                <a:solidFill>
                  <a:srgbClr val="0070C0"/>
                </a:solidFill>
                <a:latin typeface="Tahoma" pitchFamily="34" charset="0"/>
                <a:ea typeface="Tahoma" pitchFamily="34" charset="0"/>
                <a:cs typeface="Tahoma" pitchFamily="34" charset="0"/>
              </a:rPr>
              <a:t>CREATE</a:t>
            </a:r>
            <a:r>
              <a:rPr lang="en-US" sz="1800" b="1" dirty="0">
                <a:latin typeface="Tahoma" pitchFamily="34" charset="0"/>
                <a:ea typeface="Tahoma" pitchFamily="34" charset="0"/>
                <a:cs typeface="Tahoma" pitchFamily="34" charset="0"/>
              </a:rPr>
              <a:t> </a:t>
            </a:r>
            <a:r>
              <a:rPr lang="en-US" sz="1800" b="1" dirty="0">
                <a:solidFill>
                  <a:srgbClr val="0070C0"/>
                </a:solidFill>
                <a:latin typeface="Tahoma" pitchFamily="34" charset="0"/>
                <a:ea typeface="Tahoma" pitchFamily="34" charset="0"/>
                <a:cs typeface="Tahoma" pitchFamily="34" charset="0"/>
              </a:rPr>
              <a:t>SCHEMA </a:t>
            </a:r>
            <a:r>
              <a:rPr lang="en-US" sz="1800" b="1" dirty="0">
                <a:latin typeface="Tahoma" pitchFamily="34" charset="0"/>
                <a:ea typeface="Tahoma" pitchFamily="34" charset="0"/>
                <a:cs typeface="Tahoma" pitchFamily="34" charset="0"/>
              </a:rPr>
              <a:t>COMPANY </a:t>
            </a:r>
            <a:r>
              <a:rPr lang="en-US" sz="1800" b="1" dirty="0">
                <a:solidFill>
                  <a:srgbClr val="0070C0"/>
                </a:solidFill>
                <a:latin typeface="Tahoma" pitchFamily="34" charset="0"/>
                <a:ea typeface="Tahoma" pitchFamily="34" charset="0"/>
                <a:cs typeface="Tahoma" pitchFamily="34" charset="0"/>
              </a:rPr>
              <a:t>AUTHORIZATION</a:t>
            </a:r>
            <a:r>
              <a:rPr lang="en-US" sz="1800" b="1" dirty="0">
                <a:latin typeface="Tahoma" pitchFamily="34" charset="0"/>
                <a:ea typeface="Tahoma" pitchFamily="34" charset="0"/>
                <a:cs typeface="Tahoma" pitchFamily="34" charset="0"/>
              </a:rPr>
              <a:t> JSMITH;</a:t>
            </a:r>
          </a:p>
          <a:p>
            <a:pPr algn="just" eaLnBrk="1" hangingPunct="1">
              <a:lnSpc>
                <a:spcPct val="90000"/>
              </a:lnSpc>
              <a:spcBef>
                <a:spcPts val="500"/>
              </a:spcBef>
              <a:spcAft>
                <a:spcPts val="500"/>
              </a:spcAft>
              <a:buNone/>
            </a:pPr>
            <a:endParaRPr lang="en-US" sz="1100" b="1" dirty="0">
              <a:latin typeface="Tahoma" pitchFamily="34" charset="0"/>
              <a:ea typeface="Tahoma" pitchFamily="34" charset="0"/>
              <a:cs typeface="Tahoma" pitchFamily="34" charset="0"/>
            </a:endParaRPr>
          </a:p>
          <a:p>
            <a:pPr lvl="1" algn="just">
              <a:lnSpc>
                <a:spcPct val="90000"/>
              </a:lnSpc>
              <a:spcBef>
                <a:spcPts val="500"/>
              </a:spcBef>
              <a:spcAft>
                <a:spcPts val="500"/>
              </a:spcAft>
            </a:pPr>
            <a:endParaRPr lang="en-US" sz="700" b="1" dirty="0">
              <a:latin typeface="Tahoma" pitchFamily="34" charset="0"/>
              <a:ea typeface="Tahoma" pitchFamily="34" charset="0"/>
              <a:cs typeface="Tahoma" pitchFamily="34" charset="0"/>
            </a:endParaRPr>
          </a:p>
        </p:txBody>
      </p:sp>
      <p:sp>
        <p:nvSpPr>
          <p:cNvPr id="4" name="TextBox 3"/>
          <p:cNvSpPr txBox="1"/>
          <p:nvPr/>
        </p:nvSpPr>
        <p:spPr>
          <a:xfrm>
            <a:off x="228600" y="5257800"/>
            <a:ext cx="8686800" cy="872034"/>
          </a:xfrm>
          <a:prstGeom prst="rect">
            <a:avLst/>
          </a:prstGeom>
          <a:noFill/>
          <a:ln w="28575">
            <a:solidFill>
              <a:schemeClr val="accent1"/>
            </a:solidFill>
          </a:ln>
        </p:spPr>
        <p:txBody>
          <a:bodyPr wrap="square" rtlCol="0">
            <a:spAutoFit/>
          </a:bodyPr>
          <a:lstStyle/>
          <a:p>
            <a:pPr algn="just">
              <a:lnSpc>
                <a:spcPct val="150000"/>
              </a:lnSpc>
            </a:pPr>
            <a:r>
              <a:rPr lang="en-US" i="1" dirty="0">
                <a:solidFill>
                  <a:srgbClr val="002060"/>
                </a:solidFill>
              </a:rPr>
              <a:t>In general , not all users are authorized to create schema and schema elements .</a:t>
            </a:r>
          </a:p>
          <a:p>
            <a:pPr algn="just">
              <a:lnSpc>
                <a:spcPct val="150000"/>
              </a:lnSpc>
            </a:pPr>
            <a:r>
              <a:rPr lang="en-US" i="1" dirty="0">
                <a:solidFill>
                  <a:srgbClr val="002060"/>
                </a:solidFill>
              </a:rPr>
              <a:t>The privilege for these must be given by Database Administrator (DBA)</a:t>
            </a:r>
          </a:p>
        </p:txBody>
      </p:sp>
      <p:sp>
        <p:nvSpPr>
          <p:cNvPr id="8" name="Rectangle 2"/>
          <p:cNvSpPr>
            <a:spLocks noGrp="1" noChangeArrowheads="1"/>
          </p:cNvSpPr>
          <p:nvPr>
            <p:ph type="title"/>
          </p:nvPr>
        </p:nvSpPr>
        <p:spPr>
          <a:xfrm>
            <a:off x="152400" y="152400"/>
            <a:ext cx="8229600" cy="762000"/>
          </a:xfrm>
          <a:noFill/>
        </p:spPr>
        <p:txBody>
          <a:bodyPr lIns="90488" tIns="44450" rIns="90488" bIns="44450"/>
          <a:lstStyle/>
          <a:p>
            <a:pPr algn="l"/>
            <a:r>
              <a:rPr lang="en-US" sz="2400" b="1" dirty="0">
                <a:latin typeface="Tahoma" pitchFamily="34" charset="0"/>
                <a:ea typeface="Tahoma" pitchFamily="34" charset="0"/>
                <a:cs typeface="Tahoma" pitchFamily="34" charset="0"/>
              </a:rPr>
              <a:t> SQL Data Definition : </a:t>
            </a:r>
            <a:r>
              <a:rPr lang="en-US" sz="2400" b="1" u="sng" dirty="0">
                <a:solidFill>
                  <a:srgbClr val="002060"/>
                </a:solidFill>
                <a:latin typeface="Tahoma" pitchFamily="34" charset="0"/>
                <a:ea typeface="Tahoma" pitchFamily="34" charset="0"/>
                <a:cs typeface="Tahoma" pitchFamily="34" charset="0"/>
              </a:rPr>
              <a:t>Schema and Catalog Concepts  </a:t>
            </a:r>
            <a:endParaRPr lang="en-US" sz="2400" b="1"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81000" y="1066800"/>
            <a:ext cx="8229600" cy="3886200"/>
          </a:xfrm>
          <a:noFill/>
        </p:spPr>
        <p:txBody>
          <a:bodyPr lIns="90488" tIns="44450" rIns="90488" bIns="44450"/>
          <a:lstStyle/>
          <a:p>
            <a:pPr algn="just" eaLnBrk="1" hangingPunct="1">
              <a:lnSpc>
                <a:spcPct val="90000"/>
              </a:lnSpc>
              <a:spcBef>
                <a:spcPts val="500"/>
              </a:spcBef>
              <a:spcAft>
                <a:spcPts val="500"/>
              </a:spcAft>
              <a:buNone/>
            </a:pPr>
            <a:endParaRPr lang="en-US" sz="2000" b="1" dirty="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r>
              <a:rPr lang="en-US" sz="2000" b="1" dirty="0">
                <a:latin typeface="Tahoma" pitchFamily="34" charset="0"/>
                <a:ea typeface="Tahoma" pitchFamily="34" charset="0"/>
                <a:cs typeface="Tahoma" pitchFamily="34" charset="0"/>
              </a:rPr>
              <a:t>SQL catalog </a:t>
            </a:r>
            <a:endParaRPr lang="en-US" sz="2000" dirty="0"/>
          </a:p>
          <a:p>
            <a:pPr algn="just" eaLnBrk="1" hangingPunct="1">
              <a:lnSpc>
                <a:spcPct val="90000"/>
              </a:lnSpc>
              <a:spcBef>
                <a:spcPts val="500"/>
              </a:spcBef>
              <a:spcAft>
                <a:spcPts val="500"/>
              </a:spcAft>
              <a:buNone/>
            </a:pPr>
            <a:r>
              <a:rPr lang="en-US" sz="2000" dirty="0"/>
              <a:t>        A   named collection of schemas in an SQL environment. </a:t>
            </a:r>
          </a:p>
          <a:p>
            <a:pPr algn="just" eaLnBrk="1" hangingPunct="1">
              <a:lnSpc>
                <a:spcPct val="90000"/>
              </a:lnSpc>
              <a:spcBef>
                <a:spcPts val="500"/>
              </a:spcBef>
              <a:spcAft>
                <a:spcPts val="500"/>
              </a:spcAft>
              <a:buNone/>
            </a:pPr>
            <a:endParaRPr lang="en-US" sz="2000" dirty="0"/>
          </a:p>
          <a:p>
            <a:pPr lvl="1" algn="just">
              <a:lnSpc>
                <a:spcPct val="150000"/>
              </a:lnSpc>
              <a:spcBef>
                <a:spcPts val="500"/>
              </a:spcBef>
              <a:spcAft>
                <a:spcPts val="500"/>
              </a:spcAft>
            </a:pPr>
            <a:r>
              <a:rPr lang="en-US" sz="1600" dirty="0"/>
              <a:t>  </a:t>
            </a:r>
            <a:r>
              <a:rPr lang="en-US" sz="1800" dirty="0">
                <a:latin typeface="Tahoma" pitchFamily="34" charset="0"/>
                <a:ea typeface="Tahoma" pitchFamily="34" charset="0"/>
                <a:cs typeface="Tahoma" pitchFamily="34" charset="0"/>
              </a:rPr>
              <a:t>A catalog always contains a special schema called I</a:t>
            </a:r>
            <a:r>
              <a:rPr lang="en-US" sz="1800" b="1" dirty="0">
                <a:latin typeface="Tahoma" pitchFamily="34" charset="0"/>
                <a:ea typeface="Tahoma" pitchFamily="34" charset="0"/>
                <a:cs typeface="Tahoma" pitchFamily="34" charset="0"/>
              </a:rPr>
              <a:t>NFORMATION_SCHEMA</a:t>
            </a:r>
            <a:endParaRPr lang="en-US" sz="1800" dirty="0">
              <a:latin typeface="Tahoma" pitchFamily="34" charset="0"/>
              <a:ea typeface="Tahoma" pitchFamily="34" charset="0"/>
              <a:cs typeface="Tahoma" pitchFamily="34" charset="0"/>
            </a:endParaRPr>
          </a:p>
          <a:p>
            <a:pPr lvl="1" algn="just">
              <a:lnSpc>
                <a:spcPct val="150000"/>
              </a:lnSpc>
              <a:spcBef>
                <a:spcPts val="500"/>
              </a:spcBef>
              <a:spcAft>
                <a:spcPts val="500"/>
              </a:spcAft>
            </a:pPr>
            <a:r>
              <a:rPr lang="en-US" sz="1800" dirty="0">
                <a:latin typeface="Tahoma" pitchFamily="34" charset="0"/>
                <a:ea typeface="Tahoma" pitchFamily="34" charset="0"/>
                <a:cs typeface="Tahoma" pitchFamily="34" charset="0"/>
              </a:rPr>
              <a:t>I</a:t>
            </a:r>
            <a:r>
              <a:rPr lang="en-US" sz="1800" b="1" dirty="0">
                <a:latin typeface="Tahoma" pitchFamily="34" charset="0"/>
                <a:ea typeface="Tahoma" pitchFamily="34" charset="0"/>
                <a:cs typeface="Tahoma" pitchFamily="34" charset="0"/>
              </a:rPr>
              <a:t>NFORMATION_SCHEMA </a:t>
            </a:r>
            <a:r>
              <a:rPr lang="en-US" sz="1800" dirty="0">
                <a:latin typeface="Tahoma" pitchFamily="34" charset="0"/>
                <a:ea typeface="Tahoma" pitchFamily="34" charset="0"/>
                <a:cs typeface="Tahoma" pitchFamily="34" charset="0"/>
              </a:rPr>
              <a:t> provides information on all the element descriptors of all the schemas in the catalog to authorized users. </a:t>
            </a:r>
            <a:endParaRPr lang="en-US" sz="1050" dirty="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endParaRPr lang="en-US" sz="2000" dirty="0"/>
          </a:p>
          <a:p>
            <a:pPr algn="just" eaLnBrk="1" hangingPunct="1">
              <a:lnSpc>
                <a:spcPct val="90000"/>
              </a:lnSpc>
              <a:spcBef>
                <a:spcPts val="500"/>
              </a:spcBef>
              <a:spcAft>
                <a:spcPts val="500"/>
              </a:spcAft>
              <a:buNone/>
            </a:pPr>
            <a:endParaRPr lang="en-US" sz="1800" b="1" dirty="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endParaRPr lang="en-US" sz="1100" b="1" dirty="0">
              <a:latin typeface="Tahoma" pitchFamily="34" charset="0"/>
              <a:ea typeface="Tahoma" pitchFamily="34" charset="0"/>
              <a:cs typeface="Tahoma" pitchFamily="34" charset="0"/>
            </a:endParaRPr>
          </a:p>
          <a:p>
            <a:pPr lvl="1" algn="just">
              <a:lnSpc>
                <a:spcPct val="90000"/>
              </a:lnSpc>
              <a:spcBef>
                <a:spcPts val="500"/>
              </a:spcBef>
              <a:spcAft>
                <a:spcPts val="500"/>
              </a:spcAft>
            </a:pPr>
            <a:endParaRPr lang="en-US" sz="700" b="1" dirty="0">
              <a:latin typeface="Tahoma" pitchFamily="34" charset="0"/>
              <a:ea typeface="Tahoma" pitchFamily="34" charset="0"/>
              <a:cs typeface="Tahoma" pitchFamily="34" charset="0"/>
            </a:endParaRPr>
          </a:p>
        </p:txBody>
      </p:sp>
      <p:sp>
        <p:nvSpPr>
          <p:cNvPr id="5" name="Rectangle 2"/>
          <p:cNvSpPr>
            <a:spLocks noGrp="1" noChangeArrowheads="1"/>
          </p:cNvSpPr>
          <p:nvPr>
            <p:ph type="title"/>
          </p:nvPr>
        </p:nvSpPr>
        <p:spPr>
          <a:xfrm>
            <a:off x="152400" y="152400"/>
            <a:ext cx="8229600" cy="762000"/>
          </a:xfrm>
          <a:noFill/>
        </p:spPr>
        <p:txBody>
          <a:bodyPr lIns="90488" tIns="44450" rIns="90488" bIns="44450"/>
          <a:lstStyle/>
          <a:p>
            <a:pPr algn="l"/>
            <a:r>
              <a:rPr lang="en-US" sz="2400" b="1" dirty="0">
                <a:latin typeface="Tahoma" pitchFamily="34" charset="0"/>
                <a:ea typeface="Tahoma" pitchFamily="34" charset="0"/>
                <a:cs typeface="Tahoma" pitchFamily="34" charset="0"/>
              </a:rPr>
              <a:t> SQL Data Definition : </a:t>
            </a:r>
            <a:r>
              <a:rPr lang="en-US" sz="2400" b="1" u="sng" dirty="0">
                <a:solidFill>
                  <a:srgbClr val="002060"/>
                </a:solidFill>
                <a:latin typeface="Tahoma" pitchFamily="34" charset="0"/>
                <a:ea typeface="Tahoma" pitchFamily="34" charset="0"/>
                <a:cs typeface="Tahoma" pitchFamily="34" charset="0"/>
              </a:rPr>
              <a:t>Schema and Catalog Concepts  </a:t>
            </a:r>
            <a:endParaRPr lang="en-US" sz="2400" b="1"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457200" y="990600"/>
            <a:ext cx="8382000" cy="5486400"/>
          </a:xfrm>
          <a:noFill/>
        </p:spPr>
        <p:txBody>
          <a:bodyPr lIns="90488" tIns="44450" rIns="90488" bIns="44450"/>
          <a:lstStyle/>
          <a:p>
            <a:pPr algn="just">
              <a:lnSpc>
                <a:spcPct val="150000"/>
              </a:lnSpc>
              <a:spcBef>
                <a:spcPts val="500"/>
              </a:spcBef>
              <a:spcAft>
                <a:spcPts val="500"/>
              </a:spcAft>
            </a:pPr>
            <a:r>
              <a:rPr lang="en-US" sz="2000" dirty="0">
                <a:latin typeface="Tahoma" pitchFamily="34" charset="0"/>
                <a:ea typeface="Tahoma" pitchFamily="34" charset="0"/>
                <a:cs typeface="Tahoma" pitchFamily="34" charset="0"/>
              </a:rPr>
              <a:t> Used to specify a new table by giving it a name and specifying its attributes and constraints </a:t>
            </a:r>
          </a:p>
          <a:p>
            <a:pPr lvl="2">
              <a:lnSpc>
                <a:spcPct val="150000"/>
              </a:lnSpc>
              <a:spcBef>
                <a:spcPts val="500"/>
              </a:spcBef>
              <a:spcAft>
                <a:spcPts val="500"/>
              </a:spcAft>
              <a:buFont typeface="Arial" pitchFamily="34" charset="0"/>
              <a:buChar char="•"/>
            </a:pPr>
            <a:r>
              <a:rPr lang="en-US" sz="1600" dirty="0">
                <a:solidFill>
                  <a:srgbClr val="000000"/>
                </a:solidFill>
                <a:latin typeface="Tahoma" pitchFamily="34" charset="0"/>
                <a:ea typeface="Tahoma" pitchFamily="34" charset="0"/>
                <a:cs typeface="Tahoma" pitchFamily="34" charset="0"/>
              </a:rPr>
              <a:t>The </a:t>
            </a:r>
            <a:r>
              <a:rPr lang="en-US" sz="1600" b="1" dirty="0">
                <a:solidFill>
                  <a:srgbClr val="000000"/>
                </a:solidFill>
                <a:latin typeface="Tahoma" pitchFamily="34" charset="0"/>
                <a:ea typeface="Tahoma" pitchFamily="34" charset="0"/>
                <a:cs typeface="Tahoma" pitchFamily="34" charset="0"/>
              </a:rPr>
              <a:t>attributes</a:t>
            </a:r>
            <a:r>
              <a:rPr lang="en-US" sz="1600" dirty="0">
                <a:solidFill>
                  <a:srgbClr val="000000"/>
                </a:solidFill>
                <a:latin typeface="Tahoma" pitchFamily="34" charset="0"/>
                <a:ea typeface="Tahoma" pitchFamily="34" charset="0"/>
                <a:cs typeface="Tahoma" pitchFamily="34" charset="0"/>
              </a:rPr>
              <a:t> are specified first, and each attribute is given a name </a:t>
            </a:r>
          </a:p>
          <a:p>
            <a:pPr lvl="2">
              <a:lnSpc>
                <a:spcPct val="150000"/>
              </a:lnSpc>
              <a:spcBef>
                <a:spcPts val="500"/>
              </a:spcBef>
              <a:spcAft>
                <a:spcPts val="500"/>
              </a:spcAft>
              <a:buFont typeface="Arial" pitchFamily="34" charset="0"/>
              <a:buChar char="•"/>
            </a:pPr>
            <a:r>
              <a:rPr lang="en-US" sz="1600" dirty="0">
                <a:solidFill>
                  <a:srgbClr val="000000"/>
                </a:solidFill>
                <a:latin typeface="Tahoma" pitchFamily="34" charset="0"/>
                <a:ea typeface="Tahoma" pitchFamily="34" charset="0"/>
                <a:cs typeface="Tahoma" pitchFamily="34" charset="0"/>
              </a:rPr>
              <a:t>Followed by a  </a:t>
            </a:r>
            <a:r>
              <a:rPr lang="en-US" sz="1600" b="1" dirty="0">
                <a:solidFill>
                  <a:srgbClr val="000000"/>
                </a:solidFill>
                <a:latin typeface="Tahoma" pitchFamily="34" charset="0"/>
                <a:ea typeface="Tahoma" pitchFamily="34" charset="0"/>
                <a:cs typeface="Tahoma" pitchFamily="34" charset="0"/>
              </a:rPr>
              <a:t>data type</a:t>
            </a:r>
            <a:r>
              <a:rPr lang="en-US" sz="1600" dirty="0">
                <a:solidFill>
                  <a:srgbClr val="000000"/>
                </a:solidFill>
                <a:latin typeface="Tahoma" pitchFamily="34" charset="0"/>
                <a:ea typeface="Tahoma" pitchFamily="34" charset="0"/>
                <a:cs typeface="Tahoma" pitchFamily="34" charset="0"/>
              </a:rPr>
              <a:t> to specify its domain of values.</a:t>
            </a:r>
          </a:p>
          <a:p>
            <a:pPr lvl="2">
              <a:lnSpc>
                <a:spcPct val="150000"/>
              </a:lnSpc>
              <a:spcBef>
                <a:spcPts val="500"/>
              </a:spcBef>
              <a:spcAft>
                <a:spcPts val="500"/>
              </a:spcAft>
              <a:buFont typeface="Arial" pitchFamily="34" charset="0"/>
              <a:buChar char="•"/>
            </a:pPr>
            <a:r>
              <a:rPr lang="en-US" sz="1600" dirty="0">
                <a:solidFill>
                  <a:srgbClr val="000000"/>
                </a:solidFill>
                <a:latin typeface="Tahoma" pitchFamily="34" charset="0"/>
                <a:ea typeface="Tahoma" pitchFamily="34" charset="0"/>
                <a:cs typeface="Tahoma" pitchFamily="34" charset="0"/>
              </a:rPr>
              <a:t>Followed by  any attribute constraints such as NOT NULL.</a:t>
            </a:r>
          </a:p>
          <a:p>
            <a:pPr lvl="2">
              <a:lnSpc>
                <a:spcPct val="150000"/>
              </a:lnSpc>
              <a:spcBef>
                <a:spcPts val="500"/>
              </a:spcBef>
              <a:spcAft>
                <a:spcPts val="500"/>
              </a:spcAft>
              <a:buFont typeface="Arial" pitchFamily="34" charset="0"/>
              <a:buChar char="•"/>
            </a:pPr>
            <a:r>
              <a:rPr lang="en-US" sz="1600" dirty="0">
                <a:solidFill>
                  <a:srgbClr val="000000"/>
                </a:solidFill>
                <a:latin typeface="Tahoma" pitchFamily="34" charset="0"/>
                <a:ea typeface="Tahoma" pitchFamily="34" charset="0"/>
                <a:cs typeface="Tahoma" pitchFamily="34" charset="0"/>
              </a:rPr>
              <a:t>The key, entity integrity, and referential integrity constraints can be specified—within the CREATE TABLE statement—after the attributes are declared</a:t>
            </a:r>
            <a:r>
              <a:rPr lang="en-US" sz="1600" dirty="0">
                <a:solidFill>
                  <a:srgbClr val="000000"/>
                </a:solidFill>
              </a:rPr>
              <a:t>.</a:t>
            </a:r>
          </a:p>
          <a:p>
            <a:pPr eaLnBrk="1" hangingPunct="1">
              <a:lnSpc>
                <a:spcPct val="80000"/>
              </a:lnSpc>
              <a:spcBef>
                <a:spcPts val="500"/>
              </a:spcBef>
              <a:spcAft>
                <a:spcPts val="500"/>
              </a:spcAft>
            </a:pPr>
            <a:r>
              <a:rPr lang="en-US" sz="2400" b="1" dirty="0">
                <a:latin typeface="Tahoma" pitchFamily="34" charset="0"/>
                <a:ea typeface="Tahoma" pitchFamily="34" charset="0"/>
                <a:cs typeface="Tahoma" pitchFamily="34" charset="0"/>
              </a:rPr>
              <a:t>Syntax : </a:t>
            </a:r>
          </a:p>
          <a:p>
            <a:pPr algn="ctr" eaLnBrk="1" hangingPunct="1">
              <a:lnSpc>
                <a:spcPct val="80000"/>
              </a:lnSpc>
              <a:spcBef>
                <a:spcPts val="500"/>
              </a:spcBef>
              <a:spcAft>
                <a:spcPts val="500"/>
              </a:spcAft>
              <a:buFontTx/>
              <a:buNone/>
            </a:pPr>
            <a:r>
              <a:rPr lang="en-US" sz="2400" b="1" dirty="0"/>
              <a:t>                      </a:t>
            </a:r>
            <a:r>
              <a:rPr lang="en-US" sz="1600" b="1" dirty="0">
                <a:solidFill>
                  <a:srgbClr val="0070C0"/>
                </a:solidFill>
                <a:latin typeface="Tahoma" pitchFamily="34" charset="0"/>
                <a:ea typeface="Tahoma" pitchFamily="34" charset="0"/>
                <a:cs typeface="Tahoma" pitchFamily="34" charset="0"/>
              </a:rPr>
              <a:t>CREATE TABLE </a:t>
            </a:r>
            <a:r>
              <a:rPr lang="en-US" sz="1600" dirty="0">
                <a:latin typeface="Tahoma" pitchFamily="34" charset="0"/>
                <a:ea typeface="Tahoma" pitchFamily="34" charset="0"/>
                <a:cs typeface="Tahoma" pitchFamily="34" charset="0"/>
              </a:rPr>
              <a:t>COMPANY.EMPLOYEE…                </a:t>
            </a:r>
            <a:r>
              <a:rPr lang="en-US" sz="1600" b="1" dirty="0">
                <a:latin typeface="Tahoma" pitchFamily="34" charset="0"/>
                <a:ea typeface="Tahoma" pitchFamily="34" charset="0"/>
                <a:cs typeface="Tahoma" pitchFamily="34" charset="0"/>
              </a:rPr>
              <a:t>OR</a:t>
            </a:r>
          </a:p>
          <a:p>
            <a:pPr algn="ctr" eaLnBrk="1" hangingPunct="1">
              <a:lnSpc>
                <a:spcPct val="80000"/>
              </a:lnSpc>
              <a:spcBef>
                <a:spcPts val="500"/>
              </a:spcBef>
              <a:spcAft>
                <a:spcPts val="500"/>
              </a:spcAft>
              <a:buFontTx/>
              <a:buNone/>
            </a:pPr>
            <a:r>
              <a:rPr lang="en-US" sz="1600" b="1" dirty="0">
                <a:solidFill>
                  <a:srgbClr val="0070C0"/>
                </a:solidFill>
                <a:latin typeface="Tahoma" pitchFamily="34" charset="0"/>
                <a:ea typeface="Tahoma" pitchFamily="34" charset="0"/>
                <a:cs typeface="Tahoma" pitchFamily="34" charset="0"/>
              </a:rPr>
              <a:t>CREATE TABLE </a:t>
            </a:r>
            <a:r>
              <a:rPr lang="en-US" sz="1600" dirty="0">
                <a:latin typeface="Tahoma" pitchFamily="34" charset="0"/>
                <a:ea typeface="Tahoma" pitchFamily="34" charset="0"/>
                <a:cs typeface="Tahoma" pitchFamily="34" charset="0"/>
              </a:rPr>
              <a:t>EMPLOYEE </a:t>
            </a:r>
            <a:r>
              <a:rPr lang="en-US" sz="2400" dirty="0">
                <a:latin typeface="Tahoma" pitchFamily="34" charset="0"/>
                <a:ea typeface="Tahoma" pitchFamily="34" charset="0"/>
                <a:cs typeface="Tahoma" pitchFamily="34" charset="0"/>
              </a:rPr>
              <a:t>...</a:t>
            </a:r>
          </a:p>
          <a:p>
            <a:pPr>
              <a:lnSpc>
                <a:spcPct val="150000"/>
              </a:lnSpc>
              <a:spcBef>
                <a:spcPts val="500"/>
              </a:spcBef>
              <a:spcAft>
                <a:spcPts val="500"/>
              </a:spcAft>
              <a:buFont typeface="Arial" pitchFamily="34" charset="0"/>
              <a:buChar char="•"/>
            </a:pPr>
            <a:endParaRPr lang="en-US" sz="2400" dirty="0">
              <a:solidFill>
                <a:srgbClr val="000000"/>
              </a:solidFill>
            </a:endParaRPr>
          </a:p>
          <a:p>
            <a:pPr lvl="1" algn="just">
              <a:lnSpc>
                <a:spcPct val="90000"/>
              </a:lnSpc>
              <a:spcBef>
                <a:spcPts val="500"/>
              </a:spcBef>
              <a:spcAft>
                <a:spcPts val="500"/>
              </a:spcAft>
              <a:buNone/>
            </a:pPr>
            <a:endParaRPr lang="en-US" sz="1400" b="1" dirty="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endParaRPr lang="en-US" sz="1100" b="1" dirty="0">
              <a:latin typeface="Tahoma" pitchFamily="34" charset="0"/>
              <a:ea typeface="Tahoma" pitchFamily="34" charset="0"/>
              <a:cs typeface="Tahoma" pitchFamily="34" charset="0"/>
            </a:endParaRPr>
          </a:p>
          <a:p>
            <a:pPr lvl="1" algn="just">
              <a:lnSpc>
                <a:spcPct val="90000"/>
              </a:lnSpc>
              <a:spcBef>
                <a:spcPts val="500"/>
              </a:spcBef>
              <a:spcAft>
                <a:spcPts val="500"/>
              </a:spcAft>
            </a:pPr>
            <a:endParaRPr lang="en-US" sz="700" b="1" dirty="0">
              <a:latin typeface="Tahoma" pitchFamily="34" charset="0"/>
              <a:ea typeface="Tahoma" pitchFamily="34" charset="0"/>
              <a:cs typeface="Tahoma" pitchFamily="34" charset="0"/>
            </a:endParaRPr>
          </a:p>
        </p:txBody>
      </p:sp>
      <p:sp>
        <p:nvSpPr>
          <p:cNvPr id="5" name="Rectangle 2"/>
          <p:cNvSpPr>
            <a:spLocks noGrp="1" noChangeArrowheads="1"/>
          </p:cNvSpPr>
          <p:nvPr>
            <p:ph type="title"/>
          </p:nvPr>
        </p:nvSpPr>
        <p:spPr>
          <a:xfrm>
            <a:off x="152400" y="152400"/>
            <a:ext cx="8229600" cy="762000"/>
          </a:xfrm>
          <a:noFill/>
        </p:spPr>
        <p:txBody>
          <a:bodyPr lIns="90488" tIns="44450" rIns="90488" bIns="44450"/>
          <a:lstStyle/>
          <a:p>
            <a:pPr eaLnBrk="1" hangingPunct="1">
              <a:lnSpc>
                <a:spcPct val="90000"/>
              </a:lnSpc>
              <a:spcBef>
                <a:spcPts val="500"/>
              </a:spcBef>
              <a:spcAft>
                <a:spcPts val="500"/>
              </a:spcAft>
            </a:pPr>
            <a:r>
              <a:rPr lang="en-US" sz="2400" b="1" dirty="0">
                <a:latin typeface="Tahoma" pitchFamily="34" charset="0"/>
                <a:ea typeface="Tahoma" pitchFamily="34" charset="0"/>
                <a:cs typeface="Tahoma" pitchFamily="34" charset="0"/>
              </a:rPr>
              <a:t> SQL Data Definition : </a:t>
            </a:r>
            <a:r>
              <a:rPr lang="en-US" sz="2400" b="1" u="sng" dirty="0">
                <a:solidFill>
                  <a:srgbClr val="002060"/>
                </a:solidFill>
                <a:latin typeface="Tahoma" pitchFamily="34" charset="0"/>
                <a:ea typeface="Tahoma" pitchFamily="34" charset="0"/>
                <a:cs typeface="Tahoma" pitchFamily="34" charset="0"/>
              </a:rPr>
              <a:t>The CREATE TABLE Command </a:t>
            </a:r>
            <a:endParaRPr lang="en-US" sz="2400" b="1" dirty="0"/>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228600" y="914400"/>
            <a:ext cx="8382000" cy="457200"/>
          </a:xfrm>
          <a:noFill/>
        </p:spPr>
        <p:txBody>
          <a:bodyPr lIns="90488" tIns="44450" rIns="90488" bIns="44450"/>
          <a:lstStyle/>
          <a:p>
            <a:pPr algn="just" eaLnBrk="1" hangingPunct="1">
              <a:lnSpc>
                <a:spcPct val="90000"/>
              </a:lnSpc>
              <a:spcBef>
                <a:spcPts val="500"/>
              </a:spcBef>
              <a:spcAft>
                <a:spcPts val="500"/>
              </a:spcAft>
              <a:buNone/>
            </a:pPr>
            <a:r>
              <a:rPr lang="en-US" sz="2000" b="1" u="sng" dirty="0">
                <a:solidFill>
                  <a:srgbClr val="002060"/>
                </a:solidFill>
                <a:latin typeface="Tahoma" pitchFamily="34" charset="0"/>
                <a:ea typeface="Tahoma" pitchFamily="34" charset="0"/>
                <a:cs typeface="Tahoma" pitchFamily="34" charset="0"/>
              </a:rPr>
              <a:t> </a:t>
            </a:r>
            <a:r>
              <a:rPr lang="en-US" sz="1800" b="1" dirty="0"/>
              <a:t>Example : Company Database Schema  </a:t>
            </a:r>
            <a:endParaRPr lang="en-US" sz="2400" dirty="0">
              <a:solidFill>
                <a:srgbClr val="000000"/>
              </a:solidFill>
            </a:endParaRPr>
          </a:p>
          <a:p>
            <a:pPr lvl="1" algn="just">
              <a:lnSpc>
                <a:spcPct val="90000"/>
              </a:lnSpc>
              <a:spcBef>
                <a:spcPts val="500"/>
              </a:spcBef>
              <a:spcAft>
                <a:spcPts val="500"/>
              </a:spcAft>
              <a:buNone/>
            </a:pPr>
            <a:endParaRPr lang="en-US" sz="1400" b="1" dirty="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endParaRPr lang="en-US" sz="1100" b="1" dirty="0">
              <a:latin typeface="Tahoma" pitchFamily="34" charset="0"/>
              <a:ea typeface="Tahoma" pitchFamily="34" charset="0"/>
              <a:cs typeface="Tahoma" pitchFamily="34" charset="0"/>
            </a:endParaRPr>
          </a:p>
          <a:p>
            <a:pPr lvl="1" algn="just">
              <a:lnSpc>
                <a:spcPct val="90000"/>
              </a:lnSpc>
              <a:spcBef>
                <a:spcPts val="500"/>
              </a:spcBef>
              <a:spcAft>
                <a:spcPts val="500"/>
              </a:spcAft>
            </a:pPr>
            <a:endParaRPr lang="en-US" sz="700" b="1" dirty="0">
              <a:latin typeface="Tahoma" pitchFamily="34" charset="0"/>
              <a:ea typeface="Tahoma" pitchFamily="34" charset="0"/>
              <a:cs typeface="Tahoma" pitchFamily="34" charset="0"/>
            </a:endParaRPr>
          </a:p>
        </p:txBody>
      </p:sp>
      <p:pic>
        <p:nvPicPr>
          <p:cNvPr id="6" name="Picture 3"/>
          <p:cNvPicPr>
            <a:picLocks noChangeAspect="1" noChangeArrowheads="1"/>
          </p:cNvPicPr>
          <p:nvPr/>
        </p:nvPicPr>
        <p:blipFill>
          <a:blip r:embed="rId3" cstate="print"/>
          <a:srcRect/>
          <a:stretch>
            <a:fillRect/>
          </a:stretch>
        </p:blipFill>
        <p:spPr bwMode="auto">
          <a:xfrm>
            <a:off x="1295401" y="1379624"/>
            <a:ext cx="6705600" cy="4824326"/>
          </a:xfrm>
          <a:prstGeom prst="rect">
            <a:avLst/>
          </a:prstGeom>
          <a:noFill/>
          <a:ln w="9525">
            <a:noFill/>
            <a:miter lim="800000"/>
            <a:headEnd/>
            <a:tailEnd/>
          </a:ln>
          <a:effectLst/>
        </p:spPr>
      </p:pic>
      <p:sp>
        <p:nvSpPr>
          <p:cNvPr id="7" name="Rectangle 2"/>
          <p:cNvSpPr>
            <a:spLocks noGrp="1" noChangeArrowheads="1"/>
          </p:cNvSpPr>
          <p:nvPr>
            <p:ph type="title"/>
          </p:nvPr>
        </p:nvSpPr>
        <p:spPr>
          <a:xfrm>
            <a:off x="152400" y="152400"/>
            <a:ext cx="8229600" cy="762000"/>
          </a:xfrm>
          <a:noFill/>
        </p:spPr>
        <p:txBody>
          <a:bodyPr lIns="90488" tIns="44450" rIns="90488" bIns="44450"/>
          <a:lstStyle/>
          <a:p>
            <a:pPr eaLnBrk="1" hangingPunct="1">
              <a:lnSpc>
                <a:spcPct val="90000"/>
              </a:lnSpc>
              <a:spcBef>
                <a:spcPts val="500"/>
              </a:spcBef>
              <a:spcAft>
                <a:spcPts val="500"/>
              </a:spcAft>
            </a:pPr>
            <a:r>
              <a:rPr lang="en-US" sz="2400" b="1" dirty="0">
                <a:latin typeface="Tahoma" pitchFamily="34" charset="0"/>
                <a:ea typeface="Tahoma" pitchFamily="34" charset="0"/>
                <a:cs typeface="Tahoma" pitchFamily="34" charset="0"/>
              </a:rPr>
              <a:t> SQL Data Definition : </a:t>
            </a:r>
            <a:r>
              <a:rPr lang="en-US" sz="2400" b="1" u="sng" dirty="0">
                <a:solidFill>
                  <a:srgbClr val="002060"/>
                </a:solidFill>
                <a:latin typeface="Tahoma" pitchFamily="34" charset="0"/>
                <a:ea typeface="Tahoma" pitchFamily="34" charset="0"/>
                <a:cs typeface="Tahoma" pitchFamily="34" charset="0"/>
              </a:rPr>
              <a:t>The CREATE TABLE Command </a:t>
            </a:r>
            <a:endParaRPr lang="en-US" sz="2400" b="1" dirty="0"/>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81000" y="914400"/>
            <a:ext cx="8382000" cy="457200"/>
          </a:xfrm>
          <a:noFill/>
        </p:spPr>
        <p:txBody>
          <a:bodyPr lIns="90488" tIns="44450" rIns="90488" bIns="44450"/>
          <a:lstStyle/>
          <a:p>
            <a:pPr algn="just" eaLnBrk="1" hangingPunct="1">
              <a:lnSpc>
                <a:spcPct val="90000"/>
              </a:lnSpc>
              <a:spcBef>
                <a:spcPts val="500"/>
              </a:spcBef>
              <a:spcAft>
                <a:spcPts val="500"/>
              </a:spcAft>
              <a:buNone/>
            </a:pPr>
            <a:r>
              <a:rPr lang="en-US" sz="2000" b="1" dirty="0"/>
              <a:t>Example : Company Database</a:t>
            </a:r>
            <a:endParaRPr lang="en-US" sz="2800" dirty="0">
              <a:solidFill>
                <a:srgbClr val="000000"/>
              </a:solidFill>
            </a:endParaRPr>
          </a:p>
          <a:p>
            <a:pPr lvl="1" algn="just">
              <a:lnSpc>
                <a:spcPct val="90000"/>
              </a:lnSpc>
              <a:spcBef>
                <a:spcPts val="500"/>
              </a:spcBef>
              <a:spcAft>
                <a:spcPts val="500"/>
              </a:spcAft>
              <a:buNone/>
            </a:pPr>
            <a:endParaRPr lang="en-US" sz="1400" b="1" dirty="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endParaRPr lang="en-US" sz="1100" b="1" dirty="0">
              <a:latin typeface="Tahoma" pitchFamily="34" charset="0"/>
              <a:ea typeface="Tahoma" pitchFamily="34" charset="0"/>
              <a:cs typeface="Tahoma" pitchFamily="34" charset="0"/>
            </a:endParaRPr>
          </a:p>
          <a:p>
            <a:pPr lvl="1" algn="just">
              <a:lnSpc>
                <a:spcPct val="90000"/>
              </a:lnSpc>
              <a:spcBef>
                <a:spcPts val="500"/>
              </a:spcBef>
              <a:spcAft>
                <a:spcPts val="500"/>
              </a:spcAft>
            </a:pPr>
            <a:endParaRPr lang="en-US" sz="700" b="1" dirty="0">
              <a:latin typeface="Tahoma" pitchFamily="34" charset="0"/>
              <a:ea typeface="Tahoma" pitchFamily="34" charset="0"/>
              <a:cs typeface="Tahoma" pitchFamily="34" charset="0"/>
            </a:endParaRPr>
          </a:p>
        </p:txBody>
      </p:sp>
      <p:pic>
        <p:nvPicPr>
          <p:cNvPr id="1026" name="Picture 2"/>
          <p:cNvPicPr>
            <a:picLocks noChangeAspect="1" noChangeArrowheads="1"/>
          </p:cNvPicPr>
          <p:nvPr/>
        </p:nvPicPr>
        <p:blipFill>
          <a:blip r:embed="rId3" cstate="print"/>
          <a:srcRect/>
          <a:stretch>
            <a:fillRect/>
          </a:stretch>
        </p:blipFill>
        <p:spPr bwMode="auto">
          <a:xfrm>
            <a:off x="533400" y="1828800"/>
            <a:ext cx="7807716" cy="3838576"/>
          </a:xfrm>
          <a:prstGeom prst="rect">
            <a:avLst/>
          </a:prstGeom>
          <a:noFill/>
          <a:ln w="9525">
            <a:noFill/>
            <a:miter lim="800000"/>
            <a:headEnd/>
            <a:tailEnd/>
          </a:ln>
        </p:spPr>
      </p:pic>
      <p:sp>
        <p:nvSpPr>
          <p:cNvPr id="7" name="Rectangle 2"/>
          <p:cNvSpPr>
            <a:spLocks noGrp="1" noChangeArrowheads="1"/>
          </p:cNvSpPr>
          <p:nvPr>
            <p:ph type="title"/>
          </p:nvPr>
        </p:nvSpPr>
        <p:spPr>
          <a:xfrm>
            <a:off x="152400" y="152400"/>
            <a:ext cx="8229600" cy="762000"/>
          </a:xfrm>
          <a:noFill/>
        </p:spPr>
        <p:txBody>
          <a:bodyPr lIns="90488" tIns="44450" rIns="90488" bIns="44450"/>
          <a:lstStyle/>
          <a:p>
            <a:pPr eaLnBrk="1" hangingPunct="1">
              <a:lnSpc>
                <a:spcPct val="90000"/>
              </a:lnSpc>
              <a:spcBef>
                <a:spcPts val="500"/>
              </a:spcBef>
              <a:spcAft>
                <a:spcPts val="500"/>
              </a:spcAft>
            </a:pPr>
            <a:r>
              <a:rPr lang="en-US" sz="2400" b="1" dirty="0">
                <a:latin typeface="Tahoma" pitchFamily="34" charset="0"/>
                <a:ea typeface="Tahoma" pitchFamily="34" charset="0"/>
                <a:cs typeface="Tahoma" pitchFamily="34" charset="0"/>
              </a:rPr>
              <a:t> SQL Data Definition : </a:t>
            </a:r>
            <a:r>
              <a:rPr lang="en-US" sz="2400" b="1" u="sng" dirty="0">
                <a:solidFill>
                  <a:srgbClr val="002060"/>
                </a:solidFill>
                <a:latin typeface="Tahoma" pitchFamily="34" charset="0"/>
                <a:ea typeface="Tahoma" pitchFamily="34" charset="0"/>
                <a:cs typeface="Tahoma" pitchFamily="34" charset="0"/>
              </a:rPr>
              <a:t>The CREATE TABLE Command </a:t>
            </a:r>
            <a:endParaRPr lang="en-US" sz="2400" b="1" dirty="0"/>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81000" y="914400"/>
            <a:ext cx="8382000" cy="457200"/>
          </a:xfrm>
          <a:noFill/>
        </p:spPr>
        <p:txBody>
          <a:bodyPr lIns="90488" tIns="44450" rIns="90488" bIns="44450"/>
          <a:lstStyle/>
          <a:p>
            <a:pPr algn="just" eaLnBrk="1" hangingPunct="1">
              <a:lnSpc>
                <a:spcPct val="90000"/>
              </a:lnSpc>
              <a:spcBef>
                <a:spcPts val="500"/>
              </a:spcBef>
              <a:spcAft>
                <a:spcPts val="500"/>
              </a:spcAft>
              <a:buNone/>
            </a:pPr>
            <a:r>
              <a:rPr lang="en-US" sz="2000" b="1" dirty="0"/>
              <a:t>Example : Company Database</a:t>
            </a:r>
            <a:endParaRPr lang="en-US" sz="2800" dirty="0">
              <a:solidFill>
                <a:srgbClr val="000000"/>
              </a:solidFill>
            </a:endParaRPr>
          </a:p>
          <a:p>
            <a:pPr lvl="1" algn="just">
              <a:lnSpc>
                <a:spcPct val="90000"/>
              </a:lnSpc>
              <a:spcBef>
                <a:spcPts val="500"/>
              </a:spcBef>
              <a:spcAft>
                <a:spcPts val="500"/>
              </a:spcAft>
              <a:buNone/>
            </a:pPr>
            <a:endParaRPr lang="en-US" sz="1400" b="1" dirty="0">
              <a:latin typeface="Tahoma" pitchFamily="34" charset="0"/>
              <a:ea typeface="Tahoma" pitchFamily="34" charset="0"/>
              <a:cs typeface="Tahoma" pitchFamily="34" charset="0"/>
            </a:endParaRPr>
          </a:p>
          <a:p>
            <a:pPr algn="just" eaLnBrk="1" hangingPunct="1">
              <a:lnSpc>
                <a:spcPct val="90000"/>
              </a:lnSpc>
              <a:spcBef>
                <a:spcPts val="500"/>
              </a:spcBef>
              <a:spcAft>
                <a:spcPts val="500"/>
              </a:spcAft>
              <a:buNone/>
            </a:pPr>
            <a:endParaRPr lang="en-US" sz="1100" b="1" dirty="0">
              <a:latin typeface="Tahoma" pitchFamily="34" charset="0"/>
              <a:ea typeface="Tahoma" pitchFamily="34" charset="0"/>
              <a:cs typeface="Tahoma" pitchFamily="34" charset="0"/>
            </a:endParaRPr>
          </a:p>
          <a:p>
            <a:pPr lvl="1" algn="just">
              <a:lnSpc>
                <a:spcPct val="90000"/>
              </a:lnSpc>
              <a:spcBef>
                <a:spcPts val="500"/>
              </a:spcBef>
              <a:spcAft>
                <a:spcPts val="500"/>
              </a:spcAft>
            </a:pPr>
            <a:endParaRPr lang="en-US" sz="700" b="1" dirty="0">
              <a:latin typeface="Tahoma" pitchFamily="34" charset="0"/>
              <a:ea typeface="Tahoma" pitchFamily="34" charset="0"/>
              <a:cs typeface="Tahoma" pitchFamily="34" charset="0"/>
            </a:endParaRPr>
          </a:p>
        </p:txBody>
      </p:sp>
      <p:sp>
        <p:nvSpPr>
          <p:cNvPr id="7" name="Rectangle 2"/>
          <p:cNvSpPr>
            <a:spLocks noGrp="1" noChangeArrowheads="1"/>
          </p:cNvSpPr>
          <p:nvPr>
            <p:ph type="title"/>
          </p:nvPr>
        </p:nvSpPr>
        <p:spPr>
          <a:xfrm>
            <a:off x="152400" y="152400"/>
            <a:ext cx="8229600" cy="762000"/>
          </a:xfrm>
          <a:noFill/>
        </p:spPr>
        <p:txBody>
          <a:bodyPr lIns="90488" tIns="44450" rIns="90488" bIns="44450"/>
          <a:lstStyle/>
          <a:p>
            <a:pPr eaLnBrk="1" hangingPunct="1">
              <a:lnSpc>
                <a:spcPct val="90000"/>
              </a:lnSpc>
              <a:spcBef>
                <a:spcPts val="500"/>
              </a:spcBef>
              <a:spcAft>
                <a:spcPts val="500"/>
              </a:spcAft>
            </a:pPr>
            <a:r>
              <a:rPr lang="en-US" sz="2400" b="1" dirty="0">
                <a:latin typeface="Tahoma" pitchFamily="34" charset="0"/>
                <a:ea typeface="Tahoma" pitchFamily="34" charset="0"/>
                <a:cs typeface="Tahoma" pitchFamily="34" charset="0"/>
              </a:rPr>
              <a:t> SQL Data Definition : </a:t>
            </a:r>
            <a:r>
              <a:rPr lang="en-US" sz="2400" b="1" u="sng" dirty="0">
                <a:solidFill>
                  <a:srgbClr val="002060"/>
                </a:solidFill>
                <a:latin typeface="Tahoma" pitchFamily="34" charset="0"/>
                <a:ea typeface="Tahoma" pitchFamily="34" charset="0"/>
                <a:cs typeface="Tahoma" pitchFamily="34" charset="0"/>
              </a:rPr>
              <a:t>The CREATE TABLE Command </a:t>
            </a:r>
            <a:endParaRPr lang="en-US" sz="2400" b="1" dirty="0"/>
          </a:p>
        </p:txBody>
      </p:sp>
      <p:pic>
        <p:nvPicPr>
          <p:cNvPr id="2050" name="Picture 2"/>
          <p:cNvPicPr>
            <a:picLocks noChangeAspect="1" noChangeArrowheads="1"/>
          </p:cNvPicPr>
          <p:nvPr/>
        </p:nvPicPr>
        <p:blipFill>
          <a:blip r:embed="rId3" cstate="print"/>
          <a:srcRect/>
          <a:stretch>
            <a:fillRect/>
          </a:stretch>
        </p:blipFill>
        <p:spPr bwMode="auto">
          <a:xfrm>
            <a:off x="381000" y="1752600"/>
            <a:ext cx="8512628" cy="3505200"/>
          </a:xfrm>
          <a:prstGeom prst="rect">
            <a:avLst/>
          </a:prstGeom>
          <a:noFill/>
          <a:ln w="9525">
            <a:noFill/>
            <a:miter lim="800000"/>
            <a:headEnd/>
            <a:tailEnd/>
          </a:ln>
        </p:spPr>
      </p:pic>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cstate="print"/>
          <a:srcRect/>
          <a:stretch>
            <a:fillRect/>
          </a:stretch>
        </p:blipFill>
        <p:spPr bwMode="auto">
          <a:xfrm>
            <a:off x="838200" y="1600200"/>
            <a:ext cx="7655857" cy="4267199"/>
          </a:xfrm>
          <a:prstGeom prst="rect">
            <a:avLst/>
          </a:prstGeom>
          <a:noFill/>
          <a:ln w="9525">
            <a:noFill/>
            <a:miter lim="800000"/>
            <a:headEnd/>
            <a:tailEnd/>
          </a:ln>
        </p:spPr>
      </p:pic>
      <p:sp>
        <p:nvSpPr>
          <p:cNvPr id="8" name="Rectangle 2"/>
          <p:cNvSpPr>
            <a:spLocks noGrp="1" noChangeArrowheads="1"/>
          </p:cNvSpPr>
          <p:nvPr>
            <p:ph type="title"/>
          </p:nvPr>
        </p:nvSpPr>
        <p:spPr>
          <a:xfrm>
            <a:off x="152400" y="152400"/>
            <a:ext cx="8229600" cy="762000"/>
          </a:xfrm>
          <a:noFill/>
        </p:spPr>
        <p:txBody>
          <a:bodyPr lIns="90488" tIns="44450" rIns="90488" bIns="44450"/>
          <a:lstStyle/>
          <a:p>
            <a:pPr eaLnBrk="1" hangingPunct="1">
              <a:lnSpc>
                <a:spcPct val="90000"/>
              </a:lnSpc>
              <a:spcBef>
                <a:spcPts val="500"/>
              </a:spcBef>
              <a:spcAft>
                <a:spcPts val="500"/>
              </a:spcAft>
            </a:pPr>
            <a:r>
              <a:rPr lang="en-US" sz="2400" b="1" dirty="0">
                <a:latin typeface="Tahoma" pitchFamily="34" charset="0"/>
                <a:ea typeface="Tahoma" pitchFamily="34" charset="0"/>
                <a:cs typeface="Tahoma" pitchFamily="34" charset="0"/>
              </a:rPr>
              <a:t> SQL Data Definition : </a:t>
            </a:r>
            <a:r>
              <a:rPr lang="en-US" sz="2400" b="1" u="sng" dirty="0">
                <a:solidFill>
                  <a:srgbClr val="002060"/>
                </a:solidFill>
                <a:latin typeface="Tahoma" pitchFamily="34" charset="0"/>
                <a:ea typeface="Tahoma" pitchFamily="34" charset="0"/>
                <a:cs typeface="Tahoma" pitchFamily="34" charset="0"/>
              </a:rPr>
              <a:t>The CREATE TABLE Command </a:t>
            </a:r>
            <a:endParaRPr lang="en-US" sz="2400" b="1" dirty="0"/>
          </a:p>
        </p:txBody>
      </p:sp>
      <p:sp>
        <p:nvSpPr>
          <p:cNvPr id="4" name="Rectangle 3"/>
          <p:cNvSpPr txBox="1">
            <a:spLocks noChangeArrowheads="1"/>
          </p:cNvSpPr>
          <p:nvPr/>
        </p:nvSpPr>
        <p:spPr bwMode="auto">
          <a:xfrm>
            <a:off x="381000" y="914400"/>
            <a:ext cx="8382000" cy="457200"/>
          </a:xfrm>
          <a:prstGeom prst="rect">
            <a:avLst/>
          </a:prstGeom>
          <a:noFill/>
          <a:ln w="9525">
            <a:noFill/>
            <a:miter lim="800000"/>
            <a:headEnd/>
            <a:tailEnd/>
          </a:ln>
          <a:effectLst/>
        </p:spPr>
        <p:txBody>
          <a:bodyPr vert="horz" wrap="square" lIns="90488" tIns="44450" rIns="90488" bIns="44450" numCol="1" anchor="t" anchorCtr="0" compatLnSpc="1">
            <a:prstTxWarp prst="textNoShape">
              <a:avLst/>
            </a:prstTxWarp>
          </a:bodyPr>
          <a:lstStyle/>
          <a:p>
            <a:pPr marL="342900" marR="0" lvl="0" indent="-342900" algn="just" defTabSz="914400" rtl="0" eaLnBrk="1" fontAlgn="base" latinLnBrk="0" hangingPunct="1">
              <a:lnSpc>
                <a:spcPct val="90000"/>
              </a:lnSpc>
              <a:spcBef>
                <a:spcPts val="500"/>
              </a:spcBef>
              <a:spcAft>
                <a:spcPts val="500"/>
              </a:spcAft>
              <a:buClrTx/>
              <a:buSzTx/>
              <a:buFontTx/>
              <a:buNone/>
              <a:tabLst/>
              <a:defRPr/>
            </a:pPr>
            <a:r>
              <a:rPr kumimoji="0" lang="en-US" sz="2000" b="1" i="0" u="none" strike="noStrike" kern="0" cap="none" spc="0" normalizeH="0" baseline="0" noProof="0" dirty="0">
                <a:ln>
                  <a:noFill/>
                </a:ln>
                <a:solidFill>
                  <a:schemeClr val="tx1"/>
                </a:solidFill>
                <a:effectLst/>
                <a:uLnTx/>
                <a:uFillTx/>
                <a:latin typeface="+mn-lt"/>
                <a:ea typeface="+mn-ea"/>
                <a:cs typeface="+mn-cs"/>
              </a:rPr>
              <a:t>Example : Company Database</a:t>
            </a:r>
            <a:endParaRPr kumimoji="0" lang="en-US" sz="2800" b="0" i="0" u="none" strike="noStrike" kern="0" cap="none" spc="0" normalizeH="0" baseline="0" noProof="0" dirty="0">
              <a:ln>
                <a:noFill/>
              </a:ln>
              <a:solidFill>
                <a:srgbClr val="000000"/>
              </a:solidFill>
              <a:effectLst/>
              <a:uLnTx/>
              <a:uFillTx/>
              <a:latin typeface="+mn-lt"/>
              <a:ea typeface="+mn-ea"/>
              <a:cs typeface="+mn-cs"/>
            </a:endParaRPr>
          </a:p>
          <a:p>
            <a:pPr marL="742950" marR="0" lvl="1" indent="-285750" algn="just" defTabSz="914400" rtl="0" eaLnBrk="1" fontAlgn="base" latinLnBrk="0" hangingPunct="1">
              <a:lnSpc>
                <a:spcPct val="90000"/>
              </a:lnSpc>
              <a:spcBef>
                <a:spcPts val="500"/>
              </a:spcBef>
              <a:spcAft>
                <a:spcPts val="500"/>
              </a:spcAft>
              <a:buClrTx/>
              <a:buSzTx/>
              <a:buFontTx/>
              <a:buNone/>
              <a:tabLst/>
              <a:defRPr/>
            </a:pPr>
            <a:endParaRPr kumimoji="0" lang="en-US" sz="1400" b="1" i="0" u="none" strike="noStrike" kern="0" cap="none" spc="0" normalizeH="0" baseline="0" noProof="0" dirty="0">
              <a:ln>
                <a:noFill/>
              </a:ln>
              <a:solidFill>
                <a:schemeClr val="tx1"/>
              </a:solidFill>
              <a:effectLst/>
              <a:uLnTx/>
              <a:uFillTx/>
              <a:latin typeface="Tahoma" pitchFamily="34" charset="0"/>
              <a:ea typeface="Tahoma" pitchFamily="34" charset="0"/>
              <a:cs typeface="Tahoma" pitchFamily="34" charset="0"/>
            </a:endParaRPr>
          </a:p>
          <a:p>
            <a:pPr marL="342900" marR="0" lvl="0" indent="-342900" algn="just" defTabSz="914400" rtl="0" eaLnBrk="1" fontAlgn="base" latinLnBrk="0" hangingPunct="1">
              <a:lnSpc>
                <a:spcPct val="90000"/>
              </a:lnSpc>
              <a:spcBef>
                <a:spcPts val="500"/>
              </a:spcBef>
              <a:spcAft>
                <a:spcPts val="500"/>
              </a:spcAft>
              <a:buClrTx/>
              <a:buSzTx/>
              <a:buFontTx/>
              <a:buNone/>
              <a:tabLst/>
              <a:defRPr/>
            </a:pPr>
            <a:endParaRPr kumimoji="0" lang="en-US" sz="1100" b="1" i="0" u="none" strike="noStrike" kern="0" cap="none" spc="0" normalizeH="0" baseline="0" noProof="0" dirty="0">
              <a:ln>
                <a:noFill/>
              </a:ln>
              <a:solidFill>
                <a:schemeClr val="tx1"/>
              </a:solidFill>
              <a:effectLst/>
              <a:uLnTx/>
              <a:uFillTx/>
              <a:latin typeface="Tahoma" pitchFamily="34" charset="0"/>
              <a:ea typeface="Tahoma" pitchFamily="34" charset="0"/>
              <a:cs typeface="Tahoma" pitchFamily="34" charset="0"/>
            </a:endParaRPr>
          </a:p>
          <a:p>
            <a:pPr marL="742950" marR="0" lvl="1" indent="-285750" algn="just" defTabSz="914400" rtl="0" eaLnBrk="1" fontAlgn="base" latinLnBrk="0" hangingPunct="1">
              <a:lnSpc>
                <a:spcPct val="90000"/>
              </a:lnSpc>
              <a:spcBef>
                <a:spcPts val="500"/>
              </a:spcBef>
              <a:spcAft>
                <a:spcPts val="500"/>
              </a:spcAft>
              <a:buClrTx/>
              <a:buSzTx/>
              <a:buFontTx/>
              <a:buChar char="–"/>
              <a:tabLst/>
              <a:defRPr/>
            </a:pPr>
            <a:endParaRPr kumimoji="0" lang="en-US" sz="700" b="1" i="0" u="none" strike="noStrike" kern="0" cap="none" spc="0" normalizeH="0" baseline="0" noProof="0" dirty="0">
              <a:ln>
                <a:noFill/>
              </a:ln>
              <a:solidFill>
                <a:schemeClr val="tx1"/>
              </a:solidFill>
              <a:effectLst/>
              <a:uLnTx/>
              <a:uFillTx/>
              <a:latin typeface="Tahoma" pitchFamily="34" charset="0"/>
              <a:ea typeface="Tahoma" pitchFamily="34" charset="0"/>
              <a:cs typeface="Tahoma" pitchFamily="34" charset="0"/>
            </a:endParaRP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152400" y="152400"/>
            <a:ext cx="8229600" cy="762000"/>
          </a:xfrm>
          <a:noFill/>
        </p:spPr>
        <p:txBody>
          <a:bodyPr lIns="90488" tIns="44450" rIns="90488" bIns="44450"/>
          <a:lstStyle/>
          <a:p>
            <a:pPr eaLnBrk="1" hangingPunct="1">
              <a:lnSpc>
                <a:spcPct val="90000"/>
              </a:lnSpc>
              <a:spcBef>
                <a:spcPts val="500"/>
              </a:spcBef>
              <a:spcAft>
                <a:spcPts val="500"/>
              </a:spcAft>
            </a:pPr>
            <a:r>
              <a:rPr lang="en-US" sz="2400" b="1" dirty="0">
                <a:latin typeface="Tahoma" pitchFamily="34" charset="0"/>
                <a:ea typeface="Tahoma" pitchFamily="34" charset="0"/>
                <a:cs typeface="Tahoma" pitchFamily="34" charset="0"/>
              </a:rPr>
              <a:t> SQL Data Definition : </a:t>
            </a:r>
            <a:r>
              <a:rPr lang="en-US" sz="2400" b="1" u="sng" dirty="0">
                <a:solidFill>
                  <a:srgbClr val="002060"/>
                </a:solidFill>
                <a:latin typeface="Tahoma" pitchFamily="34" charset="0"/>
                <a:ea typeface="Tahoma" pitchFamily="34" charset="0"/>
                <a:cs typeface="Tahoma" pitchFamily="34" charset="0"/>
              </a:rPr>
              <a:t>The CREATE TABLE Command </a:t>
            </a:r>
            <a:endParaRPr lang="en-US" sz="2400" b="1" dirty="0"/>
          </a:p>
        </p:txBody>
      </p:sp>
      <p:pic>
        <p:nvPicPr>
          <p:cNvPr id="4098" name="Picture 2"/>
          <p:cNvPicPr>
            <a:picLocks noChangeAspect="1" noChangeArrowheads="1"/>
          </p:cNvPicPr>
          <p:nvPr/>
        </p:nvPicPr>
        <p:blipFill>
          <a:blip r:embed="rId3" cstate="print"/>
          <a:srcRect/>
          <a:stretch>
            <a:fillRect/>
          </a:stretch>
        </p:blipFill>
        <p:spPr bwMode="auto">
          <a:xfrm>
            <a:off x="762000" y="2286000"/>
            <a:ext cx="7241320" cy="2471737"/>
          </a:xfrm>
          <a:prstGeom prst="rect">
            <a:avLst/>
          </a:prstGeom>
          <a:noFill/>
          <a:ln w="9525">
            <a:noFill/>
            <a:miter lim="800000"/>
            <a:headEnd/>
            <a:tailEnd/>
          </a:ln>
        </p:spPr>
      </p:pic>
      <p:sp>
        <p:nvSpPr>
          <p:cNvPr id="4" name="Rectangle 3"/>
          <p:cNvSpPr txBox="1">
            <a:spLocks noChangeArrowheads="1"/>
          </p:cNvSpPr>
          <p:nvPr/>
        </p:nvSpPr>
        <p:spPr bwMode="auto">
          <a:xfrm>
            <a:off x="381000" y="914400"/>
            <a:ext cx="8382000" cy="457200"/>
          </a:xfrm>
          <a:prstGeom prst="rect">
            <a:avLst/>
          </a:prstGeom>
          <a:noFill/>
          <a:ln w="9525">
            <a:noFill/>
            <a:miter lim="800000"/>
            <a:headEnd/>
            <a:tailEnd/>
          </a:ln>
          <a:effectLst/>
        </p:spPr>
        <p:txBody>
          <a:bodyPr vert="horz" wrap="square" lIns="90488" tIns="44450" rIns="90488" bIns="44450" numCol="1" anchor="t" anchorCtr="0" compatLnSpc="1">
            <a:prstTxWarp prst="textNoShape">
              <a:avLst/>
            </a:prstTxWarp>
          </a:bodyPr>
          <a:lstStyle/>
          <a:p>
            <a:pPr marL="342900" marR="0" lvl="0" indent="-342900" algn="just" defTabSz="914400" rtl="0" eaLnBrk="1" fontAlgn="base" latinLnBrk="0" hangingPunct="1">
              <a:lnSpc>
                <a:spcPct val="90000"/>
              </a:lnSpc>
              <a:spcBef>
                <a:spcPts val="500"/>
              </a:spcBef>
              <a:spcAft>
                <a:spcPts val="500"/>
              </a:spcAft>
              <a:buClrTx/>
              <a:buSzTx/>
              <a:buFontTx/>
              <a:buNone/>
              <a:tabLst/>
              <a:defRPr/>
            </a:pPr>
            <a:r>
              <a:rPr kumimoji="0" lang="en-US" sz="2000" b="1" i="0" u="none" strike="noStrike" kern="0" cap="none" spc="0" normalizeH="0" baseline="0" noProof="0" dirty="0">
                <a:ln>
                  <a:noFill/>
                </a:ln>
                <a:solidFill>
                  <a:schemeClr val="tx1"/>
                </a:solidFill>
                <a:effectLst/>
                <a:uLnTx/>
                <a:uFillTx/>
                <a:latin typeface="+mn-lt"/>
                <a:ea typeface="+mn-ea"/>
                <a:cs typeface="+mn-cs"/>
              </a:rPr>
              <a:t>Example : Company Database</a:t>
            </a:r>
            <a:endParaRPr kumimoji="0" lang="en-US" sz="2800" b="0" i="0" u="none" strike="noStrike" kern="0" cap="none" spc="0" normalizeH="0" baseline="0" noProof="0" dirty="0">
              <a:ln>
                <a:noFill/>
              </a:ln>
              <a:solidFill>
                <a:srgbClr val="000000"/>
              </a:solidFill>
              <a:effectLst/>
              <a:uLnTx/>
              <a:uFillTx/>
              <a:latin typeface="+mn-lt"/>
              <a:ea typeface="+mn-ea"/>
              <a:cs typeface="+mn-cs"/>
            </a:endParaRPr>
          </a:p>
          <a:p>
            <a:pPr marL="742950" marR="0" lvl="1" indent="-285750" algn="just" defTabSz="914400" rtl="0" eaLnBrk="1" fontAlgn="base" latinLnBrk="0" hangingPunct="1">
              <a:lnSpc>
                <a:spcPct val="90000"/>
              </a:lnSpc>
              <a:spcBef>
                <a:spcPts val="500"/>
              </a:spcBef>
              <a:spcAft>
                <a:spcPts val="500"/>
              </a:spcAft>
              <a:buClrTx/>
              <a:buSzTx/>
              <a:buFontTx/>
              <a:buNone/>
              <a:tabLst/>
              <a:defRPr/>
            </a:pPr>
            <a:endParaRPr kumimoji="0" lang="en-US" sz="1400" b="1" i="0" u="none" strike="noStrike" kern="0" cap="none" spc="0" normalizeH="0" baseline="0" noProof="0" dirty="0">
              <a:ln>
                <a:noFill/>
              </a:ln>
              <a:solidFill>
                <a:schemeClr val="tx1"/>
              </a:solidFill>
              <a:effectLst/>
              <a:uLnTx/>
              <a:uFillTx/>
              <a:latin typeface="Tahoma" pitchFamily="34" charset="0"/>
              <a:ea typeface="Tahoma" pitchFamily="34" charset="0"/>
              <a:cs typeface="Tahoma" pitchFamily="34" charset="0"/>
            </a:endParaRPr>
          </a:p>
          <a:p>
            <a:pPr marL="342900" marR="0" lvl="0" indent="-342900" algn="just" defTabSz="914400" rtl="0" eaLnBrk="1" fontAlgn="base" latinLnBrk="0" hangingPunct="1">
              <a:lnSpc>
                <a:spcPct val="90000"/>
              </a:lnSpc>
              <a:spcBef>
                <a:spcPts val="500"/>
              </a:spcBef>
              <a:spcAft>
                <a:spcPts val="500"/>
              </a:spcAft>
              <a:buClrTx/>
              <a:buSzTx/>
              <a:buFontTx/>
              <a:buNone/>
              <a:tabLst/>
              <a:defRPr/>
            </a:pPr>
            <a:endParaRPr kumimoji="0" lang="en-US" sz="1100" b="1" i="0" u="none" strike="noStrike" kern="0" cap="none" spc="0" normalizeH="0" baseline="0" noProof="0" dirty="0">
              <a:ln>
                <a:noFill/>
              </a:ln>
              <a:solidFill>
                <a:schemeClr val="tx1"/>
              </a:solidFill>
              <a:effectLst/>
              <a:uLnTx/>
              <a:uFillTx/>
              <a:latin typeface="Tahoma" pitchFamily="34" charset="0"/>
              <a:ea typeface="Tahoma" pitchFamily="34" charset="0"/>
              <a:cs typeface="Tahoma" pitchFamily="34" charset="0"/>
            </a:endParaRPr>
          </a:p>
          <a:p>
            <a:pPr marL="742950" marR="0" lvl="1" indent="-285750" algn="just" defTabSz="914400" rtl="0" eaLnBrk="1" fontAlgn="base" latinLnBrk="0" hangingPunct="1">
              <a:lnSpc>
                <a:spcPct val="90000"/>
              </a:lnSpc>
              <a:spcBef>
                <a:spcPts val="500"/>
              </a:spcBef>
              <a:spcAft>
                <a:spcPts val="500"/>
              </a:spcAft>
              <a:buClrTx/>
              <a:buSzTx/>
              <a:buFontTx/>
              <a:buChar char="–"/>
              <a:tabLst/>
              <a:defRPr/>
            </a:pPr>
            <a:endParaRPr kumimoji="0" lang="en-US" sz="700" b="1" i="0" u="none" strike="noStrike" kern="0" cap="none" spc="0" normalizeH="0" baseline="0" noProof="0" dirty="0">
              <a:ln>
                <a:noFill/>
              </a:ln>
              <a:solidFill>
                <a:schemeClr val="tx1"/>
              </a:solidFill>
              <a:effectLst/>
              <a:uLnTx/>
              <a:uFillTx/>
              <a:latin typeface="Tahoma" pitchFamily="34" charset="0"/>
              <a:ea typeface="Tahoma" pitchFamily="34" charset="0"/>
              <a:cs typeface="Tahoma" pitchFamily="34" charset="0"/>
            </a:endParaRP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152400" y="152400"/>
            <a:ext cx="8763000" cy="762000"/>
          </a:xfrm>
          <a:noFill/>
        </p:spPr>
        <p:txBody>
          <a:bodyPr lIns="90488" tIns="44450" rIns="90488" bIns="44450"/>
          <a:lstStyle/>
          <a:p>
            <a:pPr algn="l" eaLnBrk="1" hangingPunct="1">
              <a:lnSpc>
                <a:spcPct val="90000"/>
              </a:lnSpc>
              <a:spcBef>
                <a:spcPts val="500"/>
              </a:spcBef>
              <a:spcAft>
                <a:spcPts val="500"/>
              </a:spcAft>
            </a:pPr>
            <a:r>
              <a:rPr lang="en-US" sz="2400" b="1" dirty="0">
                <a:latin typeface="Tahoma" pitchFamily="34" charset="0"/>
                <a:ea typeface="Tahoma" pitchFamily="34" charset="0"/>
                <a:cs typeface="Tahoma" pitchFamily="34" charset="0"/>
              </a:rPr>
              <a:t> SQL Data Definition :  </a:t>
            </a:r>
            <a:r>
              <a:rPr lang="en-US" sz="2400" b="1" u="sng" dirty="0">
                <a:solidFill>
                  <a:srgbClr val="002060"/>
                </a:solidFill>
                <a:latin typeface="Tahoma" pitchFamily="34" charset="0"/>
                <a:ea typeface="Tahoma" pitchFamily="34" charset="0"/>
                <a:cs typeface="Tahoma" pitchFamily="34" charset="0"/>
              </a:rPr>
              <a:t>The CREATE Domain Command </a:t>
            </a:r>
            <a:endParaRPr lang="en-US" sz="2000" b="1" dirty="0"/>
          </a:p>
        </p:txBody>
      </p:sp>
      <p:sp>
        <p:nvSpPr>
          <p:cNvPr id="4" name="TextBox 3"/>
          <p:cNvSpPr txBox="1"/>
          <p:nvPr/>
        </p:nvSpPr>
        <p:spPr>
          <a:xfrm>
            <a:off x="533400" y="1447800"/>
            <a:ext cx="8382000" cy="3539430"/>
          </a:xfrm>
          <a:prstGeom prst="rect">
            <a:avLst/>
          </a:prstGeom>
          <a:noFill/>
        </p:spPr>
        <p:txBody>
          <a:bodyPr wrap="square" rtlCol="0">
            <a:spAutoFit/>
          </a:bodyPr>
          <a:lstStyle/>
          <a:p>
            <a:r>
              <a:rPr lang="en-US" sz="2000" b="1" dirty="0"/>
              <a:t>Create Domain and use with  attribute specification </a:t>
            </a:r>
          </a:p>
          <a:p>
            <a:endParaRPr lang="en-US" dirty="0"/>
          </a:p>
          <a:p>
            <a:pPr lvl="1"/>
            <a:r>
              <a:rPr lang="en-US" b="1" dirty="0"/>
              <a:t> </a:t>
            </a:r>
            <a:r>
              <a:rPr lang="en-US" b="1" dirty="0">
                <a:solidFill>
                  <a:srgbClr val="0070C0"/>
                </a:solidFill>
              </a:rPr>
              <a:t>CREATE DOMAIN </a:t>
            </a:r>
            <a:r>
              <a:rPr lang="en-US" b="1" dirty="0"/>
              <a:t>SSN_TYPE </a:t>
            </a:r>
            <a:r>
              <a:rPr lang="en-US" b="1" dirty="0">
                <a:solidFill>
                  <a:srgbClr val="0070C0"/>
                </a:solidFill>
              </a:rPr>
              <a:t>AS</a:t>
            </a:r>
            <a:r>
              <a:rPr lang="en-US" b="1" dirty="0"/>
              <a:t> </a:t>
            </a:r>
            <a:r>
              <a:rPr lang="en-US" b="1" dirty="0">
                <a:solidFill>
                  <a:srgbClr val="0070C0"/>
                </a:solidFill>
              </a:rPr>
              <a:t>CHAR(9)</a:t>
            </a:r>
          </a:p>
          <a:p>
            <a:pPr lvl="1"/>
            <a:endParaRPr lang="en-US" b="1" dirty="0"/>
          </a:p>
          <a:p>
            <a:pPr lvl="1"/>
            <a:r>
              <a:rPr lang="en-US" b="1" dirty="0"/>
              <a:t>Use SSN_TYPE in the place </a:t>
            </a:r>
            <a:r>
              <a:rPr lang="en-US" b="1"/>
              <a:t>of </a:t>
            </a:r>
            <a:r>
              <a:rPr lang="en-US" b="1">
                <a:solidFill>
                  <a:srgbClr val="0070C0"/>
                </a:solidFill>
              </a:rPr>
              <a:t>CHAR(9</a:t>
            </a:r>
            <a:r>
              <a:rPr lang="en-US" b="1" dirty="0">
                <a:solidFill>
                  <a:srgbClr val="0070C0"/>
                </a:solidFill>
              </a:rPr>
              <a:t>)</a:t>
            </a:r>
            <a:endParaRPr lang="en-US" b="1" dirty="0"/>
          </a:p>
          <a:p>
            <a:pPr lvl="1"/>
            <a:endParaRPr lang="en-US" b="1" dirty="0"/>
          </a:p>
          <a:p>
            <a:pPr lvl="1"/>
            <a:r>
              <a:rPr lang="en-US" b="1" dirty="0"/>
              <a:t>Ex:    SSN  SSN_TYPE </a:t>
            </a:r>
            <a:r>
              <a:rPr lang="en-US" b="1" dirty="0">
                <a:solidFill>
                  <a:srgbClr val="0070C0"/>
                </a:solidFill>
              </a:rPr>
              <a:t>NOT NULL</a:t>
            </a:r>
          </a:p>
          <a:p>
            <a:pPr lvl="1"/>
            <a:endParaRPr lang="en-US" b="1" dirty="0"/>
          </a:p>
          <a:p>
            <a:pPr lvl="1"/>
            <a:r>
              <a:rPr lang="en-US" sz="2400" b="1" dirty="0"/>
              <a:t>Advantage :</a:t>
            </a:r>
          </a:p>
          <a:p>
            <a:pPr lvl="2">
              <a:lnSpc>
                <a:spcPct val="150000"/>
              </a:lnSpc>
              <a:buFont typeface="Arial" pitchFamily="34" charset="0"/>
              <a:buChar char="•"/>
            </a:pPr>
            <a:r>
              <a:rPr lang="en-US" dirty="0"/>
              <a:t>     Easier to change  data type for  domain</a:t>
            </a:r>
          </a:p>
          <a:p>
            <a:pPr marL="1257300" lvl="2" indent="-342900">
              <a:lnSpc>
                <a:spcPct val="150000"/>
              </a:lnSpc>
              <a:buFont typeface="Arial" pitchFamily="34" charset="0"/>
              <a:buChar char="•"/>
            </a:pPr>
            <a:r>
              <a:rPr lang="en-US" dirty="0"/>
              <a:t>Improves readability </a:t>
            </a:r>
            <a:endParaRPr lang="en-IN" dirty="0"/>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1066800"/>
            <a:ext cx="8610600" cy="4247317"/>
          </a:xfrm>
          <a:prstGeom prst="rect">
            <a:avLst/>
          </a:prstGeom>
        </p:spPr>
        <p:txBody>
          <a:bodyPr wrap="square">
            <a:spAutoFit/>
          </a:bodyPr>
          <a:lstStyle/>
          <a:p>
            <a:pPr marL="342900" indent="-342900" algn="just">
              <a:lnSpc>
                <a:spcPct val="150000"/>
              </a:lnSpc>
              <a:buFont typeface="Arial" pitchFamily="34" charset="0"/>
              <a:buChar char="•"/>
            </a:pPr>
            <a:r>
              <a:rPr lang="en-US" dirty="0">
                <a:latin typeface="Tahoma" pitchFamily="34" charset="0"/>
                <a:ea typeface="Tahoma" pitchFamily="34" charset="0"/>
                <a:cs typeface="Tahoma" pitchFamily="34" charset="0"/>
              </a:rPr>
              <a:t>The relations declared through CREATE TABLE statements are called </a:t>
            </a:r>
            <a:r>
              <a:rPr lang="en-US" b="1" dirty="0">
                <a:latin typeface="Tahoma" pitchFamily="34" charset="0"/>
                <a:ea typeface="Tahoma" pitchFamily="34" charset="0"/>
                <a:cs typeface="Tahoma" pitchFamily="34" charset="0"/>
              </a:rPr>
              <a:t>base tables </a:t>
            </a:r>
            <a:r>
              <a:rPr lang="en-US" dirty="0">
                <a:latin typeface="Tahoma" pitchFamily="34" charset="0"/>
                <a:ea typeface="Tahoma" pitchFamily="34" charset="0"/>
                <a:cs typeface="Tahoma" pitchFamily="34" charset="0"/>
              </a:rPr>
              <a:t>(or base relations)</a:t>
            </a:r>
          </a:p>
          <a:p>
            <a:pPr marL="342900" indent="-342900" algn="just">
              <a:lnSpc>
                <a:spcPct val="150000"/>
              </a:lnSpc>
            </a:pPr>
            <a:endParaRPr lang="en-US" dirty="0">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dirty="0">
                <a:latin typeface="Tahoma" pitchFamily="34" charset="0"/>
                <a:ea typeface="Tahoma" pitchFamily="34" charset="0"/>
                <a:cs typeface="Tahoma" pitchFamily="34" charset="0"/>
              </a:rPr>
              <a:t>The relations declared through CREATE VIEW statements are called </a:t>
            </a:r>
            <a:r>
              <a:rPr lang="en-US" b="1" dirty="0">
                <a:latin typeface="Tahoma" pitchFamily="34" charset="0"/>
                <a:ea typeface="Tahoma" pitchFamily="34" charset="0"/>
                <a:cs typeface="Tahoma" pitchFamily="34" charset="0"/>
              </a:rPr>
              <a:t>virtual tables</a:t>
            </a:r>
            <a:r>
              <a:rPr lang="en-US" dirty="0">
                <a:latin typeface="Tahoma" pitchFamily="34" charset="0"/>
                <a:ea typeface="Tahoma" pitchFamily="34" charset="0"/>
                <a:cs typeface="Tahoma" pitchFamily="34" charset="0"/>
              </a:rPr>
              <a:t> (or virtual relations)</a:t>
            </a:r>
          </a:p>
          <a:p>
            <a:pPr algn="just">
              <a:lnSpc>
                <a:spcPct val="150000"/>
              </a:lnSpc>
            </a:pPr>
            <a:endParaRPr lang="en-US" dirty="0">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dirty="0">
                <a:latin typeface="Tahoma" pitchFamily="34" charset="0"/>
                <a:ea typeface="Tahoma" pitchFamily="34" charset="0"/>
                <a:cs typeface="Tahoma" pitchFamily="34" charset="0"/>
              </a:rPr>
              <a:t>In SQL the attributes in a base relation are considered to be </a:t>
            </a:r>
            <a:r>
              <a:rPr lang="en-US" i="1" dirty="0">
                <a:latin typeface="Tahoma" pitchFamily="34" charset="0"/>
                <a:ea typeface="Tahoma" pitchFamily="34" charset="0"/>
                <a:cs typeface="Tahoma" pitchFamily="34" charset="0"/>
              </a:rPr>
              <a:t>ordered in the sequence </a:t>
            </a:r>
            <a:r>
              <a:rPr lang="en-US" dirty="0">
                <a:latin typeface="Tahoma" pitchFamily="34" charset="0"/>
                <a:ea typeface="Tahoma" pitchFamily="34" charset="0"/>
                <a:cs typeface="Tahoma" pitchFamily="34" charset="0"/>
              </a:rPr>
              <a:t>in which they are specified in the CREATE table statement.</a:t>
            </a:r>
          </a:p>
          <a:p>
            <a:pPr algn="just">
              <a:lnSpc>
                <a:spcPct val="150000"/>
              </a:lnSpc>
            </a:pPr>
            <a:endParaRPr lang="en-US" dirty="0">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dirty="0">
                <a:latin typeface="Tahoma" pitchFamily="34" charset="0"/>
                <a:ea typeface="Tahoma" pitchFamily="34" charset="0"/>
                <a:cs typeface="Tahoma" pitchFamily="34" charset="0"/>
              </a:rPr>
              <a:t>Rows are not considered to be ordered within a relation </a:t>
            </a:r>
          </a:p>
        </p:txBody>
      </p:sp>
      <p:sp>
        <p:nvSpPr>
          <p:cNvPr id="8" name="Rectangle 2"/>
          <p:cNvSpPr>
            <a:spLocks noGrp="1" noChangeArrowheads="1"/>
          </p:cNvSpPr>
          <p:nvPr>
            <p:ph type="title"/>
          </p:nvPr>
        </p:nvSpPr>
        <p:spPr>
          <a:xfrm>
            <a:off x="152400" y="152400"/>
            <a:ext cx="8229600" cy="762000"/>
          </a:xfrm>
          <a:noFill/>
        </p:spPr>
        <p:txBody>
          <a:bodyPr lIns="90488" tIns="44450" rIns="90488" bIns="44450"/>
          <a:lstStyle/>
          <a:p>
            <a:pPr eaLnBrk="1" hangingPunct="1">
              <a:lnSpc>
                <a:spcPct val="90000"/>
              </a:lnSpc>
              <a:spcBef>
                <a:spcPts val="500"/>
              </a:spcBef>
              <a:spcAft>
                <a:spcPts val="500"/>
              </a:spcAft>
            </a:pPr>
            <a:r>
              <a:rPr lang="en-US" sz="2400" b="1" dirty="0">
                <a:latin typeface="Tahoma" pitchFamily="34" charset="0"/>
                <a:ea typeface="Tahoma" pitchFamily="34" charset="0"/>
                <a:cs typeface="Tahoma" pitchFamily="34" charset="0"/>
              </a:rPr>
              <a:t> SQL Data Definition : </a:t>
            </a:r>
            <a:r>
              <a:rPr lang="en-US" sz="2400" b="1" u="sng" dirty="0">
                <a:solidFill>
                  <a:srgbClr val="002060"/>
                </a:solidFill>
                <a:latin typeface="Tahoma" pitchFamily="34" charset="0"/>
                <a:ea typeface="Tahoma" pitchFamily="34" charset="0"/>
                <a:cs typeface="Tahoma" pitchFamily="34" charset="0"/>
              </a:rPr>
              <a:t>The CREATE TABLE Command </a:t>
            </a:r>
            <a:endParaRPr lang="en-US" sz="2400" b="1" dirty="0"/>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 y="152400"/>
            <a:ext cx="8458200" cy="411162"/>
          </a:xfrm>
          <a:noFill/>
        </p:spPr>
        <p:txBody>
          <a:bodyPr lIns="90488" tIns="44450" rIns="90488" bIns="44450"/>
          <a:lstStyle/>
          <a:p>
            <a:pPr algn="l" eaLnBrk="1" hangingPunct="1"/>
            <a:r>
              <a:rPr lang="en-US" sz="2800" b="1" dirty="0">
                <a:latin typeface="Tahoma" pitchFamily="34" charset="0"/>
                <a:ea typeface="Tahoma" pitchFamily="34" charset="0"/>
                <a:cs typeface="Tahoma" pitchFamily="34" charset="0"/>
              </a:rPr>
              <a:t>SQL  DATA Types</a:t>
            </a:r>
          </a:p>
        </p:txBody>
      </p:sp>
      <p:sp>
        <p:nvSpPr>
          <p:cNvPr id="6" name="Rectangle 5"/>
          <p:cNvSpPr/>
          <p:nvPr/>
        </p:nvSpPr>
        <p:spPr>
          <a:xfrm>
            <a:off x="304800" y="838200"/>
            <a:ext cx="8610600" cy="5124480"/>
          </a:xfrm>
          <a:prstGeom prst="rect">
            <a:avLst/>
          </a:prstGeom>
        </p:spPr>
        <p:txBody>
          <a:bodyPr wrap="square">
            <a:spAutoFit/>
          </a:bodyPr>
          <a:lstStyle/>
          <a:p>
            <a:pPr marL="342900" lvl="0" indent="-342900" fontAlgn="base">
              <a:spcBef>
                <a:spcPts val="500"/>
              </a:spcBef>
              <a:spcAft>
                <a:spcPts val="500"/>
              </a:spcAft>
              <a:buFontTx/>
              <a:buChar char="•"/>
            </a:pPr>
            <a:r>
              <a:rPr lang="en-US" sz="2000" b="1" kern="0" dirty="0">
                <a:solidFill>
                  <a:srgbClr val="000000"/>
                </a:solidFill>
                <a:latin typeface="Tahoma" pitchFamily="34" charset="0"/>
                <a:ea typeface="Tahoma" pitchFamily="34" charset="0"/>
                <a:cs typeface="Tahoma" pitchFamily="34" charset="0"/>
              </a:rPr>
              <a:t>Numeric data types </a:t>
            </a:r>
          </a:p>
          <a:p>
            <a:pPr marL="800100" lvl="1" indent="-342900" algn="just">
              <a:spcBef>
                <a:spcPts val="500"/>
              </a:spcBef>
              <a:spcAft>
                <a:spcPts val="500"/>
              </a:spcAft>
              <a:buFont typeface="Arial" pitchFamily="34" charset="0"/>
              <a:buChar char="•"/>
            </a:pPr>
            <a:r>
              <a:rPr lang="en-US" dirty="0"/>
              <a:t> Integer numbers of various sizes</a:t>
            </a:r>
          </a:p>
          <a:p>
            <a:pPr lvl="3" algn="just">
              <a:spcBef>
                <a:spcPts val="500"/>
              </a:spcBef>
              <a:spcAft>
                <a:spcPts val="500"/>
              </a:spcAft>
            </a:pPr>
            <a:r>
              <a:rPr lang="en-US" dirty="0">
                <a:solidFill>
                  <a:srgbClr val="0070C0"/>
                </a:solidFill>
              </a:rPr>
              <a:t>INTERGER </a:t>
            </a:r>
            <a:r>
              <a:rPr lang="en-US" dirty="0"/>
              <a:t>or </a:t>
            </a:r>
            <a:r>
              <a:rPr lang="en-US" dirty="0">
                <a:solidFill>
                  <a:srgbClr val="0070C0"/>
                </a:solidFill>
              </a:rPr>
              <a:t>INT </a:t>
            </a:r>
            <a:r>
              <a:rPr lang="en-US" dirty="0">
                <a:solidFill>
                  <a:schemeClr val="tx2"/>
                </a:solidFill>
              </a:rPr>
              <a:t>and </a:t>
            </a:r>
            <a:r>
              <a:rPr lang="en-US" dirty="0">
                <a:solidFill>
                  <a:srgbClr val="0070C0"/>
                </a:solidFill>
              </a:rPr>
              <a:t>SMALLINT</a:t>
            </a:r>
          </a:p>
          <a:p>
            <a:pPr marL="800100" lvl="1" indent="-342900" algn="just">
              <a:spcBef>
                <a:spcPts val="500"/>
              </a:spcBef>
              <a:spcAft>
                <a:spcPts val="500"/>
              </a:spcAft>
              <a:buFont typeface="Arial" pitchFamily="34" charset="0"/>
              <a:buChar char="•"/>
            </a:pPr>
            <a:r>
              <a:rPr lang="en-US" dirty="0"/>
              <a:t>  Floating points of various precision</a:t>
            </a:r>
          </a:p>
          <a:p>
            <a:pPr lvl="3" algn="just">
              <a:spcBef>
                <a:spcPts val="500"/>
              </a:spcBef>
              <a:spcAft>
                <a:spcPts val="500"/>
              </a:spcAft>
            </a:pPr>
            <a:r>
              <a:rPr lang="en-US" dirty="0">
                <a:solidFill>
                  <a:srgbClr val="0070C0"/>
                </a:solidFill>
              </a:rPr>
              <a:t>FLOAT </a:t>
            </a:r>
            <a:r>
              <a:rPr lang="en-US" dirty="0"/>
              <a:t>or</a:t>
            </a:r>
            <a:r>
              <a:rPr lang="en-US" dirty="0">
                <a:solidFill>
                  <a:srgbClr val="0070C0"/>
                </a:solidFill>
              </a:rPr>
              <a:t> REAL </a:t>
            </a:r>
          </a:p>
          <a:p>
            <a:pPr lvl="3" algn="just">
              <a:spcBef>
                <a:spcPts val="500"/>
              </a:spcBef>
              <a:spcAft>
                <a:spcPts val="500"/>
              </a:spcAft>
            </a:pPr>
            <a:r>
              <a:rPr lang="en-US" dirty="0">
                <a:solidFill>
                  <a:srgbClr val="0070C0"/>
                </a:solidFill>
              </a:rPr>
              <a:t>DOUBLE PRECISION </a:t>
            </a:r>
          </a:p>
          <a:p>
            <a:pPr marL="800100" lvl="1" indent="-342900" algn="just">
              <a:spcBef>
                <a:spcPts val="500"/>
              </a:spcBef>
              <a:spcAft>
                <a:spcPts val="500"/>
              </a:spcAft>
              <a:buFont typeface="Arial" pitchFamily="34" charset="0"/>
              <a:buChar char="•"/>
            </a:pPr>
            <a:r>
              <a:rPr lang="en-US" dirty="0"/>
              <a:t> Formatted numbers can be declared by using </a:t>
            </a:r>
          </a:p>
          <a:p>
            <a:pPr marL="1143000" lvl="2" indent="-228600" algn="just" fontAlgn="base">
              <a:spcBef>
                <a:spcPts val="500"/>
              </a:spcBef>
              <a:spcAft>
                <a:spcPts val="500"/>
              </a:spcAft>
              <a:buFontTx/>
              <a:buChar char="•"/>
            </a:pPr>
            <a:r>
              <a:rPr lang="en-US" sz="2000" kern="0" dirty="0">
                <a:solidFill>
                  <a:srgbClr val="0070C0"/>
                </a:solidFill>
              </a:rPr>
              <a:t>DECIMAL (</a:t>
            </a:r>
            <a:r>
              <a:rPr lang="en-US" sz="2000" kern="0" dirty="0" err="1">
                <a:solidFill>
                  <a:srgbClr val="0070C0"/>
                </a:solidFill>
              </a:rPr>
              <a:t>i</a:t>
            </a:r>
            <a:r>
              <a:rPr lang="en-US" sz="2000" kern="0" dirty="0">
                <a:solidFill>
                  <a:srgbClr val="0070C0"/>
                </a:solidFill>
              </a:rPr>
              <a:t> , j) </a:t>
            </a:r>
            <a:r>
              <a:rPr lang="en-US" sz="2000" kern="0" dirty="0">
                <a:solidFill>
                  <a:srgbClr val="000000"/>
                </a:solidFill>
              </a:rPr>
              <a:t>or </a:t>
            </a:r>
            <a:r>
              <a:rPr lang="en-US" sz="2000" kern="0" dirty="0">
                <a:solidFill>
                  <a:srgbClr val="0070C0"/>
                </a:solidFill>
              </a:rPr>
              <a:t>DEC(</a:t>
            </a:r>
            <a:r>
              <a:rPr lang="en-US" sz="2000" kern="0" dirty="0" err="1">
                <a:solidFill>
                  <a:srgbClr val="0070C0"/>
                </a:solidFill>
              </a:rPr>
              <a:t>i</a:t>
            </a:r>
            <a:r>
              <a:rPr lang="en-US" sz="2000" kern="0" dirty="0">
                <a:solidFill>
                  <a:srgbClr val="0070C0"/>
                </a:solidFill>
              </a:rPr>
              <a:t> , j)  </a:t>
            </a:r>
            <a:r>
              <a:rPr lang="en-US" sz="2000" kern="0" dirty="0">
                <a:solidFill>
                  <a:srgbClr val="000000"/>
                </a:solidFill>
              </a:rPr>
              <a:t>or </a:t>
            </a:r>
            <a:r>
              <a:rPr lang="en-US" sz="2000" kern="0" dirty="0">
                <a:solidFill>
                  <a:srgbClr val="0070C0"/>
                </a:solidFill>
              </a:rPr>
              <a:t>NUMERIC( </a:t>
            </a:r>
            <a:r>
              <a:rPr lang="en-US" sz="2000" kern="0" dirty="0" err="1">
                <a:solidFill>
                  <a:srgbClr val="0070C0"/>
                </a:solidFill>
              </a:rPr>
              <a:t>i</a:t>
            </a:r>
            <a:r>
              <a:rPr lang="en-US" sz="2000" kern="0" dirty="0">
                <a:solidFill>
                  <a:srgbClr val="0070C0"/>
                </a:solidFill>
              </a:rPr>
              <a:t> , j) </a:t>
            </a:r>
            <a:r>
              <a:rPr lang="en-US" sz="2000" kern="0" dirty="0">
                <a:solidFill>
                  <a:srgbClr val="000000"/>
                </a:solidFill>
              </a:rPr>
              <a:t>where </a:t>
            </a:r>
            <a:r>
              <a:rPr lang="en-US" sz="2000" kern="0" dirty="0" err="1">
                <a:solidFill>
                  <a:srgbClr val="000000"/>
                </a:solidFill>
              </a:rPr>
              <a:t>i</a:t>
            </a:r>
            <a:r>
              <a:rPr lang="en-US" sz="2000" kern="0" dirty="0">
                <a:solidFill>
                  <a:srgbClr val="000000"/>
                </a:solidFill>
              </a:rPr>
              <a:t> is the precision and j is the scale</a:t>
            </a:r>
          </a:p>
          <a:p>
            <a:pPr marL="1143000" lvl="2" indent="-228600" algn="just" fontAlgn="base">
              <a:spcBef>
                <a:spcPts val="500"/>
              </a:spcBef>
              <a:spcAft>
                <a:spcPts val="500"/>
              </a:spcAft>
            </a:pPr>
            <a:r>
              <a:rPr lang="en-US" sz="2000" kern="0" dirty="0">
                <a:solidFill>
                  <a:srgbClr val="000000"/>
                </a:solidFill>
              </a:rPr>
              <a:t>    </a:t>
            </a:r>
            <a:r>
              <a:rPr lang="en-US" sz="2000" kern="0" dirty="0">
                <a:solidFill>
                  <a:srgbClr val="FF0000"/>
                </a:solidFill>
              </a:rPr>
              <a:t>Ex:  </a:t>
            </a:r>
            <a:r>
              <a:rPr lang="en-US" sz="2000" kern="0" dirty="0">
                <a:solidFill>
                  <a:srgbClr val="0070C0"/>
                </a:solidFill>
              </a:rPr>
              <a:t>DEC(10,4)  </a:t>
            </a:r>
            <a:r>
              <a:rPr lang="en-US" sz="2000" kern="0" dirty="0">
                <a:solidFill>
                  <a:srgbClr val="000000"/>
                </a:solidFill>
              </a:rPr>
              <a:t>means there are totally  10 digits  and 4 digits after the decimal point.</a:t>
            </a:r>
          </a:p>
          <a:p>
            <a:pPr marL="1143000" lvl="2" indent="-228600" algn="just" fontAlgn="base">
              <a:spcBef>
                <a:spcPts val="500"/>
              </a:spcBef>
              <a:spcAft>
                <a:spcPts val="500"/>
              </a:spcAft>
              <a:buFontTx/>
              <a:buChar char="•"/>
            </a:pPr>
            <a:r>
              <a:rPr lang="en-US" sz="2000" kern="0" dirty="0">
                <a:solidFill>
                  <a:srgbClr val="000000"/>
                </a:solidFill>
              </a:rPr>
              <a:t>The default scale is zero and default for precision is implementation defined</a:t>
            </a:r>
            <a:r>
              <a:rPr lang="en-US" sz="2400" kern="0" dirty="0">
                <a:solidFill>
                  <a:srgbClr val="000000"/>
                </a:solidFill>
              </a:rPr>
              <a:t>.</a:t>
            </a: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1295400"/>
            <a:ext cx="8610600" cy="4616648"/>
          </a:xfrm>
          <a:prstGeom prst="rect">
            <a:avLst/>
          </a:prstGeom>
        </p:spPr>
        <p:txBody>
          <a:bodyPr wrap="square">
            <a:spAutoFit/>
          </a:bodyPr>
          <a:lstStyle/>
          <a:p>
            <a:pPr marL="342900" lvl="0" indent="-342900" fontAlgn="base">
              <a:lnSpc>
                <a:spcPct val="80000"/>
              </a:lnSpc>
              <a:spcBef>
                <a:spcPts val="500"/>
              </a:spcBef>
              <a:spcAft>
                <a:spcPts val="500"/>
              </a:spcAft>
              <a:buFontTx/>
              <a:buChar char="•"/>
            </a:pPr>
            <a:r>
              <a:rPr lang="en-US" sz="2000" b="1" kern="0" dirty="0">
                <a:solidFill>
                  <a:srgbClr val="000000"/>
                </a:solidFill>
                <a:latin typeface="Tahoma" pitchFamily="34" charset="0"/>
                <a:ea typeface="Tahoma" pitchFamily="34" charset="0"/>
                <a:cs typeface="Tahoma" pitchFamily="34" charset="0"/>
              </a:rPr>
              <a:t>Character-string </a:t>
            </a:r>
            <a:r>
              <a:rPr lang="en-US" sz="2000" b="1" kern="0" dirty="0">
                <a:solidFill>
                  <a:srgbClr val="000000"/>
                </a:solidFill>
                <a:latin typeface="Tahoma" pitchFamily="34" charset="0"/>
                <a:ea typeface="Tahoma" pitchFamily="34" charset="0"/>
                <a:cs typeface="Tahoma" pitchFamily="34" charset="0"/>
                <a:sym typeface="Wingdings" pitchFamily="2" charset="2"/>
              </a:rPr>
              <a:t>2 types</a:t>
            </a:r>
            <a:endParaRPr lang="en-US" sz="2000" b="1" kern="0" dirty="0">
              <a:solidFill>
                <a:srgbClr val="000000"/>
              </a:solidFill>
              <a:latin typeface="Tahoma" pitchFamily="34" charset="0"/>
              <a:ea typeface="Tahoma" pitchFamily="34" charset="0"/>
              <a:cs typeface="Tahoma" pitchFamily="34" charset="0"/>
            </a:endParaRPr>
          </a:p>
          <a:p>
            <a:pPr marL="914400" lvl="1" indent="-457200" algn="just" fontAlgn="base">
              <a:lnSpc>
                <a:spcPct val="150000"/>
              </a:lnSpc>
              <a:spcBef>
                <a:spcPts val="500"/>
              </a:spcBef>
              <a:spcAft>
                <a:spcPts val="500"/>
              </a:spcAft>
              <a:buFont typeface="+mj-lt"/>
              <a:buAutoNum type="arabicPeriod"/>
            </a:pPr>
            <a:r>
              <a:rPr lang="en-US" sz="2000" b="1" kern="0" dirty="0">
                <a:solidFill>
                  <a:srgbClr val="000000"/>
                </a:solidFill>
                <a:latin typeface="Tahoma" pitchFamily="34" charset="0"/>
                <a:ea typeface="Tahoma" pitchFamily="34" charset="0"/>
                <a:cs typeface="Tahoma" pitchFamily="34" charset="0"/>
              </a:rPr>
              <a:t>Fixed-length</a:t>
            </a:r>
          </a:p>
          <a:p>
            <a:pPr marL="1200150" lvl="2" indent="-285750" algn="just" fontAlgn="base">
              <a:lnSpc>
                <a:spcPct val="150000"/>
              </a:lnSpc>
              <a:spcBef>
                <a:spcPts val="500"/>
              </a:spcBef>
              <a:spcAft>
                <a:spcPts val="500"/>
              </a:spcAft>
            </a:pPr>
            <a:r>
              <a:rPr lang="en-US" kern="0" dirty="0">
                <a:solidFill>
                  <a:srgbClr val="0070C0"/>
                </a:solidFill>
              </a:rPr>
              <a:t>CHAR(</a:t>
            </a:r>
            <a:r>
              <a:rPr lang="en-US" i="1" kern="0" dirty="0">
                <a:solidFill>
                  <a:srgbClr val="0070C0"/>
                </a:solidFill>
              </a:rPr>
              <a:t>n</a:t>
            </a:r>
            <a:r>
              <a:rPr lang="en-US" kern="0" dirty="0">
                <a:solidFill>
                  <a:srgbClr val="0070C0"/>
                </a:solidFill>
              </a:rPr>
              <a:t>) </a:t>
            </a:r>
            <a:r>
              <a:rPr lang="en-US" kern="0" dirty="0">
                <a:solidFill>
                  <a:srgbClr val="000000"/>
                </a:solidFill>
              </a:rPr>
              <a:t>or </a:t>
            </a:r>
            <a:r>
              <a:rPr lang="en-US" kern="0" dirty="0">
                <a:solidFill>
                  <a:srgbClr val="0070C0"/>
                </a:solidFill>
              </a:rPr>
              <a:t>CHARACTER(</a:t>
            </a:r>
            <a:r>
              <a:rPr lang="en-US" i="1" kern="0" dirty="0">
                <a:solidFill>
                  <a:srgbClr val="0070C0"/>
                </a:solidFill>
              </a:rPr>
              <a:t>n</a:t>
            </a:r>
            <a:r>
              <a:rPr lang="en-US" kern="0" dirty="0">
                <a:solidFill>
                  <a:srgbClr val="0070C0"/>
                </a:solidFill>
              </a:rPr>
              <a:t>), </a:t>
            </a:r>
            <a:r>
              <a:rPr lang="en-US" kern="0" dirty="0">
                <a:solidFill>
                  <a:srgbClr val="000000"/>
                </a:solidFill>
              </a:rPr>
              <a:t>where </a:t>
            </a:r>
            <a:r>
              <a:rPr lang="en-US" i="1" kern="0" dirty="0">
                <a:solidFill>
                  <a:srgbClr val="000000"/>
                </a:solidFill>
              </a:rPr>
              <a:t>n </a:t>
            </a:r>
            <a:r>
              <a:rPr lang="en-US" kern="0" dirty="0">
                <a:solidFill>
                  <a:srgbClr val="000000"/>
                </a:solidFill>
              </a:rPr>
              <a:t>is the number of characters.</a:t>
            </a:r>
          </a:p>
          <a:p>
            <a:pPr marL="914400" lvl="1" indent="-457200" algn="just" fontAlgn="base">
              <a:lnSpc>
                <a:spcPct val="150000"/>
              </a:lnSpc>
              <a:spcBef>
                <a:spcPts val="500"/>
              </a:spcBef>
              <a:spcAft>
                <a:spcPts val="500"/>
              </a:spcAft>
              <a:buFont typeface="+mj-lt"/>
              <a:buAutoNum type="arabicPeriod"/>
            </a:pPr>
            <a:r>
              <a:rPr lang="en-US" sz="2000" b="1" kern="0" dirty="0">
                <a:solidFill>
                  <a:srgbClr val="000000"/>
                </a:solidFill>
                <a:latin typeface="Tahoma" pitchFamily="34" charset="0"/>
                <a:ea typeface="Tahoma" pitchFamily="34" charset="0"/>
                <a:cs typeface="Tahoma" pitchFamily="34" charset="0"/>
              </a:rPr>
              <a:t>Varying-length</a:t>
            </a:r>
          </a:p>
          <a:p>
            <a:pPr marL="742950" lvl="1" indent="-285750" algn="just" fontAlgn="base">
              <a:lnSpc>
                <a:spcPct val="150000"/>
              </a:lnSpc>
              <a:spcBef>
                <a:spcPts val="500"/>
              </a:spcBef>
              <a:spcAft>
                <a:spcPts val="500"/>
              </a:spcAft>
            </a:pPr>
            <a:r>
              <a:rPr lang="en-US" b="1" kern="0" dirty="0">
                <a:solidFill>
                  <a:srgbClr val="000000"/>
                </a:solidFill>
                <a:latin typeface="Tahoma" pitchFamily="34" charset="0"/>
                <a:ea typeface="Tahoma" pitchFamily="34" charset="0"/>
                <a:cs typeface="Tahoma" pitchFamily="34" charset="0"/>
              </a:rPr>
              <a:t>      </a:t>
            </a:r>
            <a:r>
              <a:rPr lang="en-US" kern="0" dirty="0">
                <a:solidFill>
                  <a:srgbClr val="0070C0"/>
                </a:solidFill>
              </a:rPr>
              <a:t>VARCHAR(</a:t>
            </a:r>
            <a:r>
              <a:rPr lang="en-US" i="1" kern="0" dirty="0">
                <a:solidFill>
                  <a:srgbClr val="0070C0"/>
                </a:solidFill>
              </a:rPr>
              <a:t>n</a:t>
            </a:r>
            <a:r>
              <a:rPr lang="en-US" kern="0" dirty="0">
                <a:solidFill>
                  <a:srgbClr val="0070C0"/>
                </a:solidFill>
              </a:rPr>
              <a:t>) </a:t>
            </a:r>
            <a:r>
              <a:rPr lang="en-US" kern="0" dirty="0">
                <a:solidFill>
                  <a:srgbClr val="000000"/>
                </a:solidFill>
              </a:rPr>
              <a:t>or </a:t>
            </a:r>
            <a:r>
              <a:rPr lang="en-US" kern="0" dirty="0">
                <a:solidFill>
                  <a:srgbClr val="0070C0"/>
                </a:solidFill>
              </a:rPr>
              <a:t>CHAR VARYING(</a:t>
            </a:r>
            <a:r>
              <a:rPr lang="en-US" i="1" kern="0" dirty="0">
                <a:solidFill>
                  <a:srgbClr val="0070C0"/>
                </a:solidFill>
              </a:rPr>
              <a:t>n</a:t>
            </a:r>
            <a:r>
              <a:rPr lang="en-US" kern="0" dirty="0">
                <a:solidFill>
                  <a:srgbClr val="0070C0"/>
                </a:solidFill>
              </a:rPr>
              <a:t>) </a:t>
            </a:r>
            <a:r>
              <a:rPr lang="en-US" kern="0" dirty="0">
                <a:solidFill>
                  <a:srgbClr val="000000"/>
                </a:solidFill>
              </a:rPr>
              <a:t>or </a:t>
            </a:r>
            <a:r>
              <a:rPr lang="en-US" kern="0" dirty="0">
                <a:solidFill>
                  <a:srgbClr val="0070C0"/>
                </a:solidFill>
              </a:rPr>
              <a:t>CHARACTER VARYING(</a:t>
            </a:r>
            <a:r>
              <a:rPr lang="en-US" i="1" kern="0" dirty="0">
                <a:solidFill>
                  <a:srgbClr val="0070C0"/>
                </a:solidFill>
              </a:rPr>
              <a:t>n</a:t>
            </a:r>
            <a:r>
              <a:rPr lang="en-US" kern="0" dirty="0">
                <a:solidFill>
                  <a:srgbClr val="0070C0"/>
                </a:solidFill>
              </a:rPr>
              <a:t>), </a:t>
            </a:r>
            <a:r>
              <a:rPr lang="en-US" kern="0" dirty="0">
                <a:solidFill>
                  <a:srgbClr val="000000"/>
                </a:solidFill>
              </a:rPr>
              <a:t>where </a:t>
            </a:r>
            <a:r>
              <a:rPr lang="en-US" i="1" kern="0" dirty="0">
                <a:solidFill>
                  <a:srgbClr val="000000"/>
                </a:solidFill>
              </a:rPr>
              <a:t>n </a:t>
            </a:r>
            <a:r>
              <a:rPr lang="en-US" kern="0" dirty="0">
                <a:solidFill>
                  <a:srgbClr val="000000"/>
                </a:solidFill>
              </a:rPr>
              <a:t>is the maximum number of characters. </a:t>
            </a:r>
          </a:p>
          <a:p>
            <a:pPr marL="285750" indent="-285750" algn="just" fontAlgn="base">
              <a:lnSpc>
                <a:spcPct val="150000"/>
              </a:lnSpc>
              <a:spcBef>
                <a:spcPts val="500"/>
              </a:spcBef>
              <a:spcAft>
                <a:spcPts val="500"/>
              </a:spcAft>
              <a:buFont typeface="Arial" pitchFamily="34" charset="0"/>
              <a:buChar char="•"/>
            </a:pPr>
            <a:r>
              <a:rPr lang="en-US" sz="2000" kern="0" dirty="0">
                <a:solidFill>
                  <a:srgbClr val="000000"/>
                </a:solidFill>
                <a:latin typeface="Tahoma" pitchFamily="34" charset="0"/>
                <a:ea typeface="Tahoma" pitchFamily="34" charset="0"/>
                <a:cs typeface="Tahoma" pitchFamily="34" charset="0"/>
              </a:rPr>
              <a:t>Literal string value is placed between single quotation marks and it is case sensitive.</a:t>
            </a:r>
          </a:p>
          <a:p>
            <a:pPr marL="1600200" lvl="3" indent="-228600" algn="just" fontAlgn="base">
              <a:lnSpc>
                <a:spcPct val="150000"/>
              </a:lnSpc>
              <a:spcBef>
                <a:spcPts val="500"/>
              </a:spcBef>
              <a:spcAft>
                <a:spcPts val="500"/>
              </a:spcAft>
            </a:pPr>
            <a:r>
              <a:rPr lang="en-US" kern="0" dirty="0">
                <a:solidFill>
                  <a:srgbClr val="000000"/>
                </a:solidFill>
              </a:rPr>
              <a:t>Example    </a:t>
            </a:r>
            <a:r>
              <a:rPr lang="en-US" b="1" kern="0" dirty="0">
                <a:solidFill>
                  <a:srgbClr val="000000"/>
                </a:solidFill>
              </a:rPr>
              <a:t>‘SMITH’  </a:t>
            </a:r>
            <a:r>
              <a:rPr lang="en-US" kern="0" dirty="0">
                <a:solidFill>
                  <a:srgbClr val="000000"/>
                </a:solidFill>
              </a:rPr>
              <a:t>and </a:t>
            </a:r>
            <a:r>
              <a:rPr lang="en-US" b="1" kern="0" dirty="0">
                <a:solidFill>
                  <a:srgbClr val="000000"/>
                </a:solidFill>
              </a:rPr>
              <a:t>‘smith’</a:t>
            </a:r>
          </a:p>
        </p:txBody>
      </p:sp>
      <p:sp>
        <p:nvSpPr>
          <p:cNvPr id="8" name="Rectangle 2"/>
          <p:cNvSpPr>
            <a:spLocks noGrp="1" noChangeArrowheads="1"/>
          </p:cNvSpPr>
          <p:nvPr>
            <p:ph type="title"/>
          </p:nvPr>
        </p:nvSpPr>
        <p:spPr>
          <a:xfrm>
            <a:off x="228600" y="152400"/>
            <a:ext cx="8458200" cy="411162"/>
          </a:xfrm>
          <a:noFill/>
        </p:spPr>
        <p:txBody>
          <a:bodyPr lIns="90488" tIns="44450" rIns="90488" bIns="44450"/>
          <a:lstStyle/>
          <a:p>
            <a:pPr algn="l" eaLnBrk="1" hangingPunct="1"/>
            <a:r>
              <a:rPr lang="en-US" sz="2800" b="1" dirty="0">
                <a:latin typeface="Tahoma" pitchFamily="34" charset="0"/>
                <a:ea typeface="Tahoma" pitchFamily="34" charset="0"/>
                <a:cs typeface="Tahoma" pitchFamily="34" charset="0"/>
              </a:rPr>
              <a:t>SQL  DATA Types</a:t>
            </a: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914400"/>
            <a:ext cx="8610600" cy="4517134"/>
          </a:xfrm>
          <a:prstGeom prst="rect">
            <a:avLst/>
          </a:prstGeom>
        </p:spPr>
        <p:txBody>
          <a:bodyPr wrap="square">
            <a:spAutoFit/>
          </a:bodyPr>
          <a:lstStyle/>
          <a:p>
            <a:pPr marL="285750" indent="-285750" algn="just" fontAlgn="base">
              <a:lnSpc>
                <a:spcPct val="80000"/>
              </a:lnSpc>
              <a:spcBef>
                <a:spcPts val="500"/>
              </a:spcBef>
              <a:spcAft>
                <a:spcPts val="500"/>
              </a:spcAft>
              <a:buFont typeface="Arial" pitchFamily="34" charset="0"/>
              <a:buChar char="•"/>
            </a:pPr>
            <a:r>
              <a:rPr lang="en-US" sz="2400" b="1" kern="0" dirty="0">
                <a:solidFill>
                  <a:srgbClr val="000000"/>
                </a:solidFill>
                <a:latin typeface="Tahoma" pitchFamily="34" charset="0"/>
                <a:ea typeface="Tahoma" pitchFamily="34" charset="0"/>
                <a:cs typeface="Tahoma" pitchFamily="34" charset="0"/>
              </a:rPr>
              <a:t>Bit-string </a:t>
            </a:r>
            <a:r>
              <a:rPr lang="en-US" sz="2400" b="1" kern="0" dirty="0">
                <a:solidFill>
                  <a:srgbClr val="000000"/>
                </a:solidFill>
                <a:latin typeface="Tahoma" pitchFamily="34" charset="0"/>
                <a:ea typeface="Tahoma" pitchFamily="34" charset="0"/>
                <a:cs typeface="Tahoma" pitchFamily="34" charset="0"/>
                <a:sym typeface="Wingdings" pitchFamily="2" charset="2"/>
              </a:rPr>
              <a:t> 2 types</a:t>
            </a:r>
            <a:endParaRPr lang="en-US" sz="2400" b="1" kern="0" dirty="0">
              <a:solidFill>
                <a:srgbClr val="000000"/>
              </a:solidFill>
              <a:latin typeface="Tahoma" pitchFamily="34" charset="0"/>
              <a:ea typeface="Tahoma" pitchFamily="34" charset="0"/>
              <a:cs typeface="Tahoma" pitchFamily="34" charset="0"/>
            </a:endParaRPr>
          </a:p>
          <a:p>
            <a:pPr marL="1371600" lvl="2" indent="-457200" algn="just" fontAlgn="base">
              <a:lnSpc>
                <a:spcPct val="150000"/>
              </a:lnSpc>
              <a:spcBef>
                <a:spcPts val="500"/>
              </a:spcBef>
              <a:spcAft>
                <a:spcPts val="500"/>
              </a:spcAft>
              <a:buFont typeface="+mj-lt"/>
              <a:buAutoNum type="arabicPeriod"/>
            </a:pPr>
            <a:r>
              <a:rPr lang="en-US" sz="2000" b="1" kern="0" dirty="0">
                <a:solidFill>
                  <a:srgbClr val="000000"/>
                </a:solidFill>
                <a:latin typeface="Tahoma" pitchFamily="34" charset="0"/>
                <a:ea typeface="Tahoma" pitchFamily="34" charset="0"/>
                <a:cs typeface="Tahoma" pitchFamily="34" charset="0"/>
              </a:rPr>
              <a:t>Fixed length </a:t>
            </a:r>
          </a:p>
          <a:p>
            <a:pPr marL="1143000" lvl="2" indent="-228600" algn="just" fontAlgn="base">
              <a:lnSpc>
                <a:spcPct val="150000"/>
              </a:lnSpc>
              <a:spcBef>
                <a:spcPts val="500"/>
              </a:spcBef>
              <a:spcAft>
                <a:spcPts val="500"/>
              </a:spcAft>
            </a:pPr>
            <a:r>
              <a:rPr lang="en-US" sz="2000" b="1" kern="0" dirty="0">
                <a:solidFill>
                  <a:srgbClr val="000000"/>
                </a:solidFill>
                <a:latin typeface="Tahoma" pitchFamily="34" charset="0"/>
                <a:ea typeface="Tahoma" pitchFamily="34" charset="0"/>
                <a:cs typeface="Tahoma" pitchFamily="34" charset="0"/>
              </a:rPr>
              <a:t>       </a:t>
            </a:r>
            <a:r>
              <a:rPr lang="en-US" sz="2000" kern="0" dirty="0">
                <a:solidFill>
                  <a:srgbClr val="0070C0"/>
                </a:solidFill>
              </a:rPr>
              <a:t>BIT(</a:t>
            </a:r>
            <a:r>
              <a:rPr lang="en-US" sz="2000" i="1" kern="0" dirty="0">
                <a:solidFill>
                  <a:srgbClr val="0070C0"/>
                </a:solidFill>
              </a:rPr>
              <a:t>n</a:t>
            </a:r>
            <a:r>
              <a:rPr lang="en-US" sz="2000" kern="0" dirty="0">
                <a:solidFill>
                  <a:srgbClr val="0070C0"/>
                </a:solidFill>
              </a:rPr>
              <a:t>),</a:t>
            </a:r>
            <a:r>
              <a:rPr lang="en-US" sz="2000" kern="0" dirty="0">
                <a:solidFill>
                  <a:srgbClr val="000000"/>
                </a:solidFill>
              </a:rPr>
              <a:t> where </a:t>
            </a:r>
            <a:r>
              <a:rPr lang="en-US" sz="2000" i="1" kern="0" dirty="0">
                <a:solidFill>
                  <a:srgbClr val="000000"/>
                </a:solidFill>
              </a:rPr>
              <a:t>n </a:t>
            </a:r>
            <a:r>
              <a:rPr lang="en-US" sz="2000" kern="0" dirty="0">
                <a:solidFill>
                  <a:srgbClr val="000000"/>
                </a:solidFill>
              </a:rPr>
              <a:t>is the maximum number of bits. </a:t>
            </a:r>
            <a:endParaRPr lang="en-US" sz="2000" kern="0" dirty="0">
              <a:solidFill>
                <a:srgbClr val="0070C0"/>
              </a:solidFill>
            </a:endParaRPr>
          </a:p>
          <a:p>
            <a:pPr marL="1371600" lvl="2" indent="-457200" algn="just" fontAlgn="base">
              <a:lnSpc>
                <a:spcPct val="150000"/>
              </a:lnSpc>
              <a:spcBef>
                <a:spcPts val="500"/>
              </a:spcBef>
              <a:spcAft>
                <a:spcPts val="500"/>
              </a:spcAft>
              <a:buFont typeface="+mj-lt"/>
              <a:buAutoNum type="arabicPeriod" startAt="2"/>
            </a:pPr>
            <a:r>
              <a:rPr lang="en-US" sz="2000" b="1" kern="0" dirty="0">
                <a:solidFill>
                  <a:srgbClr val="000000"/>
                </a:solidFill>
                <a:latin typeface="Tahoma" pitchFamily="34" charset="0"/>
                <a:ea typeface="Tahoma" pitchFamily="34" charset="0"/>
                <a:cs typeface="Tahoma" pitchFamily="34" charset="0"/>
              </a:rPr>
              <a:t>Varying length</a:t>
            </a:r>
          </a:p>
          <a:p>
            <a:pPr marL="1143000" lvl="2" indent="-228600" algn="just" fontAlgn="base">
              <a:lnSpc>
                <a:spcPct val="150000"/>
              </a:lnSpc>
              <a:spcBef>
                <a:spcPts val="500"/>
              </a:spcBef>
              <a:spcAft>
                <a:spcPts val="500"/>
              </a:spcAft>
            </a:pPr>
            <a:r>
              <a:rPr lang="en-US" sz="2000" b="1" kern="0" dirty="0">
                <a:solidFill>
                  <a:srgbClr val="000000"/>
                </a:solidFill>
                <a:latin typeface="Tahoma" pitchFamily="34" charset="0"/>
                <a:ea typeface="Tahoma" pitchFamily="34" charset="0"/>
                <a:cs typeface="Tahoma" pitchFamily="34" charset="0"/>
              </a:rPr>
              <a:t>      </a:t>
            </a:r>
            <a:r>
              <a:rPr lang="en-US" sz="2000" kern="0" dirty="0">
                <a:solidFill>
                  <a:srgbClr val="0070C0"/>
                </a:solidFill>
              </a:rPr>
              <a:t>BIT VARYING(</a:t>
            </a:r>
            <a:r>
              <a:rPr lang="en-US" sz="2000" i="1" kern="0" dirty="0">
                <a:solidFill>
                  <a:srgbClr val="0070C0"/>
                </a:solidFill>
              </a:rPr>
              <a:t>n</a:t>
            </a:r>
            <a:r>
              <a:rPr lang="en-US" sz="2000" kern="0" dirty="0">
                <a:solidFill>
                  <a:srgbClr val="0070C0"/>
                </a:solidFill>
              </a:rPr>
              <a:t>), </a:t>
            </a:r>
            <a:r>
              <a:rPr lang="en-US" sz="2000" kern="0" dirty="0">
                <a:solidFill>
                  <a:srgbClr val="000000"/>
                </a:solidFill>
              </a:rPr>
              <a:t>where </a:t>
            </a:r>
            <a:r>
              <a:rPr lang="en-US" sz="2000" i="1" kern="0" dirty="0">
                <a:solidFill>
                  <a:srgbClr val="000000"/>
                </a:solidFill>
              </a:rPr>
              <a:t>n </a:t>
            </a:r>
            <a:r>
              <a:rPr lang="en-US" sz="2000" kern="0" dirty="0">
                <a:solidFill>
                  <a:srgbClr val="000000"/>
                </a:solidFill>
              </a:rPr>
              <a:t>is the maximum number of bits.</a:t>
            </a:r>
          </a:p>
          <a:p>
            <a:pPr marL="1143000" lvl="2" indent="-228600" algn="just" fontAlgn="base">
              <a:lnSpc>
                <a:spcPct val="150000"/>
              </a:lnSpc>
              <a:spcBef>
                <a:spcPts val="500"/>
              </a:spcBef>
              <a:spcAft>
                <a:spcPts val="500"/>
              </a:spcAft>
            </a:pPr>
            <a:r>
              <a:rPr lang="en-US" sz="2000" kern="0" dirty="0">
                <a:solidFill>
                  <a:srgbClr val="000000"/>
                </a:solidFill>
              </a:rPr>
              <a:t>  The default for </a:t>
            </a:r>
            <a:r>
              <a:rPr lang="en-US" sz="2000" i="1" kern="0" dirty="0">
                <a:solidFill>
                  <a:srgbClr val="000000"/>
                </a:solidFill>
              </a:rPr>
              <a:t>n, </a:t>
            </a:r>
            <a:r>
              <a:rPr lang="en-US" sz="2000" kern="0" dirty="0">
                <a:solidFill>
                  <a:srgbClr val="000000"/>
                </a:solidFill>
              </a:rPr>
              <a:t>the length of a character string or bit string, is 1. </a:t>
            </a:r>
          </a:p>
          <a:p>
            <a:pPr marL="228600" indent="-228600" algn="just" fontAlgn="base">
              <a:lnSpc>
                <a:spcPct val="150000"/>
              </a:lnSpc>
              <a:spcBef>
                <a:spcPts val="500"/>
              </a:spcBef>
              <a:spcAft>
                <a:spcPts val="500"/>
              </a:spcAft>
              <a:buFontTx/>
              <a:buChar char="•"/>
            </a:pPr>
            <a:r>
              <a:rPr lang="en-US" sz="2000" kern="0" dirty="0">
                <a:solidFill>
                  <a:srgbClr val="000000"/>
                </a:solidFill>
              </a:rPr>
              <a:t>Literal bit strings are placed between single quotes but precede by a B ;</a:t>
            </a:r>
          </a:p>
          <a:p>
            <a:pPr marL="1143000" lvl="2" indent="-228600" algn="just" fontAlgn="base">
              <a:lnSpc>
                <a:spcPct val="150000"/>
              </a:lnSpc>
              <a:spcBef>
                <a:spcPts val="500"/>
              </a:spcBef>
              <a:spcAft>
                <a:spcPts val="500"/>
              </a:spcAft>
            </a:pPr>
            <a:r>
              <a:rPr lang="en-US" sz="2000" kern="0" dirty="0">
                <a:solidFill>
                  <a:srgbClr val="000000"/>
                </a:solidFill>
              </a:rPr>
              <a:t> </a:t>
            </a:r>
            <a:r>
              <a:rPr lang="en-US" sz="2000" b="1" kern="0" dirty="0">
                <a:solidFill>
                  <a:srgbClr val="000000"/>
                </a:solidFill>
              </a:rPr>
              <a:t>Example</a:t>
            </a:r>
            <a:r>
              <a:rPr lang="en-US" sz="2000" kern="0" dirty="0">
                <a:solidFill>
                  <a:srgbClr val="000000"/>
                </a:solidFill>
              </a:rPr>
              <a:t>    B’10101’</a:t>
            </a:r>
          </a:p>
        </p:txBody>
      </p:sp>
      <p:sp>
        <p:nvSpPr>
          <p:cNvPr id="8" name="Rectangle 2"/>
          <p:cNvSpPr>
            <a:spLocks noGrp="1" noChangeArrowheads="1"/>
          </p:cNvSpPr>
          <p:nvPr>
            <p:ph type="title"/>
          </p:nvPr>
        </p:nvSpPr>
        <p:spPr>
          <a:xfrm>
            <a:off x="228600" y="152400"/>
            <a:ext cx="8458200" cy="411162"/>
          </a:xfrm>
          <a:noFill/>
        </p:spPr>
        <p:txBody>
          <a:bodyPr lIns="90488" tIns="44450" rIns="90488" bIns="44450"/>
          <a:lstStyle/>
          <a:p>
            <a:pPr algn="l" eaLnBrk="1" hangingPunct="1"/>
            <a:r>
              <a:rPr lang="en-US" sz="2800" b="1" dirty="0">
                <a:latin typeface="Tahoma" pitchFamily="34" charset="0"/>
                <a:ea typeface="Tahoma" pitchFamily="34" charset="0"/>
                <a:cs typeface="Tahoma" pitchFamily="34" charset="0"/>
              </a:rPr>
              <a:t>SQL  DATA Types</a:t>
            </a: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914400"/>
            <a:ext cx="8610600" cy="2157514"/>
          </a:xfrm>
          <a:prstGeom prst="rect">
            <a:avLst/>
          </a:prstGeom>
        </p:spPr>
        <p:txBody>
          <a:bodyPr wrap="square">
            <a:spAutoFit/>
          </a:bodyPr>
          <a:lstStyle/>
          <a:p>
            <a:pPr marL="285750" indent="-285750" algn="just" fontAlgn="base">
              <a:lnSpc>
                <a:spcPct val="80000"/>
              </a:lnSpc>
              <a:spcBef>
                <a:spcPts val="500"/>
              </a:spcBef>
              <a:spcAft>
                <a:spcPts val="500"/>
              </a:spcAft>
              <a:buFont typeface="Arial" pitchFamily="34" charset="0"/>
              <a:buChar char="•"/>
            </a:pPr>
            <a:r>
              <a:rPr lang="en-US" sz="2400" b="1" kern="0" dirty="0">
                <a:solidFill>
                  <a:srgbClr val="000000"/>
                </a:solidFill>
                <a:latin typeface="Tahoma" pitchFamily="34" charset="0"/>
                <a:ea typeface="Tahoma" pitchFamily="34" charset="0"/>
                <a:cs typeface="Tahoma" pitchFamily="34" charset="0"/>
              </a:rPr>
              <a:t>Boolean</a:t>
            </a:r>
          </a:p>
          <a:p>
            <a:pPr marL="1371600" lvl="2" indent="-457200" algn="just" fontAlgn="base">
              <a:lnSpc>
                <a:spcPct val="150000"/>
              </a:lnSpc>
              <a:spcBef>
                <a:spcPts val="500"/>
              </a:spcBef>
              <a:spcAft>
                <a:spcPts val="500"/>
              </a:spcAft>
              <a:buFont typeface="Arial" pitchFamily="34" charset="0"/>
              <a:buChar char="•"/>
            </a:pPr>
            <a:r>
              <a:rPr lang="en-US" sz="2000" b="1" kern="0" dirty="0">
                <a:solidFill>
                  <a:srgbClr val="000000"/>
                </a:solidFill>
                <a:latin typeface="Tahoma" pitchFamily="34" charset="0"/>
                <a:ea typeface="Tahoma" pitchFamily="34" charset="0"/>
                <a:cs typeface="Tahoma" pitchFamily="34" charset="0"/>
              </a:rPr>
              <a:t>Traditional Values:  TRUE or FALSE</a:t>
            </a:r>
          </a:p>
          <a:p>
            <a:pPr marL="1371600" lvl="2" indent="-457200" algn="just" fontAlgn="base">
              <a:lnSpc>
                <a:spcPct val="150000"/>
              </a:lnSpc>
              <a:spcBef>
                <a:spcPts val="500"/>
              </a:spcBef>
              <a:spcAft>
                <a:spcPts val="500"/>
              </a:spcAft>
              <a:buFont typeface="Arial" pitchFamily="34" charset="0"/>
              <a:buChar char="•"/>
            </a:pPr>
            <a:r>
              <a:rPr lang="en-US" sz="2000" b="1" kern="0" dirty="0">
                <a:solidFill>
                  <a:srgbClr val="000000"/>
                </a:solidFill>
                <a:latin typeface="Tahoma" pitchFamily="34" charset="0"/>
                <a:ea typeface="Tahoma" pitchFamily="34" charset="0"/>
                <a:cs typeface="Tahoma" pitchFamily="34" charset="0"/>
              </a:rPr>
              <a:t>Third possible values : UNKNOWN</a:t>
            </a:r>
          </a:p>
          <a:p>
            <a:pPr marL="1143000" lvl="2" indent="-228600" algn="just" fontAlgn="base">
              <a:lnSpc>
                <a:spcPct val="150000"/>
              </a:lnSpc>
              <a:spcBef>
                <a:spcPts val="500"/>
              </a:spcBef>
              <a:spcAft>
                <a:spcPts val="500"/>
              </a:spcAft>
            </a:pPr>
            <a:r>
              <a:rPr lang="en-US" sz="2000" b="1" kern="0" dirty="0">
                <a:solidFill>
                  <a:srgbClr val="000000"/>
                </a:solidFill>
                <a:latin typeface="Tahoma" pitchFamily="34" charset="0"/>
                <a:ea typeface="Tahoma" pitchFamily="34" charset="0"/>
                <a:cs typeface="Tahoma" pitchFamily="34" charset="0"/>
              </a:rPr>
              <a:t>       </a:t>
            </a:r>
            <a:endParaRPr lang="en-US" sz="2000" kern="0" dirty="0">
              <a:solidFill>
                <a:srgbClr val="000000"/>
              </a:solidFill>
            </a:endParaRPr>
          </a:p>
        </p:txBody>
      </p:sp>
      <p:sp>
        <p:nvSpPr>
          <p:cNvPr id="8" name="Rectangle 2"/>
          <p:cNvSpPr>
            <a:spLocks noGrp="1" noChangeArrowheads="1"/>
          </p:cNvSpPr>
          <p:nvPr>
            <p:ph type="title"/>
          </p:nvPr>
        </p:nvSpPr>
        <p:spPr>
          <a:xfrm>
            <a:off x="228600" y="152400"/>
            <a:ext cx="8458200" cy="411162"/>
          </a:xfrm>
          <a:noFill/>
        </p:spPr>
        <p:txBody>
          <a:bodyPr lIns="90488" tIns="44450" rIns="90488" bIns="44450"/>
          <a:lstStyle/>
          <a:p>
            <a:pPr algn="l" eaLnBrk="1" hangingPunct="1"/>
            <a:r>
              <a:rPr lang="en-US" sz="2800" b="1" dirty="0">
                <a:latin typeface="Tahoma" pitchFamily="34" charset="0"/>
                <a:ea typeface="Tahoma" pitchFamily="34" charset="0"/>
                <a:cs typeface="Tahoma" pitchFamily="34" charset="0"/>
              </a:rPr>
              <a:t>SQL  DATA Types</a:t>
            </a:r>
          </a:p>
        </p:txBody>
      </p:sp>
      <p:pic>
        <p:nvPicPr>
          <p:cNvPr id="4" name="Picture 2"/>
          <p:cNvPicPr>
            <a:picLocks noChangeAspect="1" noChangeArrowheads="1"/>
          </p:cNvPicPr>
          <p:nvPr/>
        </p:nvPicPr>
        <p:blipFill>
          <a:blip r:embed="rId3" cstate="print"/>
          <a:srcRect/>
          <a:stretch>
            <a:fillRect/>
          </a:stretch>
        </p:blipFill>
        <p:spPr bwMode="auto">
          <a:xfrm>
            <a:off x="1676400" y="2667000"/>
            <a:ext cx="5919430" cy="3568941"/>
          </a:xfrm>
          <a:prstGeom prst="rect">
            <a:avLst/>
          </a:prstGeom>
          <a:noFill/>
          <a:ln w="9525">
            <a:noFill/>
            <a:miter lim="800000"/>
            <a:headEnd/>
            <a:tailEnd/>
          </a:ln>
          <a:effectLst/>
        </p:spPr>
      </p:pic>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838200"/>
            <a:ext cx="8610600" cy="5607689"/>
          </a:xfrm>
          <a:prstGeom prst="rect">
            <a:avLst/>
          </a:prstGeom>
        </p:spPr>
        <p:txBody>
          <a:bodyPr wrap="square">
            <a:spAutoFit/>
          </a:bodyPr>
          <a:lstStyle/>
          <a:p>
            <a:pPr marL="342900" lvl="0" indent="-342900" fontAlgn="base">
              <a:lnSpc>
                <a:spcPct val="80000"/>
              </a:lnSpc>
              <a:spcBef>
                <a:spcPct val="20000"/>
              </a:spcBef>
              <a:spcAft>
                <a:spcPct val="0"/>
              </a:spcAft>
              <a:buFontTx/>
              <a:buChar char="•"/>
            </a:pPr>
            <a:r>
              <a:rPr lang="en-US" sz="2800" b="1" kern="0" dirty="0">
                <a:solidFill>
                  <a:srgbClr val="000000"/>
                </a:solidFill>
                <a:latin typeface="Tahoma" pitchFamily="34" charset="0"/>
                <a:ea typeface="Tahoma" pitchFamily="34" charset="0"/>
                <a:cs typeface="Tahoma" pitchFamily="34" charset="0"/>
              </a:rPr>
              <a:t>Date and Time</a:t>
            </a:r>
          </a:p>
          <a:p>
            <a:pPr marL="742950" lvl="1" indent="-285750" algn="just" fontAlgn="base">
              <a:lnSpc>
                <a:spcPct val="150000"/>
              </a:lnSpc>
              <a:spcBef>
                <a:spcPct val="20000"/>
              </a:spcBef>
              <a:spcAft>
                <a:spcPct val="0"/>
              </a:spcAft>
              <a:buFont typeface="Arial" pitchFamily="34" charset="0"/>
              <a:buChar char="•"/>
            </a:pPr>
            <a:r>
              <a:rPr lang="en-US" sz="2000" kern="0" dirty="0">
                <a:solidFill>
                  <a:srgbClr val="000000"/>
                </a:solidFill>
                <a:latin typeface="Tahoma" pitchFamily="34" charset="0"/>
                <a:ea typeface="Tahoma" pitchFamily="34" charset="0"/>
                <a:cs typeface="Tahoma" pitchFamily="34" charset="0"/>
              </a:rPr>
              <a:t>The </a:t>
            </a:r>
            <a:r>
              <a:rPr lang="en-US" sz="2000" kern="0" dirty="0">
                <a:solidFill>
                  <a:srgbClr val="0070C0"/>
                </a:solidFill>
                <a:latin typeface="Tahoma" pitchFamily="34" charset="0"/>
                <a:ea typeface="Tahoma" pitchFamily="34" charset="0"/>
                <a:cs typeface="Tahoma" pitchFamily="34" charset="0"/>
              </a:rPr>
              <a:t>DATE</a:t>
            </a:r>
            <a:r>
              <a:rPr lang="en-US" sz="2000" kern="0" dirty="0">
                <a:solidFill>
                  <a:srgbClr val="000000"/>
                </a:solidFill>
                <a:latin typeface="Tahoma" pitchFamily="34" charset="0"/>
                <a:ea typeface="Tahoma" pitchFamily="34" charset="0"/>
                <a:cs typeface="Tahoma" pitchFamily="34" charset="0"/>
              </a:rPr>
              <a:t> data type has ten positions </a:t>
            </a:r>
          </a:p>
          <a:p>
            <a:pPr marL="742950" lvl="1" indent="-285750" algn="just" fontAlgn="base">
              <a:lnSpc>
                <a:spcPct val="150000"/>
              </a:lnSpc>
              <a:spcBef>
                <a:spcPct val="20000"/>
              </a:spcBef>
              <a:spcAft>
                <a:spcPct val="0"/>
              </a:spcAft>
            </a:pPr>
            <a:r>
              <a:rPr lang="en-US" sz="2000" kern="0" dirty="0">
                <a:solidFill>
                  <a:srgbClr val="000000"/>
                </a:solidFill>
                <a:latin typeface="Tahoma" pitchFamily="34" charset="0"/>
                <a:ea typeface="Tahoma" pitchFamily="34" charset="0"/>
                <a:cs typeface="Tahoma" pitchFamily="34" charset="0"/>
              </a:rPr>
              <a:t>         Typically  form </a:t>
            </a:r>
            <a:r>
              <a:rPr lang="en-US" sz="2000" b="1" kern="0" dirty="0">
                <a:solidFill>
                  <a:srgbClr val="000000"/>
                </a:solidFill>
                <a:latin typeface="Tahoma" pitchFamily="34" charset="0"/>
                <a:ea typeface="Tahoma" pitchFamily="34" charset="0"/>
                <a:cs typeface="Tahoma" pitchFamily="34" charset="0"/>
              </a:rPr>
              <a:t>YYYY-MM-DD.</a:t>
            </a:r>
          </a:p>
          <a:p>
            <a:pPr marL="742950" lvl="1" indent="-285750" algn="just" fontAlgn="base">
              <a:lnSpc>
                <a:spcPct val="150000"/>
              </a:lnSpc>
              <a:spcBef>
                <a:spcPct val="20000"/>
              </a:spcBef>
              <a:spcAft>
                <a:spcPct val="0"/>
              </a:spcAft>
            </a:pPr>
            <a:endParaRPr lang="en-US" sz="2000" b="1" kern="0" dirty="0">
              <a:solidFill>
                <a:srgbClr val="000000"/>
              </a:solidFill>
              <a:latin typeface="Tahoma" pitchFamily="34" charset="0"/>
              <a:ea typeface="Tahoma" pitchFamily="34" charset="0"/>
              <a:cs typeface="Tahoma" pitchFamily="34" charset="0"/>
            </a:endParaRPr>
          </a:p>
          <a:p>
            <a:pPr marL="742950" lvl="1" indent="-285750" algn="just" fontAlgn="base">
              <a:lnSpc>
                <a:spcPct val="150000"/>
              </a:lnSpc>
              <a:spcBef>
                <a:spcPct val="20000"/>
              </a:spcBef>
              <a:spcAft>
                <a:spcPct val="0"/>
              </a:spcAft>
              <a:buFont typeface="Arial" pitchFamily="34" charset="0"/>
              <a:buChar char="•"/>
            </a:pPr>
            <a:r>
              <a:rPr lang="en-US" sz="2000" dirty="0">
                <a:latin typeface="Tahoma" pitchFamily="34" charset="0"/>
                <a:ea typeface="Tahoma" pitchFamily="34" charset="0"/>
                <a:cs typeface="Tahoma" pitchFamily="34" charset="0"/>
              </a:rPr>
              <a:t>The </a:t>
            </a:r>
            <a:r>
              <a:rPr lang="en-US" sz="2000" dirty="0">
                <a:solidFill>
                  <a:srgbClr val="0070C0"/>
                </a:solidFill>
                <a:latin typeface="Tahoma" pitchFamily="34" charset="0"/>
                <a:ea typeface="Tahoma" pitchFamily="34" charset="0"/>
                <a:cs typeface="Tahoma" pitchFamily="34" charset="0"/>
              </a:rPr>
              <a:t>TIME</a:t>
            </a:r>
            <a:r>
              <a:rPr lang="en-US" sz="2000" dirty="0">
                <a:latin typeface="Tahoma" pitchFamily="34" charset="0"/>
                <a:ea typeface="Tahoma" pitchFamily="34" charset="0"/>
                <a:cs typeface="Tahoma" pitchFamily="34" charset="0"/>
              </a:rPr>
              <a:t> data type has at least eight positions </a:t>
            </a:r>
          </a:p>
          <a:p>
            <a:pPr marL="742950" lvl="1" indent="-285750" algn="just" fontAlgn="base">
              <a:lnSpc>
                <a:spcPct val="150000"/>
              </a:lnSpc>
              <a:spcBef>
                <a:spcPct val="20000"/>
              </a:spcBef>
              <a:spcAft>
                <a:spcPct val="0"/>
              </a:spcAft>
            </a:pPr>
            <a:r>
              <a:rPr lang="en-US" sz="2000" dirty="0">
                <a:latin typeface="Tahoma" pitchFamily="34" charset="0"/>
                <a:ea typeface="Tahoma" pitchFamily="34" charset="0"/>
                <a:cs typeface="Tahoma" pitchFamily="34" charset="0"/>
              </a:rPr>
              <a:t>         Typically form </a:t>
            </a:r>
            <a:r>
              <a:rPr lang="en-US" sz="2000" b="1" dirty="0">
                <a:latin typeface="Tahoma" pitchFamily="34" charset="0"/>
                <a:ea typeface="Tahoma" pitchFamily="34" charset="0"/>
                <a:cs typeface="Tahoma" pitchFamily="34" charset="0"/>
              </a:rPr>
              <a:t>HH:MM:SS.</a:t>
            </a:r>
          </a:p>
          <a:p>
            <a:pPr marL="742950" lvl="1" indent="-285750" algn="just" fontAlgn="base">
              <a:lnSpc>
                <a:spcPct val="150000"/>
              </a:lnSpc>
              <a:spcBef>
                <a:spcPct val="20000"/>
              </a:spcBef>
              <a:spcAft>
                <a:spcPct val="0"/>
              </a:spcAft>
            </a:pPr>
            <a:endParaRPr lang="en-US" sz="2000" b="1" dirty="0">
              <a:latin typeface="Tahoma" pitchFamily="34" charset="0"/>
              <a:ea typeface="Tahoma" pitchFamily="34" charset="0"/>
              <a:cs typeface="Tahoma" pitchFamily="34" charset="0"/>
            </a:endParaRPr>
          </a:p>
          <a:p>
            <a:pPr marL="742950" lvl="1" indent="-285750" algn="just" fontAlgn="base">
              <a:lnSpc>
                <a:spcPct val="150000"/>
              </a:lnSpc>
              <a:spcBef>
                <a:spcPct val="20000"/>
              </a:spcBef>
              <a:spcAft>
                <a:spcPct val="0"/>
              </a:spcAft>
              <a:buFont typeface="Arial" pitchFamily="34" charset="0"/>
              <a:buChar char="•"/>
            </a:pPr>
            <a:r>
              <a:rPr lang="en-US" sz="2000" dirty="0">
                <a:latin typeface="Tahoma" pitchFamily="34" charset="0"/>
                <a:ea typeface="Tahoma" pitchFamily="34" charset="0"/>
                <a:cs typeface="Tahoma" pitchFamily="34" charset="0"/>
              </a:rPr>
              <a:t>Literal values are represented  by  single quoted strings preceded by DATE or TIME</a:t>
            </a:r>
          </a:p>
          <a:p>
            <a:pPr marL="742950" lvl="1" indent="-285750" algn="just" fontAlgn="base">
              <a:lnSpc>
                <a:spcPct val="150000"/>
              </a:lnSpc>
              <a:spcBef>
                <a:spcPct val="20000"/>
              </a:spcBef>
              <a:spcAft>
                <a:spcPct val="0"/>
              </a:spcAft>
            </a:pPr>
            <a:r>
              <a:rPr lang="en-US" sz="2000" dirty="0">
                <a:latin typeface="Tahoma" pitchFamily="34" charset="0"/>
                <a:ea typeface="Tahoma" pitchFamily="34" charset="0"/>
                <a:cs typeface="Tahoma" pitchFamily="34" charset="0"/>
              </a:rPr>
              <a:t>          </a:t>
            </a:r>
            <a:r>
              <a:rPr lang="en-US" sz="2000" b="1" dirty="0">
                <a:solidFill>
                  <a:srgbClr val="0070C0"/>
                </a:solidFill>
                <a:latin typeface="Tahoma" pitchFamily="34" charset="0"/>
                <a:ea typeface="Tahoma" pitchFamily="34" charset="0"/>
                <a:cs typeface="Tahoma" pitchFamily="34" charset="0"/>
              </a:rPr>
              <a:t>DATE</a:t>
            </a:r>
            <a:r>
              <a:rPr lang="en-US" sz="2000" b="1" dirty="0">
                <a:latin typeface="Tahoma" pitchFamily="34" charset="0"/>
                <a:ea typeface="Tahoma" pitchFamily="34" charset="0"/>
                <a:cs typeface="Tahoma" pitchFamily="34" charset="0"/>
              </a:rPr>
              <a:t>’2002-09-27’     </a:t>
            </a:r>
            <a:r>
              <a:rPr lang="en-US" sz="2000" dirty="0">
                <a:latin typeface="Tahoma" pitchFamily="34" charset="0"/>
                <a:ea typeface="Tahoma" pitchFamily="34" charset="0"/>
                <a:cs typeface="Tahoma" pitchFamily="34" charset="0"/>
              </a:rPr>
              <a:t>or  </a:t>
            </a:r>
            <a:r>
              <a:rPr lang="en-US" sz="2000" b="1" dirty="0">
                <a:solidFill>
                  <a:srgbClr val="0070C0"/>
                </a:solidFill>
                <a:latin typeface="Tahoma" pitchFamily="34" charset="0"/>
                <a:ea typeface="Tahoma" pitchFamily="34" charset="0"/>
                <a:cs typeface="Tahoma" pitchFamily="34" charset="0"/>
              </a:rPr>
              <a:t>TIME</a:t>
            </a:r>
            <a:r>
              <a:rPr lang="en-US" sz="2000" b="1" dirty="0">
                <a:latin typeface="Tahoma" pitchFamily="34" charset="0"/>
                <a:ea typeface="Tahoma" pitchFamily="34" charset="0"/>
                <a:cs typeface="Tahoma" pitchFamily="34" charset="0"/>
              </a:rPr>
              <a:t>’09:12:47’</a:t>
            </a:r>
          </a:p>
          <a:p>
            <a:pPr marL="742950" lvl="1" indent="-285750" algn="just" fontAlgn="base">
              <a:lnSpc>
                <a:spcPct val="150000"/>
              </a:lnSpc>
              <a:spcBef>
                <a:spcPct val="20000"/>
              </a:spcBef>
              <a:spcAft>
                <a:spcPct val="0"/>
              </a:spcAft>
              <a:buFont typeface="Arial" pitchFamily="34" charset="0"/>
              <a:buChar char="•"/>
            </a:pPr>
            <a:r>
              <a:rPr lang="en-US" sz="2000" kern="0" dirty="0">
                <a:solidFill>
                  <a:srgbClr val="000000"/>
                </a:solidFill>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The </a:t>
            </a:r>
            <a:r>
              <a:rPr lang="en-US" sz="2000" b="1" dirty="0">
                <a:latin typeface="Tahoma" pitchFamily="34" charset="0"/>
                <a:ea typeface="Tahoma" pitchFamily="34" charset="0"/>
                <a:cs typeface="Tahoma" pitchFamily="34" charset="0"/>
              </a:rPr>
              <a:t>&lt; (less than) </a:t>
            </a:r>
            <a:r>
              <a:rPr lang="en-US" sz="2000" dirty="0">
                <a:latin typeface="Tahoma" pitchFamily="34" charset="0"/>
                <a:ea typeface="Tahoma" pitchFamily="34" charset="0"/>
                <a:cs typeface="Tahoma" pitchFamily="34" charset="0"/>
              </a:rPr>
              <a:t>comparison can be used with dates or times.</a:t>
            </a:r>
          </a:p>
        </p:txBody>
      </p:sp>
      <p:sp>
        <p:nvSpPr>
          <p:cNvPr id="8" name="Rectangle 2"/>
          <p:cNvSpPr>
            <a:spLocks noGrp="1" noChangeArrowheads="1"/>
          </p:cNvSpPr>
          <p:nvPr>
            <p:ph type="title"/>
          </p:nvPr>
        </p:nvSpPr>
        <p:spPr>
          <a:xfrm>
            <a:off x="228600" y="152400"/>
            <a:ext cx="8458200" cy="411162"/>
          </a:xfrm>
          <a:noFill/>
        </p:spPr>
        <p:txBody>
          <a:bodyPr lIns="90488" tIns="44450" rIns="90488" bIns="44450"/>
          <a:lstStyle/>
          <a:p>
            <a:pPr algn="l" eaLnBrk="1" hangingPunct="1"/>
            <a:r>
              <a:rPr lang="en-US" sz="2800" b="1" dirty="0">
                <a:latin typeface="Tahoma" pitchFamily="34" charset="0"/>
                <a:ea typeface="Tahoma" pitchFamily="34" charset="0"/>
                <a:cs typeface="Tahoma" pitchFamily="34" charset="0"/>
              </a:rPr>
              <a:t>SQL  DATA Types</a:t>
            </a:r>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838200"/>
            <a:ext cx="8610600" cy="3404009"/>
          </a:xfrm>
          <a:prstGeom prst="rect">
            <a:avLst/>
          </a:prstGeom>
        </p:spPr>
        <p:txBody>
          <a:bodyPr wrap="square">
            <a:spAutoFit/>
          </a:bodyPr>
          <a:lstStyle/>
          <a:p>
            <a:pPr marL="342900" lvl="0" indent="-342900" fontAlgn="base">
              <a:lnSpc>
                <a:spcPct val="80000"/>
              </a:lnSpc>
              <a:spcBef>
                <a:spcPct val="20000"/>
              </a:spcBef>
              <a:spcAft>
                <a:spcPct val="0"/>
              </a:spcAft>
              <a:buFontTx/>
              <a:buChar char="•"/>
            </a:pPr>
            <a:r>
              <a:rPr lang="en-US" sz="2400" b="1" kern="0" dirty="0">
                <a:solidFill>
                  <a:srgbClr val="000000"/>
                </a:solidFill>
                <a:latin typeface="Tahoma" pitchFamily="34" charset="0"/>
                <a:ea typeface="Tahoma" pitchFamily="34" charset="0"/>
                <a:cs typeface="Tahoma" pitchFamily="34" charset="0"/>
              </a:rPr>
              <a:t>Date and Time</a:t>
            </a:r>
          </a:p>
          <a:p>
            <a:pPr marL="800100" lvl="1" indent="-342900" algn="just">
              <a:buFont typeface="Arial" pitchFamily="34" charset="0"/>
              <a:buChar char="•"/>
            </a:pPr>
            <a:r>
              <a:rPr lang="en-US" sz="2800" dirty="0"/>
              <a:t>In addition, a data type </a:t>
            </a:r>
            <a:r>
              <a:rPr lang="en-US" sz="2800" b="1" dirty="0">
                <a:solidFill>
                  <a:schemeClr val="accent2">
                    <a:lumMod val="60000"/>
                    <a:lumOff val="40000"/>
                  </a:schemeClr>
                </a:solidFill>
              </a:rPr>
              <a:t>TIME(i)</a:t>
            </a:r>
            <a:r>
              <a:rPr lang="en-US" sz="2800" dirty="0"/>
              <a:t>, where i is called </a:t>
            </a:r>
            <a:r>
              <a:rPr lang="en-US" sz="2800" i="1" dirty="0"/>
              <a:t>time fractional seconds precision, specifies i + 1 additional </a:t>
            </a:r>
            <a:r>
              <a:rPr lang="en-US" sz="2800" dirty="0"/>
              <a:t>positions for TIME-one position for an additional separator character, and i positions for specifying decimal fractions of a second.</a:t>
            </a:r>
          </a:p>
          <a:p>
            <a:pPr marL="800100" lvl="1" indent="-342900" algn="just"/>
            <a:endParaRPr lang="en-US" sz="2800" b="1" dirty="0">
              <a:latin typeface="Tahoma" pitchFamily="34" charset="0"/>
              <a:ea typeface="Tahoma" pitchFamily="34" charset="0"/>
              <a:cs typeface="Tahoma" pitchFamily="34" charset="0"/>
            </a:endParaRPr>
          </a:p>
          <a:p>
            <a:pPr lvl="1" algn="just"/>
            <a:r>
              <a:rPr lang="en-US" sz="2800" b="1" dirty="0">
                <a:latin typeface="Tahoma" pitchFamily="34" charset="0"/>
                <a:ea typeface="Tahoma" pitchFamily="34" charset="0"/>
                <a:cs typeface="Tahoma" pitchFamily="34" charset="0"/>
              </a:rPr>
              <a:t> For example Time(6) :       </a:t>
            </a:r>
            <a:r>
              <a:rPr lang="en-US" sz="2800" b="1" dirty="0">
                <a:solidFill>
                  <a:srgbClr val="FF0000"/>
                </a:solidFill>
              </a:rPr>
              <a:t>09:12:47 648302</a:t>
            </a:r>
          </a:p>
        </p:txBody>
      </p:sp>
      <p:sp>
        <p:nvSpPr>
          <p:cNvPr id="8" name="Rectangle 2"/>
          <p:cNvSpPr>
            <a:spLocks noGrp="1" noChangeArrowheads="1"/>
          </p:cNvSpPr>
          <p:nvPr>
            <p:ph type="title"/>
          </p:nvPr>
        </p:nvSpPr>
        <p:spPr>
          <a:xfrm>
            <a:off x="228600" y="152400"/>
            <a:ext cx="8458200" cy="411162"/>
          </a:xfrm>
          <a:noFill/>
        </p:spPr>
        <p:txBody>
          <a:bodyPr lIns="90488" tIns="44450" rIns="90488" bIns="44450"/>
          <a:lstStyle/>
          <a:p>
            <a:pPr algn="l" eaLnBrk="1" hangingPunct="1"/>
            <a:r>
              <a:rPr lang="en-US" sz="2800" b="1" dirty="0">
                <a:latin typeface="Tahoma" pitchFamily="34" charset="0"/>
                <a:ea typeface="Tahoma" pitchFamily="34" charset="0"/>
                <a:cs typeface="Tahoma" pitchFamily="34" charset="0"/>
              </a:rPr>
              <a:t>SQL  DATA Types</a:t>
            </a:r>
          </a:p>
        </p:txBody>
      </p:sp>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1295400"/>
            <a:ext cx="8610600" cy="4241161"/>
          </a:xfrm>
          <a:prstGeom prst="rect">
            <a:avLst/>
          </a:prstGeom>
        </p:spPr>
        <p:txBody>
          <a:bodyPr wrap="square">
            <a:spAutoFit/>
          </a:bodyPr>
          <a:lstStyle/>
          <a:p>
            <a:pPr marL="342900" indent="-342900" fontAlgn="base">
              <a:lnSpc>
                <a:spcPct val="80000"/>
              </a:lnSpc>
              <a:spcBef>
                <a:spcPct val="20000"/>
              </a:spcBef>
              <a:spcAft>
                <a:spcPct val="0"/>
              </a:spcAft>
              <a:buFontTx/>
              <a:buChar char="•"/>
            </a:pPr>
            <a:r>
              <a:rPr lang="en-US" sz="2400" b="1" kern="0" dirty="0">
                <a:solidFill>
                  <a:srgbClr val="000000"/>
                </a:solidFill>
              </a:rPr>
              <a:t>Timestamp </a:t>
            </a:r>
          </a:p>
          <a:p>
            <a:pPr marL="800100" lvl="1" indent="-342900" fontAlgn="base">
              <a:lnSpc>
                <a:spcPct val="150000"/>
              </a:lnSpc>
              <a:spcBef>
                <a:spcPct val="20000"/>
              </a:spcBef>
              <a:spcAft>
                <a:spcPct val="0"/>
              </a:spcAft>
              <a:buFont typeface="Arial" pitchFamily="34" charset="0"/>
              <a:buChar char="•"/>
            </a:pPr>
            <a:r>
              <a:rPr lang="en-US" sz="2000" kern="0" dirty="0">
                <a:solidFill>
                  <a:srgbClr val="000000"/>
                </a:solidFill>
                <a:latin typeface="Tahoma" pitchFamily="34" charset="0"/>
                <a:ea typeface="Tahoma" pitchFamily="34" charset="0"/>
                <a:cs typeface="Tahoma" pitchFamily="34" charset="0"/>
              </a:rPr>
              <a:t>A timestamp</a:t>
            </a:r>
            <a:r>
              <a:rPr lang="en-US" sz="2000" b="1" kern="0" dirty="0">
                <a:solidFill>
                  <a:srgbClr val="000000"/>
                </a:solidFill>
                <a:latin typeface="Tahoma" pitchFamily="34" charset="0"/>
                <a:ea typeface="Tahoma" pitchFamily="34" charset="0"/>
                <a:cs typeface="Tahoma" pitchFamily="34" charset="0"/>
              </a:rPr>
              <a:t> </a:t>
            </a:r>
            <a:r>
              <a:rPr lang="en-US" sz="2000" kern="0" dirty="0">
                <a:solidFill>
                  <a:srgbClr val="000000"/>
                </a:solidFill>
                <a:latin typeface="Tahoma" pitchFamily="34" charset="0"/>
                <a:ea typeface="Tahoma" pitchFamily="34" charset="0"/>
                <a:cs typeface="Tahoma" pitchFamily="34" charset="0"/>
              </a:rPr>
              <a:t>data type (</a:t>
            </a:r>
            <a:r>
              <a:rPr lang="en-US" sz="2000" kern="0" dirty="0">
                <a:solidFill>
                  <a:srgbClr val="0070C0"/>
                </a:solidFill>
                <a:latin typeface="Tahoma" pitchFamily="34" charset="0"/>
                <a:ea typeface="Tahoma" pitchFamily="34" charset="0"/>
                <a:cs typeface="Tahoma" pitchFamily="34" charset="0"/>
              </a:rPr>
              <a:t>TIMESTAMP</a:t>
            </a:r>
            <a:r>
              <a:rPr lang="en-US" sz="2000" kern="0" dirty="0">
                <a:solidFill>
                  <a:srgbClr val="000000"/>
                </a:solidFill>
                <a:latin typeface="Tahoma" pitchFamily="34" charset="0"/>
                <a:ea typeface="Tahoma" pitchFamily="34" charset="0"/>
                <a:cs typeface="Tahoma" pitchFamily="34" charset="0"/>
              </a:rPr>
              <a:t>)  includes both the DATE and TIME fields, plus a maximum number of six positions for decimal fractions of seconds and an optional WITH TIME ZONE qualifier </a:t>
            </a:r>
          </a:p>
          <a:p>
            <a:pPr marL="800100" lvl="1" indent="-342900" fontAlgn="base">
              <a:lnSpc>
                <a:spcPct val="150000"/>
              </a:lnSpc>
              <a:spcBef>
                <a:spcPct val="20000"/>
              </a:spcBef>
              <a:spcAft>
                <a:spcPct val="0"/>
              </a:spcAft>
              <a:buFont typeface="Arial" pitchFamily="34" charset="0"/>
              <a:buChar char="•"/>
            </a:pPr>
            <a:r>
              <a:rPr lang="en-US" sz="2400" kern="0" dirty="0">
                <a:solidFill>
                  <a:srgbClr val="000000"/>
                </a:solidFill>
              </a:rPr>
              <a:t>Literal values are specified as follows:</a:t>
            </a:r>
          </a:p>
          <a:p>
            <a:pPr marL="800100" lvl="1" indent="-342900" fontAlgn="base">
              <a:lnSpc>
                <a:spcPct val="150000"/>
              </a:lnSpc>
              <a:spcBef>
                <a:spcPct val="20000"/>
              </a:spcBef>
              <a:spcAft>
                <a:spcPct val="0"/>
              </a:spcAft>
            </a:pPr>
            <a:r>
              <a:rPr lang="en-US" sz="2400" kern="0" dirty="0">
                <a:solidFill>
                  <a:srgbClr val="000000"/>
                </a:solidFill>
              </a:rPr>
              <a:t>         </a:t>
            </a:r>
            <a:r>
              <a:rPr lang="en-US" sz="2400" kern="0" dirty="0">
                <a:solidFill>
                  <a:srgbClr val="0070C0"/>
                </a:solidFill>
              </a:rPr>
              <a:t>TIMESTAMP</a:t>
            </a:r>
            <a:r>
              <a:rPr lang="en-US" sz="2400" kern="0" dirty="0"/>
              <a:t>’2002-09-27 09:12:47 648302’</a:t>
            </a:r>
          </a:p>
          <a:p>
            <a:pPr marL="800100" lvl="1" indent="-342900" fontAlgn="base">
              <a:lnSpc>
                <a:spcPct val="150000"/>
              </a:lnSpc>
              <a:spcBef>
                <a:spcPct val="20000"/>
              </a:spcBef>
              <a:spcAft>
                <a:spcPct val="0"/>
              </a:spcAft>
            </a:pPr>
            <a:r>
              <a:rPr lang="en-US" sz="2400" kern="0" dirty="0"/>
              <a:t>    (Minimum one space between date and time )</a:t>
            </a:r>
          </a:p>
          <a:p>
            <a:pPr marL="742950" lvl="1" indent="-285750" algn="just" fontAlgn="base">
              <a:lnSpc>
                <a:spcPct val="150000"/>
              </a:lnSpc>
              <a:spcBef>
                <a:spcPct val="20000"/>
              </a:spcBef>
              <a:spcAft>
                <a:spcPct val="0"/>
              </a:spcAft>
            </a:pPr>
            <a:r>
              <a:rPr lang="en-US" sz="2000" kern="0" dirty="0">
                <a:solidFill>
                  <a:srgbClr val="000000"/>
                </a:solidFill>
                <a:latin typeface="Tahoma" pitchFamily="34" charset="0"/>
                <a:ea typeface="Tahoma" pitchFamily="34" charset="0"/>
                <a:cs typeface="Tahoma" pitchFamily="34" charset="0"/>
              </a:rPr>
              <a:t>          </a:t>
            </a:r>
          </a:p>
        </p:txBody>
      </p:sp>
      <p:sp>
        <p:nvSpPr>
          <p:cNvPr id="7" name="Rectangle 2"/>
          <p:cNvSpPr txBox="1">
            <a:spLocks noChangeArrowheads="1"/>
          </p:cNvSpPr>
          <p:nvPr/>
        </p:nvSpPr>
        <p:spPr bwMode="auto">
          <a:xfrm>
            <a:off x="152400" y="304800"/>
            <a:ext cx="8458200" cy="411162"/>
          </a:xfrm>
          <a:prstGeom prst="rect">
            <a:avLst/>
          </a:prstGeom>
          <a:noFill/>
          <a:ln w="9525">
            <a:noFill/>
            <a:miter lim="800000"/>
            <a:headEnd/>
            <a:tailEnd/>
          </a:ln>
          <a:effectLst/>
        </p:spPr>
        <p:txBody>
          <a:bodyPr vert="horz" wrap="square" lIns="90488" tIns="44450" rIns="90488" bIns="4445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0" cap="none" spc="0" normalizeH="0" baseline="0" noProof="0" dirty="0">
                <a:ln>
                  <a:noFill/>
                </a:ln>
                <a:solidFill>
                  <a:schemeClr val="tx2"/>
                </a:solidFill>
                <a:effectLst/>
                <a:uLnTx/>
                <a:uFillTx/>
                <a:latin typeface="Tahoma" pitchFamily="34" charset="0"/>
                <a:ea typeface="Tahoma" pitchFamily="34" charset="0"/>
                <a:cs typeface="Tahoma" pitchFamily="34" charset="0"/>
              </a:rPr>
              <a:t>SQL  DATA Types</a:t>
            </a:r>
          </a:p>
        </p:txBody>
      </p:sp>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1295401"/>
            <a:ext cx="8610600" cy="4007251"/>
          </a:xfrm>
          <a:prstGeom prst="rect">
            <a:avLst/>
          </a:prstGeom>
        </p:spPr>
        <p:txBody>
          <a:bodyPr wrap="square">
            <a:spAutoFit/>
          </a:bodyPr>
          <a:lstStyle/>
          <a:p>
            <a:pPr algn="just">
              <a:lnSpc>
                <a:spcPct val="80000"/>
              </a:lnSpc>
              <a:buFont typeface="Arial" pitchFamily="34" charset="0"/>
              <a:buChar char="•"/>
            </a:pPr>
            <a:r>
              <a:rPr lang="en-US" sz="2400" dirty="0"/>
              <a:t> I</a:t>
            </a:r>
            <a:r>
              <a:rPr lang="en-US" sz="2400" b="1" dirty="0"/>
              <a:t>nterval</a:t>
            </a:r>
          </a:p>
          <a:p>
            <a:pPr algn="just">
              <a:lnSpc>
                <a:spcPct val="80000"/>
              </a:lnSpc>
              <a:buFont typeface="Arial" pitchFamily="34" charset="0"/>
              <a:buChar char="•"/>
            </a:pPr>
            <a:endParaRPr lang="en-US" sz="2400" dirty="0"/>
          </a:p>
          <a:p>
            <a:pPr marL="914400" lvl="1" indent="-457200" algn="just">
              <a:lnSpc>
                <a:spcPct val="150000"/>
              </a:lnSpc>
              <a:buFont typeface="Arial" pitchFamily="34" charset="0"/>
              <a:buChar char="•"/>
            </a:pPr>
            <a:r>
              <a:rPr lang="en-US" sz="2400" dirty="0">
                <a:solidFill>
                  <a:srgbClr val="0070C0"/>
                </a:solidFill>
              </a:rPr>
              <a:t>INTERVAL </a:t>
            </a:r>
            <a:r>
              <a:rPr lang="en-US" sz="2400" dirty="0"/>
              <a:t>data type specifies an </a:t>
            </a:r>
            <a:r>
              <a:rPr lang="en-US" sz="2400" b="1" dirty="0"/>
              <a:t>interval</a:t>
            </a:r>
            <a:r>
              <a:rPr lang="en-US" sz="2400" dirty="0"/>
              <a:t>—a </a:t>
            </a:r>
            <a:r>
              <a:rPr lang="en-US" sz="2400" i="1" dirty="0"/>
              <a:t>relative value </a:t>
            </a:r>
            <a:r>
              <a:rPr lang="en-US" sz="2400" dirty="0"/>
              <a:t>that can be used to increment or decrement an absolute value of a date, time, or timestamp. </a:t>
            </a:r>
          </a:p>
          <a:p>
            <a:pPr marL="914400" lvl="1" indent="-457200" algn="just">
              <a:lnSpc>
                <a:spcPct val="150000"/>
              </a:lnSpc>
              <a:buFont typeface="Arial" pitchFamily="34" charset="0"/>
              <a:buChar char="•"/>
            </a:pPr>
            <a:endParaRPr lang="en-US" sz="2400" dirty="0"/>
          </a:p>
          <a:p>
            <a:pPr marL="914400" lvl="1" indent="-457200" algn="just">
              <a:lnSpc>
                <a:spcPct val="150000"/>
              </a:lnSpc>
              <a:buFont typeface="Arial" pitchFamily="34" charset="0"/>
              <a:buChar char="•"/>
            </a:pPr>
            <a:r>
              <a:rPr lang="en-US" sz="2400" dirty="0"/>
              <a:t>Intervals are qualified to be either YEAR/MONTH intervals or DAY/TIME intervals.</a:t>
            </a:r>
            <a:endParaRPr lang="en-US" sz="2400" b="1" dirty="0"/>
          </a:p>
        </p:txBody>
      </p:sp>
      <p:sp>
        <p:nvSpPr>
          <p:cNvPr id="8" name="Rectangle 2"/>
          <p:cNvSpPr txBox="1">
            <a:spLocks noChangeArrowheads="1"/>
          </p:cNvSpPr>
          <p:nvPr/>
        </p:nvSpPr>
        <p:spPr bwMode="auto">
          <a:xfrm>
            <a:off x="152400" y="304800"/>
            <a:ext cx="8458200" cy="411162"/>
          </a:xfrm>
          <a:prstGeom prst="rect">
            <a:avLst/>
          </a:prstGeom>
          <a:noFill/>
          <a:ln w="9525">
            <a:noFill/>
            <a:miter lim="800000"/>
            <a:headEnd/>
            <a:tailEnd/>
          </a:ln>
          <a:effectLst/>
        </p:spPr>
        <p:txBody>
          <a:bodyPr vert="horz" wrap="square" lIns="90488" tIns="44450" rIns="90488" bIns="4445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0" cap="none" spc="0" normalizeH="0" baseline="0" noProof="0" dirty="0">
                <a:ln>
                  <a:noFill/>
                </a:ln>
                <a:solidFill>
                  <a:schemeClr val="tx2"/>
                </a:solidFill>
                <a:effectLst/>
                <a:uLnTx/>
                <a:uFillTx/>
                <a:latin typeface="Tahoma" pitchFamily="34" charset="0"/>
                <a:ea typeface="Tahoma" pitchFamily="34" charset="0"/>
                <a:cs typeface="Tahoma" pitchFamily="34" charset="0"/>
              </a:rPr>
              <a:t>SQL  DATA Types</a:t>
            </a:r>
          </a:p>
        </p:txBody>
      </p:sp>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09600" y="1905000"/>
            <a:ext cx="7924800" cy="3657600"/>
          </a:xfrm>
          <a:noFill/>
        </p:spPr>
        <p:txBody>
          <a:bodyPr lIns="90488" tIns="44450" rIns="90488" bIns="44450"/>
          <a:lstStyle/>
          <a:p>
            <a:pPr eaLnBrk="1" hangingPunct="1"/>
            <a:r>
              <a:rPr lang="en-US" sz="5400" b="1" dirty="0"/>
              <a:t>Specifying Basic Constraints in SQL-99</a:t>
            </a:r>
            <a:endParaRPr lang="en-US" sz="5400" b="1"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81000" y="304800"/>
            <a:ext cx="8382000" cy="457200"/>
          </a:xfrm>
          <a:noFill/>
        </p:spPr>
        <p:txBody>
          <a:bodyPr lIns="90488" tIns="44450" rIns="90488" bIns="44450"/>
          <a:lstStyle/>
          <a:p>
            <a:pPr algn="just">
              <a:lnSpc>
                <a:spcPct val="90000"/>
              </a:lnSpc>
              <a:spcBef>
                <a:spcPts val="500"/>
              </a:spcBef>
              <a:spcAft>
                <a:spcPts val="500"/>
              </a:spcAft>
              <a:buNone/>
            </a:pPr>
            <a:r>
              <a:rPr lang="en-US" sz="2400" b="1" dirty="0">
                <a:solidFill>
                  <a:srgbClr val="002060"/>
                </a:solidFill>
                <a:latin typeface="Tahoma" pitchFamily="34" charset="0"/>
                <a:ea typeface="Tahoma" pitchFamily="34" charset="0"/>
                <a:cs typeface="Tahoma" pitchFamily="34" charset="0"/>
              </a:rPr>
              <a:t>Specifying Not Null, DEFAULT and CHECK constraints </a:t>
            </a:r>
          </a:p>
          <a:p>
            <a:pPr lvl="1" algn="just">
              <a:lnSpc>
                <a:spcPct val="90000"/>
              </a:lnSpc>
              <a:spcBef>
                <a:spcPts val="500"/>
              </a:spcBef>
              <a:spcAft>
                <a:spcPts val="500"/>
              </a:spcAft>
            </a:pPr>
            <a:endParaRPr lang="en-US" sz="700" b="1" dirty="0">
              <a:latin typeface="Tahoma" pitchFamily="34" charset="0"/>
              <a:ea typeface="Tahoma" pitchFamily="34" charset="0"/>
              <a:cs typeface="Tahoma" pitchFamily="34" charset="0"/>
            </a:endParaRPr>
          </a:p>
        </p:txBody>
      </p:sp>
      <p:sp>
        <p:nvSpPr>
          <p:cNvPr id="6" name="Rectangle 5"/>
          <p:cNvSpPr/>
          <p:nvPr/>
        </p:nvSpPr>
        <p:spPr>
          <a:xfrm>
            <a:off x="152400" y="1371600"/>
            <a:ext cx="8610600" cy="3899529"/>
          </a:xfrm>
          <a:prstGeom prst="rect">
            <a:avLst/>
          </a:prstGeom>
        </p:spPr>
        <p:txBody>
          <a:bodyPr wrap="square">
            <a:spAutoFit/>
          </a:bodyPr>
          <a:lstStyle/>
          <a:p>
            <a:pPr marL="457200" indent="-457200" algn="just" fontAlgn="base">
              <a:lnSpc>
                <a:spcPct val="150000"/>
              </a:lnSpc>
              <a:spcBef>
                <a:spcPct val="20000"/>
              </a:spcBef>
              <a:spcAft>
                <a:spcPct val="0"/>
              </a:spcAft>
              <a:buFont typeface="+mj-lt"/>
              <a:buAutoNum type="arabicPeriod"/>
            </a:pPr>
            <a:r>
              <a:rPr lang="en-US" sz="2000" b="1" kern="0" dirty="0">
                <a:solidFill>
                  <a:srgbClr val="000000"/>
                </a:solidFill>
                <a:latin typeface="Tahoma" pitchFamily="34" charset="0"/>
                <a:ea typeface="Tahoma" pitchFamily="34" charset="0"/>
                <a:cs typeface="Tahoma" pitchFamily="34" charset="0"/>
              </a:rPr>
              <a:t> </a:t>
            </a:r>
            <a:r>
              <a:rPr lang="en-US" sz="2000" b="1" kern="0" dirty="0">
                <a:solidFill>
                  <a:srgbClr val="002060"/>
                </a:solidFill>
                <a:latin typeface="Tahoma" pitchFamily="34" charset="0"/>
                <a:ea typeface="Tahoma" pitchFamily="34" charset="0"/>
                <a:cs typeface="Tahoma" pitchFamily="34" charset="0"/>
              </a:rPr>
              <a:t>Not Null constraints  :</a:t>
            </a:r>
          </a:p>
          <a:p>
            <a:pPr marL="1200150" lvl="2" indent="-285750" algn="just" fontAlgn="base">
              <a:lnSpc>
                <a:spcPct val="150000"/>
              </a:lnSpc>
              <a:spcBef>
                <a:spcPct val="20000"/>
              </a:spcBef>
              <a:spcAft>
                <a:spcPct val="0"/>
              </a:spcAft>
              <a:buFont typeface="Arial" pitchFamily="34" charset="0"/>
              <a:buChar char="•"/>
            </a:pPr>
            <a:r>
              <a:rPr lang="en-US" sz="2000" kern="0" dirty="0">
                <a:solidFill>
                  <a:srgbClr val="000000"/>
                </a:solidFill>
              </a:rPr>
              <a:t>This should always be specified for the primary key attributes of each relation, </a:t>
            </a:r>
          </a:p>
          <a:p>
            <a:pPr marL="1200150" lvl="2" indent="-285750" algn="just" fontAlgn="base">
              <a:lnSpc>
                <a:spcPct val="150000"/>
              </a:lnSpc>
              <a:spcBef>
                <a:spcPct val="20000"/>
              </a:spcBef>
              <a:spcAft>
                <a:spcPct val="0"/>
              </a:spcAft>
              <a:buFont typeface="Arial" pitchFamily="34" charset="0"/>
              <a:buChar char="•"/>
            </a:pPr>
            <a:r>
              <a:rPr lang="en-US" sz="2000" kern="0" dirty="0">
                <a:solidFill>
                  <a:srgbClr val="000000"/>
                </a:solidFill>
              </a:rPr>
              <a:t>Also for  any other attributes whose values are required not to be NULL.</a:t>
            </a:r>
          </a:p>
          <a:p>
            <a:pPr marL="1200150" lvl="2" indent="-285750" algn="just" fontAlgn="base">
              <a:lnSpc>
                <a:spcPct val="150000"/>
              </a:lnSpc>
              <a:spcBef>
                <a:spcPct val="20000"/>
              </a:spcBef>
              <a:spcAft>
                <a:spcPct val="0"/>
              </a:spcAft>
            </a:pPr>
            <a:endParaRPr lang="en-US" kern="0" dirty="0">
              <a:solidFill>
                <a:srgbClr val="000000"/>
              </a:solidFill>
            </a:endParaRPr>
          </a:p>
          <a:p>
            <a:pPr marL="742950" lvl="1" indent="-285750" algn="just" fontAlgn="base">
              <a:lnSpc>
                <a:spcPct val="150000"/>
              </a:lnSpc>
              <a:spcBef>
                <a:spcPct val="20000"/>
              </a:spcBef>
              <a:spcAft>
                <a:spcPct val="0"/>
              </a:spcAft>
            </a:pPr>
            <a:r>
              <a:rPr lang="en-US" sz="1600" b="1" kern="0" dirty="0">
                <a:solidFill>
                  <a:srgbClr val="000000"/>
                </a:solidFill>
              </a:rPr>
              <a:t>              </a:t>
            </a:r>
            <a:r>
              <a:rPr lang="en-US" sz="2400" b="1" kern="0" dirty="0">
                <a:solidFill>
                  <a:srgbClr val="000000"/>
                </a:solidFill>
              </a:rPr>
              <a:t>Example : DNAME </a:t>
            </a:r>
            <a:r>
              <a:rPr lang="en-US" sz="2400" b="1" kern="0" dirty="0">
                <a:solidFill>
                  <a:srgbClr val="0070C0"/>
                </a:solidFill>
              </a:rPr>
              <a:t>VARCHAR</a:t>
            </a:r>
            <a:r>
              <a:rPr lang="en-US" sz="2400" b="1" kern="0" dirty="0">
                <a:solidFill>
                  <a:srgbClr val="000000"/>
                </a:solidFill>
              </a:rPr>
              <a:t>(20)  </a:t>
            </a:r>
            <a:r>
              <a:rPr lang="en-US" sz="2400" b="1" kern="0" dirty="0">
                <a:solidFill>
                  <a:srgbClr val="0070C0"/>
                </a:solidFill>
              </a:rPr>
              <a:t>NOT NULL</a:t>
            </a:r>
            <a:endParaRPr lang="en-US" sz="2400" kern="0" dirty="0">
              <a:solidFill>
                <a:srgbClr val="0070C0"/>
              </a:solidFill>
            </a:endParaRPr>
          </a:p>
          <a:p>
            <a:pPr marL="285750" indent="-285750" algn="just" fontAlgn="base">
              <a:lnSpc>
                <a:spcPct val="80000"/>
              </a:lnSpc>
              <a:spcBef>
                <a:spcPct val="20000"/>
              </a:spcBef>
              <a:spcAft>
                <a:spcPct val="0"/>
              </a:spcAft>
              <a:buFont typeface="Arial" pitchFamily="34" charset="0"/>
              <a:buChar char="•"/>
            </a:pPr>
            <a:endParaRPr lang="en-US" b="1" kern="0" dirty="0">
              <a:solidFill>
                <a:srgbClr val="000000"/>
              </a:solidFill>
            </a:endParaRPr>
          </a:p>
        </p:txBody>
      </p:sp>
    </p:spTree>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81000" y="304800"/>
            <a:ext cx="8382000" cy="457200"/>
          </a:xfrm>
          <a:noFill/>
        </p:spPr>
        <p:txBody>
          <a:bodyPr lIns="90488" tIns="44450" rIns="90488" bIns="44450"/>
          <a:lstStyle/>
          <a:p>
            <a:pPr algn="just">
              <a:lnSpc>
                <a:spcPct val="90000"/>
              </a:lnSpc>
              <a:spcBef>
                <a:spcPts val="500"/>
              </a:spcBef>
              <a:spcAft>
                <a:spcPts val="500"/>
              </a:spcAft>
              <a:buNone/>
            </a:pPr>
            <a:r>
              <a:rPr lang="en-US" sz="2400" b="1" dirty="0">
                <a:solidFill>
                  <a:srgbClr val="002060"/>
                </a:solidFill>
                <a:latin typeface="Tahoma" pitchFamily="34" charset="0"/>
                <a:ea typeface="Tahoma" pitchFamily="34" charset="0"/>
                <a:cs typeface="Tahoma" pitchFamily="34" charset="0"/>
              </a:rPr>
              <a:t>Specifying Not Null, DEFAULT and CHECK constraints </a:t>
            </a:r>
          </a:p>
          <a:p>
            <a:pPr lvl="1" algn="just">
              <a:lnSpc>
                <a:spcPct val="90000"/>
              </a:lnSpc>
              <a:spcBef>
                <a:spcPts val="500"/>
              </a:spcBef>
              <a:spcAft>
                <a:spcPts val="500"/>
              </a:spcAft>
            </a:pPr>
            <a:endParaRPr lang="en-US" sz="700" b="1" dirty="0">
              <a:latin typeface="Tahoma" pitchFamily="34" charset="0"/>
              <a:ea typeface="Tahoma" pitchFamily="34" charset="0"/>
              <a:cs typeface="Tahoma" pitchFamily="34" charset="0"/>
            </a:endParaRPr>
          </a:p>
        </p:txBody>
      </p:sp>
      <p:sp>
        <p:nvSpPr>
          <p:cNvPr id="6" name="Rectangle 5"/>
          <p:cNvSpPr/>
          <p:nvPr/>
        </p:nvSpPr>
        <p:spPr>
          <a:xfrm>
            <a:off x="304800" y="990600"/>
            <a:ext cx="8610600" cy="4733604"/>
          </a:xfrm>
          <a:prstGeom prst="rect">
            <a:avLst/>
          </a:prstGeom>
        </p:spPr>
        <p:txBody>
          <a:bodyPr wrap="square">
            <a:spAutoFit/>
          </a:bodyPr>
          <a:lstStyle/>
          <a:p>
            <a:pPr marL="285750" indent="-285750" algn="just" fontAlgn="base">
              <a:lnSpc>
                <a:spcPct val="80000"/>
              </a:lnSpc>
              <a:spcBef>
                <a:spcPct val="20000"/>
              </a:spcBef>
              <a:spcAft>
                <a:spcPct val="0"/>
              </a:spcAft>
              <a:buFont typeface="Arial" pitchFamily="34" charset="0"/>
              <a:buChar char="•"/>
            </a:pPr>
            <a:endParaRPr lang="en-US" kern="0" dirty="0">
              <a:solidFill>
                <a:srgbClr val="0070C0"/>
              </a:solidFill>
            </a:endParaRPr>
          </a:p>
          <a:p>
            <a:pPr marL="342900" indent="-342900" algn="just" fontAlgn="base">
              <a:lnSpc>
                <a:spcPct val="150000"/>
              </a:lnSpc>
              <a:spcBef>
                <a:spcPct val="20000"/>
              </a:spcBef>
              <a:spcAft>
                <a:spcPct val="0"/>
              </a:spcAft>
              <a:buFont typeface="+mj-lt"/>
              <a:buAutoNum type="arabicPeriod" startAt="2"/>
            </a:pPr>
            <a:r>
              <a:rPr lang="en-US" sz="2000" b="1" kern="0" dirty="0">
                <a:solidFill>
                  <a:srgbClr val="000000"/>
                </a:solidFill>
                <a:latin typeface="Tahoma" pitchFamily="34" charset="0"/>
                <a:ea typeface="Tahoma" pitchFamily="34" charset="0"/>
                <a:cs typeface="Tahoma" pitchFamily="34" charset="0"/>
              </a:rPr>
              <a:t>DEFAULT Constraint: </a:t>
            </a:r>
          </a:p>
          <a:p>
            <a:pPr marL="800100" lvl="1" indent="-342900" algn="just" fontAlgn="base">
              <a:lnSpc>
                <a:spcPct val="150000"/>
              </a:lnSpc>
              <a:spcBef>
                <a:spcPct val="20000"/>
              </a:spcBef>
              <a:spcAft>
                <a:spcPct val="0"/>
              </a:spcAft>
              <a:buFont typeface="Arial" pitchFamily="34" charset="0"/>
              <a:buChar char="•"/>
            </a:pPr>
            <a:r>
              <a:rPr lang="en-US" sz="2000" kern="0" dirty="0">
                <a:solidFill>
                  <a:srgbClr val="000000"/>
                </a:solidFill>
              </a:rPr>
              <a:t>To define a default value for an attribute</a:t>
            </a:r>
          </a:p>
          <a:p>
            <a:pPr marL="742950" lvl="1" indent="-285750" algn="just" fontAlgn="base">
              <a:lnSpc>
                <a:spcPct val="80000"/>
              </a:lnSpc>
              <a:spcBef>
                <a:spcPct val="20000"/>
              </a:spcBef>
              <a:spcAft>
                <a:spcPct val="0"/>
              </a:spcAft>
            </a:pPr>
            <a:r>
              <a:rPr lang="en-US" kern="0" dirty="0">
                <a:solidFill>
                  <a:srgbClr val="000000"/>
                </a:solidFill>
              </a:rPr>
              <a:t>             </a:t>
            </a:r>
          </a:p>
          <a:p>
            <a:pPr marL="742950" lvl="1" indent="-285750" algn="just" fontAlgn="base">
              <a:lnSpc>
                <a:spcPct val="80000"/>
              </a:lnSpc>
              <a:spcBef>
                <a:spcPct val="20000"/>
              </a:spcBef>
              <a:spcAft>
                <a:spcPct val="0"/>
              </a:spcAft>
            </a:pPr>
            <a:r>
              <a:rPr lang="en-US" kern="0" dirty="0">
                <a:solidFill>
                  <a:srgbClr val="000000"/>
                </a:solidFill>
              </a:rPr>
              <a:t>       </a:t>
            </a:r>
            <a:r>
              <a:rPr lang="en-US" sz="2000" b="1" kern="0" dirty="0">
                <a:solidFill>
                  <a:srgbClr val="000000"/>
                </a:solidFill>
              </a:rPr>
              <a:t>Example :</a:t>
            </a:r>
            <a:r>
              <a:rPr lang="en-US" sz="2000" kern="0" dirty="0">
                <a:solidFill>
                  <a:srgbClr val="000000"/>
                </a:solidFill>
              </a:rPr>
              <a:t> </a:t>
            </a:r>
            <a:r>
              <a:rPr lang="en-US" sz="2000" b="1" kern="0" dirty="0">
                <a:solidFill>
                  <a:srgbClr val="000000"/>
                </a:solidFill>
              </a:rPr>
              <a:t>DNO </a:t>
            </a:r>
            <a:r>
              <a:rPr lang="en-US" sz="2000" b="1" kern="0" dirty="0">
                <a:solidFill>
                  <a:srgbClr val="0070C0"/>
                </a:solidFill>
              </a:rPr>
              <a:t>INT</a:t>
            </a:r>
            <a:r>
              <a:rPr lang="en-US" sz="2000" b="1" kern="0" dirty="0">
                <a:solidFill>
                  <a:srgbClr val="000000"/>
                </a:solidFill>
              </a:rPr>
              <a:t>  </a:t>
            </a:r>
            <a:r>
              <a:rPr lang="en-US" sz="2000" b="1" kern="0" dirty="0">
                <a:solidFill>
                  <a:srgbClr val="0070C0"/>
                </a:solidFill>
              </a:rPr>
              <a:t>NOT NULL </a:t>
            </a:r>
            <a:r>
              <a:rPr lang="en-US" sz="2000" b="1" kern="0" dirty="0">
                <a:solidFill>
                  <a:srgbClr val="002060"/>
                </a:solidFill>
              </a:rPr>
              <a:t>DEFAULT</a:t>
            </a:r>
            <a:r>
              <a:rPr lang="en-US" sz="2000" b="1" kern="0" dirty="0">
                <a:solidFill>
                  <a:srgbClr val="000000"/>
                </a:solidFill>
              </a:rPr>
              <a:t> 1</a:t>
            </a:r>
          </a:p>
          <a:p>
            <a:pPr marL="285750" indent="-285750" algn="just" fontAlgn="base">
              <a:lnSpc>
                <a:spcPct val="80000"/>
              </a:lnSpc>
              <a:spcBef>
                <a:spcPct val="20000"/>
              </a:spcBef>
              <a:spcAft>
                <a:spcPct val="0"/>
              </a:spcAft>
            </a:pPr>
            <a:endParaRPr lang="en-US" b="1" kern="0" dirty="0">
              <a:solidFill>
                <a:srgbClr val="000000"/>
              </a:solidFill>
            </a:endParaRPr>
          </a:p>
          <a:p>
            <a:pPr marL="342900" indent="-342900" algn="just" fontAlgn="base">
              <a:lnSpc>
                <a:spcPct val="150000"/>
              </a:lnSpc>
              <a:spcBef>
                <a:spcPct val="20000"/>
              </a:spcBef>
              <a:spcAft>
                <a:spcPct val="0"/>
              </a:spcAft>
              <a:buFont typeface="+mj-lt"/>
              <a:buAutoNum type="arabicPeriod" startAt="3"/>
            </a:pPr>
            <a:r>
              <a:rPr lang="en-US" sz="2400" b="1" dirty="0"/>
              <a:t>CHECK Constraint </a:t>
            </a:r>
            <a:r>
              <a:rPr lang="en-US" sz="2000" b="1" dirty="0"/>
              <a:t>: </a:t>
            </a:r>
          </a:p>
          <a:p>
            <a:pPr marL="800100" lvl="1" indent="-342900" algn="just" fontAlgn="base">
              <a:lnSpc>
                <a:spcPct val="150000"/>
              </a:lnSpc>
              <a:spcBef>
                <a:spcPct val="20000"/>
              </a:spcBef>
              <a:spcAft>
                <a:spcPct val="0"/>
              </a:spcAft>
              <a:buFont typeface="Arial" pitchFamily="34" charset="0"/>
              <a:buChar char="•"/>
            </a:pPr>
            <a:r>
              <a:rPr lang="en-US" dirty="0"/>
              <a:t>To restrict the attribute or domain values</a:t>
            </a:r>
            <a:r>
              <a:rPr lang="en-US" sz="2400" dirty="0"/>
              <a:t>.</a:t>
            </a:r>
          </a:p>
          <a:p>
            <a:pPr marL="285750" indent="-285750" algn="just" fontAlgn="base">
              <a:lnSpc>
                <a:spcPct val="150000"/>
              </a:lnSpc>
              <a:spcBef>
                <a:spcPct val="20000"/>
              </a:spcBef>
              <a:spcAft>
                <a:spcPct val="0"/>
              </a:spcAft>
            </a:pPr>
            <a:r>
              <a:rPr lang="en-US" sz="2400" b="1" dirty="0"/>
              <a:t>    </a:t>
            </a:r>
            <a:r>
              <a:rPr lang="en-US" b="1" dirty="0"/>
              <a:t>  </a:t>
            </a:r>
            <a:r>
              <a:rPr lang="en-US" sz="2000" b="1" dirty="0"/>
              <a:t>Example </a:t>
            </a:r>
            <a:r>
              <a:rPr lang="en-US" sz="1600" b="1" dirty="0">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 </a:t>
            </a:r>
            <a:endParaRPr lang="en-US" sz="1600" b="1" dirty="0">
              <a:latin typeface="Tahoma" pitchFamily="34" charset="0"/>
              <a:ea typeface="Tahoma" pitchFamily="34" charset="0"/>
              <a:cs typeface="Tahoma" pitchFamily="34" charset="0"/>
            </a:endParaRPr>
          </a:p>
          <a:p>
            <a:pPr marL="285750" indent="-285750" algn="just" fontAlgn="base">
              <a:lnSpc>
                <a:spcPct val="150000"/>
              </a:lnSpc>
              <a:spcBef>
                <a:spcPct val="20000"/>
              </a:spcBef>
              <a:spcAft>
                <a:spcPct val="0"/>
              </a:spcAft>
            </a:pPr>
            <a:r>
              <a:rPr lang="en-US" sz="1600" b="1" dirty="0">
                <a:latin typeface="Tahoma" pitchFamily="34" charset="0"/>
                <a:ea typeface="Tahoma" pitchFamily="34" charset="0"/>
                <a:cs typeface="Tahoma" pitchFamily="34" charset="0"/>
              </a:rPr>
              <a:t>         DNUMBER </a:t>
            </a:r>
            <a:r>
              <a:rPr lang="en-US" sz="1600" b="1" dirty="0">
                <a:solidFill>
                  <a:srgbClr val="0070C0"/>
                </a:solidFill>
                <a:latin typeface="Tahoma" pitchFamily="34" charset="0"/>
                <a:ea typeface="Tahoma" pitchFamily="34" charset="0"/>
                <a:cs typeface="Tahoma" pitchFamily="34" charset="0"/>
              </a:rPr>
              <a:t>INT NOT NULL CHECK </a:t>
            </a:r>
            <a:r>
              <a:rPr lang="en-US" sz="1600" b="1" dirty="0">
                <a:latin typeface="Tahoma" pitchFamily="34" charset="0"/>
                <a:ea typeface="Tahoma" pitchFamily="34" charset="0"/>
                <a:cs typeface="Tahoma" pitchFamily="34" charset="0"/>
              </a:rPr>
              <a:t> (DNUMBER &gt; 0 AND DNUMBER  &lt; 21 )</a:t>
            </a:r>
            <a:r>
              <a:rPr lang="en-US" sz="2400" kern="0" dirty="0">
                <a:solidFill>
                  <a:srgbClr val="000000"/>
                </a:solidFill>
                <a:latin typeface="Tahoma" pitchFamily="34" charset="0"/>
                <a:ea typeface="Tahoma" pitchFamily="34" charset="0"/>
                <a:cs typeface="Tahoma" pitchFamily="34" charset="0"/>
              </a:rPr>
              <a:t>          </a:t>
            </a:r>
            <a:endParaRPr lang="en-US" sz="2000" kern="0" dirty="0">
              <a:solidFill>
                <a:srgbClr val="00000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152400" y="304800"/>
            <a:ext cx="8763000" cy="533400"/>
          </a:xfrm>
          <a:noFill/>
        </p:spPr>
        <p:txBody>
          <a:bodyPr lIns="90488" tIns="44450" rIns="90488" bIns="44450"/>
          <a:lstStyle/>
          <a:p>
            <a:pPr eaLnBrk="1" hangingPunct="1">
              <a:lnSpc>
                <a:spcPct val="90000"/>
              </a:lnSpc>
              <a:spcBef>
                <a:spcPts val="500"/>
              </a:spcBef>
              <a:spcAft>
                <a:spcPts val="500"/>
              </a:spcAft>
              <a:buNone/>
            </a:pPr>
            <a:r>
              <a:rPr lang="en-US" sz="2400" b="1" dirty="0">
                <a:solidFill>
                  <a:srgbClr val="002060"/>
                </a:solidFill>
                <a:latin typeface="Tahoma" pitchFamily="34" charset="0"/>
                <a:ea typeface="Tahoma" pitchFamily="34" charset="0"/>
                <a:cs typeface="Tahoma" pitchFamily="34" charset="0"/>
              </a:rPr>
              <a:t>Specifying Key and Referential Integrity  Constraints:</a:t>
            </a:r>
          </a:p>
        </p:txBody>
      </p:sp>
      <p:sp>
        <p:nvSpPr>
          <p:cNvPr id="6" name="Rectangle 5"/>
          <p:cNvSpPr/>
          <p:nvPr/>
        </p:nvSpPr>
        <p:spPr>
          <a:xfrm>
            <a:off x="304800" y="838200"/>
            <a:ext cx="8610600" cy="4548938"/>
          </a:xfrm>
          <a:prstGeom prst="rect">
            <a:avLst/>
          </a:prstGeom>
        </p:spPr>
        <p:txBody>
          <a:bodyPr wrap="square">
            <a:spAutoFit/>
          </a:bodyPr>
          <a:lstStyle/>
          <a:p>
            <a:pPr marL="457200" indent="-457200" algn="just" fontAlgn="base">
              <a:lnSpc>
                <a:spcPct val="80000"/>
              </a:lnSpc>
              <a:spcBef>
                <a:spcPct val="20000"/>
              </a:spcBef>
              <a:spcAft>
                <a:spcPct val="0"/>
              </a:spcAft>
              <a:buFont typeface="+mj-lt"/>
              <a:buAutoNum type="arabicPeriod"/>
            </a:pPr>
            <a:r>
              <a:rPr lang="en-US" sz="2400" b="1" kern="0" dirty="0">
                <a:solidFill>
                  <a:srgbClr val="000000"/>
                </a:solidFill>
                <a:latin typeface="Tahoma" pitchFamily="34" charset="0"/>
                <a:ea typeface="Tahoma" pitchFamily="34" charset="0"/>
                <a:cs typeface="Tahoma" pitchFamily="34" charset="0"/>
              </a:rPr>
              <a:t>The </a:t>
            </a:r>
            <a:r>
              <a:rPr lang="en-US" sz="2400" b="1" kern="0" dirty="0">
                <a:solidFill>
                  <a:srgbClr val="0070C0"/>
                </a:solidFill>
                <a:latin typeface="Tahoma" pitchFamily="34" charset="0"/>
                <a:ea typeface="Tahoma" pitchFamily="34" charset="0"/>
                <a:cs typeface="Tahoma" pitchFamily="34" charset="0"/>
              </a:rPr>
              <a:t>PRIMARY KEY </a:t>
            </a:r>
            <a:r>
              <a:rPr lang="en-US" sz="2400" b="1" kern="0" dirty="0">
                <a:solidFill>
                  <a:srgbClr val="000000"/>
                </a:solidFill>
                <a:latin typeface="Tahoma" pitchFamily="34" charset="0"/>
                <a:ea typeface="Tahoma" pitchFamily="34" charset="0"/>
                <a:cs typeface="Tahoma" pitchFamily="34" charset="0"/>
              </a:rPr>
              <a:t>clause </a:t>
            </a:r>
          </a:p>
          <a:p>
            <a:pPr marL="742950" lvl="1" indent="-285750" algn="just" fontAlgn="base">
              <a:lnSpc>
                <a:spcPct val="150000"/>
              </a:lnSpc>
              <a:spcBef>
                <a:spcPct val="20000"/>
              </a:spcBef>
              <a:spcAft>
                <a:spcPct val="0"/>
              </a:spcAft>
              <a:buFont typeface="Arial" pitchFamily="34" charset="0"/>
              <a:buChar char="•"/>
            </a:pPr>
            <a:r>
              <a:rPr lang="en-US" sz="2000" b="1" kern="0" dirty="0">
                <a:solidFill>
                  <a:srgbClr val="000000"/>
                </a:solidFill>
                <a:latin typeface="Tahoma" pitchFamily="34" charset="0"/>
                <a:ea typeface="Tahoma" pitchFamily="34" charset="0"/>
                <a:cs typeface="Tahoma" pitchFamily="34" charset="0"/>
              </a:rPr>
              <a:t> </a:t>
            </a:r>
            <a:r>
              <a:rPr lang="en-US" sz="2200" kern="0" dirty="0">
                <a:solidFill>
                  <a:srgbClr val="000000"/>
                </a:solidFill>
                <a:latin typeface="Tahoma" pitchFamily="34" charset="0"/>
                <a:ea typeface="Tahoma" pitchFamily="34" charset="0"/>
                <a:cs typeface="Tahoma" pitchFamily="34" charset="0"/>
              </a:rPr>
              <a:t>Specifies one or more attributes that make up the primary key of a    relation.</a:t>
            </a:r>
          </a:p>
          <a:p>
            <a:pPr marL="2114550" lvl="4" indent="-285750" algn="just" fontAlgn="base">
              <a:lnSpc>
                <a:spcPct val="80000"/>
              </a:lnSpc>
              <a:spcBef>
                <a:spcPct val="20000"/>
              </a:spcBef>
              <a:spcAft>
                <a:spcPct val="0"/>
              </a:spcAft>
            </a:pPr>
            <a:endParaRPr lang="en-US" kern="0" dirty="0">
              <a:solidFill>
                <a:srgbClr val="0070C0"/>
              </a:solidFill>
              <a:latin typeface="Tahoma" pitchFamily="34" charset="0"/>
              <a:ea typeface="Tahoma" pitchFamily="34" charset="0"/>
              <a:cs typeface="Tahoma" pitchFamily="34" charset="0"/>
            </a:endParaRPr>
          </a:p>
          <a:p>
            <a:pPr marL="2114550" lvl="4" indent="-285750" algn="just" fontAlgn="base">
              <a:lnSpc>
                <a:spcPct val="80000"/>
              </a:lnSpc>
              <a:spcBef>
                <a:spcPct val="20000"/>
              </a:spcBef>
              <a:spcAft>
                <a:spcPct val="0"/>
              </a:spcAft>
            </a:pPr>
            <a:r>
              <a:rPr lang="en-US" sz="2400" b="1" kern="0" dirty="0">
                <a:solidFill>
                  <a:srgbClr val="0070C0"/>
                </a:solidFill>
                <a:latin typeface="Tahoma" pitchFamily="34" charset="0"/>
                <a:ea typeface="Tahoma" pitchFamily="34" charset="0"/>
                <a:cs typeface="Tahoma" pitchFamily="34" charset="0"/>
              </a:rPr>
              <a:t>PRIMARY KEY </a:t>
            </a:r>
            <a:r>
              <a:rPr lang="en-US" sz="2400" b="1" kern="0" dirty="0">
                <a:solidFill>
                  <a:srgbClr val="000000"/>
                </a:solidFill>
                <a:latin typeface="Tahoma" pitchFamily="34" charset="0"/>
                <a:ea typeface="Tahoma" pitchFamily="34" charset="0"/>
                <a:cs typeface="Tahoma" pitchFamily="34" charset="0"/>
              </a:rPr>
              <a:t>(DNUMBER,DLOCATION</a:t>
            </a:r>
            <a:r>
              <a:rPr lang="en-US" sz="2400" kern="0" dirty="0">
                <a:solidFill>
                  <a:srgbClr val="000000"/>
                </a:solidFill>
                <a:latin typeface="Tahoma" pitchFamily="34" charset="0"/>
                <a:ea typeface="Tahoma" pitchFamily="34" charset="0"/>
                <a:cs typeface="Tahoma" pitchFamily="34" charset="0"/>
              </a:rPr>
              <a:t>)</a:t>
            </a:r>
          </a:p>
          <a:p>
            <a:pPr marL="285750" indent="-285750" algn="just" fontAlgn="base">
              <a:lnSpc>
                <a:spcPct val="80000"/>
              </a:lnSpc>
              <a:spcBef>
                <a:spcPct val="20000"/>
              </a:spcBef>
              <a:spcAft>
                <a:spcPct val="0"/>
              </a:spcAft>
            </a:pPr>
            <a:endParaRPr lang="en-US" kern="0" dirty="0">
              <a:solidFill>
                <a:srgbClr val="000000"/>
              </a:solidFill>
              <a:latin typeface="Tahoma" pitchFamily="34" charset="0"/>
              <a:ea typeface="Tahoma" pitchFamily="34" charset="0"/>
              <a:cs typeface="Tahoma" pitchFamily="34" charset="0"/>
            </a:endParaRPr>
          </a:p>
          <a:p>
            <a:pPr marL="742950" lvl="1" indent="-285750" algn="just" fontAlgn="base">
              <a:lnSpc>
                <a:spcPct val="150000"/>
              </a:lnSpc>
              <a:spcBef>
                <a:spcPct val="20000"/>
              </a:spcBef>
              <a:spcAft>
                <a:spcPct val="0"/>
              </a:spcAft>
              <a:buFont typeface="Arial" pitchFamily="34" charset="0"/>
              <a:buChar char="•"/>
            </a:pPr>
            <a:r>
              <a:rPr lang="en-US" sz="2000" kern="0" dirty="0">
                <a:solidFill>
                  <a:srgbClr val="000000"/>
                </a:solidFill>
                <a:latin typeface="Tahoma" pitchFamily="34" charset="0"/>
                <a:ea typeface="Tahoma" pitchFamily="34" charset="0"/>
                <a:cs typeface="Tahoma" pitchFamily="34" charset="0"/>
              </a:rPr>
              <a:t>If primary key single attribute then the clause can follow the attribute directly </a:t>
            </a:r>
          </a:p>
          <a:p>
            <a:pPr marL="742950" lvl="1" indent="-285750" algn="just" fontAlgn="base">
              <a:lnSpc>
                <a:spcPct val="150000"/>
              </a:lnSpc>
              <a:spcBef>
                <a:spcPct val="20000"/>
              </a:spcBef>
              <a:spcAft>
                <a:spcPct val="0"/>
              </a:spcAft>
            </a:pPr>
            <a:endParaRPr lang="en-US" sz="2000" kern="0" dirty="0">
              <a:solidFill>
                <a:srgbClr val="000000"/>
              </a:solidFill>
              <a:latin typeface="Tahoma" pitchFamily="34" charset="0"/>
              <a:ea typeface="Tahoma" pitchFamily="34" charset="0"/>
              <a:cs typeface="Tahoma" pitchFamily="34" charset="0"/>
            </a:endParaRPr>
          </a:p>
          <a:p>
            <a:pPr marL="285750" indent="-285750" algn="just" fontAlgn="base">
              <a:lnSpc>
                <a:spcPct val="80000"/>
              </a:lnSpc>
              <a:spcBef>
                <a:spcPct val="20000"/>
              </a:spcBef>
              <a:spcAft>
                <a:spcPct val="0"/>
              </a:spcAft>
            </a:pPr>
            <a:r>
              <a:rPr lang="en-US" kern="0" dirty="0">
                <a:solidFill>
                  <a:srgbClr val="000000"/>
                </a:solidFill>
                <a:latin typeface="Tahoma" pitchFamily="34" charset="0"/>
                <a:ea typeface="Tahoma" pitchFamily="34" charset="0"/>
                <a:cs typeface="Tahoma" pitchFamily="34" charset="0"/>
              </a:rPr>
              <a:t>                      </a:t>
            </a:r>
            <a:r>
              <a:rPr lang="en-US" sz="2400" b="1" kern="0" dirty="0">
                <a:solidFill>
                  <a:srgbClr val="000000"/>
                </a:solidFill>
                <a:latin typeface="Tahoma" pitchFamily="34" charset="0"/>
                <a:ea typeface="Tahoma" pitchFamily="34" charset="0"/>
                <a:cs typeface="Tahoma" pitchFamily="34" charset="0"/>
              </a:rPr>
              <a:t>DNUMBER </a:t>
            </a:r>
            <a:r>
              <a:rPr lang="en-US" sz="2400" b="1" kern="0" dirty="0">
                <a:solidFill>
                  <a:srgbClr val="002060"/>
                </a:solidFill>
                <a:latin typeface="Tahoma" pitchFamily="34" charset="0"/>
                <a:ea typeface="Tahoma" pitchFamily="34" charset="0"/>
                <a:cs typeface="Tahoma" pitchFamily="34" charset="0"/>
              </a:rPr>
              <a:t>INT</a:t>
            </a:r>
            <a:r>
              <a:rPr lang="en-US" sz="2400" b="1" kern="0" dirty="0">
                <a:solidFill>
                  <a:srgbClr val="000000"/>
                </a:solidFill>
                <a:latin typeface="Tahoma" pitchFamily="34" charset="0"/>
                <a:ea typeface="Tahoma" pitchFamily="34" charset="0"/>
                <a:cs typeface="Tahoma" pitchFamily="34" charset="0"/>
              </a:rPr>
              <a:t> </a:t>
            </a:r>
            <a:r>
              <a:rPr lang="en-US" sz="2400" b="1" kern="0" dirty="0">
                <a:solidFill>
                  <a:srgbClr val="0070C0"/>
                </a:solidFill>
                <a:latin typeface="Tahoma" pitchFamily="34" charset="0"/>
                <a:ea typeface="Tahoma" pitchFamily="34" charset="0"/>
                <a:cs typeface="Tahoma" pitchFamily="34" charset="0"/>
              </a:rPr>
              <a:t>PRIMARY KEY</a:t>
            </a:r>
            <a:endParaRPr lang="en-US" b="1" kern="0" dirty="0">
              <a:solidFill>
                <a:srgbClr val="0070C0"/>
              </a:solidFill>
              <a:latin typeface="Tahoma" pitchFamily="34" charset="0"/>
              <a:ea typeface="Tahoma" pitchFamily="34" charset="0"/>
              <a:cs typeface="Tahoma" pitchFamily="34" charset="0"/>
            </a:endParaRPr>
          </a:p>
          <a:p>
            <a:pPr marL="285750" indent="-285750" algn="just" fontAlgn="base">
              <a:lnSpc>
                <a:spcPct val="80000"/>
              </a:lnSpc>
              <a:spcBef>
                <a:spcPct val="20000"/>
              </a:spcBef>
              <a:spcAft>
                <a:spcPct val="0"/>
              </a:spcAft>
            </a:pPr>
            <a:endParaRPr lang="en-US" kern="0" dirty="0">
              <a:solidFill>
                <a:srgbClr val="0070C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152400" y="304800"/>
            <a:ext cx="8763000" cy="533400"/>
          </a:xfrm>
          <a:noFill/>
        </p:spPr>
        <p:txBody>
          <a:bodyPr lIns="90488" tIns="44450" rIns="90488" bIns="44450"/>
          <a:lstStyle/>
          <a:p>
            <a:pPr eaLnBrk="1" hangingPunct="1">
              <a:lnSpc>
                <a:spcPct val="90000"/>
              </a:lnSpc>
              <a:spcBef>
                <a:spcPts val="500"/>
              </a:spcBef>
              <a:spcAft>
                <a:spcPts val="500"/>
              </a:spcAft>
              <a:buNone/>
            </a:pPr>
            <a:r>
              <a:rPr lang="en-US" sz="2400" b="1" dirty="0">
                <a:solidFill>
                  <a:srgbClr val="002060"/>
                </a:solidFill>
                <a:latin typeface="Tahoma" pitchFamily="34" charset="0"/>
                <a:ea typeface="Tahoma" pitchFamily="34" charset="0"/>
                <a:cs typeface="Tahoma" pitchFamily="34" charset="0"/>
              </a:rPr>
              <a:t>Specifying Key and Referential Integrity  Constraints:</a:t>
            </a:r>
          </a:p>
        </p:txBody>
      </p:sp>
      <p:sp>
        <p:nvSpPr>
          <p:cNvPr id="6" name="Rectangle 5"/>
          <p:cNvSpPr/>
          <p:nvPr/>
        </p:nvSpPr>
        <p:spPr>
          <a:xfrm>
            <a:off x="304800" y="990600"/>
            <a:ext cx="8610600" cy="4816703"/>
          </a:xfrm>
          <a:prstGeom prst="rect">
            <a:avLst/>
          </a:prstGeom>
        </p:spPr>
        <p:txBody>
          <a:bodyPr wrap="square">
            <a:spAutoFit/>
          </a:bodyPr>
          <a:lstStyle/>
          <a:p>
            <a:pPr marL="285750" indent="-285750" algn="just" fontAlgn="base">
              <a:lnSpc>
                <a:spcPct val="80000"/>
              </a:lnSpc>
              <a:spcBef>
                <a:spcPct val="20000"/>
              </a:spcBef>
              <a:spcAft>
                <a:spcPct val="0"/>
              </a:spcAft>
            </a:pPr>
            <a:endParaRPr lang="en-US" kern="0" dirty="0">
              <a:solidFill>
                <a:srgbClr val="0070C0"/>
              </a:solidFill>
              <a:latin typeface="Tahoma" pitchFamily="34" charset="0"/>
              <a:ea typeface="Tahoma" pitchFamily="34" charset="0"/>
              <a:cs typeface="Tahoma" pitchFamily="34" charset="0"/>
            </a:endParaRPr>
          </a:p>
          <a:p>
            <a:pPr marL="342900" indent="-342900" algn="just" fontAlgn="base">
              <a:lnSpc>
                <a:spcPct val="80000"/>
              </a:lnSpc>
              <a:spcBef>
                <a:spcPct val="20000"/>
              </a:spcBef>
              <a:spcAft>
                <a:spcPct val="0"/>
              </a:spcAft>
              <a:buFont typeface="+mj-lt"/>
              <a:buAutoNum type="arabicPeriod" startAt="2"/>
            </a:pPr>
            <a:r>
              <a:rPr lang="en-US" sz="2000" b="1" kern="0" dirty="0">
                <a:latin typeface="Tahoma" pitchFamily="34" charset="0"/>
                <a:ea typeface="Tahoma" pitchFamily="34" charset="0"/>
                <a:cs typeface="Tahoma" pitchFamily="34" charset="0"/>
              </a:rPr>
              <a:t>The </a:t>
            </a:r>
            <a:r>
              <a:rPr lang="en-US" sz="2000" b="1" kern="0" dirty="0">
                <a:solidFill>
                  <a:srgbClr val="0070C0"/>
                </a:solidFill>
                <a:latin typeface="Tahoma" pitchFamily="34" charset="0"/>
                <a:ea typeface="Tahoma" pitchFamily="34" charset="0"/>
                <a:cs typeface="Tahoma" pitchFamily="34" charset="0"/>
              </a:rPr>
              <a:t>UNIQUE </a:t>
            </a:r>
            <a:r>
              <a:rPr lang="en-US" sz="2000" b="1" kern="0" dirty="0">
                <a:latin typeface="Tahoma" pitchFamily="34" charset="0"/>
                <a:ea typeface="Tahoma" pitchFamily="34" charset="0"/>
                <a:cs typeface="Tahoma" pitchFamily="34" charset="0"/>
              </a:rPr>
              <a:t>clause </a:t>
            </a:r>
          </a:p>
          <a:p>
            <a:pPr marL="742950" lvl="1" indent="-285750" algn="just" fontAlgn="base">
              <a:lnSpc>
                <a:spcPct val="150000"/>
              </a:lnSpc>
              <a:spcBef>
                <a:spcPct val="20000"/>
              </a:spcBef>
              <a:spcAft>
                <a:spcPct val="0"/>
              </a:spcAft>
              <a:buFont typeface="Arial" pitchFamily="34" charset="0"/>
              <a:buChar char="•"/>
            </a:pPr>
            <a:r>
              <a:rPr lang="en-US" kern="0" dirty="0">
                <a:solidFill>
                  <a:srgbClr val="0070C0"/>
                </a:solidFill>
                <a:latin typeface="Tahoma" pitchFamily="34" charset="0"/>
                <a:ea typeface="Tahoma" pitchFamily="34" charset="0"/>
                <a:cs typeface="Tahoma" pitchFamily="34" charset="0"/>
              </a:rPr>
              <a:t> </a:t>
            </a:r>
            <a:r>
              <a:rPr lang="en-US" sz="2400" kern="0" dirty="0">
                <a:latin typeface="Tahoma" pitchFamily="34" charset="0"/>
                <a:ea typeface="Tahoma" pitchFamily="34" charset="0"/>
                <a:cs typeface="Tahoma" pitchFamily="34" charset="0"/>
              </a:rPr>
              <a:t>Specifies alternate (or secondary) keys.</a:t>
            </a:r>
          </a:p>
          <a:p>
            <a:pPr marL="285750" indent="-285750" algn="just" fontAlgn="base">
              <a:lnSpc>
                <a:spcPct val="150000"/>
              </a:lnSpc>
              <a:spcBef>
                <a:spcPct val="20000"/>
              </a:spcBef>
              <a:spcAft>
                <a:spcPct val="0"/>
              </a:spcAft>
            </a:pPr>
            <a:r>
              <a:rPr lang="en-US" kern="0" dirty="0">
                <a:solidFill>
                  <a:srgbClr val="0070C0"/>
                </a:solidFill>
                <a:latin typeface="Tahoma" pitchFamily="34" charset="0"/>
                <a:ea typeface="Tahoma" pitchFamily="34" charset="0"/>
                <a:cs typeface="Tahoma" pitchFamily="34" charset="0"/>
              </a:rPr>
              <a:t>                          </a:t>
            </a:r>
            <a:r>
              <a:rPr lang="en-US" sz="2000" b="1" kern="0" dirty="0">
                <a:solidFill>
                  <a:srgbClr val="0070C0"/>
                </a:solidFill>
                <a:latin typeface="Tahoma" pitchFamily="34" charset="0"/>
                <a:ea typeface="Tahoma" pitchFamily="34" charset="0"/>
                <a:cs typeface="Tahoma" pitchFamily="34" charset="0"/>
              </a:rPr>
              <a:t>UNIQUE</a:t>
            </a:r>
            <a:r>
              <a:rPr lang="en-US" sz="2000" b="1" kern="0" dirty="0">
                <a:latin typeface="Tahoma" pitchFamily="34" charset="0"/>
                <a:ea typeface="Tahoma" pitchFamily="34" charset="0"/>
                <a:cs typeface="Tahoma" pitchFamily="34" charset="0"/>
              </a:rPr>
              <a:t> (DNAME)</a:t>
            </a:r>
          </a:p>
          <a:p>
            <a:pPr marL="285750" indent="-285750" algn="just" fontAlgn="base">
              <a:lnSpc>
                <a:spcPct val="150000"/>
              </a:lnSpc>
              <a:spcBef>
                <a:spcPct val="20000"/>
              </a:spcBef>
              <a:spcAft>
                <a:spcPct val="0"/>
              </a:spcAft>
            </a:pPr>
            <a:endParaRPr lang="en-US" sz="2000" b="1" kern="0" dirty="0">
              <a:latin typeface="Tahoma" pitchFamily="34" charset="0"/>
              <a:ea typeface="Tahoma" pitchFamily="34" charset="0"/>
              <a:cs typeface="Tahoma" pitchFamily="34" charset="0"/>
            </a:endParaRPr>
          </a:p>
          <a:p>
            <a:pPr marL="457200" indent="-457200" algn="just" fontAlgn="base">
              <a:lnSpc>
                <a:spcPct val="80000"/>
              </a:lnSpc>
              <a:spcBef>
                <a:spcPct val="20000"/>
              </a:spcBef>
              <a:spcAft>
                <a:spcPct val="0"/>
              </a:spcAft>
              <a:buFont typeface="+mj-lt"/>
              <a:buAutoNum type="arabicPeriod" startAt="3"/>
            </a:pPr>
            <a:r>
              <a:rPr lang="en-US" sz="2000" b="1" kern="0" dirty="0">
                <a:latin typeface="Tahoma" pitchFamily="34" charset="0"/>
                <a:ea typeface="Tahoma" pitchFamily="34" charset="0"/>
                <a:cs typeface="Tahoma" pitchFamily="34" charset="0"/>
              </a:rPr>
              <a:t> </a:t>
            </a:r>
            <a:r>
              <a:rPr lang="en-US" sz="2000" b="1" kern="0" dirty="0">
                <a:solidFill>
                  <a:srgbClr val="0070C0"/>
                </a:solidFill>
                <a:latin typeface="Tahoma" pitchFamily="34" charset="0"/>
                <a:ea typeface="Tahoma" pitchFamily="34" charset="0"/>
                <a:cs typeface="Tahoma" pitchFamily="34" charset="0"/>
              </a:rPr>
              <a:t>FOREIGN KEY </a:t>
            </a:r>
            <a:r>
              <a:rPr lang="en-US" sz="2000" b="1" kern="0" dirty="0">
                <a:solidFill>
                  <a:srgbClr val="000000"/>
                </a:solidFill>
                <a:latin typeface="Tahoma" pitchFamily="34" charset="0"/>
                <a:ea typeface="Tahoma" pitchFamily="34" charset="0"/>
                <a:cs typeface="Tahoma" pitchFamily="34" charset="0"/>
              </a:rPr>
              <a:t>clause.</a:t>
            </a:r>
            <a:endParaRPr lang="en-US" b="1" kern="0" dirty="0">
              <a:solidFill>
                <a:srgbClr val="000000"/>
              </a:solidFill>
              <a:latin typeface="Tahoma" pitchFamily="34" charset="0"/>
              <a:ea typeface="Tahoma" pitchFamily="34" charset="0"/>
              <a:cs typeface="Tahoma" pitchFamily="34" charset="0"/>
            </a:endParaRPr>
          </a:p>
          <a:p>
            <a:pPr marL="742950" lvl="1" indent="-285750" algn="just" fontAlgn="base">
              <a:lnSpc>
                <a:spcPct val="150000"/>
              </a:lnSpc>
              <a:spcBef>
                <a:spcPct val="20000"/>
              </a:spcBef>
              <a:spcAft>
                <a:spcPct val="0"/>
              </a:spcAft>
              <a:buFont typeface="Arial" pitchFamily="34" charset="0"/>
              <a:buChar char="•"/>
            </a:pPr>
            <a:r>
              <a:rPr lang="en-US" kern="0" dirty="0">
                <a:solidFill>
                  <a:srgbClr val="000000"/>
                </a:solidFill>
                <a:latin typeface="Tahoma" pitchFamily="34" charset="0"/>
                <a:ea typeface="Tahoma" pitchFamily="34" charset="0"/>
                <a:cs typeface="Tahoma" pitchFamily="34" charset="0"/>
              </a:rPr>
              <a:t>Specifies referential integrity constraint </a:t>
            </a:r>
          </a:p>
          <a:p>
            <a:pPr marL="742950" lvl="1" indent="-285750" algn="just" fontAlgn="base">
              <a:lnSpc>
                <a:spcPct val="150000"/>
              </a:lnSpc>
              <a:spcBef>
                <a:spcPct val="20000"/>
              </a:spcBef>
              <a:spcAft>
                <a:spcPct val="0"/>
              </a:spcAft>
            </a:pPr>
            <a:endParaRPr lang="en-US" kern="0" dirty="0">
              <a:solidFill>
                <a:srgbClr val="000000"/>
              </a:solidFill>
              <a:latin typeface="Tahoma" pitchFamily="34" charset="0"/>
              <a:ea typeface="Tahoma" pitchFamily="34" charset="0"/>
              <a:cs typeface="Tahoma" pitchFamily="34" charset="0"/>
            </a:endParaRPr>
          </a:p>
          <a:p>
            <a:pPr marL="742950" lvl="1" indent="-285750" algn="just" fontAlgn="base">
              <a:lnSpc>
                <a:spcPct val="150000"/>
              </a:lnSpc>
              <a:spcBef>
                <a:spcPct val="20000"/>
              </a:spcBef>
              <a:spcAft>
                <a:spcPct val="0"/>
              </a:spcAft>
            </a:pPr>
            <a:r>
              <a:rPr lang="en-US" sz="2000" kern="0" dirty="0">
                <a:solidFill>
                  <a:srgbClr val="0070C0"/>
                </a:solidFill>
                <a:latin typeface="Tahoma" pitchFamily="34" charset="0"/>
                <a:ea typeface="Tahoma" pitchFamily="34" charset="0"/>
                <a:cs typeface="Tahoma" pitchFamily="34" charset="0"/>
              </a:rPr>
              <a:t>      </a:t>
            </a:r>
            <a:r>
              <a:rPr lang="en-US" b="1" kern="0" dirty="0">
                <a:solidFill>
                  <a:srgbClr val="0070C0"/>
                </a:solidFill>
                <a:latin typeface="Tahoma" pitchFamily="34" charset="0"/>
                <a:ea typeface="Tahoma" pitchFamily="34" charset="0"/>
                <a:cs typeface="Tahoma" pitchFamily="34" charset="0"/>
              </a:rPr>
              <a:t>FOREIGN KEY </a:t>
            </a:r>
            <a:r>
              <a:rPr lang="en-US" b="1" kern="0" dirty="0">
                <a:solidFill>
                  <a:srgbClr val="000000"/>
                </a:solidFill>
                <a:latin typeface="Tahoma" pitchFamily="34" charset="0"/>
                <a:ea typeface="Tahoma" pitchFamily="34" charset="0"/>
                <a:cs typeface="Tahoma" pitchFamily="34" charset="0"/>
              </a:rPr>
              <a:t>(DNO) </a:t>
            </a:r>
            <a:r>
              <a:rPr lang="en-US" b="1" kern="0" dirty="0">
                <a:solidFill>
                  <a:srgbClr val="0070C0"/>
                </a:solidFill>
                <a:latin typeface="Tahoma" pitchFamily="34" charset="0"/>
                <a:ea typeface="Tahoma" pitchFamily="34" charset="0"/>
                <a:cs typeface="Tahoma" pitchFamily="34" charset="0"/>
              </a:rPr>
              <a:t>REFERENCES </a:t>
            </a:r>
            <a:r>
              <a:rPr lang="en-US" b="1" kern="0" dirty="0">
                <a:solidFill>
                  <a:srgbClr val="000000"/>
                </a:solidFill>
                <a:latin typeface="Tahoma" pitchFamily="34" charset="0"/>
                <a:ea typeface="Tahoma" pitchFamily="34" charset="0"/>
                <a:cs typeface="Tahoma" pitchFamily="34" charset="0"/>
              </a:rPr>
              <a:t>DEPARTMENT(DNUMBER)</a:t>
            </a:r>
            <a:endParaRPr lang="en-US" sz="2000" b="1" kern="0" dirty="0">
              <a:latin typeface="Tahoma" pitchFamily="34" charset="0"/>
              <a:ea typeface="Tahoma" pitchFamily="34" charset="0"/>
              <a:cs typeface="Tahoma" pitchFamily="34" charset="0"/>
            </a:endParaRPr>
          </a:p>
          <a:p>
            <a:pPr marL="342900" indent="-342900" algn="just" fontAlgn="base">
              <a:lnSpc>
                <a:spcPct val="150000"/>
              </a:lnSpc>
              <a:spcBef>
                <a:spcPct val="20000"/>
              </a:spcBef>
              <a:spcAft>
                <a:spcPct val="0"/>
              </a:spcAft>
              <a:buFont typeface="+mj-lt"/>
              <a:buAutoNum type="arabicPeriod" startAt="3"/>
            </a:pPr>
            <a:endParaRPr lang="en-US" b="1" kern="0" dirty="0">
              <a:latin typeface="Tahoma" pitchFamily="34" charset="0"/>
              <a:ea typeface="Tahoma" pitchFamily="34" charset="0"/>
              <a:cs typeface="Tahoma" pitchFamily="34" charset="0"/>
            </a:endParaRPr>
          </a:p>
          <a:p>
            <a:pPr marL="285750" indent="-285750" algn="just" fontAlgn="base">
              <a:lnSpc>
                <a:spcPct val="80000"/>
              </a:lnSpc>
              <a:spcBef>
                <a:spcPct val="20000"/>
              </a:spcBef>
              <a:spcAft>
                <a:spcPct val="0"/>
              </a:spcAft>
              <a:buFont typeface="Arial" pitchFamily="34" charset="0"/>
              <a:buChar char="•"/>
            </a:pPr>
            <a:endParaRPr lang="en-US" kern="0" dirty="0">
              <a:solidFill>
                <a:srgbClr val="0070C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600" y="990600"/>
            <a:ext cx="8610600" cy="4970591"/>
          </a:xfrm>
          <a:prstGeom prst="rect">
            <a:avLst/>
          </a:prstGeom>
        </p:spPr>
        <p:txBody>
          <a:bodyPr wrap="square">
            <a:spAutoFit/>
          </a:bodyPr>
          <a:lstStyle/>
          <a:p>
            <a:pPr>
              <a:lnSpc>
                <a:spcPct val="150000"/>
              </a:lnSpc>
              <a:buFont typeface="Arial" pitchFamily="34" charset="0"/>
              <a:buChar char="•"/>
            </a:pPr>
            <a:r>
              <a:rPr lang="en-US" sz="2000" b="1" u="sng" dirty="0">
                <a:latin typeface="Tahoma" pitchFamily="34" charset="0"/>
                <a:ea typeface="Tahoma" pitchFamily="34" charset="0"/>
                <a:cs typeface="Tahoma" pitchFamily="34" charset="0"/>
              </a:rPr>
              <a:t>Options to avoid violations</a:t>
            </a:r>
          </a:p>
          <a:p>
            <a:pPr>
              <a:lnSpc>
                <a:spcPct val="150000"/>
              </a:lnSpc>
            </a:pPr>
            <a:endParaRPr lang="en-US" sz="2000" b="1" u="sng" dirty="0">
              <a:latin typeface="Tahoma" pitchFamily="34" charset="0"/>
              <a:ea typeface="Tahoma" pitchFamily="34" charset="0"/>
              <a:cs typeface="Tahoma" pitchFamily="34" charset="0"/>
            </a:endParaRPr>
          </a:p>
          <a:p>
            <a:pPr marL="800100" lvl="1" indent="-342900" algn="just">
              <a:lnSpc>
                <a:spcPct val="150000"/>
              </a:lnSpc>
              <a:buFont typeface="+mj-lt"/>
              <a:buAutoNum type="arabicPeriod"/>
            </a:pPr>
            <a:r>
              <a:rPr lang="en-US" dirty="0">
                <a:latin typeface="Tahoma" pitchFamily="34" charset="0"/>
                <a:ea typeface="Tahoma" pitchFamily="34" charset="0"/>
                <a:cs typeface="Tahoma" pitchFamily="34" charset="0"/>
              </a:rPr>
              <a:t>The options include SET NULL, CASCADE, and SET DEFAULT.</a:t>
            </a:r>
          </a:p>
          <a:p>
            <a:pPr marL="800100" lvl="1" indent="-342900" algn="just">
              <a:lnSpc>
                <a:spcPct val="150000"/>
              </a:lnSpc>
              <a:buFont typeface="+mj-lt"/>
              <a:buAutoNum type="arabicPeriod"/>
            </a:pPr>
            <a:r>
              <a:rPr lang="en-US" dirty="0">
                <a:latin typeface="Tahoma" pitchFamily="34" charset="0"/>
                <a:ea typeface="Tahoma" pitchFamily="34" charset="0"/>
                <a:cs typeface="Tahoma" pitchFamily="34" charset="0"/>
              </a:rPr>
              <a:t>An option must be qualified with either ON DELETE or ON UPDATE.</a:t>
            </a:r>
          </a:p>
          <a:p>
            <a:pPr marL="800100" lvl="1" indent="-342900" algn="just">
              <a:lnSpc>
                <a:spcPct val="150000"/>
              </a:lnSpc>
              <a:buFont typeface="+mj-lt"/>
              <a:buAutoNum type="arabicPeriod"/>
            </a:pPr>
            <a:r>
              <a:rPr lang="en-US" dirty="0">
                <a:latin typeface="Tahoma" pitchFamily="34" charset="0"/>
                <a:ea typeface="Tahoma" pitchFamily="34" charset="0"/>
                <a:cs typeface="Tahoma" pitchFamily="34" charset="0"/>
              </a:rPr>
              <a:t>The action for CASCADE ON DELETE is to delete all the referencing tuples, </a:t>
            </a:r>
          </a:p>
          <a:p>
            <a:pPr marL="800100" lvl="1" indent="-342900" algn="just">
              <a:lnSpc>
                <a:spcPct val="150000"/>
              </a:lnSpc>
              <a:buFont typeface="+mj-lt"/>
              <a:buAutoNum type="arabicPeriod"/>
            </a:pPr>
            <a:r>
              <a:rPr lang="en-US" dirty="0">
                <a:latin typeface="Tahoma" pitchFamily="34" charset="0"/>
                <a:ea typeface="Tahoma" pitchFamily="34" charset="0"/>
                <a:cs typeface="Tahoma" pitchFamily="34" charset="0"/>
              </a:rPr>
              <a:t>The action for CASCADE ON UPDATE is to change the value of the foreign key to the updated (new) primary key value for all referencing tuples</a:t>
            </a:r>
            <a:r>
              <a:rPr lang="en-US" sz="1600" dirty="0">
                <a:latin typeface="Tahoma" pitchFamily="34" charset="0"/>
                <a:ea typeface="Tahoma" pitchFamily="34" charset="0"/>
                <a:cs typeface="Tahoma" pitchFamily="34" charset="0"/>
              </a:rPr>
              <a:t>.</a:t>
            </a:r>
          </a:p>
          <a:p>
            <a:pPr marL="1257300" lvl="2" indent="-342900" algn="just">
              <a:lnSpc>
                <a:spcPct val="150000"/>
              </a:lnSpc>
            </a:pPr>
            <a:endParaRPr lang="en-US" sz="1600" dirty="0">
              <a:latin typeface="Tahoma" pitchFamily="34" charset="0"/>
              <a:ea typeface="Tahoma" pitchFamily="34" charset="0"/>
              <a:cs typeface="Tahoma" pitchFamily="34" charset="0"/>
            </a:endParaRPr>
          </a:p>
          <a:p>
            <a:pPr marL="742950" lvl="1" indent="-285750" algn="just" fontAlgn="base">
              <a:lnSpc>
                <a:spcPct val="150000"/>
              </a:lnSpc>
              <a:spcBef>
                <a:spcPct val="20000"/>
              </a:spcBef>
              <a:spcAft>
                <a:spcPct val="0"/>
              </a:spcAft>
            </a:pPr>
            <a:r>
              <a:rPr lang="en-US" sz="2000" b="1" dirty="0">
                <a:latin typeface="Tahoma" pitchFamily="34" charset="0"/>
                <a:ea typeface="Tahoma" pitchFamily="34" charset="0"/>
                <a:cs typeface="Tahoma" pitchFamily="34" charset="0"/>
              </a:rPr>
              <a:t>Example: </a:t>
            </a:r>
          </a:p>
          <a:p>
            <a:pPr marL="742950" lvl="1" indent="-285750" algn="just" fontAlgn="base">
              <a:lnSpc>
                <a:spcPct val="150000"/>
              </a:lnSpc>
              <a:spcBef>
                <a:spcPct val="20000"/>
              </a:spcBef>
              <a:spcAft>
                <a:spcPct val="0"/>
              </a:spcAft>
            </a:pPr>
            <a:r>
              <a:rPr lang="en-US" sz="2000" b="1" dirty="0">
                <a:solidFill>
                  <a:srgbClr val="0070C0"/>
                </a:solidFill>
                <a:latin typeface="Tahoma" pitchFamily="34" charset="0"/>
                <a:ea typeface="Tahoma" pitchFamily="34" charset="0"/>
                <a:cs typeface="Tahoma" pitchFamily="34" charset="0"/>
              </a:rPr>
              <a:t>FOREIGN KEY </a:t>
            </a:r>
            <a:r>
              <a:rPr lang="en-US" sz="2000" b="1" dirty="0">
                <a:latin typeface="Tahoma" pitchFamily="34" charset="0"/>
                <a:ea typeface="Tahoma" pitchFamily="34" charset="0"/>
                <a:cs typeface="Tahoma" pitchFamily="34" charset="0"/>
              </a:rPr>
              <a:t>(DNO) </a:t>
            </a:r>
            <a:r>
              <a:rPr lang="en-US" sz="2000" b="1" dirty="0">
                <a:solidFill>
                  <a:srgbClr val="0070C0"/>
                </a:solidFill>
                <a:latin typeface="Tahoma" pitchFamily="34" charset="0"/>
                <a:ea typeface="Tahoma" pitchFamily="34" charset="0"/>
                <a:cs typeface="Tahoma" pitchFamily="34" charset="0"/>
              </a:rPr>
              <a:t>REFERENCES </a:t>
            </a:r>
            <a:r>
              <a:rPr lang="en-US" sz="2000" b="1" dirty="0">
                <a:latin typeface="Tahoma" pitchFamily="34" charset="0"/>
                <a:ea typeface="Tahoma" pitchFamily="34" charset="0"/>
                <a:cs typeface="Tahoma" pitchFamily="34" charset="0"/>
              </a:rPr>
              <a:t>DEPARTMENT(DNUMBER)  </a:t>
            </a:r>
            <a:r>
              <a:rPr lang="en-US" sz="2000" b="1" dirty="0">
                <a:solidFill>
                  <a:srgbClr val="0070C0"/>
                </a:solidFill>
                <a:latin typeface="Tahoma" pitchFamily="34" charset="0"/>
                <a:ea typeface="Tahoma" pitchFamily="34" charset="0"/>
                <a:cs typeface="Tahoma" pitchFamily="34" charset="0"/>
              </a:rPr>
              <a:t>ON DELETE SET DEFAULT  ON UPDATE CASCADE</a:t>
            </a:r>
            <a:r>
              <a:rPr lang="en-US" sz="2000" dirty="0">
                <a:latin typeface="Tahoma" pitchFamily="34" charset="0"/>
                <a:ea typeface="Tahoma" pitchFamily="34" charset="0"/>
                <a:cs typeface="Tahoma" pitchFamily="34" charset="0"/>
              </a:rPr>
              <a:t>.</a:t>
            </a:r>
          </a:p>
        </p:txBody>
      </p:sp>
      <p:sp>
        <p:nvSpPr>
          <p:cNvPr id="8" name="Rectangle 3"/>
          <p:cNvSpPr txBox="1">
            <a:spLocks noChangeArrowheads="1"/>
          </p:cNvSpPr>
          <p:nvPr/>
        </p:nvSpPr>
        <p:spPr bwMode="auto">
          <a:xfrm>
            <a:off x="152400" y="304800"/>
            <a:ext cx="8763000" cy="533400"/>
          </a:xfrm>
          <a:prstGeom prst="rect">
            <a:avLst/>
          </a:prstGeom>
          <a:noFill/>
          <a:ln w="9525">
            <a:noFill/>
            <a:miter lim="800000"/>
            <a:headEnd/>
            <a:tailEnd/>
          </a:ln>
          <a:effectLst/>
        </p:spPr>
        <p:txBody>
          <a:bodyPr vert="horz" wrap="square" lIns="90488" tIns="44450" rIns="90488" bIns="44450" numCol="1" anchor="t" anchorCtr="0" compatLnSpc="1">
            <a:prstTxWarp prst="textNoShape">
              <a:avLst/>
            </a:prstTxWarp>
          </a:bodyPr>
          <a:lstStyle/>
          <a:p>
            <a:pPr marL="342900" marR="0" lvl="0" indent="-342900" algn="l" defTabSz="914400" rtl="0" eaLnBrk="1" fontAlgn="base" latinLnBrk="0" hangingPunct="1">
              <a:lnSpc>
                <a:spcPct val="90000"/>
              </a:lnSpc>
              <a:spcBef>
                <a:spcPts val="500"/>
              </a:spcBef>
              <a:spcAft>
                <a:spcPts val="500"/>
              </a:spcAft>
              <a:buClrTx/>
              <a:buSzTx/>
              <a:buFontTx/>
              <a:buNone/>
              <a:tabLst/>
              <a:defRPr/>
            </a:pPr>
            <a:r>
              <a:rPr kumimoji="0" lang="en-US" sz="2400" b="1" i="0" u="none" strike="noStrike" kern="0" cap="none" spc="0" normalizeH="0" baseline="0" noProof="0" dirty="0">
                <a:ln>
                  <a:noFill/>
                </a:ln>
                <a:solidFill>
                  <a:srgbClr val="002060"/>
                </a:solidFill>
                <a:effectLst/>
                <a:uLnTx/>
                <a:uFillTx/>
                <a:latin typeface="Tahoma" pitchFamily="34" charset="0"/>
                <a:ea typeface="Tahoma" pitchFamily="34" charset="0"/>
                <a:cs typeface="Tahoma" pitchFamily="34" charset="0"/>
              </a:rPr>
              <a:t>Specifying Key and Referential Integrity  Constraints:</a:t>
            </a:r>
          </a:p>
        </p:txBody>
      </p:sp>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1066800"/>
            <a:ext cx="8610600" cy="4795159"/>
          </a:xfrm>
          <a:prstGeom prst="rect">
            <a:avLst/>
          </a:prstGeom>
        </p:spPr>
        <p:txBody>
          <a:bodyPr wrap="square">
            <a:spAutoFit/>
          </a:bodyPr>
          <a:lstStyle/>
          <a:p>
            <a:pPr marL="342900" lvl="0" indent="-342900" algn="just" fontAlgn="base">
              <a:spcBef>
                <a:spcPct val="20000"/>
              </a:spcBef>
              <a:spcAft>
                <a:spcPct val="0"/>
              </a:spcAft>
              <a:buFontTx/>
              <a:buChar char="•"/>
            </a:pPr>
            <a:r>
              <a:rPr lang="en-US" sz="2400" b="1" kern="0" dirty="0">
                <a:solidFill>
                  <a:srgbClr val="000000"/>
                </a:solidFill>
                <a:latin typeface="Tahoma" pitchFamily="34" charset="0"/>
                <a:ea typeface="Tahoma" pitchFamily="34" charset="0"/>
                <a:cs typeface="Tahoma" pitchFamily="34" charset="0"/>
              </a:rPr>
              <a:t>Giving Names to Constraints</a:t>
            </a:r>
          </a:p>
          <a:p>
            <a:pPr marL="342900" lvl="0" indent="-342900" algn="just" fontAlgn="base">
              <a:spcBef>
                <a:spcPct val="20000"/>
              </a:spcBef>
              <a:spcAft>
                <a:spcPct val="0"/>
              </a:spcAft>
            </a:pPr>
            <a:endParaRPr lang="en-US" sz="2400" b="1" kern="0" dirty="0">
              <a:solidFill>
                <a:srgbClr val="000000"/>
              </a:solidFill>
              <a:latin typeface="Tahoma" pitchFamily="34" charset="0"/>
              <a:ea typeface="Tahoma" pitchFamily="34" charset="0"/>
              <a:cs typeface="Tahoma" pitchFamily="34" charset="0"/>
            </a:endParaRPr>
          </a:p>
          <a:p>
            <a:pPr marL="742950" lvl="1" indent="-285750" algn="just" fontAlgn="base">
              <a:lnSpc>
                <a:spcPct val="150000"/>
              </a:lnSpc>
              <a:spcBef>
                <a:spcPct val="20000"/>
              </a:spcBef>
              <a:spcAft>
                <a:spcPct val="0"/>
              </a:spcAft>
              <a:buFont typeface="Arial" pitchFamily="34" charset="0"/>
              <a:buChar char="•"/>
            </a:pPr>
            <a:r>
              <a:rPr lang="en-US" sz="2000" b="1" kern="0" dirty="0">
                <a:solidFill>
                  <a:srgbClr val="000000"/>
                </a:solidFill>
              </a:rPr>
              <a:t>Constraints </a:t>
            </a:r>
            <a:r>
              <a:rPr lang="en-US" sz="2000" kern="0" dirty="0">
                <a:solidFill>
                  <a:srgbClr val="000000"/>
                </a:solidFill>
              </a:rPr>
              <a:t> may be given a name, following the keyword CONSTRAINT.</a:t>
            </a:r>
          </a:p>
          <a:p>
            <a:pPr marL="742950" lvl="1" indent="-285750" algn="just" fontAlgn="base">
              <a:lnSpc>
                <a:spcPct val="150000"/>
              </a:lnSpc>
              <a:spcBef>
                <a:spcPct val="20000"/>
              </a:spcBef>
              <a:spcAft>
                <a:spcPct val="0"/>
              </a:spcAft>
            </a:pPr>
            <a:endParaRPr lang="en-US" sz="2000" kern="0" dirty="0">
              <a:solidFill>
                <a:srgbClr val="000000"/>
              </a:solidFill>
            </a:endParaRPr>
          </a:p>
          <a:p>
            <a:pPr marL="742950" lvl="1" indent="-285750" algn="just" fontAlgn="base">
              <a:spcBef>
                <a:spcPct val="20000"/>
              </a:spcBef>
              <a:spcAft>
                <a:spcPct val="0"/>
              </a:spcAft>
            </a:pPr>
            <a:r>
              <a:rPr lang="en-US" sz="2000" kern="0" dirty="0">
                <a:solidFill>
                  <a:srgbClr val="000000"/>
                </a:solidFill>
              </a:rPr>
              <a:t>   </a:t>
            </a:r>
            <a:r>
              <a:rPr lang="en-US" sz="2000" b="1" kern="0" dirty="0">
                <a:solidFill>
                  <a:srgbClr val="000000"/>
                </a:solidFill>
              </a:rPr>
              <a:t>Example : </a:t>
            </a:r>
          </a:p>
          <a:p>
            <a:pPr marL="742950" lvl="1" indent="-285750" algn="just" fontAlgn="base">
              <a:spcBef>
                <a:spcPct val="20000"/>
              </a:spcBef>
              <a:spcAft>
                <a:spcPct val="0"/>
              </a:spcAft>
            </a:pPr>
            <a:r>
              <a:rPr lang="en-US" sz="2000" b="1" kern="0" dirty="0">
                <a:solidFill>
                  <a:srgbClr val="000000"/>
                </a:solidFill>
                <a:latin typeface="Tahoma" pitchFamily="34" charset="0"/>
                <a:ea typeface="Tahoma" pitchFamily="34" charset="0"/>
                <a:cs typeface="Tahoma" pitchFamily="34" charset="0"/>
              </a:rPr>
              <a:t>                    </a:t>
            </a:r>
            <a:r>
              <a:rPr lang="en-US" sz="2000" b="1" kern="0" dirty="0">
                <a:solidFill>
                  <a:srgbClr val="0070C0"/>
                </a:solidFill>
                <a:latin typeface="Tahoma" pitchFamily="34" charset="0"/>
                <a:ea typeface="Tahoma" pitchFamily="34" charset="0"/>
                <a:cs typeface="Tahoma" pitchFamily="34" charset="0"/>
              </a:rPr>
              <a:t>CONSTRAINT </a:t>
            </a:r>
            <a:r>
              <a:rPr lang="en-US" sz="2000" b="1" i="1" kern="0" dirty="0">
                <a:solidFill>
                  <a:srgbClr val="000000"/>
                </a:solidFill>
                <a:latin typeface="Tahoma" pitchFamily="34" charset="0"/>
                <a:ea typeface="Tahoma" pitchFamily="34" charset="0"/>
                <a:cs typeface="Tahoma" pitchFamily="34" charset="0"/>
              </a:rPr>
              <a:t>DEPTPK</a:t>
            </a:r>
            <a:r>
              <a:rPr lang="en-US" sz="2000" b="1" kern="0" dirty="0">
                <a:solidFill>
                  <a:srgbClr val="000000"/>
                </a:solidFill>
                <a:latin typeface="Tahoma" pitchFamily="34" charset="0"/>
                <a:ea typeface="Tahoma" pitchFamily="34" charset="0"/>
                <a:cs typeface="Tahoma" pitchFamily="34" charset="0"/>
              </a:rPr>
              <a:t>  </a:t>
            </a:r>
            <a:r>
              <a:rPr lang="en-US" sz="2000" b="1" kern="0" dirty="0">
                <a:solidFill>
                  <a:srgbClr val="0070C0"/>
                </a:solidFill>
                <a:latin typeface="Tahoma" pitchFamily="34" charset="0"/>
                <a:ea typeface="Tahoma" pitchFamily="34" charset="0"/>
                <a:cs typeface="Tahoma" pitchFamily="34" charset="0"/>
              </a:rPr>
              <a:t>PRIMARY KEY</a:t>
            </a:r>
            <a:r>
              <a:rPr lang="en-US" sz="2000" b="1" kern="0" dirty="0">
                <a:solidFill>
                  <a:srgbClr val="000000"/>
                </a:solidFill>
                <a:latin typeface="Tahoma" pitchFamily="34" charset="0"/>
                <a:ea typeface="Tahoma" pitchFamily="34" charset="0"/>
                <a:cs typeface="Tahoma" pitchFamily="34" charset="0"/>
              </a:rPr>
              <a:t>(DNUMBER)</a:t>
            </a:r>
            <a:r>
              <a:rPr lang="en-US" sz="2000" kern="0" dirty="0">
                <a:solidFill>
                  <a:srgbClr val="000000"/>
                </a:solidFill>
                <a:latin typeface="Tahoma" pitchFamily="34" charset="0"/>
                <a:ea typeface="Tahoma" pitchFamily="34" charset="0"/>
                <a:cs typeface="Tahoma" pitchFamily="34" charset="0"/>
              </a:rPr>
              <a:t> </a:t>
            </a:r>
          </a:p>
          <a:p>
            <a:pPr marL="742950" lvl="1" indent="-285750" algn="just" fontAlgn="base">
              <a:lnSpc>
                <a:spcPct val="150000"/>
              </a:lnSpc>
              <a:spcBef>
                <a:spcPct val="20000"/>
              </a:spcBef>
              <a:spcAft>
                <a:spcPct val="0"/>
              </a:spcAft>
              <a:buFontTx/>
              <a:buChar char="–"/>
            </a:pPr>
            <a:r>
              <a:rPr lang="en-US" sz="2000" kern="0" dirty="0">
                <a:solidFill>
                  <a:srgbClr val="000000"/>
                </a:solidFill>
                <a:latin typeface="Tahoma" pitchFamily="34" charset="0"/>
                <a:ea typeface="Tahoma" pitchFamily="34" charset="0"/>
                <a:cs typeface="Tahoma" pitchFamily="34" charset="0"/>
              </a:rPr>
              <a:t>The names all the constraints must be unique within a schema.</a:t>
            </a:r>
          </a:p>
          <a:p>
            <a:pPr marL="742950" lvl="1" indent="-285750" algn="just" fontAlgn="base">
              <a:lnSpc>
                <a:spcPct val="150000"/>
              </a:lnSpc>
              <a:spcBef>
                <a:spcPct val="20000"/>
              </a:spcBef>
              <a:spcAft>
                <a:spcPct val="0"/>
              </a:spcAft>
              <a:buFontTx/>
              <a:buChar char="–"/>
            </a:pPr>
            <a:r>
              <a:rPr lang="en-US" sz="2000" kern="0" dirty="0">
                <a:solidFill>
                  <a:srgbClr val="000000"/>
                </a:solidFill>
                <a:latin typeface="Tahoma" pitchFamily="34" charset="0"/>
                <a:ea typeface="Tahoma" pitchFamily="34" charset="0"/>
                <a:cs typeface="Tahoma" pitchFamily="34" charset="0"/>
              </a:rPr>
              <a:t>Constraints can be dropped or replaced with another constraint.</a:t>
            </a:r>
          </a:p>
          <a:p>
            <a:pPr marL="742950" lvl="1" indent="-285750" algn="just" fontAlgn="base">
              <a:lnSpc>
                <a:spcPct val="150000"/>
              </a:lnSpc>
              <a:spcBef>
                <a:spcPct val="20000"/>
              </a:spcBef>
              <a:spcAft>
                <a:spcPct val="0"/>
              </a:spcAft>
              <a:buFontTx/>
              <a:buChar char="–"/>
            </a:pPr>
            <a:r>
              <a:rPr lang="en-US" sz="2000" kern="0" dirty="0">
                <a:solidFill>
                  <a:srgbClr val="000000"/>
                </a:solidFill>
                <a:latin typeface="Tahoma" pitchFamily="34" charset="0"/>
                <a:ea typeface="Tahoma" pitchFamily="34" charset="0"/>
                <a:cs typeface="Tahoma" pitchFamily="34" charset="0"/>
              </a:rPr>
              <a:t>Giving names to constraints is optional. </a:t>
            </a:r>
          </a:p>
        </p:txBody>
      </p:sp>
      <p:sp>
        <p:nvSpPr>
          <p:cNvPr id="8" name="Rectangle 3"/>
          <p:cNvSpPr txBox="1">
            <a:spLocks noChangeArrowheads="1"/>
          </p:cNvSpPr>
          <p:nvPr/>
        </p:nvSpPr>
        <p:spPr bwMode="auto">
          <a:xfrm>
            <a:off x="152400" y="304800"/>
            <a:ext cx="8763000" cy="533400"/>
          </a:xfrm>
          <a:prstGeom prst="rect">
            <a:avLst/>
          </a:prstGeom>
          <a:noFill/>
          <a:ln w="9525">
            <a:noFill/>
            <a:miter lim="800000"/>
            <a:headEnd/>
            <a:tailEnd/>
          </a:ln>
          <a:effectLst/>
        </p:spPr>
        <p:txBody>
          <a:bodyPr vert="horz" wrap="square" lIns="90488" tIns="44450" rIns="90488" bIns="44450" numCol="1" anchor="t" anchorCtr="0" compatLnSpc="1">
            <a:prstTxWarp prst="textNoShape">
              <a:avLst/>
            </a:prstTxWarp>
          </a:bodyPr>
          <a:lstStyle/>
          <a:p>
            <a:pPr marL="342900" marR="0" lvl="0" indent="-342900" algn="l" defTabSz="914400" rtl="0" eaLnBrk="1" fontAlgn="base" latinLnBrk="0" hangingPunct="1">
              <a:lnSpc>
                <a:spcPct val="90000"/>
              </a:lnSpc>
              <a:spcBef>
                <a:spcPts val="500"/>
              </a:spcBef>
              <a:spcAft>
                <a:spcPts val="500"/>
              </a:spcAft>
              <a:buClrTx/>
              <a:buSzTx/>
              <a:buFontTx/>
              <a:buNone/>
              <a:tabLst/>
              <a:defRPr/>
            </a:pPr>
            <a:r>
              <a:rPr kumimoji="0" lang="en-US" sz="2400" b="1" i="0" u="none" strike="noStrike" kern="0" cap="none" spc="0" normalizeH="0" baseline="0" noProof="0" dirty="0">
                <a:ln>
                  <a:noFill/>
                </a:ln>
                <a:solidFill>
                  <a:srgbClr val="002060"/>
                </a:solidFill>
                <a:effectLst/>
                <a:uLnTx/>
                <a:uFillTx/>
                <a:latin typeface="Tahoma" pitchFamily="34" charset="0"/>
                <a:ea typeface="Tahoma" pitchFamily="34" charset="0"/>
                <a:cs typeface="Tahoma" pitchFamily="34" charset="0"/>
              </a:rPr>
              <a:t>Specifying Key and Referential Integrity  Constraints:</a:t>
            </a:r>
          </a:p>
        </p:txBody>
      </p:sp>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1295400"/>
            <a:ext cx="8610600" cy="2271391"/>
          </a:xfrm>
          <a:prstGeom prst="rect">
            <a:avLst/>
          </a:prstGeom>
        </p:spPr>
        <p:txBody>
          <a:bodyPr wrap="square">
            <a:spAutoFit/>
          </a:bodyPr>
          <a:lstStyle/>
          <a:p>
            <a:pPr marL="342900" indent="-342900" algn="just" fontAlgn="base">
              <a:lnSpc>
                <a:spcPct val="150000"/>
              </a:lnSpc>
              <a:spcBef>
                <a:spcPct val="20000"/>
              </a:spcBef>
              <a:spcAft>
                <a:spcPct val="0"/>
              </a:spcAft>
              <a:buFont typeface="Arial" pitchFamily="34" charset="0"/>
              <a:buChar char="•"/>
            </a:pPr>
            <a:r>
              <a:rPr lang="en-US" sz="2400" kern="0" dirty="0">
                <a:solidFill>
                  <a:srgbClr val="000000"/>
                </a:solidFill>
                <a:latin typeface="Tahoma" pitchFamily="34" charset="0"/>
                <a:ea typeface="Tahoma" pitchFamily="34" charset="0"/>
                <a:cs typeface="Tahoma" pitchFamily="34" charset="0"/>
              </a:rPr>
              <a:t>These are called tuple based constraints which are specified at the end of a CREATE TABLE statement.</a:t>
            </a:r>
          </a:p>
          <a:p>
            <a:pPr marL="342900" indent="-342900" algn="just" fontAlgn="base">
              <a:lnSpc>
                <a:spcPct val="150000"/>
              </a:lnSpc>
              <a:spcBef>
                <a:spcPct val="20000"/>
              </a:spcBef>
              <a:spcAft>
                <a:spcPct val="0"/>
              </a:spcAft>
            </a:pPr>
            <a:endParaRPr lang="en-US" sz="2400" kern="0" dirty="0">
              <a:solidFill>
                <a:srgbClr val="000000"/>
              </a:solidFill>
              <a:latin typeface="Tahoma" pitchFamily="34" charset="0"/>
              <a:ea typeface="Tahoma" pitchFamily="34" charset="0"/>
              <a:cs typeface="Tahoma" pitchFamily="34" charset="0"/>
            </a:endParaRPr>
          </a:p>
          <a:p>
            <a:pPr marL="800100" lvl="1" indent="-342900" algn="just" fontAlgn="base">
              <a:spcBef>
                <a:spcPct val="20000"/>
              </a:spcBef>
              <a:spcAft>
                <a:spcPct val="0"/>
              </a:spcAft>
            </a:pPr>
            <a:r>
              <a:rPr lang="en-US" sz="2400" b="1" kern="0" dirty="0">
                <a:solidFill>
                  <a:srgbClr val="000000"/>
                </a:solidFill>
                <a:latin typeface="Tahoma" pitchFamily="34" charset="0"/>
                <a:ea typeface="Tahoma" pitchFamily="34" charset="0"/>
                <a:cs typeface="Tahoma" pitchFamily="34" charset="0"/>
              </a:rPr>
              <a:t>Example :  </a:t>
            </a:r>
            <a:r>
              <a:rPr lang="en-US" b="1" kern="0" dirty="0">
                <a:solidFill>
                  <a:srgbClr val="0070C0"/>
                </a:solidFill>
                <a:latin typeface="Tahoma" pitchFamily="34" charset="0"/>
                <a:ea typeface="Tahoma" pitchFamily="34" charset="0"/>
                <a:cs typeface="Tahoma" pitchFamily="34" charset="0"/>
              </a:rPr>
              <a:t>CHECK </a:t>
            </a:r>
            <a:r>
              <a:rPr lang="en-US" b="1" kern="0" dirty="0">
                <a:solidFill>
                  <a:srgbClr val="000000"/>
                </a:solidFill>
                <a:latin typeface="Tahoma" pitchFamily="34" charset="0"/>
                <a:ea typeface="Tahoma" pitchFamily="34" charset="0"/>
                <a:cs typeface="Tahoma" pitchFamily="34" charset="0"/>
              </a:rPr>
              <a:t>( DEPT_CREATE_DATE &lt;MGRSTARTDATE);</a:t>
            </a:r>
            <a:endParaRPr lang="en-US" sz="2400" b="1" kern="0" dirty="0">
              <a:solidFill>
                <a:srgbClr val="000000"/>
              </a:solidFill>
              <a:latin typeface="Tahoma" pitchFamily="34" charset="0"/>
              <a:ea typeface="Tahoma" pitchFamily="34" charset="0"/>
              <a:cs typeface="Tahoma" pitchFamily="34" charset="0"/>
            </a:endParaRPr>
          </a:p>
        </p:txBody>
      </p:sp>
      <p:sp>
        <p:nvSpPr>
          <p:cNvPr id="8" name="Rectangle 3"/>
          <p:cNvSpPr txBox="1">
            <a:spLocks noChangeArrowheads="1"/>
          </p:cNvSpPr>
          <p:nvPr/>
        </p:nvSpPr>
        <p:spPr bwMode="auto">
          <a:xfrm>
            <a:off x="152400" y="304800"/>
            <a:ext cx="8763000" cy="533400"/>
          </a:xfrm>
          <a:prstGeom prst="rect">
            <a:avLst/>
          </a:prstGeom>
          <a:noFill/>
          <a:ln w="9525">
            <a:noFill/>
            <a:miter lim="800000"/>
            <a:headEnd/>
            <a:tailEnd/>
          </a:ln>
          <a:effectLst/>
        </p:spPr>
        <p:txBody>
          <a:bodyPr vert="horz" wrap="square" lIns="90488" tIns="44450" rIns="90488" bIns="44450" numCol="1" anchor="t" anchorCtr="0" compatLnSpc="1">
            <a:prstTxWarp prst="textNoShape">
              <a:avLst/>
            </a:prstTxWarp>
          </a:bodyPr>
          <a:lstStyle/>
          <a:p>
            <a:pPr marL="342900" indent="-342900" fontAlgn="base">
              <a:lnSpc>
                <a:spcPct val="90000"/>
              </a:lnSpc>
              <a:spcBef>
                <a:spcPts val="500"/>
              </a:spcBef>
              <a:spcAft>
                <a:spcPts val="500"/>
              </a:spcAft>
            </a:pPr>
            <a:r>
              <a:rPr lang="en-IN" sz="2400" b="1" kern="0" dirty="0">
                <a:solidFill>
                  <a:srgbClr val="002060"/>
                </a:solidFill>
                <a:latin typeface="Tahoma" pitchFamily="34" charset="0"/>
                <a:ea typeface="Tahoma" pitchFamily="34" charset="0"/>
                <a:cs typeface="Tahoma" pitchFamily="34" charset="0"/>
              </a:rPr>
              <a:t>Specifying Constraints on Tuples Using CHECK</a:t>
            </a:r>
          </a:p>
          <a:p>
            <a:pPr marL="342900" indent="-342900" fontAlgn="base">
              <a:lnSpc>
                <a:spcPct val="90000"/>
              </a:lnSpc>
              <a:spcBef>
                <a:spcPts val="500"/>
              </a:spcBef>
              <a:spcAft>
                <a:spcPts val="500"/>
              </a:spcAft>
            </a:pPr>
            <a:endParaRPr kumimoji="0" lang="en-US" sz="2400" b="1" i="0" u="none" strike="noStrike" kern="0" cap="none" spc="0" normalizeH="0" baseline="0" noProof="0" dirty="0">
              <a:ln>
                <a:noFill/>
              </a:ln>
              <a:solidFill>
                <a:srgbClr val="002060"/>
              </a:solidFill>
              <a:effectLst/>
              <a:uLnTx/>
              <a:uFillTx/>
              <a:latin typeface="Tahoma" pitchFamily="34" charset="0"/>
              <a:ea typeface="Tahoma" pitchFamily="34" charset="0"/>
              <a:cs typeface="Tahoma" pitchFamily="34" charset="0"/>
            </a:endParaRPr>
          </a:p>
        </p:txBody>
      </p:sp>
      <p:sp>
        <p:nvSpPr>
          <p:cNvPr id="4" name="TextBox 3"/>
          <p:cNvSpPr txBox="1"/>
          <p:nvPr/>
        </p:nvSpPr>
        <p:spPr>
          <a:xfrm>
            <a:off x="457200" y="4191000"/>
            <a:ext cx="8458200" cy="923330"/>
          </a:xfrm>
          <a:prstGeom prst="rect">
            <a:avLst/>
          </a:prstGeom>
          <a:noFill/>
        </p:spPr>
        <p:txBody>
          <a:bodyPr wrap="square" rtlCol="0">
            <a:spAutoFit/>
          </a:bodyPr>
          <a:lstStyle/>
          <a:p>
            <a:pPr algn="just">
              <a:lnSpc>
                <a:spcPct val="150000"/>
              </a:lnSpc>
            </a:pPr>
            <a:r>
              <a:rPr lang="en-US" b="1" dirty="0"/>
              <a:t>Because a manager can start managing a department  only after it  is created</a:t>
            </a:r>
            <a:endParaRPr lang="en-IN" b="1" dirty="0"/>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152400" y="381000"/>
            <a:ext cx="8382000" cy="457200"/>
          </a:xfrm>
          <a:noFill/>
        </p:spPr>
        <p:txBody>
          <a:bodyPr lIns="90488" tIns="44450" rIns="90488" bIns="44450"/>
          <a:lstStyle/>
          <a:p>
            <a:pPr algn="just" eaLnBrk="1" hangingPunct="1">
              <a:lnSpc>
                <a:spcPct val="90000"/>
              </a:lnSpc>
              <a:spcBef>
                <a:spcPts val="500"/>
              </a:spcBef>
              <a:spcAft>
                <a:spcPts val="500"/>
              </a:spcAft>
              <a:buNone/>
            </a:pPr>
            <a:r>
              <a:rPr lang="en-US" sz="2800" b="1" dirty="0">
                <a:solidFill>
                  <a:srgbClr val="002060"/>
                </a:solidFill>
                <a:latin typeface="Tahoma" pitchFamily="34" charset="0"/>
                <a:ea typeface="Tahoma" pitchFamily="34" charset="0"/>
                <a:cs typeface="Tahoma" pitchFamily="34" charset="0"/>
              </a:rPr>
              <a:t>Example : Company Database</a:t>
            </a:r>
          </a:p>
        </p:txBody>
      </p:sp>
      <p:pic>
        <p:nvPicPr>
          <p:cNvPr id="1026" name="Picture 2"/>
          <p:cNvPicPr>
            <a:picLocks noChangeAspect="1" noChangeArrowheads="1"/>
          </p:cNvPicPr>
          <p:nvPr/>
        </p:nvPicPr>
        <p:blipFill>
          <a:blip r:embed="rId3" cstate="print"/>
          <a:srcRect/>
          <a:stretch>
            <a:fillRect/>
          </a:stretch>
        </p:blipFill>
        <p:spPr bwMode="auto">
          <a:xfrm>
            <a:off x="381000" y="1752600"/>
            <a:ext cx="8295774" cy="3200400"/>
          </a:xfrm>
          <a:prstGeom prst="rect">
            <a:avLst/>
          </a:prstGeom>
          <a:noFill/>
          <a:ln w="9525">
            <a:noFill/>
            <a:miter lim="800000"/>
            <a:headEnd/>
            <a:tailEnd/>
          </a:ln>
        </p:spPr>
      </p:pic>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0" y="304800"/>
            <a:ext cx="8382000" cy="457200"/>
          </a:xfrm>
          <a:noFill/>
        </p:spPr>
        <p:txBody>
          <a:bodyPr lIns="90488" tIns="44450" rIns="90488" bIns="44450"/>
          <a:lstStyle/>
          <a:p>
            <a:pPr algn="just" eaLnBrk="1" hangingPunct="1">
              <a:lnSpc>
                <a:spcPct val="90000"/>
              </a:lnSpc>
              <a:spcBef>
                <a:spcPts val="500"/>
              </a:spcBef>
              <a:spcAft>
                <a:spcPts val="500"/>
              </a:spcAft>
              <a:buNone/>
            </a:pPr>
            <a:r>
              <a:rPr lang="en-US" sz="2800" b="1" dirty="0">
                <a:solidFill>
                  <a:srgbClr val="002060"/>
                </a:solidFill>
                <a:latin typeface="Tahoma" pitchFamily="34" charset="0"/>
                <a:ea typeface="Tahoma" pitchFamily="34" charset="0"/>
                <a:cs typeface="Tahoma" pitchFamily="34" charset="0"/>
              </a:rPr>
              <a:t>Example : Company Database</a:t>
            </a:r>
          </a:p>
        </p:txBody>
      </p:sp>
      <p:pic>
        <p:nvPicPr>
          <p:cNvPr id="2050" name="Picture 2"/>
          <p:cNvPicPr>
            <a:picLocks noChangeAspect="1" noChangeArrowheads="1"/>
          </p:cNvPicPr>
          <p:nvPr/>
        </p:nvPicPr>
        <p:blipFill>
          <a:blip r:embed="rId3" cstate="print"/>
          <a:srcRect/>
          <a:stretch>
            <a:fillRect/>
          </a:stretch>
        </p:blipFill>
        <p:spPr bwMode="auto">
          <a:xfrm>
            <a:off x="457201" y="1037664"/>
            <a:ext cx="7848600" cy="3077136"/>
          </a:xfrm>
          <a:prstGeom prst="rect">
            <a:avLst/>
          </a:prstGeom>
          <a:noFill/>
          <a:ln w="9525">
            <a:noFill/>
            <a:miter lim="800000"/>
            <a:headEnd/>
            <a:tailEnd/>
          </a:ln>
        </p:spPr>
      </p:pic>
      <p:pic>
        <p:nvPicPr>
          <p:cNvPr id="2051" name="Picture 3"/>
          <p:cNvPicPr>
            <a:picLocks noChangeAspect="1" noChangeArrowheads="1"/>
          </p:cNvPicPr>
          <p:nvPr/>
        </p:nvPicPr>
        <p:blipFill>
          <a:blip r:embed="rId4" cstate="print"/>
          <a:srcRect/>
          <a:stretch>
            <a:fillRect/>
          </a:stretch>
        </p:blipFill>
        <p:spPr bwMode="auto">
          <a:xfrm>
            <a:off x="381000" y="4419600"/>
            <a:ext cx="8382001" cy="1828800"/>
          </a:xfrm>
          <a:prstGeom prst="rect">
            <a:avLst/>
          </a:prstGeom>
          <a:noFill/>
          <a:ln w="9525">
            <a:noFill/>
            <a:miter lim="800000"/>
            <a:headEnd/>
            <a:tailEnd/>
          </a:ln>
        </p:spPr>
      </p:pic>
    </p:spTree>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81000" y="1981200"/>
            <a:ext cx="8382000" cy="2819400"/>
          </a:xfrm>
          <a:noFill/>
        </p:spPr>
        <p:txBody>
          <a:bodyPr lIns="90488" tIns="44450" rIns="90488" bIns="44450"/>
          <a:lstStyle/>
          <a:p>
            <a:pPr algn="ctr" eaLnBrk="1" hangingPunct="1">
              <a:lnSpc>
                <a:spcPct val="150000"/>
              </a:lnSpc>
              <a:spcBef>
                <a:spcPts val="500"/>
              </a:spcBef>
              <a:spcAft>
                <a:spcPts val="500"/>
              </a:spcAft>
              <a:buNone/>
            </a:pPr>
            <a:r>
              <a:rPr lang="en-US" sz="5400" b="1" dirty="0">
                <a:solidFill>
                  <a:srgbClr val="002060"/>
                </a:solidFill>
                <a:latin typeface="Tahoma" pitchFamily="34" charset="0"/>
                <a:ea typeface="Tahoma" pitchFamily="34" charset="0"/>
                <a:cs typeface="Tahoma" pitchFamily="34" charset="0"/>
              </a:rPr>
              <a:t>Schema Change Statement in SQL-99</a:t>
            </a:r>
          </a:p>
        </p:txBody>
      </p:sp>
    </p:spTree>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1000" y="1066800"/>
            <a:ext cx="8534400" cy="5468677"/>
          </a:xfrm>
          <a:prstGeom prst="rect">
            <a:avLst/>
          </a:prstGeom>
          <a:noFill/>
        </p:spPr>
        <p:txBody>
          <a:bodyPr wrap="square" rtlCol="0">
            <a:spAutoFit/>
          </a:bodyPr>
          <a:lstStyle/>
          <a:p>
            <a:pPr marL="457200" indent="-457200" algn="just">
              <a:lnSpc>
                <a:spcPct val="90000"/>
              </a:lnSpc>
              <a:buFont typeface="Arial" pitchFamily="34" charset="0"/>
              <a:buChar char="•"/>
            </a:pPr>
            <a:r>
              <a:rPr lang="en-US" sz="2000" b="1" dirty="0">
                <a:solidFill>
                  <a:srgbClr val="000000"/>
                </a:solidFill>
                <a:latin typeface="Tahoma" pitchFamily="34" charset="0"/>
                <a:ea typeface="Tahoma" pitchFamily="34" charset="0"/>
                <a:cs typeface="Tahoma" pitchFamily="34" charset="0"/>
              </a:rPr>
              <a:t>To drop</a:t>
            </a:r>
            <a:endParaRPr lang="en-US" sz="2000" b="1" dirty="0">
              <a:latin typeface="Tahoma" pitchFamily="34" charset="0"/>
              <a:ea typeface="Tahoma" pitchFamily="34" charset="0"/>
              <a:cs typeface="Tahoma" pitchFamily="34" charset="0"/>
            </a:endParaRPr>
          </a:p>
          <a:p>
            <a:pPr marL="1828800" lvl="3" indent="-457200" algn="just">
              <a:lnSpc>
                <a:spcPct val="150000"/>
              </a:lnSpc>
              <a:buFont typeface="Arial" pitchFamily="34" charset="0"/>
              <a:buChar char="•"/>
            </a:pPr>
            <a:r>
              <a:rPr lang="en-US" sz="2000" dirty="0">
                <a:latin typeface="Tahoma" pitchFamily="34" charset="0"/>
                <a:ea typeface="Tahoma" pitchFamily="34" charset="0"/>
                <a:cs typeface="Tahoma" pitchFamily="34" charset="0"/>
              </a:rPr>
              <a:t>schema </a:t>
            </a:r>
          </a:p>
          <a:p>
            <a:pPr marL="1714500" lvl="3" indent="-342900" algn="just">
              <a:lnSpc>
                <a:spcPct val="150000"/>
              </a:lnSpc>
              <a:buFont typeface="Arial" pitchFamily="34" charset="0"/>
              <a:buChar char="•"/>
            </a:pPr>
            <a:r>
              <a:rPr lang="en-US" sz="2000" dirty="0">
                <a:latin typeface="Tahoma" pitchFamily="34" charset="0"/>
                <a:ea typeface="Tahoma" pitchFamily="34" charset="0"/>
                <a:cs typeface="Tahoma" pitchFamily="34" charset="0"/>
              </a:rPr>
              <a:t> tables </a:t>
            </a:r>
          </a:p>
          <a:p>
            <a:pPr marL="1714500" lvl="3" indent="-342900" algn="just">
              <a:lnSpc>
                <a:spcPct val="150000"/>
              </a:lnSpc>
              <a:buFont typeface="Arial" pitchFamily="34" charset="0"/>
              <a:buChar char="•"/>
            </a:pPr>
            <a:r>
              <a:rPr lang="en-US" sz="2000" dirty="0">
                <a:latin typeface="Tahoma" pitchFamily="34" charset="0"/>
                <a:ea typeface="Tahoma" pitchFamily="34" charset="0"/>
                <a:cs typeface="Tahoma" pitchFamily="34" charset="0"/>
              </a:rPr>
              <a:t> domains </a:t>
            </a:r>
          </a:p>
          <a:p>
            <a:pPr marL="1714500" lvl="3" indent="-342900" algn="just">
              <a:lnSpc>
                <a:spcPct val="150000"/>
              </a:lnSpc>
              <a:buFont typeface="Arial" pitchFamily="34" charset="0"/>
              <a:buChar char="•"/>
            </a:pPr>
            <a:r>
              <a:rPr lang="en-US" sz="2000" dirty="0">
                <a:latin typeface="Tahoma" pitchFamily="34" charset="0"/>
                <a:ea typeface="Tahoma" pitchFamily="34" charset="0"/>
                <a:cs typeface="Tahoma" pitchFamily="34" charset="0"/>
              </a:rPr>
              <a:t> constraints.</a:t>
            </a:r>
            <a:endParaRPr lang="en-US" sz="1400" b="1" dirty="0">
              <a:latin typeface="Tahoma" pitchFamily="34" charset="0"/>
              <a:ea typeface="Tahoma" pitchFamily="34" charset="0"/>
              <a:cs typeface="Tahoma" pitchFamily="34" charset="0"/>
            </a:endParaRPr>
          </a:p>
          <a:p>
            <a:pPr algn="just">
              <a:lnSpc>
                <a:spcPct val="150000"/>
              </a:lnSpc>
              <a:buFont typeface="Arial" pitchFamily="34" charset="0"/>
              <a:buChar char="•"/>
            </a:pPr>
            <a:r>
              <a:rPr lang="en-US" sz="1600" dirty="0">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DROP has two options :</a:t>
            </a:r>
            <a:r>
              <a:rPr lang="en-US" sz="2000" dirty="0">
                <a:latin typeface="Tahoma" pitchFamily="34" charset="0"/>
                <a:ea typeface="Tahoma" pitchFamily="34" charset="0"/>
                <a:cs typeface="Tahoma" pitchFamily="34" charset="0"/>
              </a:rPr>
              <a:t>  </a:t>
            </a:r>
            <a:r>
              <a:rPr lang="en-US" sz="1600" b="1" dirty="0">
                <a:solidFill>
                  <a:srgbClr val="0070C0"/>
                </a:solidFill>
                <a:latin typeface="Tahoma" pitchFamily="34" charset="0"/>
                <a:ea typeface="Tahoma" pitchFamily="34" charset="0"/>
                <a:cs typeface="Tahoma" pitchFamily="34" charset="0"/>
              </a:rPr>
              <a:t>CASCADE &amp; RESTRICT</a:t>
            </a:r>
          </a:p>
          <a:p>
            <a:pPr lvl="1" algn="just">
              <a:lnSpc>
                <a:spcPct val="150000"/>
              </a:lnSpc>
              <a:buFont typeface="Arial" pitchFamily="34" charset="0"/>
              <a:buChar char="•"/>
            </a:pPr>
            <a:endParaRPr lang="en-US" sz="1600" dirty="0">
              <a:latin typeface="Tahoma" pitchFamily="34" charset="0"/>
              <a:ea typeface="Tahoma" pitchFamily="34" charset="0"/>
              <a:cs typeface="Tahoma" pitchFamily="34" charset="0"/>
            </a:endParaRPr>
          </a:p>
          <a:p>
            <a:pPr lvl="1" algn="just">
              <a:lnSpc>
                <a:spcPct val="150000"/>
              </a:lnSpc>
            </a:pPr>
            <a:r>
              <a:rPr lang="en-US" sz="1600" dirty="0">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Example :  </a:t>
            </a:r>
            <a:r>
              <a:rPr lang="en-US" b="1" dirty="0">
                <a:solidFill>
                  <a:srgbClr val="0070C0"/>
                </a:solidFill>
                <a:latin typeface="Tahoma" pitchFamily="34" charset="0"/>
                <a:ea typeface="Tahoma" pitchFamily="34" charset="0"/>
                <a:cs typeface="Tahoma" pitchFamily="34" charset="0"/>
              </a:rPr>
              <a:t>DROP</a:t>
            </a:r>
            <a:r>
              <a:rPr lang="en-US" b="1" dirty="0">
                <a:latin typeface="Tahoma" pitchFamily="34" charset="0"/>
                <a:ea typeface="Tahoma" pitchFamily="34" charset="0"/>
                <a:cs typeface="Tahoma" pitchFamily="34" charset="0"/>
              </a:rPr>
              <a:t> </a:t>
            </a:r>
            <a:r>
              <a:rPr lang="en-US" b="1" dirty="0">
                <a:solidFill>
                  <a:srgbClr val="0070C0"/>
                </a:solidFill>
                <a:latin typeface="Tahoma" pitchFamily="34" charset="0"/>
                <a:ea typeface="Tahoma" pitchFamily="34" charset="0"/>
                <a:cs typeface="Tahoma" pitchFamily="34" charset="0"/>
              </a:rPr>
              <a:t>SCHEMA</a:t>
            </a:r>
            <a:r>
              <a:rPr lang="en-US" b="1"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COMPANY </a:t>
            </a:r>
            <a:r>
              <a:rPr lang="en-US" b="1" dirty="0">
                <a:solidFill>
                  <a:srgbClr val="0070C0"/>
                </a:solidFill>
                <a:latin typeface="Tahoma" pitchFamily="34" charset="0"/>
                <a:ea typeface="Tahoma" pitchFamily="34" charset="0"/>
                <a:cs typeface="Tahoma" pitchFamily="34" charset="0"/>
              </a:rPr>
              <a:t>CASCADE</a:t>
            </a:r>
            <a:r>
              <a:rPr lang="en-US" b="1" dirty="0">
                <a:latin typeface="Tahoma" pitchFamily="34" charset="0"/>
                <a:ea typeface="Tahoma" pitchFamily="34" charset="0"/>
                <a:cs typeface="Tahoma" pitchFamily="34" charset="0"/>
              </a:rPr>
              <a:t>;</a:t>
            </a:r>
          </a:p>
          <a:p>
            <a:pPr lvl="1" algn="just">
              <a:lnSpc>
                <a:spcPct val="150000"/>
              </a:lnSpc>
            </a:pPr>
            <a:endParaRPr lang="en-US" sz="1600" dirty="0">
              <a:latin typeface="Tahoma" pitchFamily="34" charset="0"/>
              <a:ea typeface="Tahoma" pitchFamily="34" charset="0"/>
              <a:cs typeface="Tahoma" pitchFamily="34" charset="0"/>
            </a:endParaRPr>
          </a:p>
          <a:p>
            <a:pPr marL="1200150" lvl="2" indent="-285750" algn="just" fontAlgn="base">
              <a:lnSpc>
                <a:spcPct val="150000"/>
              </a:lnSpc>
              <a:spcBef>
                <a:spcPct val="20000"/>
              </a:spcBef>
              <a:spcAft>
                <a:spcPct val="0"/>
              </a:spcAft>
              <a:buFontTx/>
              <a:buChar char="–"/>
            </a:pPr>
            <a:r>
              <a:rPr lang="en-US" sz="1600" b="1" kern="0" dirty="0">
                <a:solidFill>
                  <a:srgbClr val="000000"/>
                </a:solidFill>
                <a:latin typeface="Tahoma" pitchFamily="34" charset="0"/>
                <a:ea typeface="Tahoma" pitchFamily="34" charset="0"/>
                <a:cs typeface="Tahoma" pitchFamily="34" charset="0"/>
              </a:rPr>
              <a:t>CASCADE</a:t>
            </a:r>
            <a:r>
              <a:rPr lang="en-US" sz="1600" kern="0" dirty="0">
                <a:solidFill>
                  <a:srgbClr val="000000"/>
                </a:solidFill>
                <a:latin typeface="Tahoma" pitchFamily="34" charset="0"/>
                <a:ea typeface="Tahoma" pitchFamily="34" charset="0"/>
                <a:cs typeface="Tahoma" pitchFamily="34" charset="0"/>
              </a:rPr>
              <a:t> option , </a:t>
            </a:r>
            <a:r>
              <a:rPr lang="en-US" sz="1600" kern="0" dirty="0">
                <a:solidFill>
                  <a:srgbClr val="C00000"/>
                </a:solidFill>
                <a:latin typeface="Tahoma" pitchFamily="34" charset="0"/>
                <a:ea typeface="Tahoma" pitchFamily="34" charset="0"/>
                <a:cs typeface="Tahoma" pitchFamily="34" charset="0"/>
              </a:rPr>
              <a:t>when dropping a schema </a:t>
            </a:r>
            <a:r>
              <a:rPr lang="en-US" sz="1600" kern="0" dirty="0">
                <a:solidFill>
                  <a:srgbClr val="000000"/>
                </a:solidFill>
                <a:latin typeface="Tahoma" pitchFamily="34" charset="0"/>
                <a:ea typeface="Tahoma" pitchFamily="34" charset="0"/>
                <a:cs typeface="Tahoma" pitchFamily="34" charset="0"/>
              </a:rPr>
              <a:t>, will  remove database schema and all its tables, domains, and other elements.</a:t>
            </a:r>
          </a:p>
          <a:p>
            <a:pPr marL="1200150" lvl="2" indent="-285750" algn="just" fontAlgn="base">
              <a:lnSpc>
                <a:spcPct val="150000"/>
              </a:lnSpc>
              <a:spcBef>
                <a:spcPts val="500"/>
              </a:spcBef>
              <a:spcAft>
                <a:spcPts val="500"/>
              </a:spcAft>
              <a:buFontTx/>
              <a:buChar char="–"/>
            </a:pPr>
            <a:r>
              <a:rPr lang="en-US" sz="1600" b="1" kern="0" dirty="0">
                <a:solidFill>
                  <a:srgbClr val="000000"/>
                </a:solidFill>
                <a:latin typeface="Tahoma" pitchFamily="34" charset="0"/>
                <a:ea typeface="Tahoma" pitchFamily="34" charset="0"/>
                <a:cs typeface="Tahoma" pitchFamily="34" charset="0"/>
              </a:rPr>
              <a:t>If RESTRICT</a:t>
            </a:r>
            <a:r>
              <a:rPr lang="en-US" sz="1600" kern="0" dirty="0">
                <a:solidFill>
                  <a:srgbClr val="000000"/>
                </a:solidFill>
                <a:latin typeface="Tahoma" pitchFamily="34" charset="0"/>
                <a:ea typeface="Tahoma" pitchFamily="34" charset="0"/>
                <a:cs typeface="Tahoma" pitchFamily="34" charset="0"/>
              </a:rPr>
              <a:t> option is chosen ,then schema is dropped only if it has no elements in it;  otherwise, the DROP command will not be executed</a:t>
            </a:r>
            <a:r>
              <a:rPr lang="en-US" dirty="0">
                <a:latin typeface="Tahoma" pitchFamily="34" charset="0"/>
                <a:ea typeface="Tahoma" pitchFamily="34" charset="0"/>
                <a:cs typeface="Tahoma" pitchFamily="34" charset="0"/>
              </a:rPr>
              <a:t>  </a:t>
            </a:r>
            <a:endParaRPr lang="en-US" b="1" kern="0" dirty="0">
              <a:solidFill>
                <a:srgbClr val="000000"/>
              </a:solidFill>
            </a:endParaRPr>
          </a:p>
        </p:txBody>
      </p:sp>
      <p:sp>
        <p:nvSpPr>
          <p:cNvPr id="7" name="Rectangle 6"/>
          <p:cNvSpPr/>
          <p:nvPr/>
        </p:nvSpPr>
        <p:spPr>
          <a:xfrm>
            <a:off x="459432" y="304800"/>
            <a:ext cx="3921266" cy="480131"/>
          </a:xfrm>
          <a:prstGeom prst="rect">
            <a:avLst/>
          </a:prstGeom>
        </p:spPr>
        <p:txBody>
          <a:bodyPr wrap="none">
            <a:spAutoFit/>
          </a:bodyPr>
          <a:lstStyle/>
          <a:p>
            <a:pPr marL="457200" indent="-457200" algn="just">
              <a:lnSpc>
                <a:spcPct val="90000"/>
              </a:lnSpc>
            </a:pPr>
            <a:r>
              <a:rPr lang="en-US" sz="2800" b="1" dirty="0">
                <a:latin typeface="Tahoma" pitchFamily="34" charset="0"/>
                <a:ea typeface="Tahoma" pitchFamily="34" charset="0"/>
                <a:cs typeface="Tahoma" pitchFamily="34" charset="0"/>
              </a:rPr>
              <a:t>The </a:t>
            </a:r>
            <a:r>
              <a:rPr lang="en-US" sz="2800" b="1" dirty="0">
                <a:solidFill>
                  <a:srgbClr val="0070C0"/>
                </a:solidFill>
                <a:latin typeface="Tahoma" pitchFamily="34" charset="0"/>
                <a:ea typeface="Tahoma" pitchFamily="34" charset="0"/>
                <a:cs typeface="Tahoma" pitchFamily="34" charset="0"/>
              </a:rPr>
              <a:t>DROP</a:t>
            </a:r>
            <a:r>
              <a:rPr lang="en-US" sz="2800" b="1" dirty="0">
                <a:latin typeface="Tahoma" pitchFamily="34" charset="0"/>
                <a:ea typeface="Tahoma" pitchFamily="34" charset="0"/>
                <a:cs typeface="Tahoma" pitchFamily="34" charset="0"/>
              </a:rPr>
              <a:t> Command</a:t>
            </a:r>
          </a:p>
        </p:txBody>
      </p:sp>
    </p:spTree>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1000" y="1066800"/>
            <a:ext cx="8534400" cy="5028043"/>
          </a:xfrm>
          <a:prstGeom prst="rect">
            <a:avLst/>
          </a:prstGeom>
          <a:noFill/>
        </p:spPr>
        <p:txBody>
          <a:bodyPr wrap="square" rtlCol="0">
            <a:spAutoFit/>
          </a:bodyPr>
          <a:lstStyle/>
          <a:p>
            <a:pPr lvl="1" algn="just">
              <a:lnSpc>
                <a:spcPct val="150000"/>
              </a:lnSpc>
            </a:pPr>
            <a:endParaRPr lang="en-US" sz="1600" dirty="0">
              <a:latin typeface="Tahoma" pitchFamily="34" charset="0"/>
              <a:ea typeface="Tahoma" pitchFamily="34" charset="0"/>
              <a:cs typeface="Tahoma" pitchFamily="34" charset="0"/>
            </a:endParaRPr>
          </a:p>
          <a:p>
            <a:pPr lvl="1" algn="just">
              <a:lnSpc>
                <a:spcPct val="150000"/>
              </a:lnSpc>
            </a:pPr>
            <a:r>
              <a:rPr lang="en-US" sz="1600" dirty="0">
                <a:latin typeface="Tahoma" pitchFamily="34" charset="0"/>
                <a:ea typeface="Tahoma" pitchFamily="34" charset="0"/>
                <a:cs typeface="Tahoma" pitchFamily="34" charset="0"/>
              </a:rPr>
              <a:t> </a:t>
            </a:r>
            <a:r>
              <a:rPr lang="en-US" sz="2000" b="1" dirty="0">
                <a:latin typeface="Tahoma" pitchFamily="34" charset="0"/>
                <a:ea typeface="Tahoma" pitchFamily="34" charset="0"/>
                <a:cs typeface="Tahoma" pitchFamily="34" charset="0"/>
              </a:rPr>
              <a:t>Example :  </a:t>
            </a:r>
            <a:r>
              <a:rPr lang="en-US" sz="2000" b="1" dirty="0">
                <a:solidFill>
                  <a:srgbClr val="0070C0"/>
                </a:solidFill>
                <a:latin typeface="Tahoma" pitchFamily="34" charset="0"/>
                <a:ea typeface="Tahoma" pitchFamily="34" charset="0"/>
                <a:cs typeface="Tahoma" pitchFamily="34" charset="0"/>
              </a:rPr>
              <a:t>DROP</a:t>
            </a:r>
            <a:r>
              <a:rPr lang="en-US" sz="2000" b="1" dirty="0">
                <a:latin typeface="Tahoma" pitchFamily="34" charset="0"/>
                <a:ea typeface="Tahoma" pitchFamily="34" charset="0"/>
                <a:cs typeface="Tahoma" pitchFamily="34" charset="0"/>
              </a:rPr>
              <a:t> </a:t>
            </a:r>
            <a:r>
              <a:rPr lang="en-US" sz="2000" b="1" dirty="0">
                <a:solidFill>
                  <a:srgbClr val="0070C0"/>
                </a:solidFill>
                <a:latin typeface="Tahoma" pitchFamily="34" charset="0"/>
                <a:ea typeface="Tahoma" pitchFamily="34" charset="0"/>
                <a:cs typeface="Tahoma" pitchFamily="34" charset="0"/>
              </a:rPr>
              <a:t>TABLE </a:t>
            </a:r>
            <a:r>
              <a:rPr lang="en-US" sz="2000" b="1" dirty="0">
                <a:latin typeface="Tahoma" pitchFamily="34" charset="0"/>
                <a:ea typeface="Tahoma" pitchFamily="34" charset="0"/>
                <a:cs typeface="Tahoma" pitchFamily="34" charset="0"/>
              </a:rPr>
              <a:t>DEPEDENT </a:t>
            </a:r>
            <a:r>
              <a:rPr lang="en-US" sz="2000" b="1" dirty="0">
                <a:solidFill>
                  <a:srgbClr val="0070C0"/>
                </a:solidFill>
                <a:latin typeface="Tahoma" pitchFamily="34" charset="0"/>
                <a:ea typeface="Tahoma" pitchFamily="34" charset="0"/>
                <a:cs typeface="Tahoma" pitchFamily="34" charset="0"/>
              </a:rPr>
              <a:t>CASCADE</a:t>
            </a:r>
            <a:r>
              <a:rPr lang="en-US" sz="2000" b="1" dirty="0">
                <a:latin typeface="Tahoma" pitchFamily="34" charset="0"/>
                <a:ea typeface="Tahoma" pitchFamily="34" charset="0"/>
                <a:cs typeface="Tahoma" pitchFamily="34" charset="0"/>
              </a:rPr>
              <a:t>;</a:t>
            </a:r>
            <a:endParaRPr lang="en-US" sz="1600" b="1" dirty="0">
              <a:latin typeface="Tahoma" pitchFamily="34" charset="0"/>
              <a:ea typeface="Tahoma" pitchFamily="34" charset="0"/>
              <a:cs typeface="Tahoma" pitchFamily="34" charset="0"/>
            </a:endParaRPr>
          </a:p>
          <a:p>
            <a:pPr lvl="1" algn="just">
              <a:lnSpc>
                <a:spcPct val="150000"/>
              </a:lnSpc>
            </a:pPr>
            <a:endParaRPr lang="en-US" sz="1600" b="1" dirty="0">
              <a:latin typeface="Tahoma" pitchFamily="34" charset="0"/>
              <a:ea typeface="Tahoma" pitchFamily="34" charset="0"/>
              <a:cs typeface="Tahoma" pitchFamily="34" charset="0"/>
            </a:endParaRPr>
          </a:p>
          <a:p>
            <a:pPr marL="742950" lvl="1" indent="-285750" algn="just" fontAlgn="base">
              <a:lnSpc>
                <a:spcPct val="200000"/>
              </a:lnSpc>
              <a:spcBef>
                <a:spcPct val="20000"/>
              </a:spcBef>
              <a:spcAft>
                <a:spcPct val="0"/>
              </a:spcAft>
              <a:buFontTx/>
              <a:buChar char="–"/>
            </a:pPr>
            <a:r>
              <a:rPr lang="en-US" b="1" kern="0" dirty="0">
                <a:solidFill>
                  <a:srgbClr val="000000"/>
                </a:solidFill>
                <a:latin typeface="Tahoma" pitchFamily="34" charset="0"/>
                <a:ea typeface="Tahoma" pitchFamily="34" charset="0"/>
                <a:cs typeface="Tahoma" pitchFamily="34" charset="0"/>
              </a:rPr>
              <a:t>CASCADE</a:t>
            </a:r>
            <a:r>
              <a:rPr lang="en-US" kern="0" dirty="0">
                <a:solidFill>
                  <a:srgbClr val="000000"/>
                </a:solidFill>
                <a:latin typeface="Tahoma" pitchFamily="34" charset="0"/>
                <a:ea typeface="Tahoma" pitchFamily="34" charset="0"/>
                <a:cs typeface="Tahoma" pitchFamily="34" charset="0"/>
              </a:rPr>
              <a:t> option , </a:t>
            </a:r>
            <a:r>
              <a:rPr lang="en-US" kern="0" dirty="0">
                <a:solidFill>
                  <a:srgbClr val="C00000"/>
                </a:solidFill>
                <a:latin typeface="Tahoma" pitchFamily="34" charset="0"/>
                <a:ea typeface="Tahoma" pitchFamily="34" charset="0"/>
                <a:cs typeface="Tahoma" pitchFamily="34" charset="0"/>
              </a:rPr>
              <a:t>when dropping a table </a:t>
            </a:r>
            <a:r>
              <a:rPr lang="en-US" kern="0" dirty="0">
                <a:solidFill>
                  <a:srgbClr val="000000"/>
                </a:solidFill>
                <a:latin typeface="Tahoma" pitchFamily="34" charset="0"/>
                <a:ea typeface="Tahoma" pitchFamily="34" charset="0"/>
                <a:cs typeface="Tahoma" pitchFamily="34" charset="0"/>
              </a:rPr>
              <a:t>, will  remove table and all its definitions (including constraints)</a:t>
            </a:r>
          </a:p>
          <a:p>
            <a:pPr marL="742950" lvl="1" indent="-285750" algn="just" fontAlgn="base">
              <a:lnSpc>
                <a:spcPct val="200000"/>
              </a:lnSpc>
              <a:spcBef>
                <a:spcPts val="500"/>
              </a:spcBef>
              <a:spcAft>
                <a:spcPts val="500"/>
              </a:spcAft>
              <a:buFontTx/>
              <a:buChar char="–"/>
            </a:pPr>
            <a:r>
              <a:rPr lang="en-US" b="1" kern="0" dirty="0">
                <a:solidFill>
                  <a:srgbClr val="000000"/>
                </a:solidFill>
                <a:latin typeface="Tahoma" pitchFamily="34" charset="0"/>
                <a:ea typeface="Tahoma" pitchFamily="34" charset="0"/>
                <a:cs typeface="Tahoma" pitchFamily="34" charset="0"/>
              </a:rPr>
              <a:t>RESTRICT</a:t>
            </a:r>
            <a:r>
              <a:rPr lang="en-US" kern="0" dirty="0">
                <a:solidFill>
                  <a:srgbClr val="000000"/>
                </a:solidFill>
                <a:latin typeface="Tahoma" pitchFamily="34" charset="0"/>
                <a:ea typeface="Tahoma" pitchFamily="34" charset="0"/>
                <a:cs typeface="Tahoma" pitchFamily="34" charset="0"/>
              </a:rPr>
              <a:t> option is chosen, the table is dropped only if it is not referenced in any constraints or views . Otherwise DROP command will not be executed.</a:t>
            </a:r>
            <a:endParaRPr lang="en-US" b="1" kern="0" dirty="0">
              <a:solidFill>
                <a:srgbClr val="000000"/>
              </a:solidFill>
              <a:latin typeface="Tahoma" pitchFamily="34" charset="0"/>
              <a:ea typeface="Tahoma" pitchFamily="34" charset="0"/>
              <a:cs typeface="Tahoma" pitchFamily="34" charset="0"/>
            </a:endParaRPr>
          </a:p>
          <a:p>
            <a:pPr marL="1200150" lvl="2" indent="-285750" algn="just" fontAlgn="base">
              <a:lnSpc>
                <a:spcPct val="150000"/>
              </a:lnSpc>
              <a:spcBef>
                <a:spcPct val="20000"/>
              </a:spcBef>
              <a:spcAft>
                <a:spcPct val="0"/>
              </a:spcAft>
            </a:pPr>
            <a:r>
              <a:rPr lang="en-US" sz="1400" b="1" dirty="0"/>
              <a:t>      </a:t>
            </a:r>
          </a:p>
          <a:p>
            <a:pPr algn="just">
              <a:lnSpc>
                <a:spcPct val="150000"/>
              </a:lnSpc>
            </a:pPr>
            <a:r>
              <a:rPr lang="en-US" dirty="0">
                <a:latin typeface="Tahoma" pitchFamily="34" charset="0"/>
                <a:ea typeface="Tahoma" pitchFamily="34" charset="0"/>
                <a:cs typeface="Tahoma" pitchFamily="34" charset="0"/>
              </a:rPr>
              <a:t>                  </a:t>
            </a:r>
            <a:endParaRPr lang="en-US" b="1" kern="0" dirty="0">
              <a:solidFill>
                <a:srgbClr val="000000"/>
              </a:solidFill>
            </a:endParaRPr>
          </a:p>
        </p:txBody>
      </p:sp>
      <p:sp>
        <p:nvSpPr>
          <p:cNvPr id="5" name="Rectangle 4"/>
          <p:cNvSpPr/>
          <p:nvPr/>
        </p:nvSpPr>
        <p:spPr>
          <a:xfrm>
            <a:off x="459432" y="304800"/>
            <a:ext cx="3921266" cy="480131"/>
          </a:xfrm>
          <a:prstGeom prst="rect">
            <a:avLst/>
          </a:prstGeom>
        </p:spPr>
        <p:txBody>
          <a:bodyPr wrap="none">
            <a:spAutoFit/>
          </a:bodyPr>
          <a:lstStyle/>
          <a:p>
            <a:pPr marL="457200" indent="-457200" algn="just">
              <a:lnSpc>
                <a:spcPct val="90000"/>
              </a:lnSpc>
            </a:pPr>
            <a:r>
              <a:rPr lang="en-US" sz="2800" b="1" dirty="0">
                <a:latin typeface="Tahoma" pitchFamily="34" charset="0"/>
                <a:ea typeface="Tahoma" pitchFamily="34" charset="0"/>
                <a:cs typeface="Tahoma" pitchFamily="34" charset="0"/>
              </a:rPr>
              <a:t>The </a:t>
            </a:r>
            <a:r>
              <a:rPr lang="en-US" sz="2800" b="1" dirty="0">
                <a:solidFill>
                  <a:srgbClr val="0070C0"/>
                </a:solidFill>
                <a:latin typeface="Tahoma" pitchFamily="34" charset="0"/>
                <a:ea typeface="Tahoma" pitchFamily="34" charset="0"/>
                <a:cs typeface="Tahoma" pitchFamily="34" charset="0"/>
              </a:rPr>
              <a:t>DROP</a:t>
            </a:r>
            <a:r>
              <a:rPr lang="en-US" sz="2800" b="1" dirty="0">
                <a:latin typeface="Tahoma" pitchFamily="34" charset="0"/>
                <a:ea typeface="Tahoma" pitchFamily="34" charset="0"/>
                <a:cs typeface="Tahoma" pitchFamily="34" charset="0"/>
              </a:rPr>
              <a:t> Command</a:t>
            </a:r>
          </a:p>
        </p:txBody>
      </p:sp>
    </p:spTree>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28600" y="1371600"/>
            <a:ext cx="8686800" cy="3680495"/>
          </a:xfrm>
          <a:prstGeom prst="rect">
            <a:avLst/>
          </a:prstGeom>
          <a:noFill/>
        </p:spPr>
        <p:txBody>
          <a:bodyPr wrap="square" rtlCol="0">
            <a:spAutoFit/>
          </a:bodyPr>
          <a:lstStyle/>
          <a:p>
            <a:pPr marL="533400" indent="-533400" algn="just">
              <a:lnSpc>
                <a:spcPct val="150000"/>
              </a:lnSpc>
              <a:buFont typeface="Arial" pitchFamily="34" charset="0"/>
              <a:buChar char="•"/>
            </a:pPr>
            <a:r>
              <a:rPr lang="en-US" sz="2000" dirty="0">
                <a:latin typeface="Tahoma" pitchFamily="34" charset="0"/>
                <a:ea typeface="Tahoma" pitchFamily="34" charset="0"/>
                <a:cs typeface="Tahoma" pitchFamily="34" charset="0"/>
              </a:rPr>
              <a:t>To change the definition of a base table</a:t>
            </a:r>
          </a:p>
          <a:p>
            <a:pPr marL="533400" indent="-533400" algn="just">
              <a:lnSpc>
                <a:spcPct val="150000"/>
              </a:lnSpc>
            </a:pPr>
            <a:endParaRPr lang="en-US" dirty="0">
              <a:latin typeface="Tahoma" pitchFamily="34" charset="0"/>
              <a:ea typeface="Tahoma" pitchFamily="34" charset="0"/>
              <a:cs typeface="Tahoma" pitchFamily="34" charset="0"/>
            </a:endParaRPr>
          </a:p>
          <a:p>
            <a:pPr marL="533400" indent="-533400" algn="just">
              <a:lnSpc>
                <a:spcPct val="150000"/>
              </a:lnSpc>
              <a:buFont typeface="Arial" pitchFamily="34" charset="0"/>
              <a:buChar char="•"/>
            </a:pPr>
            <a:r>
              <a:rPr lang="en-US" b="1" dirty="0">
                <a:solidFill>
                  <a:srgbClr val="0070C0"/>
                </a:solidFill>
                <a:latin typeface="Tahoma" pitchFamily="34" charset="0"/>
                <a:ea typeface="Tahoma" pitchFamily="34" charset="0"/>
                <a:cs typeface="Tahoma" pitchFamily="34" charset="0"/>
              </a:rPr>
              <a:t>ALTER TABLE </a:t>
            </a:r>
            <a:r>
              <a:rPr lang="en-US" b="1" dirty="0">
                <a:latin typeface="Tahoma" pitchFamily="34" charset="0"/>
                <a:ea typeface="Tahoma" pitchFamily="34" charset="0"/>
                <a:cs typeface="Tahoma" pitchFamily="34" charset="0"/>
              </a:rPr>
              <a:t>is used to </a:t>
            </a:r>
          </a:p>
          <a:p>
            <a:pPr marL="1828800" lvl="3" indent="-457200">
              <a:lnSpc>
                <a:spcPct val="150000"/>
              </a:lnSpc>
              <a:spcBef>
                <a:spcPts val="500"/>
              </a:spcBef>
              <a:spcAft>
                <a:spcPts val="500"/>
              </a:spcAft>
              <a:buFont typeface="+mj-lt"/>
              <a:buAutoNum type="arabicPeriod"/>
            </a:pPr>
            <a:r>
              <a:rPr lang="en-US" sz="2000" dirty="0">
                <a:latin typeface="Tahoma" pitchFamily="34" charset="0"/>
                <a:ea typeface="Tahoma" pitchFamily="34" charset="0"/>
                <a:cs typeface="Tahoma" pitchFamily="34" charset="0"/>
              </a:rPr>
              <a:t>add a column (attribute)</a:t>
            </a:r>
          </a:p>
          <a:p>
            <a:pPr marL="1828800" lvl="3" indent="-457200">
              <a:lnSpc>
                <a:spcPct val="150000"/>
              </a:lnSpc>
              <a:spcBef>
                <a:spcPts val="500"/>
              </a:spcBef>
              <a:spcAft>
                <a:spcPts val="500"/>
              </a:spcAft>
              <a:buFont typeface="+mj-lt"/>
              <a:buAutoNum type="arabicPeriod"/>
            </a:pPr>
            <a:r>
              <a:rPr lang="en-US" sz="2000" dirty="0">
                <a:latin typeface="Tahoma" pitchFamily="34" charset="0"/>
                <a:ea typeface="Tahoma" pitchFamily="34" charset="0"/>
                <a:cs typeface="Tahoma" pitchFamily="34" charset="0"/>
              </a:rPr>
              <a:t>drop a column (attribute)</a:t>
            </a:r>
          </a:p>
          <a:p>
            <a:pPr marL="1828800" lvl="3" indent="-457200">
              <a:lnSpc>
                <a:spcPct val="150000"/>
              </a:lnSpc>
              <a:spcBef>
                <a:spcPts val="500"/>
              </a:spcBef>
              <a:spcAft>
                <a:spcPts val="500"/>
              </a:spcAft>
              <a:buFont typeface="+mj-lt"/>
              <a:buAutoNum type="arabicPeriod"/>
            </a:pPr>
            <a:r>
              <a:rPr lang="en-US" sz="2000" dirty="0">
                <a:latin typeface="Tahoma" pitchFamily="34" charset="0"/>
                <a:ea typeface="Tahoma" pitchFamily="34" charset="0"/>
                <a:cs typeface="Tahoma" pitchFamily="34" charset="0"/>
              </a:rPr>
              <a:t>change column definition</a:t>
            </a:r>
          </a:p>
          <a:p>
            <a:pPr marL="1828800" lvl="3" indent="-457200">
              <a:lnSpc>
                <a:spcPct val="150000"/>
              </a:lnSpc>
              <a:spcBef>
                <a:spcPts val="500"/>
              </a:spcBef>
              <a:spcAft>
                <a:spcPts val="500"/>
              </a:spcAft>
              <a:buFont typeface="+mj-lt"/>
              <a:buAutoNum type="arabicPeriod"/>
            </a:pPr>
            <a:r>
              <a:rPr lang="en-US" sz="2000" dirty="0">
                <a:latin typeface="Tahoma" pitchFamily="34" charset="0"/>
                <a:ea typeface="Tahoma" pitchFamily="34" charset="0"/>
                <a:cs typeface="Tahoma" pitchFamily="34" charset="0"/>
              </a:rPr>
              <a:t>add or dropping table constraints.</a:t>
            </a:r>
            <a:endParaRPr lang="en-US" b="1" dirty="0">
              <a:solidFill>
                <a:srgbClr val="000000"/>
              </a:solidFill>
              <a:latin typeface="Tahoma" pitchFamily="34" charset="0"/>
              <a:ea typeface="Tahoma" pitchFamily="34" charset="0"/>
              <a:cs typeface="Tahoma" pitchFamily="34" charset="0"/>
            </a:endParaRPr>
          </a:p>
        </p:txBody>
      </p:sp>
      <p:sp>
        <p:nvSpPr>
          <p:cNvPr id="6" name="Rectangle 5"/>
          <p:cNvSpPr/>
          <p:nvPr/>
        </p:nvSpPr>
        <p:spPr>
          <a:xfrm>
            <a:off x="152400" y="381000"/>
            <a:ext cx="4544834" cy="424732"/>
          </a:xfrm>
          <a:prstGeom prst="rect">
            <a:avLst/>
          </a:prstGeom>
        </p:spPr>
        <p:txBody>
          <a:bodyPr wrap="none">
            <a:spAutoFit/>
          </a:bodyPr>
          <a:lstStyle/>
          <a:p>
            <a:pPr marL="609600" indent="-609600">
              <a:lnSpc>
                <a:spcPct val="90000"/>
              </a:lnSpc>
            </a:pPr>
            <a:r>
              <a:rPr lang="en-US" sz="2400" b="1" dirty="0">
                <a:latin typeface="Tahoma" pitchFamily="34" charset="0"/>
                <a:ea typeface="Tahoma" pitchFamily="34" charset="0"/>
                <a:cs typeface="Tahoma" pitchFamily="34" charset="0"/>
              </a:rPr>
              <a:t>The </a:t>
            </a:r>
            <a:r>
              <a:rPr lang="en-US" sz="2400" b="1" dirty="0">
                <a:solidFill>
                  <a:srgbClr val="0070C0"/>
                </a:solidFill>
                <a:latin typeface="Tahoma" pitchFamily="34" charset="0"/>
                <a:ea typeface="Tahoma" pitchFamily="34" charset="0"/>
                <a:cs typeface="Tahoma" pitchFamily="34" charset="0"/>
              </a:rPr>
              <a:t>ALTER TABLE </a:t>
            </a:r>
            <a:r>
              <a:rPr lang="en-US" sz="2400" b="1" dirty="0">
                <a:latin typeface="Tahoma" pitchFamily="34" charset="0"/>
                <a:ea typeface="Tahoma" pitchFamily="34" charset="0"/>
                <a:cs typeface="Tahoma" pitchFamily="34" charset="0"/>
              </a:rPr>
              <a:t>Command</a:t>
            </a:r>
          </a:p>
        </p:txBody>
      </p:sp>
    </p:spTree>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304800" y="1524000"/>
            <a:ext cx="8610600" cy="3536866"/>
          </a:xfrm>
          <a:prstGeom prst="rect">
            <a:avLst/>
          </a:prstGeom>
          <a:noFill/>
        </p:spPr>
        <p:txBody>
          <a:bodyPr wrap="square" rtlCol="0">
            <a:spAutoFit/>
          </a:bodyPr>
          <a:lstStyle/>
          <a:p>
            <a:pPr marL="533400" indent="-533400">
              <a:lnSpc>
                <a:spcPct val="90000"/>
              </a:lnSpc>
              <a:spcBef>
                <a:spcPts val="500"/>
              </a:spcBef>
              <a:spcAft>
                <a:spcPts val="500"/>
              </a:spcAft>
            </a:pPr>
            <a:r>
              <a:rPr lang="en-US" sz="2000" b="1" dirty="0">
                <a:latin typeface="Tahoma" pitchFamily="34" charset="0"/>
                <a:ea typeface="Tahoma" pitchFamily="34" charset="0"/>
                <a:cs typeface="Tahoma" pitchFamily="34" charset="0"/>
              </a:rPr>
              <a:t>Examples:   </a:t>
            </a:r>
          </a:p>
          <a:p>
            <a:pPr marL="990600" lvl="1" indent="-533400" algn="just">
              <a:lnSpc>
                <a:spcPct val="200000"/>
              </a:lnSpc>
              <a:spcBef>
                <a:spcPts val="500"/>
              </a:spcBef>
              <a:spcAft>
                <a:spcPts val="500"/>
              </a:spcAft>
              <a:buFontTx/>
              <a:buAutoNum type="arabicPeriod"/>
            </a:pPr>
            <a:r>
              <a:rPr lang="en-US" sz="1400" b="1" dirty="0">
                <a:solidFill>
                  <a:srgbClr val="0070C0"/>
                </a:solidFill>
                <a:latin typeface="Tahoma" pitchFamily="34" charset="0"/>
                <a:ea typeface="Tahoma" pitchFamily="34" charset="0"/>
                <a:cs typeface="Tahoma" pitchFamily="34" charset="0"/>
              </a:rPr>
              <a:t>ALTER TABLE </a:t>
            </a:r>
            <a:r>
              <a:rPr lang="en-US" sz="1400" b="1" dirty="0">
                <a:latin typeface="Tahoma" pitchFamily="34" charset="0"/>
                <a:ea typeface="Tahoma" pitchFamily="34" charset="0"/>
                <a:cs typeface="Tahoma" pitchFamily="34" charset="0"/>
              </a:rPr>
              <a:t>EMPLOYEE </a:t>
            </a:r>
            <a:r>
              <a:rPr lang="en-US" sz="1400" b="1" dirty="0">
                <a:solidFill>
                  <a:srgbClr val="0070C0"/>
                </a:solidFill>
                <a:latin typeface="Tahoma" pitchFamily="34" charset="0"/>
                <a:ea typeface="Tahoma" pitchFamily="34" charset="0"/>
                <a:cs typeface="Tahoma" pitchFamily="34" charset="0"/>
              </a:rPr>
              <a:t>ADD </a:t>
            </a:r>
            <a:r>
              <a:rPr lang="en-US" sz="1400" b="1" dirty="0">
                <a:latin typeface="Tahoma" pitchFamily="34" charset="0"/>
                <a:ea typeface="Tahoma" pitchFamily="34" charset="0"/>
                <a:cs typeface="Tahoma" pitchFamily="34" charset="0"/>
              </a:rPr>
              <a:t>JOB VARCHAR(12);</a:t>
            </a:r>
          </a:p>
          <a:p>
            <a:pPr marL="990600" lvl="1" indent="-533400" algn="just">
              <a:lnSpc>
                <a:spcPct val="200000"/>
              </a:lnSpc>
              <a:spcBef>
                <a:spcPts val="500"/>
              </a:spcBef>
              <a:spcAft>
                <a:spcPts val="500"/>
              </a:spcAft>
              <a:buFontTx/>
              <a:buAutoNum type="arabicPeriod"/>
            </a:pPr>
            <a:r>
              <a:rPr lang="en-US" sz="1400" b="1" dirty="0">
                <a:solidFill>
                  <a:srgbClr val="0070C0"/>
                </a:solidFill>
                <a:latin typeface="Tahoma" pitchFamily="34" charset="0"/>
                <a:ea typeface="Tahoma" pitchFamily="34" charset="0"/>
                <a:cs typeface="Tahoma" pitchFamily="34" charset="0"/>
              </a:rPr>
              <a:t>ALTER TABLE </a:t>
            </a:r>
            <a:r>
              <a:rPr lang="en-US" sz="1400" b="1" dirty="0">
                <a:latin typeface="Tahoma" pitchFamily="34" charset="0"/>
                <a:ea typeface="Tahoma" pitchFamily="34" charset="0"/>
                <a:cs typeface="Tahoma" pitchFamily="34" charset="0"/>
              </a:rPr>
              <a:t>EMPLOYEE </a:t>
            </a:r>
            <a:r>
              <a:rPr lang="en-US" sz="1400" b="1" dirty="0">
                <a:solidFill>
                  <a:srgbClr val="0070C0"/>
                </a:solidFill>
                <a:latin typeface="Tahoma" pitchFamily="34" charset="0"/>
                <a:ea typeface="Tahoma" pitchFamily="34" charset="0"/>
                <a:cs typeface="Tahoma" pitchFamily="34" charset="0"/>
              </a:rPr>
              <a:t>DROP </a:t>
            </a:r>
            <a:r>
              <a:rPr lang="en-US" sz="1400" b="1" dirty="0">
                <a:latin typeface="Tahoma" pitchFamily="34" charset="0"/>
                <a:ea typeface="Tahoma" pitchFamily="34" charset="0"/>
                <a:cs typeface="Tahoma" pitchFamily="34" charset="0"/>
              </a:rPr>
              <a:t>ADDRESS CASCADE; </a:t>
            </a:r>
          </a:p>
          <a:p>
            <a:pPr marL="990600" lvl="1" indent="-533400" algn="just">
              <a:lnSpc>
                <a:spcPct val="200000"/>
              </a:lnSpc>
              <a:spcBef>
                <a:spcPts val="500"/>
              </a:spcBef>
              <a:spcAft>
                <a:spcPts val="500"/>
              </a:spcAft>
              <a:buFontTx/>
              <a:buAutoNum type="arabicPeriod"/>
            </a:pPr>
            <a:r>
              <a:rPr lang="en-US" sz="1400" b="1" dirty="0">
                <a:solidFill>
                  <a:srgbClr val="0070C0"/>
                </a:solidFill>
                <a:latin typeface="Tahoma" pitchFamily="34" charset="0"/>
                <a:ea typeface="Tahoma" pitchFamily="34" charset="0"/>
                <a:cs typeface="Tahoma" pitchFamily="34" charset="0"/>
              </a:rPr>
              <a:t>ALTER TABLE </a:t>
            </a:r>
            <a:r>
              <a:rPr lang="en-US" sz="1400" b="1" dirty="0">
                <a:latin typeface="Tahoma" pitchFamily="34" charset="0"/>
                <a:ea typeface="Tahoma" pitchFamily="34" charset="0"/>
                <a:cs typeface="Tahoma" pitchFamily="34" charset="0"/>
              </a:rPr>
              <a:t>DEPARTMENT </a:t>
            </a:r>
            <a:r>
              <a:rPr lang="en-US" sz="1400" b="1" dirty="0">
                <a:solidFill>
                  <a:srgbClr val="0070C0"/>
                </a:solidFill>
                <a:latin typeface="Tahoma" pitchFamily="34" charset="0"/>
                <a:ea typeface="Tahoma" pitchFamily="34" charset="0"/>
                <a:cs typeface="Tahoma" pitchFamily="34" charset="0"/>
              </a:rPr>
              <a:t>ALTER </a:t>
            </a:r>
            <a:r>
              <a:rPr lang="en-US" sz="1400" b="1" dirty="0">
                <a:latin typeface="Tahoma" pitchFamily="34" charset="0"/>
                <a:ea typeface="Tahoma" pitchFamily="34" charset="0"/>
                <a:cs typeface="Tahoma" pitchFamily="34" charset="0"/>
              </a:rPr>
              <a:t>MGRSSN </a:t>
            </a:r>
            <a:r>
              <a:rPr lang="en-US" sz="1400" b="1" dirty="0">
                <a:solidFill>
                  <a:srgbClr val="0070C0"/>
                </a:solidFill>
                <a:latin typeface="Tahoma" pitchFamily="34" charset="0"/>
                <a:ea typeface="Tahoma" pitchFamily="34" charset="0"/>
                <a:cs typeface="Tahoma" pitchFamily="34" charset="0"/>
              </a:rPr>
              <a:t>DROP DEFAULT</a:t>
            </a:r>
            <a:r>
              <a:rPr lang="en-US" sz="1400" b="1" dirty="0">
                <a:latin typeface="Tahoma" pitchFamily="34" charset="0"/>
                <a:ea typeface="Tahoma" pitchFamily="34" charset="0"/>
                <a:cs typeface="Tahoma" pitchFamily="34" charset="0"/>
              </a:rPr>
              <a:t>;</a:t>
            </a:r>
          </a:p>
          <a:p>
            <a:pPr marL="990600" lvl="1" indent="-533400" algn="just">
              <a:lnSpc>
                <a:spcPct val="200000"/>
              </a:lnSpc>
              <a:spcBef>
                <a:spcPts val="500"/>
              </a:spcBef>
              <a:spcAft>
                <a:spcPts val="500"/>
              </a:spcAft>
              <a:buFont typeface="+mj-lt"/>
              <a:buAutoNum type="arabicPeriod"/>
            </a:pPr>
            <a:r>
              <a:rPr lang="en-US" sz="1400" b="1" dirty="0">
                <a:solidFill>
                  <a:srgbClr val="0070C0"/>
                </a:solidFill>
                <a:latin typeface="Tahoma" pitchFamily="34" charset="0"/>
                <a:ea typeface="Tahoma" pitchFamily="34" charset="0"/>
                <a:cs typeface="Tahoma" pitchFamily="34" charset="0"/>
              </a:rPr>
              <a:t>ALTER TABLE  </a:t>
            </a:r>
            <a:r>
              <a:rPr lang="en-US" sz="1400" b="1" dirty="0">
                <a:latin typeface="Tahoma" pitchFamily="34" charset="0"/>
                <a:ea typeface="Tahoma" pitchFamily="34" charset="0"/>
                <a:cs typeface="Tahoma" pitchFamily="34" charset="0"/>
              </a:rPr>
              <a:t>DEPARTMENT </a:t>
            </a:r>
            <a:r>
              <a:rPr lang="en-US" sz="1400" b="1" dirty="0">
                <a:solidFill>
                  <a:srgbClr val="0070C0"/>
                </a:solidFill>
                <a:latin typeface="Tahoma" pitchFamily="34" charset="0"/>
                <a:ea typeface="Tahoma" pitchFamily="34" charset="0"/>
                <a:cs typeface="Tahoma" pitchFamily="34" charset="0"/>
              </a:rPr>
              <a:t>ALTER </a:t>
            </a:r>
            <a:r>
              <a:rPr lang="en-US" sz="1400" b="1" dirty="0">
                <a:latin typeface="Tahoma" pitchFamily="34" charset="0"/>
                <a:ea typeface="Tahoma" pitchFamily="34" charset="0"/>
                <a:cs typeface="Tahoma" pitchFamily="34" charset="0"/>
              </a:rPr>
              <a:t>MGRSSN </a:t>
            </a:r>
            <a:r>
              <a:rPr lang="en-US" sz="1400" b="1" dirty="0">
                <a:solidFill>
                  <a:srgbClr val="0070C0"/>
                </a:solidFill>
                <a:latin typeface="Tahoma" pitchFamily="34" charset="0"/>
                <a:ea typeface="Tahoma" pitchFamily="34" charset="0"/>
                <a:cs typeface="Tahoma" pitchFamily="34" charset="0"/>
              </a:rPr>
              <a:t>SET DEFAULT </a:t>
            </a:r>
            <a:r>
              <a:rPr lang="en-US" sz="1400" b="1" dirty="0">
                <a:latin typeface="Tahoma" pitchFamily="34" charset="0"/>
                <a:ea typeface="Tahoma" pitchFamily="34" charset="0"/>
                <a:cs typeface="Tahoma" pitchFamily="34" charset="0"/>
              </a:rPr>
              <a:t>"333445555";</a:t>
            </a:r>
          </a:p>
          <a:p>
            <a:pPr marL="990600" lvl="1" indent="-533400" algn="just">
              <a:lnSpc>
                <a:spcPct val="200000"/>
              </a:lnSpc>
              <a:spcBef>
                <a:spcPts val="500"/>
              </a:spcBef>
              <a:spcAft>
                <a:spcPts val="500"/>
              </a:spcAft>
              <a:buFont typeface="+mj-lt"/>
              <a:buAutoNum type="arabicPeriod"/>
            </a:pPr>
            <a:r>
              <a:rPr lang="en-US" sz="1400" b="1" dirty="0">
                <a:solidFill>
                  <a:srgbClr val="0070C0"/>
                </a:solidFill>
                <a:latin typeface="Tahoma" pitchFamily="34" charset="0"/>
                <a:ea typeface="Tahoma" pitchFamily="34" charset="0"/>
                <a:cs typeface="Tahoma" pitchFamily="34" charset="0"/>
              </a:rPr>
              <a:t>ALTER TABLE  </a:t>
            </a:r>
            <a:r>
              <a:rPr lang="en-US" sz="1400" b="1" dirty="0">
                <a:latin typeface="Tahoma" pitchFamily="34" charset="0"/>
                <a:ea typeface="Tahoma" pitchFamily="34" charset="0"/>
                <a:cs typeface="Tahoma" pitchFamily="34" charset="0"/>
              </a:rPr>
              <a:t>EMPLOYE</a:t>
            </a:r>
            <a:r>
              <a:rPr lang="en-US" sz="1400" b="1" dirty="0">
                <a:solidFill>
                  <a:srgbClr val="0070C0"/>
                </a:solidFill>
                <a:latin typeface="Tahoma" pitchFamily="34" charset="0"/>
                <a:ea typeface="Tahoma" pitchFamily="34" charset="0"/>
                <a:cs typeface="Tahoma" pitchFamily="34" charset="0"/>
              </a:rPr>
              <a:t> DROP </a:t>
            </a:r>
            <a:r>
              <a:rPr lang="en-US" sz="1400" b="1" dirty="0">
                <a:latin typeface="Tahoma" pitchFamily="34" charset="0"/>
                <a:ea typeface="Tahoma" pitchFamily="34" charset="0"/>
                <a:cs typeface="Tahoma" pitchFamily="34" charset="0"/>
              </a:rPr>
              <a:t>CONSTRAINT EMPSUPERFK    CASCADE;</a:t>
            </a:r>
            <a:endParaRPr lang="en-US" sz="1600" b="1" dirty="0">
              <a:latin typeface="Tahoma" pitchFamily="34" charset="0"/>
              <a:ea typeface="Tahoma" pitchFamily="34" charset="0"/>
              <a:cs typeface="Tahoma" pitchFamily="34" charset="0"/>
            </a:endParaRPr>
          </a:p>
          <a:p>
            <a:pPr algn="just"/>
            <a:endParaRPr lang="en-US" dirty="0"/>
          </a:p>
        </p:txBody>
      </p:sp>
      <p:sp>
        <p:nvSpPr>
          <p:cNvPr id="6" name="Rectangle 5"/>
          <p:cNvSpPr/>
          <p:nvPr/>
        </p:nvSpPr>
        <p:spPr>
          <a:xfrm>
            <a:off x="152400" y="381000"/>
            <a:ext cx="4544834" cy="424732"/>
          </a:xfrm>
          <a:prstGeom prst="rect">
            <a:avLst/>
          </a:prstGeom>
        </p:spPr>
        <p:txBody>
          <a:bodyPr wrap="none">
            <a:spAutoFit/>
          </a:bodyPr>
          <a:lstStyle/>
          <a:p>
            <a:pPr marL="609600" indent="-609600">
              <a:lnSpc>
                <a:spcPct val="90000"/>
              </a:lnSpc>
            </a:pPr>
            <a:r>
              <a:rPr lang="en-US" sz="2400" b="1" dirty="0">
                <a:latin typeface="Tahoma" pitchFamily="34" charset="0"/>
                <a:ea typeface="Tahoma" pitchFamily="34" charset="0"/>
                <a:cs typeface="Tahoma" pitchFamily="34" charset="0"/>
              </a:rPr>
              <a:t>The </a:t>
            </a:r>
            <a:r>
              <a:rPr lang="en-US" sz="2400" b="1" dirty="0">
                <a:solidFill>
                  <a:srgbClr val="0070C0"/>
                </a:solidFill>
                <a:latin typeface="Tahoma" pitchFamily="34" charset="0"/>
                <a:ea typeface="Tahoma" pitchFamily="34" charset="0"/>
                <a:cs typeface="Tahoma" pitchFamily="34" charset="0"/>
              </a:rPr>
              <a:t>ALTER TABLE </a:t>
            </a:r>
            <a:r>
              <a:rPr lang="en-US" sz="2400" b="1" dirty="0">
                <a:latin typeface="Tahoma" pitchFamily="34" charset="0"/>
                <a:ea typeface="Tahoma" pitchFamily="34" charset="0"/>
                <a:cs typeface="Tahoma" pitchFamily="34" charset="0"/>
              </a:rPr>
              <a:t>Command</a:t>
            </a:r>
          </a:p>
        </p:txBody>
      </p:sp>
    </p:spTree>
  </p:cSld>
  <p:clrMapOvr>
    <a:masterClrMapping/>
  </p:clrMapOvr>
  <p:transition>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 y="2362200"/>
            <a:ext cx="8610600" cy="868362"/>
          </a:xfrm>
          <a:noFill/>
        </p:spPr>
        <p:txBody>
          <a:bodyPr lIns="90488" tIns="44450" rIns="90488" bIns="44450"/>
          <a:lstStyle/>
          <a:p>
            <a:r>
              <a:rPr lang="en-US" sz="5400" b="1" dirty="0">
                <a:solidFill>
                  <a:srgbClr val="002060"/>
                </a:solidFill>
                <a:latin typeface="Tahoma" pitchFamily="34" charset="0"/>
                <a:ea typeface="Tahoma" pitchFamily="34" charset="0"/>
                <a:cs typeface="Tahoma" pitchFamily="34" charset="0"/>
              </a:rPr>
              <a:t>Basic Queries in SQL -99</a:t>
            </a:r>
          </a:p>
        </p:txBody>
      </p:sp>
    </p:spTree>
  </p:cSld>
  <p:clrMapOvr>
    <a:masterClrMapping/>
  </p:clrMapOvr>
  <p:transition>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04800" y="228600"/>
            <a:ext cx="5257800" cy="411162"/>
          </a:xfrm>
          <a:noFill/>
        </p:spPr>
        <p:txBody>
          <a:bodyPr lIns="90488" tIns="44450" rIns="90488" bIns="44450"/>
          <a:lstStyle/>
          <a:p>
            <a:pPr algn="l">
              <a:lnSpc>
                <a:spcPct val="80000"/>
              </a:lnSpc>
              <a:spcBef>
                <a:spcPts val="500"/>
              </a:spcBef>
              <a:spcAft>
                <a:spcPts val="500"/>
              </a:spcAft>
            </a:pPr>
            <a:r>
              <a:rPr lang="en-US" sz="2800" b="1" dirty="0">
                <a:solidFill>
                  <a:srgbClr val="002060"/>
                </a:solidFill>
              </a:rPr>
              <a:t>The SELECT-FROM-WHERE</a:t>
            </a:r>
          </a:p>
        </p:txBody>
      </p:sp>
      <p:sp>
        <p:nvSpPr>
          <p:cNvPr id="11" name="TextBox 10"/>
          <p:cNvSpPr txBox="1"/>
          <p:nvPr/>
        </p:nvSpPr>
        <p:spPr>
          <a:xfrm>
            <a:off x="304800" y="990600"/>
            <a:ext cx="8534400" cy="1196290"/>
          </a:xfrm>
          <a:prstGeom prst="rect">
            <a:avLst/>
          </a:prstGeom>
          <a:noFill/>
        </p:spPr>
        <p:txBody>
          <a:bodyPr wrap="square" rtlCol="0">
            <a:spAutoFit/>
          </a:bodyPr>
          <a:lstStyle/>
          <a:p>
            <a:pPr marL="609600" indent="-609600" algn="just">
              <a:lnSpc>
                <a:spcPct val="150000"/>
              </a:lnSpc>
              <a:buFont typeface="Arial" pitchFamily="34" charset="0"/>
              <a:buChar char="•"/>
            </a:pPr>
            <a:r>
              <a:rPr lang="en-US" sz="1600" b="1" dirty="0">
                <a:latin typeface="Tahoma" pitchFamily="34" charset="0"/>
                <a:ea typeface="Tahoma" pitchFamily="34" charset="0"/>
                <a:cs typeface="Tahoma" pitchFamily="34" charset="0"/>
              </a:rPr>
              <a:t>For retrieving information from a database</a:t>
            </a:r>
          </a:p>
          <a:p>
            <a:pPr marL="609600" indent="-609600" algn="just">
              <a:lnSpc>
                <a:spcPct val="150000"/>
              </a:lnSpc>
              <a:buFont typeface="Arial" pitchFamily="34" charset="0"/>
              <a:buChar char="•"/>
            </a:pPr>
            <a:r>
              <a:rPr lang="en-US" b="1" i="1" dirty="0">
                <a:solidFill>
                  <a:srgbClr val="C00000"/>
                </a:solidFill>
                <a:latin typeface="Tahoma" pitchFamily="34" charset="0"/>
                <a:ea typeface="Tahoma" pitchFamily="34" charset="0"/>
                <a:cs typeface="Tahoma" pitchFamily="34" charset="0"/>
              </a:rPr>
              <a:t>An SQL table is not a set of tuples. </a:t>
            </a:r>
            <a:r>
              <a:rPr lang="en-US" sz="1600" b="1" i="1" dirty="0">
                <a:solidFill>
                  <a:srgbClr val="C00000"/>
                </a:solidFill>
                <a:latin typeface="Tahoma" pitchFamily="34" charset="0"/>
                <a:ea typeface="Tahoma" pitchFamily="34" charset="0"/>
                <a:cs typeface="Tahoma" pitchFamily="34" charset="0"/>
              </a:rPr>
              <a:t>So any 2 tuples can be identical in all their attributes</a:t>
            </a:r>
            <a:r>
              <a:rPr lang="en-US" sz="1400" b="1" i="1" dirty="0">
                <a:solidFill>
                  <a:srgbClr val="C00000"/>
                </a:solidFill>
                <a:latin typeface="Tahoma" pitchFamily="34" charset="0"/>
                <a:ea typeface="Tahoma" pitchFamily="34" charset="0"/>
                <a:cs typeface="Tahoma" pitchFamily="34" charset="0"/>
              </a:rPr>
              <a:t>.</a:t>
            </a:r>
          </a:p>
        </p:txBody>
      </p:sp>
      <p:sp>
        <p:nvSpPr>
          <p:cNvPr id="5" name="TextBox 4"/>
          <p:cNvSpPr txBox="1"/>
          <p:nvPr/>
        </p:nvSpPr>
        <p:spPr>
          <a:xfrm>
            <a:off x="457200" y="2362200"/>
            <a:ext cx="8382000" cy="4145237"/>
          </a:xfrm>
          <a:prstGeom prst="rect">
            <a:avLst/>
          </a:prstGeom>
          <a:noFill/>
        </p:spPr>
        <p:txBody>
          <a:bodyPr wrap="square" rtlCol="0">
            <a:spAutoFit/>
          </a:bodyPr>
          <a:lstStyle/>
          <a:p>
            <a:pPr>
              <a:lnSpc>
                <a:spcPct val="80000"/>
              </a:lnSpc>
              <a:spcBef>
                <a:spcPts val="500"/>
              </a:spcBef>
              <a:spcAft>
                <a:spcPts val="500"/>
              </a:spcAft>
            </a:pPr>
            <a:r>
              <a:rPr lang="en-US" sz="2400" b="1" dirty="0">
                <a:latin typeface="Tahoma" pitchFamily="34" charset="0"/>
                <a:ea typeface="Tahoma" pitchFamily="34" charset="0"/>
                <a:cs typeface="Tahoma" pitchFamily="34" charset="0"/>
              </a:rPr>
              <a:t>General form :</a:t>
            </a:r>
          </a:p>
          <a:p>
            <a:pPr lvl="4">
              <a:lnSpc>
                <a:spcPct val="150000"/>
              </a:lnSpc>
            </a:pPr>
            <a:r>
              <a:rPr lang="en-US" sz="1600" b="1" dirty="0">
                <a:solidFill>
                  <a:srgbClr val="0070C0"/>
                </a:solidFill>
                <a:latin typeface="Tahoma" pitchFamily="34" charset="0"/>
                <a:ea typeface="Tahoma" pitchFamily="34" charset="0"/>
                <a:cs typeface="Tahoma" pitchFamily="34" charset="0"/>
              </a:rPr>
              <a:t>SELECT</a:t>
            </a:r>
            <a:r>
              <a:rPr lang="en-US" sz="1600" b="1" dirty="0">
                <a:latin typeface="Tahoma" pitchFamily="34" charset="0"/>
                <a:ea typeface="Tahoma" pitchFamily="34" charset="0"/>
                <a:cs typeface="Tahoma" pitchFamily="34" charset="0"/>
              </a:rPr>
              <a:t> </a:t>
            </a:r>
            <a:r>
              <a:rPr lang="en-US" sz="1600" dirty="0">
                <a:latin typeface="Tahoma" pitchFamily="34" charset="0"/>
                <a:ea typeface="Tahoma" pitchFamily="34" charset="0"/>
                <a:cs typeface="Tahoma" pitchFamily="34" charset="0"/>
              </a:rPr>
              <a:t>	&lt;attribute list&gt; 	</a:t>
            </a:r>
          </a:p>
          <a:p>
            <a:pPr lvl="4">
              <a:lnSpc>
                <a:spcPct val="150000"/>
              </a:lnSpc>
            </a:pPr>
            <a:r>
              <a:rPr lang="en-US" sz="1600" b="1" dirty="0">
                <a:solidFill>
                  <a:srgbClr val="0070C0"/>
                </a:solidFill>
                <a:latin typeface="Tahoma" pitchFamily="34" charset="0"/>
                <a:ea typeface="Tahoma" pitchFamily="34" charset="0"/>
                <a:cs typeface="Tahoma" pitchFamily="34" charset="0"/>
              </a:rPr>
              <a:t>FROM</a:t>
            </a:r>
            <a:r>
              <a:rPr lang="en-US" sz="1600" b="1" dirty="0">
                <a:latin typeface="Tahoma" pitchFamily="34" charset="0"/>
                <a:ea typeface="Tahoma" pitchFamily="34" charset="0"/>
                <a:cs typeface="Tahoma" pitchFamily="34" charset="0"/>
              </a:rPr>
              <a:t> </a:t>
            </a:r>
            <a:r>
              <a:rPr lang="en-US" sz="1600" dirty="0">
                <a:latin typeface="Tahoma" pitchFamily="34" charset="0"/>
                <a:ea typeface="Tahoma" pitchFamily="34" charset="0"/>
                <a:cs typeface="Tahoma" pitchFamily="34" charset="0"/>
              </a:rPr>
              <a:t>	&lt;table list&gt; 	</a:t>
            </a:r>
          </a:p>
          <a:p>
            <a:pPr lvl="4">
              <a:lnSpc>
                <a:spcPct val="150000"/>
              </a:lnSpc>
            </a:pPr>
            <a:r>
              <a:rPr lang="en-US" sz="1600" b="1" dirty="0">
                <a:solidFill>
                  <a:srgbClr val="0070C0"/>
                </a:solidFill>
                <a:latin typeface="Tahoma" pitchFamily="34" charset="0"/>
                <a:ea typeface="Tahoma" pitchFamily="34" charset="0"/>
                <a:cs typeface="Tahoma" pitchFamily="34" charset="0"/>
              </a:rPr>
              <a:t>WHERE</a:t>
            </a:r>
            <a:r>
              <a:rPr lang="en-US" sz="1600" b="1" dirty="0">
                <a:latin typeface="Tahoma" pitchFamily="34" charset="0"/>
                <a:ea typeface="Tahoma" pitchFamily="34" charset="0"/>
                <a:cs typeface="Tahoma" pitchFamily="34" charset="0"/>
              </a:rPr>
              <a:t> </a:t>
            </a:r>
            <a:r>
              <a:rPr lang="en-US" sz="1600" dirty="0">
                <a:latin typeface="Tahoma" pitchFamily="34" charset="0"/>
                <a:ea typeface="Tahoma" pitchFamily="34" charset="0"/>
                <a:cs typeface="Tahoma" pitchFamily="34" charset="0"/>
              </a:rPr>
              <a:t>	&lt;condition&gt;</a:t>
            </a:r>
          </a:p>
          <a:p>
            <a:pPr lvl="1">
              <a:lnSpc>
                <a:spcPct val="150000"/>
              </a:lnSpc>
            </a:pPr>
            <a:endParaRPr lang="en-US" sz="1400" dirty="0">
              <a:latin typeface="Tahoma" pitchFamily="34" charset="0"/>
              <a:ea typeface="Tahoma" pitchFamily="34" charset="0"/>
              <a:cs typeface="Tahoma" pitchFamily="34" charset="0"/>
            </a:endParaRPr>
          </a:p>
          <a:p>
            <a:pPr marL="457200" indent="-457200">
              <a:lnSpc>
                <a:spcPct val="150000"/>
              </a:lnSpc>
              <a:buFont typeface="Arial" pitchFamily="34" charset="0"/>
              <a:buChar char="•"/>
            </a:pPr>
            <a:r>
              <a:rPr lang="en-US" sz="2000" b="1" dirty="0">
                <a:latin typeface="Tahoma" pitchFamily="34" charset="0"/>
                <a:ea typeface="Tahoma" pitchFamily="34" charset="0"/>
                <a:cs typeface="Tahoma" pitchFamily="34" charset="0"/>
              </a:rPr>
              <a:t> </a:t>
            </a:r>
            <a:r>
              <a:rPr lang="en-US" sz="1600" b="1" dirty="0">
                <a:latin typeface="Tahoma" pitchFamily="34" charset="0"/>
                <a:ea typeface="Tahoma" pitchFamily="34" charset="0"/>
                <a:cs typeface="Tahoma" pitchFamily="34" charset="0"/>
              </a:rPr>
              <a:t>&lt;attribute list&gt; </a:t>
            </a:r>
            <a:r>
              <a:rPr lang="en-US" sz="1600" dirty="0">
                <a:latin typeface="Tahoma" pitchFamily="34" charset="0"/>
                <a:ea typeface="Tahoma" pitchFamily="34" charset="0"/>
                <a:cs typeface="Tahoma" pitchFamily="34" charset="0"/>
              </a:rPr>
              <a:t>is a list of attribute names</a:t>
            </a:r>
          </a:p>
          <a:p>
            <a:pPr marL="342900" indent="-342900">
              <a:lnSpc>
                <a:spcPct val="150000"/>
              </a:lnSpc>
              <a:buFont typeface="Arial" pitchFamily="34" charset="0"/>
              <a:buChar char="•"/>
            </a:pPr>
            <a:r>
              <a:rPr lang="en-US" sz="1600" dirty="0">
                <a:latin typeface="Tahoma" pitchFamily="34" charset="0"/>
                <a:ea typeface="Tahoma" pitchFamily="34" charset="0"/>
                <a:cs typeface="Tahoma" pitchFamily="34" charset="0"/>
              </a:rPr>
              <a:t>   </a:t>
            </a:r>
            <a:r>
              <a:rPr lang="en-US" sz="1600" b="1" dirty="0">
                <a:latin typeface="Tahoma" pitchFamily="34" charset="0"/>
                <a:ea typeface="Tahoma" pitchFamily="34" charset="0"/>
                <a:cs typeface="Tahoma" pitchFamily="34" charset="0"/>
              </a:rPr>
              <a:t>&lt;table list&gt; </a:t>
            </a:r>
            <a:r>
              <a:rPr lang="en-US" sz="1600" dirty="0">
                <a:latin typeface="Tahoma" pitchFamily="34" charset="0"/>
                <a:ea typeface="Tahoma" pitchFamily="34" charset="0"/>
                <a:cs typeface="Tahoma" pitchFamily="34" charset="0"/>
              </a:rPr>
              <a:t>is a list of the relation names</a:t>
            </a:r>
          </a:p>
          <a:p>
            <a:pPr marL="342900" indent="-342900">
              <a:lnSpc>
                <a:spcPct val="150000"/>
              </a:lnSpc>
              <a:buFont typeface="Arial" pitchFamily="34" charset="0"/>
              <a:buChar char="•"/>
            </a:pPr>
            <a:r>
              <a:rPr lang="en-US" sz="1600" dirty="0">
                <a:latin typeface="Tahoma" pitchFamily="34" charset="0"/>
                <a:ea typeface="Tahoma" pitchFamily="34" charset="0"/>
                <a:cs typeface="Tahoma" pitchFamily="34" charset="0"/>
              </a:rPr>
              <a:t> </a:t>
            </a:r>
            <a:r>
              <a:rPr lang="en-US" sz="1600" b="1" dirty="0">
                <a:latin typeface="Tahoma" pitchFamily="34" charset="0"/>
                <a:ea typeface="Tahoma" pitchFamily="34" charset="0"/>
                <a:cs typeface="Tahoma" pitchFamily="34" charset="0"/>
              </a:rPr>
              <a:t>&lt;condition&gt; </a:t>
            </a:r>
            <a:r>
              <a:rPr lang="en-US" sz="1600" dirty="0">
                <a:latin typeface="Tahoma" pitchFamily="34" charset="0"/>
                <a:ea typeface="Tahoma" pitchFamily="34" charset="0"/>
                <a:cs typeface="Tahoma" pitchFamily="34" charset="0"/>
              </a:rPr>
              <a:t>is a conditional (Boolean) expression</a:t>
            </a:r>
          </a:p>
          <a:p>
            <a:pPr algn="just">
              <a:lnSpc>
                <a:spcPct val="150000"/>
              </a:lnSpc>
            </a:pPr>
            <a:endParaRPr lang="en-US" sz="1400" dirty="0">
              <a:latin typeface="Tahoma" pitchFamily="34" charset="0"/>
              <a:ea typeface="Tahoma" pitchFamily="34" charset="0"/>
              <a:cs typeface="Tahoma" pitchFamily="34" charset="0"/>
            </a:endParaRPr>
          </a:p>
          <a:p>
            <a:pPr algn="just">
              <a:lnSpc>
                <a:spcPct val="150000"/>
              </a:lnSpc>
            </a:pPr>
            <a:r>
              <a:rPr lang="en-US" sz="1600" b="1" dirty="0">
                <a:latin typeface="Tahoma" pitchFamily="34" charset="0"/>
                <a:ea typeface="Tahoma" pitchFamily="34" charset="0"/>
                <a:cs typeface="Tahoma" pitchFamily="34" charset="0"/>
              </a:rPr>
              <a:t>Logical Comparison  Operators </a:t>
            </a:r>
            <a:r>
              <a:rPr lang="en-US" sz="2000" b="1" dirty="0">
                <a:latin typeface="Tahoma" pitchFamily="34" charset="0"/>
                <a:ea typeface="Tahoma" pitchFamily="34" charset="0"/>
                <a:cs typeface="Tahoma" pitchFamily="34" charset="0"/>
              </a:rPr>
              <a:t>:  =,&gt;,&lt;,&gt;=,&lt;=,&lt;&gt; (not equal)</a:t>
            </a:r>
          </a:p>
          <a:p>
            <a:endParaRPr lang="en-US" dirty="0"/>
          </a:p>
        </p:txBody>
      </p:sp>
    </p:spTree>
  </p:cSld>
  <p:clrMapOvr>
    <a:masterClrMapping/>
  </p:clrMapOvr>
  <p:transition>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p:cNvPicPr>
            <a:picLocks noGrp="1" noChangeAspect="1" noChangeArrowheads="1"/>
          </p:cNvPicPr>
          <p:nvPr>
            <p:ph idx="1"/>
          </p:nvPr>
        </p:nvPicPr>
        <p:blipFill>
          <a:blip r:embed="rId3" cstate="print"/>
          <a:srcRect/>
          <a:stretch>
            <a:fillRect/>
          </a:stretch>
        </p:blipFill>
        <p:spPr>
          <a:xfrm>
            <a:off x="762000" y="1600200"/>
            <a:ext cx="7575550" cy="4802188"/>
          </a:xfrm>
          <a:noFill/>
        </p:spPr>
      </p:pic>
      <p:sp>
        <p:nvSpPr>
          <p:cNvPr id="7" name="TextBox 6"/>
          <p:cNvSpPr txBox="1"/>
          <p:nvPr/>
        </p:nvSpPr>
        <p:spPr>
          <a:xfrm>
            <a:off x="152400" y="762000"/>
            <a:ext cx="8534400" cy="461665"/>
          </a:xfrm>
          <a:prstGeom prst="rect">
            <a:avLst/>
          </a:prstGeom>
          <a:noFill/>
        </p:spPr>
        <p:txBody>
          <a:bodyPr wrap="square" rtlCol="0">
            <a:spAutoFit/>
          </a:bodyPr>
          <a:lstStyle/>
          <a:p>
            <a:r>
              <a:rPr lang="en-US" b="1" dirty="0"/>
              <a:t> </a:t>
            </a:r>
            <a:r>
              <a:rPr lang="en-US" sz="2400" b="1" dirty="0"/>
              <a:t>Example queries  on company relational schema </a:t>
            </a:r>
            <a:endParaRPr lang="en-US" dirty="0"/>
          </a:p>
        </p:txBody>
      </p:sp>
      <p:sp>
        <p:nvSpPr>
          <p:cNvPr id="8" name="Rectangle 2"/>
          <p:cNvSpPr>
            <a:spLocks noGrp="1" noChangeArrowheads="1"/>
          </p:cNvSpPr>
          <p:nvPr>
            <p:ph type="title"/>
          </p:nvPr>
        </p:nvSpPr>
        <p:spPr>
          <a:xfrm>
            <a:off x="152400" y="228600"/>
            <a:ext cx="5257800" cy="411162"/>
          </a:xfrm>
          <a:noFill/>
        </p:spPr>
        <p:txBody>
          <a:bodyPr lIns="90488" tIns="44450" rIns="90488" bIns="44450"/>
          <a:lstStyle/>
          <a:p>
            <a:pPr algn="l">
              <a:lnSpc>
                <a:spcPct val="80000"/>
              </a:lnSpc>
              <a:spcBef>
                <a:spcPts val="500"/>
              </a:spcBef>
              <a:spcAft>
                <a:spcPts val="500"/>
              </a:spcAft>
            </a:pPr>
            <a:r>
              <a:rPr lang="en-US" sz="2800" b="1" dirty="0">
                <a:solidFill>
                  <a:srgbClr val="002060"/>
                </a:solidFill>
              </a:rPr>
              <a:t>The SELECT-FROM-WHERE</a:t>
            </a:r>
          </a:p>
        </p:txBody>
      </p:sp>
    </p:spTree>
  </p:cSld>
  <p:clrMapOvr>
    <a:masterClrMapping/>
  </p:clrMapOvr>
  <p:transition>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609600"/>
            <a:ext cx="8534400" cy="400110"/>
          </a:xfrm>
          <a:prstGeom prst="rect">
            <a:avLst/>
          </a:prstGeom>
          <a:noFill/>
        </p:spPr>
        <p:txBody>
          <a:bodyPr wrap="square" rtlCol="0">
            <a:spAutoFit/>
          </a:bodyPr>
          <a:lstStyle/>
          <a:p>
            <a:r>
              <a:rPr lang="en-US" sz="2000" b="1" dirty="0"/>
              <a:t>Example queries  on company relational schema </a:t>
            </a:r>
            <a:endParaRPr lang="en-US" sz="2000" dirty="0"/>
          </a:p>
        </p:txBody>
      </p:sp>
      <p:pic>
        <p:nvPicPr>
          <p:cNvPr id="8" name="Picture 3"/>
          <p:cNvPicPr>
            <a:picLocks noGrp="1" noChangeAspect="1" noChangeArrowheads="1"/>
          </p:cNvPicPr>
          <p:nvPr>
            <p:ph idx="1"/>
          </p:nvPr>
        </p:nvPicPr>
        <p:blipFill>
          <a:blip r:embed="rId3" cstate="print"/>
          <a:srcRect/>
          <a:stretch>
            <a:fillRect/>
          </a:stretch>
        </p:blipFill>
        <p:spPr>
          <a:xfrm>
            <a:off x="2209800" y="1143000"/>
            <a:ext cx="6505390" cy="5483829"/>
          </a:xfrm>
          <a:noFill/>
        </p:spPr>
      </p:pic>
      <p:sp>
        <p:nvSpPr>
          <p:cNvPr id="9" name="TextBox 8"/>
          <p:cNvSpPr txBox="1"/>
          <p:nvPr/>
        </p:nvSpPr>
        <p:spPr>
          <a:xfrm>
            <a:off x="152400" y="1447800"/>
            <a:ext cx="2286000" cy="507831"/>
          </a:xfrm>
          <a:prstGeom prst="rect">
            <a:avLst/>
          </a:prstGeom>
          <a:noFill/>
        </p:spPr>
        <p:txBody>
          <a:bodyPr wrap="square" rtlCol="0">
            <a:spAutoFit/>
          </a:bodyPr>
          <a:lstStyle/>
          <a:p>
            <a:pPr algn="just">
              <a:lnSpc>
                <a:spcPct val="150000"/>
              </a:lnSpc>
            </a:pPr>
            <a:r>
              <a:rPr lang="en-US" dirty="0"/>
              <a:t>Populated Database</a:t>
            </a:r>
          </a:p>
        </p:txBody>
      </p:sp>
      <p:sp>
        <p:nvSpPr>
          <p:cNvPr id="10" name="Rectangle 2"/>
          <p:cNvSpPr>
            <a:spLocks noGrp="1" noChangeArrowheads="1"/>
          </p:cNvSpPr>
          <p:nvPr>
            <p:ph type="title"/>
          </p:nvPr>
        </p:nvSpPr>
        <p:spPr>
          <a:xfrm>
            <a:off x="152400" y="228600"/>
            <a:ext cx="5257800" cy="411162"/>
          </a:xfrm>
          <a:noFill/>
        </p:spPr>
        <p:txBody>
          <a:bodyPr lIns="90488" tIns="44450" rIns="90488" bIns="44450"/>
          <a:lstStyle/>
          <a:p>
            <a:pPr algn="l">
              <a:lnSpc>
                <a:spcPct val="80000"/>
              </a:lnSpc>
              <a:spcBef>
                <a:spcPts val="500"/>
              </a:spcBef>
              <a:spcAft>
                <a:spcPts val="500"/>
              </a:spcAft>
            </a:pPr>
            <a:r>
              <a:rPr lang="en-US" sz="2800" b="1" dirty="0">
                <a:solidFill>
                  <a:srgbClr val="002060"/>
                </a:solidFill>
              </a:rPr>
              <a:t>The SELECT-FROM-WHERE</a:t>
            </a:r>
          </a:p>
        </p:txBody>
      </p:sp>
    </p:spTree>
  </p:cSld>
  <p:clrMapOvr>
    <a:masterClrMapping/>
  </p:clrMapOvr>
  <p:transition>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914400"/>
            <a:ext cx="8534400" cy="2846933"/>
          </a:xfrm>
          <a:prstGeom prst="rect">
            <a:avLst/>
          </a:prstGeom>
          <a:noFill/>
        </p:spPr>
        <p:txBody>
          <a:bodyPr wrap="square" rtlCol="0">
            <a:spAutoFit/>
          </a:bodyPr>
          <a:lstStyle/>
          <a:p>
            <a:pPr algn="just">
              <a:lnSpc>
                <a:spcPct val="150000"/>
              </a:lnSpc>
            </a:pPr>
            <a:r>
              <a:rPr lang="en-US" sz="2000" b="1" dirty="0">
                <a:solidFill>
                  <a:srgbClr val="000000"/>
                </a:solidFill>
                <a:latin typeface="Tahoma" pitchFamily="34" charset="0"/>
                <a:ea typeface="Tahoma" pitchFamily="34" charset="0"/>
                <a:cs typeface="Tahoma" pitchFamily="34" charset="0"/>
              </a:rPr>
              <a:t>Query 0:   </a:t>
            </a:r>
            <a:r>
              <a:rPr lang="en-US" sz="2000" dirty="0">
                <a:solidFill>
                  <a:srgbClr val="000000"/>
                </a:solidFill>
                <a:latin typeface="Tahoma" pitchFamily="34" charset="0"/>
                <a:ea typeface="Tahoma" pitchFamily="34" charset="0"/>
                <a:cs typeface="Tahoma" pitchFamily="34" charset="0"/>
              </a:rPr>
              <a:t>Retrieve the birthdate and address of the employee whose name is 'John B. Smith'.</a:t>
            </a:r>
            <a:endParaRPr lang="en-US" sz="2800" b="1" dirty="0">
              <a:solidFill>
                <a:srgbClr val="000000"/>
              </a:solidFill>
              <a:latin typeface="Tahoma" pitchFamily="34" charset="0"/>
              <a:ea typeface="Tahoma" pitchFamily="34" charset="0"/>
              <a:cs typeface="Tahoma" pitchFamily="34" charset="0"/>
            </a:endParaRPr>
          </a:p>
          <a:p>
            <a:pPr lvl="1">
              <a:lnSpc>
                <a:spcPct val="150000"/>
              </a:lnSpc>
            </a:pPr>
            <a:r>
              <a:rPr lang="en-US" sz="2000" b="1" dirty="0">
                <a:solidFill>
                  <a:srgbClr val="000000"/>
                </a:solidFill>
                <a:latin typeface="Tahoma" pitchFamily="34" charset="0"/>
                <a:ea typeface="Tahoma" pitchFamily="34" charset="0"/>
                <a:cs typeface="Tahoma" pitchFamily="34" charset="0"/>
              </a:rPr>
              <a:t>      </a:t>
            </a:r>
            <a:r>
              <a:rPr lang="en-US" b="1" dirty="0">
                <a:solidFill>
                  <a:srgbClr val="0070C0"/>
                </a:solidFill>
                <a:latin typeface="Tahoma" pitchFamily="34" charset="0"/>
                <a:ea typeface="Tahoma" pitchFamily="34" charset="0"/>
                <a:cs typeface="Tahoma" pitchFamily="34" charset="0"/>
              </a:rPr>
              <a:t>SELECT </a:t>
            </a:r>
            <a:r>
              <a:rPr lang="en-US" b="1" dirty="0">
                <a:solidFill>
                  <a:srgbClr val="000000"/>
                </a:solidFill>
                <a:latin typeface="Tahoma" pitchFamily="34" charset="0"/>
                <a:ea typeface="Tahoma" pitchFamily="34" charset="0"/>
                <a:cs typeface="Tahoma" pitchFamily="34" charset="0"/>
              </a:rPr>
              <a:t>	BDATE, ADDRESS</a:t>
            </a:r>
          </a:p>
          <a:p>
            <a:pPr lvl="1">
              <a:lnSpc>
                <a:spcPct val="150000"/>
              </a:lnSpc>
            </a:pPr>
            <a:r>
              <a:rPr lang="en-US" b="1" dirty="0">
                <a:solidFill>
                  <a:srgbClr val="000000"/>
                </a:solidFill>
                <a:latin typeface="Tahoma" pitchFamily="34" charset="0"/>
                <a:ea typeface="Tahoma" pitchFamily="34" charset="0"/>
                <a:cs typeface="Tahoma" pitchFamily="34" charset="0"/>
              </a:rPr>
              <a:t>     	</a:t>
            </a:r>
            <a:r>
              <a:rPr lang="en-US" b="1" dirty="0">
                <a:solidFill>
                  <a:srgbClr val="0070C0"/>
                </a:solidFill>
                <a:latin typeface="Tahoma" pitchFamily="34" charset="0"/>
                <a:ea typeface="Tahoma" pitchFamily="34" charset="0"/>
                <a:cs typeface="Tahoma" pitchFamily="34" charset="0"/>
              </a:rPr>
              <a:t>FROM </a:t>
            </a:r>
            <a:r>
              <a:rPr lang="en-US" b="1" dirty="0">
                <a:solidFill>
                  <a:srgbClr val="000000"/>
                </a:solidFill>
                <a:latin typeface="Tahoma" pitchFamily="34" charset="0"/>
                <a:ea typeface="Tahoma" pitchFamily="34" charset="0"/>
                <a:cs typeface="Tahoma" pitchFamily="34" charset="0"/>
              </a:rPr>
              <a:t>	EMPLOYEE</a:t>
            </a:r>
          </a:p>
          <a:p>
            <a:pPr lvl="1"/>
            <a:r>
              <a:rPr lang="en-US" b="1" dirty="0">
                <a:solidFill>
                  <a:srgbClr val="000000"/>
                </a:solidFill>
                <a:latin typeface="Tahoma" pitchFamily="34" charset="0"/>
                <a:ea typeface="Tahoma" pitchFamily="34" charset="0"/>
                <a:cs typeface="Tahoma" pitchFamily="34" charset="0"/>
              </a:rPr>
              <a:t>     	</a:t>
            </a:r>
            <a:r>
              <a:rPr lang="en-US" b="1" dirty="0">
                <a:solidFill>
                  <a:srgbClr val="0070C0"/>
                </a:solidFill>
                <a:latin typeface="Tahoma" pitchFamily="34" charset="0"/>
                <a:ea typeface="Tahoma" pitchFamily="34" charset="0"/>
                <a:cs typeface="Tahoma" pitchFamily="34" charset="0"/>
              </a:rPr>
              <a:t>WHERE</a:t>
            </a:r>
            <a:r>
              <a:rPr lang="en-US" b="1" dirty="0">
                <a:solidFill>
                  <a:srgbClr val="000000"/>
                </a:solidFill>
                <a:latin typeface="Tahoma" pitchFamily="34" charset="0"/>
                <a:ea typeface="Tahoma" pitchFamily="34" charset="0"/>
                <a:cs typeface="Tahoma" pitchFamily="34" charset="0"/>
              </a:rPr>
              <a:t>	 FNAME='John'   </a:t>
            </a:r>
            <a:r>
              <a:rPr lang="en-US" b="1" dirty="0">
                <a:solidFill>
                  <a:srgbClr val="0070C0"/>
                </a:solidFill>
                <a:latin typeface="Tahoma" pitchFamily="34" charset="0"/>
                <a:ea typeface="Tahoma" pitchFamily="34" charset="0"/>
                <a:cs typeface="Tahoma" pitchFamily="34" charset="0"/>
              </a:rPr>
              <a:t>AND  </a:t>
            </a:r>
            <a:r>
              <a:rPr lang="en-US" b="1" dirty="0">
                <a:solidFill>
                  <a:srgbClr val="000000"/>
                </a:solidFill>
                <a:latin typeface="Tahoma" pitchFamily="34" charset="0"/>
                <a:ea typeface="Tahoma" pitchFamily="34" charset="0"/>
                <a:cs typeface="Tahoma" pitchFamily="34" charset="0"/>
              </a:rPr>
              <a:t> MINIT='B’  </a:t>
            </a:r>
            <a:r>
              <a:rPr lang="en-US" b="1" dirty="0">
                <a:solidFill>
                  <a:srgbClr val="0070C0"/>
                </a:solidFill>
                <a:latin typeface="Tahoma" pitchFamily="34" charset="0"/>
                <a:ea typeface="Tahoma" pitchFamily="34" charset="0"/>
                <a:cs typeface="Tahoma" pitchFamily="34" charset="0"/>
              </a:rPr>
              <a:t>AND </a:t>
            </a:r>
            <a:r>
              <a:rPr lang="en-US" b="1" dirty="0">
                <a:solidFill>
                  <a:srgbClr val="000000"/>
                </a:solidFill>
                <a:latin typeface="Tahoma" pitchFamily="34" charset="0"/>
                <a:ea typeface="Tahoma" pitchFamily="34" charset="0"/>
                <a:cs typeface="Tahoma" pitchFamily="34" charset="0"/>
              </a:rPr>
              <a:t> LNAME='Smith’</a:t>
            </a:r>
            <a:endParaRPr lang="en-US" sz="2800" b="1" dirty="0">
              <a:solidFill>
                <a:srgbClr val="000000"/>
              </a:solidFill>
              <a:latin typeface="Tahoma" pitchFamily="34" charset="0"/>
              <a:ea typeface="Tahoma" pitchFamily="34" charset="0"/>
              <a:cs typeface="Tahoma" pitchFamily="34" charset="0"/>
            </a:endParaRPr>
          </a:p>
          <a:p>
            <a:pPr lvl="1"/>
            <a:endParaRPr lang="en-US" sz="2400" dirty="0">
              <a:solidFill>
                <a:srgbClr val="000000"/>
              </a:solidFill>
              <a:latin typeface="Tahoma" pitchFamily="34" charset="0"/>
              <a:ea typeface="Tahoma" pitchFamily="34" charset="0"/>
              <a:cs typeface="Tahoma" pitchFamily="34" charset="0"/>
            </a:endParaRPr>
          </a:p>
          <a:p>
            <a:pPr lvl="1"/>
            <a:r>
              <a:rPr lang="en-US" sz="2000" b="1" dirty="0">
                <a:solidFill>
                  <a:srgbClr val="C00000"/>
                </a:solidFill>
                <a:latin typeface="Tahoma" pitchFamily="34" charset="0"/>
                <a:ea typeface="Tahoma" pitchFamily="34" charset="0"/>
                <a:cs typeface="Tahoma" pitchFamily="34" charset="0"/>
              </a:rPr>
              <a:t>* the result of the query </a:t>
            </a:r>
            <a:r>
              <a:rPr lang="en-US" sz="2000" b="1" i="1" dirty="0">
                <a:solidFill>
                  <a:srgbClr val="C00000"/>
                </a:solidFill>
                <a:latin typeface="Tahoma" pitchFamily="34" charset="0"/>
                <a:ea typeface="Tahoma" pitchFamily="34" charset="0"/>
                <a:cs typeface="Tahoma" pitchFamily="34" charset="0"/>
              </a:rPr>
              <a:t>may contain</a:t>
            </a:r>
            <a:r>
              <a:rPr lang="en-US" sz="2000" b="1" dirty="0">
                <a:solidFill>
                  <a:srgbClr val="C00000"/>
                </a:solidFill>
                <a:latin typeface="Tahoma" pitchFamily="34" charset="0"/>
                <a:ea typeface="Tahoma" pitchFamily="34" charset="0"/>
                <a:cs typeface="Tahoma" pitchFamily="34" charset="0"/>
              </a:rPr>
              <a:t>  duplicate tuples</a:t>
            </a:r>
          </a:p>
        </p:txBody>
      </p:sp>
      <p:sp>
        <p:nvSpPr>
          <p:cNvPr id="4" name="TextBox 3"/>
          <p:cNvSpPr txBox="1"/>
          <p:nvPr/>
        </p:nvSpPr>
        <p:spPr>
          <a:xfrm>
            <a:off x="304800" y="4419600"/>
            <a:ext cx="8458200" cy="1183401"/>
          </a:xfrm>
          <a:prstGeom prst="rect">
            <a:avLst/>
          </a:prstGeom>
          <a:noFill/>
          <a:ln w="22225">
            <a:solidFill>
              <a:schemeClr val="accent1"/>
            </a:solidFill>
          </a:ln>
        </p:spPr>
        <p:txBody>
          <a:bodyPr wrap="square" rtlCol="0">
            <a:spAutoFit/>
          </a:bodyPr>
          <a:lstStyle/>
          <a:p>
            <a:pPr algn="just">
              <a:spcBef>
                <a:spcPts val="500"/>
              </a:spcBef>
              <a:spcAft>
                <a:spcPts val="500"/>
              </a:spcAft>
              <a:buFont typeface="Arial" pitchFamily="34" charset="0"/>
              <a:buChar char="•"/>
            </a:pPr>
            <a:r>
              <a:rPr lang="en-US" b="1" dirty="0">
                <a:latin typeface="Tahoma" pitchFamily="34" charset="0"/>
                <a:ea typeface="Tahoma" pitchFamily="34" charset="0"/>
                <a:cs typeface="Tahoma" pitchFamily="34" charset="0"/>
              </a:rPr>
              <a:t>Equivalent relational algebra expression  </a:t>
            </a:r>
            <a:endParaRPr lang="en-US" sz="3200" dirty="0">
              <a:latin typeface="Tahoma" pitchFamily="34" charset="0"/>
              <a:ea typeface="Tahoma" pitchFamily="34" charset="0"/>
              <a:cs typeface="Tahoma" pitchFamily="34" charset="0"/>
            </a:endParaRPr>
          </a:p>
          <a:p>
            <a:pPr>
              <a:lnSpc>
                <a:spcPct val="80000"/>
              </a:lnSpc>
              <a:spcBef>
                <a:spcPts val="500"/>
              </a:spcBef>
              <a:spcAft>
                <a:spcPts val="500"/>
              </a:spcAft>
            </a:pPr>
            <a:r>
              <a:rPr lang="en-US" sz="2000" dirty="0"/>
              <a:t>	</a:t>
            </a:r>
            <a:r>
              <a:rPr lang="en-US" sz="2400" b="1" dirty="0"/>
              <a:t>π</a:t>
            </a:r>
            <a:r>
              <a:rPr lang="en-US" b="1" baseline="-25000" dirty="0"/>
              <a:t>BDATE , ADDRESS</a:t>
            </a:r>
            <a:r>
              <a:rPr lang="en-US" b="1" dirty="0"/>
              <a:t> (</a:t>
            </a:r>
            <a:r>
              <a:rPr lang="en-US" sz="2800" b="1" dirty="0">
                <a:latin typeface="Symbol" pitchFamily="18" charset="2"/>
              </a:rPr>
              <a:t></a:t>
            </a:r>
            <a:r>
              <a:rPr lang="en-US" b="1" dirty="0"/>
              <a:t> </a:t>
            </a:r>
            <a:r>
              <a:rPr lang="en-US" b="1" baseline="-25000" dirty="0"/>
              <a:t>FNAME=‘John’ AND MINIT=‘B’ AND LNAME=‘Smith’ </a:t>
            </a:r>
            <a:r>
              <a:rPr lang="en-US" b="1" dirty="0"/>
              <a:t>(EMPLOYEE))</a:t>
            </a:r>
            <a:r>
              <a:rPr lang="en-US" dirty="0"/>
              <a:t> </a:t>
            </a:r>
          </a:p>
          <a:p>
            <a:endParaRPr lang="en-US" dirty="0"/>
          </a:p>
        </p:txBody>
      </p:sp>
      <p:sp>
        <p:nvSpPr>
          <p:cNvPr id="6" name="Rectangle 2"/>
          <p:cNvSpPr>
            <a:spLocks noGrp="1" noChangeArrowheads="1"/>
          </p:cNvSpPr>
          <p:nvPr>
            <p:ph type="title"/>
          </p:nvPr>
        </p:nvSpPr>
        <p:spPr>
          <a:xfrm>
            <a:off x="152400" y="228600"/>
            <a:ext cx="7696200" cy="411162"/>
          </a:xfrm>
          <a:noFill/>
        </p:spPr>
        <p:txBody>
          <a:bodyPr lIns="90488" tIns="44450" rIns="90488" bIns="44450"/>
          <a:lstStyle/>
          <a:p>
            <a:pPr algn="l">
              <a:lnSpc>
                <a:spcPct val="80000"/>
              </a:lnSpc>
              <a:spcBef>
                <a:spcPts val="500"/>
              </a:spcBef>
              <a:spcAft>
                <a:spcPts val="500"/>
              </a:spcAft>
            </a:pPr>
            <a:r>
              <a:rPr lang="en-US" sz="2800" b="1" dirty="0">
                <a:solidFill>
                  <a:srgbClr val="002060"/>
                </a:solidFill>
              </a:rPr>
              <a:t>The SELECT-FROM-WHERE :  </a:t>
            </a:r>
            <a:r>
              <a:rPr lang="en-US" sz="2800" b="1" dirty="0"/>
              <a:t>Examples</a:t>
            </a:r>
            <a:endParaRPr lang="en-US" sz="2800" b="1" dirty="0">
              <a:solidFill>
                <a:srgbClr val="002060"/>
              </a:solidFill>
            </a:endParaRPr>
          </a:p>
        </p:txBody>
      </p:sp>
    </p:spTree>
  </p:cSld>
  <p:clrMapOvr>
    <a:masterClrMapping/>
  </p:clrMapOvr>
  <p:transition>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762000"/>
            <a:ext cx="8534400" cy="5512278"/>
          </a:xfrm>
          <a:prstGeom prst="rect">
            <a:avLst/>
          </a:prstGeom>
          <a:noFill/>
        </p:spPr>
        <p:txBody>
          <a:bodyPr wrap="square" rtlCol="0">
            <a:spAutoFit/>
          </a:bodyPr>
          <a:lstStyle/>
          <a:p>
            <a:pPr>
              <a:lnSpc>
                <a:spcPct val="80000"/>
              </a:lnSpc>
            </a:pPr>
            <a:endParaRPr lang="en-US" sz="2400" u="sng" dirty="0">
              <a:solidFill>
                <a:srgbClr val="000000"/>
              </a:solidFill>
            </a:endParaRPr>
          </a:p>
          <a:p>
            <a:pPr>
              <a:lnSpc>
                <a:spcPct val="150000"/>
              </a:lnSpc>
            </a:pPr>
            <a:r>
              <a:rPr lang="en-US" sz="2000" b="1" dirty="0">
                <a:solidFill>
                  <a:srgbClr val="000000"/>
                </a:solidFill>
                <a:latin typeface="Tahoma" pitchFamily="34" charset="0"/>
                <a:ea typeface="Tahoma" pitchFamily="34" charset="0"/>
                <a:cs typeface="Tahoma" pitchFamily="34" charset="0"/>
              </a:rPr>
              <a:t>Query 1</a:t>
            </a:r>
            <a:r>
              <a:rPr lang="en-US" sz="2000" dirty="0">
                <a:solidFill>
                  <a:srgbClr val="000000"/>
                </a:solidFill>
                <a:latin typeface="Tahoma" pitchFamily="34" charset="0"/>
                <a:ea typeface="Tahoma" pitchFamily="34" charset="0"/>
                <a:cs typeface="Tahoma" pitchFamily="34" charset="0"/>
              </a:rPr>
              <a:t>: Retrieve the name and address of all employees who work for the 'Research' department.</a:t>
            </a:r>
            <a:br>
              <a:rPr lang="en-US" sz="2000" dirty="0">
                <a:solidFill>
                  <a:srgbClr val="000000"/>
                </a:solidFill>
                <a:latin typeface="Tahoma" pitchFamily="34" charset="0"/>
                <a:ea typeface="Tahoma" pitchFamily="34" charset="0"/>
                <a:cs typeface="Tahoma" pitchFamily="34" charset="0"/>
              </a:rPr>
            </a:br>
            <a:endParaRPr lang="en-US" sz="2000" dirty="0">
              <a:solidFill>
                <a:srgbClr val="000000"/>
              </a:solidFill>
              <a:latin typeface="Tahoma" pitchFamily="34" charset="0"/>
              <a:ea typeface="Tahoma" pitchFamily="34" charset="0"/>
              <a:cs typeface="Tahoma" pitchFamily="34" charset="0"/>
            </a:endParaRPr>
          </a:p>
          <a:p>
            <a:pPr>
              <a:lnSpc>
                <a:spcPct val="150000"/>
              </a:lnSpc>
            </a:pPr>
            <a:r>
              <a:rPr lang="en-US" sz="2000" b="1" dirty="0">
                <a:solidFill>
                  <a:srgbClr val="000000"/>
                </a:solidFill>
                <a:latin typeface="Tahoma" pitchFamily="34" charset="0"/>
                <a:ea typeface="Tahoma" pitchFamily="34" charset="0"/>
                <a:cs typeface="Tahoma" pitchFamily="34" charset="0"/>
              </a:rPr>
              <a:t>Q1:     </a:t>
            </a:r>
            <a:r>
              <a:rPr lang="en-US" sz="1600" b="1" dirty="0">
                <a:solidFill>
                  <a:srgbClr val="0070C0"/>
                </a:solidFill>
                <a:latin typeface="Tahoma" pitchFamily="34" charset="0"/>
                <a:ea typeface="Tahoma" pitchFamily="34" charset="0"/>
                <a:cs typeface="Tahoma" pitchFamily="34" charset="0"/>
              </a:rPr>
              <a:t>SELECT</a:t>
            </a:r>
            <a:r>
              <a:rPr lang="en-US" sz="1600" b="1" dirty="0">
                <a:solidFill>
                  <a:srgbClr val="000000"/>
                </a:solidFill>
                <a:latin typeface="Tahoma" pitchFamily="34" charset="0"/>
                <a:ea typeface="Tahoma" pitchFamily="34" charset="0"/>
                <a:cs typeface="Tahoma" pitchFamily="34" charset="0"/>
              </a:rPr>
              <a:t>	FNAME, LNAME, ADDRESS</a:t>
            </a:r>
          </a:p>
          <a:p>
            <a:pPr>
              <a:lnSpc>
                <a:spcPct val="150000"/>
              </a:lnSpc>
            </a:pPr>
            <a:r>
              <a:rPr lang="en-US" sz="1600" b="1" dirty="0">
                <a:solidFill>
                  <a:srgbClr val="000000"/>
                </a:solidFill>
                <a:latin typeface="Tahoma" pitchFamily="34" charset="0"/>
                <a:ea typeface="Tahoma" pitchFamily="34" charset="0"/>
                <a:cs typeface="Tahoma" pitchFamily="34" charset="0"/>
              </a:rPr>
              <a:t>              </a:t>
            </a:r>
            <a:r>
              <a:rPr lang="en-US" sz="1600" b="1" dirty="0">
                <a:solidFill>
                  <a:srgbClr val="0070C0"/>
                </a:solidFill>
                <a:latin typeface="Tahoma" pitchFamily="34" charset="0"/>
                <a:ea typeface="Tahoma" pitchFamily="34" charset="0"/>
                <a:cs typeface="Tahoma" pitchFamily="34" charset="0"/>
              </a:rPr>
              <a:t>FROM </a:t>
            </a:r>
            <a:r>
              <a:rPr lang="en-US" sz="1600" b="1" dirty="0">
                <a:solidFill>
                  <a:srgbClr val="000000"/>
                </a:solidFill>
                <a:latin typeface="Tahoma" pitchFamily="34" charset="0"/>
                <a:ea typeface="Tahoma" pitchFamily="34" charset="0"/>
                <a:cs typeface="Tahoma" pitchFamily="34" charset="0"/>
              </a:rPr>
              <a:t>	EMPLOYEE, DEPARTMENT</a:t>
            </a:r>
          </a:p>
          <a:p>
            <a:pPr>
              <a:lnSpc>
                <a:spcPct val="150000"/>
              </a:lnSpc>
            </a:pPr>
            <a:r>
              <a:rPr lang="en-US" sz="1600" b="1" dirty="0">
                <a:solidFill>
                  <a:srgbClr val="000000"/>
                </a:solidFill>
                <a:latin typeface="Tahoma" pitchFamily="34" charset="0"/>
                <a:ea typeface="Tahoma" pitchFamily="34" charset="0"/>
                <a:cs typeface="Tahoma" pitchFamily="34" charset="0"/>
              </a:rPr>
              <a:t>              </a:t>
            </a:r>
            <a:r>
              <a:rPr lang="en-US" sz="1600" b="1" dirty="0">
                <a:solidFill>
                  <a:srgbClr val="0070C0"/>
                </a:solidFill>
                <a:latin typeface="Tahoma" pitchFamily="34" charset="0"/>
                <a:ea typeface="Tahoma" pitchFamily="34" charset="0"/>
                <a:cs typeface="Tahoma" pitchFamily="34" charset="0"/>
              </a:rPr>
              <a:t>WHERE	</a:t>
            </a:r>
            <a:r>
              <a:rPr lang="en-US" sz="1600" b="1" dirty="0">
                <a:solidFill>
                  <a:srgbClr val="C00000"/>
                </a:solidFill>
                <a:latin typeface="Tahoma" pitchFamily="34" charset="0"/>
                <a:ea typeface="Tahoma" pitchFamily="34" charset="0"/>
                <a:cs typeface="Tahoma" pitchFamily="34" charset="0"/>
              </a:rPr>
              <a:t> DNUMBER=DNO  </a:t>
            </a:r>
            <a:r>
              <a:rPr lang="en-US" sz="1600" b="1" dirty="0">
                <a:solidFill>
                  <a:srgbClr val="0070C0"/>
                </a:solidFill>
                <a:latin typeface="Tahoma" pitchFamily="34" charset="0"/>
                <a:ea typeface="Tahoma" pitchFamily="34" charset="0"/>
                <a:cs typeface="Tahoma" pitchFamily="34" charset="0"/>
              </a:rPr>
              <a:t>AND</a:t>
            </a:r>
            <a:r>
              <a:rPr lang="en-US" sz="1600" b="1" dirty="0">
                <a:solidFill>
                  <a:srgbClr val="000000"/>
                </a:solidFill>
                <a:latin typeface="Tahoma" pitchFamily="34" charset="0"/>
                <a:ea typeface="Tahoma" pitchFamily="34" charset="0"/>
                <a:cs typeface="Tahoma" pitchFamily="34" charset="0"/>
              </a:rPr>
              <a:t>  DNAME='Research' </a:t>
            </a:r>
            <a:br>
              <a:rPr lang="en-US" sz="2000" b="1" dirty="0">
                <a:solidFill>
                  <a:srgbClr val="000000"/>
                </a:solidFill>
                <a:latin typeface="Tahoma" pitchFamily="34" charset="0"/>
                <a:ea typeface="Tahoma" pitchFamily="34" charset="0"/>
                <a:cs typeface="Tahoma" pitchFamily="34" charset="0"/>
              </a:rPr>
            </a:br>
            <a:r>
              <a:rPr lang="en-US" sz="2000" b="1" dirty="0">
                <a:solidFill>
                  <a:srgbClr val="000000"/>
                </a:solidFill>
                <a:latin typeface="Tahoma" pitchFamily="34" charset="0"/>
                <a:ea typeface="Tahoma" pitchFamily="34" charset="0"/>
                <a:cs typeface="Tahoma" pitchFamily="34" charset="0"/>
              </a:rPr>
              <a:t> </a:t>
            </a:r>
          </a:p>
          <a:p>
            <a:pPr marL="342900" indent="-342900" algn="just">
              <a:lnSpc>
                <a:spcPct val="150000"/>
              </a:lnSpc>
              <a:buFont typeface="Arial" pitchFamily="34" charset="0"/>
              <a:buChar char="•"/>
            </a:pPr>
            <a:r>
              <a:rPr lang="en-US" dirty="0">
                <a:solidFill>
                  <a:srgbClr val="000000"/>
                </a:solidFill>
                <a:latin typeface="Tahoma" pitchFamily="34" charset="0"/>
                <a:ea typeface="Tahoma" pitchFamily="34" charset="0"/>
                <a:cs typeface="Tahoma" pitchFamily="34" charset="0"/>
              </a:rPr>
              <a:t>Similar to a SELECT-PROJECT-JOIN sequence of relational algebra operations</a:t>
            </a:r>
          </a:p>
          <a:p>
            <a:pPr marL="342900" indent="-342900" algn="just">
              <a:lnSpc>
                <a:spcPct val="150000"/>
              </a:lnSpc>
              <a:buFont typeface="Arial" pitchFamily="34" charset="0"/>
              <a:buChar char="•"/>
            </a:pPr>
            <a:r>
              <a:rPr lang="en-US" dirty="0">
                <a:solidFill>
                  <a:srgbClr val="000000"/>
                </a:solidFill>
                <a:latin typeface="Tahoma" pitchFamily="34" charset="0"/>
                <a:ea typeface="Tahoma" pitchFamily="34" charset="0"/>
                <a:cs typeface="Tahoma" pitchFamily="34" charset="0"/>
              </a:rPr>
              <a:t>(DNAME='Research') is a </a:t>
            </a:r>
            <a:r>
              <a:rPr lang="en-US" i="1" dirty="0">
                <a:solidFill>
                  <a:srgbClr val="000000"/>
                </a:solidFill>
                <a:latin typeface="Tahoma" pitchFamily="34" charset="0"/>
                <a:ea typeface="Tahoma" pitchFamily="34" charset="0"/>
                <a:cs typeface="Tahoma" pitchFamily="34" charset="0"/>
              </a:rPr>
              <a:t>selection condition</a:t>
            </a:r>
            <a:r>
              <a:rPr lang="en-US" dirty="0">
                <a:solidFill>
                  <a:srgbClr val="000000"/>
                </a:solidFill>
                <a:latin typeface="Tahoma" pitchFamily="34" charset="0"/>
                <a:ea typeface="Tahoma" pitchFamily="34" charset="0"/>
                <a:cs typeface="Tahoma" pitchFamily="34" charset="0"/>
              </a:rPr>
              <a:t>  (corresponds to a SELECT operation in relational algebra)</a:t>
            </a:r>
          </a:p>
          <a:p>
            <a:pPr marL="342900" indent="-342900" algn="just">
              <a:lnSpc>
                <a:spcPct val="150000"/>
              </a:lnSpc>
              <a:buFont typeface="Arial" pitchFamily="34" charset="0"/>
              <a:buChar char="•"/>
            </a:pPr>
            <a:r>
              <a:rPr lang="en-US" dirty="0">
                <a:solidFill>
                  <a:srgbClr val="000000"/>
                </a:solidFill>
                <a:latin typeface="Tahoma" pitchFamily="34" charset="0"/>
                <a:ea typeface="Tahoma" pitchFamily="34" charset="0"/>
                <a:cs typeface="Tahoma" pitchFamily="34" charset="0"/>
              </a:rPr>
              <a:t>(DNUMBER=DNO) is a </a:t>
            </a:r>
            <a:r>
              <a:rPr lang="en-US" i="1" dirty="0">
                <a:solidFill>
                  <a:srgbClr val="000000"/>
                </a:solidFill>
                <a:latin typeface="Tahoma" pitchFamily="34" charset="0"/>
                <a:ea typeface="Tahoma" pitchFamily="34" charset="0"/>
                <a:cs typeface="Tahoma" pitchFamily="34" charset="0"/>
              </a:rPr>
              <a:t>join condition</a:t>
            </a:r>
            <a:r>
              <a:rPr lang="en-US" dirty="0">
                <a:solidFill>
                  <a:srgbClr val="000000"/>
                </a:solidFill>
                <a:latin typeface="Tahoma" pitchFamily="34" charset="0"/>
                <a:ea typeface="Tahoma" pitchFamily="34" charset="0"/>
                <a:cs typeface="Tahoma" pitchFamily="34" charset="0"/>
              </a:rPr>
              <a:t> (corresponds to a JOIN operation in relational algebra)</a:t>
            </a:r>
          </a:p>
        </p:txBody>
      </p:sp>
      <p:sp>
        <p:nvSpPr>
          <p:cNvPr id="5" name="Rectangle 2"/>
          <p:cNvSpPr>
            <a:spLocks noGrp="1" noChangeArrowheads="1"/>
          </p:cNvSpPr>
          <p:nvPr>
            <p:ph type="title"/>
          </p:nvPr>
        </p:nvSpPr>
        <p:spPr>
          <a:xfrm>
            <a:off x="152400" y="228600"/>
            <a:ext cx="7391400" cy="411162"/>
          </a:xfrm>
          <a:noFill/>
        </p:spPr>
        <p:txBody>
          <a:bodyPr lIns="90488" tIns="44450" rIns="90488" bIns="44450"/>
          <a:lstStyle/>
          <a:p>
            <a:pPr algn="l">
              <a:lnSpc>
                <a:spcPct val="80000"/>
              </a:lnSpc>
              <a:spcBef>
                <a:spcPts val="500"/>
              </a:spcBef>
              <a:spcAft>
                <a:spcPts val="500"/>
              </a:spcAft>
            </a:pPr>
            <a:r>
              <a:rPr lang="en-US" sz="2800" b="1" dirty="0">
                <a:solidFill>
                  <a:srgbClr val="002060"/>
                </a:solidFill>
              </a:rPr>
              <a:t>The SELECT-FROM-WHERE :  </a:t>
            </a:r>
            <a:r>
              <a:rPr lang="en-US" sz="2800" b="1" dirty="0"/>
              <a:t>Examples</a:t>
            </a:r>
            <a:endParaRPr lang="en-US" sz="2800" b="1" dirty="0">
              <a:solidFill>
                <a:srgbClr val="002060"/>
              </a:solidFill>
            </a:endParaRPr>
          </a:p>
        </p:txBody>
      </p:sp>
    </p:spTree>
  </p:cSld>
  <p:clrMapOvr>
    <a:masterClrMapping/>
  </p:clrMapOvr>
  <p:transition>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762000"/>
            <a:ext cx="8763000" cy="5807744"/>
          </a:xfrm>
          <a:prstGeom prst="rect">
            <a:avLst/>
          </a:prstGeom>
          <a:noFill/>
        </p:spPr>
        <p:txBody>
          <a:bodyPr wrap="square" rtlCol="0">
            <a:spAutoFit/>
          </a:bodyPr>
          <a:lstStyle/>
          <a:p>
            <a:pPr>
              <a:lnSpc>
                <a:spcPct val="80000"/>
              </a:lnSpc>
            </a:pPr>
            <a:endParaRPr lang="en-US" sz="2400" u="sng" dirty="0">
              <a:solidFill>
                <a:srgbClr val="000000"/>
              </a:solidFill>
            </a:endParaRPr>
          </a:p>
          <a:p>
            <a:pPr algn="just">
              <a:lnSpc>
                <a:spcPct val="150000"/>
              </a:lnSpc>
            </a:pPr>
            <a:r>
              <a:rPr lang="en-US" sz="2000" b="1" dirty="0">
                <a:solidFill>
                  <a:srgbClr val="000000"/>
                </a:solidFill>
                <a:latin typeface="Tahoma" pitchFamily="34" charset="0"/>
                <a:ea typeface="Tahoma" pitchFamily="34" charset="0"/>
                <a:cs typeface="Tahoma" pitchFamily="34" charset="0"/>
              </a:rPr>
              <a:t>Query 2: </a:t>
            </a:r>
            <a:r>
              <a:rPr lang="en-US" sz="2000" dirty="0">
                <a:solidFill>
                  <a:srgbClr val="000000"/>
                </a:solidFill>
                <a:latin typeface="Tahoma" pitchFamily="34" charset="0"/>
                <a:ea typeface="Tahoma" pitchFamily="34" charset="0"/>
                <a:cs typeface="Tahoma" pitchFamily="34" charset="0"/>
              </a:rPr>
              <a:t>For every project located in 'Stafford', list the project number, the controlling department number, and the department manager's last name, address, and birthdate.</a:t>
            </a:r>
            <a:endParaRPr lang="en-US" sz="2400" dirty="0">
              <a:solidFill>
                <a:srgbClr val="000000"/>
              </a:solidFill>
              <a:latin typeface="Tahoma" pitchFamily="34" charset="0"/>
              <a:ea typeface="Tahoma" pitchFamily="34" charset="0"/>
              <a:cs typeface="Tahoma" pitchFamily="34" charset="0"/>
            </a:endParaRPr>
          </a:p>
          <a:p>
            <a:pPr lvl="1" algn="just">
              <a:lnSpc>
                <a:spcPct val="150000"/>
              </a:lnSpc>
            </a:pPr>
            <a:endParaRPr lang="en-US" sz="1600" b="1" dirty="0">
              <a:solidFill>
                <a:srgbClr val="0070C0"/>
              </a:solidFill>
              <a:latin typeface="Tahoma" pitchFamily="34" charset="0"/>
              <a:ea typeface="Tahoma" pitchFamily="34" charset="0"/>
              <a:cs typeface="Tahoma" pitchFamily="34" charset="0"/>
            </a:endParaRPr>
          </a:p>
          <a:p>
            <a:pPr lvl="1" algn="just">
              <a:lnSpc>
                <a:spcPct val="150000"/>
              </a:lnSpc>
            </a:pPr>
            <a:r>
              <a:rPr lang="en-US" sz="1600" b="1" dirty="0">
                <a:solidFill>
                  <a:srgbClr val="0070C0"/>
                </a:solidFill>
                <a:latin typeface="Tahoma" pitchFamily="34" charset="0"/>
                <a:ea typeface="Tahoma" pitchFamily="34" charset="0"/>
                <a:cs typeface="Tahoma" pitchFamily="34" charset="0"/>
              </a:rPr>
              <a:t>SELECT  </a:t>
            </a:r>
            <a:r>
              <a:rPr lang="en-US" sz="1600" b="1" dirty="0">
                <a:solidFill>
                  <a:srgbClr val="000000"/>
                </a:solidFill>
                <a:latin typeface="Tahoma" pitchFamily="34" charset="0"/>
                <a:ea typeface="Tahoma" pitchFamily="34" charset="0"/>
                <a:cs typeface="Tahoma" pitchFamily="34" charset="0"/>
              </a:rPr>
              <a:t> PNUMBER, DNUM, LNAME, BDATE,    ADDRESS   </a:t>
            </a:r>
          </a:p>
          <a:p>
            <a:pPr lvl="1" algn="just">
              <a:lnSpc>
                <a:spcPct val="150000"/>
              </a:lnSpc>
            </a:pPr>
            <a:r>
              <a:rPr lang="en-US" sz="1600" b="1" dirty="0">
                <a:solidFill>
                  <a:srgbClr val="0070C0"/>
                </a:solidFill>
                <a:latin typeface="Tahoma" pitchFamily="34" charset="0"/>
                <a:ea typeface="Tahoma" pitchFamily="34" charset="0"/>
                <a:cs typeface="Tahoma" pitchFamily="34" charset="0"/>
              </a:rPr>
              <a:t> FROM     </a:t>
            </a:r>
            <a:r>
              <a:rPr lang="en-US" sz="1600" b="1" dirty="0">
                <a:solidFill>
                  <a:srgbClr val="000000"/>
                </a:solidFill>
                <a:latin typeface="Tahoma" pitchFamily="34" charset="0"/>
                <a:ea typeface="Tahoma" pitchFamily="34" charset="0"/>
                <a:cs typeface="Tahoma" pitchFamily="34" charset="0"/>
              </a:rPr>
              <a:t>PROJECT, DEPARTMENT, EMPLOYEE</a:t>
            </a:r>
          </a:p>
          <a:p>
            <a:pPr lvl="1">
              <a:lnSpc>
                <a:spcPct val="150000"/>
              </a:lnSpc>
            </a:pPr>
            <a:r>
              <a:rPr lang="en-US" sz="1600" b="1" dirty="0">
                <a:solidFill>
                  <a:srgbClr val="0070C0"/>
                </a:solidFill>
                <a:latin typeface="Tahoma" pitchFamily="34" charset="0"/>
                <a:ea typeface="Tahoma" pitchFamily="34" charset="0"/>
                <a:cs typeface="Tahoma" pitchFamily="34" charset="0"/>
              </a:rPr>
              <a:t> WHERE </a:t>
            </a:r>
            <a:r>
              <a:rPr lang="en-US" sz="1600" b="1" dirty="0">
                <a:solidFill>
                  <a:srgbClr val="C00000"/>
                </a:solidFill>
                <a:latin typeface="Tahoma" pitchFamily="34" charset="0"/>
                <a:ea typeface="Tahoma" pitchFamily="34" charset="0"/>
                <a:cs typeface="Tahoma" pitchFamily="34" charset="0"/>
              </a:rPr>
              <a:t>DNUM=DNUMBER </a:t>
            </a:r>
            <a:r>
              <a:rPr lang="en-US" sz="1600" b="1" dirty="0">
                <a:solidFill>
                  <a:srgbClr val="000000"/>
                </a:solidFill>
                <a:latin typeface="Tahoma" pitchFamily="34" charset="0"/>
                <a:ea typeface="Tahoma" pitchFamily="34" charset="0"/>
                <a:cs typeface="Tahoma" pitchFamily="34" charset="0"/>
              </a:rPr>
              <a:t> </a:t>
            </a:r>
            <a:r>
              <a:rPr lang="en-US" sz="1600" b="1" dirty="0">
                <a:solidFill>
                  <a:srgbClr val="0070C0"/>
                </a:solidFill>
                <a:latin typeface="Tahoma" pitchFamily="34" charset="0"/>
                <a:ea typeface="Tahoma" pitchFamily="34" charset="0"/>
                <a:cs typeface="Tahoma" pitchFamily="34" charset="0"/>
              </a:rPr>
              <a:t>AND</a:t>
            </a:r>
            <a:r>
              <a:rPr lang="en-US" sz="1600" b="1" dirty="0">
                <a:solidFill>
                  <a:srgbClr val="000000"/>
                </a:solidFill>
                <a:latin typeface="Tahoma" pitchFamily="34" charset="0"/>
                <a:ea typeface="Tahoma" pitchFamily="34" charset="0"/>
                <a:cs typeface="Tahoma" pitchFamily="34" charset="0"/>
              </a:rPr>
              <a:t> </a:t>
            </a:r>
            <a:r>
              <a:rPr lang="en-US" sz="1600" b="1" dirty="0">
                <a:solidFill>
                  <a:srgbClr val="C00000"/>
                </a:solidFill>
                <a:latin typeface="Tahoma" pitchFamily="34" charset="0"/>
                <a:ea typeface="Tahoma" pitchFamily="34" charset="0"/>
                <a:cs typeface="Tahoma" pitchFamily="34" charset="0"/>
              </a:rPr>
              <a:t>MGRSSN=SSN </a:t>
            </a:r>
            <a:r>
              <a:rPr lang="en-US" sz="1600" b="1" dirty="0">
                <a:solidFill>
                  <a:srgbClr val="000000"/>
                </a:solidFill>
                <a:latin typeface="Tahoma" pitchFamily="34" charset="0"/>
                <a:ea typeface="Tahoma" pitchFamily="34" charset="0"/>
                <a:cs typeface="Tahoma" pitchFamily="34" charset="0"/>
              </a:rPr>
              <a:t> </a:t>
            </a:r>
            <a:r>
              <a:rPr lang="en-US" sz="1600" b="1" dirty="0">
                <a:solidFill>
                  <a:srgbClr val="0070C0"/>
                </a:solidFill>
                <a:latin typeface="Tahoma" pitchFamily="34" charset="0"/>
                <a:ea typeface="Tahoma" pitchFamily="34" charset="0"/>
                <a:cs typeface="Tahoma" pitchFamily="34" charset="0"/>
              </a:rPr>
              <a:t>AND</a:t>
            </a:r>
            <a:r>
              <a:rPr lang="en-US" sz="1600" b="1" dirty="0">
                <a:solidFill>
                  <a:srgbClr val="000000"/>
                </a:solidFill>
                <a:latin typeface="Tahoma" pitchFamily="34" charset="0"/>
                <a:ea typeface="Tahoma" pitchFamily="34" charset="0"/>
                <a:cs typeface="Tahoma" pitchFamily="34" charset="0"/>
              </a:rPr>
              <a:t> PLOCATION='Stafford' </a:t>
            </a:r>
            <a:r>
              <a:rPr lang="en-US" b="1" dirty="0">
                <a:solidFill>
                  <a:srgbClr val="000000"/>
                </a:solidFill>
                <a:latin typeface="Tahoma" pitchFamily="34" charset="0"/>
                <a:ea typeface="Tahoma" pitchFamily="34" charset="0"/>
                <a:cs typeface="Tahoma" pitchFamily="34" charset="0"/>
              </a:rPr>
              <a:t>	   </a:t>
            </a:r>
            <a:r>
              <a:rPr lang="en-US" sz="2400" b="1" dirty="0">
                <a:solidFill>
                  <a:srgbClr val="000000"/>
                </a:solidFill>
              </a:rPr>
              <a:t> </a:t>
            </a:r>
          </a:p>
          <a:p>
            <a:pPr>
              <a:lnSpc>
                <a:spcPct val="90000"/>
              </a:lnSpc>
            </a:pPr>
            <a:r>
              <a:rPr lang="en-US" b="1" dirty="0">
                <a:solidFill>
                  <a:srgbClr val="000000"/>
                </a:solidFill>
                <a:latin typeface="Tahoma" pitchFamily="34" charset="0"/>
                <a:ea typeface="Tahoma" pitchFamily="34" charset="0"/>
                <a:cs typeface="Tahoma" pitchFamily="34" charset="0"/>
              </a:rPr>
              <a:t>In Q2, there are </a:t>
            </a:r>
            <a:r>
              <a:rPr lang="en-US" b="1" i="1" dirty="0">
                <a:solidFill>
                  <a:srgbClr val="000000"/>
                </a:solidFill>
                <a:latin typeface="Tahoma" pitchFamily="34" charset="0"/>
                <a:ea typeface="Tahoma" pitchFamily="34" charset="0"/>
                <a:cs typeface="Tahoma" pitchFamily="34" charset="0"/>
              </a:rPr>
              <a:t>two</a:t>
            </a:r>
            <a:r>
              <a:rPr lang="en-US" b="1" dirty="0">
                <a:solidFill>
                  <a:srgbClr val="000000"/>
                </a:solidFill>
                <a:latin typeface="Tahoma" pitchFamily="34" charset="0"/>
                <a:ea typeface="Tahoma" pitchFamily="34" charset="0"/>
                <a:cs typeface="Tahoma" pitchFamily="34" charset="0"/>
              </a:rPr>
              <a:t>  join conditions  and  one select condition </a:t>
            </a:r>
          </a:p>
          <a:p>
            <a:pPr lvl="1">
              <a:lnSpc>
                <a:spcPct val="150000"/>
              </a:lnSpc>
              <a:buFont typeface="Arial" pitchFamily="34" charset="0"/>
              <a:buChar char="•"/>
            </a:pPr>
            <a:endParaRPr lang="en-US" sz="1600" dirty="0">
              <a:solidFill>
                <a:srgbClr val="000000"/>
              </a:solidFill>
              <a:latin typeface="Tahoma" pitchFamily="34" charset="0"/>
              <a:ea typeface="Tahoma" pitchFamily="34" charset="0"/>
              <a:cs typeface="Tahoma" pitchFamily="34" charset="0"/>
            </a:endParaRPr>
          </a:p>
          <a:p>
            <a:pPr marL="342900" indent="-342900">
              <a:lnSpc>
                <a:spcPct val="150000"/>
              </a:lnSpc>
              <a:buFont typeface="Arial" pitchFamily="34" charset="0"/>
              <a:buChar char="•"/>
            </a:pPr>
            <a:r>
              <a:rPr lang="en-US" sz="1400" b="1" dirty="0">
                <a:solidFill>
                  <a:srgbClr val="000000"/>
                </a:solidFill>
                <a:latin typeface="Tahoma" pitchFamily="34" charset="0"/>
                <a:ea typeface="Tahoma" pitchFamily="34" charset="0"/>
                <a:cs typeface="Tahoma" pitchFamily="34" charset="0"/>
              </a:rPr>
              <a:t>The join condition DNUM=DNUMBER relates a project to its controlling department.</a:t>
            </a:r>
          </a:p>
          <a:p>
            <a:pPr marL="342900" indent="-342900" algn="just">
              <a:lnSpc>
                <a:spcPct val="150000"/>
              </a:lnSpc>
              <a:buFont typeface="Arial" pitchFamily="34" charset="0"/>
              <a:buChar char="•"/>
            </a:pPr>
            <a:r>
              <a:rPr lang="en-US" sz="1400" b="1" dirty="0">
                <a:solidFill>
                  <a:srgbClr val="000000"/>
                </a:solidFill>
                <a:latin typeface="Tahoma" pitchFamily="34" charset="0"/>
                <a:ea typeface="Tahoma" pitchFamily="34" charset="0"/>
                <a:cs typeface="Tahoma" pitchFamily="34" charset="0"/>
              </a:rPr>
              <a:t>The join condition MGRSSN=SSN relates the department to the employee who manages that department.</a:t>
            </a:r>
          </a:p>
          <a:p>
            <a:pPr marL="342900" indent="-342900">
              <a:lnSpc>
                <a:spcPct val="150000"/>
              </a:lnSpc>
              <a:buFont typeface="Arial" pitchFamily="34" charset="0"/>
              <a:buChar char="•"/>
            </a:pPr>
            <a:r>
              <a:rPr lang="en-US" sz="1400" b="1" dirty="0">
                <a:solidFill>
                  <a:srgbClr val="000000"/>
                </a:solidFill>
                <a:latin typeface="Tahoma" pitchFamily="34" charset="0"/>
                <a:ea typeface="Tahoma" pitchFamily="34" charset="0"/>
                <a:cs typeface="Tahoma" pitchFamily="34" charset="0"/>
              </a:rPr>
              <a:t> PLOCATION='Stafford'  is selection condition for Project table</a:t>
            </a:r>
            <a:r>
              <a:rPr lang="en-US" dirty="0">
                <a:solidFill>
                  <a:srgbClr val="000000"/>
                </a:solidFill>
                <a:latin typeface="Tahoma" pitchFamily="34" charset="0"/>
                <a:ea typeface="Tahoma" pitchFamily="34" charset="0"/>
                <a:cs typeface="Tahoma" pitchFamily="34" charset="0"/>
              </a:rPr>
              <a:t>	  </a:t>
            </a:r>
            <a:endParaRPr lang="en-US" sz="2000" dirty="0">
              <a:solidFill>
                <a:srgbClr val="000000"/>
              </a:solidFill>
              <a:latin typeface="Tahoma" pitchFamily="34" charset="0"/>
              <a:ea typeface="Tahoma" pitchFamily="34" charset="0"/>
              <a:cs typeface="Tahoma" pitchFamily="34" charset="0"/>
            </a:endParaRPr>
          </a:p>
        </p:txBody>
      </p:sp>
      <p:sp>
        <p:nvSpPr>
          <p:cNvPr id="5" name="Rectangle 2"/>
          <p:cNvSpPr>
            <a:spLocks noGrp="1" noChangeArrowheads="1"/>
          </p:cNvSpPr>
          <p:nvPr>
            <p:ph type="title"/>
          </p:nvPr>
        </p:nvSpPr>
        <p:spPr>
          <a:xfrm>
            <a:off x="152400" y="228600"/>
            <a:ext cx="7391400" cy="411162"/>
          </a:xfrm>
          <a:noFill/>
        </p:spPr>
        <p:txBody>
          <a:bodyPr lIns="90488" tIns="44450" rIns="90488" bIns="44450"/>
          <a:lstStyle/>
          <a:p>
            <a:pPr algn="l">
              <a:lnSpc>
                <a:spcPct val="80000"/>
              </a:lnSpc>
              <a:spcBef>
                <a:spcPts val="500"/>
              </a:spcBef>
              <a:spcAft>
                <a:spcPts val="500"/>
              </a:spcAft>
            </a:pPr>
            <a:r>
              <a:rPr lang="en-US" sz="2800" b="1" dirty="0">
                <a:solidFill>
                  <a:srgbClr val="002060"/>
                </a:solidFill>
              </a:rPr>
              <a:t>The SELECT-FROM-WHERE :  </a:t>
            </a:r>
            <a:r>
              <a:rPr lang="en-US" sz="2800" b="1" dirty="0"/>
              <a:t>Examples</a:t>
            </a:r>
            <a:endParaRPr lang="en-US" sz="2800" b="1" dirty="0">
              <a:solidFill>
                <a:srgbClr val="002060"/>
              </a:solidFill>
            </a:endParaRPr>
          </a:p>
        </p:txBody>
      </p:sp>
    </p:spTree>
  </p:cSld>
  <p:clrMapOvr>
    <a:masterClrMapping/>
  </p:clrMapOvr>
  <p:transition>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274" name="Picture 2"/>
          <p:cNvPicPr>
            <a:picLocks noGrp="1" noChangeAspect="1" noChangeArrowheads="1"/>
          </p:cNvPicPr>
          <p:nvPr>
            <p:ph idx="1"/>
          </p:nvPr>
        </p:nvPicPr>
        <p:blipFill>
          <a:blip r:embed="rId3" cstate="print"/>
          <a:srcRect b="79079"/>
          <a:stretch>
            <a:fillRect/>
          </a:stretch>
        </p:blipFill>
        <p:spPr>
          <a:xfrm>
            <a:off x="1066800" y="533400"/>
            <a:ext cx="7553325" cy="1595437"/>
          </a:xfrm>
        </p:spPr>
      </p:pic>
      <p:pic>
        <p:nvPicPr>
          <p:cNvPr id="182275" name="Picture 3"/>
          <p:cNvPicPr>
            <a:picLocks noChangeAspect="1" noChangeArrowheads="1"/>
          </p:cNvPicPr>
          <p:nvPr/>
        </p:nvPicPr>
        <p:blipFill>
          <a:blip r:embed="rId3" cstate="print"/>
          <a:srcRect t="29439" r="28426" b="58211"/>
          <a:stretch>
            <a:fillRect/>
          </a:stretch>
        </p:blipFill>
        <p:spPr bwMode="auto">
          <a:xfrm>
            <a:off x="1447800" y="2971800"/>
            <a:ext cx="7143750" cy="1193800"/>
          </a:xfrm>
          <a:prstGeom prst="rect">
            <a:avLst/>
          </a:prstGeom>
          <a:noFill/>
          <a:ln w="9525">
            <a:noFill/>
            <a:miter lim="800000"/>
            <a:headEnd/>
            <a:tailEnd/>
          </a:ln>
        </p:spPr>
      </p:pic>
      <p:pic>
        <p:nvPicPr>
          <p:cNvPr id="182276" name="Picture 4"/>
          <p:cNvPicPr>
            <a:picLocks noChangeAspect="1" noChangeArrowheads="1"/>
          </p:cNvPicPr>
          <p:nvPr/>
        </p:nvPicPr>
        <p:blipFill>
          <a:blip r:embed="rId3" cstate="print"/>
          <a:srcRect l="40498" t="51672" b="28537"/>
          <a:stretch>
            <a:fillRect/>
          </a:stretch>
        </p:blipFill>
        <p:spPr bwMode="auto">
          <a:xfrm>
            <a:off x="1752600" y="4495800"/>
            <a:ext cx="5051425" cy="1695450"/>
          </a:xfrm>
          <a:prstGeom prst="rect">
            <a:avLst/>
          </a:prstGeom>
          <a:noFill/>
          <a:ln w="9525">
            <a:noFill/>
            <a:miter lim="800000"/>
            <a:headEnd/>
            <a:tailEnd/>
          </a:ln>
        </p:spPr>
      </p:pic>
      <p:sp>
        <p:nvSpPr>
          <p:cNvPr id="182277" name="Rectangle 5"/>
          <p:cNvSpPr>
            <a:spLocks noChangeArrowheads="1"/>
          </p:cNvSpPr>
          <p:nvPr/>
        </p:nvSpPr>
        <p:spPr bwMode="auto">
          <a:xfrm>
            <a:off x="4086225" y="4860925"/>
            <a:ext cx="917575" cy="1096963"/>
          </a:xfrm>
          <a:prstGeom prst="rect">
            <a:avLst/>
          </a:prstGeom>
          <a:solidFill>
            <a:srgbClr val="FFFF00">
              <a:alpha val="50195"/>
            </a:srgbClr>
          </a:solidFill>
          <a:ln w="28575" algn="ctr">
            <a:noFill/>
            <a:prstDash val="dash"/>
            <a:miter lim="800000"/>
            <a:headEnd/>
            <a:tailEnd/>
          </a:ln>
        </p:spPr>
        <p:txBody>
          <a:bodyPr anchor="ctr">
            <a:spAutoFit/>
          </a:bodyPr>
          <a:lstStyle/>
          <a:p>
            <a:endParaRPr lang="en-US"/>
          </a:p>
        </p:txBody>
      </p:sp>
      <p:sp>
        <p:nvSpPr>
          <p:cNvPr id="182278" name="Rectangle 6"/>
          <p:cNvSpPr>
            <a:spLocks noChangeArrowheads="1"/>
          </p:cNvSpPr>
          <p:nvPr/>
        </p:nvSpPr>
        <p:spPr bwMode="auto">
          <a:xfrm>
            <a:off x="5943600" y="4860925"/>
            <a:ext cx="587375" cy="1096963"/>
          </a:xfrm>
          <a:prstGeom prst="rect">
            <a:avLst/>
          </a:prstGeom>
          <a:solidFill>
            <a:srgbClr val="FFFF00">
              <a:alpha val="50195"/>
            </a:srgbClr>
          </a:solidFill>
          <a:ln w="28575" algn="ctr">
            <a:noFill/>
            <a:prstDash val="dash"/>
            <a:miter lim="800000"/>
            <a:headEnd/>
            <a:tailEnd/>
          </a:ln>
        </p:spPr>
        <p:txBody>
          <a:bodyPr anchor="ctr">
            <a:spAutoFit/>
          </a:bodyPr>
          <a:lstStyle/>
          <a:p>
            <a:endParaRPr lang="en-US"/>
          </a:p>
        </p:txBody>
      </p:sp>
      <p:sp>
        <p:nvSpPr>
          <p:cNvPr id="182279" name="Rectangle 7"/>
          <p:cNvSpPr>
            <a:spLocks noChangeArrowheads="1"/>
          </p:cNvSpPr>
          <p:nvPr/>
        </p:nvSpPr>
        <p:spPr bwMode="auto">
          <a:xfrm>
            <a:off x="2828925" y="701675"/>
            <a:ext cx="549275" cy="1290638"/>
          </a:xfrm>
          <a:prstGeom prst="rect">
            <a:avLst/>
          </a:prstGeom>
          <a:solidFill>
            <a:srgbClr val="FFFF00">
              <a:alpha val="50195"/>
            </a:srgbClr>
          </a:solidFill>
          <a:ln w="28575" algn="ctr">
            <a:noFill/>
            <a:prstDash val="dash"/>
            <a:miter lim="800000"/>
            <a:headEnd/>
            <a:tailEnd/>
          </a:ln>
        </p:spPr>
        <p:txBody>
          <a:bodyPr anchor="ctr">
            <a:spAutoFit/>
          </a:bodyPr>
          <a:lstStyle/>
          <a:p>
            <a:endParaRPr lang="en-US"/>
          </a:p>
        </p:txBody>
      </p:sp>
      <p:sp>
        <p:nvSpPr>
          <p:cNvPr id="182280" name="Rectangle 8"/>
          <p:cNvSpPr>
            <a:spLocks noChangeArrowheads="1"/>
          </p:cNvSpPr>
          <p:nvPr/>
        </p:nvSpPr>
        <p:spPr bwMode="auto">
          <a:xfrm>
            <a:off x="4110038" y="701675"/>
            <a:ext cx="822325" cy="1282700"/>
          </a:xfrm>
          <a:prstGeom prst="rect">
            <a:avLst/>
          </a:prstGeom>
          <a:solidFill>
            <a:srgbClr val="FFFF00">
              <a:alpha val="50195"/>
            </a:srgbClr>
          </a:solidFill>
          <a:ln w="28575" algn="ctr">
            <a:noFill/>
            <a:prstDash val="dash"/>
            <a:miter lim="800000"/>
            <a:headEnd/>
            <a:tailEnd/>
          </a:ln>
        </p:spPr>
        <p:txBody>
          <a:bodyPr anchor="ctr">
            <a:spAutoFit/>
          </a:bodyPr>
          <a:lstStyle/>
          <a:p>
            <a:endParaRPr lang="en-US"/>
          </a:p>
        </p:txBody>
      </p:sp>
      <p:sp>
        <p:nvSpPr>
          <p:cNvPr id="182281" name="Rectangle 9"/>
          <p:cNvSpPr>
            <a:spLocks noChangeArrowheads="1"/>
          </p:cNvSpPr>
          <p:nvPr/>
        </p:nvSpPr>
        <p:spPr bwMode="auto">
          <a:xfrm>
            <a:off x="4949825" y="735013"/>
            <a:ext cx="1560513" cy="1252537"/>
          </a:xfrm>
          <a:prstGeom prst="rect">
            <a:avLst/>
          </a:prstGeom>
          <a:solidFill>
            <a:srgbClr val="FFFF00">
              <a:alpha val="50195"/>
            </a:srgbClr>
          </a:solidFill>
          <a:ln w="28575" algn="ctr">
            <a:noFill/>
            <a:prstDash val="dash"/>
            <a:miter lim="800000"/>
            <a:headEnd/>
            <a:tailEnd/>
          </a:ln>
        </p:spPr>
        <p:txBody>
          <a:bodyPr anchor="ctr">
            <a:spAutoFit/>
          </a:bodyPr>
          <a:lstStyle/>
          <a:p>
            <a:endParaRPr lang="en-US"/>
          </a:p>
        </p:txBody>
      </p:sp>
      <p:sp>
        <p:nvSpPr>
          <p:cNvPr id="182282" name="Line 10"/>
          <p:cNvSpPr>
            <a:spLocks noChangeShapeType="1"/>
          </p:cNvSpPr>
          <p:nvPr/>
        </p:nvSpPr>
        <p:spPr bwMode="auto">
          <a:xfrm>
            <a:off x="4995863" y="3889375"/>
            <a:ext cx="1100137" cy="758826"/>
          </a:xfrm>
          <a:prstGeom prst="line">
            <a:avLst/>
          </a:prstGeom>
          <a:noFill/>
          <a:ln w="38100">
            <a:solidFill>
              <a:schemeClr val="bg2"/>
            </a:solidFill>
            <a:prstDash val="dash"/>
            <a:round/>
            <a:headEnd type="triangle" w="med" len="med"/>
            <a:tailEnd type="triangle" w="med" len="med"/>
          </a:ln>
        </p:spPr>
        <p:txBody>
          <a:bodyPr wrap="square">
            <a:spAutoFit/>
          </a:bodyPr>
          <a:lstStyle/>
          <a:p>
            <a:endParaRPr lang="en-US"/>
          </a:p>
        </p:txBody>
      </p:sp>
      <p:sp>
        <p:nvSpPr>
          <p:cNvPr id="182283" name="Line 11"/>
          <p:cNvSpPr>
            <a:spLocks noChangeShapeType="1"/>
          </p:cNvSpPr>
          <p:nvPr/>
        </p:nvSpPr>
        <p:spPr bwMode="auto">
          <a:xfrm>
            <a:off x="3814763" y="2058988"/>
            <a:ext cx="2060575" cy="920750"/>
          </a:xfrm>
          <a:prstGeom prst="line">
            <a:avLst/>
          </a:prstGeom>
          <a:noFill/>
          <a:ln w="38100">
            <a:solidFill>
              <a:schemeClr val="bg2"/>
            </a:solidFill>
            <a:prstDash val="dash"/>
            <a:round/>
            <a:headEnd type="triangle" w="med" len="med"/>
            <a:tailEnd type="triangle" w="med" len="med"/>
          </a:ln>
        </p:spPr>
        <p:txBody>
          <a:bodyPr>
            <a:spAutoFit/>
          </a:bodyPr>
          <a:lstStyle/>
          <a:p>
            <a:endParaRPr lang="en-US"/>
          </a:p>
        </p:txBody>
      </p:sp>
      <p:sp>
        <p:nvSpPr>
          <p:cNvPr id="12" name="Rectangle 2"/>
          <p:cNvSpPr>
            <a:spLocks noGrp="1" noChangeArrowheads="1"/>
          </p:cNvSpPr>
          <p:nvPr>
            <p:ph type="title"/>
          </p:nvPr>
        </p:nvSpPr>
        <p:spPr>
          <a:xfrm>
            <a:off x="228600" y="0"/>
            <a:ext cx="5105400" cy="411162"/>
          </a:xfrm>
          <a:noFill/>
        </p:spPr>
        <p:txBody>
          <a:bodyPr lIns="90488" tIns="44450" rIns="90488" bIns="44450"/>
          <a:lstStyle/>
          <a:p>
            <a:pPr algn="l">
              <a:lnSpc>
                <a:spcPct val="80000"/>
              </a:lnSpc>
              <a:spcBef>
                <a:spcPts val="500"/>
              </a:spcBef>
              <a:spcAft>
                <a:spcPts val="500"/>
              </a:spcAft>
            </a:pPr>
            <a:r>
              <a:rPr lang="en-US" sz="2000" b="1" dirty="0">
                <a:solidFill>
                  <a:srgbClr val="002060"/>
                </a:solidFill>
              </a:rPr>
              <a:t>The SELECT-FROM-WHERE :  </a:t>
            </a:r>
            <a:r>
              <a:rPr lang="en-US" sz="2000" b="1" dirty="0"/>
              <a:t>Examples</a:t>
            </a:r>
            <a:endParaRPr lang="en-US" sz="2000" b="1" dirty="0">
              <a:solidFill>
                <a:srgbClr val="00206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152400" y="1447800"/>
            <a:ext cx="6781800" cy="461665"/>
          </a:xfrm>
          <a:prstGeom prst="rect">
            <a:avLst/>
          </a:prstGeom>
          <a:noFill/>
        </p:spPr>
        <p:txBody>
          <a:bodyPr wrap="square" rtlCol="0">
            <a:spAutoFit/>
          </a:bodyPr>
          <a:lstStyle/>
          <a:p>
            <a:r>
              <a:rPr lang="en-US" sz="2400" dirty="0"/>
              <a:t>Results of  the SQL queries- Q0, Q1, Q2</a:t>
            </a:r>
            <a:endParaRPr lang="en-US" dirty="0"/>
          </a:p>
        </p:txBody>
      </p:sp>
      <p:pic>
        <p:nvPicPr>
          <p:cNvPr id="3074" name="Picture 2"/>
          <p:cNvPicPr>
            <a:picLocks noChangeAspect="1" noChangeArrowheads="1"/>
          </p:cNvPicPr>
          <p:nvPr/>
        </p:nvPicPr>
        <p:blipFill>
          <a:blip r:embed="rId3" cstate="print"/>
          <a:srcRect/>
          <a:stretch>
            <a:fillRect/>
          </a:stretch>
        </p:blipFill>
        <p:spPr bwMode="auto">
          <a:xfrm>
            <a:off x="381000" y="2514600"/>
            <a:ext cx="8189429" cy="2209800"/>
          </a:xfrm>
          <a:prstGeom prst="rect">
            <a:avLst/>
          </a:prstGeom>
          <a:noFill/>
          <a:ln w="9525">
            <a:noFill/>
            <a:miter lim="800000"/>
            <a:headEnd/>
            <a:tailEnd/>
          </a:ln>
        </p:spPr>
      </p:pic>
      <p:sp>
        <p:nvSpPr>
          <p:cNvPr id="9" name="Rectangle 2"/>
          <p:cNvSpPr>
            <a:spLocks noGrp="1" noChangeArrowheads="1"/>
          </p:cNvSpPr>
          <p:nvPr>
            <p:ph type="title"/>
          </p:nvPr>
        </p:nvSpPr>
        <p:spPr>
          <a:xfrm>
            <a:off x="152400" y="228600"/>
            <a:ext cx="7391400" cy="411162"/>
          </a:xfrm>
          <a:noFill/>
        </p:spPr>
        <p:txBody>
          <a:bodyPr lIns="90488" tIns="44450" rIns="90488" bIns="44450"/>
          <a:lstStyle/>
          <a:p>
            <a:pPr algn="l">
              <a:lnSpc>
                <a:spcPct val="80000"/>
              </a:lnSpc>
              <a:spcBef>
                <a:spcPts val="500"/>
              </a:spcBef>
              <a:spcAft>
                <a:spcPts val="500"/>
              </a:spcAft>
            </a:pPr>
            <a:r>
              <a:rPr lang="en-US" sz="2800" b="1" dirty="0">
                <a:solidFill>
                  <a:srgbClr val="002060"/>
                </a:solidFill>
              </a:rPr>
              <a:t>The SELECT-FROM-WHERE :  </a:t>
            </a:r>
            <a:r>
              <a:rPr lang="en-US" sz="2800" b="1" dirty="0"/>
              <a:t>Examples</a:t>
            </a:r>
            <a:endParaRPr lang="en-US" sz="2800" b="1" dirty="0">
              <a:solidFill>
                <a:srgbClr val="002060"/>
              </a:solidFill>
            </a:endParaRPr>
          </a:p>
        </p:txBody>
      </p:sp>
    </p:spTree>
  </p:cSld>
  <p:clrMapOvr>
    <a:masterClrMapping/>
  </p:clrMapOvr>
  <p:transition>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228600"/>
            <a:ext cx="8458200" cy="523220"/>
          </a:xfrm>
          <a:prstGeom prst="rect">
            <a:avLst/>
          </a:prstGeom>
          <a:noFill/>
        </p:spPr>
        <p:txBody>
          <a:bodyPr wrap="square" rtlCol="0">
            <a:spAutoFit/>
          </a:bodyPr>
          <a:lstStyle/>
          <a:p>
            <a:pPr marL="342900" lvl="0" indent="-342900" algn="just" fontAlgn="base">
              <a:spcBef>
                <a:spcPct val="20000"/>
              </a:spcBef>
              <a:spcAft>
                <a:spcPct val="0"/>
              </a:spcAft>
            </a:pPr>
            <a:r>
              <a:rPr lang="en-US" sz="2800" b="1" kern="0" dirty="0">
                <a:solidFill>
                  <a:srgbClr val="000000"/>
                </a:solidFill>
                <a:latin typeface="Tahoma" pitchFamily="34" charset="0"/>
                <a:ea typeface="Tahoma" pitchFamily="34" charset="0"/>
                <a:cs typeface="Tahoma" pitchFamily="34" charset="0"/>
              </a:rPr>
              <a:t>Ambiguous attribute names</a:t>
            </a:r>
          </a:p>
        </p:txBody>
      </p:sp>
      <p:sp>
        <p:nvSpPr>
          <p:cNvPr id="6" name="TextBox 5"/>
          <p:cNvSpPr txBox="1"/>
          <p:nvPr/>
        </p:nvSpPr>
        <p:spPr>
          <a:xfrm>
            <a:off x="381000" y="1295400"/>
            <a:ext cx="8458200" cy="4118050"/>
          </a:xfrm>
          <a:prstGeom prst="rect">
            <a:avLst/>
          </a:prstGeom>
          <a:noFill/>
        </p:spPr>
        <p:txBody>
          <a:bodyPr wrap="square" rtlCol="0">
            <a:spAutoFit/>
          </a:bodyPr>
          <a:lstStyle/>
          <a:p>
            <a:pPr marL="342900" lvl="0" indent="-342900" algn="just" fontAlgn="base">
              <a:lnSpc>
                <a:spcPct val="150000"/>
              </a:lnSpc>
              <a:spcBef>
                <a:spcPct val="20000"/>
              </a:spcBef>
              <a:spcAft>
                <a:spcPct val="0"/>
              </a:spcAft>
              <a:buFontTx/>
              <a:buChar char="•"/>
            </a:pPr>
            <a:r>
              <a:rPr lang="en-US" sz="2400" kern="0" dirty="0">
                <a:solidFill>
                  <a:srgbClr val="000000"/>
                </a:solidFill>
                <a:latin typeface="Tahoma" pitchFamily="34" charset="0"/>
                <a:ea typeface="Tahoma" pitchFamily="34" charset="0"/>
                <a:cs typeface="Tahoma" pitchFamily="34" charset="0"/>
              </a:rPr>
              <a:t>A query may refer to two or more attributes with the same name</a:t>
            </a:r>
          </a:p>
          <a:p>
            <a:pPr marL="342900" lvl="0" indent="-342900" algn="just" fontAlgn="base">
              <a:lnSpc>
                <a:spcPct val="150000"/>
              </a:lnSpc>
              <a:spcBef>
                <a:spcPct val="20000"/>
              </a:spcBef>
              <a:spcAft>
                <a:spcPct val="0"/>
              </a:spcAft>
              <a:buFontTx/>
              <a:buChar char="•"/>
            </a:pPr>
            <a:r>
              <a:rPr lang="en-US" sz="2400" kern="0" dirty="0">
                <a:solidFill>
                  <a:srgbClr val="000000"/>
                </a:solidFill>
                <a:latin typeface="Tahoma" pitchFamily="34" charset="0"/>
                <a:ea typeface="Tahoma" pitchFamily="34" charset="0"/>
                <a:cs typeface="Tahoma" pitchFamily="34" charset="0"/>
              </a:rPr>
              <a:t>In such cases, we   must </a:t>
            </a:r>
            <a:r>
              <a:rPr lang="en-US" sz="2400" i="1" kern="0" dirty="0">
                <a:solidFill>
                  <a:srgbClr val="000000"/>
                </a:solidFill>
                <a:latin typeface="Tahoma" pitchFamily="34" charset="0"/>
                <a:ea typeface="Tahoma" pitchFamily="34" charset="0"/>
                <a:cs typeface="Tahoma" pitchFamily="34" charset="0"/>
              </a:rPr>
              <a:t>qualify</a:t>
            </a:r>
            <a:r>
              <a:rPr lang="en-US" sz="2400" kern="0" dirty="0">
                <a:solidFill>
                  <a:srgbClr val="000000"/>
                </a:solidFill>
                <a:latin typeface="Tahoma" pitchFamily="34" charset="0"/>
                <a:ea typeface="Tahoma" pitchFamily="34" charset="0"/>
                <a:cs typeface="Tahoma" pitchFamily="34" charset="0"/>
              </a:rPr>
              <a:t>  the attribute name with the relation name </a:t>
            </a:r>
          </a:p>
          <a:p>
            <a:pPr marL="342900" lvl="0" indent="-342900" algn="just" fontAlgn="base">
              <a:lnSpc>
                <a:spcPct val="150000"/>
              </a:lnSpc>
              <a:spcBef>
                <a:spcPct val="20000"/>
              </a:spcBef>
              <a:spcAft>
                <a:spcPct val="0"/>
              </a:spcAft>
              <a:buFontTx/>
              <a:buChar char="•"/>
            </a:pPr>
            <a:r>
              <a:rPr lang="en-US" sz="2400" kern="0" dirty="0">
                <a:solidFill>
                  <a:srgbClr val="000000"/>
                </a:solidFill>
                <a:latin typeface="Tahoma" pitchFamily="34" charset="0"/>
                <a:ea typeface="Tahoma" pitchFamily="34" charset="0"/>
                <a:cs typeface="Tahoma" pitchFamily="34" charset="0"/>
              </a:rPr>
              <a:t>This is done by  </a:t>
            </a:r>
            <a:r>
              <a:rPr lang="en-US" sz="2400" i="1" kern="0" dirty="0">
                <a:solidFill>
                  <a:srgbClr val="000000"/>
                </a:solidFill>
                <a:latin typeface="Tahoma" pitchFamily="34" charset="0"/>
                <a:ea typeface="Tahoma" pitchFamily="34" charset="0"/>
                <a:cs typeface="Tahoma" pitchFamily="34" charset="0"/>
              </a:rPr>
              <a:t>prefixing</a:t>
            </a:r>
            <a:r>
              <a:rPr lang="en-US" sz="2400" kern="0" dirty="0">
                <a:solidFill>
                  <a:srgbClr val="000000"/>
                </a:solidFill>
                <a:latin typeface="Tahoma" pitchFamily="34" charset="0"/>
                <a:ea typeface="Tahoma" pitchFamily="34" charset="0"/>
                <a:cs typeface="Tahoma" pitchFamily="34" charset="0"/>
              </a:rPr>
              <a:t>  the relation name to the attribute name by using </a:t>
            </a:r>
            <a:r>
              <a:rPr lang="en-US" sz="2400" i="1" kern="0" dirty="0">
                <a:solidFill>
                  <a:srgbClr val="000000"/>
                </a:solidFill>
                <a:latin typeface="Tahoma" pitchFamily="34" charset="0"/>
                <a:ea typeface="Tahoma" pitchFamily="34" charset="0"/>
                <a:cs typeface="Tahoma" pitchFamily="34" charset="0"/>
              </a:rPr>
              <a:t>dot(.) </a:t>
            </a:r>
            <a:r>
              <a:rPr lang="en-US" sz="2400" kern="0" dirty="0">
                <a:solidFill>
                  <a:srgbClr val="000000"/>
                </a:solidFill>
                <a:latin typeface="Tahoma" pitchFamily="34" charset="0"/>
                <a:ea typeface="Tahoma" pitchFamily="34" charset="0"/>
                <a:cs typeface="Tahoma" pitchFamily="34" charset="0"/>
              </a:rPr>
              <a:t>notation to prevent ambiguity.</a:t>
            </a:r>
          </a:p>
        </p:txBody>
      </p:sp>
    </p:spTree>
  </p:cSld>
  <p:clrMapOvr>
    <a:masterClrMapping/>
  </p:clrMapOvr>
  <p:transition>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228600"/>
            <a:ext cx="8458200" cy="523220"/>
          </a:xfrm>
          <a:prstGeom prst="rect">
            <a:avLst/>
          </a:prstGeom>
          <a:noFill/>
        </p:spPr>
        <p:txBody>
          <a:bodyPr wrap="square" rtlCol="0">
            <a:spAutoFit/>
          </a:bodyPr>
          <a:lstStyle/>
          <a:p>
            <a:pPr marL="342900" lvl="0" indent="-342900" algn="just" fontAlgn="base">
              <a:spcBef>
                <a:spcPct val="20000"/>
              </a:spcBef>
              <a:spcAft>
                <a:spcPct val="0"/>
              </a:spcAft>
            </a:pPr>
            <a:r>
              <a:rPr lang="en-US" sz="2800" b="1" kern="0" dirty="0">
                <a:solidFill>
                  <a:srgbClr val="000000"/>
                </a:solidFill>
                <a:latin typeface="Tahoma" pitchFamily="34" charset="0"/>
                <a:ea typeface="Tahoma" pitchFamily="34" charset="0"/>
                <a:cs typeface="Tahoma" pitchFamily="34" charset="0"/>
              </a:rPr>
              <a:t>Ambiguous attribute names</a:t>
            </a:r>
          </a:p>
        </p:txBody>
      </p:sp>
      <p:sp>
        <p:nvSpPr>
          <p:cNvPr id="6" name="TextBox 5"/>
          <p:cNvSpPr txBox="1"/>
          <p:nvPr/>
        </p:nvSpPr>
        <p:spPr>
          <a:xfrm>
            <a:off x="228600" y="990600"/>
            <a:ext cx="8610600" cy="4678204"/>
          </a:xfrm>
          <a:prstGeom prst="rect">
            <a:avLst/>
          </a:prstGeom>
          <a:noFill/>
        </p:spPr>
        <p:txBody>
          <a:bodyPr wrap="square" rtlCol="0">
            <a:spAutoFit/>
          </a:bodyPr>
          <a:lstStyle/>
          <a:p>
            <a:pPr marL="342900" indent="-342900" algn="just" fontAlgn="base">
              <a:lnSpc>
                <a:spcPct val="150000"/>
              </a:lnSpc>
              <a:spcBef>
                <a:spcPct val="20000"/>
              </a:spcBef>
              <a:spcAft>
                <a:spcPct val="0"/>
              </a:spcAft>
            </a:pPr>
            <a:r>
              <a:rPr lang="en-US" sz="2400" b="1" dirty="0">
                <a:solidFill>
                  <a:srgbClr val="000000"/>
                </a:solidFill>
              </a:rPr>
              <a:t>Example:  </a:t>
            </a:r>
          </a:p>
          <a:p>
            <a:pPr marL="342900" indent="-342900" algn="just" fontAlgn="base">
              <a:lnSpc>
                <a:spcPct val="150000"/>
              </a:lnSpc>
              <a:spcBef>
                <a:spcPct val="20000"/>
              </a:spcBef>
              <a:spcAft>
                <a:spcPct val="0"/>
              </a:spcAft>
            </a:pPr>
            <a:r>
              <a:rPr lang="en-US" sz="2000" b="1" dirty="0">
                <a:solidFill>
                  <a:srgbClr val="000000"/>
                </a:solidFill>
                <a:latin typeface="Tahoma" pitchFamily="34" charset="0"/>
                <a:ea typeface="Tahoma" pitchFamily="34" charset="0"/>
                <a:cs typeface="Tahoma" pitchFamily="34" charset="0"/>
              </a:rPr>
              <a:t>    </a:t>
            </a:r>
            <a:r>
              <a:rPr lang="en-US" dirty="0">
                <a:solidFill>
                  <a:srgbClr val="000000"/>
                </a:solidFill>
                <a:latin typeface="Tahoma" pitchFamily="34" charset="0"/>
                <a:ea typeface="Tahoma" pitchFamily="34" charset="0"/>
                <a:cs typeface="Tahoma" pitchFamily="34" charset="0"/>
              </a:rPr>
              <a:t>Suppose that  LNAME and DNO attributes of EMPLOYEE table were called NAME and DNUMBER, and DNAME attribute of the DEPARTMENT was also called NAME. then  </a:t>
            </a:r>
            <a:r>
              <a:rPr lang="en-US" b="1" i="1" dirty="0">
                <a:solidFill>
                  <a:srgbClr val="000000"/>
                </a:solidFill>
                <a:latin typeface="Tahoma" pitchFamily="34" charset="0"/>
                <a:ea typeface="Tahoma" pitchFamily="34" charset="0"/>
                <a:cs typeface="Tahoma" pitchFamily="34" charset="0"/>
              </a:rPr>
              <a:t>Query1 must be restated as follows.</a:t>
            </a:r>
          </a:p>
          <a:p>
            <a:pPr marL="342900" indent="-342900" algn="just" fontAlgn="base">
              <a:lnSpc>
                <a:spcPct val="150000"/>
              </a:lnSpc>
              <a:spcBef>
                <a:spcPct val="20000"/>
              </a:spcBef>
              <a:spcAft>
                <a:spcPct val="0"/>
              </a:spcAft>
            </a:pPr>
            <a:endParaRPr lang="en-US" sz="2000" b="1" i="1" dirty="0">
              <a:solidFill>
                <a:srgbClr val="000000"/>
              </a:solidFill>
              <a:latin typeface="Tahoma" pitchFamily="34" charset="0"/>
              <a:ea typeface="Tahoma" pitchFamily="34" charset="0"/>
              <a:cs typeface="Tahoma" pitchFamily="34" charset="0"/>
            </a:endParaRPr>
          </a:p>
          <a:p>
            <a:r>
              <a:rPr lang="en-US" sz="2000" kern="0" dirty="0">
                <a:solidFill>
                  <a:srgbClr val="000000"/>
                </a:solidFill>
                <a:latin typeface="Tahoma" pitchFamily="34" charset="0"/>
                <a:ea typeface="Tahoma" pitchFamily="34" charset="0"/>
                <a:cs typeface="Tahoma" pitchFamily="34" charset="0"/>
              </a:rPr>
              <a:t>       </a:t>
            </a:r>
          </a:p>
          <a:p>
            <a:pPr lvl="2">
              <a:lnSpc>
                <a:spcPct val="150000"/>
              </a:lnSpc>
            </a:pPr>
            <a:r>
              <a:rPr lang="en-US" sz="2000" b="1" dirty="0">
                <a:solidFill>
                  <a:srgbClr val="0070C0"/>
                </a:solidFill>
                <a:latin typeface="Tahoma" pitchFamily="34" charset="0"/>
                <a:ea typeface="Tahoma" pitchFamily="34" charset="0"/>
                <a:cs typeface="Tahoma" pitchFamily="34" charset="0"/>
              </a:rPr>
              <a:t>SELECT</a:t>
            </a:r>
            <a:r>
              <a:rPr lang="en-US" sz="2000" b="1" dirty="0">
                <a:solidFill>
                  <a:srgbClr val="000000"/>
                </a:solidFill>
                <a:latin typeface="Tahoma" pitchFamily="34" charset="0"/>
                <a:ea typeface="Tahoma" pitchFamily="34" charset="0"/>
                <a:cs typeface="Tahoma" pitchFamily="34" charset="0"/>
              </a:rPr>
              <a:t>   FNAME, EMPLOYEE.NAME, ADDRESS</a:t>
            </a:r>
          </a:p>
          <a:p>
            <a:pPr lvl="2">
              <a:lnSpc>
                <a:spcPct val="150000"/>
              </a:lnSpc>
            </a:pPr>
            <a:r>
              <a:rPr lang="en-US" sz="2000" b="1" dirty="0">
                <a:solidFill>
                  <a:srgbClr val="0070C0"/>
                </a:solidFill>
                <a:latin typeface="Tahoma" pitchFamily="34" charset="0"/>
                <a:ea typeface="Tahoma" pitchFamily="34" charset="0"/>
                <a:cs typeface="Tahoma" pitchFamily="34" charset="0"/>
              </a:rPr>
              <a:t>FROM </a:t>
            </a:r>
            <a:r>
              <a:rPr lang="en-US" sz="2000" b="1" dirty="0">
                <a:solidFill>
                  <a:srgbClr val="000000"/>
                </a:solidFill>
                <a:latin typeface="Tahoma" pitchFamily="34" charset="0"/>
                <a:ea typeface="Tahoma" pitchFamily="34" charset="0"/>
                <a:cs typeface="Tahoma" pitchFamily="34" charset="0"/>
              </a:rPr>
              <a:t>	EMPLOYEE, DEPARTMENT</a:t>
            </a:r>
          </a:p>
          <a:p>
            <a:pPr lvl="2">
              <a:lnSpc>
                <a:spcPct val="150000"/>
              </a:lnSpc>
            </a:pPr>
            <a:r>
              <a:rPr lang="en-US" sz="2000" b="1" dirty="0">
                <a:solidFill>
                  <a:srgbClr val="0070C0"/>
                </a:solidFill>
                <a:latin typeface="Tahoma" pitchFamily="34" charset="0"/>
                <a:ea typeface="Tahoma" pitchFamily="34" charset="0"/>
                <a:cs typeface="Tahoma" pitchFamily="34" charset="0"/>
              </a:rPr>
              <a:t>WHERE   </a:t>
            </a:r>
            <a:r>
              <a:rPr lang="en-US" sz="2000" b="1" dirty="0">
                <a:solidFill>
                  <a:srgbClr val="000000"/>
                </a:solidFill>
                <a:latin typeface="Tahoma" pitchFamily="34" charset="0"/>
                <a:ea typeface="Tahoma" pitchFamily="34" charset="0"/>
                <a:cs typeface="Tahoma" pitchFamily="34" charset="0"/>
              </a:rPr>
              <a:t>DEPARTMENT.NAME='Research' </a:t>
            </a:r>
            <a:r>
              <a:rPr lang="en-US" sz="2000" b="1" dirty="0">
                <a:solidFill>
                  <a:srgbClr val="0070C0"/>
                </a:solidFill>
                <a:latin typeface="Tahoma" pitchFamily="34" charset="0"/>
                <a:ea typeface="Tahoma" pitchFamily="34" charset="0"/>
                <a:cs typeface="Tahoma" pitchFamily="34" charset="0"/>
              </a:rPr>
              <a:t>AND</a:t>
            </a:r>
            <a:br>
              <a:rPr lang="en-US" sz="2000" b="1" dirty="0">
                <a:solidFill>
                  <a:srgbClr val="000000"/>
                </a:solidFill>
                <a:latin typeface="Tahoma" pitchFamily="34" charset="0"/>
                <a:ea typeface="Tahoma" pitchFamily="34" charset="0"/>
                <a:cs typeface="Tahoma" pitchFamily="34" charset="0"/>
              </a:rPr>
            </a:br>
            <a:r>
              <a:rPr lang="en-US" sz="2000" b="1" dirty="0">
                <a:solidFill>
                  <a:srgbClr val="C00000"/>
                </a:solidFill>
                <a:latin typeface="Tahoma" pitchFamily="34" charset="0"/>
                <a:ea typeface="Tahoma" pitchFamily="34" charset="0"/>
                <a:cs typeface="Tahoma" pitchFamily="34" charset="0"/>
              </a:rPr>
              <a:t>EMPLOYEE.DNUMBER=DEPARTMENT. DNUMBER</a:t>
            </a:r>
            <a:endParaRPr lang="en-US" sz="3200" b="1" dirty="0">
              <a:solidFill>
                <a:srgbClr val="C0000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 y="228600"/>
            <a:ext cx="8229600" cy="411162"/>
          </a:xfrm>
          <a:noFill/>
        </p:spPr>
        <p:txBody>
          <a:bodyPr lIns="90488" tIns="44450" rIns="90488" bIns="44450"/>
          <a:lstStyle/>
          <a:p>
            <a:pPr marL="342900" lvl="0" indent="-342900" algn="l">
              <a:spcBef>
                <a:spcPct val="20000"/>
              </a:spcBef>
            </a:pPr>
            <a:r>
              <a:rPr lang="en-US" sz="2800" b="1" dirty="0">
                <a:solidFill>
                  <a:srgbClr val="000000"/>
                </a:solidFill>
                <a:latin typeface="Tahoma" pitchFamily="34" charset="0"/>
                <a:ea typeface="Tahoma" pitchFamily="34" charset="0"/>
                <a:cs typeface="Tahoma" pitchFamily="34" charset="0"/>
              </a:rPr>
              <a:t>Aliasing and Tuple Variables </a:t>
            </a:r>
          </a:p>
        </p:txBody>
      </p:sp>
      <p:sp>
        <p:nvSpPr>
          <p:cNvPr id="7" name="TextBox 6"/>
          <p:cNvSpPr txBox="1"/>
          <p:nvPr/>
        </p:nvSpPr>
        <p:spPr>
          <a:xfrm>
            <a:off x="228600" y="762000"/>
            <a:ext cx="8763000" cy="1049518"/>
          </a:xfrm>
          <a:prstGeom prst="rect">
            <a:avLst/>
          </a:prstGeom>
          <a:noFill/>
        </p:spPr>
        <p:txBody>
          <a:bodyPr wrap="square" rtlCol="0">
            <a:spAutoFit/>
          </a:bodyPr>
          <a:lstStyle/>
          <a:p>
            <a:r>
              <a:rPr lang="en-US" sz="1600" b="1" u="sng" dirty="0">
                <a:solidFill>
                  <a:srgbClr val="002060"/>
                </a:solidFill>
                <a:latin typeface="Tahoma" pitchFamily="34" charset="0"/>
                <a:ea typeface="Tahoma" pitchFamily="34" charset="0"/>
                <a:cs typeface="Tahoma" pitchFamily="34" charset="0"/>
              </a:rPr>
              <a:t> </a:t>
            </a:r>
          </a:p>
          <a:p>
            <a:pPr>
              <a:lnSpc>
                <a:spcPct val="80000"/>
              </a:lnSpc>
            </a:pPr>
            <a:endParaRPr lang="en-US" sz="2400" u="sng" dirty="0">
              <a:solidFill>
                <a:srgbClr val="000000"/>
              </a:solidFill>
            </a:endParaRPr>
          </a:p>
          <a:p>
            <a:pPr algn="just">
              <a:lnSpc>
                <a:spcPct val="150000"/>
              </a:lnSpc>
              <a:buFont typeface="Arial" pitchFamily="34" charset="0"/>
              <a:buChar char="•"/>
            </a:pPr>
            <a:endParaRPr lang="en-US" b="1" dirty="0">
              <a:solidFill>
                <a:srgbClr val="000000"/>
              </a:solidFill>
              <a:latin typeface="Tahoma" pitchFamily="34" charset="0"/>
              <a:ea typeface="Tahoma" pitchFamily="34" charset="0"/>
              <a:cs typeface="Tahoma" pitchFamily="34" charset="0"/>
            </a:endParaRPr>
          </a:p>
        </p:txBody>
      </p:sp>
      <p:sp>
        <p:nvSpPr>
          <p:cNvPr id="6" name="TextBox 5"/>
          <p:cNvSpPr txBox="1"/>
          <p:nvPr/>
        </p:nvSpPr>
        <p:spPr>
          <a:xfrm>
            <a:off x="228600" y="990600"/>
            <a:ext cx="8610600" cy="2843855"/>
          </a:xfrm>
          <a:prstGeom prst="rect">
            <a:avLst/>
          </a:prstGeom>
          <a:noFill/>
        </p:spPr>
        <p:txBody>
          <a:bodyPr wrap="square" rtlCol="0">
            <a:spAutoFit/>
          </a:bodyPr>
          <a:lstStyle/>
          <a:p>
            <a:pPr marL="342900" lvl="0" indent="-342900" fontAlgn="base">
              <a:lnSpc>
                <a:spcPct val="150000"/>
              </a:lnSpc>
              <a:spcBef>
                <a:spcPct val="20000"/>
              </a:spcBef>
              <a:spcAft>
                <a:spcPct val="0"/>
              </a:spcAft>
              <a:buFontTx/>
              <a:buChar char="•"/>
            </a:pPr>
            <a:r>
              <a:rPr lang="en-US" sz="2000" kern="0" dirty="0">
                <a:solidFill>
                  <a:srgbClr val="000000"/>
                </a:solidFill>
                <a:latin typeface="Tahoma" pitchFamily="34" charset="0"/>
                <a:ea typeface="Tahoma" pitchFamily="34" charset="0"/>
                <a:cs typeface="Tahoma" pitchFamily="34" charset="0"/>
              </a:rPr>
              <a:t>Ambiguity also arises if some queries need to refer to the same relation twice</a:t>
            </a:r>
          </a:p>
          <a:p>
            <a:pPr marL="342900" lvl="0" indent="-342900" fontAlgn="base">
              <a:spcBef>
                <a:spcPct val="20000"/>
              </a:spcBef>
              <a:spcAft>
                <a:spcPct val="0"/>
              </a:spcAft>
              <a:buFontTx/>
              <a:buChar char="•"/>
            </a:pPr>
            <a:r>
              <a:rPr lang="en-US" sz="2000" kern="0" dirty="0">
                <a:solidFill>
                  <a:srgbClr val="000000"/>
                </a:solidFill>
                <a:latin typeface="Tahoma" pitchFamily="34" charset="0"/>
                <a:ea typeface="Tahoma" pitchFamily="34" charset="0"/>
                <a:cs typeface="Tahoma" pitchFamily="34" charset="0"/>
              </a:rPr>
              <a:t>In this case, </a:t>
            </a:r>
            <a:r>
              <a:rPr lang="en-US" sz="2000" b="1" i="1" kern="0" dirty="0">
                <a:solidFill>
                  <a:srgbClr val="000000"/>
                </a:solidFill>
                <a:latin typeface="Tahoma" pitchFamily="34" charset="0"/>
                <a:ea typeface="Tahoma" pitchFamily="34" charset="0"/>
                <a:cs typeface="Tahoma" pitchFamily="34" charset="0"/>
              </a:rPr>
              <a:t>aliases</a:t>
            </a:r>
            <a:r>
              <a:rPr lang="en-US" sz="2000" kern="0" dirty="0">
                <a:solidFill>
                  <a:srgbClr val="000000"/>
                </a:solidFill>
                <a:latin typeface="Tahoma" pitchFamily="34" charset="0"/>
                <a:ea typeface="Tahoma" pitchFamily="34" charset="0"/>
                <a:cs typeface="Tahoma" pitchFamily="34" charset="0"/>
              </a:rPr>
              <a:t>  are given to the relation name using </a:t>
            </a:r>
            <a:r>
              <a:rPr lang="en-US" sz="2000" i="1" kern="0" dirty="0">
                <a:solidFill>
                  <a:srgbClr val="002060"/>
                </a:solidFill>
                <a:latin typeface="Tahoma" pitchFamily="34" charset="0"/>
                <a:ea typeface="Tahoma" pitchFamily="34" charset="0"/>
                <a:cs typeface="Tahoma" pitchFamily="34" charset="0"/>
              </a:rPr>
              <a:t>AS</a:t>
            </a:r>
          </a:p>
          <a:p>
            <a:pPr marL="342900" lvl="0" indent="-342900" fontAlgn="base">
              <a:spcBef>
                <a:spcPct val="20000"/>
              </a:spcBef>
              <a:spcAft>
                <a:spcPct val="0"/>
              </a:spcAft>
            </a:pPr>
            <a:endParaRPr lang="en-US" sz="2000" kern="0" dirty="0">
              <a:solidFill>
                <a:srgbClr val="000000"/>
              </a:solidFill>
              <a:latin typeface="Tahoma" pitchFamily="34" charset="0"/>
              <a:ea typeface="Tahoma" pitchFamily="34" charset="0"/>
              <a:cs typeface="Tahoma" pitchFamily="34" charset="0"/>
            </a:endParaRPr>
          </a:p>
          <a:p>
            <a:pPr marL="800100" lvl="1" indent="-342900" fontAlgn="base">
              <a:lnSpc>
                <a:spcPct val="150000"/>
              </a:lnSpc>
              <a:spcBef>
                <a:spcPct val="20000"/>
              </a:spcBef>
              <a:spcAft>
                <a:spcPct val="0"/>
              </a:spcAft>
            </a:pPr>
            <a:r>
              <a:rPr lang="en-US" sz="2400" b="1" dirty="0">
                <a:solidFill>
                  <a:srgbClr val="000000"/>
                </a:solidFill>
              </a:rPr>
              <a:t>Query 8:</a:t>
            </a:r>
            <a:r>
              <a:rPr lang="en-US" sz="2400" dirty="0">
                <a:solidFill>
                  <a:srgbClr val="000000"/>
                </a:solidFill>
              </a:rPr>
              <a:t> </a:t>
            </a:r>
            <a:r>
              <a:rPr lang="en-US" sz="2000" dirty="0">
                <a:solidFill>
                  <a:srgbClr val="000000"/>
                </a:solidFill>
                <a:latin typeface="Tahoma" pitchFamily="34" charset="0"/>
                <a:ea typeface="Tahoma" pitchFamily="34" charset="0"/>
                <a:cs typeface="Tahoma" pitchFamily="34" charset="0"/>
              </a:rPr>
              <a:t>For each employee, retrieve the employee's name, and the name of his or her immediate supervisor.</a:t>
            </a:r>
          </a:p>
        </p:txBody>
      </p:sp>
      <p:sp>
        <p:nvSpPr>
          <p:cNvPr id="5" name="Rectangle 4"/>
          <p:cNvSpPr/>
          <p:nvPr/>
        </p:nvSpPr>
        <p:spPr>
          <a:xfrm>
            <a:off x="1447800" y="4038600"/>
            <a:ext cx="6705600" cy="1842427"/>
          </a:xfrm>
          <a:prstGeom prst="rect">
            <a:avLst/>
          </a:prstGeom>
        </p:spPr>
        <p:txBody>
          <a:bodyPr wrap="square">
            <a:spAutoFit/>
          </a:bodyPr>
          <a:lstStyle/>
          <a:p>
            <a:pPr>
              <a:lnSpc>
                <a:spcPct val="200000"/>
              </a:lnSpc>
            </a:pPr>
            <a:r>
              <a:rPr lang="en-US" sz="2000" b="1" dirty="0">
                <a:solidFill>
                  <a:srgbClr val="00B0F0"/>
                </a:solidFill>
                <a:latin typeface="Tahoma" pitchFamily="34" charset="0"/>
                <a:ea typeface="Tahoma" pitchFamily="34" charset="0"/>
                <a:cs typeface="Tahoma" pitchFamily="34" charset="0"/>
              </a:rPr>
              <a:t>SELECT </a:t>
            </a:r>
            <a:r>
              <a:rPr lang="en-US" sz="2000" b="1" dirty="0">
                <a:solidFill>
                  <a:srgbClr val="000000"/>
                </a:solidFill>
                <a:latin typeface="Tahoma" pitchFamily="34" charset="0"/>
                <a:ea typeface="Tahoma" pitchFamily="34" charset="0"/>
                <a:cs typeface="Tahoma" pitchFamily="34" charset="0"/>
              </a:rPr>
              <a:t>E.FNAME, E.LNAME, S.FNAME, S.LNAME</a:t>
            </a:r>
            <a:br>
              <a:rPr lang="en-US" sz="2000" b="1" dirty="0">
                <a:solidFill>
                  <a:srgbClr val="000000"/>
                </a:solidFill>
                <a:latin typeface="Tahoma" pitchFamily="34" charset="0"/>
                <a:ea typeface="Tahoma" pitchFamily="34" charset="0"/>
                <a:cs typeface="Tahoma" pitchFamily="34" charset="0"/>
              </a:rPr>
            </a:br>
            <a:r>
              <a:rPr lang="en-US" sz="2000" b="1" dirty="0">
                <a:solidFill>
                  <a:srgbClr val="000000"/>
                </a:solidFill>
                <a:latin typeface="Tahoma" pitchFamily="34" charset="0"/>
                <a:ea typeface="Tahoma" pitchFamily="34" charset="0"/>
                <a:cs typeface="Tahoma" pitchFamily="34" charset="0"/>
              </a:rPr>
              <a:t> </a:t>
            </a:r>
            <a:r>
              <a:rPr lang="en-US" sz="2000" b="1" dirty="0">
                <a:solidFill>
                  <a:srgbClr val="00B0F0"/>
                </a:solidFill>
                <a:latin typeface="Tahoma" pitchFamily="34" charset="0"/>
                <a:ea typeface="Tahoma" pitchFamily="34" charset="0"/>
                <a:cs typeface="Tahoma" pitchFamily="34" charset="0"/>
              </a:rPr>
              <a:t>FROM </a:t>
            </a:r>
            <a:r>
              <a:rPr lang="en-US" sz="2000" b="1" dirty="0">
                <a:solidFill>
                  <a:srgbClr val="000000"/>
                </a:solidFill>
                <a:latin typeface="Tahoma" pitchFamily="34" charset="0"/>
                <a:ea typeface="Tahoma" pitchFamily="34" charset="0"/>
                <a:cs typeface="Tahoma" pitchFamily="34" charset="0"/>
              </a:rPr>
              <a:t> EMPLOYEE </a:t>
            </a:r>
            <a:r>
              <a:rPr lang="en-US" sz="2000" b="1" dirty="0">
                <a:solidFill>
                  <a:srgbClr val="00B0F0"/>
                </a:solidFill>
                <a:latin typeface="Tahoma" pitchFamily="34" charset="0"/>
                <a:ea typeface="Tahoma" pitchFamily="34" charset="0"/>
                <a:cs typeface="Tahoma" pitchFamily="34" charset="0"/>
              </a:rPr>
              <a:t>AS</a:t>
            </a:r>
            <a:r>
              <a:rPr lang="en-US" sz="2000" b="1" dirty="0">
                <a:solidFill>
                  <a:srgbClr val="000000"/>
                </a:solidFill>
                <a:latin typeface="Tahoma" pitchFamily="34" charset="0"/>
                <a:ea typeface="Tahoma" pitchFamily="34" charset="0"/>
                <a:cs typeface="Tahoma" pitchFamily="34" charset="0"/>
              </a:rPr>
              <a:t>  E, EMPLOYEE  </a:t>
            </a:r>
            <a:r>
              <a:rPr lang="en-US" sz="2000" b="1" dirty="0">
                <a:solidFill>
                  <a:srgbClr val="00B0F0"/>
                </a:solidFill>
                <a:latin typeface="Tahoma" pitchFamily="34" charset="0"/>
                <a:ea typeface="Tahoma" pitchFamily="34" charset="0"/>
                <a:cs typeface="Tahoma" pitchFamily="34" charset="0"/>
              </a:rPr>
              <a:t>AS</a:t>
            </a:r>
            <a:r>
              <a:rPr lang="en-US" sz="2000" b="1" dirty="0">
                <a:solidFill>
                  <a:srgbClr val="000000"/>
                </a:solidFill>
                <a:latin typeface="Tahoma" pitchFamily="34" charset="0"/>
                <a:ea typeface="Tahoma" pitchFamily="34" charset="0"/>
                <a:cs typeface="Tahoma" pitchFamily="34" charset="0"/>
              </a:rPr>
              <a:t> S</a:t>
            </a:r>
          </a:p>
          <a:p>
            <a:pPr>
              <a:lnSpc>
                <a:spcPct val="200000"/>
              </a:lnSpc>
            </a:pPr>
            <a:r>
              <a:rPr lang="en-US" sz="2000" b="1" dirty="0">
                <a:solidFill>
                  <a:srgbClr val="00B0F0"/>
                </a:solidFill>
                <a:latin typeface="Tahoma" pitchFamily="34" charset="0"/>
                <a:ea typeface="Tahoma" pitchFamily="34" charset="0"/>
                <a:cs typeface="Tahoma" pitchFamily="34" charset="0"/>
              </a:rPr>
              <a:t>WHERE</a:t>
            </a:r>
            <a:r>
              <a:rPr lang="en-US" sz="2000" b="1" dirty="0">
                <a:solidFill>
                  <a:srgbClr val="000000"/>
                </a:solidFill>
                <a:latin typeface="Tahoma" pitchFamily="34" charset="0"/>
                <a:ea typeface="Tahoma" pitchFamily="34" charset="0"/>
                <a:cs typeface="Tahoma" pitchFamily="34" charset="0"/>
              </a:rPr>
              <a:t> </a:t>
            </a:r>
            <a:r>
              <a:rPr lang="en-US" sz="2000" b="1" dirty="0">
                <a:solidFill>
                  <a:srgbClr val="C00000"/>
                </a:solidFill>
                <a:latin typeface="Tahoma" pitchFamily="34" charset="0"/>
                <a:ea typeface="Tahoma" pitchFamily="34" charset="0"/>
                <a:cs typeface="Tahoma" pitchFamily="34" charset="0"/>
              </a:rPr>
              <a:t>E.SUPERSSN=S.SSN</a:t>
            </a:r>
            <a:endParaRPr lang="en-IN" sz="2000"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 y="228600"/>
            <a:ext cx="8229600" cy="411162"/>
          </a:xfrm>
          <a:noFill/>
        </p:spPr>
        <p:txBody>
          <a:bodyPr lIns="90488" tIns="44450" rIns="90488" bIns="44450"/>
          <a:lstStyle/>
          <a:p>
            <a:pPr marL="342900" lvl="0" indent="-342900" algn="l">
              <a:spcBef>
                <a:spcPct val="20000"/>
              </a:spcBef>
            </a:pPr>
            <a:r>
              <a:rPr lang="en-US" sz="2800" b="1" dirty="0">
                <a:solidFill>
                  <a:srgbClr val="000000"/>
                </a:solidFill>
                <a:latin typeface="Tahoma" pitchFamily="34" charset="0"/>
                <a:ea typeface="Tahoma" pitchFamily="34" charset="0"/>
                <a:cs typeface="Tahoma" pitchFamily="34" charset="0"/>
              </a:rPr>
              <a:t>Aliasing and Tuple Variables </a:t>
            </a:r>
          </a:p>
        </p:txBody>
      </p:sp>
      <p:sp>
        <p:nvSpPr>
          <p:cNvPr id="7" name="TextBox 6"/>
          <p:cNvSpPr txBox="1"/>
          <p:nvPr/>
        </p:nvSpPr>
        <p:spPr>
          <a:xfrm>
            <a:off x="228600" y="762000"/>
            <a:ext cx="8763000" cy="1049518"/>
          </a:xfrm>
          <a:prstGeom prst="rect">
            <a:avLst/>
          </a:prstGeom>
          <a:noFill/>
        </p:spPr>
        <p:txBody>
          <a:bodyPr wrap="square" rtlCol="0">
            <a:spAutoFit/>
          </a:bodyPr>
          <a:lstStyle/>
          <a:p>
            <a:r>
              <a:rPr lang="en-US" sz="1600" b="1" u="sng" dirty="0">
                <a:solidFill>
                  <a:srgbClr val="002060"/>
                </a:solidFill>
                <a:latin typeface="Tahoma" pitchFamily="34" charset="0"/>
                <a:ea typeface="Tahoma" pitchFamily="34" charset="0"/>
                <a:cs typeface="Tahoma" pitchFamily="34" charset="0"/>
              </a:rPr>
              <a:t> </a:t>
            </a:r>
          </a:p>
          <a:p>
            <a:pPr>
              <a:lnSpc>
                <a:spcPct val="80000"/>
              </a:lnSpc>
            </a:pPr>
            <a:endParaRPr lang="en-US" sz="2400" u="sng" dirty="0">
              <a:solidFill>
                <a:srgbClr val="000000"/>
              </a:solidFill>
            </a:endParaRPr>
          </a:p>
          <a:p>
            <a:pPr algn="just">
              <a:lnSpc>
                <a:spcPct val="150000"/>
              </a:lnSpc>
              <a:buFont typeface="Arial" pitchFamily="34" charset="0"/>
              <a:buChar char="•"/>
            </a:pPr>
            <a:endParaRPr lang="en-US" b="1" dirty="0">
              <a:solidFill>
                <a:srgbClr val="000000"/>
              </a:solidFill>
              <a:latin typeface="Tahoma" pitchFamily="34" charset="0"/>
              <a:ea typeface="Tahoma" pitchFamily="34" charset="0"/>
              <a:cs typeface="Tahoma" pitchFamily="34" charset="0"/>
            </a:endParaRPr>
          </a:p>
        </p:txBody>
      </p:sp>
      <p:sp>
        <p:nvSpPr>
          <p:cNvPr id="6" name="TextBox 5"/>
          <p:cNvSpPr txBox="1"/>
          <p:nvPr/>
        </p:nvSpPr>
        <p:spPr>
          <a:xfrm>
            <a:off x="228600" y="990600"/>
            <a:ext cx="8610600" cy="4031873"/>
          </a:xfrm>
          <a:prstGeom prst="rect">
            <a:avLst/>
          </a:prstGeom>
          <a:noFill/>
        </p:spPr>
        <p:txBody>
          <a:bodyPr wrap="square" rtlCol="0">
            <a:spAutoFit/>
          </a:bodyPr>
          <a:lstStyle/>
          <a:p>
            <a:pPr marL="342900" indent="-342900" algn="just">
              <a:lnSpc>
                <a:spcPct val="200000"/>
              </a:lnSpc>
              <a:buFont typeface="Arial" pitchFamily="34" charset="0"/>
              <a:buChar char="•"/>
            </a:pPr>
            <a:r>
              <a:rPr lang="en-US" dirty="0">
                <a:solidFill>
                  <a:srgbClr val="000000"/>
                </a:solidFill>
                <a:latin typeface="Tahoma" pitchFamily="34" charset="0"/>
                <a:ea typeface="Tahoma" pitchFamily="34" charset="0"/>
                <a:cs typeface="Tahoma" pitchFamily="34" charset="0"/>
              </a:rPr>
              <a:t>In Q8, the alternative relation names </a:t>
            </a:r>
            <a:r>
              <a:rPr lang="en-US" b="1" dirty="0">
                <a:solidFill>
                  <a:srgbClr val="000000"/>
                </a:solidFill>
                <a:latin typeface="Tahoma" pitchFamily="34" charset="0"/>
                <a:ea typeface="Tahoma" pitchFamily="34" charset="0"/>
                <a:cs typeface="Tahoma" pitchFamily="34" charset="0"/>
              </a:rPr>
              <a:t>E</a:t>
            </a:r>
            <a:r>
              <a:rPr lang="en-US" dirty="0">
                <a:solidFill>
                  <a:srgbClr val="000000"/>
                </a:solidFill>
                <a:latin typeface="Tahoma" pitchFamily="34" charset="0"/>
                <a:ea typeface="Tahoma" pitchFamily="34" charset="0"/>
                <a:cs typeface="Tahoma" pitchFamily="34" charset="0"/>
              </a:rPr>
              <a:t> and </a:t>
            </a:r>
            <a:r>
              <a:rPr lang="en-US" b="1" dirty="0">
                <a:solidFill>
                  <a:srgbClr val="000000"/>
                </a:solidFill>
                <a:latin typeface="Tahoma" pitchFamily="34" charset="0"/>
                <a:ea typeface="Tahoma" pitchFamily="34" charset="0"/>
                <a:cs typeface="Tahoma" pitchFamily="34" charset="0"/>
              </a:rPr>
              <a:t>S </a:t>
            </a:r>
            <a:r>
              <a:rPr lang="en-US" dirty="0">
                <a:solidFill>
                  <a:srgbClr val="000000"/>
                </a:solidFill>
                <a:latin typeface="Tahoma" pitchFamily="34" charset="0"/>
                <a:ea typeface="Tahoma" pitchFamily="34" charset="0"/>
                <a:cs typeface="Tahoma" pitchFamily="34" charset="0"/>
              </a:rPr>
              <a:t>are called </a:t>
            </a:r>
            <a:r>
              <a:rPr lang="en-US" b="1" i="1" dirty="0">
                <a:solidFill>
                  <a:srgbClr val="000000"/>
                </a:solidFill>
                <a:latin typeface="Tahoma" pitchFamily="34" charset="0"/>
                <a:ea typeface="Tahoma" pitchFamily="34" charset="0"/>
                <a:cs typeface="Tahoma" pitchFamily="34" charset="0"/>
              </a:rPr>
              <a:t>aliases</a:t>
            </a:r>
            <a:r>
              <a:rPr lang="en-US" b="1" dirty="0">
                <a:solidFill>
                  <a:srgbClr val="000000"/>
                </a:solidFill>
                <a:latin typeface="Tahoma" pitchFamily="34" charset="0"/>
                <a:ea typeface="Tahoma" pitchFamily="34" charset="0"/>
                <a:cs typeface="Tahoma" pitchFamily="34" charset="0"/>
              </a:rPr>
              <a:t> </a:t>
            </a:r>
            <a:r>
              <a:rPr lang="en-US" dirty="0">
                <a:solidFill>
                  <a:srgbClr val="000000"/>
                </a:solidFill>
                <a:latin typeface="Tahoma" pitchFamily="34" charset="0"/>
                <a:ea typeface="Tahoma" pitchFamily="34" charset="0"/>
                <a:cs typeface="Tahoma" pitchFamily="34" charset="0"/>
              </a:rPr>
              <a:t> or </a:t>
            </a:r>
            <a:r>
              <a:rPr lang="en-US" b="1" i="1" dirty="0">
                <a:solidFill>
                  <a:srgbClr val="000000"/>
                </a:solidFill>
                <a:latin typeface="Tahoma" pitchFamily="34" charset="0"/>
                <a:ea typeface="Tahoma" pitchFamily="34" charset="0"/>
                <a:cs typeface="Tahoma" pitchFamily="34" charset="0"/>
              </a:rPr>
              <a:t>tuple variables</a:t>
            </a:r>
            <a:r>
              <a:rPr lang="en-US" b="1" dirty="0">
                <a:solidFill>
                  <a:srgbClr val="000000"/>
                </a:solidFill>
                <a:latin typeface="Tahoma" pitchFamily="34" charset="0"/>
                <a:ea typeface="Tahoma" pitchFamily="34" charset="0"/>
                <a:cs typeface="Tahoma" pitchFamily="34" charset="0"/>
              </a:rPr>
              <a:t>  </a:t>
            </a:r>
            <a:r>
              <a:rPr lang="en-US" dirty="0">
                <a:solidFill>
                  <a:srgbClr val="000000"/>
                </a:solidFill>
                <a:latin typeface="Tahoma" pitchFamily="34" charset="0"/>
                <a:ea typeface="Tahoma" pitchFamily="34" charset="0"/>
                <a:cs typeface="Tahoma" pitchFamily="34" charset="0"/>
              </a:rPr>
              <a:t>for the </a:t>
            </a:r>
            <a:r>
              <a:rPr lang="en-US" b="1" dirty="0">
                <a:solidFill>
                  <a:srgbClr val="000000"/>
                </a:solidFill>
                <a:latin typeface="Tahoma" pitchFamily="34" charset="0"/>
                <a:ea typeface="Tahoma" pitchFamily="34" charset="0"/>
                <a:cs typeface="Tahoma" pitchFamily="34" charset="0"/>
              </a:rPr>
              <a:t>EMPLOYEE </a:t>
            </a:r>
            <a:r>
              <a:rPr lang="en-US" dirty="0">
                <a:solidFill>
                  <a:srgbClr val="000000"/>
                </a:solidFill>
                <a:latin typeface="Tahoma" pitchFamily="34" charset="0"/>
                <a:ea typeface="Tahoma" pitchFamily="34" charset="0"/>
                <a:cs typeface="Tahoma" pitchFamily="34" charset="0"/>
              </a:rPr>
              <a:t>relation</a:t>
            </a:r>
          </a:p>
          <a:p>
            <a:pPr marL="342900" indent="-342900" algn="just">
              <a:lnSpc>
                <a:spcPct val="200000"/>
              </a:lnSpc>
              <a:buFont typeface="Arial" pitchFamily="34" charset="0"/>
              <a:buChar char="•"/>
            </a:pPr>
            <a:r>
              <a:rPr lang="en-US" dirty="0">
                <a:solidFill>
                  <a:srgbClr val="000000"/>
                </a:solidFill>
                <a:latin typeface="Tahoma" pitchFamily="34" charset="0"/>
                <a:ea typeface="Tahoma" pitchFamily="34" charset="0"/>
                <a:cs typeface="Tahoma" pitchFamily="34" charset="0"/>
              </a:rPr>
              <a:t>We can think of </a:t>
            </a:r>
            <a:r>
              <a:rPr lang="en-US" b="1" dirty="0">
                <a:solidFill>
                  <a:srgbClr val="000000"/>
                </a:solidFill>
                <a:latin typeface="Tahoma" pitchFamily="34" charset="0"/>
                <a:ea typeface="Tahoma" pitchFamily="34" charset="0"/>
                <a:cs typeface="Tahoma" pitchFamily="34" charset="0"/>
              </a:rPr>
              <a:t>E </a:t>
            </a:r>
            <a:r>
              <a:rPr lang="en-US" dirty="0">
                <a:solidFill>
                  <a:srgbClr val="000000"/>
                </a:solidFill>
                <a:latin typeface="Tahoma" pitchFamily="34" charset="0"/>
                <a:ea typeface="Tahoma" pitchFamily="34" charset="0"/>
                <a:cs typeface="Tahoma" pitchFamily="34" charset="0"/>
              </a:rPr>
              <a:t>and </a:t>
            </a:r>
            <a:r>
              <a:rPr lang="en-US" b="1" dirty="0">
                <a:solidFill>
                  <a:srgbClr val="000000"/>
                </a:solidFill>
                <a:latin typeface="Tahoma" pitchFamily="34" charset="0"/>
                <a:ea typeface="Tahoma" pitchFamily="34" charset="0"/>
                <a:cs typeface="Tahoma" pitchFamily="34" charset="0"/>
              </a:rPr>
              <a:t>S</a:t>
            </a:r>
            <a:r>
              <a:rPr lang="en-US" dirty="0">
                <a:solidFill>
                  <a:srgbClr val="000000"/>
                </a:solidFill>
                <a:latin typeface="Tahoma" pitchFamily="34" charset="0"/>
                <a:ea typeface="Tahoma" pitchFamily="34" charset="0"/>
                <a:cs typeface="Tahoma" pitchFamily="34" charset="0"/>
              </a:rPr>
              <a:t> as two </a:t>
            </a:r>
            <a:r>
              <a:rPr lang="en-US" i="1" dirty="0">
                <a:solidFill>
                  <a:srgbClr val="000000"/>
                </a:solidFill>
                <a:latin typeface="Tahoma" pitchFamily="34" charset="0"/>
                <a:ea typeface="Tahoma" pitchFamily="34" charset="0"/>
                <a:cs typeface="Tahoma" pitchFamily="34" charset="0"/>
              </a:rPr>
              <a:t>different copies</a:t>
            </a:r>
            <a:r>
              <a:rPr lang="en-US" dirty="0">
                <a:solidFill>
                  <a:srgbClr val="000000"/>
                </a:solidFill>
                <a:latin typeface="Tahoma" pitchFamily="34" charset="0"/>
                <a:ea typeface="Tahoma" pitchFamily="34" charset="0"/>
                <a:cs typeface="Tahoma" pitchFamily="34" charset="0"/>
              </a:rPr>
              <a:t>  of </a:t>
            </a:r>
            <a:r>
              <a:rPr lang="en-US" b="1" dirty="0">
                <a:solidFill>
                  <a:srgbClr val="000000"/>
                </a:solidFill>
                <a:latin typeface="Tahoma" pitchFamily="34" charset="0"/>
                <a:ea typeface="Tahoma" pitchFamily="34" charset="0"/>
                <a:cs typeface="Tahoma" pitchFamily="34" charset="0"/>
              </a:rPr>
              <a:t>EMPLOYEE</a:t>
            </a:r>
            <a:r>
              <a:rPr lang="en-US" dirty="0">
                <a:solidFill>
                  <a:srgbClr val="000000"/>
                </a:solidFill>
                <a:latin typeface="Tahoma" pitchFamily="34" charset="0"/>
                <a:ea typeface="Tahoma" pitchFamily="34" charset="0"/>
                <a:cs typeface="Tahoma" pitchFamily="34" charset="0"/>
              </a:rPr>
              <a:t>; </a:t>
            </a:r>
          </a:p>
          <a:p>
            <a:pPr marL="342900" indent="-342900" algn="just">
              <a:lnSpc>
                <a:spcPct val="200000"/>
              </a:lnSpc>
              <a:buFont typeface="Arial" pitchFamily="34" charset="0"/>
              <a:buChar char="•"/>
            </a:pPr>
            <a:r>
              <a:rPr lang="en-US" b="1" dirty="0">
                <a:solidFill>
                  <a:srgbClr val="000000"/>
                </a:solidFill>
                <a:latin typeface="Tahoma" pitchFamily="34" charset="0"/>
                <a:ea typeface="Tahoma" pitchFamily="34" charset="0"/>
                <a:cs typeface="Tahoma" pitchFamily="34" charset="0"/>
              </a:rPr>
              <a:t>E</a:t>
            </a:r>
            <a:r>
              <a:rPr lang="en-US" dirty="0">
                <a:solidFill>
                  <a:srgbClr val="000000"/>
                </a:solidFill>
                <a:latin typeface="Tahoma" pitchFamily="34" charset="0"/>
                <a:ea typeface="Tahoma" pitchFamily="34" charset="0"/>
                <a:cs typeface="Tahoma" pitchFamily="34" charset="0"/>
              </a:rPr>
              <a:t> represents employees in role of </a:t>
            </a:r>
            <a:r>
              <a:rPr lang="en-US" b="1" i="1" dirty="0">
                <a:solidFill>
                  <a:srgbClr val="000000"/>
                </a:solidFill>
                <a:latin typeface="Tahoma" pitchFamily="34" charset="0"/>
                <a:ea typeface="Tahoma" pitchFamily="34" charset="0"/>
                <a:cs typeface="Tahoma" pitchFamily="34" charset="0"/>
              </a:rPr>
              <a:t>supervisees</a:t>
            </a:r>
            <a:r>
              <a:rPr lang="en-US" b="1" dirty="0">
                <a:solidFill>
                  <a:srgbClr val="000000"/>
                </a:solidFill>
                <a:latin typeface="Tahoma" pitchFamily="34" charset="0"/>
                <a:ea typeface="Tahoma" pitchFamily="34" charset="0"/>
                <a:cs typeface="Tahoma" pitchFamily="34" charset="0"/>
              </a:rPr>
              <a:t> </a:t>
            </a:r>
            <a:r>
              <a:rPr lang="en-US" dirty="0">
                <a:solidFill>
                  <a:srgbClr val="000000"/>
                </a:solidFill>
                <a:latin typeface="Tahoma" pitchFamily="34" charset="0"/>
                <a:ea typeface="Tahoma" pitchFamily="34" charset="0"/>
                <a:cs typeface="Tahoma" pitchFamily="34" charset="0"/>
              </a:rPr>
              <a:t> and </a:t>
            </a:r>
            <a:r>
              <a:rPr lang="en-US" b="1" dirty="0">
                <a:solidFill>
                  <a:srgbClr val="000000"/>
                </a:solidFill>
                <a:latin typeface="Tahoma" pitchFamily="34" charset="0"/>
                <a:ea typeface="Tahoma" pitchFamily="34" charset="0"/>
                <a:cs typeface="Tahoma" pitchFamily="34" charset="0"/>
              </a:rPr>
              <a:t>S</a:t>
            </a:r>
            <a:r>
              <a:rPr lang="en-US" dirty="0">
                <a:solidFill>
                  <a:srgbClr val="000000"/>
                </a:solidFill>
                <a:latin typeface="Tahoma" pitchFamily="34" charset="0"/>
                <a:ea typeface="Tahoma" pitchFamily="34" charset="0"/>
                <a:cs typeface="Tahoma" pitchFamily="34" charset="0"/>
              </a:rPr>
              <a:t> represents employees in role of </a:t>
            </a:r>
            <a:r>
              <a:rPr lang="en-US" b="1" i="1" dirty="0">
                <a:solidFill>
                  <a:srgbClr val="000000"/>
                </a:solidFill>
                <a:latin typeface="Tahoma" pitchFamily="34" charset="0"/>
                <a:ea typeface="Tahoma" pitchFamily="34" charset="0"/>
                <a:cs typeface="Tahoma" pitchFamily="34" charset="0"/>
              </a:rPr>
              <a:t>supervisors</a:t>
            </a:r>
          </a:p>
          <a:p>
            <a:pPr marL="342900" indent="-342900">
              <a:lnSpc>
                <a:spcPct val="200000"/>
              </a:lnSpc>
              <a:buFont typeface="Arial" pitchFamily="34" charset="0"/>
              <a:buChar char="•"/>
            </a:pPr>
            <a:r>
              <a:rPr lang="en-US" b="1" i="1" dirty="0">
                <a:solidFill>
                  <a:srgbClr val="000000"/>
                </a:solidFill>
                <a:latin typeface="Tahoma" pitchFamily="34" charset="0"/>
                <a:ea typeface="Tahoma" pitchFamily="34" charset="0"/>
                <a:cs typeface="Tahoma" pitchFamily="34" charset="0"/>
              </a:rPr>
              <a:t>Use of AS  is optional.  </a:t>
            </a:r>
          </a:p>
          <a:p>
            <a:pPr marL="342900" indent="-342900">
              <a:lnSpc>
                <a:spcPct val="200000"/>
              </a:lnSpc>
            </a:pPr>
            <a:r>
              <a:rPr lang="en-US" b="1" i="1" dirty="0">
                <a:solidFill>
                  <a:srgbClr val="000000"/>
                </a:solidFill>
                <a:latin typeface="Tahoma" pitchFamily="34" charset="0"/>
                <a:ea typeface="Tahoma" pitchFamily="34" charset="0"/>
                <a:cs typeface="Tahoma" pitchFamily="34" charset="0"/>
              </a:rPr>
              <a:t>     E.g. :      </a:t>
            </a:r>
            <a:r>
              <a:rPr lang="en-US" sz="2000" b="1" i="1" dirty="0">
                <a:solidFill>
                  <a:srgbClr val="000000"/>
                </a:solidFill>
                <a:latin typeface="Tahoma" pitchFamily="34" charset="0"/>
                <a:ea typeface="Tahoma" pitchFamily="34" charset="0"/>
                <a:cs typeface="Tahoma" pitchFamily="34" charset="0"/>
              </a:rPr>
              <a:t>Use  </a:t>
            </a:r>
            <a:r>
              <a:rPr lang="en-US" sz="2000" b="1" dirty="0">
                <a:solidFill>
                  <a:srgbClr val="000000"/>
                </a:solidFill>
                <a:latin typeface="Tahoma" pitchFamily="34" charset="0"/>
                <a:ea typeface="Tahoma" pitchFamily="34" charset="0"/>
                <a:cs typeface="Tahoma" pitchFamily="34" charset="0"/>
              </a:rPr>
              <a:t>EMPLOYEE  E, instead of  EMPLOYEE AS  E</a:t>
            </a:r>
            <a:r>
              <a:rPr lang="en-US" b="1" dirty="0">
                <a:solidFill>
                  <a:srgbClr val="000000"/>
                </a:solidFill>
                <a:latin typeface="Tahoma" pitchFamily="34" charset="0"/>
                <a:ea typeface="Tahoma" pitchFamily="34" charset="0"/>
                <a:cs typeface="Tahoma" pitchFamily="34" charset="0"/>
              </a:rPr>
              <a:t>, </a:t>
            </a:r>
            <a:endParaRPr lang="en-US" b="1" i="1" dirty="0">
              <a:solidFill>
                <a:srgbClr val="00000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304800"/>
            <a:ext cx="8763000" cy="480131"/>
          </a:xfrm>
          <a:prstGeom prst="rect">
            <a:avLst/>
          </a:prstGeom>
          <a:noFill/>
        </p:spPr>
        <p:txBody>
          <a:bodyPr wrap="square" rtlCol="0">
            <a:spAutoFit/>
          </a:bodyPr>
          <a:lstStyle/>
          <a:p>
            <a:pPr>
              <a:lnSpc>
                <a:spcPct val="90000"/>
              </a:lnSpc>
            </a:pPr>
            <a:r>
              <a:rPr lang="en-US" sz="2800" b="1" dirty="0">
                <a:solidFill>
                  <a:srgbClr val="002060"/>
                </a:solidFill>
              </a:rPr>
              <a:t>Unspecified  WHERE-clause</a:t>
            </a:r>
          </a:p>
        </p:txBody>
      </p:sp>
      <p:sp>
        <p:nvSpPr>
          <p:cNvPr id="6" name="TextBox 5"/>
          <p:cNvSpPr txBox="1"/>
          <p:nvPr/>
        </p:nvSpPr>
        <p:spPr>
          <a:xfrm>
            <a:off x="228600" y="990600"/>
            <a:ext cx="8610600" cy="4779770"/>
          </a:xfrm>
          <a:prstGeom prst="rect">
            <a:avLst/>
          </a:prstGeom>
          <a:noFill/>
        </p:spPr>
        <p:txBody>
          <a:bodyPr wrap="square" rtlCol="0">
            <a:spAutoFit/>
          </a:bodyPr>
          <a:lstStyle/>
          <a:p>
            <a:pPr marL="342900" lvl="0" indent="-342900" algn="just" fontAlgn="base">
              <a:lnSpc>
                <a:spcPct val="200000"/>
              </a:lnSpc>
              <a:spcBef>
                <a:spcPct val="20000"/>
              </a:spcBef>
              <a:spcAft>
                <a:spcPct val="0"/>
              </a:spcAft>
              <a:buFontTx/>
              <a:buChar char="•"/>
            </a:pPr>
            <a:r>
              <a:rPr lang="en-US" sz="2000" kern="0" dirty="0">
                <a:solidFill>
                  <a:srgbClr val="000000"/>
                </a:solidFill>
                <a:latin typeface="Tahoma" pitchFamily="34" charset="0"/>
                <a:ea typeface="Tahoma" pitchFamily="34" charset="0"/>
                <a:cs typeface="Tahoma" pitchFamily="34" charset="0"/>
              </a:rPr>
              <a:t>A </a:t>
            </a:r>
            <a:r>
              <a:rPr lang="en-US" sz="2000" i="1" kern="0" dirty="0">
                <a:solidFill>
                  <a:srgbClr val="000000"/>
                </a:solidFill>
                <a:latin typeface="Tahoma" pitchFamily="34" charset="0"/>
                <a:ea typeface="Tahoma" pitchFamily="34" charset="0"/>
                <a:cs typeface="Tahoma" pitchFamily="34" charset="0"/>
              </a:rPr>
              <a:t>missing </a:t>
            </a:r>
            <a:r>
              <a:rPr lang="en-US" sz="2000" b="1" i="1" kern="0" dirty="0">
                <a:solidFill>
                  <a:srgbClr val="000000"/>
                </a:solidFill>
                <a:latin typeface="Tahoma" pitchFamily="34" charset="0"/>
                <a:ea typeface="Tahoma" pitchFamily="34" charset="0"/>
                <a:cs typeface="Tahoma" pitchFamily="34" charset="0"/>
              </a:rPr>
              <a:t>WHERE-</a:t>
            </a:r>
            <a:r>
              <a:rPr lang="en-US" sz="2000" i="1" kern="0" dirty="0">
                <a:solidFill>
                  <a:srgbClr val="000000"/>
                </a:solidFill>
                <a:latin typeface="Tahoma" pitchFamily="34" charset="0"/>
                <a:ea typeface="Tahoma" pitchFamily="34" charset="0"/>
                <a:cs typeface="Tahoma" pitchFamily="34" charset="0"/>
              </a:rPr>
              <a:t>clause</a:t>
            </a:r>
            <a:r>
              <a:rPr lang="en-US" sz="2000" kern="0" dirty="0">
                <a:solidFill>
                  <a:srgbClr val="000000"/>
                </a:solidFill>
                <a:latin typeface="Tahoma" pitchFamily="34" charset="0"/>
                <a:ea typeface="Tahoma" pitchFamily="34" charset="0"/>
                <a:cs typeface="Tahoma" pitchFamily="34" charset="0"/>
              </a:rPr>
              <a:t>  indicates no condition; hence, </a:t>
            </a:r>
            <a:r>
              <a:rPr lang="en-US" sz="2000" i="1" kern="0" dirty="0">
                <a:solidFill>
                  <a:srgbClr val="000000"/>
                </a:solidFill>
                <a:latin typeface="Tahoma" pitchFamily="34" charset="0"/>
                <a:ea typeface="Tahoma" pitchFamily="34" charset="0"/>
                <a:cs typeface="Tahoma" pitchFamily="34" charset="0"/>
              </a:rPr>
              <a:t>all tuples</a:t>
            </a:r>
            <a:r>
              <a:rPr lang="en-US" sz="2000" kern="0" dirty="0">
                <a:solidFill>
                  <a:srgbClr val="000000"/>
                </a:solidFill>
                <a:latin typeface="Tahoma" pitchFamily="34" charset="0"/>
                <a:ea typeface="Tahoma" pitchFamily="34" charset="0"/>
                <a:cs typeface="Tahoma" pitchFamily="34" charset="0"/>
              </a:rPr>
              <a:t>  of the relations in the </a:t>
            </a:r>
            <a:r>
              <a:rPr lang="en-US" sz="2000" b="1" kern="0" dirty="0">
                <a:solidFill>
                  <a:srgbClr val="000000"/>
                </a:solidFill>
                <a:latin typeface="Tahoma" pitchFamily="34" charset="0"/>
                <a:ea typeface="Tahoma" pitchFamily="34" charset="0"/>
                <a:cs typeface="Tahoma" pitchFamily="34" charset="0"/>
              </a:rPr>
              <a:t>FROM</a:t>
            </a:r>
            <a:r>
              <a:rPr lang="en-US" sz="2000" kern="0" dirty="0">
                <a:solidFill>
                  <a:srgbClr val="000000"/>
                </a:solidFill>
                <a:latin typeface="Tahoma" pitchFamily="34" charset="0"/>
                <a:ea typeface="Tahoma" pitchFamily="34" charset="0"/>
                <a:cs typeface="Tahoma" pitchFamily="34" charset="0"/>
              </a:rPr>
              <a:t>-clause are selected.</a:t>
            </a:r>
          </a:p>
          <a:p>
            <a:pPr marL="342900" lvl="0" indent="-342900" fontAlgn="base">
              <a:lnSpc>
                <a:spcPct val="200000"/>
              </a:lnSpc>
              <a:spcBef>
                <a:spcPct val="20000"/>
              </a:spcBef>
              <a:spcAft>
                <a:spcPct val="0"/>
              </a:spcAft>
              <a:buFontTx/>
              <a:buChar char="•"/>
            </a:pPr>
            <a:r>
              <a:rPr lang="en-US" sz="2000" kern="0" dirty="0">
                <a:solidFill>
                  <a:srgbClr val="000000"/>
                </a:solidFill>
                <a:latin typeface="Tahoma" pitchFamily="34" charset="0"/>
                <a:ea typeface="Tahoma" pitchFamily="34" charset="0"/>
                <a:cs typeface="Tahoma" pitchFamily="34" charset="0"/>
              </a:rPr>
              <a:t>This is equivalent to the condition </a:t>
            </a:r>
            <a:r>
              <a:rPr lang="en-US" sz="2000" b="1" kern="0" dirty="0">
                <a:solidFill>
                  <a:srgbClr val="000000"/>
                </a:solidFill>
                <a:latin typeface="Tahoma" pitchFamily="34" charset="0"/>
                <a:ea typeface="Tahoma" pitchFamily="34" charset="0"/>
                <a:cs typeface="Tahoma" pitchFamily="34" charset="0"/>
              </a:rPr>
              <a:t>WHERE TRUE</a:t>
            </a:r>
          </a:p>
          <a:p>
            <a:pPr marL="342900" lvl="0" indent="-342900" fontAlgn="base">
              <a:lnSpc>
                <a:spcPct val="90000"/>
              </a:lnSpc>
              <a:spcBef>
                <a:spcPct val="20000"/>
              </a:spcBef>
              <a:spcAft>
                <a:spcPct val="0"/>
              </a:spcAft>
            </a:pPr>
            <a:endParaRPr lang="en-US" sz="2400" u="sng" kern="0" dirty="0">
              <a:solidFill>
                <a:srgbClr val="000000"/>
              </a:solidFill>
            </a:endParaRPr>
          </a:p>
          <a:p>
            <a:pPr marL="342900" lvl="0" indent="-342900" fontAlgn="base">
              <a:lnSpc>
                <a:spcPct val="90000"/>
              </a:lnSpc>
              <a:spcBef>
                <a:spcPct val="20000"/>
              </a:spcBef>
              <a:spcAft>
                <a:spcPct val="0"/>
              </a:spcAft>
            </a:pPr>
            <a:r>
              <a:rPr lang="en-US" sz="2400" b="1" kern="0" dirty="0">
                <a:solidFill>
                  <a:srgbClr val="000000"/>
                </a:solidFill>
                <a:latin typeface="Tahoma" pitchFamily="34" charset="0"/>
                <a:ea typeface="Tahoma" pitchFamily="34" charset="0"/>
                <a:cs typeface="Tahoma" pitchFamily="34" charset="0"/>
              </a:rPr>
              <a:t>Query 9 : </a:t>
            </a:r>
            <a:r>
              <a:rPr lang="en-US" sz="2400" kern="0" dirty="0">
                <a:solidFill>
                  <a:srgbClr val="000000"/>
                </a:solidFill>
                <a:latin typeface="Tahoma" pitchFamily="34" charset="0"/>
                <a:ea typeface="Tahoma" pitchFamily="34" charset="0"/>
                <a:cs typeface="Tahoma" pitchFamily="34" charset="0"/>
              </a:rPr>
              <a:t>Retrieve the SSN values for all employees.</a:t>
            </a:r>
            <a:endParaRPr lang="en-US" sz="2400" b="1" kern="0" dirty="0">
              <a:solidFill>
                <a:srgbClr val="000000"/>
              </a:solidFill>
              <a:latin typeface="Tahoma" pitchFamily="34" charset="0"/>
              <a:ea typeface="Tahoma" pitchFamily="34" charset="0"/>
              <a:cs typeface="Tahoma" pitchFamily="34" charset="0"/>
            </a:endParaRPr>
          </a:p>
          <a:p>
            <a:pPr marL="742950" lvl="1" indent="-285750" fontAlgn="base">
              <a:lnSpc>
                <a:spcPct val="150000"/>
              </a:lnSpc>
              <a:spcBef>
                <a:spcPct val="20000"/>
              </a:spcBef>
              <a:spcAft>
                <a:spcPct val="0"/>
              </a:spcAft>
            </a:pPr>
            <a:r>
              <a:rPr lang="en-US" sz="1600" b="1" kern="0" dirty="0">
                <a:solidFill>
                  <a:srgbClr val="00B0F0"/>
                </a:solidFill>
                <a:latin typeface="Tahoma" pitchFamily="34" charset="0"/>
                <a:ea typeface="Tahoma" pitchFamily="34" charset="0"/>
                <a:cs typeface="Tahoma" pitchFamily="34" charset="0"/>
              </a:rPr>
              <a:t>               </a:t>
            </a:r>
          </a:p>
          <a:p>
            <a:pPr marL="742950" lvl="1" indent="-285750" fontAlgn="base">
              <a:lnSpc>
                <a:spcPct val="150000"/>
              </a:lnSpc>
              <a:spcBef>
                <a:spcPct val="20000"/>
              </a:spcBef>
              <a:spcAft>
                <a:spcPct val="0"/>
              </a:spcAft>
            </a:pPr>
            <a:r>
              <a:rPr lang="en-US" sz="1600" b="1" kern="0" dirty="0">
                <a:solidFill>
                  <a:srgbClr val="00B0F0"/>
                </a:solidFill>
                <a:latin typeface="Tahoma" pitchFamily="34" charset="0"/>
                <a:ea typeface="Tahoma" pitchFamily="34" charset="0"/>
                <a:cs typeface="Tahoma" pitchFamily="34" charset="0"/>
              </a:rPr>
              <a:t>                </a:t>
            </a:r>
            <a:r>
              <a:rPr lang="en-US" sz="2400" b="1" kern="0" dirty="0">
                <a:solidFill>
                  <a:srgbClr val="00B0F0"/>
                </a:solidFill>
                <a:latin typeface="Tahoma" pitchFamily="34" charset="0"/>
                <a:ea typeface="Tahoma" pitchFamily="34" charset="0"/>
                <a:cs typeface="Tahoma" pitchFamily="34" charset="0"/>
              </a:rPr>
              <a:t>SELECT</a:t>
            </a:r>
            <a:r>
              <a:rPr lang="en-US" sz="2400" b="1" kern="0" dirty="0">
                <a:solidFill>
                  <a:srgbClr val="000000"/>
                </a:solidFill>
                <a:latin typeface="Tahoma" pitchFamily="34" charset="0"/>
                <a:ea typeface="Tahoma" pitchFamily="34" charset="0"/>
                <a:cs typeface="Tahoma" pitchFamily="34" charset="0"/>
              </a:rPr>
              <a:t>  SSN</a:t>
            </a:r>
            <a:br>
              <a:rPr lang="en-US" sz="2400" b="1" kern="0" dirty="0">
                <a:solidFill>
                  <a:srgbClr val="000000"/>
                </a:solidFill>
                <a:latin typeface="Tahoma" pitchFamily="34" charset="0"/>
                <a:ea typeface="Tahoma" pitchFamily="34" charset="0"/>
                <a:cs typeface="Tahoma" pitchFamily="34" charset="0"/>
              </a:rPr>
            </a:br>
            <a:r>
              <a:rPr lang="en-US" sz="2400" b="1" kern="0" dirty="0">
                <a:solidFill>
                  <a:srgbClr val="000000"/>
                </a:solidFill>
                <a:latin typeface="Tahoma" pitchFamily="34" charset="0"/>
                <a:ea typeface="Tahoma" pitchFamily="34" charset="0"/>
                <a:cs typeface="Tahoma" pitchFamily="34" charset="0"/>
              </a:rPr>
              <a:t>	      </a:t>
            </a:r>
            <a:r>
              <a:rPr lang="en-US" sz="2400" b="1" kern="0" dirty="0">
                <a:solidFill>
                  <a:srgbClr val="00B0F0"/>
                </a:solidFill>
                <a:latin typeface="Tahoma" pitchFamily="34" charset="0"/>
                <a:ea typeface="Tahoma" pitchFamily="34" charset="0"/>
                <a:cs typeface="Tahoma" pitchFamily="34" charset="0"/>
              </a:rPr>
              <a:t>FROM </a:t>
            </a:r>
            <a:r>
              <a:rPr lang="en-US" sz="2400" b="1" kern="0" dirty="0">
                <a:solidFill>
                  <a:srgbClr val="000000"/>
                </a:solidFill>
                <a:latin typeface="Tahoma" pitchFamily="34" charset="0"/>
                <a:ea typeface="Tahoma" pitchFamily="34" charset="0"/>
                <a:cs typeface="Tahoma" pitchFamily="34" charset="0"/>
              </a:rPr>
              <a:t>	EMPLOYEE</a:t>
            </a:r>
            <a:endParaRPr lang="en-US" sz="1600" b="1" kern="0" dirty="0">
              <a:solidFill>
                <a:srgbClr val="000000"/>
              </a:solidFill>
              <a:latin typeface="Tahoma" pitchFamily="34" charset="0"/>
              <a:ea typeface="Tahoma" pitchFamily="34" charset="0"/>
              <a:cs typeface="Tahoma" pitchFamily="34" charset="0"/>
            </a:endParaRPr>
          </a:p>
          <a:p>
            <a:pPr marL="742950" lvl="1" indent="-285750" fontAlgn="base">
              <a:lnSpc>
                <a:spcPct val="150000"/>
              </a:lnSpc>
              <a:spcBef>
                <a:spcPct val="20000"/>
              </a:spcBef>
              <a:spcAft>
                <a:spcPct val="0"/>
              </a:spcAft>
            </a:pPr>
            <a:endParaRPr lang="en-US" sz="1400" b="1" kern="0" dirty="0">
              <a:solidFill>
                <a:srgbClr val="00000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304800"/>
            <a:ext cx="8763000" cy="480131"/>
          </a:xfrm>
          <a:prstGeom prst="rect">
            <a:avLst/>
          </a:prstGeom>
          <a:noFill/>
        </p:spPr>
        <p:txBody>
          <a:bodyPr wrap="square" rtlCol="0">
            <a:spAutoFit/>
          </a:bodyPr>
          <a:lstStyle/>
          <a:p>
            <a:pPr>
              <a:lnSpc>
                <a:spcPct val="90000"/>
              </a:lnSpc>
            </a:pPr>
            <a:r>
              <a:rPr lang="en-US" sz="2800" b="1" dirty="0">
                <a:solidFill>
                  <a:srgbClr val="002060"/>
                </a:solidFill>
              </a:rPr>
              <a:t>Unspecified  WHERE-clause</a:t>
            </a:r>
          </a:p>
        </p:txBody>
      </p:sp>
      <p:sp>
        <p:nvSpPr>
          <p:cNvPr id="6" name="TextBox 5"/>
          <p:cNvSpPr txBox="1"/>
          <p:nvPr/>
        </p:nvSpPr>
        <p:spPr>
          <a:xfrm>
            <a:off x="228600" y="990600"/>
            <a:ext cx="8610600" cy="3745641"/>
          </a:xfrm>
          <a:prstGeom prst="rect">
            <a:avLst/>
          </a:prstGeom>
          <a:noFill/>
        </p:spPr>
        <p:txBody>
          <a:bodyPr wrap="square" rtlCol="0">
            <a:spAutoFit/>
          </a:bodyPr>
          <a:lstStyle/>
          <a:p>
            <a:pPr marL="742950" lvl="1" indent="-285750" fontAlgn="base">
              <a:lnSpc>
                <a:spcPct val="150000"/>
              </a:lnSpc>
              <a:spcBef>
                <a:spcPct val="20000"/>
              </a:spcBef>
              <a:spcAft>
                <a:spcPct val="0"/>
              </a:spcAft>
            </a:pPr>
            <a:endParaRPr lang="en-US" sz="1400" b="1" kern="0" dirty="0">
              <a:solidFill>
                <a:srgbClr val="000000"/>
              </a:solidFill>
              <a:latin typeface="Tahoma" pitchFamily="34" charset="0"/>
              <a:ea typeface="Tahoma" pitchFamily="34" charset="0"/>
              <a:cs typeface="Tahoma" pitchFamily="34" charset="0"/>
            </a:endParaRPr>
          </a:p>
          <a:p>
            <a:pPr marL="342900" lvl="0" indent="-342900" algn="just" fontAlgn="base">
              <a:lnSpc>
                <a:spcPct val="150000"/>
              </a:lnSpc>
              <a:spcBef>
                <a:spcPct val="20000"/>
              </a:spcBef>
              <a:spcAft>
                <a:spcPct val="0"/>
              </a:spcAft>
              <a:buFontTx/>
              <a:buChar char="•"/>
            </a:pPr>
            <a:r>
              <a:rPr lang="en-US" sz="2000" kern="0" dirty="0">
                <a:solidFill>
                  <a:srgbClr val="000000"/>
                </a:solidFill>
                <a:latin typeface="Tahoma" pitchFamily="34" charset="0"/>
                <a:ea typeface="Tahoma" pitchFamily="34" charset="0"/>
                <a:cs typeface="Tahoma" pitchFamily="34" charset="0"/>
              </a:rPr>
              <a:t>If more than one relation is specified in the FROM-clause </a:t>
            </a:r>
            <a:r>
              <a:rPr lang="en-US" sz="2000" i="1" kern="0" dirty="0">
                <a:solidFill>
                  <a:srgbClr val="000000"/>
                </a:solidFill>
                <a:latin typeface="Tahoma" pitchFamily="34" charset="0"/>
                <a:ea typeface="Tahoma" pitchFamily="34" charset="0"/>
                <a:cs typeface="Tahoma" pitchFamily="34" charset="0"/>
              </a:rPr>
              <a:t>and</a:t>
            </a:r>
            <a:r>
              <a:rPr lang="en-US" sz="2000" kern="0" dirty="0">
                <a:solidFill>
                  <a:srgbClr val="000000"/>
                </a:solidFill>
                <a:latin typeface="Tahoma" pitchFamily="34" charset="0"/>
                <a:ea typeface="Tahoma" pitchFamily="34" charset="0"/>
                <a:cs typeface="Tahoma" pitchFamily="34" charset="0"/>
              </a:rPr>
              <a:t>  there is no join condition, then the </a:t>
            </a:r>
            <a:r>
              <a:rPr lang="en-US" sz="2000" b="1" i="1" kern="0" dirty="0">
                <a:solidFill>
                  <a:srgbClr val="000000"/>
                </a:solidFill>
                <a:latin typeface="Tahoma" pitchFamily="34" charset="0"/>
                <a:ea typeface="Tahoma" pitchFamily="34" charset="0"/>
                <a:cs typeface="Tahoma" pitchFamily="34" charset="0"/>
              </a:rPr>
              <a:t>CARTESIAN PRODUCT </a:t>
            </a:r>
            <a:r>
              <a:rPr lang="en-US" sz="2000" kern="0" dirty="0">
                <a:solidFill>
                  <a:srgbClr val="000000"/>
                </a:solidFill>
                <a:latin typeface="Tahoma" pitchFamily="34" charset="0"/>
                <a:ea typeface="Tahoma" pitchFamily="34" charset="0"/>
                <a:cs typeface="Tahoma" pitchFamily="34" charset="0"/>
              </a:rPr>
              <a:t>of tuples is selected.</a:t>
            </a:r>
          </a:p>
          <a:p>
            <a:pPr marL="342900" lvl="0" indent="-342900" algn="just" fontAlgn="base">
              <a:lnSpc>
                <a:spcPct val="150000"/>
              </a:lnSpc>
              <a:spcBef>
                <a:spcPct val="20000"/>
              </a:spcBef>
              <a:spcAft>
                <a:spcPct val="0"/>
              </a:spcAft>
            </a:pPr>
            <a:r>
              <a:rPr lang="en-US" b="1" kern="0" dirty="0">
                <a:solidFill>
                  <a:srgbClr val="000000"/>
                </a:solidFill>
                <a:latin typeface="Tahoma" pitchFamily="34" charset="0"/>
                <a:ea typeface="Tahoma" pitchFamily="34" charset="0"/>
                <a:cs typeface="Tahoma" pitchFamily="34" charset="0"/>
              </a:rPr>
              <a:t>Q 10: </a:t>
            </a:r>
            <a:r>
              <a:rPr lang="en-US" sz="2000" b="1" kern="0" dirty="0">
                <a:solidFill>
                  <a:srgbClr val="000000"/>
                </a:solidFill>
                <a:latin typeface="Tahoma" pitchFamily="34" charset="0"/>
                <a:ea typeface="Tahoma" pitchFamily="34" charset="0"/>
                <a:cs typeface="Tahoma" pitchFamily="34" charset="0"/>
              </a:rPr>
              <a:t>Retrieve the SSN values for all employees</a:t>
            </a:r>
            <a:r>
              <a:rPr lang="en-US" sz="2400" kern="0" dirty="0">
                <a:solidFill>
                  <a:srgbClr val="000000"/>
                </a:solidFill>
                <a:latin typeface="Tahoma" pitchFamily="34" charset="0"/>
                <a:ea typeface="Tahoma" pitchFamily="34" charset="0"/>
                <a:cs typeface="Tahoma" pitchFamily="34" charset="0"/>
              </a:rPr>
              <a:t>.</a:t>
            </a:r>
            <a:endParaRPr lang="en-US" sz="2000" kern="0" dirty="0">
              <a:solidFill>
                <a:srgbClr val="000000"/>
              </a:solidFill>
              <a:latin typeface="Tahoma" pitchFamily="34" charset="0"/>
              <a:ea typeface="Tahoma" pitchFamily="34" charset="0"/>
              <a:cs typeface="Tahoma" pitchFamily="34" charset="0"/>
            </a:endParaRPr>
          </a:p>
          <a:p>
            <a:pPr marL="342900" lvl="0" indent="-342900" fontAlgn="base">
              <a:lnSpc>
                <a:spcPct val="150000"/>
              </a:lnSpc>
              <a:spcBef>
                <a:spcPct val="20000"/>
              </a:spcBef>
              <a:spcAft>
                <a:spcPct val="0"/>
              </a:spcAft>
            </a:pPr>
            <a:r>
              <a:rPr lang="en-US" sz="2000" b="1" kern="0" dirty="0">
                <a:solidFill>
                  <a:srgbClr val="000000"/>
                </a:solidFill>
                <a:latin typeface="Tahoma" pitchFamily="34" charset="0"/>
                <a:ea typeface="Tahoma" pitchFamily="34" charset="0"/>
                <a:cs typeface="Tahoma" pitchFamily="34" charset="0"/>
              </a:rPr>
              <a:t>           </a:t>
            </a:r>
            <a:r>
              <a:rPr lang="en-US" sz="1600" b="1" kern="0" dirty="0">
                <a:solidFill>
                  <a:srgbClr val="000000"/>
                </a:solidFill>
                <a:latin typeface="Tahoma" pitchFamily="34" charset="0"/>
                <a:ea typeface="Tahoma" pitchFamily="34" charset="0"/>
                <a:cs typeface="Tahoma" pitchFamily="34" charset="0"/>
              </a:rPr>
              <a:t>           </a:t>
            </a:r>
            <a:r>
              <a:rPr lang="en-US" sz="2400" b="1" kern="0" dirty="0">
                <a:solidFill>
                  <a:srgbClr val="00B0F0"/>
                </a:solidFill>
                <a:latin typeface="Tahoma" pitchFamily="34" charset="0"/>
                <a:ea typeface="Tahoma" pitchFamily="34" charset="0"/>
                <a:cs typeface="Tahoma" pitchFamily="34" charset="0"/>
              </a:rPr>
              <a:t>SELECT </a:t>
            </a:r>
            <a:r>
              <a:rPr lang="en-US" sz="2400" b="1" kern="0" dirty="0">
                <a:solidFill>
                  <a:srgbClr val="000000"/>
                </a:solidFill>
                <a:latin typeface="Tahoma" pitchFamily="34" charset="0"/>
                <a:ea typeface="Tahoma" pitchFamily="34" charset="0"/>
                <a:cs typeface="Tahoma" pitchFamily="34" charset="0"/>
              </a:rPr>
              <a:t>	SSN, DNAME 	</a:t>
            </a:r>
          </a:p>
          <a:p>
            <a:pPr marL="1200150" lvl="2" indent="-285750" fontAlgn="base">
              <a:lnSpc>
                <a:spcPct val="150000"/>
              </a:lnSpc>
              <a:spcBef>
                <a:spcPct val="20000"/>
              </a:spcBef>
              <a:spcAft>
                <a:spcPct val="0"/>
              </a:spcAft>
            </a:pPr>
            <a:r>
              <a:rPr lang="en-US" sz="2400" b="1" kern="0" dirty="0">
                <a:solidFill>
                  <a:srgbClr val="00B0F0"/>
                </a:solidFill>
                <a:latin typeface="Tahoma" pitchFamily="34" charset="0"/>
                <a:ea typeface="Tahoma" pitchFamily="34" charset="0"/>
                <a:cs typeface="Tahoma" pitchFamily="34" charset="0"/>
              </a:rPr>
              <a:t>        FROM </a:t>
            </a:r>
            <a:r>
              <a:rPr lang="en-US" sz="2400" b="1" kern="0" dirty="0">
                <a:solidFill>
                  <a:srgbClr val="000000"/>
                </a:solidFill>
                <a:latin typeface="Tahoma" pitchFamily="34" charset="0"/>
                <a:ea typeface="Tahoma" pitchFamily="34" charset="0"/>
                <a:cs typeface="Tahoma" pitchFamily="34" charset="0"/>
              </a:rPr>
              <a:t>	EMPLOYEE, DEPARTMENT;</a:t>
            </a:r>
          </a:p>
        </p:txBody>
      </p:sp>
    </p:spTree>
  </p:cSld>
  <p:clrMapOvr>
    <a:masterClrMapping/>
  </p:clrMapOvr>
  <p:transition>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152400"/>
            <a:ext cx="3657600" cy="535531"/>
          </a:xfrm>
          <a:prstGeom prst="rect">
            <a:avLst/>
          </a:prstGeom>
          <a:noFill/>
        </p:spPr>
        <p:txBody>
          <a:bodyPr wrap="square" rtlCol="0">
            <a:spAutoFit/>
          </a:bodyPr>
          <a:lstStyle/>
          <a:p>
            <a:pPr>
              <a:lnSpc>
                <a:spcPct val="90000"/>
              </a:lnSpc>
            </a:pPr>
            <a:r>
              <a:rPr lang="en-US" sz="3200" b="1" dirty="0">
                <a:solidFill>
                  <a:srgbClr val="000000"/>
                </a:solidFill>
              </a:rPr>
              <a:t>Use of Asteric (*)</a:t>
            </a:r>
          </a:p>
        </p:txBody>
      </p:sp>
      <p:sp>
        <p:nvSpPr>
          <p:cNvPr id="6" name="TextBox 5"/>
          <p:cNvSpPr txBox="1"/>
          <p:nvPr/>
        </p:nvSpPr>
        <p:spPr>
          <a:xfrm>
            <a:off x="304800" y="1066800"/>
            <a:ext cx="8610600" cy="5201424"/>
          </a:xfrm>
          <a:prstGeom prst="rect">
            <a:avLst/>
          </a:prstGeom>
          <a:noFill/>
        </p:spPr>
        <p:txBody>
          <a:bodyPr wrap="square" rtlCol="0">
            <a:spAutoFit/>
          </a:bodyPr>
          <a:lstStyle/>
          <a:p>
            <a:pPr marL="342900" lvl="0" indent="-342900" fontAlgn="base">
              <a:lnSpc>
                <a:spcPct val="90000"/>
              </a:lnSpc>
              <a:spcBef>
                <a:spcPct val="20000"/>
              </a:spcBef>
              <a:spcAft>
                <a:spcPct val="0"/>
              </a:spcAft>
              <a:buFontTx/>
              <a:buChar char="•"/>
            </a:pPr>
            <a:r>
              <a:rPr lang="en-US" sz="2000" kern="0" dirty="0">
                <a:solidFill>
                  <a:srgbClr val="000000"/>
                </a:solidFill>
                <a:latin typeface="Tahoma" pitchFamily="34" charset="0"/>
                <a:ea typeface="Tahoma" pitchFamily="34" charset="0"/>
                <a:cs typeface="Tahoma" pitchFamily="34" charset="0"/>
              </a:rPr>
              <a:t>Used to select all the attributes</a:t>
            </a:r>
            <a:r>
              <a:rPr lang="en-US" sz="2000" kern="0" dirty="0">
                <a:solidFill>
                  <a:srgbClr val="000000"/>
                </a:solidFill>
              </a:rPr>
              <a:t>. </a:t>
            </a:r>
          </a:p>
          <a:p>
            <a:pPr marL="342900" lvl="0" indent="-342900" fontAlgn="base">
              <a:lnSpc>
                <a:spcPct val="90000"/>
              </a:lnSpc>
              <a:spcBef>
                <a:spcPct val="20000"/>
              </a:spcBef>
              <a:spcAft>
                <a:spcPct val="0"/>
              </a:spcAft>
              <a:buFontTx/>
              <a:buChar char="•"/>
            </a:pPr>
            <a:endParaRPr lang="en-US" sz="2000" kern="0" dirty="0">
              <a:solidFill>
                <a:srgbClr val="000000"/>
              </a:solidFill>
            </a:endParaRPr>
          </a:p>
          <a:p>
            <a:pPr lvl="1" algn="just">
              <a:lnSpc>
                <a:spcPct val="90000"/>
              </a:lnSpc>
            </a:pPr>
            <a:r>
              <a:rPr lang="en-US" sz="2000" b="1" dirty="0"/>
              <a:t>Q1C :     	</a:t>
            </a:r>
            <a:r>
              <a:rPr lang="en-US" sz="2000" b="1" dirty="0">
                <a:solidFill>
                  <a:srgbClr val="00B0F0"/>
                </a:solidFill>
              </a:rPr>
              <a:t>SELECT </a:t>
            </a:r>
            <a:r>
              <a:rPr lang="en-US" sz="2000" dirty="0"/>
              <a:t>	* 	</a:t>
            </a:r>
          </a:p>
          <a:p>
            <a:pPr lvl="1" algn="just">
              <a:lnSpc>
                <a:spcPct val="90000"/>
              </a:lnSpc>
            </a:pPr>
            <a:r>
              <a:rPr lang="en-US" sz="2000" b="1" dirty="0"/>
              <a:t>		</a:t>
            </a:r>
            <a:r>
              <a:rPr lang="en-US" sz="2000" b="1" dirty="0">
                <a:solidFill>
                  <a:srgbClr val="00B0F0"/>
                </a:solidFill>
              </a:rPr>
              <a:t>FROM</a:t>
            </a:r>
            <a:r>
              <a:rPr lang="en-US" sz="2000" b="1" dirty="0"/>
              <a:t> </a:t>
            </a:r>
            <a:r>
              <a:rPr lang="en-US" sz="2000" dirty="0"/>
              <a:t>	EMPLOYEE 	</a:t>
            </a:r>
          </a:p>
          <a:p>
            <a:pPr lvl="1" algn="just">
              <a:lnSpc>
                <a:spcPct val="90000"/>
              </a:lnSpc>
            </a:pPr>
            <a:r>
              <a:rPr lang="en-US" sz="2000" b="1" dirty="0"/>
              <a:t>		</a:t>
            </a:r>
            <a:r>
              <a:rPr lang="en-US" sz="2000" b="1" dirty="0">
                <a:solidFill>
                  <a:srgbClr val="00B0F0"/>
                </a:solidFill>
              </a:rPr>
              <a:t>WHERE </a:t>
            </a:r>
            <a:r>
              <a:rPr lang="en-US" sz="2000" dirty="0"/>
              <a:t>	DNO=5; 	</a:t>
            </a:r>
          </a:p>
          <a:p>
            <a:pPr lvl="1">
              <a:lnSpc>
                <a:spcPct val="90000"/>
              </a:lnSpc>
            </a:pPr>
            <a:endParaRPr lang="en-US" sz="2000" dirty="0"/>
          </a:p>
          <a:p>
            <a:pPr lvl="1">
              <a:lnSpc>
                <a:spcPct val="90000"/>
              </a:lnSpc>
            </a:pPr>
            <a:r>
              <a:rPr lang="en-US" sz="2000" b="1" dirty="0"/>
              <a:t>Q1D : 	</a:t>
            </a:r>
            <a:r>
              <a:rPr lang="en-US" sz="2000" b="1" dirty="0">
                <a:solidFill>
                  <a:srgbClr val="00B0F0"/>
                </a:solidFill>
              </a:rPr>
              <a:t>SELECT</a:t>
            </a:r>
            <a:r>
              <a:rPr lang="en-US" sz="2000" b="1" dirty="0"/>
              <a:t> </a:t>
            </a:r>
            <a:r>
              <a:rPr lang="en-US" sz="2000" dirty="0"/>
              <a:t>	* 	</a:t>
            </a:r>
          </a:p>
          <a:p>
            <a:pPr lvl="1">
              <a:lnSpc>
                <a:spcPct val="90000"/>
              </a:lnSpc>
            </a:pPr>
            <a:r>
              <a:rPr lang="en-US" sz="2000" b="1" dirty="0"/>
              <a:t>		</a:t>
            </a:r>
            <a:r>
              <a:rPr lang="en-US" sz="2000" b="1" dirty="0">
                <a:solidFill>
                  <a:srgbClr val="00B0F0"/>
                </a:solidFill>
              </a:rPr>
              <a:t>FROM </a:t>
            </a:r>
            <a:r>
              <a:rPr lang="en-US" sz="2000" dirty="0"/>
              <a:t>	EMPLOYEE, DEPARTMENT 	</a:t>
            </a:r>
          </a:p>
          <a:p>
            <a:pPr lvl="1">
              <a:lnSpc>
                <a:spcPct val="90000"/>
              </a:lnSpc>
            </a:pPr>
            <a:r>
              <a:rPr lang="en-US" sz="2000" b="1" dirty="0"/>
              <a:t>		</a:t>
            </a:r>
            <a:r>
              <a:rPr lang="en-US" sz="2000" b="1" dirty="0">
                <a:solidFill>
                  <a:srgbClr val="00B0F0"/>
                </a:solidFill>
              </a:rPr>
              <a:t>WHERE </a:t>
            </a:r>
            <a:r>
              <a:rPr lang="en-US" sz="2000" dirty="0"/>
              <a:t>DNAME=‘Research’ </a:t>
            </a:r>
            <a:r>
              <a:rPr lang="en-US" sz="2000" b="1" dirty="0"/>
              <a:t>AND </a:t>
            </a:r>
            <a:r>
              <a:rPr lang="en-US" sz="2000" dirty="0">
                <a:solidFill>
                  <a:srgbClr val="C00000"/>
                </a:solidFill>
              </a:rPr>
              <a:t>DNO=DNUMBER;</a:t>
            </a:r>
            <a:r>
              <a:rPr lang="en-US" sz="2000" dirty="0"/>
              <a:t> 	</a:t>
            </a:r>
          </a:p>
          <a:p>
            <a:pPr lvl="1">
              <a:lnSpc>
                <a:spcPct val="90000"/>
              </a:lnSpc>
            </a:pPr>
            <a:endParaRPr lang="en-US" sz="2000" dirty="0"/>
          </a:p>
          <a:p>
            <a:pPr lvl="1">
              <a:lnSpc>
                <a:spcPct val="90000"/>
              </a:lnSpc>
            </a:pPr>
            <a:r>
              <a:rPr lang="en-US" sz="2000" b="1" dirty="0"/>
              <a:t>Q10A :	</a:t>
            </a:r>
            <a:r>
              <a:rPr lang="en-US" sz="2000" b="1" dirty="0">
                <a:solidFill>
                  <a:srgbClr val="00B0F0"/>
                </a:solidFill>
              </a:rPr>
              <a:t>SELECT</a:t>
            </a:r>
            <a:r>
              <a:rPr lang="en-US" sz="2000" b="1" dirty="0"/>
              <a:t> </a:t>
            </a:r>
            <a:r>
              <a:rPr lang="en-US" sz="2000" dirty="0"/>
              <a:t>	* 	</a:t>
            </a:r>
          </a:p>
          <a:p>
            <a:pPr lvl="1">
              <a:lnSpc>
                <a:spcPct val="90000"/>
              </a:lnSpc>
            </a:pPr>
            <a:r>
              <a:rPr lang="en-US" sz="2000" b="1" dirty="0"/>
              <a:t>		</a:t>
            </a:r>
            <a:r>
              <a:rPr lang="en-US" sz="2000" b="1" dirty="0">
                <a:solidFill>
                  <a:srgbClr val="00B0F0"/>
                </a:solidFill>
              </a:rPr>
              <a:t>FROM </a:t>
            </a:r>
            <a:r>
              <a:rPr lang="en-US" sz="2000" dirty="0"/>
              <a:t>	EMPLOYEE, DEPARTMENT; 	</a:t>
            </a:r>
          </a:p>
          <a:p>
            <a:pPr lvl="1" algn="just">
              <a:lnSpc>
                <a:spcPct val="150000"/>
              </a:lnSpc>
            </a:pPr>
            <a:endParaRPr lang="en-US" sz="2000" dirty="0">
              <a:latin typeface="Tahoma" pitchFamily="34" charset="0"/>
              <a:ea typeface="Tahoma" pitchFamily="34" charset="0"/>
              <a:cs typeface="Tahoma" pitchFamily="34" charset="0"/>
            </a:endParaRPr>
          </a:p>
          <a:p>
            <a:pPr lvl="1" algn="just">
              <a:lnSpc>
                <a:spcPct val="150000"/>
              </a:lnSpc>
            </a:pPr>
            <a:r>
              <a:rPr lang="en-US" sz="2000" dirty="0">
                <a:latin typeface="Tahoma" pitchFamily="34" charset="0"/>
                <a:ea typeface="Tahoma" pitchFamily="34" charset="0"/>
                <a:cs typeface="Tahoma" pitchFamily="34" charset="0"/>
              </a:rPr>
              <a:t>Q10A specifies </a:t>
            </a:r>
            <a:r>
              <a:rPr lang="en-US" sz="2000" b="1" dirty="0">
                <a:latin typeface="Tahoma" pitchFamily="34" charset="0"/>
                <a:ea typeface="Tahoma" pitchFamily="34" charset="0"/>
                <a:cs typeface="Tahoma" pitchFamily="34" charset="0"/>
              </a:rPr>
              <a:t>CROSS PRODUCT </a:t>
            </a:r>
            <a:r>
              <a:rPr lang="en-US" sz="2000" dirty="0">
                <a:latin typeface="Tahoma" pitchFamily="34" charset="0"/>
                <a:ea typeface="Tahoma" pitchFamily="34" charset="0"/>
                <a:cs typeface="Tahoma" pitchFamily="34" charset="0"/>
              </a:rPr>
              <a:t>of </a:t>
            </a:r>
            <a:r>
              <a:rPr lang="en-US" sz="2000" b="1" dirty="0">
                <a:latin typeface="Tahoma" pitchFamily="34" charset="0"/>
                <a:ea typeface="Tahoma" pitchFamily="34" charset="0"/>
                <a:cs typeface="Tahoma" pitchFamily="34" charset="0"/>
              </a:rPr>
              <a:t>EMPLOYEE</a:t>
            </a:r>
            <a:r>
              <a:rPr lang="en-US" sz="2000" dirty="0">
                <a:latin typeface="Tahoma" pitchFamily="34" charset="0"/>
                <a:ea typeface="Tahoma" pitchFamily="34" charset="0"/>
                <a:cs typeface="Tahoma" pitchFamily="34" charset="0"/>
              </a:rPr>
              <a:t> and </a:t>
            </a:r>
            <a:r>
              <a:rPr lang="en-US" sz="2000" b="1" dirty="0">
                <a:latin typeface="Tahoma" pitchFamily="34" charset="0"/>
                <a:ea typeface="Tahoma" pitchFamily="34" charset="0"/>
                <a:cs typeface="Tahoma" pitchFamily="34" charset="0"/>
              </a:rPr>
              <a:t>DEPARTMENT</a:t>
            </a:r>
          </a:p>
          <a:p>
            <a:pPr marL="342900" lvl="0" indent="-342900" fontAlgn="base">
              <a:lnSpc>
                <a:spcPct val="90000"/>
              </a:lnSpc>
              <a:spcBef>
                <a:spcPct val="20000"/>
              </a:spcBef>
              <a:spcAft>
                <a:spcPct val="0"/>
              </a:spcAft>
            </a:pPr>
            <a:endParaRPr lang="en-US" sz="2000" kern="0" dirty="0">
              <a:solidFill>
                <a:srgbClr val="000000"/>
              </a:solidFill>
            </a:endParaRPr>
          </a:p>
        </p:txBody>
      </p:sp>
    </p:spTree>
  </p:cSld>
  <p:clrMapOvr>
    <a:masterClrMapping/>
  </p:clrMapOvr>
  <p:transition>
    <p:cu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04800" y="152400"/>
            <a:ext cx="8458200" cy="535531"/>
          </a:xfrm>
          <a:prstGeom prst="rect">
            <a:avLst/>
          </a:prstGeom>
          <a:noFill/>
        </p:spPr>
        <p:txBody>
          <a:bodyPr wrap="square" rtlCol="0">
            <a:spAutoFit/>
          </a:bodyPr>
          <a:lstStyle/>
          <a:p>
            <a:pPr>
              <a:lnSpc>
                <a:spcPct val="90000"/>
              </a:lnSpc>
            </a:pPr>
            <a:r>
              <a:rPr lang="en-US" sz="3200" b="1" dirty="0">
                <a:solidFill>
                  <a:srgbClr val="000000"/>
                </a:solidFill>
              </a:rPr>
              <a:t>Use of </a:t>
            </a:r>
            <a:r>
              <a:rPr lang="en-US" sz="3200" b="1" dirty="0">
                <a:solidFill>
                  <a:srgbClr val="002060"/>
                </a:solidFill>
              </a:rPr>
              <a:t> DISTINCT</a:t>
            </a:r>
          </a:p>
        </p:txBody>
      </p:sp>
      <p:sp>
        <p:nvSpPr>
          <p:cNvPr id="6" name="TextBox 5"/>
          <p:cNvSpPr txBox="1"/>
          <p:nvPr/>
        </p:nvSpPr>
        <p:spPr>
          <a:xfrm>
            <a:off x="228600" y="838200"/>
            <a:ext cx="8610600" cy="2720745"/>
          </a:xfrm>
          <a:prstGeom prst="rect">
            <a:avLst/>
          </a:prstGeom>
          <a:noFill/>
        </p:spPr>
        <p:txBody>
          <a:bodyPr wrap="square" rtlCol="0">
            <a:spAutoFit/>
          </a:bodyPr>
          <a:lstStyle/>
          <a:p>
            <a:pPr marL="342900" lvl="0" indent="-342900" algn="just" fontAlgn="base">
              <a:lnSpc>
                <a:spcPct val="150000"/>
              </a:lnSpc>
              <a:spcBef>
                <a:spcPct val="20000"/>
              </a:spcBef>
              <a:spcAft>
                <a:spcPct val="0"/>
              </a:spcAft>
              <a:buFontTx/>
              <a:buChar char="•"/>
            </a:pPr>
            <a:r>
              <a:rPr lang="en-US" sz="1600" b="1" kern="0" dirty="0">
                <a:solidFill>
                  <a:srgbClr val="000000"/>
                </a:solidFill>
                <a:latin typeface="Tahoma" pitchFamily="34" charset="0"/>
                <a:ea typeface="Tahoma" pitchFamily="34" charset="0"/>
                <a:cs typeface="Tahoma" pitchFamily="34" charset="0"/>
              </a:rPr>
              <a:t> </a:t>
            </a:r>
            <a:r>
              <a:rPr lang="en-US" b="1" kern="0" dirty="0">
                <a:solidFill>
                  <a:srgbClr val="000000"/>
                </a:solidFill>
                <a:latin typeface="Tahoma" pitchFamily="34" charset="0"/>
                <a:ea typeface="Tahoma" pitchFamily="34" charset="0"/>
                <a:cs typeface="Tahoma" pitchFamily="34" charset="0"/>
              </a:rPr>
              <a:t>SQL does not treat a relation as a set; </a:t>
            </a:r>
            <a:r>
              <a:rPr lang="en-US" b="1" i="1" kern="0" dirty="0">
                <a:solidFill>
                  <a:srgbClr val="000000"/>
                </a:solidFill>
                <a:latin typeface="Tahoma" pitchFamily="34" charset="0"/>
                <a:ea typeface="Tahoma" pitchFamily="34" charset="0"/>
                <a:cs typeface="Tahoma" pitchFamily="34" charset="0"/>
              </a:rPr>
              <a:t>duplicate tuples can appear</a:t>
            </a:r>
          </a:p>
          <a:p>
            <a:pPr marL="342900" lvl="0" indent="-342900" algn="just" fontAlgn="base">
              <a:lnSpc>
                <a:spcPct val="150000"/>
              </a:lnSpc>
              <a:spcBef>
                <a:spcPct val="20000"/>
              </a:spcBef>
              <a:spcAft>
                <a:spcPct val="0"/>
              </a:spcAft>
              <a:buFontTx/>
              <a:buChar char="•"/>
            </a:pPr>
            <a:r>
              <a:rPr lang="en-US" b="1" kern="0" dirty="0">
                <a:solidFill>
                  <a:srgbClr val="000000"/>
                </a:solidFill>
                <a:latin typeface="Tahoma" pitchFamily="34" charset="0"/>
                <a:ea typeface="Tahoma" pitchFamily="34" charset="0"/>
                <a:cs typeface="Tahoma" pitchFamily="34" charset="0"/>
              </a:rPr>
              <a:t> </a:t>
            </a:r>
            <a:r>
              <a:rPr lang="en-US" b="1" kern="0" dirty="0">
                <a:solidFill>
                  <a:srgbClr val="00B0F0"/>
                </a:solidFill>
                <a:latin typeface="Tahoma" pitchFamily="34" charset="0"/>
                <a:ea typeface="Tahoma" pitchFamily="34" charset="0"/>
                <a:cs typeface="Tahoma" pitchFamily="34" charset="0"/>
              </a:rPr>
              <a:t>DISTINCT</a:t>
            </a:r>
            <a:r>
              <a:rPr lang="en-US" b="1" kern="0" dirty="0">
                <a:solidFill>
                  <a:srgbClr val="000000"/>
                </a:solidFill>
                <a:latin typeface="Tahoma" pitchFamily="34" charset="0"/>
                <a:ea typeface="Tahoma" pitchFamily="34" charset="0"/>
                <a:cs typeface="Tahoma" pitchFamily="34" charset="0"/>
              </a:rPr>
              <a:t> is used to eliminate duplicate  tuples </a:t>
            </a:r>
          </a:p>
          <a:p>
            <a:pPr marL="342900" lvl="0" indent="-342900" algn="just" fontAlgn="base">
              <a:lnSpc>
                <a:spcPct val="150000"/>
              </a:lnSpc>
              <a:spcBef>
                <a:spcPct val="20000"/>
              </a:spcBef>
              <a:spcAft>
                <a:spcPct val="0"/>
              </a:spcAft>
              <a:buFontTx/>
              <a:buChar char="•"/>
            </a:pPr>
            <a:endParaRPr lang="en-US" sz="1600" b="1" kern="0" dirty="0">
              <a:solidFill>
                <a:srgbClr val="000000"/>
              </a:solidFill>
              <a:latin typeface="Tahoma" pitchFamily="34" charset="0"/>
              <a:ea typeface="Tahoma" pitchFamily="34" charset="0"/>
              <a:cs typeface="Tahoma" pitchFamily="34" charset="0"/>
            </a:endParaRPr>
          </a:p>
          <a:p>
            <a:r>
              <a:rPr lang="en-US" sz="1600" dirty="0">
                <a:solidFill>
                  <a:srgbClr val="000000"/>
                </a:solidFill>
                <a:latin typeface="Tahoma" pitchFamily="34" charset="0"/>
                <a:ea typeface="Tahoma" pitchFamily="34" charset="0"/>
                <a:cs typeface="Tahoma" pitchFamily="34" charset="0"/>
              </a:rPr>
              <a:t>Query 11 :  Retrieve the salary of every employee  (Q11) and all distinct salary values (Q11A)</a:t>
            </a:r>
            <a:br>
              <a:rPr lang="en-US" sz="1600" dirty="0">
                <a:solidFill>
                  <a:srgbClr val="000000"/>
                </a:solidFill>
                <a:latin typeface="Tahoma" pitchFamily="34" charset="0"/>
                <a:ea typeface="Tahoma" pitchFamily="34" charset="0"/>
                <a:cs typeface="Tahoma" pitchFamily="34" charset="0"/>
              </a:rPr>
            </a:br>
            <a:endParaRPr lang="en-US" sz="1600" dirty="0">
              <a:solidFill>
                <a:srgbClr val="000000"/>
              </a:solidFill>
              <a:latin typeface="Tahoma" pitchFamily="34" charset="0"/>
              <a:ea typeface="Tahoma" pitchFamily="34" charset="0"/>
              <a:cs typeface="Tahoma" pitchFamily="34" charset="0"/>
            </a:endParaRPr>
          </a:p>
          <a:p>
            <a:r>
              <a:rPr lang="en-US" sz="1600" b="1" dirty="0">
                <a:solidFill>
                  <a:srgbClr val="000000"/>
                </a:solidFill>
                <a:latin typeface="Tahoma" pitchFamily="34" charset="0"/>
                <a:ea typeface="Tahoma" pitchFamily="34" charset="0"/>
                <a:cs typeface="Tahoma" pitchFamily="34" charset="0"/>
              </a:rPr>
              <a:t>	</a:t>
            </a:r>
            <a:r>
              <a:rPr lang="en-US" sz="1600" dirty="0">
                <a:solidFill>
                  <a:srgbClr val="000000"/>
                </a:solidFill>
                <a:latin typeface="Tahoma" pitchFamily="34" charset="0"/>
                <a:ea typeface="Tahoma" pitchFamily="34" charset="0"/>
                <a:cs typeface="Tahoma" pitchFamily="34" charset="0"/>
              </a:rPr>
              <a:t> </a:t>
            </a:r>
            <a:r>
              <a:rPr lang="en-US" b="1" dirty="0">
                <a:solidFill>
                  <a:srgbClr val="000000"/>
                </a:solidFill>
                <a:latin typeface="Tahoma" pitchFamily="34" charset="0"/>
                <a:ea typeface="Tahoma" pitchFamily="34" charset="0"/>
                <a:cs typeface="Tahoma" pitchFamily="34" charset="0"/>
              </a:rPr>
              <a:t>Q11  :  </a:t>
            </a:r>
            <a:r>
              <a:rPr lang="en-US" b="1" dirty="0">
                <a:solidFill>
                  <a:srgbClr val="00B0F0"/>
                </a:solidFill>
                <a:latin typeface="Tahoma" pitchFamily="34" charset="0"/>
                <a:ea typeface="Tahoma" pitchFamily="34" charset="0"/>
                <a:cs typeface="Tahoma" pitchFamily="34" charset="0"/>
              </a:rPr>
              <a:t>SELECT</a:t>
            </a:r>
            <a:r>
              <a:rPr lang="en-US" b="1" dirty="0">
                <a:solidFill>
                  <a:srgbClr val="000000"/>
                </a:solidFill>
                <a:latin typeface="Tahoma" pitchFamily="34" charset="0"/>
                <a:ea typeface="Tahoma" pitchFamily="34" charset="0"/>
                <a:cs typeface="Tahoma" pitchFamily="34" charset="0"/>
              </a:rPr>
              <a:t> 	SALARY  </a:t>
            </a:r>
            <a:r>
              <a:rPr lang="en-US" b="1" dirty="0">
                <a:solidFill>
                  <a:srgbClr val="0070C0"/>
                </a:solidFill>
                <a:latin typeface="Tahoma" pitchFamily="34" charset="0"/>
                <a:ea typeface="Tahoma" pitchFamily="34" charset="0"/>
                <a:cs typeface="Tahoma" pitchFamily="34" charset="0"/>
              </a:rPr>
              <a:t> </a:t>
            </a:r>
            <a:r>
              <a:rPr lang="en-US" b="1" dirty="0">
                <a:solidFill>
                  <a:srgbClr val="00B0F0"/>
                </a:solidFill>
                <a:latin typeface="Tahoma" pitchFamily="34" charset="0"/>
                <a:ea typeface="Tahoma" pitchFamily="34" charset="0"/>
                <a:cs typeface="Tahoma" pitchFamily="34" charset="0"/>
              </a:rPr>
              <a:t>FROM	</a:t>
            </a:r>
            <a:r>
              <a:rPr lang="en-US" b="1" dirty="0">
                <a:solidFill>
                  <a:srgbClr val="000000"/>
                </a:solidFill>
                <a:latin typeface="Tahoma" pitchFamily="34" charset="0"/>
                <a:ea typeface="Tahoma" pitchFamily="34" charset="0"/>
                <a:cs typeface="Tahoma" pitchFamily="34" charset="0"/>
              </a:rPr>
              <a:t> EMPLOYEE;</a:t>
            </a:r>
          </a:p>
          <a:p>
            <a:br>
              <a:rPr lang="en-US" b="1" dirty="0">
                <a:solidFill>
                  <a:srgbClr val="000000"/>
                </a:solidFill>
                <a:latin typeface="Tahoma" pitchFamily="34" charset="0"/>
                <a:ea typeface="Tahoma" pitchFamily="34" charset="0"/>
                <a:cs typeface="Tahoma" pitchFamily="34" charset="0"/>
              </a:rPr>
            </a:br>
            <a:r>
              <a:rPr lang="en-US" b="1" dirty="0">
                <a:solidFill>
                  <a:srgbClr val="000000"/>
                </a:solidFill>
                <a:latin typeface="Tahoma" pitchFamily="34" charset="0"/>
                <a:ea typeface="Tahoma" pitchFamily="34" charset="0"/>
                <a:cs typeface="Tahoma" pitchFamily="34" charset="0"/>
              </a:rPr>
              <a:t> 	</a:t>
            </a:r>
            <a:r>
              <a:rPr lang="en-US" dirty="0">
                <a:solidFill>
                  <a:srgbClr val="000000"/>
                </a:solidFill>
                <a:latin typeface="Tahoma" pitchFamily="34" charset="0"/>
                <a:ea typeface="Tahoma" pitchFamily="34" charset="0"/>
                <a:cs typeface="Tahoma" pitchFamily="34" charset="0"/>
              </a:rPr>
              <a:t> </a:t>
            </a:r>
            <a:r>
              <a:rPr lang="en-US" b="1" dirty="0">
                <a:solidFill>
                  <a:srgbClr val="000000"/>
                </a:solidFill>
                <a:latin typeface="Tahoma" pitchFamily="34" charset="0"/>
                <a:ea typeface="Tahoma" pitchFamily="34" charset="0"/>
                <a:cs typeface="Tahoma" pitchFamily="34" charset="0"/>
              </a:rPr>
              <a:t>Q11A  : </a:t>
            </a:r>
            <a:r>
              <a:rPr lang="en-US" b="1" dirty="0">
                <a:solidFill>
                  <a:srgbClr val="00B0F0"/>
                </a:solidFill>
                <a:latin typeface="Tahoma" pitchFamily="34" charset="0"/>
                <a:ea typeface="Tahoma" pitchFamily="34" charset="0"/>
                <a:cs typeface="Tahoma" pitchFamily="34" charset="0"/>
              </a:rPr>
              <a:t>SELECT </a:t>
            </a:r>
            <a:r>
              <a:rPr lang="en-US" b="1" dirty="0">
                <a:solidFill>
                  <a:srgbClr val="000000"/>
                </a:solidFill>
                <a:latin typeface="Tahoma" pitchFamily="34" charset="0"/>
                <a:ea typeface="Tahoma" pitchFamily="34" charset="0"/>
                <a:cs typeface="Tahoma" pitchFamily="34" charset="0"/>
              </a:rPr>
              <a:t> </a:t>
            </a:r>
            <a:r>
              <a:rPr lang="en-US" b="1" dirty="0">
                <a:solidFill>
                  <a:srgbClr val="00B0F0"/>
                </a:solidFill>
                <a:latin typeface="Tahoma" pitchFamily="34" charset="0"/>
                <a:ea typeface="Tahoma" pitchFamily="34" charset="0"/>
                <a:cs typeface="Tahoma" pitchFamily="34" charset="0"/>
              </a:rPr>
              <a:t>DISTINCT</a:t>
            </a:r>
            <a:r>
              <a:rPr lang="en-US" b="1" dirty="0">
                <a:solidFill>
                  <a:srgbClr val="000000"/>
                </a:solidFill>
                <a:latin typeface="Tahoma" pitchFamily="34" charset="0"/>
                <a:ea typeface="Tahoma" pitchFamily="34" charset="0"/>
                <a:cs typeface="Tahoma" pitchFamily="34" charset="0"/>
              </a:rPr>
              <a:t>  SALARY  </a:t>
            </a:r>
            <a:r>
              <a:rPr lang="en-US" b="1" dirty="0">
                <a:solidFill>
                  <a:srgbClr val="00B0F0"/>
                </a:solidFill>
                <a:latin typeface="Tahoma" pitchFamily="34" charset="0"/>
                <a:ea typeface="Tahoma" pitchFamily="34" charset="0"/>
                <a:cs typeface="Tahoma" pitchFamily="34" charset="0"/>
              </a:rPr>
              <a:t>FROM</a:t>
            </a:r>
            <a:r>
              <a:rPr lang="en-US" b="1" dirty="0">
                <a:solidFill>
                  <a:srgbClr val="000000"/>
                </a:solidFill>
                <a:latin typeface="Tahoma" pitchFamily="34" charset="0"/>
                <a:ea typeface="Tahoma" pitchFamily="34" charset="0"/>
                <a:cs typeface="Tahoma" pitchFamily="34" charset="0"/>
              </a:rPr>
              <a:t>	EMPLOYEE;</a:t>
            </a:r>
          </a:p>
        </p:txBody>
      </p:sp>
      <p:pic>
        <p:nvPicPr>
          <p:cNvPr id="2050" name="Picture 2"/>
          <p:cNvPicPr>
            <a:picLocks noChangeAspect="1" noChangeArrowheads="1"/>
          </p:cNvPicPr>
          <p:nvPr/>
        </p:nvPicPr>
        <p:blipFill>
          <a:blip r:embed="rId3" cstate="print"/>
          <a:srcRect/>
          <a:stretch>
            <a:fillRect/>
          </a:stretch>
        </p:blipFill>
        <p:spPr bwMode="auto">
          <a:xfrm>
            <a:off x="1295400" y="3657600"/>
            <a:ext cx="5486400" cy="2104619"/>
          </a:xfrm>
          <a:prstGeom prst="rect">
            <a:avLst/>
          </a:prstGeom>
          <a:noFill/>
          <a:ln w="9525">
            <a:noFill/>
            <a:miter lim="800000"/>
            <a:headEnd/>
            <a:tailEnd/>
          </a:ln>
          <a:effectLst/>
        </p:spPr>
      </p:pic>
      <p:pic>
        <p:nvPicPr>
          <p:cNvPr id="2051" name="Picture 3"/>
          <p:cNvPicPr>
            <a:picLocks noChangeAspect="1" noChangeArrowheads="1"/>
          </p:cNvPicPr>
          <p:nvPr/>
        </p:nvPicPr>
        <p:blipFill>
          <a:blip r:embed="rId4" cstate="print"/>
          <a:srcRect/>
          <a:stretch>
            <a:fillRect/>
          </a:stretch>
        </p:blipFill>
        <p:spPr bwMode="auto">
          <a:xfrm>
            <a:off x="1143000" y="5867400"/>
            <a:ext cx="1876425" cy="419100"/>
          </a:xfrm>
          <a:prstGeom prst="rect">
            <a:avLst/>
          </a:prstGeom>
          <a:noFill/>
          <a:ln w="9525">
            <a:noFill/>
            <a:miter lim="800000"/>
            <a:headEnd/>
            <a:tailEnd/>
          </a:ln>
          <a:effectLst/>
        </p:spPr>
      </p:pic>
      <p:pic>
        <p:nvPicPr>
          <p:cNvPr id="2052" name="Picture 4"/>
          <p:cNvPicPr>
            <a:picLocks noChangeAspect="1" noChangeArrowheads="1"/>
          </p:cNvPicPr>
          <p:nvPr/>
        </p:nvPicPr>
        <p:blipFill>
          <a:blip r:embed="rId5" cstate="print"/>
          <a:srcRect/>
          <a:stretch>
            <a:fillRect/>
          </a:stretch>
        </p:blipFill>
        <p:spPr bwMode="auto">
          <a:xfrm>
            <a:off x="5334000" y="5791200"/>
            <a:ext cx="1143000" cy="257175"/>
          </a:xfrm>
          <a:prstGeom prst="rect">
            <a:avLst/>
          </a:prstGeom>
          <a:noFill/>
          <a:ln w="9525">
            <a:noFill/>
            <a:miter lim="800000"/>
            <a:headEnd/>
            <a:tailEnd/>
          </a:ln>
          <a:effectLst/>
        </p:spPr>
      </p:pic>
      <p:pic>
        <p:nvPicPr>
          <p:cNvPr id="2053" name="Picture 5"/>
          <p:cNvPicPr>
            <a:picLocks noChangeAspect="1" noChangeArrowheads="1"/>
          </p:cNvPicPr>
          <p:nvPr/>
        </p:nvPicPr>
        <p:blipFill>
          <a:blip r:embed="rId6" cstate="print"/>
          <a:srcRect/>
          <a:stretch>
            <a:fillRect/>
          </a:stretch>
        </p:blipFill>
        <p:spPr bwMode="auto">
          <a:xfrm>
            <a:off x="6553200" y="5791200"/>
            <a:ext cx="774357" cy="304800"/>
          </a:xfrm>
          <a:prstGeom prst="rect">
            <a:avLst/>
          </a:prstGeom>
          <a:noFill/>
          <a:ln w="9525">
            <a:noFill/>
            <a:miter lim="800000"/>
            <a:headEnd/>
            <a:tailEnd/>
          </a:ln>
          <a:effectLst/>
        </p:spPr>
      </p:pic>
    </p:spTree>
  </p:cSld>
  <p:clrMapOvr>
    <a:masterClrMapping/>
  </p:clrMapOvr>
  <p:transition>
    <p:cu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52400"/>
            <a:ext cx="8534400" cy="590931"/>
          </a:xfrm>
          <a:prstGeom prst="rect">
            <a:avLst/>
          </a:prstGeom>
          <a:noFill/>
        </p:spPr>
        <p:txBody>
          <a:bodyPr wrap="square" rtlCol="0">
            <a:spAutoFit/>
          </a:bodyPr>
          <a:lstStyle/>
          <a:p>
            <a:pPr>
              <a:lnSpc>
                <a:spcPct val="90000"/>
              </a:lnSpc>
            </a:pPr>
            <a:r>
              <a:rPr lang="en-US" sz="3600" b="1" dirty="0">
                <a:solidFill>
                  <a:srgbClr val="002060"/>
                </a:solidFill>
              </a:rPr>
              <a:t>Set Theoretic Operations</a:t>
            </a:r>
          </a:p>
        </p:txBody>
      </p:sp>
      <p:sp>
        <p:nvSpPr>
          <p:cNvPr id="6" name="TextBox 5"/>
          <p:cNvSpPr txBox="1"/>
          <p:nvPr/>
        </p:nvSpPr>
        <p:spPr>
          <a:xfrm>
            <a:off x="228600" y="1066800"/>
            <a:ext cx="8610600" cy="4093428"/>
          </a:xfrm>
          <a:prstGeom prst="rect">
            <a:avLst/>
          </a:prstGeom>
          <a:noFill/>
        </p:spPr>
        <p:txBody>
          <a:bodyPr wrap="square" rtlCol="0">
            <a:spAutoFit/>
          </a:bodyPr>
          <a:lstStyle/>
          <a:p>
            <a:pPr marL="800100" lvl="1" indent="-342900">
              <a:lnSpc>
                <a:spcPct val="150000"/>
              </a:lnSpc>
              <a:buFont typeface="Arial" pitchFamily="34" charset="0"/>
              <a:buChar char="•"/>
            </a:pPr>
            <a:r>
              <a:rPr lang="en-US" sz="2400" dirty="0">
                <a:solidFill>
                  <a:srgbClr val="000000"/>
                </a:solidFill>
                <a:latin typeface="Tahoma" pitchFamily="34" charset="0"/>
                <a:ea typeface="Tahoma" pitchFamily="34" charset="0"/>
                <a:cs typeface="Tahoma" pitchFamily="34" charset="0"/>
              </a:rPr>
              <a:t>For union , the  keyword is </a:t>
            </a:r>
            <a:r>
              <a:rPr lang="en-US" sz="2400" b="1" dirty="0">
                <a:solidFill>
                  <a:srgbClr val="00B0F0"/>
                </a:solidFill>
                <a:latin typeface="Tahoma" pitchFamily="34" charset="0"/>
                <a:ea typeface="Tahoma" pitchFamily="34" charset="0"/>
                <a:cs typeface="Tahoma" pitchFamily="34" charset="0"/>
              </a:rPr>
              <a:t>UNION</a:t>
            </a:r>
          </a:p>
          <a:p>
            <a:pPr marL="800100" lvl="1" indent="-342900">
              <a:lnSpc>
                <a:spcPct val="150000"/>
              </a:lnSpc>
              <a:buFont typeface="Arial" pitchFamily="34" charset="0"/>
              <a:buChar char="•"/>
            </a:pPr>
            <a:r>
              <a:rPr lang="en-US" sz="2400" dirty="0">
                <a:solidFill>
                  <a:srgbClr val="000000"/>
                </a:solidFill>
                <a:latin typeface="Tahoma" pitchFamily="34" charset="0"/>
                <a:ea typeface="Tahoma" pitchFamily="34" charset="0"/>
                <a:cs typeface="Tahoma" pitchFamily="34" charset="0"/>
              </a:rPr>
              <a:t>For set difference the keyword is </a:t>
            </a:r>
            <a:r>
              <a:rPr lang="en-US" sz="2400" b="1" dirty="0">
                <a:solidFill>
                  <a:srgbClr val="00B0F0"/>
                </a:solidFill>
                <a:latin typeface="Tahoma" pitchFamily="34" charset="0"/>
                <a:ea typeface="Tahoma" pitchFamily="34" charset="0"/>
                <a:cs typeface="Tahoma" pitchFamily="34" charset="0"/>
              </a:rPr>
              <a:t>EXCEPT</a:t>
            </a:r>
          </a:p>
          <a:p>
            <a:pPr marL="800100" lvl="1" indent="-342900">
              <a:lnSpc>
                <a:spcPct val="150000"/>
              </a:lnSpc>
              <a:buFont typeface="Arial" pitchFamily="34" charset="0"/>
              <a:buChar char="•"/>
            </a:pPr>
            <a:r>
              <a:rPr lang="en-US" sz="2400" dirty="0">
                <a:solidFill>
                  <a:srgbClr val="000000"/>
                </a:solidFill>
                <a:latin typeface="Tahoma" pitchFamily="34" charset="0"/>
                <a:ea typeface="Tahoma" pitchFamily="34" charset="0"/>
                <a:cs typeface="Tahoma" pitchFamily="34" charset="0"/>
              </a:rPr>
              <a:t>For set intersection  the keyword is </a:t>
            </a:r>
            <a:r>
              <a:rPr lang="en-US" sz="2400" b="1" dirty="0">
                <a:solidFill>
                  <a:srgbClr val="00B0F0"/>
                </a:solidFill>
                <a:latin typeface="Tahoma" pitchFamily="34" charset="0"/>
                <a:ea typeface="Tahoma" pitchFamily="34" charset="0"/>
                <a:cs typeface="Tahoma" pitchFamily="34" charset="0"/>
              </a:rPr>
              <a:t>INTERSECT</a:t>
            </a:r>
            <a:r>
              <a:rPr lang="en-US" sz="2400" dirty="0">
                <a:solidFill>
                  <a:srgbClr val="000000"/>
                </a:solidFill>
                <a:latin typeface="Tahoma" pitchFamily="34" charset="0"/>
                <a:ea typeface="Tahoma" pitchFamily="34" charset="0"/>
                <a:cs typeface="Tahoma" pitchFamily="34" charset="0"/>
              </a:rPr>
              <a:t> </a:t>
            </a:r>
          </a:p>
          <a:p>
            <a:pPr lvl="1">
              <a:lnSpc>
                <a:spcPct val="150000"/>
              </a:lnSpc>
              <a:buFont typeface="Arial" pitchFamily="34" charset="0"/>
              <a:buChar char="•"/>
            </a:pPr>
            <a:endParaRPr lang="en-US" sz="1600" dirty="0">
              <a:solidFill>
                <a:srgbClr val="000000"/>
              </a:solidFill>
              <a:latin typeface="Tahoma" pitchFamily="34" charset="0"/>
              <a:ea typeface="Tahoma" pitchFamily="34" charset="0"/>
              <a:cs typeface="Tahoma" pitchFamily="34" charset="0"/>
            </a:endParaRPr>
          </a:p>
          <a:p>
            <a:pPr marL="457200" indent="-457200" algn="just">
              <a:lnSpc>
                <a:spcPct val="200000"/>
              </a:lnSpc>
              <a:buFont typeface="Arial" pitchFamily="34" charset="0"/>
              <a:buChar char="•"/>
            </a:pPr>
            <a:r>
              <a:rPr lang="en-US" sz="2000" dirty="0">
                <a:solidFill>
                  <a:srgbClr val="000000"/>
                </a:solidFill>
                <a:latin typeface="Tahoma" pitchFamily="34" charset="0"/>
                <a:ea typeface="Tahoma" pitchFamily="34" charset="0"/>
                <a:cs typeface="Tahoma" pitchFamily="34" charset="0"/>
              </a:rPr>
              <a:t>The relations  resulting from these operations are set of tuples ; duplicates tuples are eliminated from the result.</a:t>
            </a:r>
          </a:p>
          <a:p>
            <a:pPr marL="457200" indent="-457200" algn="just">
              <a:lnSpc>
                <a:spcPct val="200000"/>
              </a:lnSpc>
              <a:buFont typeface="Arial" pitchFamily="34" charset="0"/>
              <a:buChar char="•"/>
            </a:pPr>
            <a:r>
              <a:rPr lang="en-US" sz="2000" dirty="0">
                <a:solidFill>
                  <a:srgbClr val="000000"/>
                </a:solidFill>
                <a:latin typeface="Tahoma" pitchFamily="34" charset="0"/>
                <a:ea typeface="Tahoma" pitchFamily="34" charset="0"/>
                <a:cs typeface="Tahoma" pitchFamily="34" charset="0"/>
              </a:rPr>
              <a:t>The relations must be </a:t>
            </a:r>
            <a:r>
              <a:rPr lang="en-US" sz="2400" b="1" i="1" dirty="0">
                <a:solidFill>
                  <a:srgbClr val="000000"/>
                </a:solidFill>
                <a:latin typeface="Tahoma" pitchFamily="34" charset="0"/>
                <a:ea typeface="Tahoma" pitchFamily="34" charset="0"/>
                <a:cs typeface="Tahoma" pitchFamily="34" charset="0"/>
              </a:rPr>
              <a:t>type compatible</a:t>
            </a:r>
            <a:endParaRPr lang="en-US" sz="2000" b="1" i="1" dirty="0">
              <a:solidFill>
                <a:srgbClr val="00000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52400"/>
            <a:ext cx="4953000" cy="480131"/>
          </a:xfrm>
          <a:prstGeom prst="rect">
            <a:avLst/>
          </a:prstGeom>
          <a:noFill/>
        </p:spPr>
        <p:txBody>
          <a:bodyPr wrap="square" rtlCol="0">
            <a:spAutoFit/>
          </a:bodyPr>
          <a:lstStyle/>
          <a:p>
            <a:pPr>
              <a:lnSpc>
                <a:spcPct val="90000"/>
              </a:lnSpc>
            </a:pPr>
            <a:r>
              <a:rPr lang="en-US" sz="2800" b="1" dirty="0">
                <a:solidFill>
                  <a:srgbClr val="002060"/>
                </a:solidFill>
              </a:rPr>
              <a:t>Set Theoretic Operations</a:t>
            </a:r>
          </a:p>
        </p:txBody>
      </p:sp>
      <p:pic>
        <p:nvPicPr>
          <p:cNvPr id="4" name="Content Placeholder 3"/>
          <p:cNvPicPr>
            <a:picLocks noGrp="1" noChangeAspect="1" noChangeArrowheads="1"/>
          </p:cNvPicPr>
          <p:nvPr>
            <p:ph idx="1"/>
          </p:nvPr>
        </p:nvPicPr>
        <p:blipFill>
          <a:blip r:embed="rId3" cstate="print"/>
          <a:srcRect/>
          <a:stretch>
            <a:fillRect/>
          </a:stretch>
        </p:blipFill>
        <p:spPr>
          <a:xfrm>
            <a:off x="2438400" y="762000"/>
            <a:ext cx="6505390" cy="5483829"/>
          </a:xfrm>
          <a:noFill/>
        </p:spPr>
      </p:pic>
    </p:spTree>
  </p:cSld>
  <p:clrMapOvr>
    <a:masterClrMapping/>
  </p:clrMapOvr>
  <p:transition>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762000"/>
            <a:ext cx="8763000" cy="1049518"/>
          </a:xfrm>
          <a:prstGeom prst="rect">
            <a:avLst/>
          </a:prstGeom>
          <a:noFill/>
        </p:spPr>
        <p:txBody>
          <a:bodyPr wrap="square" rtlCol="0">
            <a:spAutoFit/>
          </a:bodyPr>
          <a:lstStyle/>
          <a:p>
            <a:r>
              <a:rPr lang="en-US" sz="1600" b="1" u="sng" dirty="0">
                <a:solidFill>
                  <a:srgbClr val="002060"/>
                </a:solidFill>
                <a:latin typeface="Tahoma" pitchFamily="34" charset="0"/>
                <a:ea typeface="Tahoma" pitchFamily="34" charset="0"/>
                <a:cs typeface="Tahoma" pitchFamily="34" charset="0"/>
              </a:rPr>
              <a:t> </a:t>
            </a:r>
          </a:p>
          <a:p>
            <a:pPr>
              <a:lnSpc>
                <a:spcPct val="80000"/>
              </a:lnSpc>
            </a:pPr>
            <a:endParaRPr lang="en-US" sz="2400" u="sng" dirty="0">
              <a:solidFill>
                <a:srgbClr val="000000"/>
              </a:solidFill>
            </a:endParaRPr>
          </a:p>
          <a:p>
            <a:pPr algn="just">
              <a:lnSpc>
                <a:spcPct val="150000"/>
              </a:lnSpc>
              <a:buFont typeface="Arial" pitchFamily="34" charset="0"/>
              <a:buChar char="•"/>
            </a:pPr>
            <a:endParaRPr lang="en-US" b="1" dirty="0">
              <a:solidFill>
                <a:srgbClr val="000000"/>
              </a:solidFill>
              <a:latin typeface="Tahoma" pitchFamily="34" charset="0"/>
              <a:ea typeface="Tahoma" pitchFamily="34" charset="0"/>
              <a:cs typeface="Tahoma" pitchFamily="34" charset="0"/>
            </a:endParaRPr>
          </a:p>
        </p:txBody>
      </p:sp>
      <p:sp>
        <p:nvSpPr>
          <p:cNvPr id="6" name="TextBox 5"/>
          <p:cNvSpPr txBox="1"/>
          <p:nvPr/>
        </p:nvSpPr>
        <p:spPr>
          <a:xfrm>
            <a:off x="228600" y="914400"/>
            <a:ext cx="8686800" cy="1892826"/>
          </a:xfrm>
          <a:prstGeom prst="rect">
            <a:avLst/>
          </a:prstGeom>
          <a:noFill/>
        </p:spPr>
        <p:txBody>
          <a:bodyPr wrap="square" rtlCol="0">
            <a:spAutoFit/>
          </a:bodyPr>
          <a:lstStyle/>
          <a:p>
            <a:pPr>
              <a:lnSpc>
                <a:spcPct val="150000"/>
              </a:lnSpc>
            </a:pPr>
            <a:r>
              <a:rPr lang="en-US" sz="2400" b="1" u="sng" dirty="0">
                <a:solidFill>
                  <a:srgbClr val="000000"/>
                </a:solidFill>
                <a:latin typeface="Tahoma" pitchFamily="34" charset="0"/>
                <a:ea typeface="Tahoma" pitchFamily="34" charset="0"/>
                <a:cs typeface="Tahoma" pitchFamily="34" charset="0"/>
              </a:rPr>
              <a:t>Example for UNION:</a:t>
            </a:r>
          </a:p>
          <a:p>
            <a:pPr algn="just">
              <a:lnSpc>
                <a:spcPct val="150000"/>
              </a:lnSpc>
            </a:pPr>
            <a:r>
              <a:rPr lang="en-US" b="1" dirty="0">
                <a:latin typeface="Tahoma" pitchFamily="34" charset="0"/>
                <a:ea typeface="Tahoma" pitchFamily="34" charset="0"/>
                <a:cs typeface="Tahoma" pitchFamily="34" charset="0"/>
              </a:rPr>
              <a:t>QUERY 4 : </a:t>
            </a:r>
            <a:r>
              <a:rPr lang="en-US" dirty="0">
                <a:latin typeface="Tahoma" pitchFamily="34" charset="0"/>
                <a:ea typeface="Tahoma" pitchFamily="34" charset="0"/>
                <a:cs typeface="Tahoma" pitchFamily="34" charset="0"/>
              </a:rPr>
              <a:t>Make a list of all project numbers for projects that involve an employee whose last name is 'Smith', either as a worker or as a manager of the department that controls the project.</a:t>
            </a:r>
          </a:p>
        </p:txBody>
      </p:sp>
      <p:sp>
        <p:nvSpPr>
          <p:cNvPr id="8" name="TextBox 7"/>
          <p:cNvSpPr txBox="1"/>
          <p:nvPr/>
        </p:nvSpPr>
        <p:spPr>
          <a:xfrm>
            <a:off x="228600" y="152400"/>
            <a:ext cx="8534400" cy="590931"/>
          </a:xfrm>
          <a:prstGeom prst="rect">
            <a:avLst/>
          </a:prstGeom>
          <a:noFill/>
        </p:spPr>
        <p:txBody>
          <a:bodyPr wrap="square" rtlCol="0">
            <a:spAutoFit/>
          </a:bodyPr>
          <a:lstStyle/>
          <a:p>
            <a:pPr>
              <a:lnSpc>
                <a:spcPct val="90000"/>
              </a:lnSpc>
            </a:pPr>
            <a:r>
              <a:rPr lang="en-US" sz="3600" b="1" dirty="0">
                <a:solidFill>
                  <a:srgbClr val="002060"/>
                </a:solidFill>
              </a:rPr>
              <a:t>Set Theoretic Operations</a:t>
            </a:r>
          </a:p>
        </p:txBody>
      </p:sp>
      <p:sp>
        <p:nvSpPr>
          <p:cNvPr id="9" name="Rectangle 8"/>
          <p:cNvSpPr/>
          <p:nvPr/>
        </p:nvSpPr>
        <p:spPr>
          <a:xfrm>
            <a:off x="533400" y="5181600"/>
            <a:ext cx="8001000" cy="1200329"/>
          </a:xfrm>
          <a:prstGeom prst="rect">
            <a:avLst/>
          </a:prstGeom>
        </p:spPr>
        <p:txBody>
          <a:bodyPr wrap="square">
            <a:spAutoFit/>
          </a:bodyPr>
          <a:lstStyle/>
          <a:p>
            <a:pPr lvl="1">
              <a:lnSpc>
                <a:spcPct val="150000"/>
              </a:lnSpc>
            </a:pPr>
            <a:r>
              <a:rPr lang="en-US" sz="1600" b="1" dirty="0">
                <a:latin typeface="Tahoma" pitchFamily="34" charset="0"/>
                <a:ea typeface="Tahoma" pitchFamily="34" charset="0"/>
                <a:cs typeface="Tahoma" pitchFamily="34" charset="0"/>
              </a:rPr>
              <a:t>(</a:t>
            </a:r>
            <a:r>
              <a:rPr lang="en-US" sz="1600" b="1" dirty="0">
                <a:solidFill>
                  <a:srgbClr val="00B0F0"/>
                </a:solidFill>
                <a:latin typeface="Tahoma" pitchFamily="34" charset="0"/>
                <a:ea typeface="Tahoma" pitchFamily="34" charset="0"/>
                <a:cs typeface="Tahoma" pitchFamily="34" charset="0"/>
              </a:rPr>
              <a:t>SELECT DISTINCT </a:t>
            </a:r>
            <a:r>
              <a:rPr lang="en-US" sz="1600" b="1" dirty="0">
                <a:latin typeface="Tahoma" pitchFamily="34" charset="0"/>
                <a:ea typeface="Tahoma" pitchFamily="34" charset="0"/>
                <a:cs typeface="Tahoma" pitchFamily="34" charset="0"/>
              </a:rPr>
              <a:t>PNUMBER </a:t>
            </a:r>
            <a:r>
              <a:rPr lang="en-US" sz="1600" b="1" dirty="0">
                <a:solidFill>
                  <a:srgbClr val="00B0F0"/>
                </a:solidFill>
                <a:latin typeface="Tahoma" pitchFamily="34" charset="0"/>
                <a:ea typeface="Tahoma" pitchFamily="34" charset="0"/>
                <a:cs typeface="Tahoma" pitchFamily="34" charset="0"/>
              </a:rPr>
              <a:t>FROM </a:t>
            </a:r>
            <a:r>
              <a:rPr lang="en-US" sz="1600" b="1" dirty="0">
                <a:latin typeface="Tahoma" pitchFamily="34" charset="0"/>
                <a:ea typeface="Tahoma" pitchFamily="34" charset="0"/>
                <a:cs typeface="Tahoma" pitchFamily="34" charset="0"/>
              </a:rPr>
              <a:t>PROJECT, DEPARTMENT, EMPLOYEE    </a:t>
            </a:r>
            <a:r>
              <a:rPr lang="en-US" sz="1600" b="1" dirty="0">
                <a:solidFill>
                  <a:srgbClr val="00B0F0"/>
                </a:solidFill>
                <a:latin typeface="Tahoma" pitchFamily="34" charset="0"/>
                <a:ea typeface="Tahoma" pitchFamily="34" charset="0"/>
                <a:cs typeface="Tahoma" pitchFamily="34" charset="0"/>
              </a:rPr>
              <a:t>WHERE</a:t>
            </a:r>
            <a:r>
              <a:rPr lang="en-US" sz="1600" b="1" dirty="0">
                <a:solidFill>
                  <a:srgbClr val="000000"/>
                </a:solidFill>
                <a:latin typeface="Tahoma" pitchFamily="34" charset="0"/>
                <a:ea typeface="Tahoma" pitchFamily="34" charset="0"/>
                <a:cs typeface="Tahoma" pitchFamily="34" charset="0"/>
              </a:rPr>
              <a:t>     </a:t>
            </a:r>
            <a:r>
              <a:rPr lang="en-US" sz="1600" b="1" dirty="0">
                <a:solidFill>
                  <a:srgbClr val="C00000"/>
                </a:solidFill>
                <a:latin typeface="Tahoma" pitchFamily="34" charset="0"/>
                <a:ea typeface="Tahoma" pitchFamily="34" charset="0"/>
                <a:cs typeface="Tahoma" pitchFamily="34" charset="0"/>
              </a:rPr>
              <a:t>DNUM=DNUMBER </a:t>
            </a:r>
            <a:r>
              <a:rPr lang="en-US" sz="1600" b="1" dirty="0">
                <a:solidFill>
                  <a:srgbClr val="000000"/>
                </a:solidFill>
                <a:latin typeface="Tahoma" pitchFamily="34" charset="0"/>
                <a:ea typeface="Tahoma" pitchFamily="34" charset="0"/>
                <a:cs typeface="Tahoma" pitchFamily="34" charset="0"/>
              </a:rPr>
              <a:t>AND </a:t>
            </a:r>
            <a:r>
              <a:rPr lang="en-US" sz="1600" b="1" dirty="0">
                <a:solidFill>
                  <a:srgbClr val="C00000"/>
                </a:solidFill>
                <a:latin typeface="Tahoma" pitchFamily="34" charset="0"/>
                <a:ea typeface="Tahoma" pitchFamily="34" charset="0"/>
                <a:cs typeface="Tahoma" pitchFamily="34" charset="0"/>
              </a:rPr>
              <a:t>MGRSSN=SSN</a:t>
            </a:r>
            <a:r>
              <a:rPr lang="en-US" sz="1600" b="1" dirty="0">
                <a:solidFill>
                  <a:srgbClr val="000000"/>
                </a:solidFill>
                <a:latin typeface="Tahoma" pitchFamily="34" charset="0"/>
                <a:ea typeface="Tahoma" pitchFamily="34" charset="0"/>
                <a:cs typeface="Tahoma" pitchFamily="34" charset="0"/>
              </a:rPr>
              <a:t> AND LNAME='Smith‘)</a:t>
            </a:r>
          </a:p>
        </p:txBody>
      </p:sp>
      <p:sp>
        <p:nvSpPr>
          <p:cNvPr id="10" name="Rectangle 9"/>
          <p:cNvSpPr/>
          <p:nvPr/>
        </p:nvSpPr>
        <p:spPr>
          <a:xfrm>
            <a:off x="381000" y="2895600"/>
            <a:ext cx="7696200" cy="1569660"/>
          </a:xfrm>
          <a:prstGeom prst="rect">
            <a:avLst/>
          </a:prstGeom>
        </p:spPr>
        <p:txBody>
          <a:bodyPr wrap="square">
            <a:spAutoFit/>
          </a:bodyPr>
          <a:lstStyle/>
          <a:p>
            <a:pPr lvl="1">
              <a:lnSpc>
                <a:spcPct val="200000"/>
              </a:lnSpc>
            </a:pPr>
            <a:r>
              <a:rPr lang="en-US" sz="1600" b="1" dirty="0">
                <a:solidFill>
                  <a:srgbClr val="000000"/>
                </a:solidFill>
                <a:latin typeface="Tahoma" pitchFamily="34" charset="0"/>
                <a:ea typeface="Tahoma" pitchFamily="34" charset="0"/>
                <a:cs typeface="Tahoma" pitchFamily="34" charset="0"/>
              </a:rPr>
              <a:t>(</a:t>
            </a:r>
            <a:r>
              <a:rPr lang="en-US" sz="1600" b="1" dirty="0">
                <a:solidFill>
                  <a:srgbClr val="00B0F0"/>
                </a:solidFill>
                <a:latin typeface="Tahoma" pitchFamily="34" charset="0"/>
                <a:ea typeface="Tahoma" pitchFamily="34" charset="0"/>
                <a:cs typeface="Tahoma" pitchFamily="34" charset="0"/>
              </a:rPr>
              <a:t>SELECT DISTINCT </a:t>
            </a:r>
            <a:r>
              <a:rPr lang="en-US" sz="1600" b="1" dirty="0">
                <a:solidFill>
                  <a:srgbClr val="000000"/>
                </a:solidFill>
                <a:latin typeface="Tahoma" pitchFamily="34" charset="0"/>
                <a:ea typeface="Tahoma" pitchFamily="34" charset="0"/>
                <a:cs typeface="Tahoma" pitchFamily="34" charset="0"/>
              </a:rPr>
              <a:t>PNUMBER</a:t>
            </a:r>
          </a:p>
          <a:p>
            <a:pPr lvl="1">
              <a:lnSpc>
                <a:spcPct val="200000"/>
              </a:lnSpc>
            </a:pPr>
            <a:r>
              <a:rPr lang="en-US" sz="1600" b="1" dirty="0">
                <a:solidFill>
                  <a:srgbClr val="00B0F0"/>
                </a:solidFill>
                <a:latin typeface="Tahoma" pitchFamily="34" charset="0"/>
                <a:ea typeface="Tahoma" pitchFamily="34" charset="0"/>
                <a:cs typeface="Tahoma" pitchFamily="34" charset="0"/>
              </a:rPr>
              <a:t>FROM </a:t>
            </a:r>
            <a:r>
              <a:rPr lang="en-US" sz="1600" b="1" dirty="0">
                <a:solidFill>
                  <a:srgbClr val="000000"/>
                </a:solidFill>
                <a:latin typeface="Tahoma" pitchFamily="34" charset="0"/>
                <a:ea typeface="Tahoma" pitchFamily="34" charset="0"/>
                <a:cs typeface="Tahoma" pitchFamily="34" charset="0"/>
              </a:rPr>
              <a:t>PROJECT, WORKS_ON, EMPLOYEE</a:t>
            </a:r>
          </a:p>
          <a:p>
            <a:pPr lvl="1">
              <a:lnSpc>
                <a:spcPct val="200000"/>
              </a:lnSpc>
            </a:pPr>
            <a:r>
              <a:rPr lang="en-US" sz="1600" b="1" dirty="0">
                <a:solidFill>
                  <a:srgbClr val="00B0F0"/>
                </a:solidFill>
                <a:latin typeface="Tahoma" pitchFamily="34" charset="0"/>
                <a:ea typeface="Tahoma" pitchFamily="34" charset="0"/>
                <a:cs typeface="Tahoma" pitchFamily="34" charset="0"/>
              </a:rPr>
              <a:t>WHERE </a:t>
            </a:r>
            <a:r>
              <a:rPr lang="en-US" sz="1600" b="1" dirty="0">
                <a:solidFill>
                  <a:srgbClr val="C00000"/>
                </a:solidFill>
                <a:latin typeface="Tahoma" pitchFamily="34" charset="0"/>
                <a:ea typeface="Tahoma" pitchFamily="34" charset="0"/>
                <a:cs typeface="Tahoma" pitchFamily="34" charset="0"/>
              </a:rPr>
              <a:t>PNUMBER=PNO </a:t>
            </a:r>
            <a:r>
              <a:rPr lang="en-US" sz="1600" b="1" dirty="0">
                <a:solidFill>
                  <a:srgbClr val="000000"/>
                </a:solidFill>
                <a:latin typeface="Tahoma" pitchFamily="34" charset="0"/>
                <a:ea typeface="Tahoma" pitchFamily="34" charset="0"/>
                <a:cs typeface="Tahoma" pitchFamily="34" charset="0"/>
              </a:rPr>
              <a:t>AND </a:t>
            </a:r>
            <a:r>
              <a:rPr lang="en-US" sz="1600" b="1" dirty="0">
                <a:solidFill>
                  <a:srgbClr val="C00000"/>
                </a:solidFill>
                <a:latin typeface="Tahoma" pitchFamily="34" charset="0"/>
                <a:ea typeface="Tahoma" pitchFamily="34" charset="0"/>
                <a:cs typeface="Tahoma" pitchFamily="34" charset="0"/>
              </a:rPr>
              <a:t>ESSN=SSN </a:t>
            </a:r>
            <a:r>
              <a:rPr lang="en-US" sz="1600" b="1" dirty="0">
                <a:solidFill>
                  <a:srgbClr val="000000"/>
                </a:solidFill>
                <a:latin typeface="Tahoma" pitchFamily="34" charset="0"/>
                <a:ea typeface="Tahoma" pitchFamily="34" charset="0"/>
                <a:cs typeface="Tahoma" pitchFamily="34" charset="0"/>
              </a:rPr>
              <a:t> </a:t>
            </a:r>
            <a:r>
              <a:rPr lang="en-US" sz="1600" b="1" dirty="0">
                <a:solidFill>
                  <a:srgbClr val="00B0F0"/>
                </a:solidFill>
                <a:latin typeface="Tahoma" pitchFamily="34" charset="0"/>
                <a:ea typeface="Tahoma" pitchFamily="34" charset="0"/>
                <a:cs typeface="Tahoma" pitchFamily="34" charset="0"/>
              </a:rPr>
              <a:t>AND</a:t>
            </a:r>
            <a:r>
              <a:rPr lang="en-US" sz="1600" b="1" dirty="0">
                <a:solidFill>
                  <a:srgbClr val="000000"/>
                </a:solidFill>
                <a:latin typeface="Tahoma" pitchFamily="34" charset="0"/>
                <a:ea typeface="Tahoma" pitchFamily="34" charset="0"/>
                <a:cs typeface="Tahoma" pitchFamily="34" charset="0"/>
              </a:rPr>
              <a:t> LNAME='Smith');</a:t>
            </a:r>
          </a:p>
        </p:txBody>
      </p:sp>
      <p:sp>
        <p:nvSpPr>
          <p:cNvPr id="11" name="Rectangle 10"/>
          <p:cNvSpPr/>
          <p:nvPr/>
        </p:nvSpPr>
        <p:spPr>
          <a:xfrm>
            <a:off x="1143000" y="4648200"/>
            <a:ext cx="1000595" cy="369332"/>
          </a:xfrm>
          <a:prstGeom prst="rect">
            <a:avLst/>
          </a:prstGeom>
        </p:spPr>
        <p:txBody>
          <a:bodyPr wrap="none">
            <a:spAutoFit/>
          </a:bodyPr>
          <a:lstStyle/>
          <a:p>
            <a:r>
              <a:rPr lang="en-US" b="1" dirty="0">
                <a:solidFill>
                  <a:srgbClr val="00B0F0"/>
                </a:solidFill>
                <a:latin typeface="Tahoma" pitchFamily="34" charset="0"/>
                <a:ea typeface="Tahoma" pitchFamily="34" charset="0"/>
                <a:cs typeface="Tahoma" pitchFamily="34" charset="0"/>
              </a:rPr>
              <a:t>UNION</a:t>
            </a:r>
            <a:endParaRPr lang="en-IN"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 calcmode="lin" valueType="num">
                                      <p:cBhvr additive="base">
                                        <p:cTn id="1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 calcmode="lin" valueType="num">
                                      <p:cBhvr additive="base">
                                        <p:cTn id="1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anim calcmode="lin" valueType="num">
                                      <p:cBhvr additive="base">
                                        <p:cTn id="21"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 calcmode="lin" valueType="num">
                                      <p:cBhvr additive="base">
                                        <p:cTn id="2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build="p"/>
      <p:bldP spid="1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228600"/>
            <a:ext cx="4038600" cy="535531"/>
          </a:xfrm>
          <a:prstGeom prst="rect">
            <a:avLst/>
          </a:prstGeom>
          <a:noFill/>
        </p:spPr>
        <p:txBody>
          <a:bodyPr wrap="square" rtlCol="0">
            <a:spAutoFit/>
          </a:bodyPr>
          <a:lstStyle/>
          <a:p>
            <a:pPr>
              <a:lnSpc>
                <a:spcPct val="90000"/>
              </a:lnSpc>
            </a:pPr>
            <a:r>
              <a:rPr lang="en-US" sz="3200" b="1" dirty="0" err="1">
                <a:solidFill>
                  <a:srgbClr val="002060"/>
                </a:solidFill>
              </a:rPr>
              <a:t>MultiSet</a:t>
            </a:r>
            <a:r>
              <a:rPr lang="en-US" sz="3200" b="1" dirty="0">
                <a:solidFill>
                  <a:srgbClr val="002060"/>
                </a:solidFill>
              </a:rPr>
              <a:t> Operations</a:t>
            </a:r>
          </a:p>
        </p:txBody>
      </p:sp>
      <p:sp>
        <p:nvSpPr>
          <p:cNvPr id="6" name="TextBox 5"/>
          <p:cNvSpPr txBox="1"/>
          <p:nvPr/>
        </p:nvSpPr>
        <p:spPr>
          <a:xfrm>
            <a:off x="228600" y="1066800"/>
            <a:ext cx="8610600" cy="3924151"/>
          </a:xfrm>
          <a:prstGeom prst="rect">
            <a:avLst/>
          </a:prstGeom>
          <a:noFill/>
        </p:spPr>
        <p:txBody>
          <a:bodyPr wrap="square" rtlCol="0">
            <a:spAutoFit/>
          </a:bodyPr>
          <a:lstStyle/>
          <a:p>
            <a:pPr>
              <a:lnSpc>
                <a:spcPct val="150000"/>
              </a:lnSpc>
            </a:pPr>
            <a:r>
              <a:rPr lang="en-US" sz="2400" b="1" dirty="0">
                <a:solidFill>
                  <a:srgbClr val="000000"/>
                </a:solidFill>
                <a:latin typeface="Tahoma" pitchFamily="34" charset="0"/>
                <a:ea typeface="Tahoma" pitchFamily="34" charset="0"/>
                <a:cs typeface="Tahoma" pitchFamily="34" charset="0"/>
              </a:rPr>
              <a:t>3 multi set operations</a:t>
            </a:r>
            <a:r>
              <a:rPr lang="en-US" b="1" dirty="0">
                <a:solidFill>
                  <a:srgbClr val="000000"/>
                </a:solidFill>
                <a:latin typeface="Tahoma" pitchFamily="34" charset="0"/>
                <a:ea typeface="Tahoma" pitchFamily="34" charset="0"/>
                <a:cs typeface="Tahoma" pitchFamily="34" charset="0"/>
              </a:rPr>
              <a:t>:</a:t>
            </a:r>
          </a:p>
          <a:p>
            <a:pPr marL="800100" lvl="1" indent="-342900">
              <a:lnSpc>
                <a:spcPct val="150000"/>
              </a:lnSpc>
              <a:buFont typeface="+mj-lt"/>
              <a:buAutoNum type="arabicPeriod"/>
            </a:pPr>
            <a:r>
              <a:rPr lang="en-US" dirty="0">
                <a:solidFill>
                  <a:srgbClr val="00B0F0"/>
                </a:solidFill>
                <a:latin typeface="Tahoma" pitchFamily="34" charset="0"/>
                <a:ea typeface="Tahoma" pitchFamily="34" charset="0"/>
                <a:cs typeface="Tahoma" pitchFamily="34" charset="0"/>
              </a:rPr>
              <a:t> </a:t>
            </a:r>
            <a:r>
              <a:rPr lang="en-US" b="1" dirty="0">
                <a:solidFill>
                  <a:srgbClr val="00B0F0"/>
                </a:solidFill>
                <a:latin typeface="Tahoma" pitchFamily="34" charset="0"/>
                <a:ea typeface="Tahoma" pitchFamily="34" charset="0"/>
                <a:cs typeface="Tahoma" pitchFamily="34" charset="0"/>
              </a:rPr>
              <a:t>UNION ALL</a:t>
            </a:r>
          </a:p>
          <a:p>
            <a:pPr marL="800100" lvl="1" indent="-342900">
              <a:lnSpc>
                <a:spcPct val="150000"/>
              </a:lnSpc>
              <a:buFont typeface="+mj-lt"/>
              <a:buAutoNum type="arabicPeriod"/>
            </a:pPr>
            <a:r>
              <a:rPr lang="en-US" b="1" dirty="0">
                <a:solidFill>
                  <a:srgbClr val="00B0F0"/>
                </a:solidFill>
                <a:latin typeface="Tahoma" pitchFamily="34" charset="0"/>
                <a:ea typeface="Tahoma" pitchFamily="34" charset="0"/>
                <a:cs typeface="Tahoma" pitchFamily="34" charset="0"/>
              </a:rPr>
              <a:t>EXCEPT ALL</a:t>
            </a:r>
          </a:p>
          <a:p>
            <a:pPr marL="800100" lvl="1" indent="-342900">
              <a:lnSpc>
                <a:spcPct val="150000"/>
              </a:lnSpc>
              <a:buFont typeface="+mj-lt"/>
              <a:buAutoNum type="arabicPeriod"/>
            </a:pPr>
            <a:r>
              <a:rPr lang="en-US" b="1" dirty="0">
                <a:solidFill>
                  <a:srgbClr val="00B0F0"/>
                </a:solidFill>
                <a:latin typeface="Tahoma" pitchFamily="34" charset="0"/>
                <a:ea typeface="Tahoma" pitchFamily="34" charset="0"/>
                <a:cs typeface="Tahoma" pitchFamily="34" charset="0"/>
              </a:rPr>
              <a:t>INTERSECT  ALL</a:t>
            </a:r>
            <a:r>
              <a:rPr lang="en-US" b="1" dirty="0">
                <a:solidFill>
                  <a:srgbClr val="000000"/>
                </a:solidFill>
                <a:latin typeface="Tahoma" pitchFamily="34" charset="0"/>
                <a:ea typeface="Tahoma" pitchFamily="34" charset="0"/>
                <a:cs typeface="Tahoma" pitchFamily="34" charset="0"/>
              </a:rPr>
              <a:t> </a:t>
            </a:r>
          </a:p>
          <a:p>
            <a:pPr lvl="1">
              <a:lnSpc>
                <a:spcPct val="150000"/>
              </a:lnSpc>
              <a:buFont typeface="Arial" pitchFamily="34" charset="0"/>
              <a:buChar char="•"/>
            </a:pPr>
            <a:endParaRPr lang="en-US" sz="1600" dirty="0">
              <a:solidFill>
                <a:srgbClr val="000000"/>
              </a:solidFill>
              <a:latin typeface="Tahoma" pitchFamily="34" charset="0"/>
              <a:ea typeface="Tahoma" pitchFamily="34" charset="0"/>
              <a:cs typeface="Tahoma" pitchFamily="34" charset="0"/>
            </a:endParaRPr>
          </a:p>
          <a:p>
            <a:pPr marL="342900" indent="-342900" algn="just">
              <a:lnSpc>
                <a:spcPct val="200000"/>
              </a:lnSpc>
              <a:buFont typeface="Arial" pitchFamily="34" charset="0"/>
              <a:buChar char="•"/>
            </a:pPr>
            <a:r>
              <a:rPr lang="en-US" dirty="0">
                <a:solidFill>
                  <a:srgbClr val="000000"/>
                </a:solidFill>
                <a:latin typeface="Tahoma" pitchFamily="34" charset="0"/>
                <a:ea typeface="Tahoma" pitchFamily="34" charset="0"/>
                <a:cs typeface="Tahoma" pitchFamily="34" charset="0"/>
              </a:rPr>
              <a:t>Their results are multi set (</a:t>
            </a:r>
            <a:r>
              <a:rPr lang="en-US" dirty="0">
                <a:solidFill>
                  <a:srgbClr val="C00000"/>
                </a:solidFill>
                <a:latin typeface="Tahoma" pitchFamily="34" charset="0"/>
                <a:ea typeface="Tahoma" pitchFamily="34" charset="0"/>
                <a:cs typeface="Tahoma" pitchFamily="34" charset="0"/>
              </a:rPr>
              <a:t>duplicates are not removed </a:t>
            </a:r>
            <a:r>
              <a:rPr lang="en-US" dirty="0">
                <a:solidFill>
                  <a:srgbClr val="000000"/>
                </a:solidFill>
                <a:latin typeface="Tahoma" pitchFamily="34" charset="0"/>
                <a:ea typeface="Tahoma" pitchFamily="34" charset="0"/>
                <a:cs typeface="Tahoma" pitchFamily="34" charset="0"/>
              </a:rPr>
              <a:t>) .</a:t>
            </a:r>
          </a:p>
          <a:p>
            <a:pPr marL="342900" indent="-342900" algn="just">
              <a:lnSpc>
                <a:spcPct val="200000"/>
              </a:lnSpc>
              <a:buFont typeface="Arial" pitchFamily="34" charset="0"/>
              <a:buChar char="•"/>
            </a:pPr>
            <a:r>
              <a:rPr lang="en-US" dirty="0">
                <a:solidFill>
                  <a:srgbClr val="000000"/>
                </a:solidFill>
                <a:latin typeface="Tahoma" pitchFamily="34" charset="0"/>
                <a:ea typeface="Tahoma" pitchFamily="34" charset="0"/>
                <a:cs typeface="Tahoma" pitchFamily="34" charset="0"/>
              </a:rPr>
              <a:t>Basically, each tuple-whether it is a duplicate or not -is considered as a different tuple when applying these operations.</a:t>
            </a:r>
            <a:endParaRPr lang="en-US" b="1" i="1" dirty="0">
              <a:solidFill>
                <a:srgbClr val="00000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Grp="1" noChangeAspect="1" noChangeArrowheads="1"/>
          </p:cNvPicPr>
          <p:nvPr>
            <p:ph idx="1"/>
          </p:nvPr>
        </p:nvPicPr>
        <p:blipFill>
          <a:blip r:embed="rId3" cstate="print"/>
          <a:srcRect/>
          <a:stretch>
            <a:fillRect/>
          </a:stretch>
        </p:blipFill>
        <p:spPr>
          <a:xfrm>
            <a:off x="3581400" y="838200"/>
            <a:ext cx="4267200" cy="4353357"/>
          </a:xfrm>
        </p:spPr>
      </p:pic>
      <p:sp>
        <p:nvSpPr>
          <p:cNvPr id="8" name="Rectangle 2"/>
          <p:cNvSpPr txBox="1">
            <a:spLocks noChangeArrowheads="1"/>
          </p:cNvSpPr>
          <p:nvPr/>
        </p:nvSpPr>
        <p:spPr bwMode="auto">
          <a:xfrm>
            <a:off x="457200" y="5334000"/>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lgn="ctr" fontAlgn="base">
              <a:spcBef>
                <a:spcPct val="0"/>
              </a:spcBef>
              <a:spcAft>
                <a:spcPct val="0"/>
              </a:spcAft>
              <a:defRPr/>
            </a:pPr>
            <a:r>
              <a:rPr kumimoji="0" lang="en-US" sz="2000" b="0" i="0" u="none" strike="noStrike" kern="0" cap="none" spc="0" normalizeH="0" baseline="0" noProof="0" dirty="0">
                <a:ln>
                  <a:noFill/>
                </a:ln>
                <a:solidFill>
                  <a:schemeClr val="tx2"/>
                </a:solidFill>
                <a:effectLst/>
                <a:uLnTx/>
                <a:uFillTx/>
                <a:latin typeface="+mj-lt"/>
                <a:ea typeface="+mj-ea"/>
                <a:cs typeface="+mj-cs"/>
              </a:rPr>
              <a:t>Figure 8.5</a:t>
            </a:r>
            <a:r>
              <a:rPr kumimoji="0" lang="en-US" sz="2000" b="1" i="0" u="none" strike="noStrike" kern="0" cap="none" spc="0" normalizeH="0" baseline="0" noProof="0" dirty="0">
                <a:ln>
                  <a:noFill/>
                </a:ln>
                <a:solidFill>
                  <a:schemeClr val="tx2"/>
                </a:solidFill>
                <a:effectLst/>
                <a:uLnTx/>
                <a:uFillTx/>
                <a:latin typeface="+mj-lt"/>
                <a:ea typeface="+mj-ea"/>
                <a:cs typeface="+mj-cs"/>
              </a:rPr>
              <a:t>  </a:t>
            </a:r>
            <a:r>
              <a:rPr kumimoji="0" lang="en-US" sz="2000" b="0" i="0" u="none" strike="noStrike" kern="0" cap="none" spc="0" normalizeH="0" baseline="0" noProof="0" dirty="0">
                <a:ln>
                  <a:noFill/>
                </a:ln>
                <a:solidFill>
                  <a:schemeClr val="tx2"/>
                </a:solidFill>
                <a:effectLst/>
                <a:uLnTx/>
                <a:uFillTx/>
                <a:latin typeface="+mj-lt"/>
                <a:ea typeface="+mj-ea"/>
                <a:cs typeface="+mj-cs"/>
              </a:rPr>
              <a:t>The results of SQL multiset operations. (a) Two tables, R(A) and S(A). (b) R(A) </a:t>
            </a:r>
            <a:r>
              <a:rPr kumimoji="0" lang="en-US" sz="2000" b="0" i="0" u="none" strike="noStrike" kern="0" cap="none" spc="0" normalizeH="0" baseline="0" noProof="0" dirty="0">
                <a:ln>
                  <a:noFill/>
                </a:ln>
                <a:solidFill>
                  <a:srgbClr val="00B0F0"/>
                </a:solidFill>
                <a:effectLst/>
                <a:uLnTx/>
                <a:uFillTx/>
                <a:latin typeface="+mj-lt"/>
                <a:ea typeface="+mj-ea"/>
                <a:cs typeface="+mj-cs"/>
              </a:rPr>
              <a:t>UNION ALL</a:t>
            </a:r>
            <a:r>
              <a:rPr kumimoji="0" lang="en-US" sz="2000" b="0" i="0" u="none" strike="noStrike" kern="0" cap="none" spc="0" normalizeH="0" baseline="0" noProof="0" dirty="0">
                <a:ln>
                  <a:noFill/>
                </a:ln>
                <a:solidFill>
                  <a:schemeClr val="tx2"/>
                </a:solidFill>
                <a:effectLst/>
                <a:uLnTx/>
                <a:uFillTx/>
                <a:latin typeface="+mj-lt"/>
                <a:ea typeface="+mj-ea"/>
                <a:cs typeface="+mj-cs"/>
              </a:rPr>
              <a:t> S(A). (c) R(A) </a:t>
            </a:r>
            <a:r>
              <a:rPr kumimoji="0" lang="en-US" sz="2000" b="0" i="0" u="none" strike="noStrike" kern="0" cap="none" spc="0" normalizeH="0" baseline="0" noProof="0" dirty="0">
                <a:ln>
                  <a:noFill/>
                </a:ln>
                <a:solidFill>
                  <a:srgbClr val="00B0F0"/>
                </a:solidFill>
                <a:effectLst/>
                <a:uLnTx/>
                <a:uFillTx/>
                <a:latin typeface="+mj-lt"/>
                <a:ea typeface="+mj-ea"/>
                <a:cs typeface="+mj-cs"/>
              </a:rPr>
              <a:t>EXCEPT </a:t>
            </a:r>
            <a:r>
              <a:rPr lang="en-US" sz="2000" kern="0" dirty="0">
                <a:solidFill>
                  <a:srgbClr val="00B0F0"/>
                </a:solidFill>
              </a:rPr>
              <a:t>ALL</a:t>
            </a:r>
            <a:r>
              <a:rPr lang="en-US" sz="2000" kern="0" dirty="0">
                <a:solidFill>
                  <a:schemeClr val="tx2"/>
                </a:solidFill>
              </a:rPr>
              <a:t> </a:t>
            </a:r>
            <a:r>
              <a:rPr kumimoji="0" lang="en-US" sz="2000" b="0" i="0" u="none" strike="noStrike" kern="0" cap="none" spc="0" normalizeH="0" baseline="0" noProof="0" dirty="0">
                <a:ln>
                  <a:noFill/>
                </a:ln>
                <a:solidFill>
                  <a:schemeClr val="tx2"/>
                </a:solidFill>
                <a:effectLst/>
                <a:uLnTx/>
                <a:uFillTx/>
                <a:latin typeface="+mj-lt"/>
                <a:ea typeface="+mj-ea"/>
                <a:cs typeface="+mj-cs"/>
              </a:rPr>
              <a:t>S(A). </a:t>
            </a:r>
          </a:p>
          <a:p>
            <a:pPr lvl="0" algn="ctr" fontAlgn="base">
              <a:spcBef>
                <a:spcPct val="0"/>
              </a:spcBef>
              <a:spcAft>
                <a:spcPct val="0"/>
              </a:spcAft>
              <a:defRPr/>
            </a:pPr>
            <a:r>
              <a:rPr kumimoji="0" lang="en-US" sz="2000" b="0" i="0" u="none" strike="noStrike" kern="0" cap="none" spc="0" normalizeH="0" baseline="0" noProof="0" dirty="0">
                <a:ln>
                  <a:noFill/>
                </a:ln>
                <a:solidFill>
                  <a:schemeClr val="tx2"/>
                </a:solidFill>
                <a:effectLst/>
                <a:uLnTx/>
                <a:uFillTx/>
                <a:latin typeface="+mj-lt"/>
                <a:ea typeface="+mj-ea"/>
                <a:cs typeface="+mj-cs"/>
              </a:rPr>
              <a:t>(d) R(A) </a:t>
            </a:r>
            <a:r>
              <a:rPr kumimoji="0" lang="en-US" sz="2000" b="0" i="0" u="none" strike="noStrike" kern="0" cap="none" spc="0" normalizeH="0" baseline="0" noProof="0" dirty="0">
                <a:ln>
                  <a:noFill/>
                </a:ln>
                <a:solidFill>
                  <a:srgbClr val="00B0F0"/>
                </a:solidFill>
                <a:effectLst/>
                <a:uLnTx/>
                <a:uFillTx/>
                <a:latin typeface="+mj-lt"/>
                <a:ea typeface="+mj-ea"/>
                <a:cs typeface="+mj-cs"/>
              </a:rPr>
              <a:t>INTERSECT </a:t>
            </a:r>
            <a:r>
              <a:rPr lang="en-US" sz="2000" kern="0" dirty="0">
                <a:solidFill>
                  <a:srgbClr val="00B0F0"/>
                </a:solidFill>
              </a:rPr>
              <a:t>ALL</a:t>
            </a:r>
            <a:r>
              <a:rPr lang="en-US" sz="2000" kern="0" dirty="0">
                <a:solidFill>
                  <a:schemeClr val="tx2"/>
                </a:solidFill>
              </a:rPr>
              <a:t> </a:t>
            </a:r>
            <a:r>
              <a:rPr kumimoji="0" lang="en-US" sz="2000" b="0" i="0" u="none" strike="noStrike" kern="0" cap="none" spc="0" normalizeH="0" baseline="0" noProof="0" dirty="0">
                <a:ln>
                  <a:noFill/>
                </a:ln>
                <a:solidFill>
                  <a:schemeClr val="tx2"/>
                </a:solidFill>
                <a:effectLst/>
                <a:uLnTx/>
                <a:uFillTx/>
                <a:latin typeface="+mj-lt"/>
                <a:ea typeface="+mj-ea"/>
                <a:cs typeface="+mj-cs"/>
              </a:rPr>
              <a:t>S(A).</a:t>
            </a:r>
          </a:p>
        </p:txBody>
      </p:sp>
      <p:sp>
        <p:nvSpPr>
          <p:cNvPr id="6" name="TextBox 5"/>
          <p:cNvSpPr txBox="1"/>
          <p:nvPr/>
        </p:nvSpPr>
        <p:spPr>
          <a:xfrm>
            <a:off x="304800" y="1143000"/>
            <a:ext cx="2133600" cy="523220"/>
          </a:xfrm>
          <a:prstGeom prst="rect">
            <a:avLst/>
          </a:prstGeom>
          <a:noFill/>
        </p:spPr>
        <p:txBody>
          <a:bodyPr wrap="square" rtlCol="0">
            <a:spAutoFit/>
          </a:bodyPr>
          <a:lstStyle/>
          <a:p>
            <a:r>
              <a:rPr lang="en-US" sz="2800" b="1" dirty="0">
                <a:latin typeface="Tahoma" pitchFamily="34" charset="0"/>
                <a:ea typeface="Tahoma" pitchFamily="34" charset="0"/>
                <a:cs typeface="Tahoma" pitchFamily="34" charset="0"/>
              </a:rPr>
              <a:t>Examples</a:t>
            </a:r>
            <a:r>
              <a:rPr lang="en-US" sz="2800" dirty="0"/>
              <a:t> </a:t>
            </a:r>
          </a:p>
        </p:txBody>
      </p:sp>
      <p:sp>
        <p:nvSpPr>
          <p:cNvPr id="10" name="TextBox 9"/>
          <p:cNvSpPr txBox="1"/>
          <p:nvPr/>
        </p:nvSpPr>
        <p:spPr>
          <a:xfrm>
            <a:off x="152400" y="228600"/>
            <a:ext cx="4038600" cy="535531"/>
          </a:xfrm>
          <a:prstGeom prst="rect">
            <a:avLst/>
          </a:prstGeom>
          <a:noFill/>
        </p:spPr>
        <p:txBody>
          <a:bodyPr wrap="square" rtlCol="0">
            <a:spAutoFit/>
          </a:bodyPr>
          <a:lstStyle/>
          <a:p>
            <a:pPr>
              <a:lnSpc>
                <a:spcPct val="90000"/>
              </a:lnSpc>
            </a:pPr>
            <a:r>
              <a:rPr lang="en-US" sz="3200" b="1" dirty="0" err="1">
                <a:solidFill>
                  <a:srgbClr val="002060"/>
                </a:solidFill>
              </a:rPr>
              <a:t>MultiSet</a:t>
            </a:r>
            <a:r>
              <a:rPr lang="en-US" sz="3200" b="1" dirty="0">
                <a:solidFill>
                  <a:srgbClr val="002060"/>
                </a:solidFill>
              </a:rPr>
              <a:t> Operations</a:t>
            </a:r>
          </a:p>
        </p:txBody>
      </p:sp>
    </p:spTree>
  </p:cSld>
  <p:clrMapOvr>
    <a:masterClrMapping/>
  </p:clrMapOvr>
  <p:transition>
    <p:cu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152400"/>
            <a:ext cx="5181600" cy="480131"/>
          </a:xfrm>
          <a:prstGeom prst="rect">
            <a:avLst/>
          </a:prstGeom>
          <a:noFill/>
        </p:spPr>
        <p:txBody>
          <a:bodyPr wrap="square" rtlCol="0">
            <a:spAutoFit/>
          </a:bodyPr>
          <a:lstStyle/>
          <a:p>
            <a:pPr>
              <a:lnSpc>
                <a:spcPct val="90000"/>
              </a:lnSpc>
            </a:pPr>
            <a:r>
              <a:rPr lang="en-US" sz="2800" b="1" dirty="0">
                <a:solidFill>
                  <a:srgbClr val="002060"/>
                </a:solidFill>
              </a:rPr>
              <a:t>Substring Pattern Matching</a:t>
            </a:r>
            <a:endParaRPr lang="en-US" sz="2000" b="1" dirty="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304800" y="838200"/>
            <a:ext cx="8610600" cy="2492990"/>
          </a:xfrm>
          <a:prstGeom prst="rect">
            <a:avLst/>
          </a:prstGeom>
          <a:noFill/>
        </p:spPr>
        <p:txBody>
          <a:bodyPr wrap="square" rtlCol="0">
            <a:spAutoFit/>
          </a:bodyPr>
          <a:lstStyle/>
          <a:p>
            <a:pPr marL="342900" indent="-342900" algn="just">
              <a:lnSpc>
                <a:spcPct val="150000"/>
              </a:lnSpc>
              <a:buFont typeface="Arial" pitchFamily="34" charset="0"/>
              <a:buChar char="•"/>
            </a:pPr>
            <a:r>
              <a:rPr lang="en-US" sz="2000" b="1" dirty="0">
                <a:solidFill>
                  <a:srgbClr val="000000"/>
                </a:solidFill>
                <a:latin typeface="Tahoma" pitchFamily="34" charset="0"/>
                <a:ea typeface="Tahoma" pitchFamily="34" charset="0"/>
                <a:cs typeface="Tahoma" pitchFamily="34" charset="0"/>
              </a:rPr>
              <a:t>The</a:t>
            </a:r>
            <a:r>
              <a:rPr lang="en-US" sz="2000" b="1" dirty="0">
                <a:solidFill>
                  <a:srgbClr val="00B0F0"/>
                </a:solidFill>
                <a:latin typeface="Tahoma" pitchFamily="34" charset="0"/>
                <a:ea typeface="Tahoma" pitchFamily="34" charset="0"/>
                <a:cs typeface="Tahoma" pitchFamily="34" charset="0"/>
              </a:rPr>
              <a:t> LIKE </a:t>
            </a:r>
            <a:r>
              <a:rPr lang="en-US" sz="2000" b="1" dirty="0">
                <a:solidFill>
                  <a:srgbClr val="000000"/>
                </a:solidFill>
                <a:latin typeface="Tahoma" pitchFamily="34" charset="0"/>
                <a:ea typeface="Tahoma" pitchFamily="34" charset="0"/>
                <a:cs typeface="Tahoma" pitchFamily="34" charset="0"/>
              </a:rPr>
              <a:t>comparison operator </a:t>
            </a:r>
            <a:r>
              <a:rPr lang="en-US" sz="2000" b="1" dirty="0">
                <a:latin typeface="Tahoma" pitchFamily="34" charset="0"/>
                <a:ea typeface="Tahoma" pitchFamily="34" charset="0"/>
                <a:cs typeface="Tahoma" pitchFamily="34" charset="0"/>
              </a:rPr>
              <a:t>can be used for string pattern matching. </a:t>
            </a:r>
          </a:p>
          <a:p>
            <a:pPr marL="342900" indent="-342900" algn="just">
              <a:lnSpc>
                <a:spcPct val="150000"/>
              </a:lnSpc>
              <a:buFont typeface="Arial" pitchFamily="34" charset="0"/>
              <a:buChar char="•"/>
            </a:pPr>
            <a:r>
              <a:rPr lang="en-US" sz="2000" b="1" dirty="0">
                <a:solidFill>
                  <a:srgbClr val="000000"/>
                </a:solidFill>
                <a:latin typeface="Tahoma" pitchFamily="34" charset="0"/>
                <a:ea typeface="Tahoma" pitchFamily="34" charset="0"/>
                <a:cs typeface="Tahoma" pitchFamily="34" charset="0"/>
              </a:rPr>
              <a:t>Partial strings are specified using two reserved  characters:</a:t>
            </a:r>
          </a:p>
          <a:p>
            <a:pPr marL="800100" lvl="1" indent="-342900" algn="just">
              <a:lnSpc>
                <a:spcPct val="150000"/>
              </a:lnSpc>
              <a:buFont typeface="+mj-lt"/>
              <a:buAutoNum type="arabicPeriod"/>
            </a:pPr>
            <a:r>
              <a:rPr lang="en-US" sz="2000" dirty="0">
                <a:latin typeface="Tahoma" pitchFamily="34" charset="0"/>
                <a:ea typeface="Tahoma" pitchFamily="34" charset="0"/>
                <a:cs typeface="Tahoma" pitchFamily="34" charset="0"/>
              </a:rPr>
              <a:t>% </a:t>
            </a:r>
            <a:r>
              <a:rPr lang="en-US" sz="2000" dirty="0"/>
              <a:t>replaces an arbitrary number of zero or more characters</a:t>
            </a:r>
          </a:p>
          <a:p>
            <a:pPr marL="800100" lvl="1" indent="-342900">
              <a:buFont typeface="+mj-lt"/>
              <a:buAutoNum type="arabicPeriod"/>
            </a:pPr>
            <a:r>
              <a:rPr lang="en-US" sz="2000" dirty="0">
                <a:latin typeface="Tahoma" pitchFamily="34" charset="0"/>
                <a:ea typeface="Tahoma" pitchFamily="34" charset="0"/>
                <a:cs typeface="Tahoma" pitchFamily="34" charset="0"/>
              </a:rPr>
              <a:t>the underscore  (</a:t>
            </a:r>
            <a:r>
              <a:rPr lang="en-US" sz="2400" b="1" dirty="0">
                <a:latin typeface="Tahoma" pitchFamily="34" charset="0"/>
                <a:ea typeface="Tahoma" pitchFamily="34" charset="0"/>
                <a:cs typeface="Tahoma" pitchFamily="34" charset="0"/>
              </a:rPr>
              <a:t>_</a:t>
            </a:r>
            <a:r>
              <a:rPr lang="en-US" sz="2000" dirty="0">
                <a:latin typeface="Tahoma" pitchFamily="34" charset="0"/>
                <a:ea typeface="Tahoma" pitchFamily="34" charset="0"/>
                <a:cs typeface="Tahoma" pitchFamily="34" charset="0"/>
              </a:rPr>
              <a:t>) </a:t>
            </a:r>
            <a:r>
              <a:rPr lang="en-US" sz="3600"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replaces a single character.</a:t>
            </a:r>
          </a:p>
        </p:txBody>
      </p:sp>
      <p:sp>
        <p:nvSpPr>
          <p:cNvPr id="5" name="TextBox 4"/>
          <p:cNvSpPr txBox="1"/>
          <p:nvPr/>
        </p:nvSpPr>
        <p:spPr>
          <a:xfrm>
            <a:off x="381000" y="3733800"/>
            <a:ext cx="8382000" cy="2539157"/>
          </a:xfrm>
          <a:prstGeom prst="rect">
            <a:avLst/>
          </a:prstGeom>
          <a:noFill/>
        </p:spPr>
        <p:txBody>
          <a:bodyPr wrap="square" rtlCol="0">
            <a:spAutoFit/>
          </a:bodyPr>
          <a:lstStyle/>
          <a:p>
            <a:pPr>
              <a:lnSpc>
                <a:spcPct val="150000"/>
              </a:lnSpc>
            </a:pPr>
            <a:r>
              <a:rPr lang="en-US" sz="2000" b="1" dirty="0">
                <a:latin typeface="Tahoma" pitchFamily="34" charset="0"/>
                <a:ea typeface="Tahoma" pitchFamily="34" charset="0"/>
                <a:cs typeface="Tahoma" pitchFamily="34" charset="0"/>
              </a:rPr>
              <a:t>QUERY 12 : </a:t>
            </a:r>
            <a:r>
              <a:rPr lang="en-US" sz="2000" dirty="0">
                <a:latin typeface="Tahoma" pitchFamily="34" charset="0"/>
                <a:ea typeface="Tahoma" pitchFamily="34" charset="0"/>
                <a:cs typeface="Tahoma" pitchFamily="34" charset="0"/>
              </a:rPr>
              <a:t>Retrieve all employees whose address is in Houston.</a:t>
            </a:r>
          </a:p>
          <a:p>
            <a:pPr>
              <a:lnSpc>
                <a:spcPct val="150000"/>
              </a:lnSpc>
            </a:pPr>
            <a:endParaRPr lang="en-US" sz="2000" dirty="0">
              <a:latin typeface="Tahoma" pitchFamily="34" charset="0"/>
              <a:ea typeface="Tahoma" pitchFamily="34" charset="0"/>
              <a:cs typeface="Tahoma" pitchFamily="34" charset="0"/>
            </a:endParaRPr>
          </a:p>
          <a:p>
            <a:pPr>
              <a:lnSpc>
                <a:spcPct val="150000"/>
              </a:lnSpc>
            </a:pPr>
            <a:r>
              <a:rPr lang="en-US" dirty="0">
                <a:solidFill>
                  <a:srgbClr val="00B0F0"/>
                </a:solidFill>
                <a:latin typeface="Tahoma" pitchFamily="34" charset="0"/>
                <a:ea typeface="Tahoma" pitchFamily="34" charset="0"/>
                <a:cs typeface="Tahoma" pitchFamily="34" charset="0"/>
              </a:rPr>
              <a:t>            </a:t>
            </a:r>
            <a:r>
              <a:rPr lang="en-US" sz="2400" dirty="0">
                <a:solidFill>
                  <a:srgbClr val="00B0F0"/>
                </a:solidFill>
                <a:latin typeface="Tahoma" pitchFamily="34" charset="0"/>
                <a:ea typeface="Tahoma" pitchFamily="34" charset="0"/>
                <a:cs typeface="Tahoma" pitchFamily="34" charset="0"/>
              </a:rPr>
              <a:t>SELECT </a:t>
            </a:r>
            <a:r>
              <a:rPr lang="en-US" sz="2400" dirty="0">
                <a:latin typeface="Tahoma" pitchFamily="34" charset="0"/>
                <a:ea typeface="Tahoma" pitchFamily="34" charset="0"/>
                <a:cs typeface="Tahoma" pitchFamily="34" charset="0"/>
              </a:rPr>
              <a:t>FNAME, LNAME   </a:t>
            </a:r>
            <a:r>
              <a:rPr lang="en-US" sz="2400" dirty="0">
                <a:solidFill>
                  <a:srgbClr val="00B0F0"/>
                </a:solidFill>
                <a:latin typeface="Tahoma" pitchFamily="34" charset="0"/>
                <a:ea typeface="Tahoma" pitchFamily="34" charset="0"/>
                <a:cs typeface="Tahoma" pitchFamily="34" charset="0"/>
              </a:rPr>
              <a:t>FROM  </a:t>
            </a:r>
            <a:r>
              <a:rPr lang="en-US" sz="2400" dirty="0">
                <a:latin typeface="Tahoma" pitchFamily="34" charset="0"/>
                <a:ea typeface="Tahoma" pitchFamily="34" charset="0"/>
                <a:cs typeface="Tahoma" pitchFamily="34" charset="0"/>
              </a:rPr>
              <a:t>EMPLOYEE</a:t>
            </a:r>
          </a:p>
          <a:p>
            <a:pPr>
              <a:lnSpc>
                <a:spcPct val="150000"/>
              </a:lnSpc>
            </a:pPr>
            <a:r>
              <a:rPr lang="en-US" sz="2400" dirty="0">
                <a:latin typeface="Tahoma" pitchFamily="34" charset="0"/>
                <a:ea typeface="Tahoma" pitchFamily="34" charset="0"/>
                <a:cs typeface="Tahoma" pitchFamily="34" charset="0"/>
              </a:rPr>
              <a:t>         </a:t>
            </a:r>
            <a:r>
              <a:rPr lang="en-US" sz="2400" dirty="0">
                <a:solidFill>
                  <a:srgbClr val="00B0F0"/>
                </a:solidFill>
                <a:latin typeface="Tahoma" pitchFamily="34" charset="0"/>
                <a:ea typeface="Tahoma" pitchFamily="34" charset="0"/>
                <a:cs typeface="Tahoma" pitchFamily="34" charset="0"/>
              </a:rPr>
              <a:t>WHERE </a:t>
            </a:r>
            <a:r>
              <a:rPr lang="en-US" sz="2400" dirty="0">
                <a:latin typeface="Tahoma" pitchFamily="34" charset="0"/>
                <a:ea typeface="Tahoma" pitchFamily="34" charset="0"/>
                <a:cs typeface="Tahoma" pitchFamily="34" charset="0"/>
              </a:rPr>
              <a:t>  ADDRESS </a:t>
            </a:r>
            <a:r>
              <a:rPr lang="en-US" sz="2400" dirty="0">
                <a:solidFill>
                  <a:srgbClr val="00B0F0"/>
                </a:solidFill>
                <a:latin typeface="Tahoma" pitchFamily="34" charset="0"/>
                <a:ea typeface="Tahoma" pitchFamily="34" charset="0"/>
                <a:cs typeface="Tahoma" pitchFamily="34" charset="0"/>
              </a:rPr>
              <a:t>LIKE</a:t>
            </a:r>
            <a:r>
              <a:rPr lang="en-US" sz="2400" dirty="0">
                <a:latin typeface="Tahoma" pitchFamily="34" charset="0"/>
                <a:ea typeface="Tahoma" pitchFamily="34" charset="0"/>
                <a:cs typeface="Tahoma" pitchFamily="34" charset="0"/>
              </a:rPr>
              <a:t>   '</a:t>
            </a:r>
            <a:r>
              <a:rPr lang="en-US" sz="2400" dirty="0">
                <a:solidFill>
                  <a:srgbClr val="00B0F0"/>
                </a:solidFill>
                <a:latin typeface="Tahoma" pitchFamily="34" charset="0"/>
                <a:ea typeface="Tahoma" pitchFamily="34" charset="0"/>
                <a:cs typeface="Tahoma" pitchFamily="34" charset="0"/>
              </a:rPr>
              <a:t>%</a:t>
            </a:r>
            <a:r>
              <a:rPr lang="en-US" sz="2400" dirty="0">
                <a:latin typeface="Tahoma" pitchFamily="34" charset="0"/>
                <a:ea typeface="Tahoma" pitchFamily="34" charset="0"/>
                <a:cs typeface="Tahoma" pitchFamily="34" charset="0"/>
              </a:rPr>
              <a:t>Houston</a:t>
            </a:r>
            <a:r>
              <a:rPr lang="en-US" sz="2400" dirty="0">
                <a:solidFill>
                  <a:srgbClr val="00B0F0"/>
                </a:solidFill>
                <a:latin typeface="Tahoma" pitchFamily="34" charset="0"/>
                <a:ea typeface="Tahoma" pitchFamily="34" charset="0"/>
                <a:cs typeface="Tahoma" pitchFamily="34" charset="0"/>
              </a:rPr>
              <a:t>%'</a:t>
            </a:r>
            <a:r>
              <a:rPr lang="en-US" sz="2400" dirty="0">
                <a:latin typeface="Tahoma" pitchFamily="34" charset="0"/>
                <a:ea typeface="Tahoma" pitchFamily="34" charset="0"/>
                <a:cs typeface="Tahoma" pitchFamily="34" charset="0"/>
              </a:rPr>
              <a:t>;</a:t>
            </a:r>
          </a:p>
          <a:p>
            <a:pPr lvl="2">
              <a:lnSpc>
                <a:spcPct val="150000"/>
              </a:lnSpc>
            </a:pPr>
            <a:endParaRPr lang="en-US"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152400"/>
            <a:ext cx="5181600" cy="480131"/>
          </a:xfrm>
          <a:prstGeom prst="rect">
            <a:avLst/>
          </a:prstGeom>
          <a:noFill/>
        </p:spPr>
        <p:txBody>
          <a:bodyPr wrap="square" rtlCol="0">
            <a:spAutoFit/>
          </a:bodyPr>
          <a:lstStyle/>
          <a:p>
            <a:pPr>
              <a:lnSpc>
                <a:spcPct val="90000"/>
              </a:lnSpc>
            </a:pPr>
            <a:r>
              <a:rPr lang="en-US" sz="2800" b="1" dirty="0">
                <a:solidFill>
                  <a:srgbClr val="002060"/>
                </a:solidFill>
              </a:rPr>
              <a:t>Substring Pattern Matching</a:t>
            </a:r>
            <a:endParaRPr lang="en-US" sz="2000" b="1" dirty="0">
              <a:solidFill>
                <a:srgbClr val="002060"/>
              </a:solidFill>
              <a:latin typeface="Tahoma" pitchFamily="34" charset="0"/>
              <a:ea typeface="Tahoma" pitchFamily="34" charset="0"/>
              <a:cs typeface="Tahoma" pitchFamily="34" charset="0"/>
            </a:endParaRPr>
          </a:p>
        </p:txBody>
      </p:sp>
      <p:sp>
        <p:nvSpPr>
          <p:cNvPr id="5" name="TextBox 4"/>
          <p:cNvSpPr txBox="1"/>
          <p:nvPr/>
        </p:nvSpPr>
        <p:spPr>
          <a:xfrm>
            <a:off x="228600" y="1219200"/>
            <a:ext cx="8763000" cy="1846659"/>
          </a:xfrm>
          <a:prstGeom prst="rect">
            <a:avLst/>
          </a:prstGeom>
          <a:noFill/>
        </p:spPr>
        <p:txBody>
          <a:bodyPr wrap="square" rtlCol="0">
            <a:spAutoFit/>
          </a:bodyPr>
          <a:lstStyle/>
          <a:p>
            <a:endParaRPr lang="en-US" dirty="0">
              <a:latin typeface="Tahoma" pitchFamily="34" charset="0"/>
              <a:ea typeface="Tahoma" pitchFamily="34" charset="0"/>
              <a:cs typeface="Tahoma" pitchFamily="34" charset="0"/>
            </a:endParaRPr>
          </a:p>
          <a:p>
            <a:pPr algn="just">
              <a:lnSpc>
                <a:spcPct val="200000"/>
              </a:lnSpc>
            </a:pPr>
            <a:r>
              <a:rPr lang="en-US" sz="2000" b="1" dirty="0">
                <a:latin typeface="Tahoma" pitchFamily="34" charset="0"/>
                <a:ea typeface="Tahoma" pitchFamily="34" charset="0"/>
                <a:cs typeface="Tahoma" pitchFamily="34" charset="0"/>
              </a:rPr>
              <a:t>QUERY 12A : </a:t>
            </a:r>
            <a:r>
              <a:rPr lang="en-US" sz="2400" dirty="0">
                <a:latin typeface="Tahoma" pitchFamily="34" charset="0"/>
                <a:ea typeface="Tahoma" pitchFamily="34" charset="0"/>
                <a:cs typeface="Tahoma" pitchFamily="34" charset="0"/>
              </a:rPr>
              <a:t>Find all employees who were born during the 1950s</a:t>
            </a:r>
            <a:r>
              <a:rPr lang="en-US" dirty="0">
                <a:latin typeface="Tahoma" pitchFamily="34" charset="0"/>
                <a:ea typeface="Tahoma" pitchFamily="34" charset="0"/>
                <a:cs typeface="Tahoma" pitchFamily="34" charset="0"/>
              </a:rPr>
              <a:t>.</a:t>
            </a:r>
          </a:p>
        </p:txBody>
      </p:sp>
      <p:sp>
        <p:nvSpPr>
          <p:cNvPr id="8" name="Rectangle 7"/>
          <p:cNvSpPr/>
          <p:nvPr/>
        </p:nvSpPr>
        <p:spPr>
          <a:xfrm>
            <a:off x="457200" y="3429000"/>
            <a:ext cx="8153400" cy="1200329"/>
          </a:xfrm>
          <a:prstGeom prst="rect">
            <a:avLst/>
          </a:prstGeom>
        </p:spPr>
        <p:txBody>
          <a:bodyPr wrap="square">
            <a:spAutoFit/>
          </a:bodyPr>
          <a:lstStyle/>
          <a:p>
            <a:pPr lvl="2">
              <a:lnSpc>
                <a:spcPct val="150000"/>
              </a:lnSpc>
            </a:pPr>
            <a:r>
              <a:rPr lang="en-US" sz="2400" b="1" dirty="0">
                <a:solidFill>
                  <a:srgbClr val="00B0F0"/>
                </a:solidFill>
                <a:latin typeface="Tahoma" pitchFamily="34" charset="0"/>
                <a:ea typeface="Tahoma" pitchFamily="34" charset="0"/>
                <a:cs typeface="Tahoma" pitchFamily="34" charset="0"/>
              </a:rPr>
              <a:t>SELECT</a:t>
            </a:r>
            <a:r>
              <a:rPr lang="en-US" sz="2400" b="1" dirty="0">
                <a:latin typeface="Tahoma" pitchFamily="34" charset="0"/>
                <a:ea typeface="Tahoma" pitchFamily="34" charset="0"/>
                <a:cs typeface="Tahoma" pitchFamily="34" charset="0"/>
              </a:rPr>
              <a:t>   </a:t>
            </a:r>
            <a:r>
              <a:rPr lang="en-US" sz="2400" dirty="0">
                <a:latin typeface="Tahoma" pitchFamily="34" charset="0"/>
                <a:ea typeface="Tahoma" pitchFamily="34" charset="0"/>
                <a:cs typeface="Tahoma" pitchFamily="34" charset="0"/>
              </a:rPr>
              <a:t>FNAME, LNAME </a:t>
            </a:r>
            <a:r>
              <a:rPr lang="en-US" sz="2400" b="1" dirty="0">
                <a:solidFill>
                  <a:srgbClr val="00B0F0"/>
                </a:solidFill>
                <a:latin typeface="Tahoma" pitchFamily="34" charset="0"/>
                <a:ea typeface="Tahoma" pitchFamily="34" charset="0"/>
                <a:cs typeface="Tahoma" pitchFamily="34" charset="0"/>
              </a:rPr>
              <a:t>FROM</a:t>
            </a:r>
            <a:r>
              <a:rPr lang="en-US" sz="2400" dirty="0">
                <a:latin typeface="Tahoma" pitchFamily="34" charset="0"/>
                <a:ea typeface="Tahoma" pitchFamily="34" charset="0"/>
                <a:cs typeface="Tahoma" pitchFamily="34" charset="0"/>
              </a:rPr>
              <a:t> EMPLOYEE</a:t>
            </a:r>
            <a:endParaRPr lang="en-US" sz="2400" b="1" dirty="0">
              <a:latin typeface="Tahoma" pitchFamily="34" charset="0"/>
              <a:ea typeface="Tahoma" pitchFamily="34" charset="0"/>
              <a:cs typeface="Tahoma" pitchFamily="34" charset="0"/>
            </a:endParaRPr>
          </a:p>
          <a:p>
            <a:pPr lvl="2">
              <a:lnSpc>
                <a:spcPct val="150000"/>
              </a:lnSpc>
            </a:pPr>
            <a:r>
              <a:rPr lang="en-US" sz="2400" b="1" dirty="0">
                <a:solidFill>
                  <a:srgbClr val="00B0F0"/>
                </a:solidFill>
                <a:latin typeface="Tahoma" pitchFamily="34" charset="0"/>
                <a:ea typeface="Tahoma" pitchFamily="34" charset="0"/>
                <a:cs typeface="Tahoma" pitchFamily="34" charset="0"/>
              </a:rPr>
              <a:t>WHERE   </a:t>
            </a:r>
            <a:r>
              <a:rPr lang="en-US" sz="2400" dirty="0">
                <a:latin typeface="Tahoma" pitchFamily="34" charset="0"/>
                <a:ea typeface="Tahoma" pitchFamily="34" charset="0"/>
                <a:cs typeface="Tahoma" pitchFamily="34" charset="0"/>
              </a:rPr>
              <a:t>BDATE </a:t>
            </a:r>
            <a:r>
              <a:rPr lang="en-US" sz="2400" b="1" dirty="0">
                <a:solidFill>
                  <a:srgbClr val="00B0F0"/>
                </a:solidFill>
                <a:latin typeface="Tahoma" pitchFamily="34" charset="0"/>
                <a:ea typeface="Tahoma" pitchFamily="34" charset="0"/>
                <a:cs typeface="Tahoma" pitchFamily="34" charset="0"/>
              </a:rPr>
              <a:t>LIKE</a:t>
            </a:r>
            <a:r>
              <a:rPr lang="en-US" sz="2400" b="1" dirty="0">
                <a:latin typeface="Tahoma" pitchFamily="34" charset="0"/>
                <a:ea typeface="Tahoma" pitchFamily="34" charset="0"/>
                <a:cs typeface="Tahoma" pitchFamily="34" charset="0"/>
              </a:rPr>
              <a:t>   ‘195 _ _ _ _ _ _ _'</a:t>
            </a:r>
          </a:p>
        </p:txBody>
      </p:sp>
      <p:sp>
        <p:nvSpPr>
          <p:cNvPr id="6" name="Rectangle 5"/>
          <p:cNvSpPr/>
          <p:nvPr/>
        </p:nvSpPr>
        <p:spPr>
          <a:xfrm>
            <a:off x="1371600" y="5334000"/>
            <a:ext cx="4158511" cy="369332"/>
          </a:xfrm>
          <a:prstGeom prst="rect">
            <a:avLst/>
          </a:prstGeom>
        </p:spPr>
        <p:txBody>
          <a:bodyPr wrap="none">
            <a:spAutoFit/>
          </a:bodyPr>
          <a:lstStyle/>
          <a:p>
            <a:r>
              <a:rPr lang="en-US" kern="0" dirty="0">
                <a:solidFill>
                  <a:srgbClr val="000000"/>
                </a:solidFill>
                <a:latin typeface="Tahoma" pitchFamily="34" charset="0"/>
                <a:ea typeface="Tahoma" pitchFamily="34" charset="0"/>
                <a:cs typeface="Tahoma" pitchFamily="34" charset="0"/>
              </a:rPr>
              <a:t>Date format in SQL </a:t>
            </a:r>
            <a:r>
              <a:rPr lang="en-US" b="1" kern="0" dirty="0">
                <a:solidFill>
                  <a:srgbClr val="000000"/>
                </a:solidFill>
                <a:latin typeface="Tahoma" pitchFamily="34" charset="0"/>
                <a:ea typeface="Tahoma" pitchFamily="34" charset="0"/>
                <a:cs typeface="Tahoma" pitchFamily="34" charset="0"/>
                <a:sym typeface="Wingdings" pitchFamily="2" charset="2"/>
              </a:rPr>
              <a:t>  </a:t>
            </a:r>
            <a:r>
              <a:rPr lang="en-US" b="1" kern="0" dirty="0">
                <a:solidFill>
                  <a:srgbClr val="000000"/>
                </a:solidFill>
                <a:latin typeface="Tahoma" pitchFamily="34" charset="0"/>
                <a:ea typeface="Tahoma" pitchFamily="34" charset="0"/>
                <a:cs typeface="Tahoma" pitchFamily="34" charset="0"/>
              </a:rPr>
              <a:t>YYYY-MM-DD</a:t>
            </a:r>
            <a:endParaRPr lang="en-IN"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1066801"/>
            <a:ext cx="8610600" cy="4584384"/>
          </a:xfrm>
          <a:prstGeom prst="rect">
            <a:avLst/>
          </a:prstGeom>
          <a:noFill/>
        </p:spPr>
        <p:txBody>
          <a:bodyPr wrap="square" rtlCol="0">
            <a:spAutoFit/>
          </a:bodyPr>
          <a:lstStyle/>
          <a:p>
            <a:pPr algn="just">
              <a:lnSpc>
                <a:spcPct val="150000"/>
              </a:lnSpc>
              <a:buFont typeface="Arial" pitchFamily="34" charset="0"/>
              <a:buChar char="•"/>
            </a:pPr>
            <a:r>
              <a:rPr lang="en-US" sz="1600" b="1" dirty="0">
                <a:solidFill>
                  <a:srgbClr val="000000"/>
                </a:solidFill>
                <a:latin typeface="Tahoma" pitchFamily="34" charset="0"/>
                <a:ea typeface="Tahoma" pitchFamily="34" charset="0"/>
                <a:cs typeface="Tahoma" pitchFamily="34" charset="0"/>
              </a:rPr>
              <a:t>   </a:t>
            </a:r>
            <a:r>
              <a:rPr lang="en-US" dirty="0">
                <a:solidFill>
                  <a:srgbClr val="000000"/>
                </a:solidFill>
                <a:latin typeface="Tahoma" pitchFamily="34" charset="0"/>
                <a:ea typeface="Tahoma" pitchFamily="34" charset="0"/>
                <a:cs typeface="Tahoma" pitchFamily="34" charset="0"/>
              </a:rPr>
              <a:t>If an underscore or </a:t>
            </a:r>
            <a:r>
              <a:rPr lang="en-US" b="1" dirty="0">
                <a:solidFill>
                  <a:srgbClr val="000000"/>
                </a:solidFill>
                <a:latin typeface="Tahoma" pitchFamily="34" charset="0"/>
                <a:ea typeface="Tahoma" pitchFamily="34" charset="0"/>
                <a:cs typeface="Tahoma" pitchFamily="34" charset="0"/>
              </a:rPr>
              <a:t>%</a:t>
            </a:r>
            <a:r>
              <a:rPr lang="en-US" dirty="0">
                <a:solidFill>
                  <a:srgbClr val="000000"/>
                </a:solidFill>
                <a:latin typeface="Tahoma" pitchFamily="34" charset="0"/>
                <a:ea typeface="Tahoma" pitchFamily="34" charset="0"/>
                <a:cs typeface="Tahoma" pitchFamily="34" charset="0"/>
              </a:rPr>
              <a:t> is needed as a literal character in the string, the character should be preceded by an escape character, which is specified after the string using the  keyword </a:t>
            </a:r>
            <a:r>
              <a:rPr lang="en-US" sz="2000" b="1" dirty="0">
                <a:solidFill>
                  <a:srgbClr val="00B0F0"/>
                </a:solidFill>
                <a:latin typeface="Tahoma" pitchFamily="34" charset="0"/>
                <a:ea typeface="Tahoma" pitchFamily="34" charset="0"/>
                <a:cs typeface="Tahoma" pitchFamily="34" charset="0"/>
              </a:rPr>
              <a:t>ESCAPE.</a:t>
            </a:r>
            <a:endParaRPr lang="en-US" b="1" dirty="0">
              <a:solidFill>
                <a:srgbClr val="00B0F0"/>
              </a:solidFill>
              <a:latin typeface="Tahoma" pitchFamily="34" charset="0"/>
              <a:ea typeface="Tahoma" pitchFamily="34" charset="0"/>
              <a:cs typeface="Tahoma" pitchFamily="34" charset="0"/>
            </a:endParaRPr>
          </a:p>
          <a:p>
            <a:pPr algn="just">
              <a:lnSpc>
                <a:spcPct val="150000"/>
              </a:lnSpc>
            </a:pPr>
            <a:endParaRPr lang="en-US" dirty="0">
              <a:solidFill>
                <a:srgbClr val="000000"/>
              </a:solidFill>
              <a:latin typeface="Tahoma" pitchFamily="34" charset="0"/>
              <a:ea typeface="Tahoma" pitchFamily="34" charset="0"/>
              <a:cs typeface="Tahoma" pitchFamily="34" charset="0"/>
            </a:endParaRPr>
          </a:p>
          <a:p>
            <a:r>
              <a:rPr lang="en-US" sz="2200" b="1" dirty="0">
                <a:latin typeface="Tahoma" pitchFamily="34" charset="0"/>
                <a:ea typeface="Tahoma" pitchFamily="34" charset="0"/>
                <a:cs typeface="Tahoma" pitchFamily="34" charset="0"/>
              </a:rPr>
              <a:t>For example: </a:t>
            </a:r>
          </a:p>
          <a:p>
            <a:pPr algn="just">
              <a:lnSpc>
                <a:spcPct val="150000"/>
              </a:lnSpc>
            </a:pPr>
            <a:r>
              <a:rPr lang="en-US" b="1" dirty="0">
                <a:latin typeface="Tahoma" pitchFamily="34" charset="0"/>
                <a:ea typeface="Tahoma" pitchFamily="34" charset="0"/>
                <a:cs typeface="Tahoma" pitchFamily="34" charset="0"/>
              </a:rPr>
              <a:t>  </a:t>
            </a:r>
            <a:r>
              <a:rPr lang="en-US" dirty="0">
                <a:latin typeface="Courier New" pitchFamily="49" charset="0"/>
                <a:ea typeface="Tahoma" pitchFamily="34" charset="0"/>
                <a:cs typeface="Courier New" pitchFamily="49" charset="0"/>
              </a:rPr>
              <a:t>'AB\_CD\%EF' ESCAPE '\'   </a:t>
            </a:r>
            <a:r>
              <a:rPr lang="en-US" dirty="0">
                <a:latin typeface="Tahoma" pitchFamily="34" charset="0"/>
                <a:ea typeface="Tahoma" pitchFamily="34" charset="0"/>
                <a:cs typeface="Tahoma" pitchFamily="34" charset="0"/>
              </a:rPr>
              <a:t>represents the literal string  </a:t>
            </a:r>
            <a:r>
              <a:rPr lang="en-US" b="1" dirty="0">
                <a:latin typeface="Tahoma" pitchFamily="34" charset="0"/>
                <a:ea typeface="Tahoma" pitchFamily="34" charset="0"/>
                <a:cs typeface="Tahoma" pitchFamily="34" charset="0"/>
              </a:rPr>
              <a:t>‘AB_CD%EF', </a:t>
            </a:r>
            <a:r>
              <a:rPr lang="en-US" dirty="0">
                <a:latin typeface="Tahoma" pitchFamily="34" charset="0"/>
                <a:ea typeface="Tahoma" pitchFamily="34" charset="0"/>
                <a:cs typeface="Tahoma" pitchFamily="34" charset="0"/>
              </a:rPr>
              <a:t>because \ is specified as the escape character</a:t>
            </a:r>
          </a:p>
          <a:p>
            <a:pPr>
              <a:lnSpc>
                <a:spcPct val="150000"/>
              </a:lnSpc>
            </a:pPr>
            <a:endParaRPr lang="en-US" dirty="0">
              <a:latin typeface="Tahoma" pitchFamily="34" charset="0"/>
              <a:ea typeface="Tahoma" pitchFamily="34" charset="0"/>
              <a:cs typeface="Tahoma" pitchFamily="34" charset="0"/>
            </a:endParaRPr>
          </a:p>
          <a:p>
            <a:pPr marL="342900" indent="-342900">
              <a:lnSpc>
                <a:spcPct val="200000"/>
              </a:lnSpc>
              <a:buFont typeface="Arial" pitchFamily="34" charset="0"/>
              <a:buChar char="•"/>
            </a:pPr>
            <a:r>
              <a:rPr lang="en-US" dirty="0">
                <a:latin typeface="Tahoma" pitchFamily="34" charset="0"/>
                <a:ea typeface="Tahoma" pitchFamily="34" charset="0"/>
                <a:cs typeface="Tahoma" pitchFamily="34" charset="0"/>
              </a:rPr>
              <a:t>If an apostrophe (') is needed, it is represented as two consecutive apostrophes (")  so that it will not be interpreted as ending the string.</a:t>
            </a:r>
          </a:p>
        </p:txBody>
      </p:sp>
      <p:sp>
        <p:nvSpPr>
          <p:cNvPr id="8" name="TextBox 7"/>
          <p:cNvSpPr txBox="1"/>
          <p:nvPr/>
        </p:nvSpPr>
        <p:spPr>
          <a:xfrm>
            <a:off x="152400" y="152400"/>
            <a:ext cx="8305800" cy="480131"/>
          </a:xfrm>
          <a:prstGeom prst="rect">
            <a:avLst/>
          </a:prstGeom>
          <a:noFill/>
        </p:spPr>
        <p:txBody>
          <a:bodyPr wrap="square" rtlCol="0">
            <a:spAutoFit/>
          </a:bodyPr>
          <a:lstStyle/>
          <a:p>
            <a:pPr>
              <a:lnSpc>
                <a:spcPct val="90000"/>
              </a:lnSpc>
            </a:pPr>
            <a:r>
              <a:rPr lang="en-US" sz="2800" b="1" dirty="0">
                <a:solidFill>
                  <a:srgbClr val="002060"/>
                </a:solidFill>
              </a:rPr>
              <a:t>Substring Pattern Matching  - </a:t>
            </a:r>
            <a:r>
              <a:rPr lang="en-US" sz="2800" dirty="0">
                <a:solidFill>
                  <a:srgbClr val="000000"/>
                </a:solidFill>
                <a:latin typeface="Tahoma" pitchFamily="34" charset="0"/>
                <a:ea typeface="Tahoma" pitchFamily="34" charset="0"/>
                <a:cs typeface="Tahoma" pitchFamily="34" charset="0"/>
              </a:rPr>
              <a:t>keyword </a:t>
            </a:r>
            <a:r>
              <a:rPr lang="en-US" sz="2800" b="1" dirty="0">
                <a:solidFill>
                  <a:srgbClr val="00B0F0"/>
                </a:solidFill>
                <a:latin typeface="Tahoma" pitchFamily="34" charset="0"/>
                <a:ea typeface="Tahoma" pitchFamily="34" charset="0"/>
                <a:cs typeface="Tahoma" pitchFamily="34" charset="0"/>
              </a:rPr>
              <a:t>ESCAPE.</a:t>
            </a:r>
            <a:endParaRPr lang="en-US" sz="2000" b="1" dirty="0">
              <a:solidFill>
                <a:srgbClr val="00B0F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52400"/>
            <a:ext cx="8763000" cy="480131"/>
          </a:xfrm>
          <a:prstGeom prst="rect">
            <a:avLst/>
          </a:prstGeom>
          <a:noFill/>
        </p:spPr>
        <p:txBody>
          <a:bodyPr wrap="square" rtlCol="0">
            <a:spAutoFit/>
          </a:bodyPr>
          <a:lstStyle/>
          <a:p>
            <a:pPr>
              <a:lnSpc>
                <a:spcPct val="90000"/>
              </a:lnSpc>
            </a:pPr>
            <a:r>
              <a:rPr lang="en-US" sz="2800" b="1" dirty="0">
                <a:solidFill>
                  <a:srgbClr val="002060"/>
                </a:solidFill>
              </a:rPr>
              <a:t>Use of Arithmetic Operators</a:t>
            </a:r>
            <a:r>
              <a:rPr lang="en-US" sz="2800" b="1" dirty="0">
                <a:solidFill>
                  <a:srgbClr val="002060"/>
                </a:solidFill>
                <a:latin typeface="Tahoma" pitchFamily="34" charset="0"/>
                <a:ea typeface="Tahoma" pitchFamily="34" charset="0"/>
                <a:cs typeface="Tahoma" pitchFamily="34" charset="0"/>
              </a:rPr>
              <a:t> </a:t>
            </a:r>
          </a:p>
        </p:txBody>
      </p:sp>
      <p:sp>
        <p:nvSpPr>
          <p:cNvPr id="6" name="TextBox 5"/>
          <p:cNvSpPr txBox="1"/>
          <p:nvPr/>
        </p:nvSpPr>
        <p:spPr>
          <a:xfrm>
            <a:off x="228600" y="838200"/>
            <a:ext cx="8686800" cy="2677656"/>
          </a:xfrm>
          <a:prstGeom prst="rect">
            <a:avLst/>
          </a:prstGeom>
          <a:noFill/>
        </p:spPr>
        <p:txBody>
          <a:bodyPr wrap="square" rtlCol="0">
            <a:spAutoFit/>
          </a:bodyPr>
          <a:lstStyle/>
          <a:p>
            <a:pPr marL="342900" indent="-342900" algn="just">
              <a:lnSpc>
                <a:spcPct val="150000"/>
              </a:lnSpc>
              <a:buFont typeface="Arial" pitchFamily="34" charset="0"/>
              <a:buChar char="•"/>
            </a:pPr>
            <a:r>
              <a:rPr lang="en-US" sz="1600" b="1" dirty="0">
                <a:solidFill>
                  <a:srgbClr val="00000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The standard arithmetic operators for addition (+), subtraction (-), multiplication (*), and division (/) can be applied to numeric values or attributes with numeric domains.</a:t>
            </a:r>
          </a:p>
          <a:p>
            <a:pPr algn="just">
              <a:lnSpc>
                <a:spcPct val="150000"/>
              </a:lnSpc>
            </a:pPr>
            <a:endParaRPr lang="en-US" dirty="0">
              <a:latin typeface="Tahoma" pitchFamily="34" charset="0"/>
              <a:ea typeface="Tahoma" pitchFamily="34" charset="0"/>
              <a:cs typeface="Tahoma" pitchFamily="34" charset="0"/>
            </a:endParaRPr>
          </a:p>
          <a:p>
            <a:pPr>
              <a:lnSpc>
                <a:spcPct val="150000"/>
              </a:lnSpc>
            </a:pPr>
            <a:r>
              <a:rPr lang="en-US" sz="2000" b="1" dirty="0">
                <a:latin typeface="Tahoma" pitchFamily="34" charset="0"/>
                <a:ea typeface="Tahoma" pitchFamily="34" charset="0"/>
                <a:cs typeface="Tahoma" pitchFamily="34" charset="0"/>
              </a:rPr>
              <a:t>QUERY 13 :  </a:t>
            </a:r>
            <a:r>
              <a:rPr lang="en-US" sz="2000" dirty="0">
                <a:latin typeface="Tahoma" pitchFamily="34" charset="0"/>
                <a:ea typeface="Tahoma" pitchFamily="34" charset="0"/>
                <a:cs typeface="Tahoma" pitchFamily="34" charset="0"/>
              </a:rPr>
              <a:t>Show the resulting salaries if every employee working on the '</a:t>
            </a:r>
            <a:r>
              <a:rPr lang="en-US" sz="2000" dirty="0" err="1">
                <a:latin typeface="Tahoma" pitchFamily="34" charset="0"/>
                <a:ea typeface="Tahoma" pitchFamily="34" charset="0"/>
                <a:cs typeface="Tahoma" pitchFamily="34" charset="0"/>
              </a:rPr>
              <a:t>ProductX</a:t>
            </a:r>
            <a:r>
              <a:rPr lang="en-US" sz="2000" dirty="0">
                <a:latin typeface="Tahoma" pitchFamily="34" charset="0"/>
                <a:ea typeface="Tahoma" pitchFamily="34" charset="0"/>
                <a:cs typeface="Tahoma" pitchFamily="34" charset="0"/>
              </a:rPr>
              <a:t>' project is  given a 10 percent raise.</a:t>
            </a:r>
          </a:p>
        </p:txBody>
      </p:sp>
      <p:sp>
        <p:nvSpPr>
          <p:cNvPr id="8" name="Rectangle 7"/>
          <p:cNvSpPr/>
          <p:nvPr/>
        </p:nvSpPr>
        <p:spPr>
          <a:xfrm>
            <a:off x="381000" y="3733800"/>
            <a:ext cx="8305800" cy="1754326"/>
          </a:xfrm>
          <a:prstGeom prst="rect">
            <a:avLst/>
          </a:prstGeom>
        </p:spPr>
        <p:txBody>
          <a:bodyPr wrap="square">
            <a:spAutoFit/>
          </a:bodyPr>
          <a:lstStyle/>
          <a:p>
            <a:pPr algn="just">
              <a:lnSpc>
                <a:spcPct val="200000"/>
              </a:lnSpc>
            </a:pPr>
            <a:r>
              <a:rPr lang="en-US" b="1" dirty="0">
                <a:solidFill>
                  <a:srgbClr val="00B0F0"/>
                </a:solidFill>
                <a:latin typeface="Tahoma" pitchFamily="34" charset="0"/>
                <a:ea typeface="Tahoma" pitchFamily="34" charset="0"/>
                <a:cs typeface="Tahoma" pitchFamily="34" charset="0"/>
              </a:rPr>
              <a:t>         SELECT</a:t>
            </a:r>
            <a:r>
              <a:rPr lang="en-US" b="1" dirty="0">
                <a:latin typeface="Tahoma" pitchFamily="34" charset="0"/>
                <a:ea typeface="Tahoma" pitchFamily="34" charset="0"/>
                <a:cs typeface="Tahoma" pitchFamily="34" charset="0"/>
              </a:rPr>
              <a:t> FNAME, LNAME, 1.1 * SALARY </a:t>
            </a:r>
            <a:r>
              <a:rPr lang="en-US" b="1" dirty="0">
                <a:solidFill>
                  <a:srgbClr val="00B0F0"/>
                </a:solidFill>
                <a:latin typeface="Tahoma" pitchFamily="34" charset="0"/>
                <a:ea typeface="Tahoma" pitchFamily="34" charset="0"/>
                <a:cs typeface="Tahoma" pitchFamily="34" charset="0"/>
              </a:rPr>
              <a:t>AS</a:t>
            </a:r>
            <a:r>
              <a:rPr lang="en-US" b="1" dirty="0">
                <a:latin typeface="Tahoma" pitchFamily="34" charset="0"/>
                <a:ea typeface="Tahoma" pitchFamily="34" charset="0"/>
                <a:cs typeface="Tahoma" pitchFamily="34" charset="0"/>
              </a:rPr>
              <a:t> INCREASED_SAL</a:t>
            </a:r>
          </a:p>
          <a:p>
            <a:pPr algn="just">
              <a:lnSpc>
                <a:spcPct val="200000"/>
              </a:lnSpc>
            </a:pPr>
            <a:r>
              <a:rPr lang="en-US" b="1" dirty="0">
                <a:solidFill>
                  <a:srgbClr val="00B0F0"/>
                </a:solidFill>
                <a:latin typeface="Tahoma" pitchFamily="34" charset="0"/>
                <a:ea typeface="Tahoma" pitchFamily="34" charset="0"/>
                <a:cs typeface="Tahoma" pitchFamily="34" charset="0"/>
              </a:rPr>
              <a:t>         FROM  </a:t>
            </a:r>
            <a:r>
              <a:rPr lang="en-US" b="1" dirty="0">
                <a:latin typeface="Tahoma" pitchFamily="34" charset="0"/>
                <a:ea typeface="Tahoma" pitchFamily="34" charset="0"/>
                <a:cs typeface="Tahoma" pitchFamily="34" charset="0"/>
              </a:rPr>
              <a:t>EMPLOYEE, WORKS_ON, PROJECT </a:t>
            </a:r>
          </a:p>
          <a:p>
            <a:pPr algn="just">
              <a:lnSpc>
                <a:spcPct val="200000"/>
              </a:lnSpc>
            </a:pPr>
            <a:r>
              <a:rPr lang="en-US" b="1" dirty="0">
                <a:latin typeface="Tahoma" pitchFamily="34" charset="0"/>
                <a:ea typeface="Tahoma" pitchFamily="34" charset="0"/>
                <a:cs typeface="Tahoma" pitchFamily="34" charset="0"/>
              </a:rPr>
              <a:t>         </a:t>
            </a:r>
            <a:r>
              <a:rPr lang="en-US" b="1" dirty="0">
                <a:solidFill>
                  <a:srgbClr val="00B0F0"/>
                </a:solidFill>
                <a:latin typeface="Tahoma" pitchFamily="34" charset="0"/>
                <a:ea typeface="Tahoma" pitchFamily="34" charset="0"/>
                <a:cs typeface="Tahoma" pitchFamily="34" charset="0"/>
              </a:rPr>
              <a:t>WHERE </a:t>
            </a:r>
            <a:r>
              <a:rPr lang="en-US" b="1" dirty="0">
                <a:solidFill>
                  <a:srgbClr val="C00000"/>
                </a:solidFill>
                <a:latin typeface="Tahoma" pitchFamily="34" charset="0"/>
                <a:ea typeface="Tahoma" pitchFamily="34" charset="0"/>
                <a:cs typeface="Tahoma" pitchFamily="34" charset="0"/>
              </a:rPr>
              <a:t>SSN=ESSN </a:t>
            </a:r>
            <a:r>
              <a:rPr lang="en-US" b="1" dirty="0">
                <a:latin typeface="Tahoma" pitchFamily="34" charset="0"/>
                <a:ea typeface="Tahoma" pitchFamily="34" charset="0"/>
                <a:cs typeface="Tahoma" pitchFamily="34" charset="0"/>
              </a:rPr>
              <a:t>AND </a:t>
            </a:r>
            <a:r>
              <a:rPr lang="en-US" b="1" dirty="0">
                <a:solidFill>
                  <a:srgbClr val="C00000"/>
                </a:solidFill>
                <a:latin typeface="Tahoma" pitchFamily="34" charset="0"/>
                <a:ea typeface="Tahoma" pitchFamily="34" charset="0"/>
                <a:cs typeface="Tahoma" pitchFamily="34" charset="0"/>
              </a:rPr>
              <a:t>PNO=PNUMBER </a:t>
            </a:r>
            <a:r>
              <a:rPr lang="en-US" b="1" dirty="0">
                <a:latin typeface="Tahoma" pitchFamily="34" charset="0"/>
                <a:ea typeface="Tahoma" pitchFamily="34" charset="0"/>
                <a:cs typeface="Tahoma" pitchFamily="34" charset="0"/>
              </a:rPr>
              <a:t>AND  </a:t>
            </a:r>
            <a:r>
              <a:rPr lang="en-US" dirty="0">
                <a:latin typeface="Tahoma" pitchFamily="34" charset="0"/>
                <a:ea typeface="Tahoma" pitchFamily="34" charset="0"/>
                <a:cs typeface="Tahoma" pitchFamily="34" charset="0"/>
              </a:rPr>
              <a:t>PNAME='</a:t>
            </a:r>
            <a:r>
              <a:rPr lang="en-US" dirty="0" err="1">
                <a:latin typeface="Tahoma" pitchFamily="34" charset="0"/>
                <a:ea typeface="Tahoma" pitchFamily="34" charset="0"/>
                <a:cs typeface="Tahoma" pitchFamily="34" charset="0"/>
              </a:rPr>
              <a:t>ProductX</a:t>
            </a:r>
            <a:r>
              <a:rPr lang="en-US" dirty="0">
                <a:latin typeface="Tahoma" pitchFamily="34" charset="0"/>
                <a:ea typeface="Tahoma" pitchFamily="34" charset="0"/>
                <a:cs typeface="Tahoma" pitchFamily="34" charset="0"/>
              </a:rPr>
              <a:t>';</a:t>
            </a:r>
          </a:p>
        </p:txBody>
      </p:sp>
    </p:spTree>
  </p:cSld>
  <p:clrMapOvr>
    <a:masterClrMapping/>
  </p:clrMapOvr>
  <p:transition>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152400"/>
            <a:ext cx="3505200" cy="480131"/>
          </a:xfrm>
          <a:prstGeom prst="rect">
            <a:avLst/>
          </a:prstGeom>
          <a:noFill/>
        </p:spPr>
        <p:txBody>
          <a:bodyPr wrap="square" rtlCol="0">
            <a:spAutoFit/>
          </a:bodyPr>
          <a:lstStyle/>
          <a:p>
            <a:pPr>
              <a:lnSpc>
                <a:spcPct val="90000"/>
              </a:lnSpc>
            </a:pPr>
            <a:r>
              <a:rPr lang="en-US" sz="2800" b="1" dirty="0">
                <a:solidFill>
                  <a:srgbClr val="000000"/>
                </a:solidFill>
              </a:rPr>
              <a:t>Use of </a:t>
            </a:r>
            <a:r>
              <a:rPr lang="en-US" sz="2800" b="1" dirty="0">
                <a:solidFill>
                  <a:srgbClr val="00B0F0"/>
                </a:solidFill>
              </a:rPr>
              <a:t>BETWEEN</a:t>
            </a:r>
            <a:endParaRPr lang="en-US" sz="2800" b="1" dirty="0">
              <a:solidFill>
                <a:srgbClr val="00B0F0"/>
              </a:solidFill>
              <a:latin typeface="Tahoma" pitchFamily="34" charset="0"/>
              <a:ea typeface="Tahoma" pitchFamily="34" charset="0"/>
              <a:cs typeface="Tahoma" pitchFamily="34" charset="0"/>
            </a:endParaRPr>
          </a:p>
        </p:txBody>
      </p:sp>
      <p:sp>
        <p:nvSpPr>
          <p:cNvPr id="6" name="TextBox 5"/>
          <p:cNvSpPr txBox="1"/>
          <p:nvPr/>
        </p:nvSpPr>
        <p:spPr>
          <a:xfrm>
            <a:off x="228600" y="1066800"/>
            <a:ext cx="8686800" cy="4601260"/>
          </a:xfrm>
          <a:prstGeom prst="rect">
            <a:avLst/>
          </a:prstGeom>
          <a:noFill/>
        </p:spPr>
        <p:txBody>
          <a:bodyPr wrap="square" rtlCol="0">
            <a:spAutoFit/>
          </a:bodyPr>
          <a:lstStyle/>
          <a:p>
            <a:pPr algn="just">
              <a:lnSpc>
                <a:spcPct val="150000"/>
              </a:lnSpc>
              <a:buFont typeface="Arial" pitchFamily="34" charset="0"/>
              <a:buChar char="•"/>
            </a:pPr>
            <a:endParaRPr lang="en-US" dirty="0">
              <a:latin typeface="Tahoma" pitchFamily="34" charset="0"/>
              <a:ea typeface="Tahoma" pitchFamily="34" charset="0"/>
              <a:cs typeface="Tahoma" pitchFamily="34" charset="0"/>
            </a:endParaRPr>
          </a:p>
          <a:p>
            <a:pPr algn="just">
              <a:lnSpc>
                <a:spcPct val="150000"/>
              </a:lnSpc>
            </a:pPr>
            <a:r>
              <a:rPr lang="en-US" b="1" dirty="0">
                <a:latin typeface="Tahoma" pitchFamily="34" charset="0"/>
                <a:ea typeface="Tahoma" pitchFamily="34" charset="0"/>
                <a:cs typeface="Tahoma" pitchFamily="34" charset="0"/>
              </a:rPr>
              <a:t>QUERY 14 : </a:t>
            </a:r>
            <a:r>
              <a:rPr lang="en-US" sz="2000" dirty="0">
                <a:latin typeface="Tahoma" pitchFamily="34" charset="0"/>
                <a:ea typeface="Tahoma" pitchFamily="34" charset="0"/>
                <a:cs typeface="Tahoma" pitchFamily="34" charset="0"/>
              </a:rPr>
              <a:t>Retrieve all employees in department 5 whose salary is between $30,000 and  $40,000.</a:t>
            </a:r>
          </a:p>
          <a:p>
            <a:pPr algn="just">
              <a:lnSpc>
                <a:spcPct val="150000"/>
              </a:lnSpc>
            </a:pPr>
            <a:endParaRPr lang="en-US" sz="2000" dirty="0">
              <a:latin typeface="Tahoma" pitchFamily="34" charset="0"/>
              <a:ea typeface="Tahoma" pitchFamily="34" charset="0"/>
              <a:cs typeface="Tahoma" pitchFamily="34" charset="0"/>
            </a:endParaRPr>
          </a:p>
          <a:p>
            <a:pPr algn="just">
              <a:lnSpc>
                <a:spcPct val="200000"/>
              </a:lnSpc>
            </a:pPr>
            <a:r>
              <a:rPr lang="en-US" sz="2000" b="1" dirty="0">
                <a:latin typeface="Tahoma" pitchFamily="34" charset="0"/>
                <a:ea typeface="Tahoma" pitchFamily="34" charset="0"/>
                <a:cs typeface="Tahoma" pitchFamily="34" charset="0"/>
              </a:rPr>
              <a:t>Q14:  </a:t>
            </a:r>
            <a:r>
              <a:rPr lang="en-US" b="1" dirty="0">
                <a:solidFill>
                  <a:srgbClr val="00B0F0"/>
                </a:solidFill>
                <a:latin typeface="Tahoma" pitchFamily="34" charset="0"/>
                <a:ea typeface="Tahoma" pitchFamily="34" charset="0"/>
                <a:cs typeface="Tahoma" pitchFamily="34" charset="0"/>
              </a:rPr>
              <a:t>SELECT</a:t>
            </a:r>
            <a:r>
              <a:rPr lang="en-US" b="1" dirty="0">
                <a:latin typeface="Tahoma" pitchFamily="34" charset="0"/>
                <a:ea typeface="Tahoma" pitchFamily="34" charset="0"/>
                <a:cs typeface="Tahoma" pitchFamily="34" charset="0"/>
              </a:rPr>
              <a:t> * </a:t>
            </a:r>
            <a:r>
              <a:rPr lang="en-US" b="1" dirty="0">
                <a:solidFill>
                  <a:srgbClr val="00B0F0"/>
                </a:solidFill>
                <a:latin typeface="Tahoma" pitchFamily="34" charset="0"/>
                <a:ea typeface="Tahoma" pitchFamily="34" charset="0"/>
                <a:cs typeface="Tahoma" pitchFamily="34" charset="0"/>
              </a:rPr>
              <a:t>FROM</a:t>
            </a:r>
            <a:r>
              <a:rPr lang="en-US" b="1" dirty="0">
                <a:latin typeface="Tahoma" pitchFamily="34" charset="0"/>
                <a:ea typeface="Tahoma" pitchFamily="34" charset="0"/>
                <a:cs typeface="Tahoma" pitchFamily="34" charset="0"/>
              </a:rPr>
              <a:t> EMPLOYEE</a:t>
            </a:r>
          </a:p>
          <a:p>
            <a:pPr algn="just">
              <a:lnSpc>
                <a:spcPct val="200000"/>
              </a:lnSpc>
            </a:pPr>
            <a:r>
              <a:rPr lang="en-US" b="1" dirty="0">
                <a:latin typeface="Tahoma" pitchFamily="34" charset="0"/>
                <a:ea typeface="Tahoma" pitchFamily="34" charset="0"/>
                <a:cs typeface="Tahoma" pitchFamily="34" charset="0"/>
              </a:rPr>
              <a:t>           </a:t>
            </a:r>
            <a:r>
              <a:rPr lang="en-US" b="1" dirty="0">
                <a:solidFill>
                  <a:srgbClr val="00B0F0"/>
                </a:solidFill>
                <a:latin typeface="Tahoma" pitchFamily="34" charset="0"/>
                <a:ea typeface="Tahoma" pitchFamily="34" charset="0"/>
                <a:cs typeface="Tahoma" pitchFamily="34" charset="0"/>
              </a:rPr>
              <a:t>WHERE</a:t>
            </a:r>
            <a:r>
              <a:rPr lang="en-US" b="1" dirty="0">
                <a:latin typeface="Tahoma" pitchFamily="34" charset="0"/>
                <a:ea typeface="Tahoma" pitchFamily="34" charset="0"/>
                <a:cs typeface="Tahoma" pitchFamily="34" charset="0"/>
              </a:rPr>
              <a:t>  (SALARY </a:t>
            </a:r>
            <a:r>
              <a:rPr lang="en-US" b="1" dirty="0">
                <a:solidFill>
                  <a:srgbClr val="00B0F0"/>
                </a:solidFill>
                <a:latin typeface="Tahoma" pitchFamily="34" charset="0"/>
                <a:ea typeface="Tahoma" pitchFamily="34" charset="0"/>
                <a:cs typeface="Tahoma" pitchFamily="34" charset="0"/>
              </a:rPr>
              <a:t>BETWEEN </a:t>
            </a:r>
            <a:r>
              <a:rPr lang="en-US" b="1" dirty="0">
                <a:latin typeface="Tahoma" pitchFamily="34" charset="0"/>
                <a:ea typeface="Tahoma" pitchFamily="34" charset="0"/>
                <a:cs typeface="Tahoma" pitchFamily="34" charset="0"/>
              </a:rPr>
              <a:t>30000 </a:t>
            </a:r>
            <a:r>
              <a:rPr lang="en-US" b="1" dirty="0">
                <a:solidFill>
                  <a:srgbClr val="0070C0"/>
                </a:solidFill>
                <a:latin typeface="Tahoma" pitchFamily="34" charset="0"/>
                <a:ea typeface="Tahoma" pitchFamily="34" charset="0"/>
                <a:cs typeface="Tahoma" pitchFamily="34" charset="0"/>
              </a:rPr>
              <a:t>AND</a:t>
            </a:r>
            <a:r>
              <a:rPr lang="en-US" b="1" dirty="0">
                <a:latin typeface="Tahoma" pitchFamily="34" charset="0"/>
                <a:ea typeface="Tahoma" pitchFamily="34" charset="0"/>
                <a:cs typeface="Tahoma" pitchFamily="34" charset="0"/>
              </a:rPr>
              <a:t> 40000) </a:t>
            </a:r>
            <a:r>
              <a:rPr lang="en-US" b="1" dirty="0">
                <a:solidFill>
                  <a:srgbClr val="00B0F0"/>
                </a:solidFill>
                <a:latin typeface="Tahoma" pitchFamily="34" charset="0"/>
                <a:ea typeface="Tahoma" pitchFamily="34" charset="0"/>
                <a:cs typeface="Tahoma" pitchFamily="34" charset="0"/>
              </a:rPr>
              <a:t>AND </a:t>
            </a:r>
            <a:r>
              <a:rPr lang="en-US" b="1" dirty="0">
                <a:latin typeface="Tahoma" pitchFamily="34" charset="0"/>
                <a:ea typeface="Tahoma" pitchFamily="34" charset="0"/>
                <a:cs typeface="Tahoma" pitchFamily="34" charset="0"/>
              </a:rPr>
              <a:t>DNO =5;</a:t>
            </a:r>
          </a:p>
          <a:p>
            <a:pPr algn="just">
              <a:lnSpc>
                <a:spcPct val="150000"/>
              </a:lnSpc>
            </a:pPr>
            <a:endParaRPr lang="en-US" sz="1600" b="1" dirty="0">
              <a:latin typeface="Tahoma" pitchFamily="34" charset="0"/>
              <a:ea typeface="Tahoma" pitchFamily="34" charset="0"/>
              <a:cs typeface="Tahoma" pitchFamily="34" charset="0"/>
            </a:endParaRPr>
          </a:p>
          <a:p>
            <a:pPr algn="just">
              <a:lnSpc>
                <a:spcPct val="200000"/>
              </a:lnSpc>
            </a:pPr>
            <a:r>
              <a:rPr lang="en-US" sz="2000" b="1" dirty="0">
                <a:latin typeface="Tahoma" pitchFamily="34" charset="0"/>
                <a:ea typeface="Tahoma" pitchFamily="34" charset="0"/>
                <a:cs typeface="Tahoma" pitchFamily="34" charset="0"/>
              </a:rPr>
              <a:t>Note : </a:t>
            </a:r>
            <a:r>
              <a:rPr lang="en-US" dirty="0">
                <a:latin typeface="Tahoma" pitchFamily="34" charset="0"/>
                <a:ea typeface="Tahoma" pitchFamily="34" charset="0"/>
                <a:cs typeface="Tahoma" pitchFamily="34" charset="0"/>
              </a:rPr>
              <a:t>The condition (SALARY BETWEEN 30000 AND 40000) in Q14 is equivalent to the condition ((SALARY &gt;= 30000) AND (SALARY &lt;= 40000)</a:t>
            </a:r>
          </a:p>
        </p:txBody>
      </p:sp>
    </p:spTree>
  </p:cSld>
  <p:clrMapOvr>
    <a:masterClrMapping/>
  </p:clrMapOvr>
  <p:transition>
    <p:cu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228600"/>
            <a:ext cx="8763000" cy="480131"/>
          </a:xfrm>
          <a:prstGeom prst="rect">
            <a:avLst/>
          </a:prstGeom>
          <a:noFill/>
        </p:spPr>
        <p:txBody>
          <a:bodyPr wrap="square" rtlCol="0">
            <a:spAutoFit/>
          </a:bodyPr>
          <a:lstStyle/>
          <a:p>
            <a:pPr>
              <a:lnSpc>
                <a:spcPct val="90000"/>
              </a:lnSpc>
            </a:pPr>
            <a:r>
              <a:rPr lang="en-US" sz="2800" b="1" dirty="0">
                <a:latin typeface="Tahoma" pitchFamily="34" charset="0"/>
                <a:ea typeface="Tahoma" pitchFamily="34" charset="0"/>
                <a:cs typeface="Tahoma" pitchFamily="34" charset="0"/>
              </a:rPr>
              <a:t>Use of  </a:t>
            </a:r>
            <a:r>
              <a:rPr lang="en-US" sz="2800" b="1" dirty="0">
                <a:solidFill>
                  <a:srgbClr val="00B0F0"/>
                </a:solidFill>
                <a:latin typeface="Tahoma" pitchFamily="34" charset="0"/>
                <a:ea typeface="Tahoma" pitchFamily="34" charset="0"/>
                <a:cs typeface="Tahoma" pitchFamily="34" charset="0"/>
              </a:rPr>
              <a:t>ORDER BY</a:t>
            </a:r>
            <a:endParaRPr lang="en-US" sz="2400" b="1" dirty="0">
              <a:solidFill>
                <a:srgbClr val="00B0F0"/>
              </a:solidFill>
              <a:latin typeface="Tahoma" pitchFamily="34" charset="0"/>
              <a:ea typeface="Tahoma" pitchFamily="34" charset="0"/>
              <a:cs typeface="Tahoma" pitchFamily="34" charset="0"/>
            </a:endParaRPr>
          </a:p>
        </p:txBody>
      </p:sp>
      <p:sp>
        <p:nvSpPr>
          <p:cNvPr id="6" name="TextBox 5"/>
          <p:cNvSpPr txBox="1"/>
          <p:nvPr/>
        </p:nvSpPr>
        <p:spPr>
          <a:xfrm>
            <a:off x="228600" y="990601"/>
            <a:ext cx="8686800" cy="5032147"/>
          </a:xfrm>
          <a:prstGeom prst="rect">
            <a:avLst/>
          </a:prstGeom>
          <a:noFill/>
        </p:spPr>
        <p:txBody>
          <a:bodyPr wrap="square" rtlCol="0">
            <a:spAutoFit/>
          </a:bodyPr>
          <a:lstStyle/>
          <a:p>
            <a:pPr algn="just">
              <a:lnSpc>
                <a:spcPct val="150000"/>
              </a:lnSpc>
            </a:pPr>
            <a:r>
              <a:rPr lang="en-US" b="1" dirty="0">
                <a:latin typeface="Tahoma" pitchFamily="34" charset="0"/>
                <a:ea typeface="Tahoma" pitchFamily="34" charset="0"/>
                <a:cs typeface="Tahoma" pitchFamily="34" charset="0"/>
              </a:rPr>
              <a:t>QUERY 15 : </a:t>
            </a:r>
            <a:r>
              <a:rPr lang="en-US" sz="2000" dirty="0">
                <a:latin typeface="Tahoma" pitchFamily="34" charset="0"/>
                <a:ea typeface="Tahoma" pitchFamily="34" charset="0"/>
                <a:cs typeface="Tahoma" pitchFamily="34" charset="0"/>
              </a:rPr>
              <a:t>Retrieve a list of employees and the projects they are working on, ordered by department and, within each department, </a:t>
            </a:r>
            <a:r>
              <a:rPr lang="en-US" sz="2000" i="1" dirty="0">
                <a:latin typeface="Tahoma" pitchFamily="34" charset="0"/>
                <a:ea typeface="Tahoma" pitchFamily="34" charset="0"/>
                <a:cs typeface="Tahoma" pitchFamily="34" charset="0"/>
              </a:rPr>
              <a:t>ordered alphabetically by last name, first name.</a:t>
            </a:r>
          </a:p>
          <a:p>
            <a:pPr algn="just">
              <a:lnSpc>
                <a:spcPct val="150000"/>
              </a:lnSpc>
            </a:pPr>
            <a:endParaRPr lang="en-US" dirty="0">
              <a:latin typeface="Tahoma" pitchFamily="34" charset="0"/>
              <a:ea typeface="Tahoma" pitchFamily="34" charset="0"/>
              <a:cs typeface="Tahoma" pitchFamily="34" charset="0"/>
            </a:endParaRPr>
          </a:p>
          <a:p>
            <a:pPr algn="just">
              <a:lnSpc>
                <a:spcPct val="150000"/>
              </a:lnSpc>
            </a:pPr>
            <a:r>
              <a:rPr lang="en-US" b="1" dirty="0">
                <a:latin typeface="Tahoma" pitchFamily="34" charset="0"/>
                <a:ea typeface="Tahoma" pitchFamily="34" charset="0"/>
                <a:cs typeface="Tahoma" pitchFamily="34" charset="0"/>
              </a:rPr>
              <a:t>Q15: 	</a:t>
            </a:r>
            <a:r>
              <a:rPr lang="en-US" b="1" dirty="0">
                <a:solidFill>
                  <a:srgbClr val="00B0F0"/>
                </a:solidFill>
                <a:latin typeface="Tahoma" pitchFamily="34" charset="0"/>
                <a:ea typeface="Tahoma" pitchFamily="34" charset="0"/>
                <a:cs typeface="Tahoma" pitchFamily="34" charset="0"/>
              </a:rPr>
              <a:t>SELECT </a:t>
            </a:r>
            <a:r>
              <a:rPr lang="en-US" b="1" dirty="0">
                <a:latin typeface="Tahoma" pitchFamily="34" charset="0"/>
                <a:ea typeface="Tahoma" pitchFamily="34" charset="0"/>
                <a:cs typeface="Tahoma" pitchFamily="34" charset="0"/>
              </a:rPr>
              <a:t> DNAME, LNAME, FNAME, PNAME</a:t>
            </a:r>
          </a:p>
          <a:p>
            <a:pPr algn="just">
              <a:lnSpc>
                <a:spcPct val="150000"/>
              </a:lnSpc>
            </a:pPr>
            <a:r>
              <a:rPr lang="en-US" b="1" dirty="0">
                <a:latin typeface="Tahoma" pitchFamily="34" charset="0"/>
                <a:ea typeface="Tahoma" pitchFamily="34" charset="0"/>
                <a:cs typeface="Tahoma" pitchFamily="34" charset="0"/>
              </a:rPr>
              <a:t>         	</a:t>
            </a:r>
            <a:r>
              <a:rPr lang="en-US" b="1" dirty="0">
                <a:solidFill>
                  <a:srgbClr val="00B0F0"/>
                </a:solidFill>
                <a:latin typeface="Tahoma" pitchFamily="34" charset="0"/>
                <a:ea typeface="Tahoma" pitchFamily="34" charset="0"/>
                <a:cs typeface="Tahoma" pitchFamily="34" charset="0"/>
              </a:rPr>
              <a:t>FROM </a:t>
            </a:r>
            <a:r>
              <a:rPr lang="en-US" b="1" dirty="0">
                <a:latin typeface="Tahoma" pitchFamily="34" charset="0"/>
                <a:ea typeface="Tahoma" pitchFamily="34" charset="0"/>
                <a:cs typeface="Tahoma" pitchFamily="34" charset="0"/>
              </a:rPr>
              <a:t> DEPARTMENT, EMPLOYEE, WORKS_ON, PROJECT</a:t>
            </a:r>
          </a:p>
          <a:p>
            <a:pPr algn="just">
              <a:lnSpc>
                <a:spcPct val="150000"/>
              </a:lnSpc>
            </a:pPr>
            <a:r>
              <a:rPr lang="en-US" b="1" dirty="0">
                <a:latin typeface="Tahoma" pitchFamily="34" charset="0"/>
                <a:ea typeface="Tahoma" pitchFamily="34" charset="0"/>
                <a:cs typeface="Tahoma" pitchFamily="34" charset="0"/>
              </a:rPr>
              <a:t>	</a:t>
            </a:r>
            <a:r>
              <a:rPr lang="en-US" b="1" dirty="0">
                <a:solidFill>
                  <a:srgbClr val="00B0F0"/>
                </a:solidFill>
                <a:latin typeface="Tahoma" pitchFamily="34" charset="0"/>
                <a:ea typeface="Tahoma" pitchFamily="34" charset="0"/>
                <a:cs typeface="Tahoma" pitchFamily="34" charset="0"/>
              </a:rPr>
              <a:t>WHERE</a:t>
            </a:r>
            <a:r>
              <a:rPr lang="en-US" b="1" dirty="0">
                <a:latin typeface="Tahoma" pitchFamily="34" charset="0"/>
                <a:ea typeface="Tahoma" pitchFamily="34" charset="0"/>
                <a:cs typeface="Tahoma" pitchFamily="34" charset="0"/>
              </a:rPr>
              <a:t>   </a:t>
            </a:r>
            <a:r>
              <a:rPr lang="en-US" b="1" dirty="0">
                <a:solidFill>
                  <a:srgbClr val="C00000"/>
                </a:solidFill>
                <a:latin typeface="Tahoma" pitchFamily="34" charset="0"/>
                <a:ea typeface="Tahoma" pitchFamily="34" charset="0"/>
                <a:cs typeface="Tahoma" pitchFamily="34" charset="0"/>
              </a:rPr>
              <a:t>DNUMBER=DNO </a:t>
            </a:r>
            <a:r>
              <a:rPr lang="en-US" b="1" dirty="0">
                <a:solidFill>
                  <a:srgbClr val="00B0F0"/>
                </a:solidFill>
                <a:latin typeface="Tahoma" pitchFamily="34" charset="0"/>
                <a:ea typeface="Tahoma" pitchFamily="34" charset="0"/>
                <a:cs typeface="Tahoma" pitchFamily="34" charset="0"/>
              </a:rPr>
              <a:t>AND</a:t>
            </a:r>
            <a:r>
              <a:rPr lang="en-US" b="1" dirty="0">
                <a:latin typeface="Tahoma" pitchFamily="34" charset="0"/>
                <a:ea typeface="Tahoma" pitchFamily="34" charset="0"/>
                <a:cs typeface="Tahoma" pitchFamily="34" charset="0"/>
              </a:rPr>
              <a:t> </a:t>
            </a:r>
            <a:r>
              <a:rPr lang="en-US" b="1" dirty="0">
                <a:solidFill>
                  <a:srgbClr val="C00000"/>
                </a:solidFill>
                <a:latin typeface="Tahoma" pitchFamily="34" charset="0"/>
                <a:ea typeface="Tahoma" pitchFamily="34" charset="0"/>
                <a:cs typeface="Tahoma" pitchFamily="34" charset="0"/>
              </a:rPr>
              <a:t>SSN=ESSN</a:t>
            </a:r>
            <a:r>
              <a:rPr lang="en-US" b="1" dirty="0">
                <a:latin typeface="Tahoma" pitchFamily="34" charset="0"/>
                <a:ea typeface="Tahoma" pitchFamily="34" charset="0"/>
                <a:cs typeface="Tahoma" pitchFamily="34" charset="0"/>
              </a:rPr>
              <a:t> </a:t>
            </a:r>
            <a:r>
              <a:rPr lang="en-US" b="1" dirty="0">
                <a:solidFill>
                  <a:srgbClr val="00B0F0"/>
                </a:solidFill>
                <a:latin typeface="Tahoma" pitchFamily="34" charset="0"/>
                <a:ea typeface="Tahoma" pitchFamily="34" charset="0"/>
                <a:cs typeface="Tahoma" pitchFamily="34" charset="0"/>
              </a:rPr>
              <a:t>AND</a:t>
            </a:r>
            <a:r>
              <a:rPr lang="en-US" b="1" dirty="0">
                <a:latin typeface="Tahoma" pitchFamily="34" charset="0"/>
                <a:ea typeface="Tahoma" pitchFamily="34" charset="0"/>
                <a:cs typeface="Tahoma" pitchFamily="34" charset="0"/>
              </a:rPr>
              <a:t> </a:t>
            </a:r>
            <a:r>
              <a:rPr lang="en-US" b="1" dirty="0">
                <a:solidFill>
                  <a:srgbClr val="C00000"/>
                </a:solidFill>
                <a:latin typeface="Tahoma" pitchFamily="34" charset="0"/>
                <a:ea typeface="Tahoma" pitchFamily="34" charset="0"/>
                <a:cs typeface="Tahoma" pitchFamily="34" charset="0"/>
              </a:rPr>
              <a:t>PNO=PNUMBER</a:t>
            </a:r>
          </a:p>
          <a:p>
            <a:pPr algn="just">
              <a:lnSpc>
                <a:spcPct val="150000"/>
              </a:lnSpc>
            </a:pPr>
            <a:r>
              <a:rPr lang="en-US" b="1" dirty="0">
                <a:latin typeface="Tahoma" pitchFamily="34" charset="0"/>
                <a:ea typeface="Tahoma" pitchFamily="34" charset="0"/>
                <a:cs typeface="Tahoma" pitchFamily="34" charset="0"/>
              </a:rPr>
              <a:t>	</a:t>
            </a:r>
            <a:r>
              <a:rPr lang="en-US" b="1" dirty="0">
                <a:solidFill>
                  <a:srgbClr val="00B0F0"/>
                </a:solidFill>
                <a:latin typeface="Tahoma" pitchFamily="34" charset="0"/>
                <a:ea typeface="Tahoma" pitchFamily="34" charset="0"/>
                <a:cs typeface="Tahoma" pitchFamily="34" charset="0"/>
              </a:rPr>
              <a:t>ORDER BY   </a:t>
            </a:r>
            <a:r>
              <a:rPr lang="en-US" b="1" dirty="0">
                <a:latin typeface="Tahoma" pitchFamily="34" charset="0"/>
                <a:ea typeface="Tahoma" pitchFamily="34" charset="0"/>
                <a:cs typeface="Tahoma" pitchFamily="34" charset="0"/>
              </a:rPr>
              <a:t>DNAME, LNAME, FNAME;</a:t>
            </a:r>
          </a:p>
          <a:p>
            <a:pPr algn="just">
              <a:lnSpc>
                <a:spcPct val="150000"/>
              </a:lnSpc>
            </a:pPr>
            <a:endParaRPr lang="en-US" sz="1600" dirty="0">
              <a:latin typeface="Tahoma" pitchFamily="34" charset="0"/>
              <a:ea typeface="Tahoma" pitchFamily="34" charset="0"/>
              <a:cs typeface="Tahoma" pitchFamily="34" charset="0"/>
            </a:endParaRPr>
          </a:p>
          <a:p>
            <a:pPr marL="342900" indent="-342900" algn="just">
              <a:lnSpc>
                <a:spcPct val="150000"/>
              </a:lnSpc>
            </a:pPr>
            <a:r>
              <a:rPr lang="en-US" sz="1600" b="1" dirty="0">
                <a:latin typeface="Tahoma" pitchFamily="34" charset="0"/>
                <a:ea typeface="Tahoma" pitchFamily="34" charset="0"/>
                <a:cs typeface="Tahoma" pitchFamily="34" charset="0"/>
              </a:rPr>
              <a:t>Note : </a:t>
            </a:r>
            <a:r>
              <a:rPr lang="en-US" sz="1400" b="1" dirty="0">
                <a:latin typeface="Tahoma" pitchFamily="34" charset="0"/>
                <a:ea typeface="Tahoma" pitchFamily="34" charset="0"/>
                <a:cs typeface="Tahoma" pitchFamily="34" charset="0"/>
              </a:rPr>
              <a:t>1. </a:t>
            </a:r>
            <a:r>
              <a:rPr lang="en-US" sz="1600" dirty="0">
                <a:latin typeface="Tahoma" pitchFamily="34" charset="0"/>
                <a:ea typeface="Tahoma" pitchFamily="34" charset="0"/>
                <a:cs typeface="Tahoma" pitchFamily="34" charset="0"/>
              </a:rPr>
              <a:t>The default order is in ascending order of values.</a:t>
            </a:r>
          </a:p>
          <a:p>
            <a:pPr marL="342900" indent="-342900" algn="just">
              <a:lnSpc>
                <a:spcPct val="150000"/>
              </a:lnSpc>
            </a:pPr>
            <a:r>
              <a:rPr lang="en-US" sz="1400" dirty="0">
                <a:latin typeface="Tahoma" pitchFamily="34" charset="0"/>
                <a:ea typeface="Tahoma" pitchFamily="34" charset="0"/>
                <a:cs typeface="Tahoma" pitchFamily="34" charset="0"/>
              </a:rPr>
              <a:t>            </a:t>
            </a:r>
            <a:r>
              <a:rPr lang="en-US" sz="1400" b="1" dirty="0">
                <a:latin typeface="Tahoma" pitchFamily="34" charset="0"/>
                <a:ea typeface="Tahoma" pitchFamily="34" charset="0"/>
                <a:cs typeface="Tahoma" pitchFamily="34" charset="0"/>
              </a:rPr>
              <a:t>2. </a:t>
            </a:r>
            <a:r>
              <a:rPr lang="en-US" sz="1600" dirty="0">
                <a:latin typeface="Tahoma" pitchFamily="34" charset="0"/>
                <a:ea typeface="Tahoma" pitchFamily="34" charset="0"/>
                <a:cs typeface="Tahoma" pitchFamily="34" charset="0"/>
              </a:rPr>
              <a:t>We can specify the keyword </a:t>
            </a:r>
            <a:r>
              <a:rPr lang="en-US" sz="1600" b="1" dirty="0">
                <a:solidFill>
                  <a:srgbClr val="00B0F0"/>
                </a:solidFill>
                <a:latin typeface="Tahoma" pitchFamily="34" charset="0"/>
                <a:ea typeface="Tahoma" pitchFamily="34" charset="0"/>
                <a:cs typeface="Tahoma" pitchFamily="34" charset="0"/>
              </a:rPr>
              <a:t>DESC</a:t>
            </a:r>
            <a:r>
              <a:rPr lang="en-US" sz="1600" dirty="0">
                <a:latin typeface="Tahoma" pitchFamily="34" charset="0"/>
                <a:ea typeface="Tahoma" pitchFamily="34" charset="0"/>
                <a:cs typeface="Tahoma" pitchFamily="34" charset="0"/>
              </a:rPr>
              <a:t> if we want to see the result in a descending    order  of values</a:t>
            </a:r>
            <a:r>
              <a:rPr lang="en-US" sz="1400" b="1" dirty="0">
                <a:latin typeface="Tahoma" pitchFamily="34" charset="0"/>
                <a:ea typeface="Tahoma" pitchFamily="34" charset="0"/>
                <a:cs typeface="Tahoma" pitchFamily="34" charset="0"/>
              </a:rPr>
              <a:t>.</a:t>
            </a:r>
          </a:p>
        </p:txBody>
      </p:sp>
    </p:spTree>
  </p:cSld>
  <p:clrMapOvr>
    <a:masterClrMapping/>
  </p:clrMapOvr>
  <p:transition>
    <p:cu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228600"/>
            <a:ext cx="8763000" cy="480131"/>
          </a:xfrm>
          <a:prstGeom prst="rect">
            <a:avLst/>
          </a:prstGeom>
          <a:noFill/>
        </p:spPr>
        <p:txBody>
          <a:bodyPr wrap="square" rtlCol="0">
            <a:spAutoFit/>
          </a:bodyPr>
          <a:lstStyle/>
          <a:p>
            <a:pPr>
              <a:lnSpc>
                <a:spcPct val="90000"/>
              </a:lnSpc>
            </a:pPr>
            <a:r>
              <a:rPr lang="en-US" sz="2800" b="1" dirty="0">
                <a:latin typeface="Tahoma" pitchFamily="34" charset="0"/>
                <a:ea typeface="Tahoma" pitchFamily="34" charset="0"/>
                <a:cs typeface="Tahoma" pitchFamily="34" charset="0"/>
              </a:rPr>
              <a:t>Use of  </a:t>
            </a:r>
            <a:r>
              <a:rPr lang="en-US" sz="2800" b="1" dirty="0">
                <a:solidFill>
                  <a:srgbClr val="00B0F0"/>
                </a:solidFill>
                <a:latin typeface="Tahoma" pitchFamily="34" charset="0"/>
                <a:ea typeface="Tahoma" pitchFamily="34" charset="0"/>
                <a:cs typeface="Tahoma" pitchFamily="34" charset="0"/>
              </a:rPr>
              <a:t>ORDER BY</a:t>
            </a:r>
            <a:endParaRPr lang="en-US" sz="2400" b="1" dirty="0">
              <a:solidFill>
                <a:srgbClr val="00B0F0"/>
              </a:solidFill>
              <a:latin typeface="Tahoma" pitchFamily="34" charset="0"/>
              <a:ea typeface="Tahoma" pitchFamily="34" charset="0"/>
              <a:cs typeface="Tahoma" pitchFamily="34" charset="0"/>
            </a:endParaRPr>
          </a:p>
        </p:txBody>
      </p:sp>
      <p:sp>
        <p:nvSpPr>
          <p:cNvPr id="5" name="TextBox 4"/>
          <p:cNvSpPr txBox="1"/>
          <p:nvPr/>
        </p:nvSpPr>
        <p:spPr>
          <a:xfrm>
            <a:off x="381000" y="1524001"/>
            <a:ext cx="8534400" cy="1200329"/>
          </a:xfrm>
          <a:prstGeom prst="rect">
            <a:avLst/>
          </a:prstGeom>
          <a:noFill/>
        </p:spPr>
        <p:txBody>
          <a:bodyPr wrap="square" rtlCol="0">
            <a:spAutoFit/>
          </a:bodyPr>
          <a:lstStyle/>
          <a:p>
            <a:pPr lvl="0" algn="just"/>
            <a:r>
              <a:rPr lang="en-US" sz="2400" dirty="0"/>
              <a:t>SELECT * FROM People ORDER BY FirstName, YearOfBirth,  LastName</a:t>
            </a:r>
          </a:p>
          <a:p>
            <a:pPr algn="just"/>
            <a:endParaRPr lang="en-US" sz="2400" dirty="0"/>
          </a:p>
        </p:txBody>
      </p:sp>
      <p:sp>
        <p:nvSpPr>
          <p:cNvPr id="8" name="TextBox 7"/>
          <p:cNvSpPr txBox="1"/>
          <p:nvPr/>
        </p:nvSpPr>
        <p:spPr>
          <a:xfrm>
            <a:off x="304800" y="914400"/>
            <a:ext cx="2057400" cy="523220"/>
          </a:xfrm>
          <a:prstGeom prst="rect">
            <a:avLst/>
          </a:prstGeom>
          <a:noFill/>
        </p:spPr>
        <p:txBody>
          <a:bodyPr wrap="square" rtlCol="0">
            <a:spAutoFit/>
          </a:bodyPr>
          <a:lstStyle/>
          <a:p>
            <a:r>
              <a:rPr lang="en-US" sz="2800" b="1" dirty="0"/>
              <a:t>Example</a:t>
            </a:r>
          </a:p>
        </p:txBody>
      </p:sp>
      <p:pic>
        <p:nvPicPr>
          <p:cNvPr id="2050" name="Picture 2"/>
          <p:cNvPicPr>
            <a:picLocks noChangeAspect="1" noChangeArrowheads="1"/>
          </p:cNvPicPr>
          <p:nvPr/>
        </p:nvPicPr>
        <p:blipFill>
          <a:blip r:embed="rId3" cstate="print"/>
          <a:srcRect/>
          <a:stretch>
            <a:fillRect/>
          </a:stretch>
        </p:blipFill>
        <p:spPr bwMode="auto">
          <a:xfrm>
            <a:off x="1295400" y="2438400"/>
            <a:ext cx="6609606" cy="3200400"/>
          </a:xfrm>
          <a:prstGeom prst="rect">
            <a:avLst/>
          </a:prstGeom>
          <a:noFill/>
          <a:ln w="9525">
            <a:noFill/>
            <a:miter lim="800000"/>
            <a:headEnd/>
            <a:tailEnd/>
          </a:ln>
        </p:spPr>
      </p:pic>
    </p:spTree>
  </p:cSld>
  <p:clrMapOvr>
    <a:masterClrMapping/>
  </p:clrMapOvr>
  <p:transition>
    <p:cu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228600"/>
            <a:ext cx="8763000" cy="480131"/>
          </a:xfrm>
          <a:prstGeom prst="rect">
            <a:avLst/>
          </a:prstGeom>
          <a:noFill/>
        </p:spPr>
        <p:txBody>
          <a:bodyPr wrap="square" rtlCol="0">
            <a:spAutoFit/>
          </a:bodyPr>
          <a:lstStyle/>
          <a:p>
            <a:pPr>
              <a:lnSpc>
                <a:spcPct val="90000"/>
              </a:lnSpc>
            </a:pPr>
            <a:r>
              <a:rPr lang="en-US" sz="2800" b="1" dirty="0">
                <a:latin typeface="Tahoma" pitchFamily="34" charset="0"/>
                <a:ea typeface="Tahoma" pitchFamily="34" charset="0"/>
                <a:cs typeface="Tahoma" pitchFamily="34" charset="0"/>
              </a:rPr>
              <a:t>Use of  </a:t>
            </a:r>
            <a:r>
              <a:rPr lang="en-US" sz="2800" b="1" dirty="0">
                <a:solidFill>
                  <a:srgbClr val="00B0F0"/>
                </a:solidFill>
                <a:latin typeface="Tahoma" pitchFamily="34" charset="0"/>
                <a:ea typeface="Tahoma" pitchFamily="34" charset="0"/>
                <a:cs typeface="Tahoma" pitchFamily="34" charset="0"/>
              </a:rPr>
              <a:t>ORDER BY</a:t>
            </a:r>
            <a:endParaRPr lang="en-US" sz="2400" b="1" dirty="0">
              <a:solidFill>
                <a:srgbClr val="00B0F0"/>
              </a:solidFill>
              <a:latin typeface="Tahoma" pitchFamily="34" charset="0"/>
              <a:ea typeface="Tahoma" pitchFamily="34" charset="0"/>
              <a:cs typeface="Tahoma" pitchFamily="34" charset="0"/>
            </a:endParaRPr>
          </a:p>
        </p:txBody>
      </p:sp>
      <p:sp>
        <p:nvSpPr>
          <p:cNvPr id="5" name="TextBox 4"/>
          <p:cNvSpPr txBox="1"/>
          <p:nvPr/>
        </p:nvSpPr>
        <p:spPr>
          <a:xfrm>
            <a:off x="381000" y="1524001"/>
            <a:ext cx="8534400" cy="461665"/>
          </a:xfrm>
          <a:prstGeom prst="rect">
            <a:avLst/>
          </a:prstGeom>
          <a:noFill/>
        </p:spPr>
        <p:txBody>
          <a:bodyPr wrap="square" rtlCol="0">
            <a:spAutoFit/>
          </a:bodyPr>
          <a:lstStyle/>
          <a:p>
            <a:pPr lvl="0" algn="just"/>
            <a:r>
              <a:rPr lang="en-US" sz="2400" dirty="0"/>
              <a:t>Result:</a:t>
            </a:r>
          </a:p>
        </p:txBody>
      </p:sp>
      <p:sp>
        <p:nvSpPr>
          <p:cNvPr id="8" name="TextBox 7"/>
          <p:cNvSpPr txBox="1"/>
          <p:nvPr/>
        </p:nvSpPr>
        <p:spPr>
          <a:xfrm>
            <a:off x="304800" y="914400"/>
            <a:ext cx="2057400" cy="523220"/>
          </a:xfrm>
          <a:prstGeom prst="rect">
            <a:avLst/>
          </a:prstGeom>
          <a:noFill/>
        </p:spPr>
        <p:txBody>
          <a:bodyPr wrap="square" rtlCol="0">
            <a:spAutoFit/>
          </a:bodyPr>
          <a:lstStyle/>
          <a:p>
            <a:r>
              <a:rPr lang="en-US" sz="2800" b="1" dirty="0"/>
              <a:t>Example</a:t>
            </a:r>
          </a:p>
        </p:txBody>
      </p:sp>
      <p:pic>
        <p:nvPicPr>
          <p:cNvPr id="303106" name="Picture 2"/>
          <p:cNvPicPr>
            <a:picLocks noChangeAspect="1" noChangeArrowheads="1"/>
          </p:cNvPicPr>
          <p:nvPr/>
        </p:nvPicPr>
        <p:blipFill>
          <a:blip r:embed="rId3" cstate="print"/>
          <a:srcRect/>
          <a:stretch>
            <a:fillRect/>
          </a:stretch>
        </p:blipFill>
        <p:spPr bwMode="auto">
          <a:xfrm>
            <a:off x="685800" y="2209800"/>
            <a:ext cx="7162800" cy="3280863"/>
          </a:xfrm>
          <a:prstGeom prst="rect">
            <a:avLst/>
          </a:prstGeom>
          <a:noFill/>
          <a:ln w="9525">
            <a:noFill/>
            <a:miter lim="800000"/>
            <a:headEnd/>
            <a:tailEnd/>
          </a:ln>
        </p:spPr>
      </p:pic>
    </p:spTree>
  </p:cSld>
  <p:clrMapOvr>
    <a:masterClrMapping/>
  </p:clrMapOvr>
  <p:transition>
    <p:cu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524000" y="1905000"/>
            <a:ext cx="5486400" cy="2514600"/>
          </a:xfrm>
          <a:noFill/>
        </p:spPr>
        <p:txBody>
          <a:bodyPr lIns="90488" tIns="44450" rIns="90488" bIns="44450"/>
          <a:lstStyle/>
          <a:p>
            <a:pPr lvl="0">
              <a:lnSpc>
                <a:spcPct val="150000"/>
              </a:lnSpc>
            </a:pPr>
            <a:r>
              <a:rPr lang="en-US" sz="5400" b="1" dirty="0">
                <a:latin typeface="Tahoma" pitchFamily="34" charset="0"/>
                <a:ea typeface="Tahoma" pitchFamily="34" charset="0"/>
                <a:cs typeface="Tahoma" pitchFamily="34" charset="0"/>
              </a:rPr>
              <a:t>More Complex SQL Queries</a:t>
            </a:r>
          </a:p>
        </p:txBody>
      </p:sp>
    </p:spTree>
  </p:cSld>
  <p:clrMapOvr>
    <a:masterClrMapping/>
  </p:clrMapOvr>
  <p:transition>
    <p:cu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63723-7EE3-4597-AC7E-ABCE4FDCB078}"/>
              </a:ext>
            </a:extLst>
          </p:cNvPr>
          <p:cNvSpPr>
            <a:spLocks noGrp="1"/>
          </p:cNvSpPr>
          <p:nvPr>
            <p:ph type="title"/>
          </p:nvPr>
        </p:nvSpPr>
        <p:spPr>
          <a:xfrm>
            <a:off x="457200" y="274638"/>
            <a:ext cx="8229600" cy="792162"/>
          </a:xfrm>
        </p:spPr>
        <p:txBody>
          <a:bodyPr/>
          <a:lstStyle/>
          <a:p>
            <a:r>
              <a:rPr lang="en-US" dirty="0"/>
              <a:t>Nested Query</a:t>
            </a:r>
            <a:endParaRPr lang="en-IN" dirty="0"/>
          </a:p>
        </p:txBody>
      </p:sp>
      <p:sp>
        <p:nvSpPr>
          <p:cNvPr id="3" name="Content Placeholder 2">
            <a:extLst>
              <a:ext uri="{FF2B5EF4-FFF2-40B4-BE49-F238E27FC236}">
                <a16:creationId xmlns:a16="http://schemas.microsoft.com/office/drawing/2014/main" id="{746B73E9-30AD-4843-A7AD-9E6C0AB3EA51}"/>
              </a:ext>
            </a:extLst>
          </p:cNvPr>
          <p:cNvSpPr>
            <a:spLocks noGrp="1"/>
          </p:cNvSpPr>
          <p:nvPr>
            <p:ph idx="1"/>
          </p:nvPr>
        </p:nvSpPr>
        <p:spPr>
          <a:xfrm>
            <a:off x="457200" y="1066800"/>
            <a:ext cx="8229600" cy="5257800"/>
          </a:xfrm>
        </p:spPr>
        <p:txBody>
          <a:bodyPr/>
          <a:lstStyle/>
          <a:p>
            <a:pPr algn="just"/>
            <a:r>
              <a:rPr lang="en-US" sz="2300" dirty="0"/>
              <a:t>A </a:t>
            </a:r>
            <a:r>
              <a:rPr lang="en-US" sz="2300" u="sng" dirty="0"/>
              <a:t>Nested Query</a:t>
            </a:r>
            <a:r>
              <a:rPr lang="en-US" sz="2300" dirty="0"/>
              <a:t>(also called a </a:t>
            </a:r>
            <a:r>
              <a:rPr lang="en-US" sz="2300" b="1" dirty="0"/>
              <a:t>subquery</a:t>
            </a:r>
            <a:r>
              <a:rPr lang="en-US" sz="2300" dirty="0"/>
              <a:t>) is a query embedded within another SQL </a:t>
            </a:r>
            <a:r>
              <a:rPr lang="en-US" sz="2300" dirty="0" err="1"/>
              <a:t>Query.The</a:t>
            </a:r>
            <a:r>
              <a:rPr lang="en-US" sz="2300" dirty="0"/>
              <a:t> result of the </a:t>
            </a:r>
            <a:r>
              <a:rPr lang="en-US" sz="2300" b="1" dirty="0"/>
              <a:t>inner query</a:t>
            </a:r>
            <a:r>
              <a:rPr lang="en-US" sz="2300" dirty="0"/>
              <a:t> is used by the outer query to perform further operations. Nested queries are commonly used for</a:t>
            </a:r>
            <a:r>
              <a:rPr lang="en-US" sz="2300" b="1" dirty="0"/>
              <a:t> filtering data</a:t>
            </a:r>
            <a:r>
              <a:rPr lang="en-US" sz="2300" dirty="0"/>
              <a:t>, performing </a:t>
            </a:r>
            <a:r>
              <a:rPr lang="en-US" sz="2300" b="1" dirty="0"/>
              <a:t>calculations</a:t>
            </a:r>
            <a:r>
              <a:rPr lang="en-US" sz="2300" dirty="0"/>
              <a:t>, or </a:t>
            </a:r>
            <a:r>
              <a:rPr lang="en-US" sz="2300" b="1" dirty="0"/>
              <a:t>joining datasets</a:t>
            </a:r>
            <a:r>
              <a:rPr lang="en-US" sz="2300" dirty="0"/>
              <a:t> indirectly.</a:t>
            </a:r>
          </a:p>
          <a:p>
            <a:pPr marL="0" indent="0" algn="just">
              <a:buNone/>
            </a:pPr>
            <a:r>
              <a:rPr lang="en-US" sz="2300" b="1" dirty="0"/>
              <a:t>Key Characteristics:</a:t>
            </a:r>
            <a:endParaRPr lang="en-US" sz="2300" dirty="0"/>
          </a:p>
          <a:p>
            <a:pPr algn="just"/>
            <a:r>
              <a:rPr lang="en-US" sz="2300" dirty="0"/>
              <a:t>The inner query runs before the outer query.</a:t>
            </a:r>
          </a:p>
          <a:p>
            <a:pPr algn="just"/>
            <a:r>
              <a:rPr lang="en-US" sz="2300" dirty="0"/>
              <a:t>The result of the inner query can be used by the outer query for </a:t>
            </a:r>
            <a:r>
              <a:rPr lang="en-US" sz="2300" b="1" dirty="0"/>
              <a:t>comparison </a:t>
            </a:r>
            <a:r>
              <a:rPr lang="en-US" sz="2300" dirty="0"/>
              <a:t>or as input data.</a:t>
            </a:r>
          </a:p>
          <a:p>
            <a:pPr algn="just"/>
            <a:r>
              <a:rPr lang="en-US" sz="2300" dirty="0"/>
              <a:t>Nested queries are particularly useful for breaking down complex problems into </a:t>
            </a:r>
            <a:r>
              <a:rPr lang="en-US" sz="2300" b="1" dirty="0"/>
              <a:t>smaller</a:t>
            </a:r>
            <a:r>
              <a:rPr lang="en-US" sz="2300" dirty="0"/>
              <a:t>, manageable parts, making it easier to retrieve specific results from large datasets.</a:t>
            </a:r>
          </a:p>
          <a:p>
            <a:pPr marL="0" indent="0">
              <a:buNone/>
            </a:pPr>
            <a:endParaRPr lang="en-IN" dirty="0"/>
          </a:p>
        </p:txBody>
      </p:sp>
    </p:spTree>
    <p:extLst>
      <p:ext uri="{BB962C8B-B14F-4D97-AF65-F5344CB8AC3E}">
        <p14:creationId xmlns:p14="http://schemas.microsoft.com/office/powerpoint/2010/main" val="24776690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152400"/>
            <a:ext cx="8610600" cy="424732"/>
          </a:xfrm>
          <a:prstGeom prst="rect">
            <a:avLst/>
          </a:prstGeom>
          <a:noFill/>
        </p:spPr>
        <p:txBody>
          <a:bodyPr wrap="square" rtlCol="0">
            <a:spAutoFit/>
          </a:bodyPr>
          <a:lstStyle/>
          <a:p>
            <a:pPr>
              <a:lnSpc>
                <a:spcPct val="90000"/>
              </a:lnSpc>
            </a:pPr>
            <a:r>
              <a:rPr lang="en-US" sz="2400" b="1" dirty="0">
                <a:solidFill>
                  <a:srgbClr val="002060"/>
                </a:solidFill>
                <a:latin typeface="Tahoma" pitchFamily="34" charset="0"/>
                <a:ea typeface="Tahoma" pitchFamily="34" charset="0"/>
                <a:cs typeface="Tahoma" pitchFamily="34" charset="0"/>
              </a:rPr>
              <a:t>NULL value  and Three-Valued Logic</a:t>
            </a:r>
            <a:endParaRPr lang="en-US" sz="2400" b="1" u="sng" dirty="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304800" y="990600"/>
            <a:ext cx="8686800" cy="4893647"/>
          </a:xfrm>
          <a:prstGeom prst="rect">
            <a:avLst/>
          </a:prstGeom>
          <a:noFill/>
        </p:spPr>
        <p:txBody>
          <a:bodyPr wrap="square" rtlCol="0">
            <a:spAutoFit/>
          </a:bodyPr>
          <a:lstStyle/>
          <a:p>
            <a:pPr marL="342900" indent="-342900" algn="just">
              <a:lnSpc>
                <a:spcPct val="150000"/>
              </a:lnSpc>
              <a:buFont typeface="Arial" pitchFamily="34" charset="0"/>
              <a:buChar char="•"/>
            </a:pPr>
            <a:r>
              <a:rPr lang="en-US" sz="1600" b="1" dirty="0">
                <a:solidFill>
                  <a:srgbClr val="000000"/>
                </a:solidFill>
                <a:latin typeface="Tahoma" pitchFamily="34" charset="0"/>
                <a:ea typeface="Tahoma" pitchFamily="34" charset="0"/>
                <a:cs typeface="Tahoma" pitchFamily="34" charset="0"/>
              </a:rPr>
              <a:t> </a:t>
            </a:r>
            <a:r>
              <a:rPr lang="en-US" sz="2000" b="1" dirty="0">
                <a:latin typeface="Tahoma" pitchFamily="34" charset="0"/>
                <a:ea typeface="Tahoma" pitchFamily="34" charset="0"/>
                <a:cs typeface="Tahoma" pitchFamily="34" charset="0"/>
              </a:rPr>
              <a:t>SQL has 3 kinds of NULL values.</a:t>
            </a:r>
            <a:endParaRPr lang="en-US" sz="1600" b="1" dirty="0">
              <a:latin typeface="Tahoma" pitchFamily="34" charset="0"/>
              <a:ea typeface="Tahoma" pitchFamily="34" charset="0"/>
              <a:cs typeface="Tahoma" pitchFamily="34" charset="0"/>
            </a:endParaRPr>
          </a:p>
          <a:p>
            <a:pPr algn="just">
              <a:lnSpc>
                <a:spcPct val="150000"/>
              </a:lnSpc>
            </a:pPr>
            <a:endParaRPr lang="en-US" sz="2000" b="1" dirty="0">
              <a:latin typeface="Tahoma" pitchFamily="34" charset="0"/>
              <a:ea typeface="Tahoma" pitchFamily="34" charset="0"/>
              <a:cs typeface="Tahoma" pitchFamily="34" charset="0"/>
            </a:endParaRPr>
          </a:p>
          <a:p>
            <a:pPr marL="800100" lvl="1" indent="-342900">
              <a:lnSpc>
                <a:spcPct val="200000"/>
              </a:lnSpc>
              <a:buFont typeface="+mj-lt"/>
              <a:buAutoNum type="arabicPeriod"/>
            </a:pPr>
            <a:r>
              <a:rPr lang="en-US" b="1" dirty="0">
                <a:solidFill>
                  <a:srgbClr val="002060"/>
                </a:solidFill>
                <a:latin typeface="Tahoma" pitchFamily="34" charset="0"/>
                <a:ea typeface="Tahoma" pitchFamily="34" charset="0"/>
                <a:cs typeface="Tahoma" pitchFamily="34" charset="0"/>
              </a:rPr>
              <a:t>Unknown value, but existing </a:t>
            </a:r>
          </a:p>
          <a:p>
            <a:pPr marL="800100" lvl="1" indent="-342900">
              <a:lnSpc>
                <a:spcPct val="200000"/>
              </a:lnSpc>
            </a:pPr>
            <a:r>
              <a:rPr lang="en-US" b="1"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A particular person has a date of birth but it is not known.</a:t>
            </a:r>
          </a:p>
          <a:p>
            <a:pPr marL="800100" lvl="1" indent="-342900">
              <a:lnSpc>
                <a:spcPct val="200000"/>
              </a:lnSpc>
              <a:buFont typeface="+mj-lt"/>
              <a:buAutoNum type="arabicPeriod" startAt="2"/>
            </a:pPr>
            <a:r>
              <a:rPr lang="en-US" b="1" dirty="0">
                <a:solidFill>
                  <a:srgbClr val="002060"/>
                </a:solidFill>
                <a:latin typeface="Tahoma" pitchFamily="34" charset="0"/>
                <a:ea typeface="Tahoma" pitchFamily="34" charset="0"/>
                <a:cs typeface="Tahoma" pitchFamily="34" charset="0"/>
              </a:rPr>
              <a:t>Unavailable values : </a:t>
            </a:r>
          </a:p>
          <a:p>
            <a:pPr marL="800100" lvl="1" indent="-342900">
              <a:lnSpc>
                <a:spcPct val="200000"/>
              </a:lnSpc>
            </a:pPr>
            <a:r>
              <a:rPr lang="en-US" dirty="0">
                <a:latin typeface="Tahoma" pitchFamily="34" charset="0"/>
                <a:ea typeface="Tahoma" pitchFamily="34" charset="0"/>
                <a:cs typeface="Tahoma" pitchFamily="34" charset="0"/>
              </a:rPr>
              <a:t>          we do not know whether a person has a home phone number.</a:t>
            </a:r>
          </a:p>
          <a:p>
            <a:pPr marL="800100" lvl="1" indent="-342900">
              <a:lnSpc>
                <a:spcPct val="200000"/>
              </a:lnSpc>
              <a:buFont typeface="+mj-lt"/>
              <a:buAutoNum type="arabicPeriod" startAt="3"/>
            </a:pPr>
            <a:r>
              <a:rPr lang="en-US" b="1" dirty="0">
                <a:solidFill>
                  <a:srgbClr val="002060"/>
                </a:solidFill>
                <a:latin typeface="Tahoma" pitchFamily="34" charset="0"/>
                <a:ea typeface="Tahoma" pitchFamily="34" charset="0"/>
                <a:cs typeface="Tahoma" pitchFamily="34" charset="0"/>
              </a:rPr>
              <a:t>Not applicable attribute value:    </a:t>
            </a:r>
          </a:p>
          <a:p>
            <a:pPr marL="800100" lvl="1" indent="-342900">
              <a:lnSpc>
                <a:spcPct val="200000"/>
              </a:lnSpc>
            </a:pPr>
            <a:r>
              <a:rPr lang="en-US" b="1"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An attribute </a:t>
            </a:r>
            <a:r>
              <a:rPr lang="en-US" b="1" dirty="0">
                <a:latin typeface="Tahoma" pitchFamily="34" charset="0"/>
                <a:ea typeface="Tahoma" pitchFamily="34" charset="0"/>
                <a:cs typeface="Tahoma" pitchFamily="34" charset="0"/>
              </a:rPr>
              <a:t>CollegeDegree </a:t>
            </a:r>
            <a:r>
              <a:rPr lang="en-US" dirty="0">
                <a:latin typeface="Tahoma" pitchFamily="34" charset="0"/>
                <a:ea typeface="Tahoma" pitchFamily="34" charset="0"/>
                <a:cs typeface="Tahoma" pitchFamily="34" charset="0"/>
              </a:rPr>
              <a:t>would be NULL for a person  who has no college degrees, because it does not apply to that person.</a:t>
            </a:r>
            <a:endParaRPr lang="en-US" b="1"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762000"/>
            <a:ext cx="8686800" cy="1414554"/>
          </a:xfrm>
          <a:prstGeom prst="rect">
            <a:avLst/>
          </a:prstGeom>
          <a:noFill/>
        </p:spPr>
        <p:txBody>
          <a:bodyPr wrap="square" rtlCol="0">
            <a:spAutoFit/>
          </a:bodyPr>
          <a:lstStyle/>
          <a:p>
            <a:pPr algn="just">
              <a:lnSpc>
                <a:spcPct val="150000"/>
              </a:lnSpc>
              <a:buFont typeface="Arial" pitchFamily="34" charset="0"/>
              <a:buChar char="•"/>
            </a:pPr>
            <a:r>
              <a:rPr lang="en-US" sz="2000" dirty="0">
                <a:latin typeface="Tahoma" pitchFamily="34" charset="0"/>
                <a:ea typeface="Tahoma" pitchFamily="34" charset="0"/>
                <a:cs typeface="Tahoma" pitchFamily="34" charset="0"/>
              </a:rPr>
              <a:t>  SQL uses a three-valued logic with values TRUE, FALSE, and UNKNOWN</a:t>
            </a:r>
          </a:p>
          <a:p>
            <a:pPr algn="just">
              <a:lnSpc>
                <a:spcPct val="150000"/>
              </a:lnSpc>
              <a:buFont typeface="Arial" pitchFamily="34" charset="0"/>
              <a:buChar char="•"/>
            </a:pPr>
            <a:r>
              <a:rPr lang="en-US" sz="2000" dirty="0">
                <a:latin typeface="Tahoma" pitchFamily="34" charset="0"/>
                <a:ea typeface="Tahoma" pitchFamily="34" charset="0"/>
                <a:cs typeface="Tahoma" pitchFamily="34" charset="0"/>
              </a:rPr>
              <a:t>  Table 8.1 shows the result of three-valued logic  when logical connectives    AND, OR, and NOT are used . </a:t>
            </a:r>
          </a:p>
        </p:txBody>
      </p:sp>
      <p:pic>
        <p:nvPicPr>
          <p:cNvPr id="1026" name="Picture 2"/>
          <p:cNvPicPr>
            <a:picLocks noChangeAspect="1" noChangeArrowheads="1"/>
          </p:cNvPicPr>
          <p:nvPr/>
        </p:nvPicPr>
        <p:blipFill>
          <a:blip r:embed="rId3" cstate="print"/>
          <a:srcRect/>
          <a:stretch>
            <a:fillRect/>
          </a:stretch>
        </p:blipFill>
        <p:spPr bwMode="auto">
          <a:xfrm>
            <a:off x="1600200" y="2438400"/>
            <a:ext cx="6477000" cy="3905111"/>
          </a:xfrm>
          <a:prstGeom prst="rect">
            <a:avLst/>
          </a:prstGeom>
          <a:noFill/>
          <a:ln w="9525">
            <a:noFill/>
            <a:miter lim="800000"/>
            <a:headEnd/>
            <a:tailEnd/>
          </a:ln>
          <a:effectLst/>
        </p:spPr>
      </p:pic>
      <p:sp>
        <p:nvSpPr>
          <p:cNvPr id="9" name="TextBox 8"/>
          <p:cNvSpPr txBox="1"/>
          <p:nvPr/>
        </p:nvSpPr>
        <p:spPr>
          <a:xfrm>
            <a:off x="152400" y="152400"/>
            <a:ext cx="6781800" cy="424732"/>
          </a:xfrm>
          <a:prstGeom prst="rect">
            <a:avLst/>
          </a:prstGeom>
          <a:noFill/>
        </p:spPr>
        <p:txBody>
          <a:bodyPr wrap="square" rtlCol="0">
            <a:spAutoFit/>
          </a:bodyPr>
          <a:lstStyle/>
          <a:p>
            <a:pPr>
              <a:lnSpc>
                <a:spcPct val="90000"/>
              </a:lnSpc>
            </a:pPr>
            <a:r>
              <a:rPr lang="en-US" sz="2400" b="1" dirty="0">
                <a:solidFill>
                  <a:srgbClr val="002060"/>
                </a:solidFill>
                <a:latin typeface="Tahoma" pitchFamily="34" charset="0"/>
                <a:ea typeface="Tahoma" pitchFamily="34" charset="0"/>
                <a:cs typeface="Tahoma" pitchFamily="34" charset="0"/>
              </a:rPr>
              <a:t>NULL value  and Three-Valued Logic</a:t>
            </a:r>
            <a:endParaRPr lang="en-US" sz="2400" b="1" u="sng"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228600"/>
            <a:ext cx="8534400" cy="480131"/>
          </a:xfrm>
          <a:prstGeom prst="rect">
            <a:avLst/>
          </a:prstGeom>
          <a:noFill/>
        </p:spPr>
        <p:txBody>
          <a:bodyPr wrap="square" rtlCol="0">
            <a:spAutoFit/>
          </a:bodyPr>
          <a:lstStyle/>
          <a:p>
            <a:pPr>
              <a:lnSpc>
                <a:spcPct val="90000"/>
              </a:lnSpc>
            </a:pPr>
            <a:r>
              <a:rPr lang="en-US" sz="2800" b="1" dirty="0">
                <a:solidFill>
                  <a:srgbClr val="000000"/>
                </a:solidFill>
                <a:latin typeface="Tahoma" pitchFamily="34" charset="0"/>
                <a:ea typeface="Tahoma" pitchFamily="34" charset="0"/>
                <a:cs typeface="Tahoma" pitchFamily="34" charset="0"/>
              </a:rPr>
              <a:t>Use of   </a:t>
            </a:r>
            <a:r>
              <a:rPr lang="en-US" sz="2800" b="1" dirty="0">
                <a:solidFill>
                  <a:srgbClr val="00B0F0"/>
                </a:solidFill>
              </a:rPr>
              <a:t>IS</a:t>
            </a:r>
            <a:r>
              <a:rPr lang="en-US" sz="2800" dirty="0">
                <a:solidFill>
                  <a:srgbClr val="00B0F0"/>
                </a:solidFill>
              </a:rPr>
              <a:t>  </a:t>
            </a:r>
            <a:r>
              <a:rPr lang="en-US" sz="2800" dirty="0"/>
              <a:t>or </a:t>
            </a:r>
            <a:r>
              <a:rPr lang="en-US" sz="2800" b="1" dirty="0">
                <a:solidFill>
                  <a:srgbClr val="00B0F0"/>
                </a:solidFill>
              </a:rPr>
              <a:t>IS NOT</a:t>
            </a:r>
            <a:endParaRPr lang="en-US" sz="2800" b="1" dirty="0">
              <a:solidFill>
                <a:srgbClr val="00B0F0"/>
              </a:solidFill>
              <a:latin typeface="Tahoma" pitchFamily="34" charset="0"/>
              <a:ea typeface="Tahoma" pitchFamily="34" charset="0"/>
              <a:cs typeface="Tahoma" pitchFamily="34" charset="0"/>
            </a:endParaRPr>
          </a:p>
        </p:txBody>
      </p:sp>
      <p:sp>
        <p:nvSpPr>
          <p:cNvPr id="6" name="TextBox 5"/>
          <p:cNvSpPr txBox="1"/>
          <p:nvPr/>
        </p:nvSpPr>
        <p:spPr>
          <a:xfrm>
            <a:off x="228600" y="914400"/>
            <a:ext cx="8686800" cy="4770537"/>
          </a:xfrm>
          <a:prstGeom prst="rect">
            <a:avLst/>
          </a:prstGeom>
          <a:noFill/>
        </p:spPr>
        <p:txBody>
          <a:bodyPr wrap="square" rtlCol="0">
            <a:spAutoFit/>
          </a:bodyPr>
          <a:lstStyle/>
          <a:p>
            <a:pPr algn="just">
              <a:lnSpc>
                <a:spcPct val="150000"/>
              </a:lnSpc>
              <a:buFont typeface="Arial" pitchFamily="34" charset="0"/>
              <a:buChar char="•"/>
            </a:pPr>
            <a:r>
              <a:rPr lang="en-US" sz="2000" dirty="0"/>
              <a:t>     SQL uses </a:t>
            </a:r>
            <a:r>
              <a:rPr lang="en-US" sz="2000" b="1" dirty="0">
                <a:solidFill>
                  <a:srgbClr val="00B0F0"/>
                </a:solidFill>
              </a:rPr>
              <a:t>IS</a:t>
            </a:r>
            <a:r>
              <a:rPr lang="en-US" sz="2000" dirty="0"/>
              <a:t> or </a:t>
            </a:r>
            <a:r>
              <a:rPr lang="en-US" sz="2000" b="1" dirty="0">
                <a:solidFill>
                  <a:srgbClr val="00B0F0"/>
                </a:solidFill>
              </a:rPr>
              <a:t>IS NOT  </a:t>
            </a:r>
            <a:r>
              <a:rPr lang="en-US" sz="2000" dirty="0"/>
              <a:t>to compare an attribute value to NULL. </a:t>
            </a:r>
          </a:p>
          <a:p>
            <a:pPr marL="457200" indent="-457200" algn="just">
              <a:lnSpc>
                <a:spcPct val="150000"/>
              </a:lnSpc>
              <a:buFont typeface="Arial" pitchFamily="34" charset="0"/>
              <a:buChar char="•"/>
            </a:pPr>
            <a:r>
              <a:rPr lang="en-US" sz="2000" dirty="0">
                <a:latin typeface="Tahoma" pitchFamily="34" charset="0"/>
                <a:ea typeface="Tahoma" pitchFamily="34" charset="0"/>
                <a:cs typeface="Tahoma" pitchFamily="34" charset="0"/>
              </a:rPr>
              <a:t>This is because SQL considers each NULL value as being distinct from every other NULL value, so equality  comparison is not appropriate.</a:t>
            </a:r>
          </a:p>
          <a:p>
            <a:pPr marL="457200" indent="-457200" algn="just">
              <a:lnSpc>
                <a:spcPct val="150000"/>
              </a:lnSpc>
            </a:pPr>
            <a:endParaRPr lang="en-US" sz="2000" dirty="0">
              <a:latin typeface="Tahoma" pitchFamily="34" charset="0"/>
              <a:ea typeface="Tahoma" pitchFamily="34" charset="0"/>
              <a:cs typeface="Tahoma" pitchFamily="34" charset="0"/>
            </a:endParaRPr>
          </a:p>
          <a:p>
            <a:pPr algn="just">
              <a:lnSpc>
                <a:spcPct val="150000"/>
              </a:lnSpc>
            </a:pPr>
            <a:r>
              <a:rPr lang="en-US" sz="2200" b="1" dirty="0">
                <a:latin typeface="Tahoma" pitchFamily="34" charset="0"/>
                <a:ea typeface="Tahoma" pitchFamily="34" charset="0"/>
                <a:cs typeface="Tahoma" pitchFamily="34" charset="0"/>
              </a:rPr>
              <a:t>QUERY 18 : </a:t>
            </a:r>
            <a:r>
              <a:rPr lang="en-US" sz="2200" dirty="0">
                <a:latin typeface="Tahoma" pitchFamily="34" charset="0"/>
                <a:ea typeface="Tahoma" pitchFamily="34" charset="0"/>
                <a:cs typeface="Tahoma" pitchFamily="34" charset="0"/>
              </a:rPr>
              <a:t>Retrieve the names of all employees who do not have supervisors.</a:t>
            </a:r>
          </a:p>
          <a:p>
            <a:pPr algn="just">
              <a:lnSpc>
                <a:spcPct val="150000"/>
              </a:lnSpc>
            </a:pPr>
            <a:endParaRPr lang="en-US" sz="2000" dirty="0">
              <a:latin typeface="Tahoma" pitchFamily="34" charset="0"/>
              <a:ea typeface="Tahoma" pitchFamily="34" charset="0"/>
              <a:cs typeface="Tahoma" pitchFamily="34" charset="0"/>
            </a:endParaRPr>
          </a:p>
          <a:p>
            <a:pPr>
              <a:lnSpc>
                <a:spcPct val="200000"/>
              </a:lnSpc>
            </a:pPr>
            <a:r>
              <a:rPr lang="en-US" sz="2400" b="1" dirty="0">
                <a:latin typeface="Tahoma" pitchFamily="34" charset="0"/>
                <a:ea typeface="Tahoma" pitchFamily="34" charset="0"/>
                <a:cs typeface="Tahoma" pitchFamily="34" charset="0"/>
              </a:rPr>
              <a:t>         </a:t>
            </a:r>
            <a:r>
              <a:rPr lang="en-US" sz="2000" b="1" dirty="0">
                <a:solidFill>
                  <a:srgbClr val="00B0F0"/>
                </a:solidFill>
                <a:latin typeface="Tahoma" pitchFamily="34" charset="0"/>
                <a:ea typeface="Tahoma" pitchFamily="34" charset="0"/>
                <a:cs typeface="Tahoma" pitchFamily="34" charset="0"/>
              </a:rPr>
              <a:t>SELECT</a:t>
            </a:r>
            <a:r>
              <a:rPr lang="en-US" sz="2000" b="1" dirty="0">
                <a:latin typeface="Tahoma" pitchFamily="34" charset="0"/>
                <a:ea typeface="Tahoma" pitchFamily="34" charset="0"/>
                <a:cs typeface="Tahoma" pitchFamily="34" charset="0"/>
              </a:rPr>
              <a:t> FNAME, LNAME  </a:t>
            </a:r>
            <a:r>
              <a:rPr lang="en-US" sz="2000" b="1" dirty="0">
                <a:solidFill>
                  <a:srgbClr val="00B0F0"/>
                </a:solidFill>
                <a:latin typeface="Tahoma" pitchFamily="34" charset="0"/>
                <a:ea typeface="Tahoma" pitchFamily="34" charset="0"/>
                <a:cs typeface="Tahoma" pitchFamily="34" charset="0"/>
              </a:rPr>
              <a:t>FROM  </a:t>
            </a:r>
            <a:r>
              <a:rPr lang="en-US" sz="2000" b="1" dirty="0">
                <a:latin typeface="Tahoma" pitchFamily="34" charset="0"/>
                <a:ea typeface="Tahoma" pitchFamily="34" charset="0"/>
                <a:cs typeface="Tahoma" pitchFamily="34" charset="0"/>
              </a:rPr>
              <a:t>EMPLOYEE</a:t>
            </a:r>
          </a:p>
          <a:p>
            <a:pPr>
              <a:lnSpc>
                <a:spcPct val="200000"/>
              </a:lnSpc>
            </a:pPr>
            <a:r>
              <a:rPr lang="en-US" sz="2000" b="1" dirty="0">
                <a:latin typeface="Tahoma" pitchFamily="34" charset="0"/>
                <a:ea typeface="Tahoma" pitchFamily="34" charset="0"/>
                <a:cs typeface="Tahoma" pitchFamily="34" charset="0"/>
              </a:rPr>
              <a:t>           </a:t>
            </a:r>
            <a:r>
              <a:rPr lang="en-US" sz="2000" b="1" dirty="0">
                <a:solidFill>
                  <a:srgbClr val="00B0F0"/>
                </a:solidFill>
                <a:latin typeface="Tahoma" pitchFamily="34" charset="0"/>
                <a:ea typeface="Tahoma" pitchFamily="34" charset="0"/>
                <a:cs typeface="Tahoma" pitchFamily="34" charset="0"/>
              </a:rPr>
              <a:t>WHERE</a:t>
            </a:r>
            <a:r>
              <a:rPr lang="en-US" sz="2000" b="1" dirty="0">
                <a:latin typeface="Tahoma" pitchFamily="34" charset="0"/>
                <a:ea typeface="Tahoma" pitchFamily="34" charset="0"/>
                <a:cs typeface="Tahoma" pitchFamily="34" charset="0"/>
              </a:rPr>
              <a:t>  SUPERSSN </a:t>
            </a:r>
            <a:r>
              <a:rPr lang="en-US" sz="2000" b="1" dirty="0">
                <a:solidFill>
                  <a:srgbClr val="00B0F0"/>
                </a:solidFill>
                <a:latin typeface="Tahoma" pitchFamily="34" charset="0"/>
                <a:ea typeface="Tahoma" pitchFamily="34" charset="0"/>
                <a:cs typeface="Tahoma" pitchFamily="34" charset="0"/>
              </a:rPr>
              <a:t>IS NULL</a:t>
            </a:r>
            <a:r>
              <a:rPr lang="en-US" sz="2000" b="1" dirty="0">
                <a:latin typeface="Tahoma" pitchFamily="34" charset="0"/>
                <a:ea typeface="Tahoma" pitchFamily="34" charset="0"/>
                <a:cs typeface="Tahoma" pitchFamily="34" charset="0"/>
              </a:rPr>
              <a:t>;</a:t>
            </a:r>
          </a:p>
        </p:txBody>
      </p:sp>
    </p:spTree>
  </p:cSld>
  <p:clrMapOvr>
    <a:masterClrMapping/>
  </p:clrMapOvr>
  <p:transition>
    <p:cu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152400"/>
            <a:ext cx="7086600" cy="480131"/>
          </a:xfrm>
          <a:prstGeom prst="rect">
            <a:avLst/>
          </a:prstGeom>
          <a:noFill/>
        </p:spPr>
        <p:txBody>
          <a:bodyPr wrap="square" rtlCol="0">
            <a:spAutoFit/>
          </a:bodyPr>
          <a:lstStyle/>
          <a:p>
            <a:pPr>
              <a:lnSpc>
                <a:spcPct val="90000"/>
              </a:lnSpc>
            </a:pPr>
            <a:r>
              <a:rPr lang="en-US" sz="2800" b="1" dirty="0">
                <a:solidFill>
                  <a:srgbClr val="002060"/>
                </a:solidFill>
                <a:latin typeface="Tahoma" pitchFamily="34" charset="0"/>
                <a:ea typeface="Tahoma" pitchFamily="34" charset="0"/>
                <a:cs typeface="Tahoma" pitchFamily="34" charset="0"/>
              </a:rPr>
              <a:t>Nested Queries  -  IN operator</a:t>
            </a:r>
            <a:endParaRPr lang="en-US" sz="2800" b="1" u="sng" dirty="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304800" y="1447800"/>
            <a:ext cx="8534400" cy="3631763"/>
          </a:xfrm>
          <a:prstGeom prst="rect">
            <a:avLst/>
          </a:prstGeom>
          <a:noFill/>
        </p:spPr>
        <p:txBody>
          <a:bodyPr wrap="square" rtlCol="0">
            <a:spAutoFit/>
          </a:bodyPr>
          <a:lstStyle/>
          <a:p>
            <a:pPr marL="342900" indent="-342900" algn="just">
              <a:lnSpc>
                <a:spcPct val="250000"/>
              </a:lnSpc>
              <a:buFont typeface="Arial" pitchFamily="34" charset="0"/>
              <a:buChar char="•"/>
            </a:pPr>
            <a:r>
              <a:rPr lang="en-US" sz="1600" b="1" dirty="0">
                <a:solidFill>
                  <a:srgbClr val="000000"/>
                </a:solidFill>
                <a:latin typeface="Tahoma" pitchFamily="34" charset="0"/>
                <a:ea typeface="Tahoma" pitchFamily="34" charset="0"/>
                <a:cs typeface="Tahoma" pitchFamily="34" charset="0"/>
              </a:rPr>
              <a:t>  </a:t>
            </a:r>
            <a:r>
              <a:rPr lang="en-US" sz="1600" dirty="0">
                <a:solidFill>
                  <a:srgbClr val="000000"/>
                </a:solidFill>
                <a:latin typeface="Tahoma" pitchFamily="34" charset="0"/>
                <a:ea typeface="Tahoma" pitchFamily="34" charset="0"/>
                <a:cs typeface="Tahoma" pitchFamily="34" charset="0"/>
              </a:rPr>
              <a:t>Q</a:t>
            </a:r>
            <a:r>
              <a:rPr lang="en-US" dirty="0">
                <a:solidFill>
                  <a:srgbClr val="000000"/>
                </a:solidFill>
                <a:latin typeface="Tahoma" pitchFamily="34" charset="0"/>
                <a:ea typeface="Tahoma" pitchFamily="34" charset="0"/>
                <a:cs typeface="Tahoma" pitchFamily="34" charset="0"/>
              </a:rPr>
              <a:t>ueries can be conveniently formulated by using </a:t>
            </a:r>
            <a:r>
              <a:rPr lang="en-US" b="1" dirty="0">
                <a:solidFill>
                  <a:srgbClr val="000000"/>
                </a:solidFill>
                <a:latin typeface="Tahoma" pitchFamily="34" charset="0"/>
                <a:ea typeface="Tahoma" pitchFamily="34" charset="0"/>
                <a:cs typeface="Tahoma" pitchFamily="34" charset="0"/>
              </a:rPr>
              <a:t>nested queries</a:t>
            </a:r>
          </a:p>
          <a:p>
            <a:pPr marL="342900" indent="-342900" algn="just">
              <a:lnSpc>
                <a:spcPct val="250000"/>
              </a:lnSpc>
              <a:buFont typeface="Arial" pitchFamily="34" charset="0"/>
              <a:buChar char="•"/>
            </a:pPr>
            <a:r>
              <a:rPr lang="en-US" dirty="0">
                <a:solidFill>
                  <a:srgbClr val="000000"/>
                </a:solidFill>
                <a:latin typeface="Tahoma" pitchFamily="34" charset="0"/>
                <a:ea typeface="Tahoma" pitchFamily="34" charset="0"/>
                <a:cs typeface="Tahoma" pitchFamily="34" charset="0"/>
              </a:rPr>
              <a:t> Nested queries are complete </a:t>
            </a:r>
            <a:r>
              <a:rPr lang="en-US" b="1" dirty="0">
                <a:solidFill>
                  <a:srgbClr val="000000"/>
                </a:solidFill>
                <a:latin typeface="Tahoma" pitchFamily="34" charset="0"/>
                <a:ea typeface="Tahoma" pitchFamily="34" charset="0"/>
                <a:cs typeface="Tahoma" pitchFamily="34" charset="0"/>
              </a:rPr>
              <a:t>select-from-where</a:t>
            </a:r>
            <a:r>
              <a:rPr lang="en-US" dirty="0">
                <a:solidFill>
                  <a:srgbClr val="000000"/>
                </a:solidFill>
                <a:latin typeface="Tahoma" pitchFamily="34" charset="0"/>
                <a:ea typeface="Tahoma" pitchFamily="34" charset="0"/>
                <a:cs typeface="Tahoma" pitchFamily="34" charset="0"/>
              </a:rPr>
              <a:t> blocks within the WHERE clause of another query (</a:t>
            </a:r>
            <a:r>
              <a:rPr lang="en-US" b="1" dirty="0">
                <a:solidFill>
                  <a:srgbClr val="000000"/>
                </a:solidFill>
                <a:latin typeface="Tahoma" pitchFamily="34" charset="0"/>
                <a:ea typeface="Tahoma" pitchFamily="34" charset="0"/>
                <a:cs typeface="Tahoma" pitchFamily="34" charset="0"/>
              </a:rPr>
              <a:t>outer query. )</a:t>
            </a:r>
            <a:endParaRPr lang="en-US" sz="1600" dirty="0"/>
          </a:p>
          <a:p>
            <a:pPr marL="342900" indent="-342900">
              <a:lnSpc>
                <a:spcPct val="250000"/>
              </a:lnSpc>
              <a:buFont typeface="Arial" pitchFamily="34" charset="0"/>
              <a:buChar char="•"/>
            </a:pPr>
            <a:r>
              <a:rPr lang="en-US" dirty="0">
                <a:latin typeface="Tahoma" pitchFamily="34" charset="0"/>
                <a:ea typeface="Tahoma" pitchFamily="34" charset="0"/>
                <a:cs typeface="Tahoma" pitchFamily="34" charset="0"/>
              </a:rPr>
              <a:t>  Comparison operator</a:t>
            </a:r>
            <a:r>
              <a:rPr lang="en-US" dirty="0">
                <a:solidFill>
                  <a:srgbClr val="0070C0"/>
                </a:solidFill>
                <a:latin typeface="Tahoma" pitchFamily="34" charset="0"/>
                <a:ea typeface="Tahoma" pitchFamily="34" charset="0"/>
                <a:cs typeface="Tahoma" pitchFamily="34" charset="0"/>
              </a:rPr>
              <a:t> </a:t>
            </a:r>
            <a:r>
              <a:rPr lang="en-US" b="1" dirty="0">
                <a:solidFill>
                  <a:srgbClr val="0070C0"/>
                </a:solidFill>
                <a:latin typeface="Tahoma" pitchFamily="34" charset="0"/>
                <a:ea typeface="Tahoma" pitchFamily="34" charset="0"/>
                <a:cs typeface="Tahoma" pitchFamily="34" charset="0"/>
              </a:rPr>
              <a:t>IN</a:t>
            </a:r>
            <a:r>
              <a:rPr lang="en-US" dirty="0">
                <a:latin typeface="Tahoma" pitchFamily="34" charset="0"/>
                <a:ea typeface="Tahoma" pitchFamily="34" charset="0"/>
                <a:cs typeface="Tahoma" pitchFamily="34" charset="0"/>
              </a:rPr>
              <a:t>, which compares a value </a:t>
            </a:r>
            <a:r>
              <a:rPr lang="en-US" b="1" i="1" dirty="0">
                <a:latin typeface="Tahoma" pitchFamily="34" charset="0"/>
                <a:ea typeface="Tahoma" pitchFamily="34" charset="0"/>
                <a:cs typeface="Tahoma" pitchFamily="34" charset="0"/>
              </a:rPr>
              <a:t>v </a:t>
            </a:r>
            <a:r>
              <a:rPr lang="en-US" i="1" dirty="0">
                <a:latin typeface="Tahoma" pitchFamily="34" charset="0"/>
                <a:ea typeface="Tahoma" pitchFamily="34" charset="0"/>
                <a:cs typeface="Tahoma" pitchFamily="34" charset="0"/>
              </a:rPr>
              <a:t>with a set (</a:t>
            </a:r>
            <a:r>
              <a:rPr lang="en-US" i="1" dirty="0" err="1">
                <a:latin typeface="Tahoma" pitchFamily="34" charset="0"/>
                <a:ea typeface="Tahoma" pitchFamily="34" charset="0"/>
                <a:cs typeface="Tahoma" pitchFamily="34" charset="0"/>
              </a:rPr>
              <a:t>multiset</a:t>
            </a:r>
            <a:r>
              <a:rPr lang="en-US" i="1" dirty="0">
                <a:latin typeface="Tahoma" pitchFamily="34" charset="0"/>
                <a:ea typeface="Tahoma" pitchFamily="34" charset="0"/>
                <a:cs typeface="Tahoma" pitchFamily="34" charset="0"/>
              </a:rPr>
              <a:t>) of </a:t>
            </a:r>
            <a:r>
              <a:rPr lang="en-US" dirty="0">
                <a:latin typeface="Tahoma" pitchFamily="34" charset="0"/>
                <a:ea typeface="Tahoma" pitchFamily="34" charset="0"/>
                <a:cs typeface="Tahoma" pitchFamily="34" charset="0"/>
              </a:rPr>
              <a:t>values </a:t>
            </a:r>
            <a:r>
              <a:rPr lang="en-US" b="1" dirty="0">
                <a:latin typeface="Tahoma" pitchFamily="34" charset="0"/>
                <a:ea typeface="Tahoma" pitchFamily="34" charset="0"/>
                <a:cs typeface="Tahoma" pitchFamily="34" charset="0"/>
              </a:rPr>
              <a:t>V</a:t>
            </a:r>
            <a:r>
              <a:rPr lang="en-US" dirty="0">
                <a:latin typeface="Tahoma" pitchFamily="34" charset="0"/>
                <a:ea typeface="Tahoma" pitchFamily="34" charset="0"/>
                <a:cs typeface="Tahoma" pitchFamily="34" charset="0"/>
              </a:rPr>
              <a:t> and evaluates to </a:t>
            </a:r>
            <a:r>
              <a:rPr lang="en-US" sz="2000" b="1" dirty="0">
                <a:latin typeface="Tahoma" pitchFamily="34" charset="0"/>
                <a:ea typeface="Tahoma" pitchFamily="34" charset="0"/>
                <a:cs typeface="Tahoma" pitchFamily="34" charset="0"/>
              </a:rPr>
              <a:t>TRUE if </a:t>
            </a:r>
            <a:r>
              <a:rPr lang="en-US" sz="2000" b="1" i="1" dirty="0">
                <a:latin typeface="Tahoma" pitchFamily="34" charset="0"/>
                <a:ea typeface="Tahoma" pitchFamily="34" charset="0"/>
                <a:cs typeface="Tahoma" pitchFamily="34" charset="0"/>
              </a:rPr>
              <a:t>v is one of the elements in V</a:t>
            </a:r>
            <a:endParaRPr lang="en-US" b="1"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33400" y="1600200"/>
            <a:ext cx="8305800" cy="3231654"/>
          </a:xfrm>
          <a:prstGeom prst="rect">
            <a:avLst/>
          </a:prstGeom>
          <a:noFill/>
          <a:ln w="22225">
            <a:solidFill>
              <a:schemeClr val="accent1"/>
            </a:solidFill>
          </a:ln>
        </p:spPr>
        <p:txBody>
          <a:bodyPr wrap="square" rtlCol="0">
            <a:spAutoFit/>
          </a:bodyPr>
          <a:lstStyle/>
          <a:p>
            <a:pPr>
              <a:lnSpc>
                <a:spcPct val="150000"/>
              </a:lnSpc>
            </a:pPr>
            <a:r>
              <a:rPr lang="en-US" b="1" dirty="0">
                <a:solidFill>
                  <a:srgbClr val="002060"/>
                </a:solidFill>
              </a:rPr>
              <a:t>SELECT </a:t>
            </a:r>
            <a:r>
              <a:rPr lang="en-US" b="1" dirty="0"/>
              <a:t> </a:t>
            </a:r>
            <a:r>
              <a:rPr lang="en-US" dirty="0"/>
              <a:t>attribute_list</a:t>
            </a:r>
          </a:p>
          <a:p>
            <a:pPr>
              <a:lnSpc>
                <a:spcPct val="150000"/>
              </a:lnSpc>
            </a:pPr>
            <a:r>
              <a:rPr lang="en-US" b="1" dirty="0">
                <a:solidFill>
                  <a:srgbClr val="002060"/>
                </a:solidFill>
              </a:rPr>
              <a:t>FROM</a:t>
            </a:r>
            <a:r>
              <a:rPr lang="en-US" b="1" dirty="0">
                <a:solidFill>
                  <a:srgbClr val="0070C0"/>
                </a:solidFill>
              </a:rPr>
              <a:t> </a:t>
            </a:r>
            <a:r>
              <a:rPr lang="en-US" b="1" dirty="0"/>
              <a:t>     </a:t>
            </a:r>
            <a:r>
              <a:rPr lang="en-US" dirty="0"/>
              <a:t>table_list</a:t>
            </a:r>
          </a:p>
          <a:p>
            <a:pPr>
              <a:lnSpc>
                <a:spcPct val="150000"/>
              </a:lnSpc>
            </a:pPr>
            <a:r>
              <a:rPr lang="en-US" b="1" dirty="0">
                <a:solidFill>
                  <a:srgbClr val="002060"/>
                </a:solidFill>
              </a:rPr>
              <a:t>WHERE </a:t>
            </a:r>
            <a:r>
              <a:rPr lang="en-US" b="1" dirty="0">
                <a:solidFill>
                  <a:srgbClr val="0070C0"/>
                </a:solidFill>
              </a:rPr>
              <a:t> </a:t>
            </a:r>
            <a:r>
              <a:rPr lang="en-US" b="1" dirty="0"/>
              <a:t>  </a:t>
            </a:r>
            <a:r>
              <a:rPr lang="en-US" b="1" i="1" dirty="0">
                <a:solidFill>
                  <a:srgbClr val="C00000"/>
                </a:solidFill>
              </a:rPr>
              <a:t>attr_list_1</a:t>
            </a:r>
            <a:r>
              <a:rPr lang="en-US" b="1" dirty="0"/>
              <a:t>  </a:t>
            </a:r>
            <a:r>
              <a:rPr lang="en-US" sz="2400" b="1" i="1" dirty="0">
                <a:solidFill>
                  <a:srgbClr val="002060"/>
                </a:solidFill>
              </a:rPr>
              <a:t>IN</a:t>
            </a:r>
            <a:r>
              <a:rPr lang="en-US" b="1" dirty="0"/>
              <a:t>  (</a:t>
            </a:r>
          </a:p>
          <a:p>
            <a:pPr>
              <a:lnSpc>
                <a:spcPct val="150000"/>
              </a:lnSpc>
            </a:pPr>
            <a:r>
              <a:rPr lang="en-US" b="1" dirty="0"/>
              <a:t>			</a:t>
            </a:r>
            <a:r>
              <a:rPr lang="en-US" b="1" dirty="0">
                <a:solidFill>
                  <a:srgbClr val="002060"/>
                </a:solidFill>
              </a:rPr>
              <a:t> SELECT </a:t>
            </a:r>
            <a:r>
              <a:rPr lang="en-US" b="1" i="1" dirty="0">
                <a:solidFill>
                  <a:srgbClr val="C00000"/>
                </a:solidFill>
              </a:rPr>
              <a:t>attr_list_1 </a:t>
            </a:r>
          </a:p>
          <a:p>
            <a:pPr>
              <a:lnSpc>
                <a:spcPct val="150000"/>
              </a:lnSpc>
            </a:pPr>
            <a:r>
              <a:rPr lang="en-US" b="1" dirty="0"/>
              <a:t>			</a:t>
            </a:r>
            <a:r>
              <a:rPr lang="en-US" b="1" dirty="0">
                <a:solidFill>
                  <a:srgbClr val="002060"/>
                </a:solidFill>
              </a:rPr>
              <a:t> FROM  </a:t>
            </a:r>
            <a:r>
              <a:rPr lang="en-US" dirty="0"/>
              <a:t>table_list1 </a:t>
            </a:r>
            <a:r>
              <a:rPr lang="en-US" b="1" dirty="0"/>
              <a:t> </a:t>
            </a:r>
          </a:p>
          <a:p>
            <a:pPr>
              <a:lnSpc>
                <a:spcPct val="150000"/>
              </a:lnSpc>
            </a:pPr>
            <a:r>
              <a:rPr lang="en-US" b="1" dirty="0"/>
              <a:t>                                             </a:t>
            </a:r>
            <a:r>
              <a:rPr lang="en-US" b="1" dirty="0">
                <a:solidFill>
                  <a:srgbClr val="002060"/>
                </a:solidFill>
              </a:rPr>
              <a:t>WHERE </a:t>
            </a:r>
            <a:r>
              <a:rPr lang="en-US" b="1" dirty="0"/>
              <a:t>  </a:t>
            </a:r>
            <a:r>
              <a:rPr lang="en-US" i="1" dirty="0"/>
              <a:t>condition</a:t>
            </a:r>
          </a:p>
          <a:p>
            <a:pPr>
              <a:lnSpc>
                <a:spcPct val="150000"/>
              </a:lnSpc>
            </a:pPr>
            <a:r>
              <a:rPr lang="en-US" b="1" dirty="0"/>
              <a:t>                                            )</a:t>
            </a:r>
          </a:p>
        </p:txBody>
      </p:sp>
      <p:sp>
        <p:nvSpPr>
          <p:cNvPr id="10" name="Right Brace 9"/>
          <p:cNvSpPr/>
          <p:nvPr/>
        </p:nvSpPr>
        <p:spPr bwMode="auto">
          <a:xfrm>
            <a:off x="3657600" y="1752600"/>
            <a:ext cx="228600" cy="1066800"/>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Arial" pitchFamily="34" charset="0"/>
            </a:endParaRPr>
          </a:p>
        </p:txBody>
      </p:sp>
      <p:sp>
        <p:nvSpPr>
          <p:cNvPr id="11" name="Rectangle 10"/>
          <p:cNvSpPr/>
          <p:nvPr/>
        </p:nvSpPr>
        <p:spPr bwMode="auto">
          <a:xfrm>
            <a:off x="4191000" y="2057400"/>
            <a:ext cx="2438400" cy="381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Outer Query</a:t>
            </a:r>
            <a:endParaRPr kumimoji="0" lang="en-IN" sz="2400" b="0" i="0" u="none" strike="noStrike" cap="none" normalizeH="0" baseline="0" dirty="0">
              <a:ln>
                <a:noFill/>
              </a:ln>
              <a:solidFill>
                <a:schemeClr val="tx1"/>
              </a:solidFill>
              <a:effectLst/>
              <a:latin typeface="Arial" pitchFamily="34" charset="0"/>
            </a:endParaRPr>
          </a:p>
        </p:txBody>
      </p:sp>
      <p:sp>
        <p:nvSpPr>
          <p:cNvPr id="12" name="Right Brace 11"/>
          <p:cNvSpPr/>
          <p:nvPr/>
        </p:nvSpPr>
        <p:spPr bwMode="auto">
          <a:xfrm>
            <a:off x="6324600" y="3048000"/>
            <a:ext cx="304800" cy="1295400"/>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Arial" pitchFamily="34" charset="0"/>
            </a:endParaRPr>
          </a:p>
        </p:txBody>
      </p:sp>
      <p:sp>
        <p:nvSpPr>
          <p:cNvPr id="13" name="TextBox 12"/>
          <p:cNvSpPr txBox="1"/>
          <p:nvPr/>
        </p:nvSpPr>
        <p:spPr>
          <a:xfrm>
            <a:off x="6705600" y="3352800"/>
            <a:ext cx="1752600" cy="707886"/>
          </a:xfrm>
          <a:prstGeom prst="rect">
            <a:avLst/>
          </a:prstGeom>
          <a:noFill/>
        </p:spPr>
        <p:txBody>
          <a:bodyPr wrap="square" rtlCol="0">
            <a:spAutoFit/>
          </a:bodyPr>
          <a:lstStyle/>
          <a:p>
            <a:r>
              <a:rPr lang="en-US" sz="2000" dirty="0"/>
              <a:t>Nested Query</a:t>
            </a:r>
          </a:p>
          <a:p>
            <a:r>
              <a:rPr lang="en-US" sz="2000" dirty="0"/>
              <a:t> (inner query)</a:t>
            </a:r>
            <a:endParaRPr lang="en-IN" sz="2000" dirty="0"/>
          </a:p>
        </p:txBody>
      </p:sp>
      <p:sp>
        <p:nvSpPr>
          <p:cNvPr id="9" name="TextBox 8"/>
          <p:cNvSpPr txBox="1"/>
          <p:nvPr/>
        </p:nvSpPr>
        <p:spPr>
          <a:xfrm>
            <a:off x="152400" y="152400"/>
            <a:ext cx="7086600" cy="480131"/>
          </a:xfrm>
          <a:prstGeom prst="rect">
            <a:avLst/>
          </a:prstGeom>
          <a:noFill/>
        </p:spPr>
        <p:txBody>
          <a:bodyPr wrap="square" rtlCol="0">
            <a:spAutoFit/>
          </a:bodyPr>
          <a:lstStyle/>
          <a:p>
            <a:pPr>
              <a:lnSpc>
                <a:spcPct val="90000"/>
              </a:lnSpc>
            </a:pPr>
            <a:r>
              <a:rPr lang="en-US" sz="2800" b="1" dirty="0">
                <a:solidFill>
                  <a:srgbClr val="002060"/>
                </a:solidFill>
                <a:latin typeface="Tahoma" pitchFamily="34" charset="0"/>
                <a:ea typeface="Tahoma" pitchFamily="34" charset="0"/>
                <a:cs typeface="Tahoma" pitchFamily="34" charset="0"/>
              </a:rPr>
              <a:t>Nested Queries  -  IN operator</a:t>
            </a:r>
            <a:endParaRPr lang="en-US" sz="2800" b="1" u="sng"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2400" y="838200"/>
            <a:ext cx="8686800" cy="5493812"/>
          </a:xfrm>
          <a:prstGeom prst="rect">
            <a:avLst/>
          </a:prstGeom>
          <a:noFill/>
        </p:spPr>
        <p:txBody>
          <a:bodyPr wrap="square" rtlCol="0">
            <a:spAutoFit/>
          </a:bodyPr>
          <a:lstStyle/>
          <a:p>
            <a:pPr marL="457200" indent="-457200" algn="just">
              <a:lnSpc>
                <a:spcPct val="150000"/>
              </a:lnSpc>
              <a:buFont typeface="Arial" pitchFamily="34" charset="0"/>
              <a:buChar char="•"/>
            </a:pPr>
            <a:r>
              <a:rPr lang="en-US" sz="2000" dirty="0">
                <a:latin typeface="Tahoma" pitchFamily="34" charset="0"/>
                <a:ea typeface="Tahoma" pitchFamily="34" charset="0"/>
                <a:cs typeface="Tahoma" pitchFamily="34" charset="0"/>
              </a:rPr>
              <a:t>Query 4  can be rephrased to use nested queries as shown in Q4A.</a:t>
            </a:r>
          </a:p>
          <a:p>
            <a:pPr algn="just">
              <a:lnSpc>
                <a:spcPct val="200000"/>
              </a:lnSpc>
            </a:pPr>
            <a:r>
              <a:rPr lang="en-US" sz="1600" dirty="0">
                <a:latin typeface="Tahoma" pitchFamily="34" charset="0"/>
                <a:ea typeface="Tahoma" pitchFamily="34" charset="0"/>
                <a:cs typeface="Tahoma" pitchFamily="34" charset="0"/>
              </a:rPr>
              <a:t> ( Make a list of all project numbers for projects that involve an employee whose last name is 'Smith', either as a worker or as a manager of the department that controls the project.)</a:t>
            </a:r>
          </a:p>
          <a:p>
            <a:pPr algn="just"/>
            <a:endParaRPr lang="en-US" sz="1400" dirty="0">
              <a:latin typeface="Tahoma" pitchFamily="34" charset="0"/>
              <a:ea typeface="Tahoma" pitchFamily="34" charset="0"/>
              <a:cs typeface="Tahoma" pitchFamily="34" charset="0"/>
            </a:endParaRPr>
          </a:p>
          <a:p>
            <a:pPr algn="just"/>
            <a:endParaRPr lang="en-US" sz="2000" dirty="0">
              <a:latin typeface="Tahoma" pitchFamily="34" charset="0"/>
              <a:ea typeface="Tahoma" pitchFamily="34" charset="0"/>
              <a:cs typeface="Tahoma" pitchFamily="34" charset="0"/>
            </a:endParaRPr>
          </a:p>
          <a:p>
            <a:pPr algn="just">
              <a:lnSpc>
                <a:spcPct val="150000"/>
              </a:lnSpc>
            </a:pPr>
            <a:r>
              <a:rPr lang="en-US" b="1" dirty="0">
                <a:latin typeface="Tahoma" pitchFamily="34" charset="0"/>
                <a:ea typeface="Tahoma" pitchFamily="34" charset="0"/>
                <a:cs typeface="Tahoma" pitchFamily="34" charset="0"/>
              </a:rPr>
              <a:t>Q4A</a:t>
            </a:r>
            <a:r>
              <a:rPr lang="en-US" sz="1600" b="1" dirty="0">
                <a:latin typeface="Tahoma" pitchFamily="34" charset="0"/>
                <a:ea typeface="Tahoma" pitchFamily="34" charset="0"/>
                <a:cs typeface="Tahoma" pitchFamily="34" charset="0"/>
              </a:rPr>
              <a:t>:      </a:t>
            </a:r>
            <a:r>
              <a:rPr lang="en-US" sz="1600" b="1" dirty="0">
                <a:solidFill>
                  <a:srgbClr val="002060"/>
                </a:solidFill>
                <a:latin typeface="Tahoma" pitchFamily="34" charset="0"/>
                <a:ea typeface="Tahoma" pitchFamily="34" charset="0"/>
                <a:cs typeface="Tahoma" pitchFamily="34" charset="0"/>
              </a:rPr>
              <a:t>SELECT </a:t>
            </a:r>
            <a:r>
              <a:rPr lang="en-US" sz="1600" dirty="0">
                <a:solidFill>
                  <a:srgbClr val="002060"/>
                </a:solidFill>
                <a:latin typeface="Tahoma" pitchFamily="34" charset="0"/>
                <a:ea typeface="Tahoma" pitchFamily="34" charset="0"/>
                <a:cs typeface="Tahoma" pitchFamily="34" charset="0"/>
              </a:rPr>
              <a:t>   </a:t>
            </a:r>
            <a:r>
              <a:rPr lang="en-US" sz="1600" b="1" dirty="0">
                <a:solidFill>
                  <a:srgbClr val="002060"/>
                </a:solidFill>
                <a:latin typeface="Tahoma" pitchFamily="34" charset="0"/>
                <a:ea typeface="Tahoma" pitchFamily="34" charset="0"/>
                <a:cs typeface="Tahoma" pitchFamily="34" charset="0"/>
              </a:rPr>
              <a:t>DISTINCT  </a:t>
            </a:r>
            <a:r>
              <a:rPr lang="en-US" sz="1600" b="1" dirty="0">
                <a:latin typeface="Tahoma" pitchFamily="34" charset="0"/>
                <a:ea typeface="Tahoma" pitchFamily="34" charset="0"/>
                <a:cs typeface="Tahoma" pitchFamily="34" charset="0"/>
              </a:rPr>
              <a:t>PNUMBER </a:t>
            </a:r>
            <a:r>
              <a:rPr lang="en-US" sz="1600" dirty="0">
                <a:latin typeface="Tahoma" pitchFamily="34" charset="0"/>
                <a:ea typeface="Tahoma" pitchFamily="34" charset="0"/>
                <a:cs typeface="Tahoma" pitchFamily="34" charset="0"/>
              </a:rPr>
              <a:t>   </a:t>
            </a:r>
            <a:r>
              <a:rPr lang="en-US" sz="1600" b="1" dirty="0">
                <a:solidFill>
                  <a:srgbClr val="002060"/>
                </a:solidFill>
                <a:latin typeface="Tahoma" pitchFamily="34" charset="0"/>
                <a:ea typeface="Tahoma" pitchFamily="34" charset="0"/>
                <a:cs typeface="Tahoma" pitchFamily="34" charset="0"/>
              </a:rPr>
              <a:t>FROM </a:t>
            </a:r>
            <a:r>
              <a:rPr lang="en-US" sz="1600" dirty="0">
                <a:latin typeface="Tahoma" pitchFamily="34" charset="0"/>
                <a:ea typeface="Tahoma" pitchFamily="34" charset="0"/>
                <a:cs typeface="Tahoma" pitchFamily="34" charset="0"/>
              </a:rPr>
              <a:t> </a:t>
            </a:r>
            <a:r>
              <a:rPr lang="en-US" sz="1600" b="1" dirty="0">
                <a:latin typeface="Tahoma" pitchFamily="34" charset="0"/>
                <a:ea typeface="Tahoma" pitchFamily="34" charset="0"/>
                <a:cs typeface="Tahoma" pitchFamily="34" charset="0"/>
              </a:rPr>
              <a:t>PROJECT </a:t>
            </a:r>
          </a:p>
          <a:p>
            <a:pPr algn="just">
              <a:lnSpc>
                <a:spcPct val="150000"/>
              </a:lnSpc>
            </a:pPr>
            <a:r>
              <a:rPr lang="en-US" sz="1600" b="1" dirty="0">
                <a:latin typeface="Tahoma" pitchFamily="34" charset="0"/>
                <a:ea typeface="Tahoma" pitchFamily="34" charset="0"/>
                <a:cs typeface="Tahoma" pitchFamily="34" charset="0"/>
              </a:rPr>
              <a:t>              </a:t>
            </a:r>
            <a:r>
              <a:rPr lang="en-US" sz="1600" b="1" dirty="0">
                <a:solidFill>
                  <a:srgbClr val="002060"/>
                </a:solidFill>
                <a:latin typeface="Tahoma" pitchFamily="34" charset="0"/>
                <a:ea typeface="Tahoma" pitchFamily="34" charset="0"/>
                <a:cs typeface="Tahoma" pitchFamily="34" charset="0"/>
              </a:rPr>
              <a:t> WHERE </a:t>
            </a:r>
            <a:r>
              <a:rPr lang="en-US" sz="1600" dirty="0">
                <a:solidFill>
                  <a:srgbClr val="002060"/>
                </a:solidFill>
                <a:latin typeface="Tahoma" pitchFamily="34" charset="0"/>
                <a:ea typeface="Tahoma" pitchFamily="34" charset="0"/>
                <a:cs typeface="Tahoma" pitchFamily="34" charset="0"/>
              </a:rPr>
              <a:t> </a:t>
            </a:r>
            <a:r>
              <a:rPr lang="en-US" sz="1600" b="1" dirty="0">
                <a:latin typeface="Tahoma" pitchFamily="34" charset="0"/>
                <a:ea typeface="Tahoma" pitchFamily="34" charset="0"/>
                <a:cs typeface="Tahoma" pitchFamily="34" charset="0"/>
              </a:rPr>
              <a:t>PNUMBER </a:t>
            </a:r>
            <a:r>
              <a:rPr lang="en-US" sz="1600" b="1" dirty="0">
                <a:solidFill>
                  <a:srgbClr val="002060"/>
                </a:solidFill>
                <a:latin typeface="Tahoma" pitchFamily="34" charset="0"/>
                <a:ea typeface="Tahoma" pitchFamily="34" charset="0"/>
                <a:cs typeface="Tahoma" pitchFamily="34" charset="0"/>
              </a:rPr>
              <a:t>IN</a:t>
            </a:r>
            <a:r>
              <a:rPr lang="en-US" sz="1600" b="1" dirty="0">
                <a:latin typeface="Tahoma" pitchFamily="34" charset="0"/>
                <a:ea typeface="Tahoma" pitchFamily="34" charset="0"/>
                <a:cs typeface="Tahoma" pitchFamily="34" charset="0"/>
              </a:rPr>
              <a:t> </a:t>
            </a:r>
            <a:r>
              <a:rPr lang="en-US" sz="1600" dirty="0">
                <a:latin typeface="Tahoma" pitchFamily="34" charset="0"/>
                <a:ea typeface="Tahoma" pitchFamily="34" charset="0"/>
                <a:cs typeface="Tahoma" pitchFamily="34" charset="0"/>
              </a:rPr>
              <a:t> </a:t>
            </a:r>
          </a:p>
          <a:p>
            <a:pPr lvl="1" algn="just">
              <a:lnSpc>
                <a:spcPct val="150000"/>
              </a:lnSpc>
            </a:pPr>
            <a:r>
              <a:rPr lang="en-US" sz="1600" dirty="0">
                <a:latin typeface="Tahoma" pitchFamily="34" charset="0"/>
                <a:ea typeface="Tahoma" pitchFamily="34" charset="0"/>
                <a:cs typeface="Tahoma" pitchFamily="34" charset="0"/>
              </a:rPr>
              <a:t>                            (</a:t>
            </a:r>
            <a:r>
              <a:rPr lang="en-US" sz="1600" b="1" dirty="0">
                <a:solidFill>
                  <a:srgbClr val="002060"/>
                </a:solidFill>
                <a:latin typeface="Tahoma" pitchFamily="34" charset="0"/>
                <a:ea typeface="Tahoma" pitchFamily="34" charset="0"/>
                <a:cs typeface="Tahoma" pitchFamily="34" charset="0"/>
              </a:rPr>
              <a:t>SELECT</a:t>
            </a:r>
            <a:r>
              <a:rPr lang="en-US" sz="1600" dirty="0">
                <a:solidFill>
                  <a:srgbClr val="002060"/>
                </a:solidFill>
                <a:latin typeface="Tahoma" pitchFamily="34" charset="0"/>
                <a:ea typeface="Tahoma" pitchFamily="34" charset="0"/>
                <a:cs typeface="Tahoma" pitchFamily="34" charset="0"/>
              </a:rPr>
              <a:t> </a:t>
            </a:r>
            <a:r>
              <a:rPr lang="en-US" sz="1600" dirty="0">
                <a:latin typeface="Tahoma" pitchFamily="34" charset="0"/>
                <a:ea typeface="Tahoma" pitchFamily="34" charset="0"/>
                <a:cs typeface="Tahoma" pitchFamily="34" charset="0"/>
              </a:rPr>
              <a:t>  </a:t>
            </a:r>
            <a:r>
              <a:rPr lang="en-US" sz="1600" b="1" dirty="0">
                <a:latin typeface="Tahoma" pitchFamily="34" charset="0"/>
                <a:ea typeface="Tahoma" pitchFamily="34" charset="0"/>
                <a:cs typeface="Tahoma" pitchFamily="34" charset="0"/>
              </a:rPr>
              <a:t>PNUMBER </a:t>
            </a:r>
            <a:r>
              <a:rPr lang="en-US" sz="1600" dirty="0">
                <a:latin typeface="Tahoma" pitchFamily="34" charset="0"/>
                <a:ea typeface="Tahoma" pitchFamily="34" charset="0"/>
                <a:cs typeface="Tahoma" pitchFamily="34" charset="0"/>
              </a:rPr>
              <a:t> </a:t>
            </a:r>
            <a:r>
              <a:rPr lang="en-US" sz="1600" b="1" dirty="0">
                <a:solidFill>
                  <a:srgbClr val="002060"/>
                </a:solidFill>
                <a:latin typeface="Tahoma" pitchFamily="34" charset="0"/>
                <a:ea typeface="Tahoma" pitchFamily="34" charset="0"/>
                <a:cs typeface="Tahoma" pitchFamily="34" charset="0"/>
              </a:rPr>
              <a:t>FROM </a:t>
            </a:r>
            <a:r>
              <a:rPr lang="en-US" sz="1600" dirty="0">
                <a:latin typeface="Tahoma" pitchFamily="34" charset="0"/>
                <a:ea typeface="Tahoma" pitchFamily="34" charset="0"/>
                <a:cs typeface="Tahoma" pitchFamily="34" charset="0"/>
              </a:rPr>
              <a:t>PROJECT, DEPARTMENT, EMPLOYEE   </a:t>
            </a:r>
          </a:p>
          <a:p>
            <a:pPr lvl="2" algn="just">
              <a:lnSpc>
                <a:spcPct val="150000"/>
              </a:lnSpc>
            </a:pPr>
            <a:r>
              <a:rPr lang="en-US" sz="1600" b="1" dirty="0">
                <a:solidFill>
                  <a:srgbClr val="002060"/>
                </a:solidFill>
                <a:latin typeface="Tahoma" pitchFamily="34" charset="0"/>
                <a:ea typeface="Tahoma" pitchFamily="34" charset="0"/>
                <a:cs typeface="Tahoma" pitchFamily="34" charset="0"/>
              </a:rPr>
              <a:t>WHERE </a:t>
            </a:r>
            <a:r>
              <a:rPr lang="en-US" sz="1600" b="1" dirty="0">
                <a:latin typeface="Tahoma" pitchFamily="34" charset="0"/>
                <a:ea typeface="Tahoma" pitchFamily="34" charset="0"/>
                <a:cs typeface="Tahoma" pitchFamily="34" charset="0"/>
              </a:rPr>
              <a:t> </a:t>
            </a:r>
            <a:r>
              <a:rPr lang="en-US" sz="1600" b="1" dirty="0">
                <a:solidFill>
                  <a:srgbClr val="C00000"/>
                </a:solidFill>
                <a:latin typeface="Tahoma" pitchFamily="34" charset="0"/>
                <a:ea typeface="Tahoma" pitchFamily="34" charset="0"/>
                <a:cs typeface="Tahoma" pitchFamily="34" charset="0"/>
              </a:rPr>
              <a:t>DNUM=DNUMBER  </a:t>
            </a:r>
            <a:r>
              <a:rPr lang="en-US" sz="1600" b="1" dirty="0">
                <a:solidFill>
                  <a:srgbClr val="002060"/>
                </a:solidFill>
                <a:latin typeface="Tahoma" pitchFamily="34" charset="0"/>
                <a:ea typeface="Tahoma" pitchFamily="34" charset="0"/>
                <a:cs typeface="Tahoma" pitchFamily="34" charset="0"/>
              </a:rPr>
              <a:t>AND</a:t>
            </a:r>
            <a:r>
              <a:rPr lang="en-US" sz="1600" b="1" dirty="0">
                <a:latin typeface="Tahoma" pitchFamily="34" charset="0"/>
                <a:ea typeface="Tahoma" pitchFamily="34" charset="0"/>
                <a:cs typeface="Tahoma" pitchFamily="34" charset="0"/>
              </a:rPr>
              <a:t> </a:t>
            </a:r>
            <a:r>
              <a:rPr lang="en-US" sz="1600" b="1" dirty="0">
                <a:solidFill>
                  <a:srgbClr val="C00000"/>
                </a:solidFill>
                <a:latin typeface="Tahoma" pitchFamily="34" charset="0"/>
                <a:ea typeface="Tahoma" pitchFamily="34" charset="0"/>
                <a:cs typeface="Tahoma" pitchFamily="34" charset="0"/>
              </a:rPr>
              <a:t>MGRSSN=SSN </a:t>
            </a:r>
            <a:r>
              <a:rPr lang="en-US" sz="1600" dirty="0">
                <a:latin typeface="Tahoma" pitchFamily="34" charset="0"/>
                <a:ea typeface="Tahoma" pitchFamily="34" charset="0"/>
                <a:cs typeface="Tahoma" pitchFamily="34" charset="0"/>
              </a:rPr>
              <a:t> </a:t>
            </a:r>
            <a:r>
              <a:rPr lang="en-US" sz="1600" b="1" dirty="0">
                <a:solidFill>
                  <a:srgbClr val="002060"/>
                </a:solidFill>
                <a:latin typeface="Tahoma" pitchFamily="34" charset="0"/>
                <a:ea typeface="Tahoma" pitchFamily="34" charset="0"/>
                <a:cs typeface="Tahoma" pitchFamily="34" charset="0"/>
              </a:rPr>
              <a:t>AND</a:t>
            </a:r>
            <a:r>
              <a:rPr lang="en-US" sz="1600" b="1" dirty="0">
                <a:solidFill>
                  <a:srgbClr val="00B0F0"/>
                </a:solidFill>
                <a:latin typeface="Tahoma" pitchFamily="34" charset="0"/>
                <a:ea typeface="Tahoma" pitchFamily="34" charset="0"/>
                <a:cs typeface="Tahoma" pitchFamily="34" charset="0"/>
              </a:rPr>
              <a:t> </a:t>
            </a:r>
            <a:r>
              <a:rPr lang="en-US" sz="1600" b="1" dirty="0">
                <a:latin typeface="Tahoma" pitchFamily="34" charset="0"/>
                <a:ea typeface="Tahoma" pitchFamily="34" charset="0"/>
                <a:cs typeface="Tahoma" pitchFamily="34" charset="0"/>
              </a:rPr>
              <a:t>    LNAME=‘Smith’</a:t>
            </a:r>
            <a:r>
              <a:rPr lang="en-US" sz="1600" dirty="0">
                <a:latin typeface="Tahoma" pitchFamily="34" charset="0"/>
                <a:ea typeface="Tahoma" pitchFamily="34" charset="0"/>
                <a:cs typeface="Tahoma" pitchFamily="34" charset="0"/>
              </a:rPr>
              <a:t>) </a:t>
            </a:r>
          </a:p>
          <a:p>
            <a:pPr>
              <a:buFont typeface="Arial" pitchFamily="34" charset="0"/>
              <a:buChar char="•"/>
            </a:pPr>
            <a:endParaRPr lang="en-US" sz="1600" dirty="0"/>
          </a:p>
          <a:p>
            <a:pPr>
              <a:lnSpc>
                <a:spcPct val="150000"/>
              </a:lnSpc>
            </a:pPr>
            <a:r>
              <a:rPr lang="en-US" b="1" dirty="0">
                <a:latin typeface="Tahoma" pitchFamily="34" charset="0"/>
                <a:ea typeface="Tahoma" pitchFamily="34" charset="0"/>
                <a:cs typeface="Tahoma" pitchFamily="34" charset="0"/>
              </a:rPr>
              <a:t>           </a:t>
            </a:r>
            <a:r>
              <a:rPr lang="en-US" b="1" dirty="0">
                <a:solidFill>
                  <a:srgbClr val="00B0F0"/>
                </a:solidFill>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OR</a:t>
            </a:r>
          </a:p>
          <a:p>
            <a:pPr>
              <a:lnSpc>
                <a:spcPct val="150000"/>
              </a:lnSpc>
            </a:pPr>
            <a:r>
              <a:rPr lang="en-US" b="1" dirty="0">
                <a:latin typeface="Tahoma" pitchFamily="34" charset="0"/>
                <a:ea typeface="Tahoma" pitchFamily="34" charset="0"/>
                <a:cs typeface="Tahoma" pitchFamily="34" charset="0"/>
              </a:rPr>
              <a:t>	 PNUMBER   </a:t>
            </a:r>
            <a:r>
              <a:rPr lang="en-US" b="1" dirty="0">
                <a:solidFill>
                  <a:srgbClr val="002060"/>
                </a:solidFill>
                <a:latin typeface="Tahoma" pitchFamily="34" charset="0"/>
                <a:ea typeface="Tahoma" pitchFamily="34" charset="0"/>
                <a:cs typeface="Tahoma" pitchFamily="34" charset="0"/>
              </a:rPr>
              <a:t>IN</a:t>
            </a: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SELECT </a:t>
            </a:r>
            <a:r>
              <a:rPr lang="en-US" b="1" dirty="0">
                <a:latin typeface="Tahoma" pitchFamily="34" charset="0"/>
                <a:ea typeface="Tahoma" pitchFamily="34" charset="0"/>
                <a:cs typeface="Tahoma" pitchFamily="34" charset="0"/>
              </a:rPr>
              <a:t> PNO  </a:t>
            </a:r>
            <a:r>
              <a:rPr lang="en-US" b="1" dirty="0">
                <a:solidFill>
                  <a:srgbClr val="002060"/>
                </a:solidFill>
                <a:latin typeface="Tahoma" pitchFamily="34" charset="0"/>
                <a:ea typeface="Tahoma" pitchFamily="34" charset="0"/>
                <a:cs typeface="Tahoma" pitchFamily="34" charset="0"/>
              </a:rPr>
              <a:t>FROM</a:t>
            </a:r>
            <a:r>
              <a:rPr lang="en-US" b="1" dirty="0">
                <a:latin typeface="Tahoma" pitchFamily="34" charset="0"/>
                <a:ea typeface="Tahoma" pitchFamily="34" charset="0"/>
                <a:cs typeface="Tahoma" pitchFamily="34" charset="0"/>
              </a:rPr>
              <a:t> WORKS_ON, EMPLOYEE</a:t>
            </a:r>
          </a:p>
          <a:p>
            <a:pPr>
              <a:lnSpc>
                <a:spcPct val="150000"/>
              </a:lnSpc>
            </a:pPr>
            <a:r>
              <a:rPr lang="en-US" b="1" dirty="0">
                <a:latin typeface="Tahoma" pitchFamily="34" charset="0"/>
                <a:ea typeface="Tahoma" pitchFamily="34" charset="0"/>
                <a:cs typeface="Tahoma" pitchFamily="34" charset="0"/>
              </a:rPr>
              <a:t>                                          WHERE  </a:t>
            </a:r>
            <a:r>
              <a:rPr lang="en-US" b="1" dirty="0">
                <a:solidFill>
                  <a:srgbClr val="C00000"/>
                </a:solidFill>
                <a:latin typeface="Tahoma" pitchFamily="34" charset="0"/>
                <a:ea typeface="Tahoma" pitchFamily="34" charset="0"/>
                <a:cs typeface="Tahoma" pitchFamily="34" charset="0"/>
              </a:rPr>
              <a:t>ESSN=SSN</a:t>
            </a: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AND</a:t>
            </a:r>
            <a:r>
              <a:rPr lang="en-US" b="1" dirty="0">
                <a:latin typeface="Tahoma" pitchFamily="34" charset="0"/>
                <a:ea typeface="Tahoma" pitchFamily="34" charset="0"/>
                <a:cs typeface="Tahoma" pitchFamily="34" charset="0"/>
              </a:rPr>
              <a:t>  LNAME='Smith');</a:t>
            </a:r>
          </a:p>
          <a:p>
            <a:pPr>
              <a:lnSpc>
                <a:spcPct val="150000"/>
              </a:lnSpc>
            </a:pPr>
            <a:endParaRPr lang="en-US" b="1" dirty="0">
              <a:latin typeface="Tahoma" pitchFamily="34" charset="0"/>
              <a:ea typeface="Tahoma" pitchFamily="34" charset="0"/>
              <a:cs typeface="Tahoma" pitchFamily="34" charset="0"/>
            </a:endParaRPr>
          </a:p>
        </p:txBody>
      </p:sp>
      <p:sp>
        <p:nvSpPr>
          <p:cNvPr id="4" name="TextBox 3"/>
          <p:cNvSpPr txBox="1"/>
          <p:nvPr/>
        </p:nvSpPr>
        <p:spPr>
          <a:xfrm>
            <a:off x="152400" y="152400"/>
            <a:ext cx="7086600" cy="480131"/>
          </a:xfrm>
          <a:prstGeom prst="rect">
            <a:avLst/>
          </a:prstGeom>
          <a:noFill/>
        </p:spPr>
        <p:txBody>
          <a:bodyPr wrap="square" rtlCol="0">
            <a:spAutoFit/>
          </a:bodyPr>
          <a:lstStyle/>
          <a:p>
            <a:pPr>
              <a:lnSpc>
                <a:spcPct val="90000"/>
              </a:lnSpc>
            </a:pPr>
            <a:r>
              <a:rPr lang="en-US" sz="2800" b="1" dirty="0">
                <a:solidFill>
                  <a:srgbClr val="002060"/>
                </a:solidFill>
                <a:latin typeface="Tahoma" pitchFamily="34" charset="0"/>
                <a:ea typeface="Tahoma" pitchFamily="34" charset="0"/>
                <a:cs typeface="Tahoma" pitchFamily="34" charset="0"/>
              </a:rPr>
              <a:t>Nested Queries  -  IN operator</a:t>
            </a:r>
            <a:endParaRPr lang="en-US" sz="2800" b="1" u="sng"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3"/>
          <p:cNvPicPr>
            <a:picLocks noGrp="1" noChangeAspect="1" noChangeArrowheads="1"/>
          </p:cNvPicPr>
          <p:nvPr>
            <p:ph idx="1"/>
          </p:nvPr>
        </p:nvPicPr>
        <p:blipFill>
          <a:blip r:embed="rId3" cstate="print"/>
          <a:srcRect/>
          <a:stretch>
            <a:fillRect/>
          </a:stretch>
        </p:blipFill>
        <p:spPr>
          <a:xfrm>
            <a:off x="1600200" y="762000"/>
            <a:ext cx="7086600" cy="5973770"/>
          </a:xfrm>
          <a:noFill/>
        </p:spPr>
      </p:pic>
      <p:sp>
        <p:nvSpPr>
          <p:cNvPr id="4" name="TextBox 3"/>
          <p:cNvSpPr txBox="1"/>
          <p:nvPr/>
        </p:nvSpPr>
        <p:spPr>
          <a:xfrm>
            <a:off x="152400" y="152400"/>
            <a:ext cx="6096000" cy="480131"/>
          </a:xfrm>
          <a:prstGeom prst="rect">
            <a:avLst/>
          </a:prstGeom>
          <a:noFill/>
        </p:spPr>
        <p:txBody>
          <a:bodyPr wrap="square" rtlCol="0">
            <a:spAutoFit/>
          </a:bodyPr>
          <a:lstStyle/>
          <a:p>
            <a:pPr>
              <a:lnSpc>
                <a:spcPct val="90000"/>
              </a:lnSpc>
            </a:pPr>
            <a:r>
              <a:rPr lang="en-US" sz="2800" b="1" dirty="0">
                <a:solidFill>
                  <a:srgbClr val="002060"/>
                </a:solidFill>
                <a:latin typeface="Tahoma" pitchFamily="34" charset="0"/>
                <a:ea typeface="Tahoma" pitchFamily="34" charset="0"/>
                <a:cs typeface="Tahoma" pitchFamily="34" charset="0"/>
              </a:rPr>
              <a:t>Nested Queries  -  IN operator</a:t>
            </a:r>
            <a:endParaRPr lang="en-US" sz="2800" b="1" u="sng"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914400"/>
            <a:ext cx="8686800" cy="4347344"/>
          </a:xfrm>
          <a:prstGeom prst="rect">
            <a:avLst/>
          </a:prstGeom>
          <a:noFill/>
        </p:spPr>
        <p:txBody>
          <a:bodyPr wrap="square" rtlCol="0">
            <a:spAutoFit/>
          </a:bodyPr>
          <a:lstStyle/>
          <a:p>
            <a:pPr marL="342900" indent="-342900" algn="just">
              <a:lnSpc>
                <a:spcPct val="150000"/>
              </a:lnSpc>
              <a:spcBef>
                <a:spcPts val="500"/>
              </a:spcBef>
              <a:spcAft>
                <a:spcPts val="500"/>
              </a:spcAft>
              <a:buFont typeface="Arial" pitchFamily="34" charset="0"/>
              <a:buChar char="•"/>
            </a:pPr>
            <a:r>
              <a:rPr lang="en-US" sz="1600" b="1" dirty="0">
                <a:solidFill>
                  <a:srgbClr val="00000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The IN operator can also compare a tuple of values in parentheses with a set or multiset of union-compatible tuples. </a:t>
            </a:r>
          </a:p>
          <a:p>
            <a:pPr algn="just">
              <a:lnSpc>
                <a:spcPct val="150000"/>
              </a:lnSpc>
              <a:spcBef>
                <a:spcPts val="500"/>
              </a:spcBef>
              <a:spcAft>
                <a:spcPts val="500"/>
              </a:spcAft>
              <a:buFont typeface="Arial" pitchFamily="34" charset="0"/>
              <a:buChar char="•"/>
            </a:pPr>
            <a:endParaRPr lang="en-US" sz="2000" dirty="0">
              <a:latin typeface="Tahoma" pitchFamily="34" charset="0"/>
              <a:ea typeface="Tahoma" pitchFamily="34" charset="0"/>
              <a:cs typeface="Tahoma" pitchFamily="34" charset="0"/>
            </a:endParaRPr>
          </a:p>
          <a:p>
            <a:pPr algn="just">
              <a:lnSpc>
                <a:spcPct val="150000"/>
              </a:lnSpc>
            </a:pPr>
            <a:r>
              <a:rPr lang="en-US" sz="1600" b="1" dirty="0">
                <a:latin typeface="Tahoma" pitchFamily="34" charset="0"/>
                <a:ea typeface="Tahoma" pitchFamily="34" charset="0"/>
                <a:cs typeface="Tahoma" pitchFamily="34" charset="0"/>
              </a:rPr>
              <a:t>QUERY: select the SSNs of all employees who work the same (project, hours) combination on some project that employee whose SSN ='123456789’ works on.</a:t>
            </a:r>
            <a:endParaRPr lang="en-US" sz="1600" b="1" dirty="0">
              <a:solidFill>
                <a:srgbClr val="00B0F0"/>
              </a:solidFill>
              <a:latin typeface="Tahoma" pitchFamily="34" charset="0"/>
              <a:ea typeface="Tahoma" pitchFamily="34" charset="0"/>
              <a:cs typeface="Tahoma" pitchFamily="34" charset="0"/>
            </a:endParaRPr>
          </a:p>
          <a:p>
            <a:pPr lvl="1">
              <a:lnSpc>
                <a:spcPct val="150000"/>
              </a:lnSpc>
            </a:pPr>
            <a:endParaRPr lang="en-US" sz="1600" b="1" dirty="0">
              <a:solidFill>
                <a:srgbClr val="00B0F0"/>
              </a:solidFill>
              <a:latin typeface="Tahoma" pitchFamily="34" charset="0"/>
              <a:ea typeface="Tahoma" pitchFamily="34" charset="0"/>
              <a:cs typeface="Tahoma" pitchFamily="34" charset="0"/>
            </a:endParaRPr>
          </a:p>
          <a:p>
            <a:pPr>
              <a:lnSpc>
                <a:spcPct val="200000"/>
              </a:lnSpc>
            </a:pPr>
            <a:r>
              <a:rPr lang="en-US" b="1" dirty="0">
                <a:solidFill>
                  <a:srgbClr val="002060"/>
                </a:solidFill>
                <a:latin typeface="Tahoma" pitchFamily="34" charset="0"/>
                <a:ea typeface="Tahoma" pitchFamily="34" charset="0"/>
                <a:cs typeface="Tahoma" pitchFamily="34" charset="0"/>
              </a:rPr>
              <a:t>SELECT   DISTINCT </a:t>
            </a:r>
            <a:r>
              <a:rPr lang="en-US" dirty="0">
                <a:latin typeface="Tahoma" pitchFamily="34" charset="0"/>
                <a:ea typeface="Tahoma" pitchFamily="34" charset="0"/>
                <a:cs typeface="Tahoma" pitchFamily="34" charset="0"/>
              </a:rPr>
              <a:t>ESSN   </a:t>
            </a:r>
            <a:r>
              <a:rPr lang="en-US" b="1" dirty="0">
                <a:solidFill>
                  <a:srgbClr val="002060"/>
                </a:solidFill>
                <a:latin typeface="Tahoma" pitchFamily="34" charset="0"/>
                <a:ea typeface="Tahoma" pitchFamily="34" charset="0"/>
                <a:cs typeface="Tahoma" pitchFamily="34" charset="0"/>
              </a:rPr>
              <a:t>FROM</a:t>
            </a:r>
            <a:r>
              <a:rPr lang="en-US" b="1" dirty="0">
                <a:solidFill>
                  <a:srgbClr val="00B0F0"/>
                </a:solidFill>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WORKS_ON  </a:t>
            </a:r>
          </a:p>
          <a:p>
            <a:pPr>
              <a:lnSpc>
                <a:spcPct val="200000"/>
              </a:lnSpc>
            </a:pPr>
            <a:r>
              <a:rPr lang="en-US" b="1" dirty="0">
                <a:solidFill>
                  <a:srgbClr val="002060"/>
                </a:solidFill>
                <a:latin typeface="Tahoma" pitchFamily="34" charset="0"/>
                <a:ea typeface="Tahoma" pitchFamily="34" charset="0"/>
                <a:cs typeface="Tahoma" pitchFamily="34" charset="0"/>
              </a:rPr>
              <a:t>WHERE </a:t>
            </a:r>
            <a:r>
              <a:rPr lang="en-US" dirty="0">
                <a:latin typeface="Tahoma" pitchFamily="34" charset="0"/>
                <a:ea typeface="Tahoma" pitchFamily="34" charset="0"/>
                <a:cs typeface="Tahoma" pitchFamily="34" charset="0"/>
              </a:rPr>
              <a:t> (PNO, HOURS) </a:t>
            </a:r>
            <a:r>
              <a:rPr lang="en-US" b="1" dirty="0">
                <a:solidFill>
                  <a:srgbClr val="002060"/>
                </a:solidFill>
                <a:latin typeface="Tahoma" pitchFamily="34" charset="0"/>
                <a:ea typeface="Tahoma" pitchFamily="34" charset="0"/>
                <a:cs typeface="Tahoma" pitchFamily="34" charset="0"/>
              </a:rPr>
              <a:t>IN</a:t>
            </a:r>
            <a:r>
              <a:rPr lang="en-US" b="1" dirty="0">
                <a:solidFill>
                  <a:srgbClr val="00B0F0"/>
                </a:solidFill>
                <a:latin typeface="Tahoma" pitchFamily="34" charset="0"/>
                <a:ea typeface="Tahoma" pitchFamily="34" charset="0"/>
                <a:cs typeface="Tahoma" pitchFamily="34" charset="0"/>
              </a:rPr>
              <a:t> </a:t>
            </a:r>
            <a:endParaRPr lang="en-US" dirty="0">
              <a:solidFill>
                <a:srgbClr val="00B0F0"/>
              </a:solidFill>
              <a:latin typeface="Tahoma" pitchFamily="34" charset="0"/>
              <a:ea typeface="Tahoma" pitchFamily="34" charset="0"/>
              <a:cs typeface="Tahoma" pitchFamily="34" charset="0"/>
            </a:endParaRPr>
          </a:p>
          <a:p>
            <a:pPr>
              <a:lnSpc>
                <a:spcPct val="200000"/>
              </a:lnSpc>
            </a:pPr>
            <a:r>
              <a:rPr lang="en-US"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SELECT</a:t>
            </a:r>
            <a:r>
              <a:rPr lang="en-US" b="1" dirty="0">
                <a:solidFill>
                  <a:srgbClr val="00B0F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PNO, HOURS </a:t>
            </a:r>
            <a:r>
              <a:rPr lang="en-US" b="1" dirty="0">
                <a:solidFill>
                  <a:srgbClr val="002060"/>
                </a:solidFill>
                <a:latin typeface="Tahoma" pitchFamily="34" charset="0"/>
                <a:ea typeface="Tahoma" pitchFamily="34" charset="0"/>
                <a:cs typeface="Tahoma" pitchFamily="34" charset="0"/>
              </a:rPr>
              <a:t>FROM</a:t>
            </a:r>
            <a:r>
              <a:rPr lang="en-US" b="1"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WORKS_ON </a:t>
            </a:r>
            <a:r>
              <a:rPr lang="en-US" b="1" dirty="0">
                <a:solidFill>
                  <a:srgbClr val="002060"/>
                </a:solidFill>
                <a:latin typeface="Tahoma" pitchFamily="34" charset="0"/>
                <a:ea typeface="Tahoma" pitchFamily="34" charset="0"/>
                <a:cs typeface="Tahoma" pitchFamily="34" charset="0"/>
              </a:rPr>
              <a:t>WHERE</a:t>
            </a:r>
            <a:r>
              <a:rPr lang="en-US" b="1"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ESSN=‘123456789’);</a:t>
            </a:r>
            <a:endParaRPr lang="en-US" b="1" dirty="0">
              <a:latin typeface="Tahoma" pitchFamily="34" charset="0"/>
              <a:ea typeface="Tahoma" pitchFamily="34" charset="0"/>
              <a:cs typeface="Tahoma" pitchFamily="34" charset="0"/>
            </a:endParaRPr>
          </a:p>
        </p:txBody>
      </p:sp>
      <p:sp>
        <p:nvSpPr>
          <p:cNvPr id="5" name="TextBox 4"/>
          <p:cNvSpPr txBox="1"/>
          <p:nvPr/>
        </p:nvSpPr>
        <p:spPr>
          <a:xfrm>
            <a:off x="152400" y="5486400"/>
            <a:ext cx="8686800" cy="1156086"/>
          </a:xfrm>
          <a:prstGeom prst="rect">
            <a:avLst/>
          </a:prstGeom>
          <a:solidFill>
            <a:schemeClr val="accent1"/>
          </a:solidFill>
          <a:ln>
            <a:solidFill>
              <a:schemeClr val="tx1"/>
            </a:solidFill>
          </a:ln>
        </p:spPr>
        <p:txBody>
          <a:bodyPr wrap="square" rtlCol="0">
            <a:spAutoFit/>
          </a:bodyPr>
          <a:lstStyle/>
          <a:p>
            <a:pPr algn="just">
              <a:lnSpc>
                <a:spcPct val="150000"/>
              </a:lnSpc>
            </a:pPr>
            <a:r>
              <a:rPr lang="en-US" sz="1600" i="1" dirty="0">
                <a:latin typeface="Times" pitchFamily="18" charset="0"/>
                <a:ea typeface="Tahoma" pitchFamily="34" charset="0"/>
                <a:cs typeface="Tahoma" pitchFamily="34" charset="0"/>
              </a:rPr>
              <a:t>In this example, the IN operator compares the subtuple of values in parentheses (PNO, HOURS) for each tuple in WORKS_ON  is compared with the set of union-compatible tuples produced by the nested query.</a:t>
            </a:r>
          </a:p>
        </p:txBody>
      </p:sp>
      <p:sp>
        <p:nvSpPr>
          <p:cNvPr id="9" name="TextBox 8"/>
          <p:cNvSpPr txBox="1"/>
          <p:nvPr/>
        </p:nvSpPr>
        <p:spPr>
          <a:xfrm>
            <a:off x="152400" y="152400"/>
            <a:ext cx="7620000" cy="480131"/>
          </a:xfrm>
          <a:prstGeom prst="rect">
            <a:avLst/>
          </a:prstGeom>
          <a:noFill/>
        </p:spPr>
        <p:txBody>
          <a:bodyPr wrap="square" rtlCol="0">
            <a:spAutoFit/>
          </a:bodyPr>
          <a:lstStyle/>
          <a:p>
            <a:pPr>
              <a:lnSpc>
                <a:spcPct val="90000"/>
              </a:lnSpc>
            </a:pPr>
            <a:r>
              <a:rPr lang="en-US" sz="2800" b="1" dirty="0">
                <a:solidFill>
                  <a:srgbClr val="002060"/>
                </a:solidFill>
                <a:latin typeface="Tahoma" pitchFamily="34" charset="0"/>
                <a:ea typeface="Tahoma" pitchFamily="34" charset="0"/>
                <a:cs typeface="Tahoma" pitchFamily="34" charset="0"/>
              </a:rPr>
              <a:t>Nested Queries -  IN operator</a:t>
            </a:r>
            <a:endParaRPr lang="en-US" sz="2800" b="1" u="sng"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914400"/>
            <a:ext cx="8686800" cy="4337085"/>
          </a:xfrm>
          <a:prstGeom prst="rect">
            <a:avLst/>
          </a:prstGeom>
          <a:noFill/>
        </p:spPr>
        <p:txBody>
          <a:bodyPr wrap="square" rtlCol="0">
            <a:spAutoFit/>
          </a:bodyPr>
          <a:lstStyle/>
          <a:p>
            <a:pPr marL="342900" indent="-342900" algn="just">
              <a:lnSpc>
                <a:spcPct val="150000"/>
              </a:lnSpc>
              <a:spcBef>
                <a:spcPts val="500"/>
              </a:spcBef>
              <a:spcAft>
                <a:spcPts val="500"/>
              </a:spcAft>
              <a:buFont typeface="Arial" pitchFamily="34" charset="0"/>
              <a:buChar char="•"/>
            </a:pPr>
            <a:r>
              <a:rPr lang="en-US" dirty="0">
                <a:latin typeface="Tahoma" pitchFamily="34" charset="0"/>
                <a:ea typeface="Tahoma" pitchFamily="34" charset="0"/>
                <a:cs typeface="Tahoma" pitchFamily="34" charset="0"/>
              </a:rPr>
              <a:t>Used to  compare a single value v (typically an attribute name) to a set or multiset V</a:t>
            </a:r>
            <a:endParaRPr lang="en-US" b="1" dirty="0"/>
          </a:p>
          <a:p>
            <a:pPr marL="342900" indent="-342900" algn="just">
              <a:lnSpc>
                <a:spcPct val="150000"/>
              </a:lnSpc>
              <a:spcBef>
                <a:spcPts val="500"/>
              </a:spcBef>
              <a:spcAft>
                <a:spcPts val="500"/>
              </a:spcAft>
              <a:buFont typeface="Arial" pitchFamily="34" charset="0"/>
              <a:buChar char="•"/>
            </a:pPr>
            <a:r>
              <a:rPr lang="en-US" b="1" dirty="0"/>
              <a:t>Used with  =, &gt;,&gt;=, &lt;, &lt;=, and &lt; &gt;.</a:t>
            </a:r>
          </a:p>
          <a:p>
            <a:pPr algn="just">
              <a:lnSpc>
                <a:spcPct val="150000"/>
              </a:lnSpc>
              <a:spcBef>
                <a:spcPts val="500"/>
              </a:spcBef>
              <a:spcAft>
                <a:spcPts val="500"/>
              </a:spcAft>
            </a:pPr>
            <a:r>
              <a:rPr lang="en-US" b="1" dirty="0">
                <a:latin typeface="Tahoma" pitchFamily="34" charset="0"/>
                <a:ea typeface="Tahoma" pitchFamily="34" charset="0"/>
                <a:cs typeface="Tahoma" pitchFamily="34" charset="0"/>
              </a:rPr>
              <a:t>Example :</a:t>
            </a:r>
            <a:r>
              <a:rPr lang="en-US" dirty="0">
                <a:latin typeface="Tahoma" pitchFamily="34" charset="0"/>
                <a:ea typeface="Tahoma" pitchFamily="34" charset="0"/>
                <a:cs typeface="Tahoma" pitchFamily="34" charset="0"/>
              </a:rPr>
              <a:t> Retrieve names of employees whose salary is greater than the salary of all the employees in  department 5:</a:t>
            </a:r>
          </a:p>
          <a:p>
            <a:pPr algn="just">
              <a:lnSpc>
                <a:spcPct val="150000"/>
              </a:lnSpc>
            </a:pPr>
            <a:endParaRPr lang="en-US" sz="2000" b="1" dirty="0">
              <a:solidFill>
                <a:srgbClr val="00B0F0"/>
              </a:solidFill>
              <a:latin typeface="Tahoma" pitchFamily="34" charset="0"/>
              <a:ea typeface="Tahoma" pitchFamily="34" charset="0"/>
              <a:cs typeface="Tahoma" pitchFamily="34" charset="0"/>
            </a:endParaRPr>
          </a:p>
          <a:p>
            <a:pPr algn="just">
              <a:lnSpc>
                <a:spcPct val="150000"/>
              </a:lnSpc>
            </a:pPr>
            <a:r>
              <a:rPr lang="en-US" sz="2000" b="1" dirty="0">
                <a:solidFill>
                  <a:srgbClr val="002060"/>
                </a:solidFill>
                <a:latin typeface="Tahoma" pitchFamily="34" charset="0"/>
                <a:ea typeface="Tahoma" pitchFamily="34" charset="0"/>
                <a:cs typeface="Tahoma" pitchFamily="34" charset="0"/>
              </a:rPr>
              <a:t>SELECT </a:t>
            </a:r>
            <a:r>
              <a:rPr lang="en-US" sz="2000" b="1"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LNAME, FNAME </a:t>
            </a:r>
            <a:r>
              <a:rPr lang="en-US" sz="2000" b="1" dirty="0">
                <a:solidFill>
                  <a:srgbClr val="002060"/>
                </a:solidFill>
                <a:latin typeface="Tahoma" pitchFamily="34" charset="0"/>
                <a:ea typeface="Tahoma" pitchFamily="34" charset="0"/>
                <a:cs typeface="Tahoma" pitchFamily="34" charset="0"/>
              </a:rPr>
              <a:t>FROM</a:t>
            </a:r>
            <a:r>
              <a:rPr lang="en-US" sz="2000" b="1"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EMPLOYEE 	</a:t>
            </a:r>
          </a:p>
          <a:p>
            <a:pPr algn="just">
              <a:lnSpc>
                <a:spcPct val="150000"/>
              </a:lnSpc>
            </a:pPr>
            <a:r>
              <a:rPr lang="en-US" sz="2000" b="1" dirty="0">
                <a:solidFill>
                  <a:srgbClr val="002060"/>
                </a:solidFill>
                <a:latin typeface="Tahoma" pitchFamily="34" charset="0"/>
                <a:ea typeface="Tahoma" pitchFamily="34" charset="0"/>
                <a:cs typeface="Tahoma" pitchFamily="34" charset="0"/>
              </a:rPr>
              <a:t>WHERE</a:t>
            </a:r>
            <a:r>
              <a:rPr lang="en-US" sz="2000" b="1" dirty="0">
                <a:solidFill>
                  <a:srgbClr val="00B0F0"/>
                </a:solidFill>
                <a:latin typeface="Tahoma" pitchFamily="34" charset="0"/>
                <a:ea typeface="Tahoma" pitchFamily="34" charset="0"/>
                <a:cs typeface="Tahoma" pitchFamily="34" charset="0"/>
              </a:rPr>
              <a:t> </a:t>
            </a:r>
            <a:r>
              <a:rPr lang="en-US" sz="2000" b="1"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SALARY &gt; </a:t>
            </a:r>
            <a:r>
              <a:rPr lang="en-US" sz="2000" b="1" dirty="0">
                <a:solidFill>
                  <a:srgbClr val="002060"/>
                </a:solidFill>
                <a:latin typeface="Tahoma" pitchFamily="34" charset="0"/>
                <a:ea typeface="Tahoma" pitchFamily="34" charset="0"/>
                <a:cs typeface="Tahoma" pitchFamily="34" charset="0"/>
              </a:rPr>
              <a:t>ALL</a:t>
            </a:r>
            <a:r>
              <a:rPr lang="en-US" sz="2000" b="1"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a:t>
            </a:r>
            <a:r>
              <a:rPr lang="en-US" sz="2000" b="1" dirty="0">
                <a:solidFill>
                  <a:srgbClr val="002060"/>
                </a:solidFill>
                <a:latin typeface="Tahoma" pitchFamily="34" charset="0"/>
                <a:ea typeface="Tahoma" pitchFamily="34" charset="0"/>
                <a:cs typeface="Tahoma" pitchFamily="34" charset="0"/>
              </a:rPr>
              <a:t>SELECT</a:t>
            </a:r>
            <a:r>
              <a:rPr lang="en-US" sz="2000" b="1"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SALARY </a:t>
            </a:r>
            <a:r>
              <a:rPr lang="en-US" sz="2000" b="1" dirty="0">
                <a:solidFill>
                  <a:srgbClr val="002060"/>
                </a:solidFill>
                <a:latin typeface="Tahoma" pitchFamily="34" charset="0"/>
                <a:ea typeface="Tahoma" pitchFamily="34" charset="0"/>
                <a:cs typeface="Tahoma" pitchFamily="34" charset="0"/>
              </a:rPr>
              <a:t>FROM</a:t>
            </a:r>
            <a:r>
              <a:rPr lang="en-US" sz="2000" b="1" dirty="0">
                <a:solidFill>
                  <a:srgbClr val="00B0F0"/>
                </a:solidFill>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EMPLOYEE </a:t>
            </a:r>
            <a:r>
              <a:rPr lang="en-US" sz="2000" b="1" dirty="0">
                <a:solidFill>
                  <a:srgbClr val="002060"/>
                </a:solidFill>
                <a:latin typeface="Tahoma" pitchFamily="34" charset="0"/>
                <a:ea typeface="Tahoma" pitchFamily="34" charset="0"/>
                <a:cs typeface="Tahoma" pitchFamily="34" charset="0"/>
              </a:rPr>
              <a:t>WHERE</a:t>
            </a:r>
            <a:r>
              <a:rPr lang="en-US" sz="2000" b="1" dirty="0">
                <a:solidFill>
                  <a:srgbClr val="00B0F0"/>
                </a:solidFill>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DNO=5)</a:t>
            </a:r>
          </a:p>
        </p:txBody>
      </p:sp>
      <p:sp>
        <p:nvSpPr>
          <p:cNvPr id="8" name="TextBox 7"/>
          <p:cNvSpPr txBox="1"/>
          <p:nvPr/>
        </p:nvSpPr>
        <p:spPr>
          <a:xfrm>
            <a:off x="152400" y="152400"/>
            <a:ext cx="8534400" cy="480131"/>
          </a:xfrm>
          <a:prstGeom prst="rect">
            <a:avLst/>
          </a:prstGeom>
          <a:noFill/>
        </p:spPr>
        <p:txBody>
          <a:bodyPr wrap="square" rtlCol="0">
            <a:spAutoFit/>
          </a:bodyPr>
          <a:lstStyle/>
          <a:p>
            <a:pPr>
              <a:lnSpc>
                <a:spcPct val="90000"/>
              </a:lnSpc>
            </a:pPr>
            <a:r>
              <a:rPr lang="en-US" sz="2800" b="1" dirty="0">
                <a:solidFill>
                  <a:srgbClr val="002060"/>
                </a:solidFill>
                <a:latin typeface="Tahoma" pitchFamily="34" charset="0"/>
                <a:ea typeface="Tahoma" pitchFamily="34" charset="0"/>
                <a:cs typeface="Tahoma" pitchFamily="34" charset="0"/>
              </a:rPr>
              <a:t>Nested Queries  -  </a:t>
            </a:r>
            <a:r>
              <a:rPr lang="en-US" sz="2800" b="1" dirty="0">
                <a:solidFill>
                  <a:srgbClr val="002060"/>
                </a:solidFill>
              </a:rPr>
              <a:t>ANY ,  SOME  </a:t>
            </a:r>
            <a:r>
              <a:rPr lang="en-US" sz="2800" b="1" dirty="0"/>
              <a:t>and  </a:t>
            </a:r>
            <a:r>
              <a:rPr lang="en-US" sz="2800" b="1" dirty="0">
                <a:solidFill>
                  <a:srgbClr val="002060"/>
                </a:solidFill>
              </a:rPr>
              <a:t>ALL </a:t>
            </a:r>
            <a:endParaRPr lang="en-US" sz="2800" b="1" u="sng" dirty="0">
              <a:solidFill>
                <a:srgbClr val="002060"/>
              </a:solidFill>
              <a:latin typeface="Tahoma" pitchFamily="34" charset="0"/>
              <a:ea typeface="Tahoma" pitchFamily="34" charset="0"/>
              <a:cs typeface="Tahoma" pitchFamily="34" charset="0"/>
            </a:endParaRPr>
          </a:p>
        </p:txBody>
      </p:sp>
      <p:sp>
        <p:nvSpPr>
          <p:cNvPr id="9" name="Rectangle 8"/>
          <p:cNvSpPr/>
          <p:nvPr/>
        </p:nvSpPr>
        <p:spPr>
          <a:xfrm>
            <a:off x="228600" y="5638800"/>
            <a:ext cx="8610600" cy="923330"/>
          </a:xfrm>
          <a:prstGeom prst="rect">
            <a:avLst/>
          </a:prstGeom>
          <a:solidFill>
            <a:schemeClr val="accent1"/>
          </a:solidFill>
          <a:ln>
            <a:solidFill>
              <a:schemeClr val="tx1"/>
            </a:solidFill>
          </a:ln>
        </p:spPr>
        <p:txBody>
          <a:bodyPr wrap="square">
            <a:spAutoFit/>
          </a:bodyPr>
          <a:lstStyle/>
          <a:p>
            <a:pPr algn="just">
              <a:lnSpc>
                <a:spcPct val="150000"/>
              </a:lnSpc>
            </a:pPr>
            <a:r>
              <a:rPr lang="en-US" i="1" dirty="0">
                <a:latin typeface="Times" pitchFamily="18" charset="0"/>
                <a:ea typeface="Tahoma" pitchFamily="34" charset="0"/>
                <a:cs typeface="Tahoma" pitchFamily="34" charset="0"/>
              </a:rPr>
              <a:t>The </a:t>
            </a:r>
            <a:r>
              <a:rPr lang="en-US" b="1" i="1" dirty="0">
                <a:latin typeface="Times" pitchFamily="18" charset="0"/>
                <a:ea typeface="Tahoma" pitchFamily="34" charset="0"/>
                <a:cs typeface="Tahoma" pitchFamily="34" charset="0"/>
              </a:rPr>
              <a:t>= ANY </a:t>
            </a:r>
            <a:r>
              <a:rPr lang="en-US" i="1" dirty="0">
                <a:latin typeface="Times" pitchFamily="18" charset="0"/>
                <a:ea typeface="Tahoma" pitchFamily="34" charset="0"/>
                <a:cs typeface="Tahoma" pitchFamily="34" charset="0"/>
              </a:rPr>
              <a:t>(or = SOME) operator returns TRUE if the value v is equal to  some value in the set V and is hence equivalent to IN.</a:t>
            </a:r>
          </a:p>
        </p:txBody>
      </p:sp>
    </p:spTree>
  </p:cSld>
  <p:clrMapOvr>
    <a:masterClrMapping/>
  </p:clrMapOvr>
  <p:transition>
    <p:cu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2400" y="914400"/>
            <a:ext cx="8686800" cy="4585871"/>
          </a:xfrm>
          <a:prstGeom prst="rect">
            <a:avLst/>
          </a:prstGeom>
          <a:noFill/>
        </p:spPr>
        <p:txBody>
          <a:bodyPr wrap="square" rtlCol="0">
            <a:spAutoFit/>
          </a:bodyPr>
          <a:lstStyle/>
          <a:p>
            <a:pPr marL="342900" indent="-342900" algn="just">
              <a:lnSpc>
                <a:spcPct val="200000"/>
              </a:lnSpc>
              <a:spcBef>
                <a:spcPts val="500"/>
              </a:spcBef>
              <a:spcAft>
                <a:spcPts val="500"/>
              </a:spcAft>
              <a:buFont typeface="Arial" pitchFamily="34" charset="0"/>
              <a:buChar char="•"/>
            </a:pPr>
            <a:r>
              <a:rPr lang="en-US" sz="1600" b="1" dirty="0">
                <a:solidFill>
                  <a:srgbClr val="000000"/>
                </a:solidFill>
                <a:latin typeface="Tahoma" pitchFamily="34" charset="0"/>
                <a:ea typeface="Tahoma" pitchFamily="34" charset="0"/>
                <a:cs typeface="Tahoma" pitchFamily="34" charset="0"/>
              </a:rPr>
              <a:t> </a:t>
            </a:r>
            <a:r>
              <a:rPr lang="en-US" sz="2000" b="1" dirty="0">
                <a:latin typeface="Tahoma" pitchFamily="34" charset="0"/>
                <a:ea typeface="Tahoma" pitchFamily="34" charset="0"/>
                <a:cs typeface="Tahoma" pitchFamily="34" charset="0"/>
              </a:rPr>
              <a:t>In general, we can have several levels of nested queries</a:t>
            </a:r>
            <a:r>
              <a:rPr lang="en-US" sz="2000" dirty="0">
                <a:latin typeface="Tahoma" pitchFamily="34" charset="0"/>
                <a:ea typeface="Tahoma" pitchFamily="34" charset="0"/>
                <a:cs typeface="Tahoma" pitchFamily="34" charset="0"/>
              </a:rPr>
              <a:t>. </a:t>
            </a:r>
          </a:p>
          <a:p>
            <a:pPr marL="342900" indent="-342900" algn="just">
              <a:lnSpc>
                <a:spcPct val="200000"/>
              </a:lnSpc>
              <a:spcBef>
                <a:spcPts val="500"/>
              </a:spcBef>
              <a:spcAft>
                <a:spcPts val="500"/>
              </a:spcAft>
              <a:buFont typeface="Arial" pitchFamily="34" charset="0"/>
              <a:buChar char="•"/>
            </a:pPr>
            <a:r>
              <a:rPr lang="en-US" sz="2000" dirty="0">
                <a:latin typeface="Tahoma" pitchFamily="34" charset="0"/>
                <a:ea typeface="Tahoma" pitchFamily="34" charset="0"/>
                <a:cs typeface="Tahoma" pitchFamily="34" charset="0"/>
              </a:rPr>
              <a:t>So  ambiguity can arise  if attributes of the same name exist in a relation in the FROM clause of the outer query, and another in a relation in the FROM  clause of the nested query. </a:t>
            </a:r>
          </a:p>
          <a:p>
            <a:pPr marL="342900" indent="-342900" algn="just">
              <a:lnSpc>
                <a:spcPct val="200000"/>
              </a:lnSpc>
              <a:spcBef>
                <a:spcPts val="500"/>
              </a:spcBef>
              <a:spcAft>
                <a:spcPts val="500"/>
              </a:spcAft>
              <a:buFont typeface="Arial" pitchFamily="34" charset="0"/>
              <a:buChar char="•"/>
            </a:pPr>
            <a:r>
              <a:rPr lang="en-US" sz="2000" dirty="0">
                <a:latin typeface="Tahoma" pitchFamily="34" charset="0"/>
                <a:ea typeface="Tahoma" pitchFamily="34" charset="0"/>
                <a:cs typeface="Tahoma" pitchFamily="34" charset="0"/>
              </a:rPr>
              <a:t>The rule is that a reference to an unqualified attribute refers to the relation declared in the innermost nested query.</a:t>
            </a:r>
          </a:p>
          <a:p>
            <a:pPr marL="342900" indent="-342900" algn="just">
              <a:lnSpc>
                <a:spcPct val="150000"/>
              </a:lnSpc>
              <a:spcBef>
                <a:spcPts val="500"/>
              </a:spcBef>
              <a:spcAft>
                <a:spcPts val="500"/>
              </a:spcAft>
              <a:buFont typeface="Arial" pitchFamily="34" charset="0"/>
              <a:buChar char="•"/>
            </a:pPr>
            <a:endParaRPr lang="en-US" dirty="0">
              <a:latin typeface="Tahoma" pitchFamily="34" charset="0"/>
              <a:ea typeface="Tahoma" pitchFamily="34" charset="0"/>
              <a:cs typeface="Tahoma" pitchFamily="34" charset="0"/>
            </a:endParaRPr>
          </a:p>
        </p:txBody>
      </p:sp>
      <p:sp>
        <p:nvSpPr>
          <p:cNvPr id="8" name="TextBox 7"/>
          <p:cNvSpPr txBox="1"/>
          <p:nvPr/>
        </p:nvSpPr>
        <p:spPr>
          <a:xfrm>
            <a:off x="152400" y="152400"/>
            <a:ext cx="8534400" cy="480131"/>
          </a:xfrm>
          <a:prstGeom prst="rect">
            <a:avLst/>
          </a:prstGeom>
          <a:noFill/>
        </p:spPr>
        <p:txBody>
          <a:bodyPr wrap="square" rtlCol="0">
            <a:spAutoFit/>
          </a:bodyPr>
          <a:lstStyle/>
          <a:p>
            <a:pPr>
              <a:lnSpc>
                <a:spcPct val="90000"/>
              </a:lnSpc>
            </a:pPr>
            <a:r>
              <a:rPr lang="en-US" sz="2800" b="1" dirty="0">
                <a:solidFill>
                  <a:srgbClr val="002060"/>
                </a:solidFill>
                <a:latin typeface="Tahoma" pitchFamily="34" charset="0"/>
                <a:ea typeface="Tahoma" pitchFamily="34" charset="0"/>
                <a:cs typeface="Tahoma" pitchFamily="34" charset="0"/>
              </a:rPr>
              <a:t>Nested Queries  and Ambiguity</a:t>
            </a:r>
            <a:endParaRPr lang="en-US" sz="2800" b="1" u="sng"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914400"/>
            <a:ext cx="8458200" cy="2723823"/>
          </a:xfrm>
          <a:prstGeom prst="rect">
            <a:avLst/>
          </a:prstGeom>
          <a:noFill/>
        </p:spPr>
        <p:txBody>
          <a:bodyPr wrap="square" rtlCol="0">
            <a:spAutoFit/>
          </a:bodyPr>
          <a:lstStyle/>
          <a:p>
            <a:pPr>
              <a:lnSpc>
                <a:spcPct val="150000"/>
              </a:lnSpc>
            </a:pPr>
            <a:r>
              <a:rPr lang="en-US" b="1" dirty="0">
                <a:latin typeface="Tahoma" pitchFamily="34" charset="0"/>
                <a:ea typeface="Tahoma" pitchFamily="34" charset="0"/>
                <a:cs typeface="Tahoma" pitchFamily="34" charset="0"/>
              </a:rPr>
              <a:t>QUERY 16 : </a:t>
            </a:r>
            <a:r>
              <a:rPr lang="en-US" dirty="0">
                <a:latin typeface="Tahoma" pitchFamily="34" charset="0"/>
                <a:ea typeface="Tahoma" pitchFamily="34" charset="0"/>
                <a:cs typeface="Tahoma" pitchFamily="34" charset="0"/>
              </a:rPr>
              <a:t>Retrieve the name of each employee who has a dependent with the same first name and same sex as the employee.</a:t>
            </a:r>
          </a:p>
          <a:p>
            <a:pPr>
              <a:lnSpc>
                <a:spcPct val="150000"/>
              </a:lnSpc>
            </a:pPr>
            <a:endParaRPr lang="en-US" dirty="0">
              <a:latin typeface="Tahoma" pitchFamily="34" charset="0"/>
              <a:ea typeface="Tahoma" pitchFamily="34" charset="0"/>
              <a:cs typeface="Tahoma" pitchFamily="34" charset="0"/>
            </a:endParaRPr>
          </a:p>
          <a:p>
            <a:pPr lvl="1">
              <a:lnSpc>
                <a:spcPct val="150000"/>
              </a:lnSpc>
            </a:pPr>
            <a:r>
              <a:rPr lang="en-US" b="1" i="1" dirty="0">
                <a:latin typeface="Tahoma" pitchFamily="34" charset="0"/>
                <a:ea typeface="Tahoma" pitchFamily="34" charset="0"/>
                <a:cs typeface="Tahoma" pitchFamily="34" charset="0"/>
              </a:rPr>
              <a:t>Q16:   </a:t>
            </a:r>
            <a:r>
              <a:rPr lang="en-US" sz="2000" b="1" dirty="0">
                <a:solidFill>
                  <a:srgbClr val="002060"/>
                </a:solidFill>
                <a:latin typeface="Tahoma" pitchFamily="34" charset="0"/>
                <a:ea typeface="Tahoma" pitchFamily="34" charset="0"/>
                <a:cs typeface="Tahoma" pitchFamily="34" charset="0"/>
              </a:rPr>
              <a:t>SELECT</a:t>
            </a:r>
            <a:r>
              <a:rPr lang="en-US" sz="2000" b="1" dirty="0">
                <a:latin typeface="Tahoma" pitchFamily="34" charset="0"/>
                <a:ea typeface="Tahoma" pitchFamily="34" charset="0"/>
                <a:cs typeface="Tahoma" pitchFamily="34" charset="0"/>
              </a:rPr>
              <a:t>  E.FNAME, E.LNAME </a:t>
            </a:r>
            <a:r>
              <a:rPr lang="en-US" sz="2000" b="1" dirty="0">
                <a:solidFill>
                  <a:srgbClr val="002060"/>
                </a:solidFill>
                <a:latin typeface="Tahoma" pitchFamily="34" charset="0"/>
                <a:ea typeface="Tahoma" pitchFamily="34" charset="0"/>
                <a:cs typeface="Tahoma" pitchFamily="34" charset="0"/>
              </a:rPr>
              <a:t>FROM</a:t>
            </a:r>
            <a:r>
              <a:rPr lang="en-US" sz="2000" b="1" dirty="0">
                <a:latin typeface="Tahoma" pitchFamily="34" charset="0"/>
                <a:ea typeface="Tahoma" pitchFamily="34" charset="0"/>
                <a:cs typeface="Tahoma" pitchFamily="34" charset="0"/>
              </a:rPr>
              <a:t> EMPLOYEE </a:t>
            </a:r>
            <a:r>
              <a:rPr lang="en-US" sz="2000" b="1" dirty="0">
                <a:solidFill>
                  <a:srgbClr val="002060"/>
                </a:solidFill>
                <a:latin typeface="Tahoma" pitchFamily="34" charset="0"/>
                <a:ea typeface="Tahoma" pitchFamily="34" charset="0"/>
                <a:cs typeface="Tahoma" pitchFamily="34" charset="0"/>
              </a:rPr>
              <a:t>AS</a:t>
            </a:r>
            <a:r>
              <a:rPr lang="en-US" sz="2000" b="1" dirty="0">
                <a:latin typeface="Tahoma" pitchFamily="34" charset="0"/>
                <a:ea typeface="Tahoma" pitchFamily="34" charset="0"/>
                <a:cs typeface="Tahoma" pitchFamily="34" charset="0"/>
              </a:rPr>
              <a:t> E</a:t>
            </a:r>
          </a:p>
          <a:p>
            <a:pPr lvl="1">
              <a:lnSpc>
                <a:spcPct val="150000"/>
              </a:lnSpc>
            </a:pPr>
            <a:r>
              <a:rPr lang="en-US" sz="2000" b="1" dirty="0">
                <a:solidFill>
                  <a:srgbClr val="00B0F0"/>
                </a:solidFill>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WHERE</a:t>
            </a:r>
            <a:r>
              <a:rPr lang="en-US" sz="2000" b="1" dirty="0">
                <a:latin typeface="Tahoma" pitchFamily="34" charset="0"/>
                <a:ea typeface="Tahoma" pitchFamily="34" charset="0"/>
                <a:cs typeface="Tahoma" pitchFamily="34" charset="0"/>
              </a:rPr>
              <a:t>   E.SSN </a:t>
            </a:r>
            <a:r>
              <a:rPr lang="en-US" sz="2000" b="1" dirty="0">
                <a:solidFill>
                  <a:srgbClr val="002060"/>
                </a:solidFill>
                <a:latin typeface="Tahoma" pitchFamily="34" charset="0"/>
                <a:ea typeface="Tahoma" pitchFamily="34" charset="0"/>
                <a:cs typeface="Tahoma" pitchFamily="34" charset="0"/>
              </a:rPr>
              <a:t>IN</a:t>
            </a:r>
            <a:r>
              <a:rPr lang="en-US" sz="2000" b="1"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SELECT</a:t>
            </a:r>
            <a:r>
              <a:rPr lang="en-US" sz="2000" b="1" dirty="0">
                <a:latin typeface="Tahoma" pitchFamily="34" charset="0"/>
                <a:ea typeface="Tahoma" pitchFamily="34" charset="0"/>
                <a:cs typeface="Tahoma" pitchFamily="34" charset="0"/>
              </a:rPr>
              <a:t> ESSN  </a:t>
            </a:r>
            <a:r>
              <a:rPr lang="en-US" sz="2000" b="1" dirty="0">
                <a:solidFill>
                  <a:srgbClr val="002060"/>
                </a:solidFill>
                <a:latin typeface="Tahoma" pitchFamily="34" charset="0"/>
                <a:ea typeface="Tahoma" pitchFamily="34" charset="0"/>
                <a:cs typeface="Tahoma" pitchFamily="34" charset="0"/>
              </a:rPr>
              <a:t>FROM</a:t>
            </a:r>
            <a:r>
              <a:rPr lang="en-US" sz="2000" b="1" dirty="0">
                <a:latin typeface="Tahoma" pitchFamily="34" charset="0"/>
                <a:ea typeface="Tahoma" pitchFamily="34" charset="0"/>
                <a:cs typeface="Tahoma" pitchFamily="34" charset="0"/>
              </a:rPr>
              <a:t> DEPENDENT     </a:t>
            </a:r>
            <a:r>
              <a:rPr lang="en-US" sz="2000" b="1" dirty="0">
                <a:solidFill>
                  <a:srgbClr val="002060"/>
                </a:solidFill>
                <a:latin typeface="Tahoma" pitchFamily="34" charset="0"/>
                <a:ea typeface="Tahoma" pitchFamily="34" charset="0"/>
                <a:cs typeface="Tahoma" pitchFamily="34" charset="0"/>
              </a:rPr>
              <a:t>WHERE</a:t>
            </a:r>
            <a:r>
              <a:rPr lang="en-US" sz="2000" b="1" dirty="0">
                <a:solidFill>
                  <a:srgbClr val="00B0F0"/>
                </a:solidFill>
                <a:latin typeface="Tahoma" pitchFamily="34" charset="0"/>
                <a:ea typeface="Tahoma" pitchFamily="34" charset="0"/>
                <a:cs typeface="Tahoma" pitchFamily="34" charset="0"/>
              </a:rPr>
              <a:t>  </a:t>
            </a:r>
            <a:r>
              <a:rPr lang="en-US" sz="2000" b="1" dirty="0">
                <a:latin typeface="Tahoma" pitchFamily="34" charset="0"/>
                <a:ea typeface="Tahoma" pitchFamily="34" charset="0"/>
                <a:cs typeface="Tahoma" pitchFamily="34" charset="0"/>
              </a:rPr>
              <a:t>E.FNAME=DEPENDENT_NAME </a:t>
            </a:r>
            <a:r>
              <a:rPr lang="en-US" sz="2000" b="1" dirty="0">
                <a:solidFill>
                  <a:srgbClr val="002060"/>
                </a:solidFill>
                <a:latin typeface="Tahoma" pitchFamily="34" charset="0"/>
                <a:ea typeface="Tahoma" pitchFamily="34" charset="0"/>
                <a:cs typeface="Tahoma" pitchFamily="34" charset="0"/>
              </a:rPr>
              <a:t>AND</a:t>
            </a:r>
            <a:r>
              <a:rPr lang="en-US" sz="2000" b="1" dirty="0">
                <a:latin typeface="Tahoma" pitchFamily="34" charset="0"/>
                <a:ea typeface="Tahoma" pitchFamily="34" charset="0"/>
                <a:cs typeface="Tahoma" pitchFamily="34" charset="0"/>
              </a:rPr>
              <a:t> E.SEX=SEX);</a:t>
            </a:r>
          </a:p>
        </p:txBody>
      </p:sp>
      <p:sp>
        <p:nvSpPr>
          <p:cNvPr id="8" name="TextBox 7"/>
          <p:cNvSpPr txBox="1"/>
          <p:nvPr/>
        </p:nvSpPr>
        <p:spPr>
          <a:xfrm>
            <a:off x="381000" y="4114800"/>
            <a:ext cx="8305800" cy="2139047"/>
          </a:xfrm>
          <a:prstGeom prst="rect">
            <a:avLst/>
          </a:prstGeom>
          <a:noFill/>
          <a:ln w="15875">
            <a:solidFill>
              <a:schemeClr val="accent1"/>
            </a:solidFill>
          </a:ln>
        </p:spPr>
        <p:txBody>
          <a:bodyPr wrap="square" rtlCol="0">
            <a:spAutoFit/>
          </a:bodyPr>
          <a:lstStyle/>
          <a:p>
            <a:pPr algn="just">
              <a:lnSpc>
                <a:spcPct val="150000"/>
              </a:lnSpc>
              <a:buFont typeface="Arial" pitchFamily="34" charset="0"/>
              <a:buChar char="•"/>
            </a:pPr>
            <a:r>
              <a:rPr lang="en-US" dirty="0">
                <a:latin typeface="Times New Roman"/>
              </a:rPr>
              <a:t>In the nested query of </a:t>
            </a:r>
            <a:r>
              <a:rPr lang="en-US" sz="2000" i="1" dirty="0">
                <a:latin typeface="Times New Roman"/>
              </a:rPr>
              <a:t>Q16, </a:t>
            </a:r>
            <a:r>
              <a:rPr lang="en-US" i="1" dirty="0">
                <a:latin typeface="Times New Roman"/>
              </a:rPr>
              <a:t>we must qualify </a:t>
            </a:r>
            <a:r>
              <a:rPr lang="en-US" sz="1200" i="1" dirty="0"/>
              <a:t>E. SEX </a:t>
            </a:r>
            <a:r>
              <a:rPr lang="en-US" i="1" dirty="0">
                <a:latin typeface="Times New Roman"/>
              </a:rPr>
              <a:t>because it refers to the </a:t>
            </a:r>
            <a:r>
              <a:rPr lang="en-US" sz="800" i="1" dirty="0"/>
              <a:t>SEX  </a:t>
            </a:r>
            <a:r>
              <a:rPr lang="en-US" i="1" dirty="0">
                <a:latin typeface="Times New Roman"/>
              </a:rPr>
              <a:t>attribute </a:t>
            </a:r>
            <a:r>
              <a:rPr lang="en-US" dirty="0">
                <a:latin typeface="Times New Roman"/>
              </a:rPr>
              <a:t>of </a:t>
            </a:r>
            <a:r>
              <a:rPr lang="en-US" sz="800" dirty="0"/>
              <a:t>EMPLOYEE </a:t>
            </a:r>
            <a:r>
              <a:rPr lang="en-US" dirty="0">
                <a:latin typeface="Times New Roman"/>
              </a:rPr>
              <a:t>from the outer query, and </a:t>
            </a:r>
            <a:r>
              <a:rPr lang="en-US" sz="1050" dirty="0"/>
              <a:t>DEPENDENT </a:t>
            </a:r>
            <a:r>
              <a:rPr lang="en-US" dirty="0">
                <a:latin typeface="Times New Roman"/>
              </a:rPr>
              <a:t>also has an attribute called </a:t>
            </a:r>
            <a:r>
              <a:rPr lang="en-US" sz="800" dirty="0"/>
              <a:t>SEX.</a:t>
            </a:r>
          </a:p>
          <a:p>
            <a:pPr algn="just">
              <a:lnSpc>
                <a:spcPct val="150000"/>
              </a:lnSpc>
            </a:pPr>
            <a:endParaRPr lang="en-US" sz="800" dirty="0"/>
          </a:p>
          <a:p>
            <a:pPr algn="just">
              <a:buFont typeface="Arial" pitchFamily="34" charset="0"/>
              <a:buChar char="•"/>
            </a:pPr>
            <a:r>
              <a:rPr lang="en-US" dirty="0">
                <a:latin typeface="Times New Roman"/>
              </a:rPr>
              <a:t>All    unqualified references </a:t>
            </a:r>
            <a:r>
              <a:rPr lang="en-US" sz="1100" dirty="0"/>
              <a:t>to SEX </a:t>
            </a:r>
            <a:r>
              <a:rPr lang="en-US" dirty="0">
                <a:latin typeface="Times New Roman"/>
              </a:rPr>
              <a:t>in the nested query refer </a:t>
            </a:r>
            <a:r>
              <a:rPr lang="en-US" sz="800" dirty="0"/>
              <a:t>to SEX </a:t>
            </a:r>
            <a:r>
              <a:rPr lang="en-US" dirty="0">
                <a:latin typeface="Times New Roman"/>
              </a:rPr>
              <a:t>of </a:t>
            </a:r>
            <a:r>
              <a:rPr lang="en-US" sz="800" dirty="0"/>
              <a:t>DEPENDENT.</a:t>
            </a:r>
          </a:p>
          <a:p>
            <a:pPr algn="just"/>
            <a:endParaRPr lang="en-US" sz="800" dirty="0"/>
          </a:p>
          <a:p>
            <a:pPr algn="just">
              <a:buFont typeface="Arial" pitchFamily="34" charset="0"/>
              <a:buChar char="•"/>
            </a:pPr>
            <a:r>
              <a:rPr lang="en-US" dirty="0">
                <a:latin typeface="Times New Roman"/>
              </a:rPr>
              <a:t>However, we do not </a:t>
            </a:r>
            <a:r>
              <a:rPr lang="en-US" sz="2000" i="1" dirty="0">
                <a:latin typeface="Times New Roman"/>
              </a:rPr>
              <a:t>have </a:t>
            </a:r>
            <a:r>
              <a:rPr lang="en-US" sz="1600" i="1" dirty="0">
                <a:latin typeface="Times New Roman"/>
              </a:rPr>
              <a:t>to </a:t>
            </a:r>
            <a:r>
              <a:rPr lang="en-US" i="1" dirty="0">
                <a:latin typeface="Times New Roman"/>
              </a:rPr>
              <a:t>qualify </a:t>
            </a:r>
            <a:r>
              <a:rPr lang="en-US" sz="800" i="1" dirty="0"/>
              <a:t>FNAME  </a:t>
            </a:r>
            <a:r>
              <a:rPr lang="en-US" i="1" dirty="0">
                <a:latin typeface="Times New Roman"/>
              </a:rPr>
              <a:t>and </a:t>
            </a:r>
            <a:r>
              <a:rPr lang="en-US" sz="800" i="1" dirty="0"/>
              <a:t>SSN </a:t>
            </a:r>
            <a:r>
              <a:rPr lang="en-US" i="1" dirty="0">
                <a:latin typeface="Times New Roman"/>
              </a:rPr>
              <a:t>because the </a:t>
            </a:r>
            <a:r>
              <a:rPr lang="en-US" sz="800" i="1" dirty="0"/>
              <a:t>DEPENDENT  </a:t>
            </a:r>
            <a:r>
              <a:rPr lang="en-US" i="1" dirty="0">
                <a:latin typeface="Times New Roman"/>
              </a:rPr>
              <a:t>relation does not have attributes </a:t>
            </a:r>
            <a:r>
              <a:rPr lang="en-US" dirty="0">
                <a:latin typeface="Times New Roman"/>
              </a:rPr>
              <a:t>called </a:t>
            </a:r>
            <a:r>
              <a:rPr lang="en-US" sz="800" dirty="0"/>
              <a:t>FNAME </a:t>
            </a:r>
            <a:r>
              <a:rPr lang="en-US" dirty="0">
                <a:latin typeface="Times New Roman"/>
              </a:rPr>
              <a:t>and </a:t>
            </a:r>
            <a:r>
              <a:rPr lang="en-US" sz="800" dirty="0"/>
              <a:t>SSN, </a:t>
            </a:r>
            <a:r>
              <a:rPr lang="en-US" dirty="0">
                <a:latin typeface="Times New Roman"/>
              </a:rPr>
              <a:t>so there is no ambiguity.</a:t>
            </a:r>
            <a:endParaRPr lang="en-US" dirty="0"/>
          </a:p>
        </p:txBody>
      </p:sp>
      <p:sp>
        <p:nvSpPr>
          <p:cNvPr id="10" name="TextBox 9"/>
          <p:cNvSpPr txBox="1"/>
          <p:nvPr/>
        </p:nvSpPr>
        <p:spPr>
          <a:xfrm>
            <a:off x="152400" y="152400"/>
            <a:ext cx="6096000" cy="480131"/>
          </a:xfrm>
          <a:prstGeom prst="rect">
            <a:avLst/>
          </a:prstGeom>
          <a:noFill/>
        </p:spPr>
        <p:txBody>
          <a:bodyPr wrap="square" rtlCol="0">
            <a:spAutoFit/>
          </a:bodyPr>
          <a:lstStyle/>
          <a:p>
            <a:pPr>
              <a:lnSpc>
                <a:spcPct val="90000"/>
              </a:lnSpc>
            </a:pPr>
            <a:r>
              <a:rPr lang="en-US" sz="2800" b="1" dirty="0">
                <a:solidFill>
                  <a:srgbClr val="002060"/>
                </a:solidFill>
                <a:latin typeface="Tahoma" pitchFamily="34" charset="0"/>
                <a:ea typeface="Tahoma" pitchFamily="34" charset="0"/>
                <a:cs typeface="Tahoma" pitchFamily="34" charset="0"/>
              </a:rPr>
              <a:t>Nested Queries  and Ambiguity</a:t>
            </a:r>
            <a:endParaRPr lang="en-US" sz="2800" b="1" u="sng"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228600"/>
            <a:ext cx="8534400" cy="535531"/>
          </a:xfrm>
          <a:prstGeom prst="rect">
            <a:avLst/>
          </a:prstGeom>
          <a:noFill/>
        </p:spPr>
        <p:txBody>
          <a:bodyPr wrap="square" rtlCol="0">
            <a:spAutoFit/>
          </a:bodyPr>
          <a:lstStyle/>
          <a:p>
            <a:pPr>
              <a:lnSpc>
                <a:spcPct val="90000"/>
              </a:lnSpc>
            </a:pPr>
            <a:r>
              <a:rPr lang="en-US" sz="3200" b="1" dirty="0">
                <a:solidFill>
                  <a:srgbClr val="002060"/>
                </a:solidFill>
                <a:latin typeface="Tahoma" pitchFamily="34" charset="0"/>
                <a:ea typeface="Tahoma" pitchFamily="34" charset="0"/>
                <a:cs typeface="Tahoma" pitchFamily="34" charset="0"/>
              </a:rPr>
              <a:t>Correlated Nested Queries</a:t>
            </a:r>
            <a:endParaRPr lang="en-US" sz="3200" b="1" u="sng" dirty="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228600" y="1600200"/>
            <a:ext cx="8686800" cy="4016484"/>
          </a:xfrm>
          <a:prstGeom prst="rect">
            <a:avLst/>
          </a:prstGeom>
          <a:noFill/>
        </p:spPr>
        <p:txBody>
          <a:bodyPr wrap="square" rtlCol="0">
            <a:spAutoFit/>
          </a:bodyPr>
          <a:lstStyle/>
          <a:p>
            <a:pPr marL="342900" indent="-342900" algn="just">
              <a:lnSpc>
                <a:spcPct val="200000"/>
              </a:lnSpc>
              <a:buFont typeface="Arial" pitchFamily="34" charset="0"/>
              <a:buChar char="•"/>
            </a:pPr>
            <a:r>
              <a:rPr lang="en-US" sz="1600" b="1" dirty="0">
                <a:solidFill>
                  <a:srgbClr val="00000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Whenever a condition in the </a:t>
            </a:r>
            <a:r>
              <a:rPr lang="en-US" sz="1600" dirty="0">
                <a:latin typeface="Tahoma" pitchFamily="34" charset="0"/>
                <a:ea typeface="Tahoma" pitchFamily="34" charset="0"/>
                <a:cs typeface="Tahoma" pitchFamily="34" charset="0"/>
              </a:rPr>
              <a:t>WHERE </a:t>
            </a:r>
            <a:r>
              <a:rPr lang="en-US" dirty="0">
                <a:latin typeface="Tahoma" pitchFamily="34" charset="0"/>
                <a:ea typeface="Tahoma" pitchFamily="34" charset="0"/>
                <a:cs typeface="Tahoma" pitchFamily="34" charset="0"/>
              </a:rPr>
              <a:t>clause of a nested query references some attribute of a  relation declared in the outer query, the two queries are said to be </a:t>
            </a:r>
            <a:r>
              <a:rPr lang="en-US" sz="2400" b="1" i="1" dirty="0">
                <a:latin typeface="Tahoma" pitchFamily="34" charset="0"/>
                <a:ea typeface="Tahoma" pitchFamily="34" charset="0"/>
                <a:cs typeface="Tahoma" pitchFamily="34" charset="0"/>
              </a:rPr>
              <a:t>correlated.</a:t>
            </a:r>
            <a:endParaRPr lang="en-US" b="1" i="1" dirty="0">
              <a:latin typeface="Tahoma" pitchFamily="34" charset="0"/>
              <a:ea typeface="Tahoma" pitchFamily="34" charset="0"/>
              <a:cs typeface="Tahoma" pitchFamily="34" charset="0"/>
            </a:endParaRPr>
          </a:p>
          <a:p>
            <a:pPr algn="just">
              <a:lnSpc>
                <a:spcPct val="150000"/>
              </a:lnSpc>
              <a:buFont typeface="Arial" pitchFamily="34" charset="0"/>
              <a:buChar char="•"/>
            </a:pPr>
            <a:endParaRPr lang="en-US" b="1" dirty="0">
              <a:latin typeface="Tahoma" pitchFamily="34" charset="0"/>
              <a:ea typeface="Tahoma" pitchFamily="34" charset="0"/>
              <a:cs typeface="Tahoma" pitchFamily="34" charset="0"/>
            </a:endParaRPr>
          </a:p>
          <a:p>
            <a:pPr marL="342900" indent="-342900" algn="just">
              <a:lnSpc>
                <a:spcPct val="200000"/>
              </a:lnSpc>
              <a:buFont typeface="Arial" pitchFamily="34" charset="0"/>
              <a:buChar char="•"/>
            </a:pPr>
            <a:r>
              <a:rPr lang="en-US" dirty="0">
                <a:latin typeface="Tahoma" pitchFamily="34" charset="0"/>
                <a:ea typeface="Tahoma" pitchFamily="34" charset="0"/>
                <a:cs typeface="Tahoma" pitchFamily="34" charset="0"/>
              </a:rPr>
              <a:t>We can understand a correlated query better by considering that the nested query is evaluated once for each tuple (or combination of tuples) in the outer query</a:t>
            </a:r>
          </a:p>
        </p:txBody>
      </p:sp>
    </p:spTree>
  </p:cSld>
  <p:clrMapOvr>
    <a:masterClrMapping/>
  </p:clrMapOvr>
  <p:transition>
    <p:cu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228600"/>
            <a:ext cx="8763000" cy="535531"/>
          </a:xfrm>
          <a:prstGeom prst="rect">
            <a:avLst/>
          </a:prstGeom>
          <a:noFill/>
        </p:spPr>
        <p:txBody>
          <a:bodyPr wrap="square" rtlCol="0">
            <a:spAutoFit/>
          </a:bodyPr>
          <a:lstStyle/>
          <a:p>
            <a:pPr>
              <a:lnSpc>
                <a:spcPct val="90000"/>
              </a:lnSpc>
            </a:pPr>
            <a:r>
              <a:rPr lang="en-US" sz="3200" b="1" dirty="0">
                <a:solidFill>
                  <a:srgbClr val="002060"/>
                </a:solidFill>
                <a:latin typeface="Tahoma" pitchFamily="34" charset="0"/>
                <a:ea typeface="Tahoma" pitchFamily="34" charset="0"/>
                <a:cs typeface="Tahoma" pitchFamily="34" charset="0"/>
              </a:rPr>
              <a:t>Correlated Nested Queries</a:t>
            </a:r>
            <a:endParaRPr lang="en-US" sz="3200" b="1" u="sng" dirty="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228600" y="1066800"/>
            <a:ext cx="8686800" cy="2862322"/>
          </a:xfrm>
          <a:prstGeom prst="rect">
            <a:avLst/>
          </a:prstGeom>
          <a:noFill/>
        </p:spPr>
        <p:txBody>
          <a:bodyPr wrap="square" rtlCol="0">
            <a:spAutoFit/>
          </a:bodyPr>
          <a:lstStyle/>
          <a:p>
            <a:pPr marL="342900" indent="-342900" algn="just">
              <a:lnSpc>
                <a:spcPct val="150000"/>
              </a:lnSpc>
              <a:buFont typeface="Arial" pitchFamily="34" charset="0"/>
              <a:buChar char="•"/>
            </a:pPr>
            <a:r>
              <a:rPr lang="en-US" sz="2400" b="1" dirty="0">
                <a:latin typeface="Tahoma" pitchFamily="34" charset="0"/>
                <a:ea typeface="Tahoma" pitchFamily="34" charset="0"/>
                <a:cs typeface="Tahoma" pitchFamily="34" charset="0"/>
              </a:rPr>
              <a:t>For example, we can think of Q16 as follows: </a:t>
            </a:r>
          </a:p>
          <a:p>
            <a:pPr algn="just">
              <a:lnSpc>
                <a:spcPct val="200000"/>
              </a:lnSpc>
            </a:pPr>
            <a:r>
              <a:rPr lang="en-US" dirty="0">
                <a:latin typeface="Tahoma" pitchFamily="34" charset="0"/>
                <a:ea typeface="Tahoma" pitchFamily="34" charset="0"/>
                <a:cs typeface="Tahoma" pitchFamily="34" charset="0"/>
              </a:rPr>
              <a:t>For each EMPLOYEE tuple, evaluate the nested query, which retrieves the ESSN values for  all DEPENDENT tuples with the same sex and name as that EMPLOYEE tuple; if the SSN value of the   EMPLOYEE tuple is in the result of the nested query, then select that EMPLOYEE tuple.</a:t>
            </a:r>
          </a:p>
        </p:txBody>
      </p:sp>
    </p:spTree>
  </p:cSld>
  <p:clrMapOvr>
    <a:masterClrMapping/>
  </p:clrMapOvr>
  <p:transition>
    <p:cu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1143000"/>
            <a:ext cx="8686800" cy="4262705"/>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a:solidFill>
                  <a:srgbClr val="000000"/>
                </a:solidFill>
                <a:latin typeface="Tahoma" pitchFamily="34" charset="0"/>
                <a:ea typeface="Tahoma" pitchFamily="34" charset="0"/>
                <a:cs typeface="Tahoma" pitchFamily="34" charset="0"/>
              </a:rPr>
              <a:t>In general, a query written with nested select-from-where blocks and using the = or  IN comparison operators can always be expressed as a single block query. For example,  Q16 may be written as in Q16A:</a:t>
            </a:r>
          </a:p>
          <a:p>
            <a:pPr algn="just">
              <a:lnSpc>
                <a:spcPct val="150000"/>
              </a:lnSpc>
              <a:buFont typeface="Arial" pitchFamily="34" charset="0"/>
              <a:buChar char="•"/>
            </a:pPr>
            <a:endParaRPr lang="en-US" sz="2000" dirty="0">
              <a:solidFill>
                <a:srgbClr val="000000"/>
              </a:solidFill>
              <a:latin typeface="Tahoma" pitchFamily="34" charset="0"/>
              <a:ea typeface="Tahoma" pitchFamily="34" charset="0"/>
              <a:cs typeface="Tahoma" pitchFamily="34" charset="0"/>
            </a:endParaRPr>
          </a:p>
          <a:p>
            <a:pPr algn="just">
              <a:lnSpc>
                <a:spcPct val="200000"/>
              </a:lnSpc>
              <a:buFont typeface="Arial" pitchFamily="34" charset="0"/>
              <a:buChar char="•"/>
            </a:pPr>
            <a:r>
              <a:rPr lang="en-US" sz="2000" b="1" dirty="0">
                <a:latin typeface="Tahoma" pitchFamily="34" charset="0"/>
                <a:ea typeface="Tahoma" pitchFamily="34" charset="0"/>
                <a:cs typeface="Tahoma" pitchFamily="34" charset="0"/>
              </a:rPr>
              <a:t>Q16A:</a:t>
            </a:r>
            <a:r>
              <a:rPr lang="en-US" sz="2000"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SELECT</a:t>
            </a:r>
            <a:r>
              <a:rPr lang="en-US" sz="2000" b="1" dirty="0">
                <a:latin typeface="Tahoma" pitchFamily="34" charset="0"/>
                <a:ea typeface="Tahoma" pitchFamily="34" charset="0"/>
                <a:cs typeface="Tahoma" pitchFamily="34" charset="0"/>
              </a:rPr>
              <a:t> E.FNAME, E.LNAME</a:t>
            </a:r>
          </a:p>
          <a:p>
            <a:pPr algn="just">
              <a:lnSpc>
                <a:spcPct val="200000"/>
              </a:lnSpc>
            </a:pPr>
            <a:r>
              <a:rPr lang="en-US" sz="2000" b="1"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FROM</a:t>
            </a:r>
            <a:r>
              <a:rPr lang="en-US" sz="2000" b="1" dirty="0">
                <a:latin typeface="Tahoma" pitchFamily="34" charset="0"/>
                <a:ea typeface="Tahoma" pitchFamily="34" charset="0"/>
                <a:cs typeface="Tahoma" pitchFamily="34" charset="0"/>
              </a:rPr>
              <a:t> EMPLOYEE </a:t>
            </a:r>
            <a:r>
              <a:rPr lang="en-US" sz="2000" b="1" dirty="0">
                <a:solidFill>
                  <a:srgbClr val="002060"/>
                </a:solidFill>
                <a:latin typeface="Tahoma" pitchFamily="34" charset="0"/>
                <a:ea typeface="Tahoma" pitchFamily="34" charset="0"/>
                <a:cs typeface="Tahoma" pitchFamily="34" charset="0"/>
              </a:rPr>
              <a:t>AS</a:t>
            </a:r>
            <a:r>
              <a:rPr lang="en-US" sz="2000" b="1" dirty="0">
                <a:latin typeface="Tahoma" pitchFamily="34" charset="0"/>
                <a:ea typeface="Tahoma" pitchFamily="34" charset="0"/>
                <a:cs typeface="Tahoma" pitchFamily="34" charset="0"/>
              </a:rPr>
              <a:t> E, DEPENDENT </a:t>
            </a:r>
            <a:r>
              <a:rPr lang="en-US" sz="2000" b="1" dirty="0">
                <a:solidFill>
                  <a:srgbClr val="002060"/>
                </a:solidFill>
                <a:latin typeface="Tahoma" pitchFamily="34" charset="0"/>
                <a:ea typeface="Tahoma" pitchFamily="34" charset="0"/>
                <a:cs typeface="Tahoma" pitchFamily="34" charset="0"/>
              </a:rPr>
              <a:t>AS</a:t>
            </a:r>
            <a:r>
              <a:rPr lang="en-US" sz="2000" b="1" dirty="0">
                <a:latin typeface="Tahoma" pitchFamily="34" charset="0"/>
                <a:ea typeface="Tahoma" pitchFamily="34" charset="0"/>
                <a:cs typeface="Tahoma" pitchFamily="34" charset="0"/>
              </a:rPr>
              <a:t> D</a:t>
            </a:r>
          </a:p>
          <a:p>
            <a:pPr algn="just">
              <a:lnSpc>
                <a:spcPct val="200000"/>
              </a:lnSpc>
            </a:pPr>
            <a:r>
              <a:rPr lang="en-US" sz="2000" b="1"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 WHERE </a:t>
            </a:r>
            <a:r>
              <a:rPr lang="en-US" sz="2000" b="1" dirty="0">
                <a:latin typeface="Tahoma" pitchFamily="34" charset="0"/>
                <a:ea typeface="Tahoma" pitchFamily="34" charset="0"/>
                <a:cs typeface="Tahoma" pitchFamily="34" charset="0"/>
              </a:rPr>
              <a:t>E.SSN=D.ESSN </a:t>
            </a:r>
            <a:r>
              <a:rPr lang="en-US" sz="2000" b="1" dirty="0">
                <a:solidFill>
                  <a:srgbClr val="002060"/>
                </a:solidFill>
                <a:latin typeface="Tahoma" pitchFamily="34" charset="0"/>
                <a:ea typeface="Tahoma" pitchFamily="34" charset="0"/>
                <a:cs typeface="Tahoma" pitchFamily="34" charset="0"/>
              </a:rPr>
              <a:t>AND</a:t>
            </a:r>
            <a:r>
              <a:rPr lang="en-US" sz="2000" b="1" dirty="0">
                <a:latin typeface="Tahoma" pitchFamily="34" charset="0"/>
                <a:ea typeface="Tahoma" pitchFamily="34" charset="0"/>
                <a:cs typeface="Tahoma" pitchFamily="34" charset="0"/>
              </a:rPr>
              <a:t> E.SEX=D.SEX </a:t>
            </a:r>
            <a:r>
              <a:rPr lang="en-US" sz="2000" b="1" dirty="0">
                <a:solidFill>
                  <a:srgbClr val="002060"/>
                </a:solidFill>
                <a:latin typeface="Tahoma" pitchFamily="34" charset="0"/>
                <a:ea typeface="Tahoma" pitchFamily="34" charset="0"/>
                <a:cs typeface="Tahoma" pitchFamily="34" charset="0"/>
              </a:rPr>
              <a:t>AND </a:t>
            </a:r>
            <a:r>
              <a:rPr lang="en-US" sz="2000" b="1" dirty="0">
                <a:latin typeface="Tahoma" pitchFamily="34" charset="0"/>
                <a:ea typeface="Tahoma" pitchFamily="34" charset="0"/>
                <a:cs typeface="Tahoma" pitchFamily="34" charset="0"/>
              </a:rPr>
              <a:t>     E.FNAME=D.DEPENDENT_NAME; </a:t>
            </a:r>
          </a:p>
        </p:txBody>
      </p:sp>
      <p:sp>
        <p:nvSpPr>
          <p:cNvPr id="8" name="TextBox 7"/>
          <p:cNvSpPr txBox="1"/>
          <p:nvPr/>
        </p:nvSpPr>
        <p:spPr>
          <a:xfrm>
            <a:off x="0" y="228600"/>
            <a:ext cx="7086600" cy="535531"/>
          </a:xfrm>
          <a:prstGeom prst="rect">
            <a:avLst/>
          </a:prstGeom>
          <a:noFill/>
        </p:spPr>
        <p:txBody>
          <a:bodyPr wrap="square" rtlCol="0">
            <a:spAutoFit/>
          </a:bodyPr>
          <a:lstStyle/>
          <a:p>
            <a:pPr>
              <a:lnSpc>
                <a:spcPct val="90000"/>
              </a:lnSpc>
            </a:pPr>
            <a:r>
              <a:rPr lang="en-US" sz="3200" b="1" dirty="0">
                <a:solidFill>
                  <a:srgbClr val="002060"/>
                </a:solidFill>
                <a:latin typeface="Tahoma" pitchFamily="34" charset="0"/>
                <a:ea typeface="Tahoma" pitchFamily="34" charset="0"/>
                <a:cs typeface="Tahoma" pitchFamily="34" charset="0"/>
              </a:rPr>
              <a:t>Correlated Nested Queries</a:t>
            </a:r>
            <a:endParaRPr lang="en-US" sz="3200" b="1" u="sng"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1295400"/>
            <a:ext cx="8686800" cy="2862322"/>
          </a:xfrm>
          <a:prstGeom prst="rect">
            <a:avLst/>
          </a:prstGeom>
          <a:noFill/>
        </p:spPr>
        <p:txBody>
          <a:bodyPr wrap="square" rtlCol="0">
            <a:spAutoFit/>
          </a:bodyPr>
          <a:lstStyle/>
          <a:p>
            <a:pPr marL="342900" indent="-342900" algn="just">
              <a:lnSpc>
                <a:spcPct val="150000"/>
              </a:lnSpc>
              <a:buFont typeface="Arial" pitchFamily="34" charset="0"/>
              <a:buChar char="•"/>
            </a:pPr>
            <a:r>
              <a:rPr lang="en-US" sz="2000" dirty="0"/>
              <a:t>The </a:t>
            </a:r>
            <a:r>
              <a:rPr lang="en-US" sz="2000" b="1" dirty="0"/>
              <a:t>EXISTS</a:t>
            </a:r>
            <a:r>
              <a:rPr lang="en-US" sz="2000" dirty="0"/>
              <a:t> function in SQL is used to check whether the result of a correlated nested  query is empty (contains no tuples) or not. </a:t>
            </a:r>
          </a:p>
          <a:p>
            <a:pPr marL="342900" indent="-342900" algn="just">
              <a:lnSpc>
                <a:spcPct val="150000"/>
              </a:lnSpc>
              <a:buFont typeface="Arial" pitchFamily="34" charset="0"/>
              <a:buChar char="•"/>
            </a:pPr>
            <a:endParaRPr lang="en-US" sz="2000" dirty="0"/>
          </a:p>
          <a:p>
            <a:pPr marL="342900" indent="-342900" algn="just">
              <a:lnSpc>
                <a:spcPct val="150000"/>
              </a:lnSpc>
              <a:buFont typeface="Arial" pitchFamily="34" charset="0"/>
              <a:buChar char="•"/>
            </a:pPr>
            <a:r>
              <a:rPr lang="en-US" sz="2000" dirty="0"/>
              <a:t>If the result of a correlated nested  query contains </a:t>
            </a:r>
            <a:r>
              <a:rPr lang="en-US" sz="2000" b="1" i="1" dirty="0"/>
              <a:t>at least </a:t>
            </a:r>
            <a:r>
              <a:rPr lang="en-US" sz="2000" dirty="0"/>
              <a:t>one tuple ,  it returns TRUE . Otherwise returns FALSE</a:t>
            </a:r>
          </a:p>
          <a:p>
            <a:pPr algn="just">
              <a:lnSpc>
                <a:spcPct val="150000"/>
              </a:lnSpc>
            </a:pPr>
            <a:endParaRPr lang="en-US" sz="2000" dirty="0">
              <a:latin typeface="Tahoma" pitchFamily="34" charset="0"/>
              <a:ea typeface="Tahoma" pitchFamily="34" charset="0"/>
              <a:cs typeface="Tahoma" pitchFamily="34" charset="0"/>
            </a:endParaRPr>
          </a:p>
        </p:txBody>
      </p:sp>
      <p:sp>
        <p:nvSpPr>
          <p:cNvPr id="8" name="TextBox 7"/>
          <p:cNvSpPr txBox="1"/>
          <p:nvPr/>
        </p:nvSpPr>
        <p:spPr>
          <a:xfrm>
            <a:off x="304800" y="4572000"/>
            <a:ext cx="8686800" cy="1061829"/>
          </a:xfrm>
          <a:prstGeom prst="rect">
            <a:avLst/>
          </a:prstGeom>
          <a:noFill/>
          <a:ln w="38100">
            <a:solidFill>
              <a:schemeClr val="accent1"/>
            </a:solidFill>
          </a:ln>
        </p:spPr>
        <p:txBody>
          <a:bodyPr wrap="square" rtlCol="0">
            <a:spAutoFit/>
          </a:bodyPr>
          <a:lstStyle/>
          <a:p>
            <a:pPr algn="just">
              <a:lnSpc>
                <a:spcPct val="150000"/>
              </a:lnSpc>
              <a:buFont typeface="Arial" pitchFamily="34" charset="0"/>
              <a:buChar char="•"/>
            </a:pPr>
            <a:r>
              <a:rPr lang="en-US" sz="2000" b="1" dirty="0">
                <a:latin typeface="Times New Roman"/>
              </a:rPr>
              <a:t>In general, EXISTS(Q) returns TRUE if there is </a:t>
            </a:r>
            <a:r>
              <a:rPr lang="en-US" sz="2400" b="1" i="1" dirty="0">
                <a:latin typeface="Times New Roman"/>
              </a:rPr>
              <a:t>at least one tuple </a:t>
            </a:r>
            <a:r>
              <a:rPr lang="en-US" sz="2000" b="1" i="1" dirty="0">
                <a:latin typeface="Times New Roman"/>
              </a:rPr>
              <a:t>in the result of the nested query Q, and it returns FALSE otherwise.</a:t>
            </a:r>
            <a:endParaRPr lang="en-US" sz="2000" b="1" dirty="0"/>
          </a:p>
        </p:txBody>
      </p:sp>
      <p:sp>
        <p:nvSpPr>
          <p:cNvPr id="10" name="TextBox 9"/>
          <p:cNvSpPr txBox="1"/>
          <p:nvPr/>
        </p:nvSpPr>
        <p:spPr>
          <a:xfrm>
            <a:off x="152400" y="152400"/>
            <a:ext cx="8686800" cy="738664"/>
          </a:xfrm>
          <a:prstGeom prst="rect">
            <a:avLst/>
          </a:prstGeom>
          <a:noFill/>
        </p:spPr>
        <p:txBody>
          <a:bodyPr wrap="square" rtlCol="0">
            <a:spAutoFit/>
          </a:bodyPr>
          <a:lstStyle/>
          <a:p>
            <a:pPr>
              <a:lnSpc>
                <a:spcPct val="150000"/>
              </a:lnSpc>
            </a:pPr>
            <a:r>
              <a:rPr lang="en-US" sz="2800" b="1" dirty="0">
                <a:solidFill>
                  <a:srgbClr val="002060"/>
                </a:solidFill>
                <a:latin typeface="Tahoma" pitchFamily="34" charset="0"/>
                <a:ea typeface="Tahoma" pitchFamily="34" charset="0"/>
                <a:cs typeface="Tahoma" pitchFamily="34" charset="0"/>
              </a:rPr>
              <a:t>Correlated Nested Queries - </a:t>
            </a:r>
            <a:r>
              <a:rPr lang="en-US" sz="2400" b="1" dirty="0">
                <a:solidFill>
                  <a:srgbClr val="002060"/>
                </a:solidFill>
                <a:latin typeface="Tahoma" pitchFamily="34" charset="0"/>
                <a:ea typeface="Tahoma" pitchFamily="34" charset="0"/>
                <a:cs typeface="Tahoma" pitchFamily="34" charset="0"/>
              </a:rPr>
              <a:t> EXISTS  Function</a:t>
            </a:r>
            <a:endParaRPr lang="en-US" sz="2800" b="1" u="sng"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1371600"/>
            <a:ext cx="8686800" cy="491225"/>
          </a:xfrm>
          <a:prstGeom prst="rect">
            <a:avLst/>
          </a:prstGeom>
          <a:noFill/>
        </p:spPr>
        <p:txBody>
          <a:bodyPr wrap="square" rtlCol="0">
            <a:spAutoFit/>
          </a:bodyPr>
          <a:lstStyle/>
          <a:p>
            <a:pPr algn="just">
              <a:lnSpc>
                <a:spcPct val="150000"/>
              </a:lnSpc>
            </a:pPr>
            <a:r>
              <a:rPr lang="en-US" sz="2000" b="1" dirty="0">
                <a:latin typeface="Tahoma" pitchFamily="34" charset="0"/>
                <a:ea typeface="Tahoma" pitchFamily="34" charset="0"/>
                <a:cs typeface="Tahoma" pitchFamily="34" charset="0"/>
              </a:rPr>
              <a:t>Query 16</a:t>
            </a:r>
            <a:r>
              <a:rPr lang="en-US" sz="2000" dirty="0">
                <a:latin typeface="Tahoma" pitchFamily="34" charset="0"/>
                <a:ea typeface="Tahoma" pitchFamily="34" charset="0"/>
                <a:cs typeface="Tahoma" pitchFamily="34" charset="0"/>
              </a:rPr>
              <a:t> in an alternative form that uses EXISTS. This is shown as QI6B:</a:t>
            </a:r>
          </a:p>
        </p:txBody>
      </p:sp>
      <p:sp>
        <p:nvSpPr>
          <p:cNvPr id="5" name="TextBox 4"/>
          <p:cNvSpPr txBox="1"/>
          <p:nvPr/>
        </p:nvSpPr>
        <p:spPr>
          <a:xfrm>
            <a:off x="381000" y="2438400"/>
            <a:ext cx="8534400" cy="2308324"/>
          </a:xfrm>
          <a:prstGeom prst="rect">
            <a:avLst/>
          </a:prstGeom>
          <a:noFill/>
        </p:spPr>
        <p:txBody>
          <a:bodyPr wrap="square" rtlCol="0">
            <a:spAutoFit/>
          </a:bodyPr>
          <a:lstStyle/>
          <a:p>
            <a:pPr>
              <a:lnSpc>
                <a:spcPct val="200000"/>
              </a:lnSpc>
            </a:pPr>
            <a:r>
              <a:rPr lang="en-US" b="1" dirty="0">
                <a:solidFill>
                  <a:srgbClr val="002060"/>
                </a:solidFill>
                <a:latin typeface="Tahoma" pitchFamily="34" charset="0"/>
                <a:ea typeface="Tahoma" pitchFamily="34" charset="0"/>
                <a:cs typeface="Tahoma" pitchFamily="34" charset="0"/>
              </a:rPr>
              <a:t>SELECT</a:t>
            </a:r>
            <a:r>
              <a:rPr lang="en-US" b="1" dirty="0">
                <a:latin typeface="Tahoma" pitchFamily="34" charset="0"/>
                <a:ea typeface="Tahoma" pitchFamily="34" charset="0"/>
                <a:cs typeface="Tahoma" pitchFamily="34" charset="0"/>
              </a:rPr>
              <a:t> E.FNAME, E.LNAME</a:t>
            </a:r>
          </a:p>
          <a:p>
            <a:pPr>
              <a:lnSpc>
                <a:spcPct val="200000"/>
              </a:lnSpc>
            </a:pPr>
            <a:r>
              <a:rPr lang="en-US" b="1" dirty="0">
                <a:solidFill>
                  <a:srgbClr val="002060"/>
                </a:solidFill>
                <a:latin typeface="Tahoma" pitchFamily="34" charset="0"/>
                <a:ea typeface="Tahoma" pitchFamily="34" charset="0"/>
                <a:cs typeface="Tahoma" pitchFamily="34" charset="0"/>
              </a:rPr>
              <a:t> FROM  </a:t>
            </a:r>
            <a:r>
              <a:rPr lang="en-US" b="1" dirty="0">
                <a:latin typeface="Tahoma" pitchFamily="34" charset="0"/>
                <a:ea typeface="Tahoma" pitchFamily="34" charset="0"/>
                <a:cs typeface="Tahoma" pitchFamily="34" charset="0"/>
              </a:rPr>
              <a:t>EMPLOYEE AS E</a:t>
            </a:r>
          </a:p>
          <a:p>
            <a:pPr>
              <a:lnSpc>
                <a:spcPct val="200000"/>
              </a:lnSpc>
            </a:pPr>
            <a:r>
              <a:rPr lang="en-US" b="1" dirty="0">
                <a:solidFill>
                  <a:srgbClr val="002060"/>
                </a:solidFill>
                <a:latin typeface="Tahoma" pitchFamily="34" charset="0"/>
                <a:ea typeface="Tahoma" pitchFamily="34" charset="0"/>
                <a:cs typeface="Tahoma" pitchFamily="34" charset="0"/>
              </a:rPr>
              <a:t>WHERE</a:t>
            </a: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EXISTS</a:t>
            </a: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SELECT *  FROM </a:t>
            </a:r>
            <a:r>
              <a:rPr lang="en-US" b="1" dirty="0">
                <a:latin typeface="Tahoma" pitchFamily="34" charset="0"/>
                <a:ea typeface="Tahoma" pitchFamily="34" charset="0"/>
                <a:cs typeface="Tahoma" pitchFamily="34" charset="0"/>
              </a:rPr>
              <a:t>DEPENDENT  </a:t>
            </a:r>
            <a:r>
              <a:rPr lang="en-US" b="1" dirty="0">
                <a:solidFill>
                  <a:srgbClr val="002060"/>
                </a:solidFill>
                <a:latin typeface="Tahoma" pitchFamily="34" charset="0"/>
                <a:ea typeface="Tahoma" pitchFamily="34" charset="0"/>
                <a:cs typeface="Tahoma" pitchFamily="34" charset="0"/>
              </a:rPr>
              <a:t>WHERE </a:t>
            </a:r>
            <a:r>
              <a:rPr lang="en-US" b="1" dirty="0">
                <a:solidFill>
                  <a:srgbClr val="C00000"/>
                </a:solidFill>
                <a:latin typeface="Tahoma" pitchFamily="34" charset="0"/>
                <a:ea typeface="Tahoma" pitchFamily="34" charset="0"/>
                <a:cs typeface="Tahoma" pitchFamily="34" charset="0"/>
              </a:rPr>
              <a:t>E.SSN=ESSN</a:t>
            </a: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AND</a:t>
            </a:r>
            <a:r>
              <a:rPr lang="en-US" b="1" dirty="0">
                <a:latin typeface="Tahoma" pitchFamily="34" charset="0"/>
                <a:ea typeface="Tahoma" pitchFamily="34" charset="0"/>
                <a:cs typeface="Tahoma" pitchFamily="34" charset="0"/>
              </a:rPr>
              <a:t> E.SEX=SEX  </a:t>
            </a:r>
            <a:r>
              <a:rPr lang="en-US" b="1" dirty="0">
                <a:solidFill>
                  <a:srgbClr val="002060"/>
                </a:solidFill>
                <a:latin typeface="Tahoma" pitchFamily="34" charset="0"/>
                <a:ea typeface="Tahoma" pitchFamily="34" charset="0"/>
                <a:cs typeface="Tahoma" pitchFamily="34" charset="0"/>
              </a:rPr>
              <a:t>AND</a:t>
            </a:r>
            <a:r>
              <a:rPr lang="en-US" b="1" dirty="0">
                <a:latin typeface="Tahoma" pitchFamily="34" charset="0"/>
                <a:ea typeface="Tahoma" pitchFamily="34" charset="0"/>
                <a:cs typeface="Tahoma" pitchFamily="34" charset="0"/>
              </a:rPr>
              <a:t> E.FNAME=DEPENDENT_NAME);</a:t>
            </a:r>
          </a:p>
        </p:txBody>
      </p:sp>
      <p:sp>
        <p:nvSpPr>
          <p:cNvPr id="8" name="TextBox 7"/>
          <p:cNvSpPr txBox="1"/>
          <p:nvPr/>
        </p:nvSpPr>
        <p:spPr>
          <a:xfrm>
            <a:off x="228600" y="5181600"/>
            <a:ext cx="8686800" cy="919419"/>
          </a:xfrm>
          <a:prstGeom prst="rect">
            <a:avLst/>
          </a:prstGeom>
          <a:noFill/>
          <a:ln w="38100">
            <a:solidFill>
              <a:schemeClr val="accent1"/>
            </a:solidFill>
          </a:ln>
        </p:spPr>
        <p:txBody>
          <a:bodyPr wrap="square" rtlCol="0">
            <a:spAutoFit/>
          </a:bodyPr>
          <a:lstStyle/>
          <a:p>
            <a:pPr algn="just">
              <a:lnSpc>
                <a:spcPct val="150000"/>
              </a:lnSpc>
              <a:buFont typeface="Arial" pitchFamily="34" charset="0"/>
              <a:buChar char="•"/>
            </a:pPr>
            <a:r>
              <a:rPr lang="en-US" b="1" dirty="0">
                <a:latin typeface="Times New Roman"/>
              </a:rPr>
              <a:t>In general, EXISTS(Q) returns TRUE if there is </a:t>
            </a:r>
            <a:r>
              <a:rPr lang="en-US" sz="2000" b="1" i="1" dirty="0">
                <a:latin typeface="Times New Roman"/>
              </a:rPr>
              <a:t>at least one tuple </a:t>
            </a:r>
            <a:r>
              <a:rPr lang="en-US" b="1" i="1" dirty="0">
                <a:latin typeface="Times New Roman"/>
              </a:rPr>
              <a:t>in the result of the nested query Q, and it returns FALSE otherwise.</a:t>
            </a:r>
            <a:endParaRPr lang="en-US" b="1" dirty="0"/>
          </a:p>
        </p:txBody>
      </p:sp>
      <p:sp>
        <p:nvSpPr>
          <p:cNvPr id="9" name="TextBox 8"/>
          <p:cNvSpPr txBox="1"/>
          <p:nvPr/>
        </p:nvSpPr>
        <p:spPr>
          <a:xfrm>
            <a:off x="152400" y="152400"/>
            <a:ext cx="8686800" cy="738664"/>
          </a:xfrm>
          <a:prstGeom prst="rect">
            <a:avLst/>
          </a:prstGeom>
          <a:noFill/>
        </p:spPr>
        <p:txBody>
          <a:bodyPr wrap="square" rtlCol="0">
            <a:spAutoFit/>
          </a:bodyPr>
          <a:lstStyle/>
          <a:p>
            <a:pPr>
              <a:lnSpc>
                <a:spcPct val="150000"/>
              </a:lnSpc>
            </a:pPr>
            <a:r>
              <a:rPr lang="en-US" sz="2800" b="1" dirty="0">
                <a:solidFill>
                  <a:srgbClr val="002060"/>
                </a:solidFill>
                <a:latin typeface="Tahoma" pitchFamily="34" charset="0"/>
                <a:ea typeface="Tahoma" pitchFamily="34" charset="0"/>
                <a:cs typeface="Tahoma" pitchFamily="34" charset="0"/>
              </a:rPr>
              <a:t>Correlated Nested Queries - </a:t>
            </a:r>
            <a:r>
              <a:rPr lang="en-US" sz="2400" b="1" dirty="0">
                <a:solidFill>
                  <a:srgbClr val="002060"/>
                </a:solidFill>
                <a:latin typeface="Tahoma" pitchFamily="34" charset="0"/>
                <a:ea typeface="Tahoma" pitchFamily="34" charset="0"/>
                <a:cs typeface="Tahoma" pitchFamily="34" charset="0"/>
              </a:rPr>
              <a:t> EXISTS  Function</a:t>
            </a:r>
            <a:endParaRPr lang="en-US" sz="2800" b="1" u="sng"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990600"/>
            <a:ext cx="8686800" cy="866904"/>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a:latin typeface="Tahoma" pitchFamily="34" charset="0"/>
                <a:ea typeface="Tahoma" pitchFamily="34" charset="0"/>
                <a:cs typeface="Tahoma" pitchFamily="34" charset="0"/>
              </a:rPr>
              <a:t>NOT EXISTS(Q) returns TRUE if there are no tuples in the result of nested query  Q, and it returns FALSE otherwise</a:t>
            </a:r>
            <a:endParaRPr lang="en-US" sz="2000" dirty="0">
              <a:latin typeface="Tahoma" pitchFamily="34" charset="0"/>
              <a:ea typeface="Tahoma" pitchFamily="34" charset="0"/>
              <a:cs typeface="Tahoma" pitchFamily="34" charset="0"/>
            </a:endParaRPr>
          </a:p>
        </p:txBody>
      </p:sp>
      <p:sp>
        <p:nvSpPr>
          <p:cNvPr id="5" name="TextBox 4"/>
          <p:cNvSpPr txBox="1"/>
          <p:nvPr/>
        </p:nvSpPr>
        <p:spPr>
          <a:xfrm>
            <a:off x="381000" y="2667000"/>
            <a:ext cx="8534400" cy="2631490"/>
          </a:xfrm>
          <a:prstGeom prst="rect">
            <a:avLst/>
          </a:prstGeom>
          <a:noFill/>
        </p:spPr>
        <p:txBody>
          <a:bodyPr wrap="square" rtlCol="0">
            <a:spAutoFit/>
          </a:bodyPr>
          <a:lstStyle/>
          <a:p>
            <a:pPr>
              <a:lnSpc>
                <a:spcPct val="150000"/>
              </a:lnSpc>
            </a:pPr>
            <a:r>
              <a:rPr lang="en-US" sz="2000" b="1" dirty="0">
                <a:latin typeface="Tahoma" pitchFamily="34" charset="0"/>
                <a:ea typeface="Tahoma" pitchFamily="34" charset="0"/>
                <a:cs typeface="Tahoma" pitchFamily="34" charset="0"/>
              </a:rPr>
              <a:t>QUERY 6 : </a:t>
            </a:r>
            <a:r>
              <a:rPr lang="en-US" sz="2000" dirty="0">
                <a:latin typeface="Tahoma" pitchFamily="34" charset="0"/>
                <a:ea typeface="Tahoma" pitchFamily="34" charset="0"/>
                <a:cs typeface="Tahoma" pitchFamily="34" charset="0"/>
              </a:rPr>
              <a:t>Retrieve the names of employees who have no dependents.</a:t>
            </a:r>
          </a:p>
          <a:p>
            <a:pPr lvl="1">
              <a:lnSpc>
                <a:spcPct val="150000"/>
              </a:lnSpc>
            </a:pPr>
            <a:endParaRPr lang="en-US" b="1" dirty="0">
              <a:solidFill>
                <a:srgbClr val="00B0F0"/>
              </a:solidFill>
              <a:latin typeface="Tahoma" pitchFamily="34" charset="0"/>
              <a:ea typeface="Tahoma" pitchFamily="34" charset="0"/>
              <a:cs typeface="Tahoma" pitchFamily="34" charset="0"/>
            </a:endParaRPr>
          </a:p>
          <a:p>
            <a:pPr lvl="1">
              <a:lnSpc>
                <a:spcPct val="150000"/>
              </a:lnSpc>
            </a:pPr>
            <a:r>
              <a:rPr lang="en-US" b="1" dirty="0">
                <a:solidFill>
                  <a:srgbClr val="002060"/>
                </a:solidFill>
                <a:latin typeface="Tahoma" pitchFamily="34" charset="0"/>
                <a:ea typeface="Tahoma" pitchFamily="34" charset="0"/>
                <a:cs typeface="Tahoma" pitchFamily="34" charset="0"/>
              </a:rPr>
              <a:t>SELECT</a:t>
            </a:r>
            <a:r>
              <a:rPr lang="en-US" b="1" dirty="0">
                <a:latin typeface="Tahoma" pitchFamily="34" charset="0"/>
                <a:ea typeface="Tahoma" pitchFamily="34" charset="0"/>
                <a:cs typeface="Tahoma" pitchFamily="34" charset="0"/>
              </a:rPr>
              <a:t>  FNAME, LNAME</a:t>
            </a:r>
          </a:p>
          <a:p>
            <a:pPr lvl="1">
              <a:lnSpc>
                <a:spcPct val="150000"/>
              </a:lnSpc>
            </a:pPr>
            <a:r>
              <a:rPr lang="en-US" b="1" dirty="0">
                <a:solidFill>
                  <a:srgbClr val="002060"/>
                </a:solidFill>
                <a:latin typeface="Tahoma" pitchFamily="34" charset="0"/>
                <a:ea typeface="Tahoma" pitchFamily="34" charset="0"/>
                <a:cs typeface="Tahoma" pitchFamily="34" charset="0"/>
              </a:rPr>
              <a:t>FROM </a:t>
            </a:r>
            <a:r>
              <a:rPr lang="en-US" b="1" dirty="0">
                <a:solidFill>
                  <a:srgbClr val="00B0F0"/>
                </a:solidFill>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EMPLOYEE</a:t>
            </a:r>
          </a:p>
          <a:p>
            <a:pPr lvl="1">
              <a:lnSpc>
                <a:spcPct val="150000"/>
              </a:lnSpc>
            </a:pPr>
            <a:r>
              <a:rPr lang="en-US" b="1" dirty="0">
                <a:solidFill>
                  <a:srgbClr val="002060"/>
                </a:solidFill>
                <a:latin typeface="Tahoma" pitchFamily="34" charset="0"/>
                <a:ea typeface="Tahoma" pitchFamily="34" charset="0"/>
                <a:cs typeface="Tahoma" pitchFamily="34" charset="0"/>
              </a:rPr>
              <a:t>WHERE</a:t>
            </a:r>
            <a:r>
              <a:rPr lang="en-US" b="1" dirty="0">
                <a:solidFill>
                  <a:srgbClr val="00B0F0"/>
                </a:solidFill>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NOT EXISTS </a:t>
            </a:r>
            <a:r>
              <a:rPr lang="en-US" b="1" dirty="0">
                <a:latin typeface="Tahoma" pitchFamily="34" charset="0"/>
                <a:ea typeface="Tahoma" pitchFamily="34" charset="0"/>
                <a:cs typeface="Tahoma" pitchFamily="34" charset="0"/>
              </a:rPr>
              <a:t>(</a:t>
            </a:r>
            <a:r>
              <a:rPr lang="en-US" b="1" dirty="0">
                <a:solidFill>
                  <a:srgbClr val="002060"/>
                </a:solidFill>
                <a:latin typeface="Tahoma" pitchFamily="34" charset="0"/>
                <a:ea typeface="Tahoma" pitchFamily="34" charset="0"/>
                <a:cs typeface="Tahoma" pitchFamily="34" charset="0"/>
              </a:rPr>
              <a:t>SELECT   *  FROM</a:t>
            </a:r>
            <a:r>
              <a:rPr lang="en-US" b="1" dirty="0">
                <a:latin typeface="Tahoma" pitchFamily="34" charset="0"/>
                <a:ea typeface="Tahoma" pitchFamily="34" charset="0"/>
                <a:cs typeface="Tahoma" pitchFamily="34" charset="0"/>
              </a:rPr>
              <a:t> DEPENDENT  </a:t>
            </a:r>
            <a:r>
              <a:rPr lang="en-US" b="1" dirty="0">
                <a:solidFill>
                  <a:srgbClr val="002060"/>
                </a:solidFill>
                <a:latin typeface="Tahoma" pitchFamily="34" charset="0"/>
                <a:ea typeface="Tahoma" pitchFamily="34" charset="0"/>
                <a:cs typeface="Tahoma" pitchFamily="34" charset="0"/>
              </a:rPr>
              <a:t>WHERE </a:t>
            </a:r>
            <a:r>
              <a:rPr lang="en-US" b="1" dirty="0">
                <a:solidFill>
                  <a:srgbClr val="C00000"/>
                </a:solidFill>
                <a:latin typeface="Tahoma" pitchFamily="34" charset="0"/>
                <a:ea typeface="Tahoma" pitchFamily="34" charset="0"/>
                <a:cs typeface="Tahoma" pitchFamily="34" charset="0"/>
              </a:rPr>
              <a:t>SSN=ESSN</a:t>
            </a:r>
            <a:r>
              <a:rPr lang="en-US" b="1" dirty="0">
                <a:latin typeface="Tahoma" pitchFamily="34" charset="0"/>
                <a:ea typeface="Tahoma" pitchFamily="34" charset="0"/>
                <a:cs typeface="Tahoma" pitchFamily="34" charset="0"/>
              </a:rPr>
              <a:t>);</a:t>
            </a:r>
          </a:p>
        </p:txBody>
      </p:sp>
      <p:sp>
        <p:nvSpPr>
          <p:cNvPr id="10" name="TextBox 9"/>
          <p:cNvSpPr txBox="1"/>
          <p:nvPr/>
        </p:nvSpPr>
        <p:spPr>
          <a:xfrm>
            <a:off x="152400" y="152400"/>
            <a:ext cx="8991600" cy="738664"/>
          </a:xfrm>
          <a:prstGeom prst="rect">
            <a:avLst/>
          </a:prstGeom>
          <a:noFill/>
        </p:spPr>
        <p:txBody>
          <a:bodyPr wrap="square" rtlCol="0">
            <a:spAutoFit/>
          </a:bodyPr>
          <a:lstStyle/>
          <a:p>
            <a:pPr>
              <a:lnSpc>
                <a:spcPct val="150000"/>
              </a:lnSpc>
            </a:pPr>
            <a:r>
              <a:rPr lang="en-US" sz="2800" b="1" dirty="0">
                <a:solidFill>
                  <a:srgbClr val="002060"/>
                </a:solidFill>
                <a:latin typeface="Tahoma" pitchFamily="34" charset="0"/>
                <a:ea typeface="Tahoma" pitchFamily="34" charset="0"/>
                <a:cs typeface="Tahoma" pitchFamily="34" charset="0"/>
              </a:rPr>
              <a:t>Correlated Nested Queries - NOT EXISTS  </a:t>
            </a:r>
            <a:r>
              <a:rPr lang="en-US" sz="2400" b="1" dirty="0">
                <a:solidFill>
                  <a:srgbClr val="002060"/>
                </a:solidFill>
                <a:latin typeface="Tahoma" pitchFamily="34" charset="0"/>
                <a:ea typeface="Tahoma" pitchFamily="34" charset="0"/>
                <a:cs typeface="Tahoma" pitchFamily="34" charset="0"/>
              </a:rPr>
              <a:t>Function</a:t>
            </a:r>
            <a:endParaRPr lang="en-US" sz="2800" b="1" u="sng"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2400" y="1524000"/>
            <a:ext cx="8686800" cy="3016210"/>
          </a:xfrm>
          <a:prstGeom prst="rect">
            <a:avLst/>
          </a:prstGeom>
          <a:noFill/>
          <a:ln w="38100">
            <a:solidFill>
              <a:schemeClr val="accent1"/>
            </a:solidFill>
          </a:ln>
        </p:spPr>
        <p:txBody>
          <a:bodyPr wrap="square" rtlCol="0">
            <a:spAutoFit/>
          </a:bodyPr>
          <a:lstStyle/>
          <a:p>
            <a:pPr algn="just">
              <a:lnSpc>
                <a:spcPct val="150000"/>
              </a:lnSpc>
            </a:pPr>
            <a:r>
              <a:rPr lang="en-US" sz="2000" b="1" dirty="0">
                <a:latin typeface="Times New Roman"/>
              </a:rPr>
              <a:t>We can explain Q6 as follows:</a:t>
            </a:r>
          </a:p>
          <a:p>
            <a:pPr algn="just">
              <a:lnSpc>
                <a:spcPct val="200000"/>
              </a:lnSpc>
            </a:pPr>
            <a:r>
              <a:rPr lang="en-US" sz="2000" dirty="0">
                <a:latin typeface="Times New Roman"/>
              </a:rPr>
              <a:t>For each EMPLOYEE tuple, the correlated nested query selects all DEPENDENT tuples whose ESSN  value matches the EMPLOYEE SSN; if the result is empty, no dependents are related to the  employee, so we select that EMPLOYEE tuple and retrieve its FNAME and LNAME.</a:t>
            </a:r>
            <a:endParaRPr lang="en-US" sz="2000" b="1" dirty="0"/>
          </a:p>
        </p:txBody>
      </p:sp>
      <p:sp>
        <p:nvSpPr>
          <p:cNvPr id="10" name="TextBox 9"/>
          <p:cNvSpPr txBox="1"/>
          <p:nvPr/>
        </p:nvSpPr>
        <p:spPr>
          <a:xfrm>
            <a:off x="152400" y="152400"/>
            <a:ext cx="8991600" cy="738664"/>
          </a:xfrm>
          <a:prstGeom prst="rect">
            <a:avLst/>
          </a:prstGeom>
          <a:noFill/>
        </p:spPr>
        <p:txBody>
          <a:bodyPr wrap="square" rtlCol="0">
            <a:spAutoFit/>
          </a:bodyPr>
          <a:lstStyle/>
          <a:p>
            <a:pPr>
              <a:lnSpc>
                <a:spcPct val="150000"/>
              </a:lnSpc>
            </a:pPr>
            <a:r>
              <a:rPr lang="en-US" sz="2800" b="1" dirty="0">
                <a:solidFill>
                  <a:srgbClr val="002060"/>
                </a:solidFill>
                <a:latin typeface="Tahoma" pitchFamily="34" charset="0"/>
                <a:ea typeface="Tahoma" pitchFamily="34" charset="0"/>
                <a:cs typeface="Tahoma" pitchFamily="34" charset="0"/>
              </a:rPr>
              <a:t>Correlated Nested Queries - NOT EXISTS  </a:t>
            </a:r>
            <a:r>
              <a:rPr lang="en-US" sz="2400" b="1" dirty="0">
                <a:solidFill>
                  <a:srgbClr val="002060"/>
                </a:solidFill>
                <a:latin typeface="Tahoma" pitchFamily="34" charset="0"/>
                <a:ea typeface="Tahoma" pitchFamily="34" charset="0"/>
                <a:cs typeface="Tahoma" pitchFamily="34" charset="0"/>
              </a:rPr>
              <a:t>Function</a:t>
            </a:r>
            <a:endParaRPr lang="en-US" sz="2800" b="1" u="sng"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1447800"/>
            <a:ext cx="8686800" cy="677108"/>
          </a:xfrm>
          <a:prstGeom prst="rect">
            <a:avLst/>
          </a:prstGeom>
          <a:noFill/>
        </p:spPr>
        <p:txBody>
          <a:bodyPr wrap="square" rtlCol="0">
            <a:spAutoFit/>
          </a:bodyPr>
          <a:lstStyle/>
          <a:p>
            <a:r>
              <a:rPr lang="en-US" sz="2000" b="1" dirty="0">
                <a:latin typeface="Tahoma" pitchFamily="34" charset="0"/>
                <a:ea typeface="Tahoma" pitchFamily="34" charset="0"/>
                <a:cs typeface="Tahoma" pitchFamily="34" charset="0"/>
              </a:rPr>
              <a:t>QUERY 7 :  </a:t>
            </a:r>
            <a:r>
              <a:rPr lang="en-US" sz="2000" dirty="0">
                <a:latin typeface="Tahoma" pitchFamily="34" charset="0"/>
                <a:ea typeface="Tahoma" pitchFamily="34" charset="0"/>
                <a:cs typeface="Tahoma" pitchFamily="34" charset="0"/>
              </a:rPr>
              <a:t>List the names of managers who have at least one dependent.</a:t>
            </a:r>
          </a:p>
          <a:p>
            <a:endParaRPr lang="en-US" i="1" dirty="0">
              <a:latin typeface="Tahoma" pitchFamily="34" charset="0"/>
              <a:ea typeface="Tahoma" pitchFamily="34" charset="0"/>
              <a:cs typeface="Tahoma" pitchFamily="34" charset="0"/>
            </a:endParaRPr>
          </a:p>
        </p:txBody>
      </p:sp>
      <p:sp>
        <p:nvSpPr>
          <p:cNvPr id="10" name="TextBox 9"/>
          <p:cNvSpPr txBox="1"/>
          <p:nvPr/>
        </p:nvSpPr>
        <p:spPr>
          <a:xfrm>
            <a:off x="152400" y="152400"/>
            <a:ext cx="8991600" cy="738664"/>
          </a:xfrm>
          <a:prstGeom prst="rect">
            <a:avLst/>
          </a:prstGeom>
          <a:noFill/>
        </p:spPr>
        <p:txBody>
          <a:bodyPr wrap="square" rtlCol="0">
            <a:spAutoFit/>
          </a:bodyPr>
          <a:lstStyle/>
          <a:p>
            <a:pPr>
              <a:lnSpc>
                <a:spcPct val="150000"/>
              </a:lnSpc>
            </a:pPr>
            <a:r>
              <a:rPr lang="en-US" sz="2800" b="1" dirty="0">
                <a:solidFill>
                  <a:srgbClr val="002060"/>
                </a:solidFill>
                <a:latin typeface="Tahoma" pitchFamily="34" charset="0"/>
                <a:ea typeface="Tahoma" pitchFamily="34" charset="0"/>
                <a:cs typeface="Tahoma" pitchFamily="34" charset="0"/>
              </a:rPr>
              <a:t>Correlated Nested Queries  (Cont…)</a:t>
            </a:r>
            <a:endParaRPr lang="en-US" sz="2800" b="1" u="sng" dirty="0">
              <a:solidFill>
                <a:srgbClr val="002060"/>
              </a:solidFill>
              <a:latin typeface="Tahoma" pitchFamily="34" charset="0"/>
              <a:ea typeface="Tahoma" pitchFamily="34" charset="0"/>
              <a:cs typeface="Tahoma" pitchFamily="34" charset="0"/>
            </a:endParaRPr>
          </a:p>
        </p:txBody>
      </p:sp>
      <p:sp>
        <p:nvSpPr>
          <p:cNvPr id="11" name="Rectangle 10"/>
          <p:cNvSpPr/>
          <p:nvPr/>
        </p:nvSpPr>
        <p:spPr>
          <a:xfrm>
            <a:off x="304800" y="2514600"/>
            <a:ext cx="8458200" cy="2775440"/>
          </a:xfrm>
          <a:prstGeom prst="rect">
            <a:avLst/>
          </a:prstGeom>
        </p:spPr>
        <p:txBody>
          <a:bodyPr wrap="square">
            <a:spAutoFit/>
          </a:bodyPr>
          <a:lstStyle/>
          <a:p>
            <a:pPr algn="just">
              <a:lnSpc>
                <a:spcPct val="20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SELECT</a:t>
            </a:r>
            <a:r>
              <a:rPr lang="en-US" b="1" dirty="0">
                <a:solidFill>
                  <a:srgbClr val="00B0F0"/>
                </a:solidFill>
                <a:latin typeface="Tahoma" pitchFamily="34" charset="0"/>
                <a:ea typeface="Tahoma" pitchFamily="34" charset="0"/>
                <a:cs typeface="Tahoma" pitchFamily="34" charset="0"/>
              </a:rPr>
              <a:t> </a:t>
            </a:r>
            <a:r>
              <a:rPr lang="en-US" b="1" i="1"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FNAME, LNAME </a:t>
            </a:r>
            <a:r>
              <a:rPr lang="en-US" b="1" dirty="0">
                <a:solidFill>
                  <a:srgbClr val="002060"/>
                </a:solidFill>
                <a:latin typeface="Tahoma" pitchFamily="34" charset="0"/>
                <a:ea typeface="Tahoma" pitchFamily="34" charset="0"/>
                <a:cs typeface="Tahoma" pitchFamily="34" charset="0"/>
              </a:rPr>
              <a:t>FROM</a:t>
            </a:r>
            <a:r>
              <a:rPr lang="en-US" b="1"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EMPLOYEE</a:t>
            </a:r>
          </a:p>
          <a:p>
            <a:pPr algn="just">
              <a:lnSpc>
                <a:spcPct val="20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WHERE </a:t>
            </a:r>
          </a:p>
          <a:p>
            <a:pPr algn="just">
              <a:lnSpc>
                <a:spcPct val="200000"/>
              </a:lnSpc>
            </a:pPr>
            <a:r>
              <a:rPr lang="en-US" b="1" dirty="0">
                <a:solidFill>
                  <a:srgbClr val="002060"/>
                </a:solidFill>
                <a:latin typeface="Tahoma" pitchFamily="34" charset="0"/>
                <a:ea typeface="Tahoma" pitchFamily="34" charset="0"/>
                <a:cs typeface="Tahoma" pitchFamily="34" charset="0"/>
              </a:rPr>
              <a:t>      EXISTS  </a:t>
            </a:r>
            <a:r>
              <a:rPr lang="en-US" b="1" dirty="0">
                <a:latin typeface="Tahoma" pitchFamily="34" charset="0"/>
                <a:ea typeface="Tahoma" pitchFamily="34" charset="0"/>
                <a:cs typeface="Tahoma" pitchFamily="34" charset="0"/>
              </a:rPr>
              <a:t>(</a:t>
            </a:r>
            <a:r>
              <a:rPr lang="en-US" b="1" dirty="0">
                <a:solidFill>
                  <a:srgbClr val="002060"/>
                </a:solidFill>
                <a:latin typeface="Tahoma" pitchFamily="34" charset="0"/>
                <a:ea typeface="Tahoma" pitchFamily="34" charset="0"/>
                <a:cs typeface="Tahoma" pitchFamily="34" charset="0"/>
              </a:rPr>
              <a:t>SELECT * FROM </a:t>
            </a:r>
            <a:r>
              <a:rPr lang="en-US" b="1" dirty="0">
                <a:latin typeface="Tahoma" pitchFamily="34" charset="0"/>
                <a:ea typeface="Tahoma" pitchFamily="34" charset="0"/>
                <a:cs typeface="Tahoma" pitchFamily="34" charset="0"/>
              </a:rPr>
              <a:t>DEPENDENT </a:t>
            </a:r>
            <a:r>
              <a:rPr lang="en-US" b="1" dirty="0">
                <a:solidFill>
                  <a:srgbClr val="002060"/>
                </a:solidFill>
                <a:latin typeface="Tahoma" pitchFamily="34" charset="0"/>
                <a:ea typeface="Tahoma" pitchFamily="34" charset="0"/>
                <a:cs typeface="Tahoma" pitchFamily="34" charset="0"/>
              </a:rPr>
              <a:t>WHERE </a:t>
            </a:r>
            <a:r>
              <a:rPr lang="en-US" b="1" dirty="0">
                <a:solidFill>
                  <a:srgbClr val="C00000"/>
                </a:solidFill>
                <a:latin typeface="Tahoma" pitchFamily="34" charset="0"/>
                <a:ea typeface="Tahoma" pitchFamily="34" charset="0"/>
                <a:cs typeface="Tahoma" pitchFamily="34" charset="0"/>
              </a:rPr>
              <a:t>SSN=ESSN</a:t>
            </a:r>
            <a:r>
              <a:rPr lang="en-US" b="1" dirty="0">
                <a:latin typeface="Tahoma" pitchFamily="34" charset="0"/>
                <a:ea typeface="Tahoma" pitchFamily="34" charset="0"/>
                <a:cs typeface="Tahoma" pitchFamily="34" charset="0"/>
              </a:rPr>
              <a:t>)</a:t>
            </a:r>
          </a:p>
          <a:p>
            <a:pPr algn="just">
              <a:lnSpc>
                <a:spcPct val="20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AND  </a:t>
            </a:r>
          </a:p>
          <a:p>
            <a:pPr algn="just">
              <a:lnSpc>
                <a:spcPct val="200000"/>
              </a:lnSpc>
            </a:pPr>
            <a:r>
              <a:rPr lang="en-US" b="1" dirty="0">
                <a:solidFill>
                  <a:srgbClr val="002060"/>
                </a:solidFill>
                <a:latin typeface="Tahoma" pitchFamily="34" charset="0"/>
                <a:ea typeface="Tahoma" pitchFamily="34" charset="0"/>
                <a:cs typeface="Tahoma" pitchFamily="34" charset="0"/>
              </a:rPr>
              <a:t>     EXISTS  </a:t>
            </a: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SELECT *  FROM </a:t>
            </a:r>
            <a:r>
              <a:rPr lang="en-US" b="1" dirty="0">
                <a:latin typeface="Tahoma" pitchFamily="34" charset="0"/>
                <a:ea typeface="Tahoma" pitchFamily="34" charset="0"/>
                <a:cs typeface="Tahoma" pitchFamily="34" charset="0"/>
              </a:rPr>
              <a:t>DEPARTMENT </a:t>
            </a:r>
            <a:r>
              <a:rPr lang="en-US" b="1" dirty="0">
                <a:solidFill>
                  <a:srgbClr val="002060"/>
                </a:solidFill>
                <a:latin typeface="Tahoma" pitchFamily="34" charset="0"/>
                <a:ea typeface="Tahoma" pitchFamily="34" charset="0"/>
                <a:cs typeface="Tahoma" pitchFamily="34" charset="0"/>
              </a:rPr>
              <a:t>WHERE     </a:t>
            </a:r>
            <a:r>
              <a:rPr lang="en-US" b="1" dirty="0">
                <a:solidFill>
                  <a:srgbClr val="C00000"/>
                </a:solidFill>
                <a:latin typeface="Tahoma" pitchFamily="34" charset="0"/>
                <a:ea typeface="Tahoma" pitchFamily="34" charset="0"/>
                <a:cs typeface="Tahoma" pitchFamily="34" charset="0"/>
              </a:rPr>
              <a:t>SSN=MGRSSN</a:t>
            </a:r>
            <a:r>
              <a:rPr lang="en-US" b="1" dirty="0">
                <a:latin typeface="Tahoma" pitchFamily="34" charset="0"/>
                <a:ea typeface="Tahoma" pitchFamily="34" charset="0"/>
                <a:cs typeface="Tahoma" pitchFamily="34" charset="0"/>
              </a:rPr>
              <a:t>);</a:t>
            </a:r>
            <a:endParaRPr lang="en-IN" dirty="0"/>
          </a:p>
        </p:txBody>
      </p:sp>
    </p:spTree>
  </p:cSld>
  <p:clrMapOvr>
    <a:masterClrMapping/>
  </p:clrMapOvr>
  <p:transition>
    <p:cut/>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04800" y="1905000"/>
            <a:ext cx="8686800" cy="3347840"/>
          </a:xfrm>
          <a:prstGeom prst="rect">
            <a:avLst/>
          </a:prstGeom>
          <a:noFill/>
          <a:ln w="38100">
            <a:solidFill>
              <a:schemeClr val="accent1"/>
            </a:solidFill>
          </a:ln>
        </p:spPr>
        <p:txBody>
          <a:bodyPr wrap="square" rtlCol="0">
            <a:spAutoFit/>
          </a:bodyPr>
          <a:lstStyle/>
          <a:p>
            <a:pPr marL="457200" indent="-457200" algn="just">
              <a:lnSpc>
                <a:spcPct val="150000"/>
              </a:lnSpc>
              <a:buFont typeface="+mj-lt"/>
              <a:buAutoNum type="arabicPeriod"/>
            </a:pPr>
            <a:r>
              <a:rPr lang="en-US" sz="2400" dirty="0"/>
              <a:t>First selects all </a:t>
            </a:r>
            <a:r>
              <a:rPr lang="en-US" sz="2400" b="1" dirty="0"/>
              <a:t>DEPENDENT</a:t>
            </a:r>
            <a:r>
              <a:rPr lang="en-US" sz="2400" dirty="0"/>
              <a:t> tuples related to an </a:t>
            </a:r>
            <a:r>
              <a:rPr lang="en-US" sz="2400" b="1" dirty="0"/>
              <a:t>EMPLOYEE, </a:t>
            </a:r>
          </a:p>
          <a:p>
            <a:pPr marL="457200" indent="-457200" algn="just">
              <a:lnSpc>
                <a:spcPct val="150000"/>
              </a:lnSpc>
              <a:buFont typeface="+mj-lt"/>
              <a:buAutoNum type="arabicPeriod"/>
            </a:pPr>
            <a:r>
              <a:rPr lang="en-US" sz="2400" dirty="0"/>
              <a:t>Second selects all </a:t>
            </a:r>
            <a:r>
              <a:rPr lang="en-US" sz="2400" b="1" dirty="0"/>
              <a:t>DEPARTMENT</a:t>
            </a:r>
            <a:r>
              <a:rPr lang="en-US" sz="2400" dirty="0"/>
              <a:t> tuples managed by the </a:t>
            </a:r>
            <a:r>
              <a:rPr lang="en-US" sz="2400" b="1" dirty="0"/>
              <a:t>EMPLOYEE</a:t>
            </a:r>
            <a:r>
              <a:rPr lang="en-US" sz="2400" dirty="0"/>
              <a:t>. </a:t>
            </a:r>
          </a:p>
          <a:p>
            <a:pPr marL="457200" indent="-457200" algn="just">
              <a:lnSpc>
                <a:spcPct val="150000"/>
              </a:lnSpc>
              <a:buFont typeface="+mj-lt"/>
              <a:buAutoNum type="arabicPeriod"/>
            </a:pPr>
            <a:r>
              <a:rPr lang="en-US" sz="2400" dirty="0"/>
              <a:t>If at least one of the first and at least one of the  second exists, we select the </a:t>
            </a:r>
            <a:r>
              <a:rPr lang="en-US" sz="2400" b="1" dirty="0"/>
              <a:t>EMPLOYEE</a:t>
            </a:r>
            <a:r>
              <a:rPr lang="en-US" sz="2400" dirty="0"/>
              <a:t> tuple.</a:t>
            </a:r>
          </a:p>
        </p:txBody>
      </p:sp>
      <p:sp>
        <p:nvSpPr>
          <p:cNvPr id="7" name="TextBox 6"/>
          <p:cNvSpPr txBox="1"/>
          <p:nvPr/>
        </p:nvSpPr>
        <p:spPr>
          <a:xfrm>
            <a:off x="152400" y="152400"/>
            <a:ext cx="8991600" cy="738664"/>
          </a:xfrm>
          <a:prstGeom prst="rect">
            <a:avLst/>
          </a:prstGeom>
          <a:noFill/>
        </p:spPr>
        <p:txBody>
          <a:bodyPr wrap="square" rtlCol="0">
            <a:spAutoFit/>
          </a:bodyPr>
          <a:lstStyle/>
          <a:p>
            <a:pPr>
              <a:lnSpc>
                <a:spcPct val="150000"/>
              </a:lnSpc>
            </a:pPr>
            <a:r>
              <a:rPr lang="en-US" sz="2800" b="1" dirty="0">
                <a:solidFill>
                  <a:srgbClr val="002060"/>
                </a:solidFill>
                <a:latin typeface="Tahoma" pitchFamily="34" charset="0"/>
                <a:ea typeface="Tahoma" pitchFamily="34" charset="0"/>
                <a:cs typeface="Tahoma" pitchFamily="34" charset="0"/>
              </a:rPr>
              <a:t>Correlated Nested Queries  (Cont…)</a:t>
            </a:r>
            <a:endParaRPr lang="en-US" sz="2800" b="1" u="sng" dirty="0">
              <a:solidFill>
                <a:srgbClr val="002060"/>
              </a:solidFill>
              <a:latin typeface="Tahoma" pitchFamily="34" charset="0"/>
              <a:ea typeface="Tahoma" pitchFamily="34" charset="0"/>
              <a:cs typeface="Tahoma" pitchFamily="34" charset="0"/>
            </a:endParaRPr>
          </a:p>
        </p:txBody>
      </p:sp>
      <p:sp>
        <p:nvSpPr>
          <p:cNvPr id="9" name="Rectangle 8"/>
          <p:cNvSpPr/>
          <p:nvPr/>
        </p:nvSpPr>
        <p:spPr>
          <a:xfrm>
            <a:off x="381000" y="1219200"/>
            <a:ext cx="4495800" cy="400110"/>
          </a:xfrm>
          <a:prstGeom prst="rect">
            <a:avLst/>
          </a:prstGeom>
        </p:spPr>
        <p:txBody>
          <a:bodyPr wrap="square">
            <a:spAutoFit/>
          </a:bodyPr>
          <a:lstStyle/>
          <a:p>
            <a:r>
              <a:rPr lang="en-US" sz="2000" b="1" dirty="0">
                <a:latin typeface="Tahoma" pitchFamily="34" charset="0"/>
                <a:ea typeface="Tahoma" pitchFamily="34" charset="0"/>
                <a:cs typeface="Tahoma" pitchFamily="34" charset="0"/>
              </a:rPr>
              <a:t>QUERY 7 works as follows </a:t>
            </a:r>
            <a:endParaRPr lang="en-IN" sz="2000" dirty="0"/>
          </a:p>
        </p:txBody>
      </p:sp>
    </p:spTree>
  </p:cSld>
  <p:clrMapOvr>
    <a:masterClrMapping/>
  </p:clrMapOvr>
  <p:transition>
    <p:cut/>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990600"/>
            <a:ext cx="8382000" cy="1143070"/>
          </a:xfrm>
          <a:prstGeom prst="rect">
            <a:avLst/>
          </a:prstGeom>
          <a:noFill/>
        </p:spPr>
        <p:txBody>
          <a:bodyPr wrap="square" rtlCol="0">
            <a:spAutoFit/>
          </a:bodyPr>
          <a:lstStyle/>
          <a:p>
            <a:pPr marL="342900" indent="-342900">
              <a:lnSpc>
                <a:spcPct val="150000"/>
              </a:lnSpc>
              <a:buFont typeface="Arial" pitchFamily="34" charset="0"/>
              <a:buChar char="•"/>
            </a:pPr>
            <a:r>
              <a:rPr lang="en-US" sz="2000" dirty="0">
                <a:latin typeface="Tahoma" pitchFamily="34" charset="0"/>
                <a:ea typeface="Tahoma" pitchFamily="34" charset="0"/>
                <a:cs typeface="Tahoma" pitchFamily="34" charset="0"/>
              </a:rPr>
              <a:t> </a:t>
            </a:r>
            <a:r>
              <a:rPr lang="en-US" sz="2000" b="1" dirty="0">
                <a:latin typeface="Tahoma" pitchFamily="34" charset="0"/>
                <a:ea typeface="Tahoma" pitchFamily="34" charset="0"/>
                <a:cs typeface="Tahoma" pitchFamily="34" charset="0"/>
              </a:rPr>
              <a:t>Query 3A  : </a:t>
            </a:r>
            <a:r>
              <a:rPr lang="en-US" sz="2000" dirty="0">
                <a:latin typeface="Calibri" pitchFamily="34" charset="0"/>
                <a:ea typeface="Tahoma" pitchFamily="34" charset="0"/>
                <a:cs typeface="Tahoma" pitchFamily="34" charset="0"/>
              </a:rPr>
              <a:t>  </a:t>
            </a:r>
            <a:r>
              <a:rPr lang="en-US" sz="2400" dirty="0">
                <a:latin typeface="Calibri" pitchFamily="34" charset="0"/>
                <a:ea typeface="Tahoma" pitchFamily="34" charset="0"/>
                <a:cs typeface="Tahoma" pitchFamily="34" charset="0"/>
              </a:rPr>
              <a:t>"Retrieve the name of each employee who works on </a:t>
            </a:r>
            <a:r>
              <a:rPr lang="en-US" sz="2400" i="1" dirty="0">
                <a:latin typeface="Calibri" pitchFamily="34" charset="0"/>
                <a:ea typeface="Tahoma" pitchFamily="34" charset="0"/>
                <a:cs typeface="Tahoma" pitchFamily="34" charset="0"/>
              </a:rPr>
              <a:t>all the projects </a:t>
            </a:r>
            <a:r>
              <a:rPr lang="en-US" sz="2400" dirty="0">
                <a:latin typeface="Calibri" pitchFamily="34" charset="0"/>
                <a:ea typeface="Tahoma" pitchFamily="34" charset="0"/>
                <a:cs typeface="Tahoma" pitchFamily="34" charset="0"/>
              </a:rPr>
              <a:t>controlled by department number 5,” </a:t>
            </a:r>
            <a:endParaRPr lang="en-US" sz="2000" dirty="0">
              <a:latin typeface="Calibri" pitchFamily="34" charset="0"/>
              <a:ea typeface="Tahoma" pitchFamily="34" charset="0"/>
              <a:cs typeface="Tahoma" pitchFamily="34" charset="0"/>
            </a:endParaRPr>
          </a:p>
        </p:txBody>
      </p:sp>
      <p:sp>
        <p:nvSpPr>
          <p:cNvPr id="8" name="TextBox 7"/>
          <p:cNvSpPr txBox="1"/>
          <p:nvPr/>
        </p:nvSpPr>
        <p:spPr>
          <a:xfrm>
            <a:off x="228600" y="2362200"/>
            <a:ext cx="8686800" cy="3939540"/>
          </a:xfrm>
          <a:prstGeom prst="rect">
            <a:avLst/>
          </a:prstGeom>
          <a:noFill/>
          <a:ln w="38100">
            <a:solidFill>
              <a:schemeClr val="accent1"/>
            </a:solidFill>
          </a:ln>
        </p:spPr>
        <p:txBody>
          <a:bodyPr wrap="square" rtlCol="0">
            <a:spAutoFit/>
          </a:bodyPr>
          <a:lstStyle/>
          <a:p>
            <a:pPr>
              <a:lnSpc>
                <a:spcPct val="150000"/>
              </a:lnSpc>
            </a:pPr>
            <a:r>
              <a:rPr lang="en-US" sz="2000" dirty="0">
                <a:latin typeface="Tahoma" pitchFamily="34" charset="0"/>
                <a:ea typeface="Tahoma" pitchFamily="34" charset="0"/>
                <a:cs typeface="Tahoma" pitchFamily="34" charset="0"/>
              </a:rPr>
              <a:t>Q3A:  </a:t>
            </a:r>
            <a:r>
              <a:rPr lang="en-US" sz="2000" b="1" dirty="0">
                <a:solidFill>
                  <a:srgbClr val="002060"/>
                </a:solidFill>
                <a:latin typeface="Tahoma" pitchFamily="34" charset="0"/>
                <a:ea typeface="Tahoma" pitchFamily="34" charset="0"/>
                <a:cs typeface="Tahoma" pitchFamily="34" charset="0"/>
              </a:rPr>
              <a:t>SELECT</a:t>
            </a:r>
            <a:r>
              <a:rPr lang="en-US" sz="2000" b="1"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FNAME, LNAME</a:t>
            </a:r>
          </a:p>
          <a:p>
            <a:pPr>
              <a:lnSpc>
                <a:spcPct val="150000"/>
              </a:lnSpc>
            </a:pPr>
            <a:r>
              <a:rPr lang="en-US" sz="2000"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FROM</a:t>
            </a:r>
            <a:r>
              <a:rPr lang="en-US" sz="2000" b="1"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EMPLOYEE</a:t>
            </a:r>
          </a:p>
          <a:p>
            <a:pPr>
              <a:lnSpc>
                <a:spcPct val="150000"/>
              </a:lnSpc>
            </a:pPr>
            <a:r>
              <a:rPr lang="en-US" sz="2000" b="1"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WHERE</a:t>
            </a:r>
            <a:r>
              <a:rPr lang="en-US" sz="2000" b="1"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NOT EXISTS  </a:t>
            </a:r>
            <a:r>
              <a:rPr lang="en-US" sz="2000" dirty="0">
                <a:latin typeface="Tahoma" pitchFamily="34" charset="0"/>
                <a:ea typeface="Tahoma" pitchFamily="34" charset="0"/>
                <a:cs typeface="Tahoma" pitchFamily="34" charset="0"/>
              </a:rPr>
              <a:t>(</a:t>
            </a:r>
            <a:r>
              <a:rPr lang="en-US" sz="2000" b="1" dirty="0">
                <a:latin typeface="Tahoma" pitchFamily="34" charset="0"/>
                <a:ea typeface="Tahoma" pitchFamily="34" charset="0"/>
                <a:cs typeface="Tahoma" pitchFamily="34" charset="0"/>
              </a:rPr>
              <a:t>(</a:t>
            </a:r>
            <a:r>
              <a:rPr lang="en-US" sz="2000" b="1" dirty="0">
                <a:solidFill>
                  <a:srgbClr val="002060"/>
                </a:solidFill>
                <a:latin typeface="Tahoma" pitchFamily="34" charset="0"/>
                <a:ea typeface="Tahoma" pitchFamily="34" charset="0"/>
                <a:cs typeface="Tahoma" pitchFamily="34" charset="0"/>
              </a:rPr>
              <a:t>SELECT</a:t>
            </a:r>
            <a:r>
              <a:rPr lang="en-US" sz="2000" b="1" dirty="0">
                <a:latin typeface="Tahoma" pitchFamily="34" charset="0"/>
                <a:ea typeface="Tahoma" pitchFamily="34" charset="0"/>
                <a:cs typeface="Tahoma" pitchFamily="34" charset="0"/>
              </a:rPr>
              <a:t> PNUMBER</a:t>
            </a:r>
          </a:p>
          <a:p>
            <a:pPr>
              <a:lnSpc>
                <a:spcPct val="150000"/>
              </a:lnSpc>
            </a:pPr>
            <a:r>
              <a:rPr lang="en-US" sz="2000" b="1"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FROM</a:t>
            </a:r>
            <a:r>
              <a:rPr lang="en-US" sz="2000" b="1" dirty="0">
                <a:latin typeface="Tahoma" pitchFamily="34" charset="0"/>
                <a:ea typeface="Tahoma" pitchFamily="34" charset="0"/>
                <a:cs typeface="Tahoma" pitchFamily="34" charset="0"/>
              </a:rPr>
              <a:t> PROJECT</a:t>
            </a:r>
          </a:p>
          <a:p>
            <a:pPr>
              <a:lnSpc>
                <a:spcPct val="150000"/>
              </a:lnSpc>
            </a:pPr>
            <a:r>
              <a:rPr lang="en-US" sz="2000" b="1"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WHERE</a:t>
            </a:r>
            <a:r>
              <a:rPr lang="en-US" sz="2000" b="1" dirty="0">
                <a:latin typeface="Tahoma" pitchFamily="34" charset="0"/>
                <a:ea typeface="Tahoma" pitchFamily="34" charset="0"/>
                <a:cs typeface="Tahoma" pitchFamily="34" charset="0"/>
              </a:rPr>
              <a:t> DNUM=5)</a:t>
            </a:r>
          </a:p>
          <a:p>
            <a:endParaRPr lang="en-US" sz="2000" dirty="0">
              <a:latin typeface="Tahoma" pitchFamily="34" charset="0"/>
              <a:ea typeface="Tahoma" pitchFamily="34" charset="0"/>
              <a:cs typeface="Tahoma" pitchFamily="34" charset="0"/>
            </a:endParaRPr>
          </a:p>
          <a:p>
            <a:r>
              <a:rPr lang="en-US" sz="2000" b="1"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EXCEPT</a:t>
            </a:r>
            <a:r>
              <a:rPr lang="en-US" sz="2000" b="1" dirty="0">
                <a:latin typeface="Tahoma" pitchFamily="34" charset="0"/>
                <a:ea typeface="Tahoma" pitchFamily="34" charset="0"/>
                <a:cs typeface="Tahoma" pitchFamily="34" charset="0"/>
              </a:rPr>
              <a:t>   </a:t>
            </a:r>
          </a:p>
          <a:p>
            <a:pPr>
              <a:lnSpc>
                <a:spcPct val="150000"/>
              </a:lnSpc>
            </a:pPr>
            <a:r>
              <a:rPr lang="en-US" sz="2000" b="1"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SELECT</a:t>
            </a:r>
            <a:r>
              <a:rPr lang="en-US" sz="2000" b="1"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PNO  </a:t>
            </a:r>
            <a:r>
              <a:rPr lang="en-US" sz="2000" b="1" dirty="0">
                <a:solidFill>
                  <a:srgbClr val="002060"/>
                </a:solidFill>
                <a:latin typeface="Tahoma" pitchFamily="34" charset="0"/>
                <a:ea typeface="Tahoma" pitchFamily="34" charset="0"/>
                <a:cs typeface="Tahoma" pitchFamily="34" charset="0"/>
              </a:rPr>
              <a:t>FROM</a:t>
            </a:r>
            <a:r>
              <a:rPr lang="en-US" sz="2000" b="1"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WORKS_ON </a:t>
            </a:r>
            <a:r>
              <a:rPr lang="en-US" sz="2000" b="1" dirty="0">
                <a:solidFill>
                  <a:srgbClr val="002060"/>
                </a:solidFill>
                <a:latin typeface="Tahoma" pitchFamily="34" charset="0"/>
                <a:ea typeface="Tahoma" pitchFamily="34" charset="0"/>
                <a:cs typeface="Tahoma" pitchFamily="34" charset="0"/>
              </a:rPr>
              <a:t>WHERE</a:t>
            </a:r>
          </a:p>
          <a:p>
            <a:pPr>
              <a:lnSpc>
                <a:spcPct val="150000"/>
              </a:lnSpc>
            </a:pPr>
            <a:r>
              <a:rPr lang="en-US" sz="2000" dirty="0">
                <a:latin typeface="Tahoma" pitchFamily="34" charset="0"/>
                <a:ea typeface="Tahoma" pitchFamily="34" charset="0"/>
                <a:cs typeface="Tahoma" pitchFamily="34" charset="0"/>
              </a:rPr>
              <a:t>			                                  </a:t>
            </a:r>
            <a:r>
              <a:rPr lang="en-US" sz="2000" dirty="0">
                <a:solidFill>
                  <a:srgbClr val="C00000"/>
                </a:solidFill>
                <a:latin typeface="Tahoma" pitchFamily="34" charset="0"/>
                <a:ea typeface="Tahoma" pitchFamily="34" charset="0"/>
                <a:cs typeface="Tahoma" pitchFamily="34" charset="0"/>
              </a:rPr>
              <a:t>SSN=ESSN</a:t>
            </a:r>
            <a:r>
              <a:rPr lang="en-US" sz="2000" dirty="0">
                <a:latin typeface="Tahoma" pitchFamily="34" charset="0"/>
                <a:ea typeface="Tahoma" pitchFamily="34" charset="0"/>
                <a:cs typeface="Tahoma" pitchFamily="34" charset="0"/>
              </a:rPr>
              <a:t>) );</a:t>
            </a:r>
          </a:p>
        </p:txBody>
      </p:sp>
      <p:sp>
        <p:nvSpPr>
          <p:cNvPr id="10" name="TextBox 9"/>
          <p:cNvSpPr txBox="1"/>
          <p:nvPr/>
        </p:nvSpPr>
        <p:spPr>
          <a:xfrm>
            <a:off x="152400" y="152400"/>
            <a:ext cx="8991600" cy="738664"/>
          </a:xfrm>
          <a:prstGeom prst="rect">
            <a:avLst/>
          </a:prstGeom>
          <a:noFill/>
        </p:spPr>
        <p:txBody>
          <a:bodyPr wrap="square" rtlCol="0">
            <a:spAutoFit/>
          </a:bodyPr>
          <a:lstStyle/>
          <a:p>
            <a:pPr>
              <a:lnSpc>
                <a:spcPct val="150000"/>
              </a:lnSpc>
            </a:pPr>
            <a:r>
              <a:rPr lang="en-US" sz="2800" b="1" dirty="0">
                <a:solidFill>
                  <a:srgbClr val="002060"/>
                </a:solidFill>
                <a:latin typeface="Tahoma" pitchFamily="34" charset="0"/>
                <a:ea typeface="Tahoma" pitchFamily="34" charset="0"/>
                <a:cs typeface="Tahoma" pitchFamily="34" charset="0"/>
              </a:rPr>
              <a:t>Correlated Nested Queries  (Cont…)</a:t>
            </a:r>
            <a:endParaRPr lang="en-US" sz="2800" b="1" u="sng"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152400"/>
            <a:ext cx="3657600" cy="480131"/>
          </a:xfrm>
          <a:prstGeom prst="rect">
            <a:avLst/>
          </a:prstGeom>
          <a:noFill/>
        </p:spPr>
        <p:txBody>
          <a:bodyPr wrap="square" rtlCol="0">
            <a:spAutoFit/>
          </a:bodyPr>
          <a:lstStyle/>
          <a:p>
            <a:pPr>
              <a:lnSpc>
                <a:spcPct val="90000"/>
              </a:lnSpc>
            </a:pPr>
            <a:r>
              <a:rPr lang="en-US" sz="2800" b="1" dirty="0">
                <a:solidFill>
                  <a:srgbClr val="002060"/>
                </a:solidFill>
                <a:latin typeface="Tahoma" pitchFamily="34" charset="0"/>
                <a:ea typeface="Tahoma" pitchFamily="34" charset="0"/>
                <a:cs typeface="Tahoma" pitchFamily="34" charset="0"/>
              </a:rPr>
              <a:t>Explicit Sets</a:t>
            </a:r>
            <a:endParaRPr lang="en-US" sz="2800" b="1" u="sng" dirty="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304800" y="1143000"/>
            <a:ext cx="8382000" cy="866904"/>
          </a:xfrm>
          <a:prstGeom prst="rect">
            <a:avLst/>
          </a:prstGeom>
          <a:noFill/>
        </p:spPr>
        <p:txBody>
          <a:bodyPr wrap="square" rtlCol="0">
            <a:spAutoFit/>
          </a:bodyPr>
          <a:lstStyle/>
          <a:p>
            <a:pPr algn="just">
              <a:lnSpc>
                <a:spcPct val="150000"/>
              </a:lnSpc>
              <a:buFont typeface="Arial" pitchFamily="34" charset="0"/>
              <a:buChar char="•"/>
            </a:pPr>
            <a:r>
              <a:rPr lang="en-US" dirty="0">
                <a:latin typeface="Tahoma" pitchFamily="34" charset="0"/>
                <a:ea typeface="Tahoma" pitchFamily="34" charset="0"/>
                <a:cs typeface="Tahoma" pitchFamily="34" charset="0"/>
              </a:rPr>
              <a:t> It is also possible to use an explicit set of values in the WHERE clause, rather than a nested query. Such a set  is enclosed in parentheses in SQL.</a:t>
            </a:r>
            <a:endParaRPr lang="en-US" sz="2000" dirty="0">
              <a:latin typeface="Tahoma" pitchFamily="34" charset="0"/>
              <a:ea typeface="Tahoma" pitchFamily="34" charset="0"/>
              <a:cs typeface="Tahoma" pitchFamily="34" charset="0"/>
            </a:endParaRPr>
          </a:p>
        </p:txBody>
      </p:sp>
      <p:sp>
        <p:nvSpPr>
          <p:cNvPr id="8" name="TextBox 7"/>
          <p:cNvSpPr txBox="1"/>
          <p:nvPr/>
        </p:nvSpPr>
        <p:spPr>
          <a:xfrm>
            <a:off x="304800" y="2438400"/>
            <a:ext cx="8686800" cy="2308324"/>
          </a:xfrm>
          <a:prstGeom prst="rect">
            <a:avLst/>
          </a:prstGeom>
          <a:noFill/>
          <a:ln w="38100">
            <a:solidFill>
              <a:schemeClr val="accent1"/>
            </a:solidFill>
          </a:ln>
        </p:spPr>
        <p:txBody>
          <a:bodyPr wrap="square" rtlCol="0">
            <a:spAutoFit/>
          </a:bodyPr>
          <a:lstStyle/>
          <a:p>
            <a:pPr algn="just">
              <a:lnSpc>
                <a:spcPct val="150000"/>
              </a:lnSpc>
            </a:pPr>
            <a:r>
              <a:rPr lang="en-US" sz="2000" b="1" dirty="0">
                <a:latin typeface="Tahoma" pitchFamily="34" charset="0"/>
                <a:ea typeface="Tahoma" pitchFamily="34" charset="0"/>
                <a:cs typeface="Tahoma" pitchFamily="34" charset="0"/>
              </a:rPr>
              <a:t>QUERY 17 : </a:t>
            </a:r>
            <a:r>
              <a:rPr lang="en-US" sz="2000" dirty="0">
                <a:latin typeface="Tahoma" pitchFamily="34" charset="0"/>
                <a:ea typeface="Tahoma" pitchFamily="34" charset="0"/>
                <a:cs typeface="Tahoma" pitchFamily="34" charset="0"/>
              </a:rPr>
              <a:t>Retrieve the social security numbers of all employees who work on project numbers 1,2, or 3.</a:t>
            </a:r>
            <a:endParaRPr lang="en-US" sz="2400" dirty="0">
              <a:latin typeface="Tahoma" pitchFamily="34" charset="0"/>
              <a:ea typeface="Tahoma" pitchFamily="34" charset="0"/>
              <a:cs typeface="Tahoma" pitchFamily="34" charset="0"/>
            </a:endParaRPr>
          </a:p>
          <a:p>
            <a:pPr algn="just"/>
            <a:endParaRPr lang="en-US" sz="2400" dirty="0">
              <a:latin typeface="Tahoma" pitchFamily="34" charset="0"/>
              <a:ea typeface="Tahoma" pitchFamily="34" charset="0"/>
              <a:cs typeface="Tahoma" pitchFamily="34" charset="0"/>
            </a:endParaRPr>
          </a:p>
          <a:p>
            <a:pPr>
              <a:lnSpc>
                <a:spcPct val="150000"/>
              </a:lnSpc>
            </a:pPr>
            <a:r>
              <a:rPr lang="en-US" sz="2000" b="1" dirty="0">
                <a:latin typeface="Tahoma" pitchFamily="34" charset="0"/>
                <a:ea typeface="Tahoma" pitchFamily="34" charset="0"/>
                <a:cs typeface="Tahoma" pitchFamily="34" charset="0"/>
              </a:rPr>
              <a:t>Q17:</a:t>
            </a:r>
            <a:r>
              <a:rPr lang="en-US" sz="2000"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SELECT DISTINCT </a:t>
            </a:r>
            <a:r>
              <a:rPr lang="en-US" sz="2000" b="1" dirty="0">
                <a:latin typeface="Tahoma" pitchFamily="34" charset="0"/>
                <a:ea typeface="Tahoma" pitchFamily="34" charset="0"/>
                <a:cs typeface="Tahoma" pitchFamily="34" charset="0"/>
              </a:rPr>
              <a:t>ESSN</a:t>
            </a:r>
            <a:r>
              <a:rPr lang="en-US" sz="2000" b="1" dirty="0">
                <a:solidFill>
                  <a:srgbClr val="002060"/>
                </a:solidFill>
                <a:latin typeface="Tahoma" pitchFamily="34" charset="0"/>
                <a:ea typeface="Tahoma" pitchFamily="34" charset="0"/>
                <a:cs typeface="Tahoma" pitchFamily="34" charset="0"/>
              </a:rPr>
              <a:t>  FROM</a:t>
            </a:r>
            <a:r>
              <a:rPr lang="en-US" sz="2000" b="1" dirty="0">
                <a:latin typeface="Tahoma" pitchFamily="34" charset="0"/>
                <a:ea typeface="Tahoma" pitchFamily="34" charset="0"/>
                <a:cs typeface="Tahoma" pitchFamily="34" charset="0"/>
              </a:rPr>
              <a:t> WORKS_ON</a:t>
            </a:r>
          </a:p>
          <a:p>
            <a:pPr>
              <a:lnSpc>
                <a:spcPct val="150000"/>
              </a:lnSpc>
            </a:pPr>
            <a:r>
              <a:rPr lang="en-US" sz="2000" b="1"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WHERE  </a:t>
            </a:r>
            <a:r>
              <a:rPr lang="en-US" sz="2000" b="1" dirty="0">
                <a:latin typeface="Tahoma" pitchFamily="34" charset="0"/>
                <a:ea typeface="Tahoma" pitchFamily="34" charset="0"/>
                <a:cs typeface="Tahoma" pitchFamily="34" charset="0"/>
              </a:rPr>
              <a:t>PNO </a:t>
            </a:r>
            <a:r>
              <a:rPr lang="en-US" sz="2000" b="1" dirty="0">
                <a:solidFill>
                  <a:srgbClr val="002060"/>
                </a:solidFill>
                <a:latin typeface="Tahoma" pitchFamily="34" charset="0"/>
                <a:ea typeface="Tahoma" pitchFamily="34" charset="0"/>
                <a:cs typeface="Tahoma" pitchFamily="34" charset="0"/>
              </a:rPr>
              <a:t>IN</a:t>
            </a:r>
            <a:r>
              <a:rPr lang="en-US" sz="2000" b="1" dirty="0">
                <a:latin typeface="Tahoma" pitchFamily="34" charset="0"/>
                <a:ea typeface="Tahoma" pitchFamily="34" charset="0"/>
                <a:cs typeface="Tahoma" pitchFamily="34" charset="0"/>
              </a:rPr>
              <a:t> (1, 2, 3);</a:t>
            </a:r>
            <a:endParaRPr lang="en-US" b="1"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2400" y="914400"/>
            <a:ext cx="8382000" cy="1282402"/>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a:latin typeface="Tahoma" pitchFamily="34" charset="0"/>
                <a:ea typeface="Tahoma" pitchFamily="34" charset="0"/>
                <a:cs typeface="Tahoma" pitchFamily="34" charset="0"/>
              </a:rPr>
              <a:t> In SQL, it is possible to rename any attribute that appears in the result of a query by  adding the qualifier </a:t>
            </a:r>
            <a:r>
              <a:rPr lang="en-US" b="1" dirty="0">
                <a:latin typeface="Tahoma" pitchFamily="34" charset="0"/>
                <a:ea typeface="Tahoma" pitchFamily="34" charset="0"/>
                <a:cs typeface="Tahoma" pitchFamily="34" charset="0"/>
              </a:rPr>
              <a:t>AS</a:t>
            </a:r>
            <a:r>
              <a:rPr lang="en-US" dirty="0">
                <a:latin typeface="Tahoma" pitchFamily="34" charset="0"/>
                <a:ea typeface="Tahoma" pitchFamily="34" charset="0"/>
                <a:cs typeface="Tahoma" pitchFamily="34" charset="0"/>
              </a:rPr>
              <a:t> followed by the desired new name. The new names will appear as </a:t>
            </a:r>
            <a:r>
              <a:rPr lang="en-US" dirty="0"/>
              <a:t>column headers in the query result.</a:t>
            </a:r>
            <a:endParaRPr lang="en-US" dirty="0">
              <a:latin typeface="Tahoma" pitchFamily="34" charset="0"/>
              <a:ea typeface="Tahoma" pitchFamily="34" charset="0"/>
              <a:cs typeface="Tahoma" pitchFamily="34" charset="0"/>
            </a:endParaRPr>
          </a:p>
        </p:txBody>
      </p:sp>
      <p:sp>
        <p:nvSpPr>
          <p:cNvPr id="8" name="TextBox 7"/>
          <p:cNvSpPr txBox="1"/>
          <p:nvPr/>
        </p:nvSpPr>
        <p:spPr>
          <a:xfrm>
            <a:off x="152400" y="2743200"/>
            <a:ext cx="8686800" cy="3046988"/>
          </a:xfrm>
          <a:prstGeom prst="rect">
            <a:avLst/>
          </a:prstGeom>
          <a:noFill/>
          <a:ln w="38100">
            <a:solidFill>
              <a:schemeClr val="accent1"/>
            </a:solidFill>
          </a:ln>
        </p:spPr>
        <p:txBody>
          <a:bodyPr wrap="square" rtlCol="0">
            <a:spAutoFit/>
          </a:bodyPr>
          <a:lstStyle/>
          <a:p>
            <a:pPr algn="just">
              <a:lnSpc>
                <a:spcPct val="200000"/>
              </a:lnSpc>
            </a:pPr>
            <a:r>
              <a:rPr lang="en-US" sz="2000" b="1" dirty="0">
                <a:latin typeface="Tahoma" pitchFamily="34" charset="0"/>
                <a:ea typeface="Tahoma" pitchFamily="34" charset="0"/>
                <a:cs typeface="Tahoma" pitchFamily="34" charset="0"/>
              </a:rPr>
              <a:t>Q8A</a:t>
            </a:r>
            <a:r>
              <a:rPr lang="en-US" b="1" dirty="0">
                <a:latin typeface="Tahoma" pitchFamily="34" charset="0"/>
                <a:ea typeface="Tahoma" pitchFamily="34" charset="0"/>
                <a:cs typeface="Tahoma" pitchFamily="34" charset="0"/>
              </a:rPr>
              <a:t>: (</a:t>
            </a:r>
            <a:r>
              <a:rPr lang="en-US" sz="2000" dirty="0">
                <a:solidFill>
                  <a:srgbClr val="000000"/>
                </a:solidFill>
                <a:latin typeface="Tahoma" pitchFamily="34" charset="0"/>
                <a:ea typeface="Tahoma" pitchFamily="34" charset="0"/>
                <a:cs typeface="Tahoma" pitchFamily="34" charset="0"/>
              </a:rPr>
              <a:t>Retrieving the employee's name, and the name of his or her immediate supervisor.)</a:t>
            </a:r>
            <a:endParaRPr lang="en-US" b="1" dirty="0">
              <a:solidFill>
                <a:srgbClr val="002060"/>
              </a:solidFill>
              <a:latin typeface="Tahoma" pitchFamily="34" charset="0"/>
              <a:ea typeface="Tahoma" pitchFamily="34" charset="0"/>
              <a:cs typeface="Tahoma" pitchFamily="34" charset="0"/>
            </a:endParaRPr>
          </a:p>
          <a:p>
            <a:pPr algn="just">
              <a:lnSpc>
                <a:spcPct val="200000"/>
              </a:lnSpc>
            </a:pPr>
            <a:r>
              <a:rPr lang="en-US" b="1" dirty="0">
                <a:solidFill>
                  <a:srgbClr val="002060"/>
                </a:solidFill>
                <a:latin typeface="Tahoma" pitchFamily="34" charset="0"/>
                <a:ea typeface="Tahoma" pitchFamily="34" charset="0"/>
                <a:cs typeface="Tahoma" pitchFamily="34" charset="0"/>
              </a:rPr>
              <a:t>          SELECT</a:t>
            </a:r>
            <a:r>
              <a:rPr lang="en-US" b="1" dirty="0">
                <a:latin typeface="Tahoma" pitchFamily="34" charset="0"/>
                <a:ea typeface="Tahoma" pitchFamily="34" charset="0"/>
                <a:cs typeface="Tahoma" pitchFamily="34" charset="0"/>
              </a:rPr>
              <a:t> E.LNAME </a:t>
            </a:r>
            <a:r>
              <a:rPr lang="en-US" b="1" dirty="0">
                <a:solidFill>
                  <a:srgbClr val="002060"/>
                </a:solidFill>
                <a:latin typeface="Tahoma" pitchFamily="34" charset="0"/>
                <a:ea typeface="Tahoma" pitchFamily="34" charset="0"/>
                <a:cs typeface="Tahoma" pitchFamily="34" charset="0"/>
              </a:rPr>
              <a:t>AS</a:t>
            </a:r>
            <a:r>
              <a:rPr lang="en-US" b="1" dirty="0">
                <a:latin typeface="Tahoma" pitchFamily="34" charset="0"/>
                <a:ea typeface="Tahoma" pitchFamily="34" charset="0"/>
                <a:cs typeface="Tahoma" pitchFamily="34" charset="0"/>
              </a:rPr>
              <a:t> EMPLOYEE_NAME, S.LNAME </a:t>
            </a:r>
            <a:r>
              <a:rPr lang="en-US" b="1" dirty="0">
                <a:solidFill>
                  <a:srgbClr val="002060"/>
                </a:solidFill>
                <a:latin typeface="Tahoma" pitchFamily="34" charset="0"/>
                <a:ea typeface="Tahoma" pitchFamily="34" charset="0"/>
                <a:cs typeface="Tahoma" pitchFamily="34" charset="0"/>
              </a:rPr>
              <a:t>AS</a:t>
            </a:r>
          </a:p>
          <a:p>
            <a:pPr algn="just">
              <a:lnSpc>
                <a:spcPct val="200000"/>
              </a:lnSpc>
            </a:pPr>
            <a:r>
              <a:rPr lang="en-US" b="1" dirty="0">
                <a:latin typeface="Tahoma" pitchFamily="34" charset="0"/>
                <a:ea typeface="Tahoma" pitchFamily="34" charset="0"/>
                <a:cs typeface="Tahoma" pitchFamily="34" charset="0"/>
              </a:rPr>
              <a:t>          SUPERVISOR_NAME  </a:t>
            </a:r>
            <a:r>
              <a:rPr lang="en-US" b="1" dirty="0">
                <a:solidFill>
                  <a:srgbClr val="002060"/>
                </a:solidFill>
                <a:latin typeface="Tahoma" pitchFamily="34" charset="0"/>
                <a:ea typeface="Tahoma" pitchFamily="34" charset="0"/>
                <a:cs typeface="Tahoma" pitchFamily="34" charset="0"/>
              </a:rPr>
              <a:t>FROM</a:t>
            </a:r>
            <a:r>
              <a:rPr lang="en-US" b="1" dirty="0">
                <a:latin typeface="Tahoma" pitchFamily="34" charset="0"/>
                <a:ea typeface="Tahoma" pitchFamily="34" charset="0"/>
                <a:cs typeface="Tahoma" pitchFamily="34" charset="0"/>
              </a:rPr>
              <a:t>  EMPLOYEE </a:t>
            </a:r>
            <a:r>
              <a:rPr lang="en-US" b="1" dirty="0">
                <a:solidFill>
                  <a:srgbClr val="002060"/>
                </a:solidFill>
                <a:latin typeface="Tahoma" pitchFamily="34" charset="0"/>
                <a:ea typeface="Tahoma" pitchFamily="34" charset="0"/>
                <a:cs typeface="Tahoma" pitchFamily="34" charset="0"/>
              </a:rPr>
              <a:t>AS</a:t>
            </a:r>
            <a:r>
              <a:rPr lang="en-US" b="1" dirty="0">
                <a:latin typeface="Tahoma" pitchFamily="34" charset="0"/>
                <a:ea typeface="Tahoma" pitchFamily="34" charset="0"/>
                <a:cs typeface="Tahoma" pitchFamily="34" charset="0"/>
              </a:rPr>
              <a:t> E, EMPLOYEE AS S</a:t>
            </a:r>
          </a:p>
          <a:p>
            <a:pPr algn="just">
              <a:lnSpc>
                <a:spcPct val="200000"/>
              </a:lnSpc>
            </a:pPr>
            <a:r>
              <a:rPr lang="en-US" sz="2000" b="1"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 WHERE  </a:t>
            </a:r>
            <a:r>
              <a:rPr lang="en-US" sz="2000" b="1" dirty="0">
                <a:solidFill>
                  <a:srgbClr val="C00000"/>
                </a:solidFill>
                <a:latin typeface="Tahoma" pitchFamily="34" charset="0"/>
                <a:ea typeface="Tahoma" pitchFamily="34" charset="0"/>
                <a:cs typeface="Tahoma" pitchFamily="34" charset="0"/>
              </a:rPr>
              <a:t>E.SUPERSSN=S.SSN;</a:t>
            </a:r>
            <a:endParaRPr lang="en-US" sz="1600" b="1" dirty="0">
              <a:solidFill>
                <a:srgbClr val="C00000"/>
              </a:solidFill>
              <a:latin typeface="Tahoma" pitchFamily="34" charset="0"/>
              <a:ea typeface="Tahoma" pitchFamily="34" charset="0"/>
              <a:cs typeface="Tahoma" pitchFamily="34" charset="0"/>
            </a:endParaRPr>
          </a:p>
        </p:txBody>
      </p:sp>
      <p:sp>
        <p:nvSpPr>
          <p:cNvPr id="10" name="Rectangle 9"/>
          <p:cNvSpPr/>
          <p:nvPr/>
        </p:nvSpPr>
        <p:spPr>
          <a:xfrm>
            <a:off x="152400" y="152400"/>
            <a:ext cx="5650906" cy="523220"/>
          </a:xfrm>
          <a:prstGeom prst="rect">
            <a:avLst/>
          </a:prstGeom>
        </p:spPr>
        <p:txBody>
          <a:bodyPr wrap="none">
            <a:spAutoFit/>
          </a:bodyPr>
          <a:lstStyle/>
          <a:p>
            <a:r>
              <a:rPr lang="en-US" sz="2800" b="1" dirty="0">
                <a:solidFill>
                  <a:srgbClr val="002060"/>
                </a:solidFill>
                <a:latin typeface="Tahoma" pitchFamily="34" charset="0"/>
                <a:ea typeface="Tahoma" pitchFamily="34" charset="0"/>
                <a:cs typeface="Tahoma" pitchFamily="34" charset="0"/>
              </a:rPr>
              <a:t>Renaming of Attributes in SQL</a:t>
            </a:r>
            <a:endParaRPr lang="en-IN" sz="2800" dirty="0"/>
          </a:p>
        </p:txBody>
      </p:sp>
    </p:spTree>
  </p:cSld>
  <p:clrMapOvr>
    <a:masterClrMapping/>
  </p:clrMapOvr>
  <p:transition>
    <p:cut/>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381000"/>
            <a:ext cx="8763000" cy="535531"/>
          </a:xfrm>
          <a:prstGeom prst="rect">
            <a:avLst/>
          </a:prstGeom>
          <a:noFill/>
        </p:spPr>
        <p:txBody>
          <a:bodyPr wrap="square" rtlCol="0">
            <a:spAutoFit/>
          </a:bodyPr>
          <a:lstStyle/>
          <a:p>
            <a:pPr>
              <a:lnSpc>
                <a:spcPct val="90000"/>
              </a:lnSpc>
            </a:pPr>
            <a:r>
              <a:rPr lang="en-US" sz="3200" b="1" dirty="0">
                <a:solidFill>
                  <a:srgbClr val="002060"/>
                </a:solidFill>
                <a:latin typeface="Tahoma" pitchFamily="34" charset="0"/>
                <a:ea typeface="Tahoma" pitchFamily="34" charset="0"/>
                <a:cs typeface="Tahoma" pitchFamily="34" charset="0"/>
              </a:rPr>
              <a:t>Joined Tables in SQL</a:t>
            </a:r>
            <a:endParaRPr lang="en-US" sz="3200" b="1" u="sng" dirty="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304800" y="1143000"/>
            <a:ext cx="8382000" cy="2215991"/>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a:latin typeface="Tahoma" pitchFamily="34" charset="0"/>
                <a:ea typeface="Tahoma" pitchFamily="34" charset="0"/>
                <a:cs typeface="Tahoma" pitchFamily="34" charset="0"/>
              </a:rPr>
              <a:t>Used to specify a table resulting from a join operation in the FROM clause of a query.</a:t>
            </a:r>
          </a:p>
          <a:p>
            <a:pPr algn="just">
              <a:lnSpc>
                <a:spcPct val="150000"/>
              </a:lnSpc>
            </a:pPr>
            <a:endParaRPr lang="en-US" dirty="0">
              <a:latin typeface="Tahoma" pitchFamily="34" charset="0"/>
              <a:ea typeface="Tahoma" pitchFamily="34" charset="0"/>
              <a:cs typeface="Tahoma" pitchFamily="34" charset="0"/>
            </a:endParaRPr>
          </a:p>
          <a:p>
            <a:pPr marL="457200" indent="-457200" algn="just">
              <a:lnSpc>
                <a:spcPct val="150000"/>
              </a:lnSpc>
              <a:buFont typeface="Arial" pitchFamily="34" charset="0"/>
              <a:buChar char="•"/>
            </a:pPr>
            <a:r>
              <a:rPr lang="en-US" sz="2000" b="1" dirty="0">
                <a:latin typeface="Tahoma" pitchFamily="34" charset="0"/>
                <a:ea typeface="Tahoma" pitchFamily="34" charset="0"/>
                <a:cs typeface="Tahoma" pitchFamily="34" charset="0"/>
              </a:rPr>
              <a:t>For example  </a:t>
            </a:r>
            <a:r>
              <a:rPr lang="en-US" dirty="0">
                <a:latin typeface="Tahoma" pitchFamily="34" charset="0"/>
                <a:ea typeface="Tahoma" pitchFamily="34" charset="0"/>
                <a:cs typeface="Tahoma" pitchFamily="34" charset="0"/>
              </a:rPr>
              <a:t>consider Query1, (</a:t>
            </a:r>
            <a:r>
              <a:rPr lang="en-US" b="1" dirty="0">
                <a:latin typeface="Tahoma" pitchFamily="34" charset="0"/>
                <a:ea typeface="Tahoma" pitchFamily="34" charset="0"/>
                <a:cs typeface="Tahoma" pitchFamily="34" charset="0"/>
              </a:rPr>
              <a:t>Retrieving  the name and address of every employee who works for the 'Research' department. )</a:t>
            </a:r>
          </a:p>
        </p:txBody>
      </p:sp>
      <p:sp>
        <p:nvSpPr>
          <p:cNvPr id="10" name="Rectangle 9"/>
          <p:cNvSpPr/>
          <p:nvPr/>
        </p:nvSpPr>
        <p:spPr>
          <a:xfrm>
            <a:off x="1143000" y="3733800"/>
            <a:ext cx="7239000" cy="1754326"/>
          </a:xfrm>
          <a:prstGeom prst="rect">
            <a:avLst/>
          </a:prstGeom>
        </p:spPr>
        <p:txBody>
          <a:bodyPr wrap="square">
            <a:spAutoFit/>
          </a:bodyPr>
          <a:lstStyle/>
          <a:p>
            <a:pPr>
              <a:lnSpc>
                <a:spcPct val="200000"/>
              </a:lnSpc>
            </a:pPr>
            <a:r>
              <a:rPr lang="en-US" b="1" dirty="0">
                <a:solidFill>
                  <a:srgbClr val="002060"/>
                </a:solidFill>
                <a:latin typeface="Tahoma" pitchFamily="34" charset="0"/>
                <a:ea typeface="Tahoma" pitchFamily="34" charset="0"/>
                <a:cs typeface="Tahoma" pitchFamily="34" charset="0"/>
              </a:rPr>
              <a:t>SELECT</a:t>
            </a:r>
            <a:r>
              <a:rPr lang="en-US" b="1" dirty="0">
                <a:solidFill>
                  <a:srgbClr val="000000"/>
                </a:solidFill>
                <a:latin typeface="Tahoma" pitchFamily="34" charset="0"/>
                <a:ea typeface="Tahoma" pitchFamily="34" charset="0"/>
                <a:cs typeface="Tahoma" pitchFamily="34" charset="0"/>
              </a:rPr>
              <a:t>	FNAME, LNAME, ADDRESS</a:t>
            </a:r>
          </a:p>
          <a:p>
            <a:pPr>
              <a:lnSpc>
                <a:spcPct val="200000"/>
              </a:lnSpc>
            </a:pPr>
            <a:r>
              <a:rPr lang="en-US" b="1" dirty="0">
                <a:solidFill>
                  <a:srgbClr val="002060"/>
                </a:solidFill>
                <a:latin typeface="Tahoma" pitchFamily="34" charset="0"/>
                <a:ea typeface="Tahoma" pitchFamily="34" charset="0"/>
                <a:cs typeface="Tahoma" pitchFamily="34" charset="0"/>
              </a:rPr>
              <a:t>FROM</a:t>
            </a:r>
            <a:r>
              <a:rPr lang="en-US" b="1" dirty="0">
                <a:solidFill>
                  <a:srgbClr val="0070C0"/>
                </a:solidFill>
                <a:latin typeface="Tahoma" pitchFamily="34" charset="0"/>
                <a:ea typeface="Tahoma" pitchFamily="34" charset="0"/>
                <a:cs typeface="Tahoma" pitchFamily="34" charset="0"/>
              </a:rPr>
              <a:t> </a:t>
            </a:r>
            <a:r>
              <a:rPr lang="en-US" b="1" dirty="0">
                <a:solidFill>
                  <a:srgbClr val="000000"/>
                </a:solidFill>
                <a:latin typeface="Tahoma" pitchFamily="34" charset="0"/>
                <a:ea typeface="Tahoma" pitchFamily="34" charset="0"/>
                <a:cs typeface="Tahoma" pitchFamily="34" charset="0"/>
              </a:rPr>
              <a:t>	EMPLOYEE, DEPARTMENT</a:t>
            </a:r>
          </a:p>
          <a:p>
            <a:pPr>
              <a:lnSpc>
                <a:spcPct val="200000"/>
              </a:lnSpc>
            </a:pPr>
            <a:r>
              <a:rPr lang="en-US" b="1" dirty="0">
                <a:solidFill>
                  <a:srgbClr val="002060"/>
                </a:solidFill>
                <a:latin typeface="Tahoma" pitchFamily="34" charset="0"/>
                <a:ea typeface="Tahoma" pitchFamily="34" charset="0"/>
                <a:cs typeface="Tahoma" pitchFamily="34" charset="0"/>
              </a:rPr>
              <a:t>WHERE</a:t>
            </a:r>
            <a:r>
              <a:rPr lang="en-US" b="1" dirty="0">
                <a:solidFill>
                  <a:srgbClr val="0070C0"/>
                </a:solidFill>
                <a:latin typeface="Tahoma" pitchFamily="34" charset="0"/>
                <a:ea typeface="Tahoma" pitchFamily="34" charset="0"/>
                <a:cs typeface="Tahoma" pitchFamily="34" charset="0"/>
              </a:rPr>
              <a:t>	</a:t>
            </a:r>
            <a:r>
              <a:rPr lang="en-US" b="1" dirty="0">
                <a:solidFill>
                  <a:srgbClr val="C00000"/>
                </a:solidFill>
                <a:latin typeface="Tahoma" pitchFamily="34" charset="0"/>
                <a:ea typeface="Tahoma" pitchFamily="34" charset="0"/>
                <a:cs typeface="Tahoma" pitchFamily="34" charset="0"/>
              </a:rPr>
              <a:t> DNUMBER=DNO  </a:t>
            </a:r>
            <a:r>
              <a:rPr lang="en-US" b="1" dirty="0">
                <a:solidFill>
                  <a:srgbClr val="002060"/>
                </a:solidFill>
                <a:latin typeface="Tahoma" pitchFamily="34" charset="0"/>
                <a:ea typeface="Tahoma" pitchFamily="34" charset="0"/>
                <a:cs typeface="Tahoma" pitchFamily="34" charset="0"/>
              </a:rPr>
              <a:t>AND</a:t>
            </a:r>
            <a:r>
              <a:rPr lang="en-US" b="1" dirty="0">
                <a:solidFill>
                  <a:srgbClr val="000000"/>
                </a:solidFill>
                <a:latin typeface="Tahoma" pitchFamily="34" charset="0"/>
                <a:ea typeface="Tahoma" pitchFamily="34" charset="0"/>
                <a:cs typeface="Tahoma" pitchFamily="34" charset="0"/>
              </a:rPr>
              <a:t>  DNAME='Research' </a:t>
            </a:r>
            <a:endParaRPr lang="en-IN" dirty="0"/>
          </a:p>
        </p:txBody>
      </p:sp>
    </p:spTree>
  </p:cSld>
  <p:clrMapOvr>
    <a:masterClrMapping/>
  </p:clrMapOvr>
  <p:transition>
    <p:cut/>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381000"/>
            <a:ext cx="8763000" cy="535531"/>
          </a:xfrm>
          <a:prstGeom prst="rect">
            <a:avLst/>
          </a:prstGeom>
          <a:noFill/>
        </p:spPr>
        <p:txBody>
          <a:bodyPr wrap="square" rtlCol="0">
            <a:spAutoFit/>
          </a:bodyPr>
          <a:lstStyle/>
          <a:p>
            <a:pPr>
              <a:lnSpc>
                <a:spcPct val="90000"/>
              </a:lnSpc>
            </a:pPr>
            <a:r>
              <a:rPr lang="en-US" sz="3200" b="1" dirty="0">
                <a:solidFill>
                  <a:srgbClr val="002060"/>
                </a:solidFill>
                <a:latin typeface="Tahoma" pitchFamily="34" charset="0"/>
                <a:ea typeface="Tahoma" pitchFamily="34" charset="0"/>
                <a:cs typeface="Tahoma" pitchFamily="34" charset="0"/>
              </a:rPr>
              <a:t>Joined Tables in SQL</a:t>
            </a:r>
            <a:endParaRPr lang="en-US" sz="3200" b="1" u="sng" dirty="0">
              <a:solidFill>
                <a:srgbClr val="002060"/>
              </a:solidFill>
              <a:latin typeface="Tahoma" pitchFamily="34" charset="0"/>
              <a:ea typeface="Tahoma" pitchFamily="34" charset="0"/>
              <a:cs typeface="Tahoma" pitchFamily="34" charset="0"/>
            </a:endParaRPr>
          </a:p>
        </p:txBody>
      </p:sp>
      <p:sp>
        <p:nvSpPr>
          <p:cNvPr id="6" name="TextBox 5"/>
          <p:cNvSpPr txBox="1"/>
          <p:nvPr/>
        </p:nvSpPr>
        <p:spPr>
          <a:xfrm>
            <a:off x="304800" y="1143000"/>
            <a:ext cx="8382000" cy="491225"/>
          </a:xfrm>
          <a:prstGeom prst="rect">
            <a:avLst/>
          </a:prstGeom>
          <a:noFill/>
        </p:spPr>
        <p:txBody>
          <a:bodyPr wrap="square" rtlCol="0">
            <a:spAutoFit/>
          </a:bodyPr>
          <a:lstStyle/>
          <a:p>
            <a:pPr marL="342900" indent="-342900" algn="just">
              <a:lnSpc>
                <a:spcPct val="150000"/>
              </a:lnSpc>
              <a:buFont typeface="Arial" pitchFamily="34" charset="0"/>
              <a:buChar char="•"/>
            </a:pPr>
            <a:r>
              <a:rPr lang="en-US" sz="2000" dirty="0">
                <a:latin typeface="Tahoma" pitchFamily="34" charset="0"/>
                <a:ea typeface="Tahoma" pitchFamily="34" charset="0"/>
                <a:cs typeface="Tahoma" pitchFamily="34" charset="0"/>
              </a:rPr>
              <a:t> The same query can be specified </a:t>
            </a:r>
            <a:r>
              <a:rPr lang="en-US" sz="2000" b="1" dirty="0">
                <a:latin typeface="Tahoma" pitchFamily="34" charset="0"/>
                <a:ea typeface="Tahoma" pitchFamily="34" charset="0"/>
                <a:cs typeface="Tahoma" pitchFamily="34" charset="0"/>
              </a:rPr>
              <a:t>using Joined Table  concept</a:t>
            </a:r>
          </a:p>
        </p:txBody>
      </p:sp>
      <p:sp>
        <p:nvSpPr>
          <p:cNvPr id="8" name="TextBox 7"/>
          <p:cNvSpPr txBox="1"/>
          <p:nvPr/>
        </p:nvSpPr>
        <p:spPr>
          <a:xfrm>
            <a:off x="457200" y="3276600"/>
            <a:ext cx="8458200" cy="1754326"/>
          </a:xfrm>
          <a:prstGeom prst="rect">
            <a:avLst/>
          </a:prstGeom>
          <a:noFill/>
          <a:ln w="38100">
            <a:solidFill>
              <a:schemeClr val="accent1"/>
            </a:solidFill>
          </a:ln>
        </p:spPr>
        <p:txBody>
          <a:bodyPr wrap="square" rtlCol="0">
            <a:spAutoFit/>
          </a:bodyPr>
          <a:lstStyle/>
          <a:p>
            <a:pPr algn="just">
              <a:lnSpc>
                <a:spcPct val="200000"/>
              </a:lnSpc>
            </a:pPr>
            <a:r>
              <a:rPr lang="en-US" b="1" dirty="0">
                <a:latin typeface="Tahoma" pitchFamily="34" charset="0"/>
                <a:ea typeface="Tahoma" pitchFamily="34" charset="0"/>
                <a:cs typeface="Tahoma" pitchFamily="34" charset="0"/>
              </a:rPr>
              <a:t>Q1A:   </a:t>
            </a:r>
            <a:r>
              <a:rPr lang="en-US" b="1" dirty="0">
                <a:solidFill>
                  <a:srgbClr val="002060"/>
                </a:solidFill>
                <a:latin typeface="Tahoma" pitchFamily="34" charset="0"/>
                <a:ea typeface="Tahoma" pitchFamily="34" charset="0"/>
                <a:cs typeface="Tahoma" pitchFamily="34" charset="0"/>
              </a:rPr>
              <a:t>SELECT</a:t>
            </a:r>
            <a:r>
              <a:rPr lang="en-US" b="1" dirty="0">
                <a:latin typeface="Tahoma" pitchFamily="34" charset="0"/>
                <a:ea typeface="Tahoma" pitchFamily="34" charset="0"/>
                <a:cs typeface="Tahoma" pitchFamily="34" charset="0"/>
              </a:rPr>
              <a:t>  FNAME, LNAME, ADDRESS</a:t>
            </a:r>
          </a:p>
          <a:p>
            <a:pPr algn="just">
              <a:lnSpc>
                <a:spcPct val="20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 FROM  </a:t>
            </a:r>
            <a:r>
              <a:rPr lang="en-US" b="1" dirty="0">
                <a:solidFill>
                  <a:srgbClr val="C00000"/>
                </a:solidFill>
                <a:latin typeface="Tahoma" pitchFamily="34" charset="0"/>
                <a:ea typeface="Tahoma" pitchFamily="34" charset="0"/>
                <a:cs typeface="Tahoma" pitchFamily="34" charset="0"/>
              </a:rPr>
              <a:t>(EMPLOYEE </a:t>
            </a:r>
            <a:r>
              <a:rPr lang="en-US" b="1" dirty="0">
                <a:solidFill>
                  <a:srgbClr val="002060"/>
                </a:solidFill>
                <a:latin typeface="Tahoma" pitchFamily="34" charset="0"/>
                <a:ea typeface="Tahoma" pitchFamily="34" charset="0"/>
                <a:cs typeface="Tahoma" pitchFamily="34" charset="0"/>
              </a:rPr>
              <a:t>JOIN</a:t>
            </a:r>
            <a:r>
              <a:rPr lang="en-US" b="1" dirty="0">
                <a:solidFill>
                  <a:srgbClr val="C00000"/>
                </a:solidFill>
                <a:latin typeface="Tahoma" pitchFamily="34" charset="0"/>
                <a:ea typeface="Tahoma" pitchFamily="34" charset="0"/>
                <a:cs typeface="Tahoma" pitchFamily="34" charset="0"/>
              </a:rPr>
              <a:t> DEPARTMENT ON DNO=DNUMBER)</a:t>
            </a:r>
          </a:p>
          <a:p>
            <a:pPr algn="just">
              <a:lnSpc>
                <a:spcPct val="20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WHERE</a:t>
            </a:r>
            <a:r>
              <a:rPr lang="en-US" b="1" dirty="0">
                <a:latin typeface="Tahoma" pitchFamily="34" charset="0"/>
                <a:ea typeface="Tahoma" pitchFamily="34" charset="0"/>
                <a:cs typeface="Tahoma" pitchFamily="34" charset="0"/>
              </a:rPr>
              <a:t>  DNAME='Research';</a:t>
            </a:r>
            <a:endParaRPr lang="en-US" sz="1400" b="1" dirty="0">
              <a:latin typeface="Tahoma" pitchFamily="34" charset="0"/>
              <a:ea typeface="Tahoma" pitchFamily="34" charset="0"/>
              <a:cs typeface="Tahoma" pitchFamily="34" charset="0"/>
            </a:endParaRPr>
          </a:p>
        </p:txBody>
      </p:sp>
      <p:sp>
        <p:nvSpPr>
          <p:cNvPr id="5" name="Rectangle 4"/>
          <p:cNvSpPr/>
          <p:nvPr/>
        </p:nvSpPr>
        <p:spPr>
          <a:xfrm>
            <a:off x="457200" y="1905000"/>
            <a:ext cx="8458200" cy="1015663"/>
          </a:xfrm>
          <a:prstGeom prst="rect">
            <a:avLst/>
          </a:prstGeom>
        </p:spPr>
        <p:txBody>
          <a:bodyPr wrap="square">
            <a:spAutoFit/>
          </a:bodyPr>
          <a:lstStyle/>
          <a:p>
            <a:pPr>
              <a:lnSpc>
                <a:spcPct val="150000"/>
              </a:lnSpc>
            </a:pPr>
            <a:r>
              <a:rPr lang="en-US" dirty="0">
                <a:latin typeface="Tahoma" pitchFamily="34" charset="0"/>
                <a:ea typeface="Tahoma" pitchFamily="34" charset="0"/>
                <a:cs typeface="Tahoma" pitchFamily="34" charset="0"/>
              </a:rPr>
              <a:t>First specify the join of the EMPLOYEE and DEPARTMENT relations using </a:t>
            </a:r>
            <a:r>
              <a:rPr lang="en-US" sz="2000" b="1" dirty="0">
                <a:solidFill>
                  <a:srgbClr val="002060"/>
                </a:solidFill>
                <a:latin typeface="Tahoma" pitchFamily="34" charset="0"/>
                <a:ea typeface="Tahoma" pitchFamily="34" charset="0"/>
                <a:cs typeface="Tahoma" pitchFamily="34" charset="0"/>
              </a:rPr>
              <a:t>JOIN</a:t>
            </a:r>
            <a:r>
              <a:rPr lang="en-US" sz="2000" b="1" dirty="0">
                <a:latin typeface="Tahoma" pitchFamily="34" charset="0"/>
                <a:ea typeface="Tahoma" pitchFamily="34" charset="0"/>
                <a:cs typeface="Tahoma" pitchFamily="34" charset="0"/>
              </a:rPr>
              <a:t> keyword, </a:t>
            </a:r>
            <a:r>
              <a:rPr lang="en-US" dirty="0">
                <a:latin typeface="Tahoma" pitchFamily="34" charset="0"/>
                <a:ea typeface="Tahoma" pitchFamily="34" charset="0"/>
                <a:cs typeface="Tahoma" pitchFamily="34" charset="0"/>
              </a:rPr>
              <a:t>and then select the desired tuples and attributes.</a:t>
            </a:r>
            <a:endParaRPr lang="en-IN" dirty="0"/>
          </a:p>
        </p:txBody>
      </p:sp>
    </p:spTree>
  </p:cSld>
  <p:clrMapOvr>
    <a:masterClrMapping/>
  </p:clrMapOvr>
  <p:transition>
    <p:cut/>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381000"/>
            <a:ext cx="8763000" cy="535531"/>
          </a:xfrm>
          <a:prstGeom prst="rect">
            <a:avLst/>
          </a:prstGeom>
          <a:noFill/>
        </p:spPr>
        <p:txBody>
          <a:bodyPr wrap="square" rtlCol="0">
            <a:spAutoFit/>
          </a:bodyPr>
          <a:lstStyle/>
          <a:p>
            <a:pPr>
              <a:lnSpc>
                <a:spcPct val="90000"/>
              </a:lnSpc>
            </a:pPr>
            <a:r>
              <a:rPr lang="en-US" sz="3200" b="1" dirty="0">
                <a:solidFill>
                  <a:srgbClr val="002060"/>
                </a:solidFill>
                <a:latin typeface="Tahoma" pitchFamily="34" charset="0"/>
                <a:ea typeface="Tahoma" pitchFamily="34" charset="0"/>
                <a:cs typeface="Tahoma" pitchFamily="34" charset="0"/>
              </a:rPr>
              <a:t>Joined Tables in SQL</a:t>
            </a:r>
            <a:endParaRPr lang="en-US" sz="3200" b="1" u="sng" dirty="0">
              <a:solidFill>
                <a:srgbClr val="002060"/>
              </a:solidFill>
              <a:latin typeface="Tahoma" pitchFamily="34" charset="0"/>
              <a:ea typeface="Tahoma" pitchFamily="34" charset="0"/>
              <a:cs typeface="Tahoma" pitchFamily="34" charset="0"/>
            </a:endParaRPr>
          </a:p>
        </p:txBody>
      </p:sp>
      <p:sp>
        <p:nvSpPr>
          <p:cNvPr id="8" name="TextBox 7"/>
          <p:cNvSpPr txBox="1"/>
          <p:nvPr/>
        </p:nvSpPr>
        <p:spPr>
          <a:xfrm>
            <a:off x="304800" y="2819400"/>
            <a:ext cx="8458200" cy="2554545"/>
          </a:xfrm>
          <a:prstGeom prst="rect">
            <a:avLst/>
          </a:prstGeom>
          <a:noFill/>
          <a:ln w="38100">
            <a:solidFill>
              <a:schemeClr val="accent1"/>
            </a:solidFill>
          </a:ln>
        </p:spPr>
        <p:txBody>
          <a:bodyPr wrap="square" rtlCol="0">
            <a:spAutoFit/>
          </a:bodyPr>
          <a:lstStyle/>
          <a:p>
            <a:pPr lvl="1" algn="just">
              <a:lnSpc>
                <a:spcPct val="200000"/>
              </a:lnSpc>
            </a:pPr>
            <a:r>
              <a:rPr lang="en-IN" b="1" dirty="0">
                <a:latin typeface="Tahoma" pitchFamily="34" charset="0"/>
                <a:ea typeface="Tahoma" pitchFamily="34" charset="0"/>
                <a:cs typeface="Tahoma" pitchFamily="34" charset="0"/>
              </a:rPr>
              <a:t>Q1B: </a:t>
            </a:r>
            <a:r>
              <a:rPr lang="en-IN" sz="2000" b="1" dirty="0">
                <a:solidFill>
                  <a:srgbClr val="002060"/>
                </a:solidFill>
                <a:latin typeface="Tahoma" pitchFamily="34" charset="0"/>
                <a:ea typeface="Tahoma" pitchFamily="34" charset="0"/>
                <a:cs typeface="Tahoma" pitchFamily="34" charset="0"/>
              </a:rPr>
              <a:t>SELECT </a:t>
            </a:r>
            <a:r>
              <a:rPr lang="en-IN" sz="2000" b="1" dirty="0">
                <a:latin typeface="Tahoma" pitchFamily="34" charset="0"/>
                <a:ea typeface="Tahoma" pitchFamily="34" charset="0"/>
                <a:cs typeface="Tahoma" pitchFamily="34" charset="0"/>
              </a:rPr>
              <a:t>FNAME, LNAME, ADDRESS</a:t>
            </a:r>
          </a:p>
          <a:p>
            <a:pPr lvl="1" algn="just">
              <a:lnSpc>
                <a:spcPct val="200000"/>
              </a:lnSpc>
            </a:pPr>
            <a:r>
              <a:rPr lang="en-IN" sz="2000" b="1" dirty="0">
                <a:solidFill>
                  <a:srgbClr val="002060"/>
                </a:solidFill>
                <a:latin typeface="Tahoma" pitchFamily="34" charset="0"/>
                <a:ea typeface="Tahoma" pitchFamily="34" charset="0"/>
                <a:cs typeface="Tahoma" pitchFamily="34" charset="0"/>
              </a:rPr>
              <a:t>FROM </a:t>
            </a:r>
            <a:r>
              <a:rPr lang="en-IN" sz="2000" b="1" dirty="0">
                <a:latin typeface="Tahoma" pitchFamily="34" charset="0"/>
                <a:ea typeface="Tahoma" pitchFamily="34" charset="0"/>
                <a:cs typeface="Tahoma" pitchFamily="34" charset="0"/>
              </a:rPr>
              <a:t>(EMPLOYEE </a:t>
            </a:r>
            <a:r>
              <a:rPr lang="en-IN" sz="2000" b="1" dirty="0">
                <a:solidFill>
                  <a:srgbClr val="002060"/>
                </a:solidFill>
                <a:latin typeface="Tahoma" pitchFamily="34" charset="0"/>
                <a:ea typeface="Tahoma" pitchFamily="34" charset="0"/>
                <a:cs typeface="Tahoma" pitchFamily="34" charset="0"/>
              </a:rPr>
              <a:t>NATURAL JOIN</a:t>
            </a:r>
          </a:p>
          <a:p>
            <a:pPr lvl="1" algn="just">
              <a:lnSpc>
                <a:spcPct val="200000"/>
              </a:lnSpc>
            </a:pPr>
            <a:r>
              <a:rPr lang="en-IN" sz="2000" b="1" dirty="0">
                <a:latin typeface="Tahoma" pitchFamily="34" charset="0"/>
                <a:ea typeface="Tahoma" pitchFamily="34" charset="0"/>
                <a:cs typeface="Tahoma" pitchFamily="34" charset="0"/>
              </a:rPr>
              <a:t>(DEPARTMENT </a:t>
            </a:r>
            <a:r>
              <a:rPr lang="en-IN" sz="2000" b="1" dirty="0">
                <a:solidFill>
                  <a:srgbClr val="002060"/>
                </a:solidFill>
                <a:latin typeface="Tahoma" pitchFamily="34" charset="0"/>
                <a:ea typeface="Tahoma" pitchFamily="34" charset="0"/>
                <a:cs typeface="Tahoma" pitchFamily="34" charset="0"/>
              </a:rPr>
              <a:t>AS </a:t>
            </a:r>
            <a:r>
              <a:rPr lang="en-IN" sz="2000" b="1" dirty="0">
                <a:latin typeface="Tahoma" pitchFamily="34" charset="0"/>
                <a:ea typeface="Tahoma" pitchFamily="34" charset="0"/>
                <a:cs typeface="Tahoma" pitchFamily="34" charset="0"/>
              </a:rPr>
              <a:t>DEPT (DNAME, </a:t>
            </a:r>
            <a:r>
              <a:rPr lang="en-IN" sz="2000" b="1" dirty="0">
                <a:solidFill>
                  <a:srgbClr val="FF0000"/>
                </a:solidFill>
                <a:latin typeface="Tahoma" pitchFamily="34" charset="0"/>
                <a:ea typeface="Tahoma" pitchFamily="34" charset="0"/>
                <a:cs typeface="Tahoma" pitchFamily="34" charset="0"/>
              </a:rPr>
              <a:t>DNO</a:t>
            </a:r>
            <a:r>
              <a:rPr lang="en-IN" sz="2000" b="1" dirty="0">
                <a:latin typeface="Tahoma" pitchFamily="34" charset="0"/>
                <a:ea typeface="Tahoma" pitchFamily="34" charset="0"/>
                <a:cs typeface="Tahoma" pitchFamily="34" charset="0"/>
              </a:rPr>
              <a:t>, MSSN, MSDATE)))</a:t>
            </a:r>
          </a:p>
          <a:p>
            <a:pPr lvl="1" algn="just">
              <a:lnSpc>
                <a:spcPct val="200000"/>
              </a:lnSpc>
            </a:pPr>
            <a:r>
              <a:rPr lang="en-IN" sz="2000" b="1" dirty="0">
                <a:latin typeface="Tahoma" pitchFamily="34" charset="0"/>
                <a:ea typeface="Tahoma" pitchFamily="34" charset="0"/>
                <a:cs typeface="Tahoma" pitchFamily="34" charset="0"/>
              </a:rPr>
              <a:t>WHERE DNAME='Research;</a:t>
            </a:r>
            <a:endParaRPr lang="en-US" sz="1600" b="1" dirty="0">
              <a:latin typeface="Tahoma" pitchFamily="34" charset="0"/>
              <a:ea typeface="Tahoma" pitchFamily="34" charset="0"/>
              <a:cs typeface="Tahoma" pitchFamily="34" charset="0"/>
            </a:endParaRPr>
          </a:p>
        </p:txBody>
      </p:sp>
      <p:sp>
        <p:nvSpPr>
          <p:cNvPr id="5" name="Rectangle 4"/>
          <p:cNvSpPr/>
          <p:nvPr/>
        </p:nvSpPr>
        <p:spPr>
          <a:xfrm>
            <a:off x="228600" y="1295400"/>
            <a:ext cx="8458200" cy="576568"/>
          </a:xfrm>
          <a:prstGeom prst="rect">
            <a:avLst/>
          </a:prstGeom>
        </p:spPr>
        <p:txBody>
          <a:bodyPr wrap="square">
            <a:spAutoFit/>
          </a:bodyPr>
          <a:lstStyle/>
          <a:p>
            <a:pPr>
              <a:lnSpc>
                <a:spcPct val="150000"/>
              </a:lnSpc>
            </a:pPr>
            <a:r>
              <a:rPr lang="en-US" sz="2400" dirty="0">
                <a:latin typeface="Tahoma" pitchFamily="34" charset="0"/>
                <a:ea typeface="Tahoma" pitchFamily="34" charset="0"/>
                <a:cs typeface="Tahoma" pitchFamily="34" charset="0"/>
              </a:rPr>
              <a:t>Using </a:t>
            </a:r>
            <a:r>
              <a:rPr lang="en-IN" sz="2400" b="1" dirty="0">
                <a:solidFill>
                  <a:srgbClr val="002060"/>
                </a:solidFill>
                <a:latin typeface="Tahoma" pitchFamily="34" charset="0"/>
                <a:ea typeface="Tahoma" pitchFamily="34" charset="0"/>
                <a:cs typeface="Tahoma" pitchFamily="34" charset="0"/>
              </a:rPr>
              <a:t>NATURAL JOIN</a:t>
            </a:r>
            <a:endParaRPr lang="en-IN" sz="2400" dirty="0"/>
          </a:p>
        </p:txBody>
      </p:sp>
    </p:spTree>
  </p:cSld>
  <p:clrMapOvr>
    <a:masterClrMapping/>
  </p:clrMapOvr>
  <p:transition>
    <p:cut/>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381000"/>
            <a:ext cx="8763000" cy="535531"/>
          </a:xfrm>
          <a:prstGeom prst="rect">
            <a:avLst/>
          </a:prstGeom>
          <a:noFill/>
        </p:spPr>
        <p:txBody>
          <a:bodyPr wrap="square" rtlCol="0">
            <a:spAutoFit/>
          </a:bodyPr>
          <a:lstStyle/>
          <a:p>
            <a:pPr>
              <a:lnSpc>
                <a:spcPct val="90000"/>
              </a:lnSpc>
            </a:pPr>
            <a:r>
              <a:rPr lang="en-US" sz="3200" b="1" dirty="0">
                <a:solidFill>
                  <a:srgbClr val="002060"/>
                </a:solidFill>
                <a:latin typeface="Tahoma" pitchFamily="34" charset="0"/>
                <a:ea typeface="Tahoma" pitchFamily="34" charset="0"/>
                <a:cs typeface="Tahoma" pitchFamily="34" charset="0"/>
              </a:rPr>
              <a:t>Joined Tables in SQL</a:t>
            </a:r>
            <a:endParaRPr lang="en-US" sz="3200" b="1" u="sng" dirty="0">
              <a:solidFill>
                <a:srgbClr val="002060"/>
              </a:solidFill>
              <a:latin typeface="Tahoma" pitchFamily="34" charset="0"/>
              <a:ea typeface="Tahoma" pitchFamily="34" charset="0"/>
              <a:cs typeface="Tahoma" pitchFamily="34" charset="0"/>
            </a:endParaRPr>
          </a:p>
        </p:txBody>
      </p:sp>
      <p:sp>
        <p:nvSpPr>
          <p:cNvPr id="8" name="TextBox 7"/>
          <p:cNvSpPr txBox="1"/>
          <p:nvPr/>
        </p:nvSpPr>
        <p:spPr>
          <a:xfrm>
            <a:off x="304800" y="2819400"/>
            <a:ext cx="8458200" cy="2308324"/>
          </a:xfrm>
          <a:prstGeom prst="rect">
            <a:avLst/>
          </a:prstGeom>
          <a:noFill/>
          <a:ln w="38100">
            <a:solidFill>
              <a:schemeClr val="accent1"/>
            </a:solidFill>
          </a:ln>
        </p:spPr>
        <p:txBody>
          <a:bodyPr wrap="square" rtlCol="0">
            <a:spAutoFit/>
          </a:bodyPr>
          <a:lstStyle/>
          <a:p>
            <a:pPr algn="just">
              <a:lnSpc>
                <a:spcPct val="200000"/>
              </a:lnSpc>
            </a:pPr>
            <a:r>
              <a:rPr lang="en-IN" b="1" dirty="0">
                <a:latin typeface="Tahoma" pitchFamily="34" charset="0"/>
                <a:ea typeface="Tahoma" pitchFamily="34" charset="0"/>
                <a:cs typeface="Tahoma" pitchFamily="34" charset="0"/>
              </a:rPr>
              <a:t>Q2A:  </a:t>
            </a:r>
            <a:r>
              <a:rPr lang="en-IN" b="1" dirty="0">
                <a:solidFill>
                  <a:srgbClr val="002060"/>
                </a:solidFill>
                <a:latin typeface="Tahoma" pitchFamily="34" charset="0"/>
                <a:ea typeface="Tahoma" pitchFamily="34" charset="0"/>
                <a:cs typeface="Tahoma" pitchFamily="34" charset="0"/>
              </a:rPr>
              <a:t>SELECT</a:t>
            </a:r>
            <a:r>
              <a:rPr lang="en-IN" b="1" dirty="0">
                <a:latin typeface="Tahoma" pitchFamily="34" charset="0"/>
                <a:ea typeface="Tahoma" pitchFamily="34" charset="0"/>
                <a:cs typeface="Tahoma" pitchFamily="34" charset="0"/>
              </a:rPr>
              <a:t> PNUMBER, DNUM, LNAME, ADDRESS, BDATE</a:t>
            </a:r>
          </a:p>
          <a:p>
            <a:pPr lvl="1" algn="just">
              <a:lnSpc>
                <a:spcPct val="200000"/>
              </a:lnSpc>
            </a:pPr>
            <a:r>
              <a:rPr lang="en-IN" b="1" dirty="0">
                <a:solidFill>
                  <a:srgbClr val="002060"/>
                </a:solidFill>
                <a:latin typeface="Tahoma" pitchFamily="34" charset="0"/>
                <a:ea typeface="Tahoma" pitchFamily="34" charset="0"/>
                <a:cs typeface="Tahoma" pitchFamily="34" charset="0"/>
              </a:rPr>
              <a:t>   FROM </a:t>
            </a:r>
            <a:r>
              <a:rPr lang="en-IN" b="1" dirty="0">
                <a:latin typeface="Tahoma" pitchFamily="34" charset="0"/>
                <a:ea typeface="Tahoma" pitchFamily="34" charset="0"/>
                <a:cs typeface="Tahoma" pitchFamily="34" charset="0"/>
              </a:rPr>
              <a:t>((PROJECT JOIN DEPARTMENT ON </a:t>
            </a:r>
            <a:r>
              <a:rPr lang="en-IN" b="1" dirty="0">
                <a:solidFill>
                  <a:srgbClr val="C00000"/>
                </a:solidFill>
                <a:latin typeface="Tahoma" pitchFamily="34" charset="0"/>
                <a:ea typeface="Tahoma" pitchFamily="34" charset="0"/>
                <a:cs typeface="Tahoma" pitchFamily="34" charset="0"/>
              </a:rPr>
              <a:t>DNUM=DNUMBER</a:t>
            </a:r>
            <a:r>
              <a:rPr lang="en-IN" b="1" dirty="0">
                <a:latin typeface="Tahoma" pitchFamily="34" charset="0"/>
                <a:ea typeface="Tahoma" pitchFamily="34" charset="0"/>
                <a:cs typeface="Tahoma" pitchFamily="34" charset="0"/>
              </a:rPr>
              <a:t>)</a:t>
            </a:r>
          </a:p>
          <a:p>
            <a:pPr lvl="1" algn="just">
              <a:lnSpc>
                <a:spcPct val="200000"/>
              </a:lnSpc>
            </a:pPr>
            <a:r>
              <a:rPr lang="en-IN" b="1" dirty="0">
                <a:latin typeface="Tahoma" pitchFamily="34" charset="0"/>
                <a:ea typeface="Tahoma" pitchFamily="34" charset="0"/>
                <a:cs typeface="Tahoma" pitchFamily="34" charset="0"/>
              </a:rPr>
              <a:t>                      </a:t>
            </a:r>
            <a:r>
              <a:rPr lang="en-IN" b="1" dirty="0">
                <a:solidFill>
                  <a:srgbClr val="002060"/>
                </a:solidFill>
                <a:latin typeface="Tahoma" pitchFamily="34" charset="0"/>
                <a:ea typeface="Tahoma" pitchFamily="34" charset="0"/>
                <a:cs typeface="Tahoma" pitchFamily="34" charset="0"/>
              </a:rPr>
              <a:t>JOIN</a:t>
            </a:r>
            <a:r>
              <a:rPr lang="en-IN" b="1" dirty="0">
                <a:latin typeface="Tahoma" pitchFamily="34" charset="0"/>
                <a:ea typeface="Tahoma" pitchFamily="34" charset="0"/>
                <a:cs typeface="Tahoma" pitchFamily="34" charset="0"/>
              </a:rPr>
              <a:t> EMPLOYEE ON </a:t>
            </a:r>
            <a:r>
              <a:rPr lang="en-IN" b="1" dirty="0">
                <a:solidFill>
                  <a:srgbClr val="C00000"/>
                </a:solidFill>
                <a:latin typeface="Tahoma" pitchFamily="34" charset="0"/>
                <a:ea typeface="Tahoma" pitchFamily="34" charset="0"/>
                <a:cs typeface="Tahoma" pitchFamily="34" charset="0"/>
              </a:rPr>
              <a:t>MGRSSN=SSN</a:t>
            </a:r>
            <a:r>
              <a:rPr lang="en-IN" b="1" dirty="0">
                <a:latin typeface="Tahoma" pitchFamily="34" charset="0"/>
                <a:ea typeface="Tahoma" pitchFamily="34" charset="0"/>
                <a:cs typeface="Tahoma" pitchFamily="34" charset="0"/>
              </a:rPr>
              <a:t>)</a:t>
            </a:r>
          </a:p>
          <a:p>
            <a:pPr lvl="1" algn="just">
              <a:lnSpc>
                <a:spcPct val="200000"/>
              </a:lnSpc>
            </a:pPr>
            <a:r>
              <a:rPr lang="en-IN" b="1" dirty="0">
                <a:solidFill>
                  <a:srgbClr val="002060"/>
                </a:solidFill>
                <a:latin typeface="Tahoma" pitchFamily="34" charset="0"/>
                <a:ea typeface="Tahoma" pitchFamily="34" charset="0"/>
                <a:cs typeface="Tahoma" pitchFamily="34" charset="0"/>
              </a:rPr>
              <a:t>  WHERE     </a:t>
            </a:r>
            <a:r>
              <a:rPr lang="en-IN" b="1" dirty="0">
                <a:latin typeface="Tahoma" pitchFamily="34" charset="0"/>
                <a:ea typeface="Tahoma" pitchFamily="34" charset="0"/>
                <a:cs typeface="Tahoma" pitchFamily="34" charset="0"/>
              </a:rPr>
              <a:t>PLOCATION='Stafford';</a:t>
            </a:r>
            <a:endParaRPr lang="en-US" sz="4000" b="1" dirty="0">
              <a:latin typeface="Tahoma" pitchFamily="34" charset="0"/>
              <a:ea typeface="Tahoma" pitchFamily="34" charset="0"/>
              <a:cs typeface="Tahoma" pitchFamily="34" charset="0"/>
            </a:endParaRPr>
          </a:p>
        </p:txBody>
      </p:sp>
      <p:sp>
        <p:nvSpPr>
          <p:cNvPr id="5" name="Rectangle 4"/>
          <p:cNvSpPr/>
          <p:nvPr/>
        </p:nvSpPr>
        <p:spPr>
          <a:xfrm>
            <a:off x="228600" y="1295400"/>
            <a:ext cx="8458200" cy="646331"/>
          </a:xfrm>
          <a:prstGeom prst="rect">
            <a:avLst/>
          </a:prstGeom>
        </p:spPr>
        <p:txBody>
          <a:bodyPr wrap="square">
            <a:spAutoFit/>
          </a:bodyPr>
          <a:lstStyle/>
          <a:p>
            <a:pPr>
              <a:lnSpc>
                <a:spcPct val="150000"/>
              </a:lnSpc>
            </a:pPr>
            <a:r>
              <a:rPr lang="en-US" sz="2400" dirty="0">
                <a:latin typeface="Tahoma" pitchFamily="34" charset="0"/>
                <a:ea typeface="Tahoma" pitchFamily="34" charset="0"/>
                <a:cs typeface="Tahoma" pitchFamily="34" charset="0"/>
              </a:rPr>
              <a:t>Using Multiple</a:t>
            </a:r>
            <a:r>
              <a:rPr lang="en-IN" sz="2400" b="1" dirty="0">
                <a:solidFill>
                  <a:srgbClr val="002060"/>
                </a:solidFill>
                <a:latin typeface="Tahoma" pitchFamily="34" charset="0"/>
                <a:ea typeface="Tahoma" pitchFamily="34" charset="0"/>
                <a:cs typeface="Tahoma" pitchFamily="34" charset="0"/>
              </a:rPr>
              <a:t> JOINs</a:t>
            </a:r>
            <a:endParaRPr lang="en-IN" sz="2400" dirty="0"/>
          </a:p>
        </p:txBody>
      </p:sp>
    </p:spTree>
  </p:cSld>
  <p:clrMapOvr>
    <a:masterClrMapping/>
  </p:clrMapOvr>
  <p:transition>
    <p:cu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133600"/>
            <a:ext cx="8229600" cy="2667000"/>
          </a:xfrm>
          <a:noFill/>
        </p:spPr>
        <p:txBody>
          <a:bodyPr lIns="90488" tIns="44450" rIns="90488" bIns="44450"/>
          <a:lstStyle/>
          <a:p>
            <a:pPr lvl="0">
              <a:lnSpc>
                <a:spcPct val="150000"/>
              </a:lnSpc>
            </a:pPr>
            <a:r>
              <a:rPr lang="en-US" sz="6000" b="1" dirty="0">
                <a:latin typeface="Tahoma" pitchFamily="34" charset="0"/>
                <a:ea typeface="Tahoma" pitchFamily="34" charset="0"/>
                <a:cs typeface="Tahoma" pitchFamily="34" charset="0"/>
              </a:rPr>
              <a:t>Aggregate Functions in SQL-99</a:t>
            </a:r>
          </a:p>
        </p:txBody>
      </p:sp>
    </p:spTree>
  </p:cSld>
  <p:clrMapOvr>
    <a:masterClrMapping/>
  </p:clrMapOvr>
  <p:transition>
    <p:cu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1143000"/>
            <a:ext cx="8534400" cy="4247317"/>
          </a:xfrm>
          <a:prstGeom prst="rect">
            <a:avLst/>
          </a:prstGeom>
          <a:noFill/>
        </p:spPr>
        <p:txBody>
          <a:bodyPr wrap="square" rtlCol="0">
            <a:spAutoFit/>
          </a:bodyPr>
          <a:lstStyle/>
          <a:p>
            <a:endParaRPr lang="en-US" dirty="0">
              <a:latin typeface="Tahoma" pitchFamily="34" charset="0"/>
              <a:ea typeface="Tahoma" pitchFamily="34" charset="0"/>
              <a:cs typeface="Tahoma" pitchFamily="34" charset="0"/>
            </a:endParaRPr>
          </a:p>
          <a:p>
            <a:pPr marL="342900" indent="-342900" algn="just">
              <a:lnSpc>
                <a:spcPct val="200000"/>
              </a:lnSpc>
              <a:buFont typeface="Arial" pitchFamily="34" charset="0"/>
              <a:buChar char="•"/>
            </a:pPr>
            <a:r>
              <a:rPr lang="en-US" b="1" dirty="0">
                <a:solidFill>
                  <a:srgbClr val="002060"/>
                </a:solidFill>
              </a:rPr>
              <a:t>COUNT </a:t>
            </a:r>
            <a:r>
              <a:rPr lang="en-US" dirty="0">
                <a:sym typeface="Wingdings" pitchFamily="2" charset="2"/>
              </a:rPr>
              <a:t></a:t>
            </a:r>
            <a:r>
              <a:rPr lang="en-US" dirty="0"/>
              <a:t> returns the number of tuples or values as specified in a query.</a:t>
            </a:r>
          </a:p>
          <a:p>
            <a:pPr marL="342900" indent="-342900" algn="just">
              <a:lnSpc>
                <a:spcPct val="200000"/>
              </a:lnSpc>
              <a:buFont typeface="Arial" pitchFamily="34" charset="0"/>
              <a:buChar char="•"/>
            </a:pPr>
            <a:r>
              <a:rPr lang="en-US" b="1" dirty="0">
                <a:solidFill>
                  <a:srgbClr val="002060"/>
                </a:solidFill>
                <a:latin typeface="Tahoma" pitchFamily="34" charset="0"/>
                <a:ea typeface="Tahoma" pitchFamily="34" charset="0"/>
                <a:cs typeface="Tahoma" pitchFamily="34" charset="0"/>
              </a:rPr>
              <a:t>SUM, MAX, MIN, and AVG </a:t>
            </a:r>
            <a:r>
              <a:rPr lang="en-US" dirty="0">
                <a:latin typeface="Tahoma" pitchFamily="34" charset="0"/>
                <a:ea typeface="Tahoma" pitchFamily="34" charset="0"/>
                <a:cs typeface="Tahoma" pitchFamily="34" charset="0"/>
                <a:sym typeface="Wingdings" pitchFamily="2" charset="2"/>
              </a:rPr>
              <a:t></a:t>
            </a:r>
            <a:r>
              <a:rPr lang="en-US" dirty="0">
                <a:latin typeface="Tahoma" pitchFamily="34" charset="0"/>
                <a:ea typeface="Tahoma" pitchFamily="34" charset="0"/>
                <a:cs typeface="Tahoma" pitchFamily="34" charset="0"/>
              </a:rPr>
              <a:t> return sum, maximum value, minimum value, and average (mean) values respectively .These are  applied to a set or multiset of numeric values, </a:t>
            </a:r>
          </a:p>
          <a:p>
            <a:pPr marL="342900" indent="-342900" algn="just">
              <a:lnSpc>
                <a:spcPct val="200000"/>
              </a:lnSpc>
              <a:buFont typeface="Arial" pitchFamily="34" charset="0"/>
              <a:buChar char="•"/>
            </a:pPr>
            <a:r>
              <a:rPr lang="en-US" dirty="0">
                <a:latin typeface="Tahoma" pitchFamily="34" charset="0"/>
                <a:ea typeface="Tahoma" pitchFamily="34" charset="0"/>
                <a:cs typeface="Tahoma" pitchFamily="34" charset="0"/>
              </a:rPr>
              <a:t>All  the functions can be used in the </a:t>
            </a:r>
            <a:r>
              <a:rPr lang="en-US" b="1" dirty="0">
                <a:solidFill>
                  <a:srgbClr val="002060"/>
                </a:solidFill>
                <a:latin typeface="Tahoma" pitchFamily="34" charset="0"/>
                <a:ea typeface="Tahoma" pitchFamily="34" charset="0"/>
                <a:cs typeface="Tahoma" pitchFamily="34" charset="0"/>
              </a:rPr>
              <a:t>SELECT</a:t>
            </a:r>
            <a:r>
              <a:rPr lang="en-US" dirty="0">
                <a:latin typeface="Tahoma" pitchFamily="34" charset="0"/>
                <a:ea typeface="Tahoma" pitchFamily="34" charset="0"/>
                <a:cs typeface="Tahoma" pitchFamily="34" charset="0"/>
              </a:rPr>
              <a:t> clause or in a </a:t>
            </a:r>
            <a:r>
              <a:rPr lang="en-US" b="1" dirty="0">
                <a:solidFill>
                  <a:srgbClr val="002060"/>
                </a:solidFill>
                <a:latin typeface="Tahoma" pitchFamily="34" charset="0"/>
                <a:ea typeface="Tahoma" pitchFamily="34" charset="0"/>
                <a:cs typeface="Tahoma" pitchFamily="34" charset="0"/>
              </a:rPr>
              <a:t>HAVING</a:t>
            </a:r>
            <a:r>
              <a:rPr lang="en-US" dirty="0">
                <a:latin typeface="Tahoma" pitchFamily="34" charset="0"/>
                <a:ea typeface="Tahoma" pitchFamily="34" charset="0"/>
                <a:cs typeface="Tahoma" pitchFamily="34" charset="0"/>
              </a:rPr>
              <a:t> clause</a:t>
            </a:r>
          </a:p>
          <a:p>
            <a:pPr marL="342900" indent="-342900" algn="just">
              <a:lnSpc>
                <a:spcPct val="200000"/>
              </a:lnSpc>
              <a:buFont typeface="Arial" pitchFamily="34" charset="0"/>
              <a:buChar char="•"/>
            </a:pPr>
            <a:r>
              <a:rPr lang="en-US" dirty="0">
                <a:latin typeface="Tahoma" pitchFamily="34" charset="0"/>
                <a:ea typeface="Tahoma" pitchFamily="34" charset="0"/>
                <a:cs typeface="Tahoma" pitchFamily="34" charset="0"/>
              </a:rPr>
              <a:t>The functions </a:t>
            </a:r>
            <a:r>
              <a:rPr lang="en-US" b="1" dirty="0">
                <a:solidFill>
                  <a:srgbClr val="002060"/>
                </a:solidFill>
                <a:latin typeface="Tahoma" pitchFamily="34" charset="0"/>
                <a:ea typeface="Tahoma" pitchFamily="34" charset="0"/>
                <a:cs typeface="Tahoma" pitchFamily="34" charset="0"/>
              </a:rPr>
              <a:t>MAX</a:t>
            </a:r>
            <a:r>
              <a:rPr lang="en-US" dirty="0">
                <a:latin typeface="Tahoma" pitchFamily="34" charset="0"/>
                <a:ea typeface="Tahoma" pitchFamily="34" charset="0"/>
                <a:cs typeface="Tahoma" pitchFamily="34" charset="0"/>
              </a:rPr>
              <a:t> and </a:t>
            </a:r>
            <a:r>
              <a:rPr lang="en-US" b="1" dirty="0">
                <a:solidFill>
                  <a:srgbClr val="002060"/>
                </a:solidFill>
                <a:latin typeface="Tahoma" pitchFamily="34" charset="0"/>
                <a:ea typeface="Tahoma" pitchFamily="34" charset="0"/>
                <a:cs typeface="Tahoma" pitchFamily="34" charset="0"/>
              </a:rPr>
              <a:t>MIN</a:t>
            </a:r>
            <a:r>
              <a:rPr lang="en-US" dirty="0">
                <a:latin typeface="Tahoma" pitchFamily="34" charset="0"/>
                <a:ea typeface="Tahoma" pitchFamily="34" charset="0"/>
                <a:cs typeface="Tahoma" pitchFamily="34" charset="0"/>
              </a:rPr>
              <a:t> can also be used  with attributes that have nonnumeric domains</a:t>
            </a:r>
          </a:p>
        </p:txBody>
      </p:sp>
      <p:sp>
        <p:nvSpPr>
          <p:cNvPr id="5" name="Rectangle 4"/>
          <p:cNvSpPr/>
          <p:nvPr/>
        </p:nvSpPr>
        <p:spPr>
          <a:xfrm>
            <a:off x="304800" y="457200"/>
            <a:ext cx="7731925" cy="523220"/>
          </a:xfrm>
          <a:prstGeom prst="rect">
            <a:avLst/>
          </a:prstGeom>
        </p:spPr>
        <p:txBody>
          <a:bodyPr wrap="none">
            <a:spAutoFit/>
          </a:bodyPr>
          <a:lstStyle/>
          <a:p>
            <a:r>
              <a:rPr lang="en-US" sz="2800" b="1" dirty="0">
                <a:solidFill>
                  <a:srgbClr val="002060"/>
                </a:solidFill>
              </a:rPr>
              <a:t>COUNT, SUM, MAX, MIN, and AVG functions</a:t>
            </a:r>
            <a:r>
              <a:rPr lang="en-US" dirty="0"/>
              <a:t>.</a:t>
            </a:r>
          </a:p>
        </p:txBody>
      </p:sp>
    </p:spTree>
  </p:cSld>
  <p:clrMapOvr>
    <a:masterClrMapping/>
  </p:clrMapOvr>
  <p:transition>
    <p:cu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685800"/>
            <a:ext cx="8382000" cy="5632311"/>
          </a:xfrm>
          <a:prstGeom prst="rect">
            <a:avLst/>
          </a:prstGeom>
          <a:noFill/>
        </p:spPr>
        <p:txBody>
          <a:bodyPr wrap="square" rtlCol="0">
            <a:spAutoFit/>
          </a:bodyPr>
          <a:lstStyle/>
          <a:p>
            <a:endParaRPr lang="en-US" dirty="0">
              <a:latin typeface="Tahoma" pitchFamily="34" charset="0"/>
              <a:ea typeface="Tahoma" pitchFamily="34" charset="0"/>
              <a:cs typeface="Tahoma" pitchFamily="34" charset="0"/>
            </a:endParaRPr>
          </a:p>
          <a:p>
            <a:pPr algn="just">
              <a:lnSpc>
                <a:spcPct val="150000"/>
              </a:lnSpc>
            </a:pPr>
            <a:r>
              <a:rPr lang="en-US" b="1" dirty="0">
                <a:latin typeface="Tahoma" pitchFamily="34" charset="0"/>
                <a:ea typeface="Tahoma" pitchFamily="34" charset="0"/>
                <a:cs typeface="Tahoma" pitchFamily="34" charset="0"/>
              </a:rPr>
              <a:t>QUERY 19 :  </a:t>
            </a:r>
            <a:r>
              <a:rPr lang="en-US" dirty="0">
                <a:latin typeface="Tahoma" pitchFamily="34" charset="0"/>
                <a:ea typeface="Tahoma" pitchFamily="34" charset="0"/>
                <a:cs typeface="Tahoma" pitchFamily="34" charset="0"/>
              </a:rPr>
              <a:t>Find the sum of the salaries of all employees, the maximum salary, the minimum salary, and the average salary.</a:t>
            </a:r>
          </a:p>
          <a:p>
            <a:pPr algn="just">
              <a:lnSpc>
                <a:spcPct val="150000"/>
              </a:lnSpc>
            </a:pPr>
            <a:endParaRPr lang="en-US" dirty="0">
              <a:latin typeface="Tahoma" pitchFamily="34" charset="0"/>
              <a:ea typeface="Tahoma" pitchFamily="34" charset="0"/>
              <a:cs typeface="Tahoma" pitchFamily="34" charset="0"/>
            </a:endParaRPr>
          </a:p>
          <a:p>
            <a:pPr algn="just">
              <a:lnSpc>
                <a:spcPct val="150000"/>
              </a:lnSpc>
            </a:pPr>
            <a:r>
              <a:rPr lang="en-US" b="1" dirty="0">
                <a:solidFill>
                  <a:srgbClr val="002060"/>
                </a:solidFill>
                <a:latin typeface="Tahoma" pitchFamily="34" charset="0"/>
                <a:ea typeface="Tahoma" pitchFamily="34" charset="0"/>
                <a:cs typeface="Tahoma" pitchFamily="34" charset="0"/>
              </a:rPr>
              <a:t>SELECT SUM </a:t>
            </a:r>
            <a:r>
              <a:rPr lang="en-US" dirty="0">
                <a:latin typeface="Tahoma" pitchFamily="34" charset="0"/>
                <a:ea typeface="Tahoma" pitchFamily="34" charset="0"/>
                <a:cs typeface="Tahoma" pitchFamily="34" charset="0"/>
              </a:rPr>
              <a:t>(SALARY), </a:t>
            </a:r>
            <a:r>
              <a:rPr lang="en-US" b="1" dirty="0">
                <a:solidFill>
                  <a:srgbClr val="002060"/>
                </a:solidFill>
                <a:latin typeface="Tahoma" pitchFamily="34" charset="0"/>
                <a:ea typeface="Tahoma" pitchFamily="34" charset="0"/>
                <a:cs typeface="Tahoma" pitchFamily="34" charset="0"/>
              </a:rPr>
              <a:t>MAX </a:t>
            </a:r>
            <a:r>
              <a:rPr lang="en-US" dirty="0">
                <a:latin typeface="Tahoma" pitchFamily="34" charset="0"/>
                <a:ea typeface="Tahoma" pitchFamily="34" charset="0"/>
                <a:cs typeface="Tahoma" pitchFamily="34" charset="0"/>
              </a:rPr>
              <a:t>(SALARY), </a:t>
            </a:r>
            <a:r>
              <a:rPr lang="en-US" b="1" dirty="0">
                <a:solidFill>
                  <a:srgbClr val="002060"/>
                </a:solidFill>
                <a:latin typeface="Tahoma" pitchFamily="34" charset="0"/>
                <a:ea typeface="Tahoma" pitchFamily="34" charset="0"/>
                <a:cs typeface="Tahoma" pitchFamily="34" charset="0"/>
              </a:rPr>
              <a:t>MIN</a:t>
            </a:r>
            <a:r>
              <a:rPr lang="en-US" dirty="0">
                <a:latin typeface="Tahoma" pitchFamily="34" charset="0"/>
                <a:ea typeface="Tahoma" pitchFamily="34" charset="0"/>
                <a:cs typeface="Tahoma" pitchFamily="34" charset="0"/>
              </a:rPr>
              <a:t>(SALARY),</a:t>
            </a:r>
            <a:r>
              <a:rPr lang="en-US" b="1" dirty="0">
                <a:solidFill>
                  <a:srgbClr val="002060"/>
                </a:solidFill>
                <a:latin typeface="Tahoma" pitchFamily="34" charset="0"/>
                <a:ea typeface="Tahoma" pitchFamily="34" charset="0"/>
                <a:cs typeface="Tahoma" pitchFamily="34" charset="0"/>
              </a:rPr>
              <a:t>AVG</a:t>
            </a:r>
            <a:r>
              <a:rPr lang="en-US" b="1"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(SALARY)   </a:t>
            </a:r>
            <a:r>
              <a:rPr lang="en-US" b="1" dirty="0">
                <a:solidFill>
                  <a:srgbClr val="002060"/>
                </a:solidFill>
                <a:latin typeface="Tahoma" pitchFamily="34" charset="0"/>
                <a:ea typeface="Tahoma" pitchFamily="34" charset="0"/>
                <a:cs typeface="Tahoma" pitchFamily="34" charset="0"/>
              </a:rPr>
              <a:t>FROM </a:t>
            </a:r>
            <a:r>
              <a:rPr lang="en-US" dirty="0">
                <a:latin typeface="Tahoma" pitchFamily="34" charset="0"/>
                <a:ea typeface="Tahoma" pitchFamily="34" charset="0"/>
                <a:cs typeface="Tahoma" pitchFamily="34" charset="0"/>
              </a:rPr>
              <a:t>EMPLOYEE;</a:t>
            </a:r>
          </a:p>
          <a:p>
            <a:pPr algn="just">
              <a:lnSpc>
                <a:spcPct val="150000"/>
              </a:lnSpc>
            </a:pPr>
            <a:endParaRPr lang="en-US" dirty="0">
              <a:latin typeface="Tahoma" pitchFamily="34" charset="0"/>
              <a:ea typeface="Tahoma" pitchFamily="34" charset="0"/>
              <a:cs typeface="Tahoma" pitchFamily="34" charset="0"/>
            </a:endParaRPr>
          </a:p>
          <a:p>
            <a:pPr algn="just">
              <a:lnSpc>
                <a:spcPct val="150000"/>
              </a:lnSpc>
            </a:pPr>
            <a:r>
              <a:rPr lang="en-US" sz="1600" b="1" dirty="0">
                <a:latin typeface="Tahoma" pitchFamily="34" charset="0"/>
                <a:ea typeface="Tahoma" pitchFamily="34" charset="0"/>
                <a:cs typeface="Tahoma" pitchFamily="34" charset="0"/>
              </a:rPr>
              <a:t>QUERY 20  : </a:t>
            </a:r>
            <a:r>
              <a:rPr lang="en-US" dirty="0">
                <a:latin typeface="Tahoma" pitchFamily="34" charset="0"/>
                <a:ea typeface="Tahoma" pitchFamily="34" charset="0"/>
                <a:cs typeface="Tahoma" pitchFamily="34" charset="0"/>
              </a:rPr>
              <a:t>Find the sum of the salaries of all employees of the 'Research' department, as well as the maximum salary, the minimum salary, and the average salary in this department.</a:t>
            </a:r>
          </a:p>
          <a:p>
            <a:pPr algn="just"/>
            <a:endParaRPr lang="en-US" dirty="0">
              <a:latin typeface="Tahoma" pitchFamily="34" charset="0"/>
              <a:ea typeface="Tahoma" pitchFamily="34" charset="0"/>
              <a:cs typeface="Tahoma" pitchFamily="34" charset="0"/>
            </a:endParaRPr>
          </a:p>
          <a:p>
            <a:pPr algn="just">
              <a:lnSpc>
                <a:spcPct val="150000"/>
              </a:lnSpc>
            </a:pPr>
            <a:r>
              <a:rPr lang="en-US" b="1" dirty="0">
                <a:latin typeface="Tahoma" pitchFamily="34" charset="0"/>
                <a:ea typeface="Tahoma" pitchFamily="34" charset="0"/>
                <a:cs typeface="Tahoma" pitchFamily="34" charset="0"/>
              </a:rPr>
              <a:t>Q20:</a:t>
            </a:r>
            <a:r>
              <a:rPr lang="en-US"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SELECT SUM </a:t>
            </a:r>
            <a:r>
              <a:rPr lang="en-US" dirty="0">
                <a:latin typeface="Tahoma" pitchFamily="34" charset="0"/>
                <a:ea typeface="Tahoma" pitchFamily="34" charset="0"/>
                <a:cs typeface="Tahoma" pitchFamily="34" charset="0"/>
              </a:rPr>
              <a:t>(SALARY), </a:t>
            </a:r>
            <a:r>
              <a:rPr lang="en-US" b="1" dirty="0">
                <a:solidFill>
                  <a:srgbClr val="002060"/>
                </a:solidFill>
                <a:latin typeface="Tahoma" pitchFamily="34" charset="0"/>
                <a:ea typeface="Tahoma" pitchFamily="34" charset="0"/>
                <a:cs typeface="Tahoma" pitchFamily="34" charset="0"/>
              </a:rPr>
              <a:t>MAX </a:t>
            </a:r>
            <a:r>
              <a:rPr lang="en-US" dirty="0">
                <a:latin typeface="Tahoma" pitchFamily="34" charset="0"/>
                <a:ea typeface="Tahoma" pitchFamily="34" charset="0"/>
                <a:cs typeface="Tahoma" pitchFamily="34" charset="0"/>
              </a:rPr>
              <a:t>(SALARY), </a:t>
            </a:r>
            <a:r>
              <a:rPr lang="en-US" b="1" dirty="0">
                <a:solidFill>
                  <a:srgbClr val="002060"/>
                </a:solidFill>
                <a:latin typeface="Tahoma" pitchFamily="34" charset="0"/>
                <a:ea typeface="Tahoma" pitchFamily="34" charset="0"/>
                <a:cs typeface="Tahoma" pitchFamily="34" charset="0"/>
              </a:rPr>
              <a:t>MIN</a:t>
            </a:r>
            <a:r>
              <a:rPr lang="en-US" dirty="0">
                <a:solidFill>
                  <a:srgbClr val="00B0F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(SALARY), </a:t>
            </a:r>
            <a:r>
              <a:rPr lang="en-US" b="1" dirty="0">
                <a:solidFill>
                  <a:srgbClr val="002060"/>
                </a:solidFill>
                <a:latin typeface="Tahoma" pitchFamily="34" charset="0"/>
                <a:ea typeface="Tahoma" pitchFamily="34" charset="0"/>
                <a:cs typeface="Tahoma" pitchFamily="34" charset="0"/>
              </a:rPr>
              <a:t>AVG </a:t>
            </a:r>
            <a:r>
              <a:rPr lang="en-US" dirty="0">
                <a:latin typeface="Tahoma" pitchFamily="34" charset="0"/>
                <a:ea typeface="Tahoma" pitchFamily="34" charset="0"/>
                <a:cs typeface="Tahoma" pitchFamily="34" charset="0"/>
              </a:rPr>
              <a:t>(SALARY) </a:t>
            </a:r>
            <a:r>
              <a:rPr lang="en-US" b="1" dirty="0">
                <a:solidFill>
                  <a:srgbClr val="002060"/>
                </a:solidFill>
                <a:latin typeface="Tahoma" pitchFamily="34" charset="0"/>
                <a:ea typeface="Tahoma" pitchFamily="34" charset="0"/>
                <a:cs typeface="Tahoma" pitchFamily="34" charset="0"/>
              </a:rPr>
              <a:t>FROM</a:t>
            </a:r>
            <a:r>
              <a:rPr lang="en-US" dirty="0">
                <a:latin typeface="Tahoma" pitchFamily="34" charset="0"/>
                <a:ea typeface="Tahoma" pitchFamily="34" charset="0"/>
                <a:cs typeface="Tahoma" pitchFamily="34" charset="0"/>
              </a:rPr>
              <a:t> EMPLOYEE ,DEPARTMENT </a:t>
            </a:r>
            <a:r>
              <a:rPr lang="en-US" b="1" dirty="0">
                <a:solidFill>
                  <a:srgbClr val="002060"/>
                </a:solidFill>
                <a:latin typeface="Tahoma" pitchFamily="34" charset="0"/>
                <a:ea typeface="Tahoma" pitchFamily="34" charset="0"/>
                <a:cs typeface="Tahoma" pitchFamily="34" charset="0"/>
              </a:rPr>
              <a:t>WHERE </a:t>
            </a:r>
            <a:r>
              <a:rPr lang="en-US" dirty="0">
                <a:latin typeface="Tahoma" pitchFamily="34" charset="0"/>
                <a:ea typeface="Tahoma" pitchFamily="34" charset="0"/>
                <a:cs typeface="Tahoma" pitchFamily="34" charset="0"/>
              </a:rPr>
              <a:t>  </a:t>
            </a:r>
            <a:r>
              <a:rPr lang="en-US" b="1" dirty="0">
                <a:solidFill>
                  <a:srgbClr val="C00000"/>
                </a:solidFill>
                <a:latin typeface="Tahoma" pitchFamily="34" charset="0"/>
                <a:ea typeface="Tahoma" pitchFamily="34" charset="0"/>
                <a:cs typeface="Tahoma" pitchFamily="34" charset="0"/>
              </a:rPr>
              <a:t>DNO=DNUMBER</a:t>
            </a:r>
            <a:r>
              <a:rPr lang="en-US" dirty="0">
                <a:latin typeface="Tahoma" pitchFamily="34" charset="0"/>
                <a:ea typeface="Tahoma" pitchFamily="34" charset="0"/>
                <a:cs typeface="Tahoma" pitchFamily="34" charset="0"/>
              </a:rPr>
              <a:t>  and</a:t>
            </a:r>
          </a:p>
          <a:p>
            <a:pPr algn="just">
              <a:lnSpc>
                <a:spcPct val="150000"/>
              </a:lnSpc>
            </a:pPr>
            <a:r>
              <a:rPr lang="en-US" dirty="0">
                <a:latin typeface="Tahoma" pitchFamily="34" charset="0"/>
                <a:ea typeface="Tahoma" pitchFamily="34" charset="0"/>
                <a:cs typeface="Tahoma" pitchFamily="34" charset="0"/>
              </a:rPr>
              <a:t>DNAME='Research';</a:t>
            </a:r>
          </a:p>
        </p:txBody>
      </p:sp>
      <p:sp>
        <p:nvSpPr>
          <p:cNvPr id="5" name="Rectangle 4"/>
          <p:cNvSpPr/>
          <p:nvPr/>
        </p:nvSpPr>
        <p:spPr>
          <a:xfrm>
            <a:off x="152400" y="228600"/>
            <a:ext cx="7731925" cy="523220"/>
          </a:xfrm>
          <a:prstGeom prst="rect">
            <a:avLst/>
          </a:prstGeom>
        </p:spPr>
        <p:txBody>
          <a:bodyPr wrap="none">
            <a:spAutoFit/>
          </a:bodyPr>
          <a:lstStyle/>
          <a:p>
            <a:r>
              <a:rPr lang="en-US" sz="2800" b="1" dirty="0">
                <a:solidFill>
                  <a:srgbClr val="002060"/>
                </a:solidFill>
              </a:rPr>
              <a:t>COUNT, SUM, MAX, MIN, and AVG functions</a:t>
            </a:r>
            <a:r>
              <a:rPr lang="en-US" dirty="0"/>
              <a:t>.</a:t>
            </a:r>
          </a:p>
        </p:txBody>
      </p:sp>
    </p:spTree>
  </p:cSld>
  <p:clrMapOvr>
    <a:masterClrMapping/>
  </p:clrMapOvr>
  <p:transition>
    <p:cu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990600"/>
            <a:ext cx="8382000" cy="3831818"/>
          </a:xfrm>
          <a:prstGeom prst="rect">
            <a:avLst/>
          </a:prstGeom>
          <a:noFill/>
        </p:spPr>
        <p:txBody>
          <a:bodyPr wrap="square" rtlCol="0">
            <a:spAutoFit/>
          </a:bodyPr>
          <a:lstStyle/>
          <a:p>
            <a:pPr algn="just">
              <a:lnSpc>
                <a:spcPct val="150000"/>
              </a:lnSpc>
            </a:pPr>
            <a:r>
              <a:rPr lang="en-US" b="1" dirty="0">
                <a:latin typeface="Tahoma" pitchFamily="34" charset="0"/>
                <a:ea typeface="Tahoma" pitchFamily="34" charset="0"/>
                <a:cs typeface="Tahoma" pitchFamily="34" charset="0"/>
              </a:rPr>
              <a:t>QUERY 21 :  </a:t>
            </a:r>
            <a:r>
              <a:rPr lang="en-US" dirty="0">
                <a:latin typeface="Tahoma" pitchFamily="34" charset="0"/>
                <a:ea typeface="Tahoma" pitchFamily="34" charset="0"/>
                <a:cs typeface="Tahoma" pitchFamily="34" charset="0"/>
              </a:rPr>
              <a:t>Retrieve the total number of employees </a:t>
            </a:r>
          </a:p>
          <a:p>
            <a:pPr algn="just">
              <a:lnSpc>
                <a:spcPct val="150000"/>
              </a:lnSpc>
            </a:pPr>
            <a:endParaRPr lang="en-US" dirty="0">
              <a:latin typeface="Tahoma" pitchFamily="34" charset="0"/>
              <a:ea typeface="Tahoma" pitchFamily="34" charset="0"/>
              <a:cs typeface="Tahoma" pitchFamily="34" charset="0"/>
            </a:endParaRPr>
          </a:p>
          <a:p>
            <a:pPr algn="just">
              <a:lnSpc>
                <a:spcPct val="150000"/>
              </a:lnSpc>
            </a:pPr>
            <a:r>
              <a:rPr lang="en-US" b="1" dirty="0">
                <a:latin typeface="Tahoma" pitchFamily="34" charset="0"/>
                <a:ea typeface="Tahoma" pitchFamily="34" charset="0"/>
                <a:cs typeface="Tahoma" pitchFamily="34" charset="0"/>
              </a:rPr>
              <a:t>     Q21: </a:t>
            </a:r>
            <a:r>
              <a:rPr lang="en-US" b="1" dirty="0">
                <a:solidFill>
                  <a:srgbClr val="002060"/>
                </a:solidFill>
                <a:latin typeface="Tahoma" pitchFamily="34" charset="0"/>
                <a:ea typeface="Tahoma" pitchFamily="34" charset="0"/>
                <a:cs typeface="Tahoma" pitchFamily="34" charset="0"/>
              </a:rPr>
              <a:t>SELECT COUNT (*) FROM </a:t>
            </a:r>
            <a:r>
              <a:rPr lang="en-US" dirty="0">
                <a:latin typeface="Tahoma" pitchFamily="34" charset="0"/>
                <a:ea typeface="Tahoma" pitchFamily="34" charset="0"/>
                <a:cs typeface="Tahoma" pitchFamily="34" charset="0"/>
              </a:rPr>
              <a:t> EMPLOYEE;</a:t>
            </a:r>
          </a:p>
          <a:p>
            <a:pPr algn="just">
              <a:lnSpc>
                <a:spcPct val="150000"/>
              </a:lnSpc>
            </a:pPr>
            <a:endParaRPr lang="en-US" dirty="0">
              <a:latin typeface="Tahoma" pitchFamily="34" charset="0"/>
              <a:ea typeface="Tahoma" pitchFamily="34" charset="0"/>
              <a:cs typeface="Tahoma" pitchFamily="34" charset="0"/>
            </a:endParaRPr>
          </a:p>
          <a:p>
            <a:pPr algn="just">
              <a:lnSpc>
                <a:spcPct val="150000"/>
              </a:lnSpc>
            </a:pPr>
            <a:r>
              <a:rPr lang="en-US" b="1" dirty="0">
                <a:latin typeface="Tahoma" pitchFamily="34" charset="0"/>
                <a:ea typeface="Tahoma" pitchFamily="34" charset="0"/>
                <a:cs typeface="Tahoma" pitchFamily="34" charset="0"/>
              </a:rPr>
              <a:t>QUERY 22 :</a:t>
            </a:r>
            <a:r>
              <a:rPr lang="en-US" dirty="0">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Retrieve the total number of employees in the 'Research' department</a:t>
            </a:r>
          </a:p>
          <a:p>
            <a:pPr algn="just">
              <a:lnSpc>
                <a:spcPct val="150000"/>
              </a:lnSpc>
            </a:pPr>
            <a:endParaRPr lang="en-US" dirty="0">
              <a:latin typeface="Tahoma" pitchFamily="34" charset="0"/>
              <a:ea typeface="Tahoma" pitchFamily="34" charset="0"/>
              <a:cs typeface="Tahoma" pitchFamily="34" charset="0"/>
            </a:endParaRPr>
          </a:p>
          <a:p>
            <a:pPr algn="just">
              <a:lnSpc>
                <a:spcPct val="150000"/>
              </a:lnSpc>
            </a:pPr>
            <a:r>
              <a:rPr lang="en-US" b="1" dirty="0">
                <a:latin typeface="Tahoma" pitchFamily="34" charset="0"/>
                <a:ea typeface="Tahoma" pitchFamily="34" charset="0"/>
                <a:cs typeface="Tahoma" pitchFamily="34" charset="0"/>
              </a:rPr>
              <a:t>Q22:  </a:t>
            </a:r>
            <a:r>
              <a:rPr lang="en-US" b="1" dirty="0">
                <a:solidFill>
                  <a:srgbClr val="002060"/>
                </a:solidFill>
                <a:latin typeface="Tahoma" pitchFamily="34" charset="0"/>
                <a:ea typeface="Tahoma" pitchFamily="34" charset="0"/>
                <a:cs typeface="Tahoma" pitchFamily="34" charset="0"/>
              </a:rPr>
              <a:t>SELECT  COUNT </a:t>
            </a:r>
            <a:r>
              <a:rPr lang="en-US"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FROM</a:t>
            </a:r>
            <a:r>
              <a:rPr lang="en-US" dirty="0">
                <a:solidFill>
                  <a:srgbClr val="00B0F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  EMPLOYEE,DEPARTMENT</a:t>
            </a:r>
          </a:p>
          <a:p>
            <a:pPr algn="just">
              <a:lnSpc>
                <a:spcPct val="150000"/>
              </a:lnSpc>
            </a:pPr>
            <a:r>
              <a:rPr lang="en-US"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WHERE</a:t>
            </a:r>
            <a:r>
              <a:rPr lang="en-US" dirty="0">
                <a:solidFill>
                  <a:srgbClr val="00B0F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  </a:t>
            </a:r>
            <a:r>
              <a:rPr lang="en-US" b="1" dirty="0">
                <a:solidFill>
                  <a:srgbClr val="C00000"/>
                </a:solidFill>
                <a:latin typeface="Tahoma" pitchFamily="34" charset="0"/>
                <a:ea typeface="Tahoma" pitchFamily="34" charset="0"/>
                <a:cs typeface="Tahoma" pitchFamily="34" charset="0"/>
              </a:rPr>
              <a:t>DNO=DNUMBER  </a:t>
            </a:r>
            <a:r>
              <a:rPr lang="en-US"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AND   </a:t>
            </a:r>
            <a:r>
              <a:rPr lang="en-US" dirty="0">
                <a:latin typeface="Tahoma" pitchFamily="34" charset="0"/>
                <a:ea typeface="Tahoma" pitchFamily="34" charset="0"/>
                <a:cs typeface="Tahoma" pitchFamily="34" charset="0"/>
              </a:rPr>
              <a:t>DNAME='Research';</a:t>
            </a:r>
            <a:endParaRPr lang="en-US" sz="2000" dirty="0">
              <a:latin typeface="Tahoma" pitchFamily="34" charset="0"/>
              <a:ea typeface="Tahoma" pitchFamily="34" charset="0"/>
              <a:cs typeface="Tahoma" pitchFamily="34" charset="0"/>
            </a:endParaRPr>
          </a:p>
        </p:txBody>
      </p:sp>
      <p:sp>
        <p:nvSpPr>
          <p:cNvPr id="4" name="TextBox 3"/>
          <p:cNvSpPr txBox="1"/>
          <p:nvPr/>
        </p:nvSpPr>
        <p:spPr>
          <a:xfrm>
            <a:off x="304800" y="5257800"/>
            <a:ext cx="8458200" cy="873252"/>
          </a:xfrm>
          <a:prstGeom prst="rect">
            <a:avLst/>
          </a:prstGeom>
          <a:noFill/>
          <a:ln w="19050">
            <a:solidFill>
              <a:schemeClr val="accent1"/>
            </a:solidFill>
          </a:ln>
        </p:spPr>
        <p:txBody>
          <a:bodyPr wrap="square" rtlCol="0">
            <a:spAutoFit/>
          </a:bodyPr>
          <a:lstStyle/>
          <a:p>
            <a:pPr algn="just">
              <a:lnSpc>
                <a:spcPct val="150000"/>
              </a:lnSpc>
            </a:pPr>
            <a:r>
              <a:rPr lang="en-US" dirty="0">
                <a:latin typeface="Times New Roman"/>
              </a:rPr>
              <a:t>Here the asterisk (*) refers to the </a:t>
            </a:r>
            <a:r>
              <a:rPr lang="en-US" i="1" dirty="0">
                <a:latin typeface="Times New Roman"/>
              </a:rPr>
              <a:t>rows (tuples), so </a:t>
            </a:r>
            <a:r>
              <a:rPr lang="en-US" sz="1600" i="1" dirty="0">
                <a:latin typeface="Times New Roman"/>
              </a:rPr>
              <a:t>COUNT </a:t>
            </a:r>
            <a:r>
              <a:rPr lang="en-US" i="1" dirty="0">
                <a:latin typeface="Times New Roman"/>
              </a:rPr>
              <a:t>(*) returns the number of</a:t>
            </a:r>
          </a:p>
          <a:p>
            <a:pPr algn="just">
              <a:lnSpc>
                <a:spcPct val="150000"/>
              </a:lnSpc>
            </a:pPr>
            <a:r>
              <a:rPr lang="en-US" dirty="0">
                <a:latin typeface="Times New Roman"/>
              </a:rPr>
              <a:t>rows in the result of the query</a:t>
            </a:r>
            <a:endParaRPr lang="en-US" dirty="0"/>
          </a:p>
        </p:txBody>
      </p:sp>
      <p:sp>
        <p:nvSpPr>
          <p:cNvPr id="7" name="Rectangle 6"/>
          <p:cNvSpPr/>
          <p:nvPr/>
        </p:nvSpPr>
        <p:spPr>
          <a:xfrm>
            <a:off x="152400" y="228600"/>
            <a:ext cx="7731925" cy="523220"/>
          </a:xfrm>
          <a:prstGeom prst="rect">
            <a:avLst/>
          </a:prstGeom>
        </p:spPr>
        <p:txBody>
          <a:bodyPr wrap="none">
            <a:spAutoFit/>
          </a:bodyPr>
          <a:lstStyle/>
          <a:p>
            <a:r>
              <a:rPr lang="en-US" sz="2800" b="1" dirty="0">
                <a:solidFill>
                  <a:srgbClr val="002060"/>
                </a:solidFill>
              </a:rPr>
              <a:t>COUNT, SUM, MAX, MIN, and AVG functions</a:t>
            </a:r>
            <a:r>
              <a:rPr lang="en-US" dirty="0"/>
              <a:t>.</a:t>
            </a:r>
          </a:p>
        </p:txBody>
      </p:sp>
    </p:spTree>
  </p:cSld>
  <p:clrMapOvr>
    <a:masterClrMapping/>
  </p:clrMapOvr>
  <p:transition>
    <p:cut/>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1295400"/>
            <a:ext cx="8382000" cy="866904"/>
          </a:xfrm>
          <a:prstGeom prst="rect">
            <a:avLst/>
          </a:prstGeom>
          <a:noFill/>
        </p:spPr>
        <p:txBody>
          <a:bodyPr wrap="square" rtlCol="0">
            <a:spAutoFit/>
          </a:bodyPr>
          <a:lstStyle/>
          <a:p>
            <a:pPr marL="342900" indent="-342900">
              <a:lnSpc>
                <a:spcPct val="150000"/>
              </a:lnSpc>
              <a:buFont typeface="Arial" pitchFamily="34" charset="0"/>
              <a:buChar char="•"/>
            </a:pPr>
            <a:r>
              <a:rPr lang="en-US" dirty="0">
                <a:latin typeface="Tahoma" pitchFamily="34" charset="0"/>
                <a:ea typeface="Tahoma" pitchFamily="34" charset="0"/>
                <a:cs typeface="Tahoma" pitchFamily="34" charset="0"/>
              </a:rPr>
              <a:t>We may also use the </a:t>
            </a:r>
            <a:r>
              <a:rPr lang="en-US" b="1" dirty="0">
                <a:solidFill>
                  <a:srgbClr val="002060"/>
                </a:solidFill>
                <a:latin typeface="Tahoma" pitchFamily="34" charset="0"/>
                <a:ea typeface="Tahoma" pitchFamily="34" charset="0"/>
                <a:cs typeface="Tahoma" pitchFamily="34" charset="0"/>
              </a:rPr>
              <a:t>COUNT</a:t>
            </a:r>
            <a:r>
              <a:rPr lang="en-US" dirty="0">
                <a:latin typeface="Tahoma" pitchFamily="34" charset="0"/>
                <a:ea typeface="Tahoma" pitchFamily="34" charset="0"/>
                <a:cs typeface="Tahoma" pitchFamily="34" charset="0"/>
              </a:rPr>
              <a:t> function to count values in a column rather than tuples, as in the next example</a:t>
            </a:r>
            <a:r>
              <a:rPr lang="en-US" sz="1600" dirty="0">
                <a:latin typeface="Tahoma" pitchFamily="34" charset="0"/>
                <a:ea typeface="Tahoma" pitchFamily="34" charset="0"/>
                <a:cs typeface="Tahoma" pitchFamily="34" charset="0"/>
              </a:rPr>
              <a:t>.</a:t>
            </a:r>
            <a:endParaRPr lang="en-US" sz="2000" dirty="0">
              <a:latin typeface="Tahoma" pitchFamily="34" charset="0"/>
              <a:ea typeface="Tahoma" pitchFamily="34" charset="0"/>
              <a:cs typeface="Tahoma" pitchFamily="34" charset="0"/>
            </a:endParaRPr>
          </a:p>
        </p:txBody>
      </p:sp>
      <p:sp>
        <p:nvSpPr>
          <p:cNvPr id="4" name="TextBox 3"/>
          <p:cNvSpPr txBox="1"/>
          <p:nvPr/>
        </p:nvSpPr>
        <p:spPr>
          <a:xfrm>
            <a:off x="304800" y="4038600"/>
            <a:ext cx="8610600" cy="2169825"/>
          </a:xfrm>
          <a:prstGeom prst="rect">
            <a:avLst/>
          </a:prstGeom>
          <a:noFill/>
          <a:ln w="19050">
            <a:solidFill>
              <a:schemeClr val="accent1"/>
            </a:solidFill>
          </a:ln>
        </p:spPr>
        <p:txBody>
          <a:bodyPr wrap="square" rtlCol="0">
            <a:spAutoFit/>
          </a:bodyPr>
          <a:lstStyle/>
          <a:p>
            <a:pPr marL="342900" indent="-342900" algn="just">
              <a:lnSpc>
                <a:spcPct val="150000"/>
              </a:lnSpc>
              <a:buFont typeface="Arial" pitchFamily="34" charset="0"/>
              <a:buChar char="•"/>
            </a:pPr>
            <a:r>
              <a:rPr lang="en-US" dirty="0">
                <a:latin typeface="Times New Roman"/>
              </a:rPr>
              <a:t> If we write COUNT(SALARY) instead of COUNT(DISTINCT SALARY) in Q23, then    duplicate values will not be eliminated.</a:t>
            </a:r>
          </a:p>
          <a:p>
            <a:pPr marL="342900" indent="-342900" algn="just">
              <a:lnSpc>
                <a:spcPct val="150000"/>
              </a:lnSpc>
              <a:buFont typeface="Arial" pitchFamily="34" charset="0"/>
              <a:buChar char="•"/>
            </a:pPr>
            <a:r>
              <a:rPr lang="en-US" dirty="0">
                <a:latin typeface="Times New Roman"/>
              </a:rPr>
              <a:t>  </a:t>
            </a:r>
            <a:r>
              <a:rPr lang="en-US" dirty="0">
                <a:solidFill>
                  <a:srgbClr val="FF0000"/>
                </a:solidFill>
                <a:latin typeface="Times New Roman"/>
              </a:rPr>
              <a:t>Any tuples with </a:t>
            </a:r>
            <a:r>
              <a:rPr lang="en-US" sz="1600" dirty="0">
                <a:solidFill>
                  <a:srgbClr val="FF0000"/>
                </a:solidFill>
                <a:latin typeface="Times New Roman"/>
              </a:rPr>
              <a:t>NULL </a:t>
            </a:r>
            <a:r>
              <a:rPr lang="en-US" dirty="0">
                <a:solidFill>
                  <a:srgbClr val="FF0000"/>
                </a:solidFill>
                <a:latin typeface="Times New Roman"/>
              </a:rPr>
              <a:t>for </a:t>
            </a:r>
            <a:r>
              <a:rPr lang="en-US" sz="1600" dirty="0">
                <a:solidFill>
                  <a:srgbClr val="FF0000"/>
                </a:solidFill>
                <a:latin typeface="Times New Roman"/>
              </a:rPr>
              <a:t>SALARY </a:t>
            </a:r>
            <a:r>
              <a:rPr lang="en-US" dirty="0">
                <a:solidFill>
                  <a:srgbClr val="FF0000"/>
                </a:solidFill>
                <a:latin typeface="Times New Roman"/>
              </a:rPr>
              <a:t>will  not be counted</a:t>
            </a:r>
            <a:r>
              <a:rPr lang="en-US" dirty="0">
                <a:latin typeface="Times New Roman"/>
              </a:rPr>
              <a:t>.</a:t>
            </a:r>
          </a:p>
          <a:p>
            <a:pPr marL="342900" indent="-342900" algn="just">
              <a:lnSpc>
                <a:spcPct val="150000"/>
              </a:lnSpc>
              <a:buFont typeface="Arial" pitchFamily="34" charset="0"/>
              <a:buChar char="•"/>
            </a:pPr>
            <a:r>
              <a:rPr lang="en-US" dirty="0">
                <a:latin typeface="Times New Roman"/>
              </a:rPr>
              <a:t>In general, </a:t>
            </a:r>
            <a:r>
              <a:rPr lang="en-US" dirty="0">
                <a:solidFill>
                  <a:srgbClr val="FF0000"/>
                </a:solidFill>
                <a:latin typeface="Times New Roman"/>
              </a:rPr>
              <a:t>NULL values are discarded </a:t>
            </a:r>
            <a:r>
              <a:rPr lang="en-US" dirty="0">
                <a:latin typeface="Times New Roman"/>
              </a:rPr>
              <a:t>when aggregate functions are applied to a particular column (attribute).</a:t>
            </a:r>
          </a:p>
        </p:txBody>
      </p:sp>
      <p:sp>
        <p:nvSpPr>
          <p:cNvPr id="5" name="TextBox 4"/>
          <p:cNvSpPr txBox="1"/>
          <p:nvPr/>
        </p:nvSpPr>
        <p:spPr>
          <a:xfrm>
            <a:off x="457200" y="2514600"/>
            <a:ext cx="8382000" cy="923330"/>
          </a:xfrm>
          <a:prstGeom prst="rect">
            <a:avLst/>
          </a:prstGeom>
          <a:noFill/>
        </p:spPr>
        <p:txBody>
          <a:bodyPr wrap="square" rtlCol="0">
            <a:spAutoFit/>
          </a:bodyPr>
          <a:lstStyle/>
          <a:p>
            <a:pPr>
              <a:lnSpc>
                <a:spcPct val="150000"/>
              </a:lnSpc>
            </a:pPr>
            <a:r>
              <a:rPr lang="en-US" b="1" dirty="0">
                <a:latin typeface="Tahoma" pitchFamily="34" charset="0"/>
                <a:ea typeface="Tahoma" pitchFamily="34" charset="0"/>
                <a:cs typeface="Tahoma" pitchFamily="34" charset="0"/>
              </a:rPr>
              <a:t>QUERY 23:</a:t>
            </a:r>
            <a:r>
              <a:rPr lang="en-US" dirty="0">
                <a:latin typeface="Tahoma" pitchFamily="34" charset="0"/>
                <a:ea typeface="Tahoma" pitchFamily="34" charset="0"/>
                <a:cs typeface="Tahoma" pitchFamily="34" charset="0"/>
              </a:rPr>
              <a:t> Count the number of distinct salary values in the database.</a:t>
            </a:r>
          </a:p>
          <a:p>
            <a:pPr>
              <a:lnSpc>
                <a:spcPct val="150000"/>
              </a:lnSpc>
            </a:pPr>
            <a:r>
              <a:rPr lang="en-US" b="1" dirty="0">
                <a:latin typeface="Tahoma" pitchFamily="34" charset="0"/>
                <a:ea typeface="Tahoma" pitchFamily="34" charset="0"/>
                <a:cs typeface="Tahoma" pitchFamily="34" charset="0"/>
              </a:rPr>
              <a:t>            Q23:  </a:t>
            </a:r>
            <a:r>
              <a:rPr lang="en-US" b="1" dirty="0">
                <a:solidFill>
                  <a:srgbClr val="002060"/>
                </a:solidFill>
                <a:latin typeface="Tahoma" pitchFamily="34" charset="0"/>
                <a:ea typeface="Tahoma" pitchFamily="34" charset="0"/>
                <a:cs typeface="Tahoma" pitchFamily="34" charset="0"/>
              </a:rPr>
              <a:t>SELECT COUNT</a:t>
            </a:r>
            <a:r>
              <a:rPr lang="en-US" dirty="0">
                <a:solidFill>
                  <a:srgbClr val="00B0F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a:t>
            </a:r>
            <a:r>
              <a:rPr lang="en-US" b="1" dirty="0">
                <a:solidFill>
                  <a:srgbClr val="002060"/>
                </a:solidFill>
                <a:latin typeface="Tahoma" pitchFamily="34" charset="0"/>
                <a:ea typeface="Tahoma" pitchFamily="34" charset="0"/>
                <a:cs typeface="Tahoma" pitchFamily="34" charset="0"/>
              </a:rPr>
              <a:t>DISTINCT </a:t>
            </a:r>
            <a:r>
              <a:rPr lang="en-US" dirty="0">
                <a:latin typeface="Tahoma" pitchFamily="34" charset="0"/>
                <a:ea typeface="Tahoma" pitchFamily="34" charset="0"/>
                <a:cs typeface="Tahoma" pitchFamily="34" charset="0"/>
              </a:rPr>
              <a:t>SALARY)   </a:t>
            </a:r>
            <a:r>
              <a:rPr lang="en-US" b="1" dirty="0">
                <a:solidFill>
                  <a:srgbClr val="002060"/>
                </a:solidFill>
                <a:latin typeface="Tahoma" pitchFamily="34" charset="0"/>
                <a:ea typeface="Tahoma" pitchFamily="34" charset="0"/>
                <a:cs typeface="Tahoma" pitchFamily="34" charset="0"/>
              </a:rPr>
              <a:t>FROM</a:t>
            </a:r>
            <a:r>
              <a:rPr lang="en-US" dirty="0">
                <a:solidFill>
                  <a:srgbClr val="00B0F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EMPLOYEE;</a:t>
            </a:r>
          </a:p>
        </p:txBody>
      </p:sp>
      <p:sp>
        <p:nvSpPr>
          <p:cNvPr id="8" name="Rectangle 7"/>
          <p:cNvSpPr/>
          <p:nvPr/>
        </p:nvSpPr>
        <p:spPr>
          <a:xfrm>
            <a:off x="152400" y="228600"/>
            <a:ext cx="7731925" cy="523220"/>
          </a:xfrm>
          <a:prstGeom prst="rect">
            <a:avLst/>
          </a:prstGeom>
        </p:spPr>
        <p:txBody>
          <a:bodyPr wrap="none">
            <a:spAutoFit/>
          </a:bodyPr>
          <a:lstStyle/>
          <a:p>
            <a:r>
              <a:rPr lang="en-US" sz="2800" b="1" dirty="0">
                <a:solidFill>
                  <a:srgbClr val="002060"/>
                </a:solidFill>
              </a:rPr>
              <a:t>COUNT, SUM, MAX, MIN, and AVG functions</a:t>
            </a:r>
            <a:r>
              <a:rPr lang="en-US" dirty="0"/>
              <a:t>.</a:t>
            </a:r>
          </a:p>
        </p:txBody>
      </p:sp>
    </p:spTree>
  </p:cSld>
  <p:clrMapOvr>
    <a:masterClrMapping/>
  </p:clrMapOvr>
  <p:transition>
    <p:cut/>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990600"/>
            <a:ext cx="8382000" cy="2539157"/>
          </a:xfrm>
          <a:prstGeom prst="rect">
            <a:avLst/>
          </a:prstGeom>
          <a:noFill/>
        </p:spPr>
        <p:txBody>
          <a:bodyPr wrap="square" rtlCol="0">
            <a:spAutoFit/>
          </a:bodyPr>
          <a:lstStyle/>
          <a:p>
            <a:endParaRPr lang="en-US" dirty="0">
              <a:latin typeface="Tahoma" pitchFamily="34" charset="0"/>
              <a:ea typeface="Tahoma" pitchFamily="34" charset="0"/>
              <a:cs typeface="Tahoma" pitchFamily="34" charset="0"/>
            </a:endParaRPr>
          </a:p>
          <a:p>
            <a:pPr algn="just">
              <a:lnSpc>
                <a:spcPct val="150000"/>
              </a:lnSpc>
              <a:buFont typeface="Arial" pitchFamily="34" charset="0"/>
              <a:buChar char="•"/>
            </a:pPr>
            <a:r>
              <a:rPr lang="en-US" dirty="0">
                <a:latin typeface="Tahoma" pitchFamily="34" charset="0"/>
                <a:ea typeface="Tahoma" pitchFamily="34" charset="0"/>
                <a:cs typeface="Tahoma" pitchFamily="34" charset="0"/>
              </a:rPr>
              <a:t> We can specify a correlated nested query with an aggregate function, and then use  the nested query in the WHERE clause of an outer query.</a:t>
            </a:r>
          </a:p>
          <a:p>
            <a:pPr algn="just">
              <a:lnSpc>
                <a:spcPct val="150000"/>
              </a:lnSpc>
            </a:pPr>
            <a:endParaRPr lang="en-US" dirty="0">
              <a:latin typeface="Tahoma" pitchFamily="34" charset="0"/>
              <a:ea typeface="Tahoma" pitchFamily="34" charset="0"/>
              <a:cs typeface="Tahoma" pitchFamily="34" charset="0"/>
            </a:endParaRPr>
          </a:p>
          <a:p>
            <a:pPr>
              <a:lnSpc>
                <a:spcPct val="150000"/>
              </a:lnSpc>
            </a:pPr>
            <a:r>
              <a:rPr lang="en-US" sz="2000" b="1" dirty="0">
                <a:latin typeface="Tahoma" pitchFamily="34" charset="0"/>
                <a:ea typeface="Tahoma" pitchFamily="34" charset="0"/>
                <a:cs typeface="Tahoma" pitchFamily="34" charset="0"/>
              </a:rPr>
              <a:t>For example</a:t>
            </a:r>
            <a:r>
              <a:rPr lang="en-US" sz="2000" dirty="0">
                <a:latin typeface="Tahoma" pitchFamily="34" charset="0"/>
                <a:ea typeface="Tahoma" pitchFamily="34" charset="0"/>
                <a:cs typeface="Tahoma" pitchFamily="34" charset="0"/>
              </a:rPr>
              <a:t>, to retrieve the names of all employees who have two or more dependents we can write the following:</a:t>
            </a:r>
          </a:p>
        </p:txBody>
      </p:sp>
      <p:sp>
        <p:nvSpPr>
          <p:cNvPr id="7" name="TextBox 6"/>
          <p:cNvSpPr txBox="1"/>
          <p:nvPr/>
        </p:nvSpPr>
        <p:spPr>
          <a:xfrm>
            <a:off x="381000" y="3810000"/>
            <a:ext cx="8458200" cy="1938992"/>
          </a:xfrm>
          <a:prstGeom prst="rect">
            <a:avLst/>
          </a:prstGeom>
          <a:noFill/>
        </p:spPr>
        <p:txBody>
          <a:bodyPr wrap="square" rtlCol="0">
            <a:spAutoFit/>
          </a:bodyPr>
          <a:lstStyle/>
          <a:p>
            <a:pPr>
              <a:lnSpc>
                <a:spcPct val="150000"/>
              </a:lnSpc>
            </a:pPr>
            <a:r>
              <a:rPr lang="en-US" dirty="0">
                <a:solidFill>
                  <a:srgbClr val="00B0F0"/>
                </a:solidFill>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SELECT</a:t>
            </a:r>
            <a:r>
              <a:rPr lang="en-US" sz="2000" b="1" dirty="0">
                <a:solidFill>
                  <a:srgbClr val="00B0F0"/>
                </a:solidFill>
                <a:latin typeface="Tahoma" pitchFamily="34" charset="0"/>
                <a:ea typeface="Tahoma" pitchFamily="34" charset="0"/>
                <a:cs typeface="Tahoma" pitchFamily="34" charset="0"/>
              </a:rPr>
              <a:t> </a:t>
            </a:r>
            <a:r>
              <a:rPr lang="en-US" sz="2000" b="1" dirty="0">
                <a:latin typeface="Tahoma" pitchFamily="34" charset="0"/>
                <a:ea typeface="Tahoma" pitchFamily="34" charset="0"/>
                <a:cs typeface="Tahoma" pitchFamily="34" charset="0"/>
              </a:rPr>
              <a:t> LNAME, FNAME  </a:t>
            </a:r>
            <a:r>
              <a:rPr lang="en-US" sz="2000" b="1" dirty="0">
                <a:solidFill>
                  <a:srgbClr val="002060"/>
                </a:solidFill>
                <a:latin typeface="Tahoma" pitchFamily="34" charset="0"/>
                <a:ea typeface="Tahoma" pitchFamily="34" charset="0"/>
                <a:cs typeface="Tahoma" pitchFamily="34" charset="0"/>
              </a:rPr>
              <a:t>FROM</a:t>
            </a:r>
            <a:r>
              <a:rPr lang="en-US" sz="2000" b="1" dirty="0">
                <a:solidFill>
                  <a:srgbClr val="00B0F0"/>
                </a:solidFill>
                <a:latin typeface="Tahoma" pitchFamily="34" charset="0"/>
                <a:ea typeface="Tahoma" pitchFamily="34" charset="0"/>
                <a:cs typeface="Tahoma" pitchFamily="34" charset="0"/>
              </a:rPr>
              <a:t> </a:t>
            </a:r>
            <a:r>
              <a:rPr lang="en-US" sz="2000" b="1" dirty="0">
                <a:latin typeface="Tahoma" pitchFamily="34" charset="0"/>
                <a:ea typeface="Tahoma" pitchFamily="34" charset="0"/>
                <a:cs typeface="Tahoma" pitchFamily="34" charset="0"/>
              </a:rPr>
              <a:t>EMPLOYEE</a:t>
            </a:r>
          </a:p>
          <a:p>
            <a:pPr>
              <a:lnSpc>
                <a:spcPct val="150000"/>
              </a:lnSpc>
            </a:pPr>
            <a:r>
              <a:rPr lang="en-US" sz="2000" b="1" dirty="0">
                <a:solidFill>
                  <a:srgbClr val="002060"/>
                </a:solidFill>
                <a:latin typeface="Tahoma" pitchFamily="34" charset="0"/>
                <a:ea typeface="Tahoma" pitchFamily="34" charset="0"/>
                <a:cs typeface="Tahoma" pitchFamily="34" charset="0"/>
              </a:rPr>
              <a:t>       WHERE   </a:t>
            </a:r>
            <a:r>
              <a:rPr lang="en-US" sz="2000" b="1" dirty="0">
                <a:latin typeface="Tahoma" pitchFamily="34" charset="0"/>
                <a:ea typeface="Tahoma" pitchFamily="34" charset="0"/>
                <a:cs typeface="Tahoma" pitchFamily="34" charset="0"/>
              </a:rPr>
              <a:t>(</a:t>
            </a:r>
            <a:r>
              <a:rPr lang="en-US" sz="2000" b="1" dirty="0">
                <a:solidFill>
                  <a:srgbClr val="002060"/>
                </a:solidFill>
                <a:latin typeface="Tahoma" pitchFamily="34" charset="0"/>
                <a:ea typeface="Tahoma" pitchFamily="34" charset="0"/>
                <a:cs typeface="Tahoma" pitchFamily="34" charset="0"/>
              </a:rPr>
              <a:t>SELECT COUNT (*)</a:t>
            </a:r>
          </a:p>
          <a:p>
            <a:pPr>
              <a:lnSpc>
                <a:spcPct val="150000"/>
              </a:lnSpc>
            </a:pPr>
            <a:r>
              <a:rPr lang="en-US" sz="2000" b="1" dirty="0">
                <a:latin typeface="Tahoma" pitchFamily="34" charset="0"/>
                <a:ea typeface="Tahoma" pitchFamily="34" charset="0"/>
                <a:cs typeface="Tahoma" pitchFamily="34" charset="0"/>
              </a:rPr>
              <a:t>	          </a:t>
            </a:r>
            <a:r>
              <a:rPr lang="en-US" sz="2000" b="1" dirty="0">
                <a:solidFill>
                  <a:srgbClr val="00B0F0"/>
                </a:solidFill>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FROM</a:t>
            </a:r>
            <a:r>
              <a:rPr lang="en-US" sz="2000" b="1" dirty="0">
                <a:solidFill>
                  <a:srgbClr val="00B0F0"/>
                </a:solidFill>
                <a:latin typeface="Tahoma" pitchFamily="34" charset="0"/>
                <a:ea typeface="Tahoma" pitchFamily="34" charset="0"/>
                <a:cs typeface="Tahoma" pitchFamily="34" charset="0"/>
              </a:rPr>
              <a:t> </a:t>
            </a:r>
            <a:r>
              <a:rPr lang="en-US" sz="2000" b="1" dirty="0">
                <a:latin typeface="Tahoma" pitchFamily="34" charset="0"/>
                <a:ea typeface="Tahoma" pitchFamily="34" charset="0"/>
                <a:cs typeface="Tahoma" pitchFamily="34" charset="0"/>
              </a:rPr>
              <a:t>DEPENDENT</a:t>
            </a:r>
          </a:p>
          <a:p>
            <a:pPr>
              <a:lnSpc>
                <a:spcPct val="150000"/>
              </a:lnSpc>
            </a:pPr>
            <a:r>
              <a:rPr lang="en-US" sz="2000" b="1"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WHERE</a:t>
            </a:r>
            <a:r>
              <a:rPr lang="en-US" sz="2000" b="1" dirty="0">
                <a:latin typeface="Tahoma" pitchFamily="34" charset="0"/>
                <a:ea typeface="Tahoma" pitchFamily="34" charset="0"/>
                <a:cs typeface="Tahoma" pitchFamily="34" charset="0"/>
              </a:rPr>
              <a:t> </a:t>
            </a:r>
            <a:r>
              <a:rPr lang="en-US" sz="2000" b="1" dirty="0">
                <a:solidFill>
                  <a:srgbClr val="C00000"/>
                </a:solidFill>
                <a:latin typeface="Tahoma" pitchFamily="34" charset="0"/>
                <a:ea typeface="Tahoma" pitchFamily="34" charset="0"/>
                <a:cs typeface="Tahoma" pitchFamily="34" charset="0"/>
              </a:rPr>
              <a:t>SSN=ESSN</a:t>
            </a:r>
            <a:r>
              <a:rPr lang="en-US" sz="2000" b="1" dirty="0">
                <a:latin typeface="Tahoma" pitchFamily="34" charset="0"/>
                <a:ea typeface="Tahoma" pitchFamily="34" charset="0"/>
                <a:cs typeface="Tahoma" pitchFamily="34" charset="0"/>
              </a:rPr>
              <a:t>)   &gt;= 2</a:t>
            </a:r>
          </a:p>
        </p:txBody>
      </p:sp>
      <p:sp>
        <p:nvSpPr>
          <p:cNvPr id="8" name="Rectangle 7"/>
          <p:cNvSpPr/>
          <p:nvPr/>
        </p:nvSpPr>
        <p:spPr>
          <a:xfrm>
            <a:off x="152400" y="228600"/>
            <a:ext cx="7731925" cy="523220"/>
          </a:xfrm>
          <a:prstGeom prst="rect">
            <a:avLst/>
          </a:prstGeom>
        </p:spPr>
        <p:txBody>
          <a:bodyPr wrap="none">
            <a:spAutoFit/>
          </a:bodyPr>
          <a:lstStyle/>
          <a:p>
            <a:r>
              <a:rPr lang="en-US" sz="2800" b="1" dirty="0">
                <a:solidFill>
                  <a:srgbClr val="002060"/>
                </a:solidFill>
              </a:rPr>
              <a:t>COUNT, SUM, MAX, MIN, and AVG functions</a:t>
            </a:r>
            <a:r>
              <a:rPr lang="en-US" dirty="0"/>
              <a:t>.</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04800" y="2133600"/>
            <a:ext cx="8229600" cy="2362200"/>
          </a:xfrm>
          <a:noFill/>
        </p:spPr>
        <p:txBody>
          <a:bodyPr lIns="90488" tIns="44450" rIns="90488" bIns="44450"/>
          <a:lstStyle/>
          <a:p>
            <a:pPr lvl="0">
              <a:lnSpc>
                <a:spcPct val="150000"/>
              </a:lnSpc>
            </a:pPr>
            <a:r>
              <a:rPr lang="en-US" sz="5400" b="1" dirty="0">
                <a:latin typeface="Tahoma" pitchFamily="34" charset="0"/>
                <a:ea typeface="Tahoma" pitchFamily="34" charset="0"/>
                <a:cs typeface="Tahoma" pitchFamily="34" charset="0"/>
              </a:rPr>
              <a:t>The </a:t>
            </a:r>
            <a:r>
              <a:rPr lang="en-US" sz="5400" b="1" dirty="0">
                <a:solidFill>
                  <a:srgbClr val="002060"/>
                </a:solidFill>
                <a:latin typeface="Tahoma" pitchFamily="34" charset="0"/>
                <a:ea typeface="Tahoma" pitchFamily="34" charset="0"/>
                <a:cs typeface="Tahoma" pitchFamily="34" charset="0"/>
              </a:rPr>
              <a:t>GROUP BY </a:t>
            </a:r>
            <a:r>
              <a:rPr lang="en-US" sz="5400" b="1" dirty="0">
                <a:latin typeface="Tahoma" pitchFamily="34" charset="0"/>
                <a:ea typeface="Tahoma" pitchFamily="34" charset="0"/>
                <a:cs typeface="Tahoma" pitchFamily="34" charset="0"/>
              </a:rPr>
              <a:t>and </a:t>
            </a:r>
            <a:r>
              <a:rPr lang="en-US" sz="5400" b="1" dirty="0">
                <a:solidFill>
                  <a:srgbClr val="002060"/>
                </a:solidFill>
                <a:latin typeface="Tahoma" pitchFamily="34" charset="0"/>
                <a:ea typeface="Tahoma" pitchFamily="34" charset="0"/>
                <a:cs typeface="Tahoma" pitchFamily="34" charset="0"/>
              </a:rPr>
              <a:t>HAVING</a:t>
            </a:r>
            <a:r>
              <a:rPr lang="en-US" sz="5400" b="1" dirty="0">
                <a:latin typeface="Tahoma" pitchFamily="34" charset="0"/>
                <a:ea typeface="Tahoma" pitchFamily="34" charset="0"/>
                <a:cs typeface="Tahoma" pitchFamily="34" charset="0"/>
              </a:rPr>
              <a:t> Clauses</a:t>
            </a:r>
          </a:p>
        </p:txBody>
      </p:sp>
    </p:spTree>
  </p:cSld>
  <p:clrMapOvr>
    <a:masterClrMapping/>
  </p:clrMapOvr>
  <p:transition>
    <p:cut/>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a:solidFill>
                  <a:srgbClr val="002060"/>
                </a:solidFill>
                <a:latin typeface="Tahoma" pitchFamily="34" charset="0"/>
                <a:ea typeface="Tahoma" pitchFamily="34" charset="0"/>
                <a:cs typeface="Tahoma" pitchFamily="34" charset="0"/>
              </a:rPr>
              <a:t>The GROUP BY Clause</a:t>
            </a:r>
          </a:p>
        </p:txBody>
      </p:sp>
      <p:sp>
        <p:nvSpPr>
          <p:cNvPr id="6" name="TextBox 5"/>
          <p:cNvSpPr txBox="1"/>
          <p:nvPr/>
        </p:nvSpPr>
        <p:spPr>
          <a:xfrm>
            <a:off x="304800" y="1143000"/>
            <a:ext cx="8382000" cy="3970318"/>
          </a:xfrm>
          <a:prstGeom prst="rect">
            <a:avLst/>
          </a:prstGeom>
          <a:noFill/>
        </p:spPr>
        <p:txBody>
          <a:bodyPr wrap="square" rtlCol="0">
            <a:spAutoFit/>
          </a:bodyPr>
          <a:lstStyle/>
          <a:p>
            <a:pPr marL="342900" indent="-342900" algn="just">
              <a:lnSpc>
                <a:spcPct val="150000"/>
              </a:lnSpc>
              <a:buFont typeface="Arial" pitchFamily="34" charset="0"/>
              <a:buChar char="•"/>
            </a:pPr>
            <a:r>
              <a:rPr lang="en-US" sz="2400" dirty="0">
                <a:latin typeface="Tahoma" pitchFamily="34" charset="0"/>
                <a:ea typeface="Tahoma" pitchFamily="34" charset="0"/>
                <a:cs typeface="Tahoma" pitchFamily="34" charset="0"/>
              </a:rPr>
              <a:t>The </a:t>
            </a:r>
            <a:r>
              <a:rPr lang="en-US" sz="2400" b="1" dirty="0">
                <a:solidFill>
                  <a:srgbClr val="002060"/>
                </a:solidFill>
                <a:latin typeface="Tahoma" pitchFamily="34" charset="0"/>
                <a:ea typeface="Tahoma" pitchFamily="34" charset="0"/>
                <a:cs typeface="Tahoma" pitchFamily="34" charset="0"/>
              </a:rPr>
              <a:t>GROUP BY </a:t>
            </a:r>
            <a:r>
              <a:rPr lang="en-US" sz="2400" dirty="0">
                <a:latin typeface="Tahoma" pitchFamily="34" charset="0"/>
                <a:ea typeface="Tahoma" pitchFamily="34" charset="0"/>
                <a:cs typeface="Tahoma" pitchFamily="34" charset="0"/>
              </a:rPr>
              <a:t>clause specifies the grouping attributes</a:t>
            </a:r>
          </a:p>
          <a:p>
            <a:pPr marL="342900" indent="-342900" algn="just">
              <a:lnSpc>
                <a:spcPct val="150000"/>
              </a:lnSpc>
            </a:pPr>
            <a:endParaRPr lang="en-US" sz="2400" dirty="0">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sz="2400" dirty="0">
                <a:latin typeface="Tahoma" pitchFamily="34" charset="0"/>
                <a:ea typeface="Tahoma" pitchFamily="34" charset="0"/>
                <a:cs typeface="Tahoma" pitchFamily="34" charset="0"/>
              </a:rPr>
              <a:t>Grouping attributes  should also appear in the SELECT clause, </a:t>
            </a:r>
          </a:p>
          <a:p>
            <a:pPr marL="342900" indent="-342900" algn="just">
              <a:lnSpc>
                <a:spcPct val="150000"/>
              </a:lnSpc>
              <a:buFont typeface="Arial" pitchFamily="34" charset="0"/>
              <a:buChar char="•"/>
            </a:pPr>
            <a:r>
              <a:rPr lang="en-US" sz="2400" dirty="0">
                <a:latin typeface="Tahoma" pitchFamily="34" charset="0"/>
                <a:ea typeface="Tahoma" pitchFamily="34" charset="0"/>
                <a:cs typeface="Tahoma" pitchFamily="34" charset="0"/>
              </a:rPr>
              <a:t>The resulting relation contains value resulting from applying each aggregate function to a group of tuples appears along with the value of the grouping attributes.</a:t>
            </a:r>
            <a:endParaRPr lang="en-US" sz="2800"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a:solidFill>
                  <a:srgbClr val="002060"/>
                </a:solidFill>
                <a:latin typeface="Tahoma" pitchFamily="34" charset="0"/>
                <a:ea typeface="Tahoma" pitchFamily="34" charset="0"/>
                <a:cs typeface="Tahoma" pitchFamily="34" charset="0"/>
              </a:rPr>
              <a:t>The GROUP BY Clause</a:t>
            </a:r>
          </a:p>
        </p:txBody>
      </p:sp>
      <p:sp>
        <p:nvSpPr>
          <p:cNvPr id="7" name="TextBox 6"/>
          <p:cNvSpPr txBox="1"/>
          <p:nvPr/>
        </p:nvSpPr>
        <p:spPr>
          <a:xfrm>
            <a:off x="304800" y="1219200"/>
            <a:ext cx="8458200" cy="2539157"/>
          </a:xfrm>
          <a:prstGeom prst="rect">
            <a:avLst/>
          </a:prstGeom>
          <a:noFill/>
        </p:spPr>
        <p:txBody>
          <a:bodyPr wrap="square" rtlCol="0">
            <a:spAutoFit/>
          </a:bodyPr>
          <a:lstStyle/>
          <a:p>
            <a:pPr>
              <a:lnSpc>
                <a:spcPct val="200000"/>
              </a:lnSpc>
            </a:pPr>
            <a:r>
              <a:rPr lang="en-US" b="1" dirty="0">
                <a:latin typeface="Tahoma" pitchFamily="34" charset="0"/>
                <a:ea typeface="Tahoma" pitchFamily="34" charset="0"/>
                <a:cs typeface="Tahoma" pitchFamily="34" charset="0"/>
              </a:rPr>
              <a:t>QUERY 24 : </a:t>
            </a:r>
            <a:r>
              <a:rPr lang="en-US" dirty="0">
                <a:latin typeface="Tahoma" pitchFamily="34" charset="0"/>
                <a:ea typeface="Tahoma" pitchFamily="34" charset="0"/>
                <a:cs typeface="Tahoma" pitchFamily="34" charset="0"/>
              </a:rPr>
              <a:t>For each department, retrieve the department number, the number of employees in the department, and their average salary.</a:t>
            </a:r>
          </a:p>
          <a:p>
            <a:pPr>
              <a:lnSpc>
                <a:spcPct val="150000"/>
              </a:lnSpc>
            </a:pPr>
            <a:endParaRPr lang="en-US" b="1" dirty="0">
              <a:latin typeface="Tahoma" pitchFamily="34" charset="0"/>
              <a:ea typeface="Tahoma" pitchFamily="34" charset="0"/>
              <a:cs typeface="Tahoma" pitchFamily="34" charset="0"/>
            </a:endParaRPr>
          </a:p>
          <a:p>
            <a:pPr>
              <a:lnSpc>
                <a:spcPct val="150000"/>
              </a:lnSpc>
            </a:pPr>
            <a:r>
              <a:rPr lang="en-US" b="1" dirty="0">
                <a:latin typeface="Tahoma" pitchFamily="34" charset="0"/>
                <a:ea typeface="Tahoma" pitchFamily="34" charset="0"/>
                <a:cs typeface="Tahoma" pitchFamily="34" charset="0"/>
              </a:rPr>
              <a:t>Q24:   </a:t>
            </a:r>
            <a:r>
              <a:rPr lang="en-US" b="1" dirty="0">
                <a:solidFill>
                  <a:srgbClr val="00B0F0"/>
                </a:solidFill>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SELECT </a:t>
            </a:r>
            <a:r>
              <a:rPr lang="en-US" sz="2000" b="1" dirty="0">
                <a:latin typeface="Tahoma" pitchFamily="34" charset="0"/>
                <a:ea typeface="Tahoma" pitchFamily="34" charset="0"/>
                <a:cs typeface="Tahoma" pitchFamily="34" charset="0"/>
              </a:rPr>
              <a:t>DNO, </a:t>
            </a:r>
            <a:r>
              <a:rPr lang="en-US" sz="2000" b="1" dirty="0">
                <a:solidFill>
                  <a:srgbClr val="002060"/>
                </a:solidFill>
                <a:latin typeface="Tahoma" pitchFamily="34" charset="0"/>
                <a:ea typeface="Tahoma" pitchFamily="34" charset="0"/>
                <a:cs typeface="Tahoma" pitchFamily="34" charset="0"/>
              </a:rPr>
              <a:t>COUNT (*), AVG</a:t>
            </a:r>
            <a:r>
              <a:rPr lang="en-US" sz="2000" b="1" dirty="0">
                <a:solidFill>
                  <a:srgbClr val="00B0F0"/>
                </a:solidFill>
                <a:latin typeface="Tahoma" pitchFamily="34" charset="0"/>
                <a:ea typeface="Tahoma" pitchFamily="34" charset="0"/>
                <a:cs typeface="Tahoma" pitchFamily="34" charset="0"/>
              </a:rPr>
              <a:t> </a:t>
            </a:r>
            <a:r>
              <a:rPr lang="en-US" sz="2000" b="1" dirty="0">
                <a:latin typeface="Tahoma" pitchFamily="34" charset="0"/>
                <a:ea typeface="Tahoma" pitchFamily="34" charset="0"/>
                <a:cs typeface="Tahoma" pitchFamily="34" charset="0"/>
              </a:rPr>
              <a:t>(SALARY) </a:t>
            </a:r>
          </a:p>
          <a:p>
            <a:pPr>
              <a:lnSpc>
                <a:spcPct val="150000"/>
              </a:lnSpc>
            </a:pPr>
            <a:r>
              <a:rPr lang="en-US" sz="2000" b="1"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FROM</a:t>
            </a:r>
            <a:r>
              <a:rPr lang="en-US" sz="2000" b="1" dirty="0">
                <a:solidFill>
                  <a:srgbClr val="00B0F0"/>
                </a:solidFill>
                <a:latin typeface="Tahoma" pitchFamily="34" charset="0"/>
                <a:ea typeface="Tahoma" pitchFamily="34" charset="0"/>
                <a:cs typeface="Tahoma" pitchFamily="34" charset="0"/>
              </a:rPr>
              <a:t> </a:t>
            </a:r>
            <a:r>
              <a:rPr lang="en-US" sz="2000" b="1" dirty="0">
                <a:latin typeface="Tahoma" pitchFamily="34" charset="0"/>
                <a:ea typeface="Tahoma" pitchFamily="34" charset="0"/>
                <a:cs typeface="Tahoma" pitchFamily="34" charset="0"/>
              </a:rPr>
              <a:t>EMPLOYEE  </a:t>
            </a:r>
            <a:r>
              <a:rPr lang="en-US" sz="2000" b="1" dirty="0">
                <a:solidFill>
                  <a:srgbClr val="002060"/>
                </a:solidFill>
                <a:latin typeface="Tahoma" pitchFamily="34" charset="0"/>
                <a:ea typeface="Tahoma" pitchFamily="34" charset="0"/>
                <a:cs typeface="Tahoma" pitchFamily="34" charset="0"/>
              </a:rPr>
              <a:t>GROUP BY </a:t>
            </a:r>
            <a:r>
              <a:rPr lang="en-US" sz="2000" b="1" dirty="0">
                <a:latin typeface="Tahoma" pitchFamily="34" charset="0"/>
                <a:ea typeface="Tahoma" pitchFamily="34" charset="0"/>
                <a:cs typeface="Tahoma" pitchFamily="34" charset="0"/>
              </a:rPr>
              <a:t>DNO;</a:t>
            </a:r>
          </a:p>
        </p:txBody>
      </p:sp>
      <p:sp>
        <p:nvSpPr>
          <p:cNvPr id="5" name="TextBox 4"/>
          <p:cNvSpPr txBox="1"/>
          <p:nvPr/>
        </p:nvSpPr>
        <p:spPr>
          <a:xfrm>
            <a:off x="228600" y="3962400"/>
            <a:ext cx="8305800" cy="2308324"/>
          </a:xfrm>
          <a:prstGeom prst="rect">
            <a:avLst/>
          </a:prstGeom>
          <a:noFill/>
          <a:ln w="34925">
            <a:solidFill>
              <a:schemeClr val="accent1"/>
            </a:solidFill>
          </a:ln>
        </p:spPr>
        <p:txBody>
          <a:bodyPr wrap="square" rtlCol="0">
            <a:spAutoFit/>
          </a:bodyPr>
          <a:lstStyle/>
          <a:p>
            <a:pPr marL="342900" indent="-342900" algn="just">
              <a:lnSpc>
                <a:spcPct val="150000"/>
              </a:lnSpc>
              <a:buFont typeface="Arial" pitchFamily="34" charset="0"/>
              <a:buChar char="•"/>
            </a:pPr>
            <a:r>
              <a:rPr lang="en-US" dirty="0">
                <a:latin typeface="Times New Roman"/>
              </a:rPr>
              <a:t> </a:t>
            </a:r>
            <a:r>
              <a:rPr lang="en-US" sz="2400" dirty="0">
                <a:latin typeface="Times New Roman"/>
              </a:rPr>
              <a:t>In Q24, the </a:t>
            </a:r>
            <a:r>
              <a:rPr lang="en-US" sz="1200" dirty="0"/>
              <a:t>EMPLOYEE </a:t>
            </a:r>
            <a:r>
              <a:rPr lang="en-US" sz="2400" dirty="0">
                <a:latin typeface="Times New Roman"/>
              </a:rPr>
              <a:t>tuples are partitioned into groups-each group having the same value for the grouping attribute </a:t>
            </a:r>
            <a:r>
              <a:rPr lang="en-US" sz="1600" dirty="0"/>
              <a:t>DNO.</a:t>
            </a:r>
          </a:p>
          <a:p>
            <a:pPr marL="342900" indent="-342900" algn="just">
              <a:lnSpc>
                <a:spcPct val="150000"/>
              </a:lnSpc>
              <a:buFont typeface="Arial" pitchFamily="34" charset="0"/>
              <a:buChar char="•"/>
            </a:pPr>
            <a:r>
              <a:rPr lang="en-US" sz="2400" dirty="0">
                <a:latin typeface="Times New Roman"/>
              </a:rPr>
              <a:t> The </a:t>
            </a:r>
            <a:r>
              <a:rPr lang="en-US" sz="2000" dirty="0">
                <a:latin typeface="Times New Roman"/>
              </a:rPr>
              <a:t>COUNT </a:t>
            </a:r>
            <a:r>
              <a:rPr lang="en-US" sz="2400" dirty="0">
                <a:latin typeface="Times New Roman"/>
              </a:rPr>
              <a:t>and </a:t>
            </a:r>
            <a:r>
              <a:rPr lang="en-US" sz="2000" dirty="0">
                <a:latin typeface="Times New Roman"/>
              </a:rPr>
              <a:t>AVG </a:t>
            </a:r>
            <a:r>
              <a:rPr lang="en-US" sz="2400" dirty="0">
                <a:latin typeface="Times New Roman"/>
              </a:rPr>
              <a:t>functions are applied to each such group of tuples.</a:t>
            </a:r>
            <a:endParaRPr lang="en-US" sz="2400" dirty="0"/>
          </a:p>
        </p:txBody>
      </p:sp>
    </p:spTree>
  </p:cSld>
  <p:clrMapOvr>
    <a:masterClrMapping/>
  </p:clrMapOvr>
  <p:transition>
    <p:cut/>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04800" y="762000"/>
            <a:ext cx="8458200" cy="646331"/>
          </a:xfrm>
          <a:prstGeom prst="rect">
            <a:avLst/>
          </a:prstGeom>
          <a:noFill/>
        </p:spPr>
        <p:txBody>
          <a:bodyPr wrap="square" rtlCol="0">
            <a:spAutoFit/>
          </a:bodyPr>
          <a:lstStyle/>
          <a:p>
            <a:pPr>
              <a:lnSpc>
                <a:spcPct val="200000"/>
              </a:lnSpc>
            </a:pPr>
            <a:r>
              <a:rPr lang="en-US" b="1" dirty="0">
                <a:latin typeface="Tahoma" pitchFamily="34" charset="0"/>
                <a:ea typeface="Tahoma" pitchFamily="34" charset="0"/>
                <a:cs typeface="Tahoma" pitchFamily="34" charset="0"/>
              </a:rPr>
              <a:t>QUERY 24 :</a:t>
            </a:r>
            <a:endParaRPr lang="en-US" dirty="0">
              <a:latin typeface="Tahoma" pitchFamily="34" charset="0"/>
              <a:ea typeface="Tahoma" pitchFamily="34" charset="0"/>
              <a:cs typeface="Tahoma" pitchFamily="34" charset="0"/>
            </a:endParaRPr>
          </a:p>
        </p:txBody>
      </p:sp>
      <p:pic>
        <p:nvPicPr>
          <p:cNvPr id="3074" name="Picture 2"/>
          <p:cNvPicPr>
            <a:picLocks noChangeAspect="1" noChangeArrowheads="1"/>
          </p:cNvPicPr>
          <p:nvPr/>
        </p:nvPicPr>
        <p:blipFill>
          <a:blip r:embed="rId3" cstate="print">
            <a:duotone>
              <a:prstClr val="black"/>
              <a:schemeClr val="accent3">
                <a:tint val="45000"/>
                <a:satMod val="400000"/>
              </a:schemeClr>
            </a:duotone>
          </a:blip>
          <a:srcRect/>
          <a:stretch>
            <a:fillRect/>
          </a:stretch>
        </p:blipFill>
        <p:spPr bwMode="auto">
          <a:xfrm>
            <a:off x="228600" y="1676400"/>
            <a:ext cx="8610600" cy="2667000"/>
          </a:xfrm>
          <a:prstGeom prst="rect">
            <a:avLst/>
          </a:prstGeom>
          <a:solidFill>
            <a:srgbClr val="C00000"/>
          </a:solidFill>
          <a:ln w="9525">
            <a:solidFill>
              <a:schemeClr val="accent1"/>
            </a:solidFill>
            <a:miter lim="800000"/>
            <a:headEnd/>
            <a:tailEnd/>
          </a:ln>
          <a:effectLst/>
        </p:spPr>
      </p:pic>
      <p:sp>
        <p:nvSpPr>
          <p:cNvPr id="8" name="TextBox 7"/>
          <p:cNvSpPr txBox="1"/>
          <p:nvPr/>
        </p:nvSpPr>
        <p:spPr>
          <a:xfrm>
            <a:off x="1828800" y="990600"/>
            <a:ext cx="6781800" cy="369332"/>
          </a:xfrm>
          <a:prstGeom prst="rect">
            <a:avLst/>
          </a:prstGeom>
          <a:noFill/>
        </p:spPr>
        <p:txBody>
          <a:bodyPr wrap="square" rtlCol="0">
            <a:spAutoFit/>
          </a:bodyPr>
          <a:lstStyle/>
          <a:p>
            <a:r>
              <a:rPr lang="en-US" dirty="0"/>
              <a:t>Grouping EMPLOYEE tuples by the value of  DNO</a:t>
            </a:r>
          </a:p>
        </p:txBody>
      </p:sp>
      <p:sp>
        <p:nvSpPr>
          <p:cNvPr id="9"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a:solidFill>
                  <a:srgbClr val="002060"/>
                </a:solidFill>
                <a:latin typeface="Tahoma" pitchFamily="34" charset="0"/>
                <a:ea typeface="Tahoma" pitchFamily="34" charset="0"/>
                <a:cs typeface="Tahoma" pitchFamily="34" charset="0"/>
              </a:rPr>
              <a:t>The GROUP BY Clauses</a:t>
            </a:r>
          </a:p>
        </p:txBody>
      </p:sp>
      <p:sp>
        <p:nvSpPr>
          <p:cNvPr id="10" name="TextBox 9"/>
          <p:cNvSpPr txBox="1"/>
          <p:nvPr/>
        </p:nvSpPr>
        <p:spPr>
          <a:xfrm>
            <a:off x="304800" y="5181600"/>
            <a:ext cx="8382000" cy="958917"/>
          </a:xfrm>
          <a:prstGeom prst="rect">
            <a:avLst/>
          </a:prstGeom>
          <a:noFill/>
          <a:ln w="19050">
            <a:solidFill>
              <a:schemeClr val="accent1"/>
            </a:solidFill>
          </a:ln>
        </p:spPr>
        <p:txBody>
          <a:bodyPr wrap="square" rtlCol="0">
            <a:spAutoFit/>
          </a:bodyPr>
          <a:lstStyle/>
          <a:p>
            <a:pPr marL="342900" indent="-342900">
              <a:lnSpc>
                <a:spcPct val="150000"/>
              </a:lnSpc>
              <a:buFont typeface="Arial" pitchFamily="34" charset="0"/>
              <a:buChar char="•"/>
            </a:pPr>
            <a:r>
              <a:rPr lang="en-US" dirty="0">
                <a:latin typeface="Times New Roman"/>
              </a:rPr>
              <a:t> </a:t>
            </a:r>
            <a:r>
              <a:rPr lang="en-US" sz="2000" dirty="0">
                <a:latin typeface="Times New Roman"/>
              </a:rPr>
              <a:t>If NULLs exist in the grouping attribute, then a separate group is created for all tuples  with a </a:t>
            </a:r>
            <a:r>
              <a:rPr lang="en-US" sz="2000" i="1" dirty="0"/>
              <a:t>NULL </a:t>
            </a:r>
            <a:r>
              <a:rPr lang="en-US" sz="2000" i="1" dirty="0">
                <a:latin typeface="Times New Roman"/>
              </a:rPr>
              <a:t>value in the grouping attribute.</a:t>
            </a:r>
            <a:endParaRPr lang="en-US" sz="2000"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066800"/>
            <a:ext cx="8458200" cy="1109278"/>
          </a:xfrm>
          <a:prstGeom prst="rect">
            <a:avLst/>
          </a:prstGeom>
          <a:noFill/>
        </p:spPr>
        <p:txBody>
          <a:bodyPr wrap="square" rtlCol="0">
            <a:spAutoFit/>
          </a:bodyPr>
          <a:lstStyle/>
          <a:p>
            <a:pPr>
              <a:lnSpc>
                <a:spcPct val="200000"/>
              </a:lnSpc>
            </a:pPr>
            <a:r>
              <a:rPr lang="en-US" b="1" dirty="0">
                <a:latin typeface="Tahoma" pitchFamily="34" charset="0"/>
                <a:ea typeface="Tahoma" pitchFamily="34" charset="0"/>
                <a:cs typeface="Tahoma" pitchFamily="34" charset="0"/>
              </a:rPr>
              <a:t>QUERY 25 : </a:t>
            </a:r>
            <a:r>
              <a:rPr lang="en-US" dirty="0">
                <a:latin typeface="Tahoma" pitchFamily="34" charset="0"/>
                <a:ea typeface="Tahoma" pitchFamily="34" charset="0"/>
                <a:cs typeface="Tahoma" pitchFamily="34" charset="0"/>
              </a:rPr>
              <a:t>For each project, retrieve the project number, the project name, and the number of  employees who work on that project.</a:t>
            </a:r>
          </a:p>
        </p:txBody>
      </p:sp>
      <p:sp>
        <p:nvSpPr>
          <p:cNvPr id="5" name="TextBox 4"/>
          <p:cNvSpPr txBox="1"/>
          <p:nvPr/>
        </p:nvSpPr>
        <p:spPr>
          <a:xfrm>
            <a:off x="304800" y="2667000"/>
            <a:ext cx="8534400" cy="2616101"/>
          </a:xfrm>
          <a:prstGeom prst="rect">
            <a:avLst/>
          </a:prstGeom>
          <a:noFill/>
        </p:spPr>
        <p:txBody>
          <a:bodyPr wrap="square" rtlCol="0">
            <a:spAutoFit/>
          </a:bodyPr>
          <a:lstStyle/>
          <a:p>
            <a:pPr>
              <a:lnSpc>
                <a:spcPct val="200000"/>
              </a:lnSpc>
            </a:pPr>
            <a:r>
              <a:rPr lang="en-US" sz="2000" dirty="0">
                <a:solidFill>
                  <a:srgbClr val="002060"/>
                </a:solidFill>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SELECT  </a:t>
            </a:r>
            <a:r>
              <a:rPr lang="en-US" b="1" dirty="0">
                <a:latin typeface="Tahoma" pitchFamily="34" charset="0"/>
                <a:ea typeface="Tahoma" pitchFamily="34" charset="0"/>
                <a:cs typeface="Tahoma" pitchFamily="34" charset="0"/>
              </a:rPr>
              <a:t>PNUMBER, PNAME, </a:t>
            </a:r>
            <a:r>
              <a:rPr lang="en-US" b="1" dirty="0">
                <a:solidFill>
                  <a:srgbClr val="002060"/>
                </a:solidFill>
                <a:latin typeface="Tahoma" pitchFamily="34" charset="0"/>
                <a:ea typeface="Tahoma" pitchFamily="34" charset="0"/>
                <a:cs typeface="Tahoma" pitchFamily="34" charset="0"/>
              </a:rPr>
              <a:t>COUNT (*) </a:t>
            </a:r>
          </a:p>
          <a:p>
            <a:pPr>
              <a:lnSpc>
                <a:spcPct val="200000"/>
              </a:lnSpc>
            </a:pPr>
            <a:r>
              <a:rPr lang="en-US" b="1" dirty="0">
                <a:solidFill>
                  <a:srgbClr val="002060"/>
                </a:solidFill>
                <a:latin typeface="Tahoma" pitchFamily="34" charset="0"/>
                <a:ea typeface="Tahoma" pitchFamily="34" charset="0"/>
                <a:cs typeface="Tahoma" pitchFamily="34" charset="0"/>
              </a:rPr>
              <a:t>  FROM  </a:t>
            </a:r>
            <a:r>
              <a:rPr lang="en-US" b="1" dirty="0">
                <a:latin typeface="Tahoma" pitchFamily="34" charset="0"/>
                <a:ea typeface="Tahoma" pitchFamily="34" charset="0"/>
                <a:cs typeface="Tahoma" pitchFamily="34" charset="0"/>
              </a:rPr>
              <a:t>PROJECT, WORKS_ON</a:t>
            </a:r>
          </a:p>
          <a:p>
            <a:pPr>
              <a:lnSpc>
                <a:spcPct val="20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WHERE</a:t>
            </a:r>
            <a:r>
              <a:rPr lang="en-US" b="1" dirty="0">
                <a:solidFill>
                  <a:srgbClr val="00B0F0"/>
                </a:solidFill>
                <a:latin typeface="Tahoma" pitchFamily="34" charset="0"/>
                <a:ea typeface="Tahoma" pitchFamily="34" charset="0"/>
                <a:cs typeface="Tahoma" pitchFamily="34" charset="0"/>
              </a:rPr>
              <a:t>  </a:t>
            </a:r>
            <a:r>
              <a:rPr lang="en-US" b="1" dirty="0">
                <a:solidFill>
                  <a:srgbClr val="C00000"/>
                </a:solidFill>
                <a:latin typeface="Tahoma" pitchFamily="34" charset="0"/>
                <a:ea typeface="Tahoma" pitchFamily="34" charset="0"/>
                <a:cs typeface="Tahoma" pitchFamily="34" charset="0"/>
              </a:rPr>
              <a:t>PNUMBER=PNO</a:t>
            </a:r>
            <a:r>
              <a:rPr lang="en-US" b="1" dirty="0">
                <a:latin typeface="Tahoma" pitchFamily="34" charset="0"/>
                <a:ea typeface="Tahoma" pitchFamily="34" charset="0"/>
                <a:cs typeface="Tahoma" pitchFamily="34" charset="0"/>
              </a:rPr>
              <a:t> </a:t>
            </a:r>
          </a:p>
          <a:p>
            <a:pPr>
              <a:lnSpc>
                <a:spcPct val="200000"/>
              </a:lnSpc>
            </a:pPr>
            <a:r>
              <a:rPr lang="en-US" b="1" dirty="0">
                <a:solidFill>
                  <a:srgbClr val="002060"/>
                </a:solidFill>
                <a:latin typeface="Tahoma" pitchFamily="34" charset="0"/>
                <a:ea typeface="Tahoma" pitchFamily="34" charset="0"/>
                <a:cs typeface="Tahoma" pitchFamily="34" charset="0"/>
              </a:rPr>
              <a:t>GROUP BY  </a:t>
            </a:r>
            <a:r>
              <a:rPr lang="en-US" b="1" dirty="0">
                <a:latin typeface="Tahoma" pitchFamily="34" charset="0"/>
                <a:ea typeface="Tahoma" pitchFamily="34" charset="0"/>
                <a:cs typeface="Tahoma" pitchFamily="34" charset="0"/>
              </a:rPr>
              <a:t>PNUMBER, PNAME;</a:t>
            </a:r>
          </a:p>
          <a:p>
            <a:endParaRPr lang="en-US" sz="1600" dirty="0"/>
          </a:p>
        </p:txBody>
      </p:sp>
      <p:sp>
        <p:nvSpPr>
          <p:cNvPr id="9"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a:solidFill>
                  <a:srgbClr val="002060"/>
                </a:solidFill>
                <a:latin typeface="Tahoma" pitchFamily="34" charset="0"/>
                <a:ea typeface="Tahoma" pitchFamily="34" charset="0"/>
                <a:cs typeface="Tahoma" pitchFamily="34" charset="0"/>
              </a:rPr>
              <a:t>The GROUP BY Clauses</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a:solidFill>
                  <a:srgbClr val="002060"/>
                </a:solidFill>
                <a:latin typeface="Tahoma" pitchFamily="34" charset="0"/>
                <a:ea typeface="Tahoma" pitchFamily="34" charset="0"/>
                <a:cs typeface="Tahoma" pitchFamily="34" charset="0"/>
              </a:rPr>
              <a:t>GROUP BY and HAVING Clauses</a:t>
            </a:r>
          </a:p>
        </p:txBody>
      </p:sp>
      <p:sp>
        <p:nvSpPr>
          <p:cNvPr id="7" name="TextBox 6"/>
          <p:cNvSpPr txBox="1"/>
          <p:nvPr/>
        </p:nvSpPr>
        <p:spPr>
          <a:xfrm>
            <a:off x="381000" y="1143000"/>
            <a:ext cx="8458200" cy="3416320"/>
          </a:xfrm>
          <a:prstGeom prst="rect">
            <a:avLst/>
          </a:prstGeom>
          <a:noFill/>
        </p:spPr>
        <p:txBody>
          <a:bodyPr wrap="square" rtlCol="0">
            <a:spAutoFit/>
          </a:bodyPr>
          <a:lstStyle/>
          <a:p>
            <a:pPr>
              <a:lnSpc>
                <a:spcPct val="200000"/>
              </a:lnSpc>
            </a:pPr>
            <a:r>
              <a:rPr lang="en-US" b="1" dirty="0">
                <a:latin typeface="Tahoma" pitchFamily="34" charset="0"/>
                <a:ea typeface="Tahoma" pitchFamily="34" charset="0"/>
                <a:cs typeface="Tahoma" pitchFamily="34" charset="0"/>
              </a:rPr>
              <a:t>QUERY 26 : </a:t>
            </a:r>
            <a:r>
              <a:rPr lang="en-US" dirty="0">
                <a:latin typeface="Tahoma" pitchFamily="34" charset="0"/>
                <a:ea typeface="Tahoma" pitchFamily="34" charset="0"/>
                <a:cs typeface="Tahoma" pitchFamily="34" charset="0"/>
              </a:rPr>
              <a:t>For each project on which more than two employees work, retrieve the project number, the project name, and the number of employees who work on the project.</a:t>
            </a:r>
          </a:p>
          <a:p>
            <a:pPr>
              <a:lnSpc>
                <a:spcPct val="200000"/>
              </a:lnSpc>
            </a:pPr>
            <a:r>
              <a:rPr lang="en-US" dirty="0">
                <a:latin typeface="Tahoma" pitchFamily="34" charset="0"/>
                <a:ea typeface="Tahoma" pitchFamily="34" charset="0"/>
                <a:cs typeface="Tahoma" pitchFamily="34" charset="0"/>
              </a:rPr>
              <a:t>Q26: </a:t>
            </a:r>
            <a:r>
              <a:rPr lang="en-US" b="1" dirty="0">
                <a:solidFill>
                  <a:srgbClr val="002060"/>
                </a:solidFill>
                <a:latin typeface="Tahoma" pitchFamily="34" charset="0"/>
                <a:ea typeface="Tahoma" pitchFamily="34" charset="0"/>
                <a:cs typeface="Tahoma" pitchFamily="34" charset="0"/>
              </a:rPr>
              <a:t>SELECT</a:t>
            </a:r>
            <a:r>
              <a:rPr lang="en-US" dirty="0">
                <a:solidFill>
                  <a:srgbClr val="00B0F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PNUMBER, PNAME, COUNT (*) </a:t>
            </a:r>
            <a:r>
              <a:rPr lang="en-US" b="1" dirty="0">
                <a:solidFill>
                  <a:srgbClr val="002060"/>
                </a:solidFill>
                <a:latin typeface="Tahoma" pitchFamily="34" charset="0"/>
                <a:ea typeface="Tahoma" pitchFamily="34" charset="0"/>
                <a:cs typeface="Tahoma" pitchFamily="34" charset="0"/>
              </a:rPr>
              <a:t>FROM </a:t>
            </a:r>
            <a:r>
              <a:rPr lang="en-US" dirty="0">
                <a:latin typeface="Tahoma" pitchFamily="34" charset="0"/>
                <a:ea typeface="Tahoma" pitchFamily="34" charset="0"/>
                <a:cs typeface="Tahoma" pitchFamily="34" charset="0"/>
              </a:rPr>
              <a:t>PROJECT, WORKS_ON</a:t>
            </a:r>
          </a:p>
          <a:p>
            <a:pPr>
              <a:lnSpc>
                <a:spcPct val="200000"/>
              </a:lnSpc>
            </a:pPr>
            <a:r>
              <a:rPr lang="en-US"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WHERE </a:t>
            </a:r>
            <a:r>
              <a:rPr lang="en-US" dirty="0">
                <a:latin typeface="Tahoma" pitchFamily="34" charset="0"/>
                <a:ea typeface="Tahoma" pitchFamily="34" charset="0"/>
                <a:cs typeface="Tahoma" pitchFamily="34" charset="0"/>
              </a:rPr>
              <a:t> </a:t>
            </a:r>
            <a:r>
              <a:rPr lang="en-US" dirty="0">
                <a:solidFill>
                  <a:srgbClr val="C00000"/>
                </a:solidFill>
                <a:latin typeface="Tahoma" pitchFamily="34" charset="0"/>
                <a:ea typeface="Tahoma" pitchFamily="34" charset="0"/>
                <a:cs typeface="Tahoma" pitchFamily="34" charset="0"/>
              </a:rPr>
              <a:t>PNUMBER=PNO</a:t>
            </a:r>
            <a:r>
              <a:rPr lang="en-US"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GROUP BY </a:t>
            </a:r>
            <a:r>
              <a:rPr lang="en-US" dirty="0">
                <a:latin typeface="Tahoma" pitchFamily="34" charset="0"/>
                <a:ea typeface="Tahoma" pitchFamily="34" charset="0"/>
                <a:cs typeface="Tahoma" pitchFamily="34" charset="0"/>
              </a:rPr>
              <a:t>PNUMBER, PNAME</a:t>
            </a:r>
          </a:p>
          <a:p>
            <a:pPr>
              <a:lnSpc>
                <a:spcPct val="200000"/>
              </a:lnSpc>
            </a:pPr>
            <a:r>
              <a:rPr lang="en-US" dirty="0">
                <a:latin typeface="Tahoma" pitchFamily="34" charset="0"/>
                <a:ea typeface="Tahoma" pitchFamily="34" charset="0"/>
                <a:cs typeface="Tahoma" pitchFamily="34" charset="0"/>
              </a:rPr>
              <a:t>       </a:t>
            </a:r>
            <a:r>
              <a:rPr lang="en-US" dirty="0">
                <a:solidFill>
                  <a:srgbClr val="00B0F0"/>
                </a:solidFill>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HAVING </a:t>
            </a:r>
            <a:r>
              <a:rPr lang="en-US" dirty="0">
                <a:latin typeface="Tahoma" pitchFamily="34" charset="0"/>
                <a:ea typeface="Tahoma" pitchFamily="34" charset="0"/>
                <a:cs typeface="Tahoma" pitchFamily="34" charset="0"/>
              </a:rPr>
              <a:t>COUNT (*) &gt; 2</a:t>
            </a:r>
          </a:p>
        </p:txBody>
      </p:sp>
    </p:spTree>
  </p:cSld>
  <p:clrMapOvr>
    <a:masterClrMapping/>
  </p:clrMapOvr>
  <p:transition>
    <p:cut/>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228601" y="1752600"/>
            <a:ext cx="8730080" cy="4267200"/>
          </a:xfrm>
          <a:prstGeom prst="rect">
            <a:avLst/>
          </a:prstGeom>
          <a:noFill/>
          <a:ln w="9525">
            <a:noFill/>
            <a:miter lim="800000"/>
            <a:headEnd/>
            <a:tailEnd/>
          </a:ln>
          <a:effectLst/>
        </p:spPr>
      </p:pic>
      <p:sp>
        <p:nvSpPr>
          <p:cNvPr id="5" name="TextBox 4"/>
          <p:cNvSpPr txBox="1"/>
          <p:nvPr/>
        </p:nvSpPr>
        <p:spPr>
          <a:xfrm>
            <a:off x="228600" y="1143000"/>
            <a:ext cx="8077200" cy="369332"/>
          </a:xfrm>
          <a:prstGeom prst="rect">
            <a:avLst/>
          </a:prstGeom>
          <a:noFill/>
        </p:spPr>
        <p:txBody>
          <a:bodyPr wrap="square" rtlCol="0">
            <a:spAutoFit/>
          </a:bodyPr>
          <a:lstStyle/>
          <a:p>
            <a:r>
              <a:rPr lang="en-US" b="1" dirty="0">
                <a:latin typeface="Tahoma" pitchFamily="34" charset="0"/>
                <a:ea typeface="Tahoma" pitchFamily="34" charset="0"/>
                <a:cs typeface="Tahoma" pitchFamily="34" charset="0"/>
              </a:rPr>
              <a:t>QUERY 26 : </a:t>
            </a:r>
            <a:r>
              <a:rPr lang="en-US" dirty="0"/>
              <a:t>After applying the WHERE clause but before applying HAVING</a:t>
            </a:r>
          </a:p>
        </p:txBody>
      </p:sp>
      <p:sp>
        <p:nvSpPr>
          <p:cNvPr id="7"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a:solidFill>
                  <a:srgbClr val="002060"/>
                </a:solidFill>
                <a:latin typeface="Tahoma" pitchFamily="34" charset="0"/>
                <a:ea typeface="Tahoma" pitchFamily="34" charset="0"/>
                <a:cs typeface="Tahoma" pitchFamily="34" charset="0"/>
              </a:rPr>
              <a:t>GROUP BY and HAVING Clauses</a:t>
            </a:r>
          </a:p>
        </p:txBody>
      </p:sp>
    </p:spTree>
  </p:cSld>
  <p:clrMapOvr>
    <a:masterClrMapping/>
  </p:clrMapOvr>
  <p:transition>
    <p:cut/>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rcRect/>
          <a:stretch>
            <a:fillRect/>
          </a:stretch>
        </p:blipFill>
        <p:spPr bwMode="auto">
          <a:xfrm>
            <a:off x="304800" y="1676400"/>
            <a:ext cx="8382000" cy="3962399"/>
          </a:xfrm>
          <a:prstGeom prst="rect">
            <a:avLst/>
          </a:prstGeom>
          <a:noFill/>
          <a:ln w="9525">
            <a:noFill/>
            <a:miter lim="800000"/>
            <a:headEnd/>
            <a:tailEnd/>
          </a:ln>
          <a:effectLst/>
        </p:spPr>
      </p:pic>
      <p:sp>
        <p:nvSpPr>
          <p:cNvPr id="5" name="TextBox 4"/>
          <p:cNvSpPr txBox="1"/>
          <p:nvPr/>
        </p:nvSpPr>
        <p:spPr>
          <a:xfrm>
            <a:off x="381000" y="1143000"/>
            <a:ext cx="6705600" cy="369332"/>
          </a:xfrm>
          <a:prstGeom prst="rect">
            <a:avLst/>
          </a:prstGeom>
          <a:noFill/>
        </p:spPr>
        <p:txBody>
          <a:bodyPr wrap="square" rtlCol="0">
            <a:spAutoFit/>
          </a:bodyPr>
          <a:lstStyle/>
          <a:p>
            <a:r>
              <a:rPr lang="en-US" b="1" dirty="0">
                <a:latin typeface="Tahoma" pitchFamily="34" charset="0"/>
                <a:ea typeface="Tahoma" pitchFamily="34" charset="0"/>
                <a:cs typeface="Tahoma" pitchFamily="34" charset="0"/>
              </a:rPr>
              <a:t>QUERY 26 : </a:t>
            </a:r>
            <a:r>
              <a:rPr lang="en-US" dirty="0"/>
              <a:t>After  applying the HAVING clause condition</a:t>
            </a:r>
          </a:p>
        </p:txBody>
      </p:sp>
      <p:sp>
        <p:nvSpPr>
          <p:cNvPr id="7"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a:solidFill>
                  <a:srgbClr val="002060"/>
                </a:solidFill>
                <a:latin typeface="Tahoma" pitchFamily="34" charset="0"/>
                <a:ea typeface="Tahoma" pitchFamily="34" charset="0"/>
                <a:cs typeface="Tahoma" pitchFamily="34" charset="0"/>
              </a:rPr>
              <a:t>GROUP BY and HAVING Clauses</a:t>
            </a:r>
          </a:p>
        </p:txBody>
      </p:sp>
    </p:spTree>
  </p:cSld>
  <p:clrMapOvr>
    <a:masterClrMapping/>
  </p:clrMapOvr>
  <p:transition>
    <p:cut/>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1066800"/>
            <a:ext cx="8229600" cy="1477328"/>
          </a:xfrm>
          <a:prstGeom prst="rect">
            <a:avLst/>
          </a:prstGeom>
          <a:noFill/>
        </p:spPr>
        <p:txBody>
          <a:bodyPr wrap="square" rtlCol="0">
            <a:spAutoFit/>
          </a:bodyPr>
          <a:lstStyle/>
          <a:p>
            <a:r>
              <a:rPr lang="en-US" b="1" dirty="0">
                <a:latin typeface="Tahoma" pitchFamily="34" charset="0"/>
                <a:ea typeface="Tahoma" pitchFamily="34" charset="0"/>
                <a:cs typeface="Tahoma" pitchFamily="34" charset="0"/>
              </a:rPr>
              <a:t>QUERY 27</a:t>
            </a:r>
          </a:p>
          <a:p>
            <a:pPr algn="just">
              <a:lnSpc>
                <a:spcPct val="150000"/>
              </a:lnSpc>
            </a:pPr>
            <a:r>
              <a:rPr lang="en-US" dirty="0">
                <a:latin typeface="Tahoma" pitchFamily="34" charset="0"/>
                <a:ea typeface="Tahoma" pitchFamily="34" charset="0"/>
                <a:cs typeface="Tahoma" pitchFamily="34" charset="0"/>
              </a:rPr>
              <a:t>For each project, retrieve the project number, the project name, and the number of employees from department 5 who work on the project.</a:t>
            </a:r>
          </a:p>
          <a:p>
            <a:endParaRPr lang="en-US" dirty="0">
              <a:latin typeface="Tahoma" pitchFamily="34" charset="0"/>
              <a:ea typeface="Tahoma" pitchFamily="34" charset="0"/>
              <a:cs typeface="Tahoma" pitchFamily="34" charset="0"/>
            </a:endParaRPr>
          </a:p>
        </p:txBody>
      </p:sp>
      <p:sp>
        <p:nvSpPr>
          <p:cNvPr id="7" name="TextBox 6"/>
          <p:cNvSpPr txBox="1"/>
          <p:nvPr/>
        </p:nvSpPr>
        <p:spPr>
          <a:xfrm>
            <a:off x="457200" y="2819400"/>
            <a:ext cx="8001000" cy="2646878"/>
          </a:xfrm>
          <a:prstGeom prst="rect">
            <a:avLst/>
          </a:prstGeom>
          <a:noFill/>
        </p:spPr>
        <p:txBody>
          <a:bodyPr wrap="square" rtlCol="0">
            <a:spAutoFit/>
          </a:bodyPr>
          <a:lstStyle/>
          <a:p>
            <a:pPr>
              <a:lnSpc>
                <a:spcPct val="200000"/>
              </a:lnSpc>
            </a:pPr>
            <a:r>
              <a:rPr lang="en-US" dirty="0">
                <a:latin typeface="Tahoma" pitchFamily="34" charset="0"/>
                <a:ea typeface="Tahoma" pitchFamily="34" charset="0"/>
                <a:cs typeface="Tahoma" pitchFamily="34" charset="0"/>
              </a:rPr>
              <a:t>Q27: </a:t>
            </a:r>
            <a:r>
              <a:rPr lang="en-US" b="1" dirty="0">
                <a:solidFill>
                  <a:srgbClr val="002060"/>
                </a:solidFill>
                <a:latin typeface="Tahoma" pitchFamily="34" charset="0"/>
                <a:ea typeface="Tahoma" pitchFamily="34" charset="0"/>
                <a:cs typeface="Tahoma" pitchFamily="34" charset="0"/>
              </a:rPr>
              <a:t>SELECT</a:t>
            </a:r>
            <a:r>
              <a:rPr lang="en-US" b="1" dirty="0">
                <a:latin typeface="Tahoma" pitchFamily="34" charset="0"/>
                <a:ea typeface="Tahoma" pitchFamily="34" charset="0"/>
                <a:cs typeface="Tahoma" pitchFamily="34" charset="0"/>
              </a:rPr>
              <a:t> PNUMBER, PNAME, COUNT (*)</a:t>
            </a:r>
          </a:p>
          <a:p>
            <a:pPr>
              <a:lnSpc>
                <a:spcPct val="20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FROM</a:t>
            </a:r>
            <a:r>
              <a:rPr lang="en-US" b="1" dirty="0">
                <a:solidFill>
                  <a:srgbClr val="00B0F0"/>
                </a:solidFill>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PROJECT, WORKS_ON, EMPLOYEE</a:t>
            </a:r>
          </a:p>
          <a:p>
            <a:pPr>
              <a:lnSpc>
                <a:spcPct val="20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WHERE </a:t>
            </a:r>
            <a:r>
              <a:rPr lang="en-US" b="1" dirty="0">
                <a:latin typeface="Tahoma" pitchFamily="34" charset="0"/>
                <a:ea typeface="Tahoma" pitchFamily="34" charset="0"/>
                <a:cs typeface="Tahoma" pitchFamily="34" charset="0"/>
              </a:rPr>
              <a:t> </a:t>
            </a:r>
            <a:r>
              <a:rPr lang="en-US" b="1" dirty="0">
                <a:solidFill>
                  <a:srgbClr val="C00000"/>
                </a:solidFill>
                <a:latin typeface="Tahoma" pitchFamily="34" charset="0"/>
                <a:ea typeface="Tahoma" pitchFamily="34" charset="0"/>
                <a:cs typeface="Tahoma" pitchFamily="34" charset="0"/>
              </a:rPr>
              <a:t>PNUMBER=PNO </a:t>
            </a:r>
            <a:r>
              <a:rPr lang="en-US" b="1" dirty="0">
                <a:latin typeface="Tahoma" pitchFamily="34" charset="0"/>
                <a:ea typeface="Tahoma" pitchFamily="34" charset="0"/>
                <a:cs typeface="Tahoma" pitchFamily="34" charset="0"/>
              </a:rPr>
              <a:t>AND </a:t>
            </a:r>
            <a:r>
              <a:rPr lang="en-US" b="1" dirty="0">
                <a:solidFill>
                  <a:srgbClr val="C00000"/>
                </a:solidFill>
                <a:latin typeface="Tahoma" pitchFamily="34" charset="0"/>
                <a:ea typeface="Tahoma" pitchFamily="34" charset="0"/>
                <a:cs typeface="Tahoma" pitchFamily="34" charset="0"/>
              </a:rPr>
              <a:t>SSN=ESSN </a:t>
            </a:r>
            <a:r>
              <a:rPr lang="en-US" b="1" dirty="0">
                <a:latin typeface="Tahoma" pitchFamily="34" charset="0"/>
                <a:ea typeface="Tahoma" pitchFamily="34" charset="0"/>
                <a:cs typeface="Tahoma" pitchFamily="34" charset="0"/>
              </a:rPr>
              <a:t>AND DNO=5</a:t>
            </a:r>
          </a:p>
          <a:p>
            <a:pPr>
              <a:lnSpc>
                <a:spcPct val="200000"/>
              </a:lnSpc>
            </a:pPr>
            <a:r>
              <a:rPr lang="en-US" b="1" dirty="0">
                <a:solidFill>
                  <a:srgbClr val="002060"/>
                </a:solidFill>
                <a:latin typeface="Tahoma" pitchFamily="34" charset="0"/>
                <a:ea typeface="Tahoma" pitchFamily="34" charset="0"/>
                <a:cs typeface="Tahoma" pitchFamily="34" charset="0"/>
              </a:rPr>
              <a:t>        GROUP </a:t>
            </a:r>
            <a:r>
              <a:rPr lang="en-US" sz="2000" b="1" dirty="0">
                <a:solidFill>
                  <a:srgbClr val="002060"/>
                </a:solidFill>
                <a:latin typeface="Tahoma" pitchFamily="34" charset="0"/>
                <a:ea typeface="Tahoma" pitchFamily="34" charset="0"/>
                <a:cs typeface="Tahoma" pitchFamily="34" charset="0"/>
              </a:rPr>
              <a:t>BY </a:t>
            </a:r>
            <a:r>
              <a:rPr lang="en-US" b="1" dirty="0">
                <a:latin typeface="Tahoma" pitchFamily="34" charset="0"/>
                <a:ea typeface="Tahoma" pitchFamily="34" charset="0"/>
                <a:cs typeface="Tahoma" pitchFamily="34" charset="0"/>
              </a:rPr>
              <a:t>PNUMBER, PNAME;</a:t>
            </a:r>
          </a:p>
          <a:p>
            <a:endParaRPr lang="en-US" dirty="0"/>
          </a:p>
        </p:txBody>
      </p:sp>
      <p:sp>
        <p:nvSpPr>
          <p:cNvPr id="9"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a:solidFill>
                  <a:srgbClr val="002060"/>
                </a:solidFill>
                <a:latin typeface="Tahoma" pitchFamily="34" charset="0"/>
                <a:ea typeface="Tahoma" pitchFamily="34" charset="0"/>
                <a:cs typeface="Tahoma" pitchFamily="34" charset="0"/>
              </a:rPr>
              <a:t>GROUP BY and HAVING Clauses</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1000" y="1219200"/>
            <a:ext cx="8229600" cy="1615827"/>
          </a:xfrm>
          <a:prstGeom prst="rect">
            <a:avLst/>
          </a:prstGeom>
          <a:noFill/>
        </p:spPr>
        <p:txBody>
          <a:bodyPr wrap="square" rtlCol="0">
            <a:spAutoFit/>
          </a:bodyPr>
          <a:lstStyle/>
          <a:p>
            <a:r>
              <a:rPr lang="en-US" b="1" dirty="0">
                <a:latin typeface="Tahoma" pitchFamily="34" charset="0"/>
                <a:ea typeface="Tahoma" pitchFamily="34" charset="0"/>
                <a:cs typeface="Tahoma" pitchFamily="34" charset="0"/>
              </a:rPr>
              <a:t>QUERY 28</a:t>
            </a:r>
          </a:p>
          <a:p>
            <a:pPr algn="just">
              <a:lnSpc>
                <a:spcPct val="150000"/>
              </a:lnSpc>
            </a:pPr>
            <a:r>
              <a:rPr lang="en-US" dirty="0">
                <a:latin typeface="Tahoma" pitchFamily="34" charset="0"/>
                <a:ea typeface="Tahoma" pitchFamily="34" charset="0"/>
                <a:cs typeface="Tahoma" pitchFamily="34" charset="0"/>
              </a:rPr>
              <a:t>For each department that has more than five employees, retrieve the </a:t>
            </a:r>
            <a:r>
              <a:rPr lang="en-US" b="1" dirty="0">
                <a:latin typeface="Tahoma" pitchFamily="34" charset="0"/>
                <a:ea typeface="Tahoma" pitchFamily="34" charset="0"/>
                <a:cs typeface="Tahoma" pitchFamily="34" charset="0"/>
              </a:rPr>
              <a:t>department number </a:t>
            </a:r>
            <a:r>
              <a:rPr lang="en-US" dirty="0">
                <a:latin typeface="Tahoma" pitchFamily="34" charset="0"/>
                <a:ea typeface="Tahoma" pitchFamily="34" charset="0"/>
                <a:cs typeface="Tahoma" pitchFamily="34" charset="0"/>
              </a:rPr>
              <a:t>and the </a:t>
            </a:r>
            <a:r>
              <a:rPr lang="en-US" b="1" dirty="0">
                <a:latin typeface="Tahoma" pitchFamily="34" charset="0"/>
                <a:ea typeface="Tahoma" pitchFamily="34" charset="0"/>
                <a:cs typeface="Tahoma" pitchFamily="34" charset="0"/>
              </a:rPr>
              <a:t>number of its employees </a:t>
            </a:r>
            <a:r>
              <a:rPr lang="en-US" dirty="0">
                <a:latin typeface="Tahoma" pitchFamily="34" charset="0"/>
                <a:ea typeface="Tahoma" pitchFamily="34" charset="0"/>
                <a:cs typeface="Tahoma" pitchFamily="34" charset="0"/>
              </a:rPr>
              <a:t>who are making more than $40,000.</a:t>
            </a:r>
          </a:p>
        </p:txBody>
      </p:sp>
      <p:sp>
        <p:nvSpPr>
          <p:cNvPr id="4" name="TextBox 3"/>
          <p:cNvSpPr txBox="1"/>
          <p:nvPr/>
        </p:nvSpPr>
        <p:spPr>
          <a:xfrm>
            <a:off x="533400" y="3048000"/>
            <a:ext cx="8001000" cy="3277820"/>
          </a:xfrm>
          <a:prstGeom prst="rect">
            <a:avLst/>
          </a:prstGeom>
          <a:noFill/>
        </p:spPr>
        <p:txBody>
          <a:bodyPr wrap="square" rtlCol="0">
            <a:spAutoFit/>
          </a:bodyPr>
          <a:lstStyle/>
          <a:p>
            <a:pPr>
              <a:lnSpc>
                <a:spcPct val="150000"/>
              </a:lnSpc>
            </a:pPr>
            <a:r>
              <a:rPr lang="en-US" b="1" dirty="0">
                <a:latin typeface="Tahoma" pitchFamily="34" charset="0"/>
                <a:ea typeface="Tahoma" pitchFamily="34" charset="0"/>
                <a:cs typeface="Tahoma" pitchFamily="34" charset="0"/>
              </a:rPr>
              <a:t>Q28</a:t>
            </a:r>
            <a:r>
              <a:rPr lang="en-US" b="1" dirty="0">
                <a:solidFill>
                  <a:srgbClr val="002060"/>
                </a:solidFill>
                <a:latin typeface="Tahoma" pitchFamily="34" charset="0"/>
                <a:ea typeface="Tahoma" pitchFamily="34" charset="0"/>
                <a:cs typeface="Tahoma" pitchFamily="34" charset="0"/>
              </a:rPr>
              <a:t>: SELECT </a:t>
            </a:r>
            <a:r>
              <a:rPr lang="en-US" b="1" dirty="0">
                <a:latin typeface="Tahoma" pitchFamily="34" charset="0"/>
                <a:ea typeface="Tahoma" pitchFamily="34" charset="0"/>
                <a:cs typeface="Tahoma" pitchFamily="34" charset="0"/>
              </a:rPr>
              <a:t>DNUMBER, COUNT (*)</a:t>
            </a:r>
          </a:p>
          <a:p>
            <a:pPr>
              <a:lnSpc>
                <a:spcPct val="15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FROM</a:t>
            </a:r>
            <a:r>
              <a:rPr lang="en-US" b="1" dirty="0">
                <a:latin typeface="Tahoma" pitchFamily="34" charset="0"/>
                <a:ea typeface="Tahoma" pitchFamily="34" charset="0"/>
                <a:cs typeface="Tahoma" pitchFamily="34" charset="0"/>
              </a:rPr>
              <a:t> DEPARTMENT, EMPLOYEE</a:t>
            </a:r>
          </a:p>
          <a:p>
            <a:pPr>
              <a:lnSpc>
                <a:spcPct val="15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WHERE</a:t>
            </a:r>
            <a:r>
              <a:rPr lang="en-US" b="1" dirty="0">
                <a:latin typeface="Tahoma" pitchFamily="34" charset="0"/>
                <a:ea typeface="Tahoma" pitchFamily="34" charset="0"/>
                <a:cs typeface="Tahoma" pitchFamily="34" charset="0"/>
              </a:rPr>
              <a:t> </a:t>
            </a:r>
            <a:r>
              <a:rPr lang="en-US" b="1" dirty="0">
                <a:solidFill>
                  <a:srgbClr val="C00000"/>
                </a:solidFill>
                <a:latin typeface="Tahoma" pitchFamily="34" charset="0"/>
                <a:ea typeface="Tahoma" pitchFamily="34" charset="0"/>
                <a:cs typeface="Tahoma" pitchFamily="34" charset="0"/>
              </a:rPr>
              <a:t>DNUMBER=DNO </a:t>
            </a:r>
            <a:r>
              <a:rPr lang="en-US" b="1" dirty="0">
                <a:solidFill>
                  <a:srgbClr val="002060"/>
                </a:solidFill>
                <a:latin typeface="Tahoma" pitchFamily="34" charset="0"/>
                <a:ea typeface="Tahoma" pitchFamily="34" charset="0"/>
                <a:cs typeface="Tahoma" pitchFamily="34" charset="0"/>
              </a:rPr>
              <a:t>AND </a:t>
            </a:r>
            <a:r>
              <a:rPr lang="en-US" b="1" dirty="0">
                <a:latin typeface="Tahoma" pitchFamily="34" charset="0"/>
                <a:ea typeface="Tahoma" pitchFamily="34" charset="0"/>
                <a:cs typeface="Tahoma" pitchFamily="34" charset="0"/>
              </a:rPr>
              <a:t>SALARY&gt;40000 </a:t>
            </a:r>
            <a:r>
              <a:rPr lang="en-US" b="1" dirty="0">
                <a:solidFill>
                  <a:srgbClr val="002060"/>
                </a:solidFill>
                <a:latin typeface="Tahoma" pitchFamily="34" charset="0"/>
                <a:ea typeface="Tahoma" pitchFamily="34" charset="0"/>
                <a:cs typeface="Tahoma" pitchFamily="34" charset="0"/>
              </a:rPr>
              <a:t>AND</a:t>
            </a:r>
          </a:p>
          <a:p>
            <a:pPr>
              <a:lnSpc>
                <a:spcPct val="150000"/>
              </a:lnSpc>
            </a:pPr>
            <a:r>
              <a:rPr lang="en-US" dirty="0">
                <a:latin typeface="Tahoma" pitchFamily="34" charset="0"/>
                <a:ea typeface="Tahoma" pitchFamily="34" charset="0"/>
                <a:cs typeface="Tahoma" pitchFamily="34" charset="0"/>
              </a:rPr>
              <a:t>        DNO </a:t>
            </a:r>
            <a:r>
              <a:rPr lang="en-US" b="1" dirty="0">
                <a:solidFill>
                  <a:srgbClr val="002060"/>
                </a:solidFill>
                <a:latin typeface="Tahoma" pitchFamily="34" charset="0"/>
                <a:ea typeface="Tahoma" pitchFamily="34" charset="0"/>
                <a:cs typeface="Tahoma" pitchFamily="34" charset="0"/>
              </a:rPr>
              <a:t>IN</a:t>
            </a: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SELECT</a:t>
            </a:r>
            <a:r>
              <a:rPr lang="en-US" b="1" dirty="0">
                <a:latin typeface="Tahoma" pitchFamily="34" charset="0"/>
                <a:ea typeface="Tahoma" pitchFamily="34" charset="0"/>
                <a:cs typeface="Tahoma" pitchFamily="34" charset="0"/>
              </a:rPr>
              <a:t> DNO  </a:t>
            </a:r>
            <a:r>
              <a:rPr lang="en-US" b="1" dirty="0">
                <a:solidFill>
                  <a:srgbClr val="002060"/>
                </a:solidFill>
                <a:latin typeface="Tahoma" pitchFamily="34" charset="0"/>
                <a:ea typeface="Tahoma" pitchFamily="34" charset="0"/>
                <a:cs typeface="Tahoma" pitchFamily="34" charset="0"/>
              </a:rPr>
              <a:t>FROM</a:t>
            </a:r>
            <a:r>
              <a:rPr lang="en-US" b="1" dirty="0">
                <a:latin typeface="Tahoma" pitchFamily="34" charset="0"/>
                <a:ea typeface="Tahoma" pitchFamily="34" charset="0"/>
                <a:cs typeface="Tahoma" pitchFamily="34" charset="0"/>
              </a:rPr>
              <a:t> EMPLOYEE</a:t>
            </a:r>
          </a:p>
          <a:p>
            <a:pPr>
              <a:lnSpc>
                <a:spcPct val="15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GROUP BY </a:t>
            </a:r>
            <a:r>
              <a:rPr lang="en-US" b="1" dirty="0">
                <a:latin typeface="Tahoma" pitchFamily="34" charset="0"/>
                <a:ea typeface="Tahoma" pitchFamily="34" charset="0"/>
                <a:cs typeface="Tahoma" pitchFamily="34" charset="0"/>
              </a:rPr>
              <a:t>DNO</a:t>
            </a:r>
          </a:p>
          <a:p>
            <a:pPr>
              <a:lnSpc>
                <a:spcPct val="15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HAVING COUNT (*) </a:t>
            </a:r>
            <a:r>
              <a:rPr lang="en-US" b="1" dirty="0">
                <a:latin typeface="Tahoma" pitchFamily="34" charset="0"/>
                <a:ea typeface="Tahoma" pitchFamily="34" charset="0"/>
                <a:cs typeface="Tahoma" pitchFamily="34" charset="0"/>
              </a:rPr>
              <a:t>&gt; 5)</a:t>
            </a:r>
          </a:p>
          <a:p>
            <a:pPr>
              <a:lnSpc>
                <a:spcPct val="150000"/>
              </a:lnSpc>
            </a:pPr>
            <a:r>
              <a:rPr lang="en-US" b="1" dirty="0">
                <a:solidFill>
                  <a:srgbClr val="002060"/>
                </a:solidFill>
                <a:latin typeface="Tahoma" pitchFamily="34" charset="0"/>
                <a:ea typeface="Tahoma" pitchFamily="34" charset="0"/>
                <a:cs typeface="Tahoma" pitchFamily="34" charset="0"/>
              </a:rPr>
              <a:t>GROUP BY </a:t>
            </a:r>
            <a:r>
              <a:rPr lang="en-US" b="1" dirty="0">
                <a:latin typeface="Tahoma" pitchFamily="34" charset="0"/>
                <a:ea typeface="Tahoma" pitchFamily="34" charset="0"/>
                <a:cs typeface="Tahoma" pitchFamily="34" charset="0"/>
              </a:rPr>
              <a:t>DNUMBER;</a:t>
            </a:r>
            <a:endParaRPr lang="en-US" dirty="0">
              <a:latin typeface="Tahoma" pitchFamily="34" charset="0"/>
              <a:ea typeface="Tahoma" pitchFamily="34" charset="0"/>
              <a:cs typeface="Tahoma" pitchFamily="34" charset="0"/>
            </a:endParaRPr>
          </a:p>
          <a:p>
            <a:endParaRPr lang="en-US" dirty="0"/>
          </a:p>
        </p:txBody>
      </p:sp>
      <p:sp>
        <p:nvSpPr>
          <p:cNvPr id="7" name="Rectangle 2"/>
          <p:cNvSpPr>
            <a:spLocks noGrp="1" noChangeArrowheads="1"/>
          </p:cNvSpPr>
          <p:nvPr>
            <p:ph type="title"/>
          </p:nvPr>
        </p:nvSpPr>
        <p:spPr>
          <a:xfrm>
            <a:off x="381000" y="152400"/>
            <a:ext cx="8229600" cy="609600"/>
          </a:xfrm>
          <a:noFill/>
        </p:spPr>
        <p:txBody>
          <a:bodyPr lIns="90488" tIns="44450" rIns="90488" bIns="44450"/>
          <a:lstStyle/>
          <a:p>
            <a:pPr lvl="0" algn="l"/>
            <a:r>
              <a:rPr lang="en-US" sz="2800" b="1" dirty="0">
                <a:solidFill>
                  <a:srgbClr val="002060"/>
                </a:solidFill>
                <a:latin typeface="Tahoma" pitchFamily="34" charset="0"/>
                <a:ea typeface="Tahoma" pitchFamily="34" charset="0"/>
                <a:cs typeface="Tahoma" pitchFamily="34" charset="0"/>
              </a:rPr>
              <a:t>GROUP BY and HAVING Clauses</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 y="2286000"/>
            <a:ext cx="8229600" cy="2667000"/>
          </a:xfrm>
          <a:noFill/>
        </p:spPr>
        <p:txBody>
          <a:bodyPr lIns="90488" tIns="44450" rIns="90488" bIns="44450"/>
          <a:lstStyle/>
          <a:p>
            <a:pPr lvl="0"/>
            <a:r>
              <a:rPr lang="en-US" b="1" dirty="0">
                <a:solidFill>
                  <a:srgbClr val="002060"/>
                </a:solidFill>
                <a:latin typeface="Tahoma" pitchFamily="34" charset="0"/>
                <a:ea typeface="Tahoma" pitchFamily="34" charset="0"/>
                <a:cs typeface="Tahoma" pitchFamily="34" charset="0"/>
              </a:rPr>
              <a:t>INSERT, DELETE</a:t>
            </a:r>
            <a:r>
              <a:rPr lang="en-US" b="1" dirty="0">
                <a:latin typeface="Tahoma" pitchFamily="34" charset="0"/>
                <a:ea typeface="Tahoma" pitchFamily="34" charset="0"/>
                <a:cs typeface="Tahoma" pitchFamily="34" charset="0"/>
              </a:rPr>
              <a:t>, AND </a:t>
            </a:r>
            <a:r>
              <a:rPr lang="en-US" b="1" dirty="0">
                <a:solidFill>
                  <a:srgbClr val="002060"/>
                </a:solidFill>
                <a:latin typeface="Tahoma" pitchFamily="34" charset="0"/>
                <a:ea typeface="Tahoma" pitchFamily="34" charset="0"/>
                <a:cs typeface="Tahoma" pitchFamily="34" charset="0"/>
              </a:rPr>
              <a:t>UPDATE</a:t>
            </a:r>
            <a:br>
              <a:rPr lang="en-US" b="1" dirty="0">
                <a:latin typeface="Tahoma" pitchFamily="34" charset="0"/>
                <a:ea typeface="Tahoma" pitchFamily="34" charset="0"/>
                <a:cs typeface="Tahoma" pitchFamily="34" charset="0"/>
              </a:rPr>
            </a:br>
            <a:r>
              <a:rPr lang="en-US" b="1" dirty="0">
                <a:latin typeface="Tahoma" pitchFamily="34" charset="0"/>
                <a:ea typeface="Tahoma" pitchFamily="34" charset="0"/>
                <a:cs typeface="Tahoma" pitchFamily="34" charset="0"/>
              </a:rPr>
              <a:t>STATEMENTS IN SQL-99</a:t>
            </a:r>
          </a:p>
        </p:txBody>
      </p:sp>
    </p:spTree>
  </p:cSld>
  <p:clrMapOvr>
    <a:masterClrMapping/>
  </p:clrMapOvr>
  <p:transition>
    <p:cut/>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1143000"/>
            <a:ext cx="8305800" cy="2217274"/>
          </a:xfrm>
          <a:prstGeom prst="rect">
            <a:avLst/>
          </a:prstGeom>
          <a:noFill/>
        </p:spPr>
        <p:txBody>
          <a:bodyPr wrap="square" rtlCol="0">
            <a:spAutoFit/>
          </a:bodyPr>
          <a:lstStyle/>
          <a:p>
            <a:pPr marL="342900" indent="-342900">
              <a:lnSpc>
                <a:spcPct val="200000"/>
              </a:lnSpc>
              <a:buFont typeface="Arial" pitchFamily="34" charset="0"/>
              <a:buChar char="•"/>
            </a:pPr>
            <a:r>
              <a:rPr lang="en-US" b="1" dirty="0">
                <a:solidFill>
                  <a:srgbClr val="002060"/>
                </a:solidFill>
                <a:latin typeface="Tahoma" pitchFamily="34" charset="0"/>
                <a:ea typeface="Tahoma" pitchFamily="34" charset="0"/>
                <a:cs typeface="Tahoma" pitchFamily="34" charset="0"/>
              </a:rPr>
              <a:t>INSERT</a:t>
            </a:r>
            <a:r>
              <a:rPr lang="en-US" dirty="0">
                <a:latin typeface="Tahoma" pitchFamily="34" charset="0"/>
                <a:ea typeface="Tahoma" pitchFamily="34" charset="0"/>
                <a:cs typeface="Tahoma" pitchFamily="34" charset="0"/>
              </a:rPr>
              <a:t> is used to add a single tuple to a relation.</a:t>
            </a:r>
          </a:p>
          <a:p>
            <a:pPr marL="342900" indent="-342900">
              <a:lnSpc>
                <a:spcPct val="200000"/>
              </a:lnSpc>
              <a:buFont typeface="Arial" pitchFamily="34" charset="0"/>
              <a:buChar char="•"/>
            </a:pPr>
            <a:r>
              <a:rPr lang="en-US" dirty="0">
                <a:latin typeface="Tahoma" pitchFamily="34" charset="0"/>
                <a:ea typeface="Tahoma" pitchFamily="34" charset="0"/>
                <a:cs typeface="Tahoma" pitchFamily="34" charset="0"/>
              </a:rPr>
              <a:t>We must specify the relation name and a list of values for the tuple.</a:t>
            </a:r>
          </a:p>
          <a:p>
            <a:pPr marL="342900" indent="-342900">
              <a:lnSpc>
                <a:spcPct val="200000"/>
              </a:lnSpc>
              <a:buFont typeface="Arial" pitchFamily="34" charset="0"/>
              <a:buChar char="•"/>
            </a:pPr>
            <a:r>
              <a:rPr lang="en-US" dirty="0">
                <a:latin typeface="Tahoma" pitchFamily="34" charset="0"/>
                <a:ea typeface="Tahoma" pitchFamily="34" charset="0"/>
                <a:cs typeface="Tahoma" pitchFamily="34" charset="0"/>
              </a:rPr>
              <a:t>The values should be listed in the same order in which the corresponding attributes were specified in the CREATE TABLE command.</a:t>
            </a:r>
          </a:p>
        </p:txBody>
      </p:sp>
      <p:sp>
        <p:nvSpPr>
          <p:cNvPr id="5" name="TextBox 4"/>
          <p:cNvSpPr txBox="1"/>
          <p:nvPr/>
        </p:nvSpPr>
        <p:spPr>
          <a:xfrm>
            <a:off x="304800" y="3810000"/>
            <a:ext cx="8686800" cy="1754326"/>
          </a:xfrm>
          <a:prstGeom prst="rect">
            <a:avLst/>
          </a:prstGeom>
          <a:noFill/>
        </p:spPr>
        <p:txBody>
          <a:bodyPr wrap="square" rtlCol="0">
            <a:spAutoFit/>
          </a:bodyPr>
          <a:lstStyle/>
          <a:p>
            <a:pPr>
              <a:lnSpc>
                <a:spcPct val="200000"/>
              </a:lnSpc>
            </a:pPr>
            <a:r>
              <a:rPr lang="en-US" b="1" dirty="0">
                <a:latin typeface="Tahoma" pitchFamily="34" charset="0"/>
                <a:ea typeface="Tahoma" pitchFamily="34" charset="0"/>
                <a:cs typeface="Tahoma" pitchFamily="34" charset="0"/>
              </a:rPr>
              <a:t> Example  : Adding a new tuple to employee table</a:t>
            </a:r>
          </a:p>
          <a:p>
            <a:pPr>
              <a:lnSpc>
                <a:spcPct val="200000"/>
              </a:lnSpc>
            </a:pPr>
            <a:r>
              <a:rPr lang="en-US" b="1" dirty="0">
                <a:latin typeface="Tahoma" pitchFamily="34" charset="0"/>
                <a:ea typeface="Tahoma" pitchFamily="34" charset="0"/>
                <a:cs typeface="Tahoma" pitchFamily="34" charset="0"/>
              </a:rPr>
              <a:t>UI:  </a:t>
            </a:r>
            <a:r>
              <a:rPr lang="en-US" dirty="0">
                <a:solidFill>
                  <a:srgbClr val="002060"/>
                </a:solidFill>
                <a:latin typeface="Tahoma" pitchFamily="34" charset="0"/>
                <a:ea typeface="Tahoma" pitchFamily="34" charset="0"/>
                <a:cs typeface="Tahoma" pitchFamily="34" charset="0"/>
              </a:rPr>
              <a:t>INSERT INTO  </a:t>
            </a:r>
            <a:r>
              <a:rPr lang="en-US" dirty="0">
                <a:latin typeface="Tahoma" pitchFamily="34" charset="0"/>
                <a:ea typeface="Tahoma" pitchFamily="34" charset="0"/>
                <a:cs typeface="Tahoma" pitchFamily="34" charset="0"/>
              </a:rPr>
              <a:t>EMPLOYEE  </a:t>
            </a:r>
            <a:r>
              <a:rPr lang="en-US" dirty="0">
                <a:solidFill>
                  <a:srgbClr val="002060"/>
                </a:solidFill>
                <a:latin typeface="Tahoma" pitchFamily="34" charset="0"/>
                <a:ea typeface="Tahoma" pitchFamily="34" charset="0"/>
                <a:cs typeface="Tahoma" pitchFamily="34" charset="0"/>
              </a:rPr>
              <a:t>VALUES </a:t>
            </a:r>
            <a:r>
              <a:rPr lang="en-US" dirty="0">
                <a:latin typeface="Tahoma" pitchFamily="34" charset="0"/>
                <a:ea typeface="Tahoma" pitchFamily="34" charset="0"/>
                <a:cs typeface="Tahoma" pitchFamily="34" charset="0"/>
              </a:rPr>
              <a:t> ('Richard', 'K', 'Marini', '653298653', '1962-12-30', '98  Oak Forest,Katy,TX', 'M', 37000, '987654321', 4);</a:t>
            </a:r>
          </a:p>
        </p:txBody>
      </p:sp>
      <p:sp>
        <p:nvSpPr>
          <p:cNvPr id="8" name="Rectangle 7"/>
          <p:cNvSpPr/>
          <p:nvPr/>
        </p:nvSpPr>
        <p:spPr>
          <a:xfrm>
            <a:off x="304800" y="228600"/>
            <a:ext cx="4256293" cy="523220"/>
          </a:xfrm>
          <a:prstGeom prst="rect">
            <a:avLst/>
          </a:prstGeom>
        </p:spPr>
        <p:txBody>
          <a:bodyPr wrap="none">
            <a:spAutoFit/>
          </a:bodyPr>
          <a:lstStyle/>
          <a:p>
            <a:r>
              <a:rPr lang="en-US" sz="2800" b="1" dirty="0">
                <a:solidFill>
                  <a:srgbClr val="002060"/>
                </a:solidFill>
                <a:latin typeface="Tahoma" pitchFamily="34" charset="0"/>
                <a:ea typeface="Tahoma" pitchFamily="34" charset="0"/>
                <a:cs typeface="Tahoma" pitchFamily="34" charset="0"/>
              </a:rPr>
              <a:t>The INSERT Command</a:t>
            </a:r>
          </a:p>
        </p:txBody>
      </p:sp>
    </p:spTree>
  </p:cSld>
  <p:clrMapOvr>
    <a:masterClrMapping/>
  </p:clrMapOvr>
  <p:transition>
    <p:cut/>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990600"/>
            <a:ext cx="8305800" cy="4524315"/>
          </a:xfrm>
          <a:prstGeom prst="rect">
            <a:avLst/>
          </a:prstGeom>
          <a:noFill/>
        </p:spPr>
        <p:txBody>
          <a:bodyPr wrap="square" rtlCol="0">
            <a:spAutoFit/>
          </a:bodyPr>
          <a:lstStyle/>
          <a:p>
            <a:pPr marL="342900" indent="-342900" algn="just">
              <a:lnSpc>
                <a:spcPct val="200000"/>
              </a:lnSpc>
              <a:buFont typeface="Arial" pitchFamily="34" charset="0"/>
              <a:buChar char="•"/>
            </a:pPr>
            <a:r>
              <a:rPr lang="en-US" dirty="0">
                <a:latin typeface="Tahoma" pitchFamily="34" charset="0"/>
                <a:ea typeface="Tahoma" pitchFamily="34" charset="0"/>
                <a:cs typeface="Tahoma" pitchFamily="34" charset="0"/>
              </a:rPr>
              <a:t>This allows the user to specify explicit attribute  names that correspond to the values provided in the INSERT command.</a:t>
            </a:r>
          </a:p>
          <a:p>
            <a:pPr marL="342900" indent="-342900" algn="just">
              <a:lnSpc>
                <a:spcPct val="200000"/>
              </a:lnSpc>
              <a:buFont typeface="Arial" pitchFamily="34" charset="0"/>
              <a:buChar char="•"/>
            </a:pPr>
            <a:r>
              <a:rPr lang="en-US" dirty="0">
                <a:latin typeface="Tahoma" pitchFamily="34" charset="0"/>
                <a:ea typeface="Tahoma" pitchFamily="34" charset="0"/>
                <a:cs typeface="Tahoma" pitchFamily="34" charset="0"/>
              </a:rPr>
              <a:t>This is useful if a relation has many attributes but only a few of those attributes are assigned values in the new tuple.</a:t>
            </a:r>
          </a:p>
          <a:p>
            <a:pPr marL="342900" indent="-342900" algn="just">
              <a:lnSpc>
                <a:spcPct val="200000"/>
              </a:lnSpc>
              <a:buFont typeface="Arial" pitchFamily="34" charset="0"/>
              <a:buChar char="•"/>
            </a:pPr>
            <a:r>
              <a:rPr lang="en-US" dirty="0">
                <a:latin typeface="Tahoma" pitchFamily="34" charset="0"/>
                <a:ea typeface="Tahoma" pitchFamily="34" charset="0"/>
                <a:cs typeface="Tahoma" pitchFamily="34" charset="0"/>
              </a:rPr>
              <a:t>However, the values must include all attributes with NOT NULL specification and no default value.</a:t>
            </a:r>
          </a:p>
          <a:p>
            <a:pPr marL="342900" indent="-342900" algn="just">
              <a:lnSpc>
                <a:spcPct val="200000"/>
              </a:lnSpc>
              <a:buFont typeface="Arial" pitchFamily="34" charset="0"/>
              <a:buChar char="•"/>
            </a:pPr>
            <a:r>
              <a:rPr lang="en-US" dirty="0">
                <a:latin typeface="Tahoma" pitchFamily="34" charset="0"/>
                <a:ea typeface="Tahoma" pitchFamily="34" charset="0"/>
                <a:cs typeface="Tahoma" pitchFamily="34" charset="0"/>
              </a:rPr>
              <a:t>Attributes with NULL allowed or DEFAULT values are the ones that can be left out.</a:t>
            </a:r>
          </a:p>
        </p:txBody>
      </p:sp>
      <p:sp>
        <p:nvSpPr>
          <p:cNvPr id="6" name="Rectangle 5"/>
          <p:cNvSpPr/>
          <p:nvPr/>
        </p:nvSpPr>
        <p:spPr>
          <a:xfrm>
            <a:off x="0" y="152400"/>
            <a:ext cx="7620000" cy="523220"/>
          </a:xfrm>
          <a:prstGeom prst="rect">
            <a:avLst/>
          </a:prstGeom>
        </p:spPr>
        <p:txBody>
          <a:bodyPr wrap="square">
            <a:spAutoFit/>
          </a:bodyPr>
          <a:lstStyle/>
          <a:p>
            <a:r>
              <a:rPr lang="en-US" sz="2800" b="1" dirty="0">
                <a:solidFill>
                  <a:srgbClr val="002060"/>
                </a:solidFill>
                <a:latin typeface="Tahoma" pitchFamily="34" charset="0"/>
                <a:ea typeface="Tahoma" pitchFamily="34" charset="0"/>
                <a:cs typeface="Tahoma" pitchFamily="34" charset="0"/>
              </a:rPr>
              <a:t>Another form of the  INSERT Command :</a:t>
            </a:r>
          </a:p>
        </p:txBody>
      </p:sp>
    </p:spTree>
  </p:cSld>
  <p:clrMapOvr>
    <a:masterClrMapping/>
  </p:clrMapOvr>
  <p:transition>
    <p:cut/>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990600"/>
            <a:ext cx="8458200" cy="952890"/>
          </a:xfrm>
          <a:prstGeom prst="rect">
            <a:avLst/>
          </a:prstGeom>
          <a:noFill/>
        </p:spPr>
        <p:txBody>
          <a:bodyPr wrap="square" rtlCol="0">
            <a:spAutoFit/>
          </a:bodyPr>
          <a:lstStyle/>
          <a:p>
            <a:pPr algn="just">
              <a:lnSpc>
                <a:spcPct val="150000"/>
              </a:lnSpc>
            </a:pPr>
            <a:r>
              <a:rPr lang="en-US" sz="2000" dirty="0">
                <a:latin typeface="Tahoma" pitchFamily="34" charset="0"/>
                <a:ea typeface="Tahoma" pitchFamily="34" charset="0"/>
                <a:cs typeface="Tahoma" pitchFamily="34" charset="0"/>
              </a:rPr>
              <a:t>For example, to enter a tuple for a new </a:t>
            </a:r>
            <a:r>
              <a:rPr lang="en-US" sz="1200" dirty="0">
                <a:latin typeface="Tahoma" pitchFamily="34" charset="0"/>
                <a:ea typeface="Tahoma" pitchFamily="34" charset="0"/>
                <a:cs typeface="Tahoma" pitchFamily="34" charset="0"/>
              </a:rPr>
              <a:t>EMPLOYEE </a:t>
            </a:r>
            <a:r>
              <a:rPr lang="en-US" sz="2000" dirty="0">
                <a:latin typeface="Tahoma" pitchFamily="34" charset="0"/>
                <a:ea typeface="Tahoma" pitchFamily="34" charset="0"/>
                <a:cs typeface="Tahoma" pitchFamily="34" charset="0"/>
              </a:rPr>
              <a:t>for whom we know only the </a:t>
            </a:r>
            <a:r>
              <a:rPr lang="en-US" sz="1600" dirty="0">
                <a:latin typeface="Tahoma" pitchFamily="34" charset="0"/>
                <a:ea typeface="Tahoma" pitchFamily="34" charset="0"/>
                <a:cs typeface="Tahoma" pitchFamily="34" charset="0"/>
              </a:rPr>
              <a:t>FNAME, LNAME, DNO,  </a:t>
            </a:r>
            <a:r>
              <a:rPr lang="en-US" sz="2000" dirty="0">
                <a:latin typeface="Tahoma" pitchFamily="34" charset="0"/>
                <a:ea typeface="Tahoma" pitchFamily="34" charset="0"/>
                <a:cs typeface="Tahoma" pitchFamily="34" charset="0"/>
              </a:rPr>
              <a:t>and </a:t>
            </a:r>
            <a:r>
              <a:rPr lang="en-US" sz="1400" dirty="0">
                <a:latin typeface="Tahoma" pitchFamily="34" charset="0"/>
                <a:ea typeface="Tahoma" pitchFamily="34" charset="0"/>
                <a:cs typeface="Tahoma" pitchFamily="34" charset="0"/>
              </a:rPr>
              <a:t>SSN</a:t>
            </a:r>
            <a:r>
              <a:rPr lang="en-US" sz="900"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attributes, we can use U1A:</a:t>
            </a:r>
          </a:p>
        </p:txBody>
      </p:sp>
      <p:sp>
        <p:nvSpPr>
          <p:cNvPr id="5" name="TextBox 4"/>
          <p:cNvSpPr txBox="1"/>
          <p:nvPr/>
        </p:nvSpPr>
        <p:spPr>
          <a:xfrm>
            <a:off x="304800" y="2667000"/>
            <a:ext cx="8458200" cy="877163"/>
          </a:xfrm>
          <a:prstGeom prst="rect">
            <a:avLst/>
          </a:prstGeom>
          <a:noFill/>
        </p:spPr>
        <p:txBody>
          <a:bodyPr wrap="square" rtlCol="0">
            <a:spAutoFit/>
          </a:bodyPr>
          <a:lstStyle/>
          <a:p>
            <a:pPr>
              <a:lnSpc>
                <a:spcPct val="150000"/>
              </a:lnSpc>
            </a:pPr>
            <a:r>
              <a:rPr lang="en-US" b="1" dirty="0">
                <a:latin typeface="Tahoma" pitchFamily="34" charset="0"/>
                <a:ea typeface="Tahoma" pitchFamily="34" charset="0"/>
                <a:cs typeface="Tahoma" pitchFamily="34" charset="0"/>
              </a:rPr>
              <a:t>UIA:        </a:t>
            </a:r>
            <a:r>
              <a:rPr lang="en-US" sz="1600" b="1" dirty="0">
                <a:solidFill>
                  <a:srgbClr val="002060"/>
                </a:solidFill>
                <a:latin typeface="Tahoma" pitchFamily="34" charset="0"/>
                <a:ea typeface="Tahoma" pitchFamily="34" charset="0"/>
                <a:cs typeface="Tahoma" pitchFamily="34" charset="0"/>
              </a:rPr>
              <a:t>INSERT INTO   VALUES   </a:t>
            </a:r>
            <a:r>
              <a:rPr lang="en-US" sz="1600" b="1" dirty="0">
                <a:latin typeface="Tahoma" pitchFamily="34" charset="0"/>
                <a:ea typeface="Tahoma" pitchFamily="34" charset="0"/>
                <a:cs typeface="Tahoma" pitchFamily="34" charset="0"/>
              </a:rPr>
              <a:t>EMPLOYEE (FNAME, LNAME, DNO, SSN)</a:t>
            </a:r>
          </a:p>
          <a:p>
            <a:pPr>
              <a:lnSpc>
                <a:spcPct val="150000"/>
              </a:lnSpc>
            </a:pPr>
            <a:r>
              <a:rPr lang="en-US" sz="1600" b="1" dirty="0">
                <a:latin typeface="Tahoma" pitchFamily="34" charset="0"/>
                <a:ea typeface="Tahoma" pitchFamily="34" charset="0"/>
                <a:cs typeface="Tahoma" pitchFamily="34" charset="0"/>
              </a:rPr>
              <a:t>	 ('Richard', 'Marini', 4, '653298653');</a:t>
            </a:r>
          </a:p>
        </p:txBody>
      </p:sp>
      <p:sp>
        <p:nvSpPr>
          <p:cNvPr id="6" name="TextBox 5"/>
          <p:cNvSpPr txBox="1"/>
          <p:nvPr/>
        </p:nvSpPr>
        <p:spPr>
          <a:xfrm>
            <a:off x="304800" y="4114800"/>
            <a:ext cx="8382000" cy="1754326"/>
          </a:xfrm>
          <a:prstGeom prst="rect">
            <a:avLst/>
          </a:prstGeom>
          <a:noFill/>
        </p:spPr>
        <p:txBody>
          <a:bodyPr wrap="square" rtlCol="0">
            <a:spAutoFit/>
          </a:bodyPr>
          <a:lstStyle/>
          <a:p>
            <a:pPr>
              <a:lnSpc>
                <a:spcPct val="150000"/>
              </a:lnSpc>
              <a:buFont typeface="Arial" pitchFamily="34" charset="0"/>
              <a:buChar char="•"/>
            </a:pPr>
            <a:r>
              <a:rPr lang="en-US" dirty="0">
                <a:latin typeface="Times New Roman"/>
              </a:rPr>
              <a:t>    </a:t>
            </a:r>
            <a:r>
              <a:rPr lang="en-US" sz="2400" dirty="0">
                <a:latin typeface="Times New Roman"/>
              </a:rPr>
              <a:t>Attributes not specified in U lA  are set </a:t>
            </a:r>
            <a:r>
              <a:rPr lang="en-US" sz="2000" dirty="0">
                <a:latin typeface="Times New Roman"/>
              </a:rPr>
              <a:t>to </a:t>
            </a:r>
            <a:r>
              <a:rPr lang="en-US" sz="2400" dirty="0">
                <a:latin typeface="Times New Roman"/>
              </a:rPr>
              <a:t>their DEFAULT or to    NULL</a:t>
            </a:r>
            <a:endParaRPr lang="en-US" dirty="0">
              <a:latin typeface="Times New Roman"/>
            </a:endParaRPr>
          </a:p>
          <a:p>
            <a:pPr>
              <a:buFont typeface="Arial" pitchFamily="34" charset="0"/>
              <a:buChar char="•"/>
            </a:pPr>
            <a:endParaRPr lang="en-US" dirty="0">
              <a:latin typeface="Times New Roman"/>
            </a:endParaRPr>
          </a:p>
          <a:p>
            <a:pPr>
              <a:buFont typeface="Arial" pitchFamily="34" charset="0"/>
              <a:buChar char="•"/>
            </a:pPr>
            <a:endParaRPr lang="en-US" dirty="0"/>
          </a:p>
        </p:txBody>
      </p:sp>
      <p:sp>
        <p:nvSpPr>
          <p:cNvPr id="9" name="Rectangle 8"/>
          <p:cNvSpPr/>
          <p:nvPr/>
        </p:nvSpPr>
        <p:spPr>
          <a:xfrm>
            <a:off x="0" y="152400"/>
            <a:ext cx="7620000" cy="523220"/>
          </a:xfrm>
          <a:prstGeom prst="rect">
            <a:avLst/>
          </a:prstGeom>
        </p:spPr>
        <p:txBody>
          <a:bodyPr wrap="square">
            <a:spAutoFit/>
          </a:bodyPr>
          <a:lstStyle/>
          <a:p>
            <a:r>
              <a:rPr lang="en-US" sz="2800" b="1" dirty="0">
                <a:solidFill>
                  <a:srgbClr val="002060"/>
                </a:solidFill>
                <a:latin typeface="Tahoma" pitchFamily="34" charset="0"/>
                <a:ea typeface="Tahoma" pitchFamily="34" charset="0"/>
                <a:cs typeface="Tahoma" pitchFamily="34" charset="0"/>
              </a:rPr>
              <a:t>Another form of the  INSERT Command :</a:t>
            </a:r>
          </a:p>
        </p:txBody>
      </p:sp>
    </p:spTree>
  </p:cSld>
  <p:clrMapOvr>
    <a:masterClrMapping/>
  </p:clrMapOvr>
  <p:transition>
    <p:cut/>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228600"/>
            <a:ext cx="83058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Inserting multiple tuples  using select </a:t>
            </a:r>
          </a:p>
        </p:txBody>
      </p:sp>
      <p:sp>
        <p:nvSpPr>
          <p:cNvPr id="7" name="TextBox 6"/>
          <p:cNvSpPr txBox="1"/>
          <p:nvPr/>
        </p:nvSpPr>
        <p:spPr>
          <a:xfrm>
            <a:off x="228600" y="1143000"/>
            <a:ext cx="8458200" cy="2585323"/>
          </a:xfrm>
          <a:prstGeom prst="rect">
            <a:avLst/>
          </a:prstGeom>
          <a:noFill/>
        </p:spPr>
        <p:txBody>
          <a:bodyPr wrap="square" rtlCol="0">
            <a:spAutoFit/>
          </a:bodyPr>
          <a:lstStyle/>
          <a:p>
            <a:pPr algn="just">
              <a:lnSpc>
                <a:spcPct val="150000"/>
              </a:lnSpc>
              <a:buFont typeface="Arial" pitchFamily="34" charset="0"/>
              <a:buChar char="•"/>
            </a:pPr>
            <a:r>
              <a:rPr lang="en-US" dirty="0">
                <a:latin typeface="Tahoma" pitchFamily="34" charset="0"/>
                <a:ea typeface="Tahoma" pitchFamily="34" charset="0"/>
                <a:cs typeface="Tahoma" pitchFamily="34" charset="0"/>
              </a:rPr>
              <a:t> A variation of the INSERT command inserts multiple tuples into a relation in conjunction with creating the relation and loading it with the result of a query.</a:t>
            </a:r>
          </a:p>
          <a:p>
            <a:pPr algn="just">
              <a:lnSpc>
                <a:spcPct val="150000"/>
              </a:lnSpc>
              <a:buFont typeface="Arial" pitchFamily="34" charset="0"/>
              <a:buChar char="•"/>
            </a:pPr>
            <a:endParaRPr lang="en-US" dirty="0">
              <a:latin typeface="Tahoma" pitchFamily="34" charset="0"/>
              <a:ea typeface="Tahoma" pitchFamily="34" charset="0"/>
              <a:cs typeface="Tahoma" pitchFamily="34" charset="0"/>
            </a:endParaRPr>
          </a:p>
          <a:p>
            <a:pPr algn="just">
              <a:lnSpc>
                <a:spcPct val="150000"/>
              </a:lnSpc>
              <a:buFont typeface="Arial" pitchFamily="34" charset="0"/>
              <a:buChar char="•"/>
            </a:pPr>
            <a:r>
              <a:rPr lang="en-US" dirty="0">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For example, </a:t>
            </a:r>
            <a:r>
              <a:rPr lang="en-US" dirty="0">
                <a:latin typeface="Tahoma" pitchFamily="34" charset="0"/>
                <a:ea typeface="Tahoma" pitchFamily="34" charset="0"/>
                <a:cs typeface="Tahoma" pitchFamily="34" charset="0"/>
              </a:rPr>
              <a:t>to create a temporary table that has the name, number of employees, and total salaries for each department, we can write the statements in U3A and U3B:</a:t>
            </a:r>
          </a:p>
        </p:txBody>
      </p:sp>
      <p:sp>
        <p:nvSpPr>
          <p:cNvPr id="8" name="TextBox 7"/>
          <p:cNvSpPr txBox="1"/>
          <p:nvPr/>
        </p:nvSpPr>
        <p:spPr>
          <a:xfrm>
            <a:off x="228600" y="4191000"/>
            <a:ext cx="8458200" cy="1892826"/>
          </a:xfrm>
          <a:prstGeom prst="rect">
            <a:avLst/>
          </a:prstGeom>
          <a:noFill/>
        </p:spPr>
        <p:txBody>
          <a:bodyPr wrap="square" rtlCol="0">
            <a:spAutoFit/>
          </a:bodyPr>
          <a:lstStyle/>
          <a:p>
            <a:r>
              <a:rPr lang="en-US" dirty="0">
                <a:latin typeface="Tahoma" pitchFamily="34" charset="0"/>
                <a:ea typeface="Tahoma" pitchFamily="34" charset="0"/>
                <a:cs typeface="Tahoma" pitchFamily="34" charset="0"/>
              </a:rPr>
              <a:t>U3A: </a:t>
            </a:r>
            <a:r>
              <a:rPr lang="en-US" sz="1600" b="1" dirty="0">
                <a:solidFill>
                  <a:srgbClr val="002060"/>
                </a:solidFill>
                <a:latin typeface="Tahoma" pitchFamily="34" charset="0"/>
                <a:ea typeface="Tahoma" pitchFamily="34" charset="0"/>
                <a:cs typeface="Tahoma" pitchFamily="34" charset="0"/>
              </a:rPr>
              <a:t>CREATE TABLE </a:t>
            </a:r>
            <a:r>
              <a:rPr lang="en-US" sz="1600" b="1" dirty="0">
                <a:latin typeface="Tahoma" pitchFamily="34" charset="0"/>
                <a:ea typeface="Tahoma" pitchFamily="34" charset="0"/>
                <a:cs typeface="Tahoma" pitchFamily="34" charset="0"/>
              </a:rPr>
              <a:t>DEPTS_INFO </a:t>
            </a:r>
            <a:r>
              <a:rPr lang="en-US" sz="1600" b="1" dirty="0">
                <a:solidFill>
                  <a:srgbClr val="00B0F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a:t>
            </a:r>
          </a:p>
          <a:p>
            <a:pPr lvl="1">
              <a:lnSpc>
                <a:spcPct val="150000"/>
              </a:lnSpc>
            </a:pPr>
            <a:r>
              <a:rPr lang="en-US" dirty="0">
                <a:latin typeface="Tahoma" pitchFamily="34" charset="0"/>
                <a:ea typeface="Tahoma" pitchFamily="34" charset="0"/>
                <a:cs typeface="Tahoma" pitchFamily="34" charset="0"/>
              </a:rPr>
              <a:t>                                        DEPT_NAME      </a:t>
            </a:r>
            <a:r>
              <a:rPr lang="en-US" b="1" dirty="0">
                <a:solidFill>
                  <a:srgbClr val="002060"/>
                </a:solidFill>
                <a:latin typeface="Tahoma" pitchFamily="34" charset="0"/>
                <a:ea typeface="Tahoma" pitchFamily="34" charset="0"/>
                <a:cs typeface="Tahoma" pitchFamily="34" charset="0"/>
              </a:rPr>
              <a:t>VARCHAR(15),</a:t>
            </a:r>
          </a:p>
          <a:p>
            <a:pPr lvl="1">
              <a:lnSpc>
                <a:spcPct val="150000"/>
              </a:lnSpc>
            </a:pPr>
            <a:r>
              <a:rPr lang="en-US" dirty="0">
                <a:latin typeface="Tahoma" pitchFamily="34" charset="0"/>
                <a:ea typeface="Tahoma" pitchFamily="34" charset="0"/>
                <a:cs typeface="Tahoma" pitchFamily="34" charset="0"/>
              </a:rPr>
              <a:t>                                        NO_OF_EMPS    </a:t>
            </a:r>
            <a:r>
              <a:rPr lang="en-US" b="1" dirty="0">
                <a:solidFill>
                  <a:srgbClr val="002060"/>
                </a:solidFill>
                <a:latin typeface="Tahoma" pitchFamily="34" charset="0"/>
                <a:ea typeface="Tahoma" pitchFamily="34" charset="0"/>
                <a:cs typeface="Tahoma" pitchFamily="34" charset="0"/>
              </a:rPr>
              <a:t>INTEGER,</a:t>
            </a:r>
          </a:p>
          <a:p>
            <a:pPr lvl="1">
              <a:lnSpc>
                <a:spcPct val="150000"/>
              </a:lnSpc>
            </a:pPr>
            <a:r>
              <a:rPr lang="en-US" dirty="0">
                <a:latin typeface="Tahoma" pitchFamily="34" charset="0"/>
                <a:ea typeface="Tahoma" pitchFamily="34" charset="0"/>
                <a:cs typeface="Tahoma" pitchFamily="34" charset="0"/>
              </a:rPr>
              <a:t>                                        TOTAL_SAL        </a:t>
            </a:r>
            <a:r>
              <a:rPr lang="en-US" b="1" dirty="0">
                <a:solidFill>
                  <a:srgbClr val="002060"/>
                </a:solidFill>
                <a:latin typeface="Tahoma" pitchFamily="34" charset="0"/>
                <a:ea typeface="Tahoma" pitchFamily="34" charset="0"/>
                <a:cs typeface="Tahoma" pitchFamily="34" charset="0"/>
              </a:rPr>
              <a:t>INTEGER</a:t>
            </a:r>
          </a:p>
          <a:p>
            <a:r>
              <a:rPr lang="en-US" dirty="0">
                <a:latin typeface="Tahoma" pitchFamily="34" charset="0"/>
                <a:ea typeface="Tahoma" pitchFamily="34" charset="0"/>
                <a:cs typeface="Tahoma" pitchFamily="34" charset="0"/>
              </a:rPr>
              <a:t>                                             );</a:t>
            </a:r>
          </a:p>
        </p:txBody>
      </p:sp>
    </p:spTree>
  </p:cSld>
  <p:clrMapOvr>
    <a:masterClrMapping/>
  </p:clrMapOvr>
  <p:transition>
    <p:cut/>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04800" y="1219200"/>
            <a:ext cx="8458200" cy="2862322"/>
          </a:xfrm>
          <a:prstGeom prst="rect">
            <a:avLst/>
          </a:prstGeom>
          <a:noFill/>
        </p:spPr>
        <p:txBody>
          <a:bodyPr wrap="square" rtlCol="0">
            <a:spAutoFit/>
          </a:bodyPr>
          <a:lstStyle/>
          <a:p>
            <a:pPr algn="just">
              <a:lnSpc>
                <a:spcPct val="200000"/>
              </a:lnSpc>
            </a:pPr>
            <a:r>
              <a:rPr lang="en-US" b="1" dirty="0">
                <a:latin typeface="Tahoma" pitchFamily="34" charset="0"/>
                <a:ea typeface="Tahoma" pitchFamily="34" charset="0"/>
                <a:cs typeface="Tahoma" pitchFamily="34" charset="0"/>
              </a:rPr>
              <a:t> U3B:    </a:t>
            </a:r>
            <a:r>
              <a:rPr lang="en-US" sz="1600" b="1" dirty="0">
                <a:solidFill>
                  <a:srgbClr val="002060"/>
                </a:solidFill>
                <a:latin typeface="Tahoma" pitchFamily="34" charset="0"/>
                <a:ea typeface="Tahoma" pitchFamily="34" charset="0"/>
                <a:cs typeface="Tahoma" pitchFamily="34" charset="0"/>
              </a:rPr>
              <a:t>INSERT INTO  </a:t>
            </a:r>
            <a:r>
              <a:rPr lang="en-US" sz="1600" b="1" dirty="0">
                <a:latin typeface="Tahoma" pitchFamily="34" charset="0"/>
                <a:ea typeface="Tahoma" pitchFamily="34" charset="0"/>
                <a:cs typeface="Tahoma" pitchFamily="34" charset="0"/>
              </a:rPr>
              <a:t>DEPTS_INFO</a:t>
            </a:r>
            <a:r>
              <a:rPr lang="en-US" sz="1600" dirty="0">
                <a:latin typeface="Tahoma" pitchFamily="34" charset="0"/>
                <a:ea typeface="Tahoma" pitchFamily="34" charset="0"/>
                <a:cs typeface="Tahoma" pitchFamily="34" charset="0"/>
              </a:rPr>
              <a:t> (DEPT_NAME, NO_OF_EMPS,  TOTAL_SAL)</a:t>
            </a:r>
          </a:p>
          <a:p>
            <a:pPr>
              <a:lnSpc>
                <a:spcPct val="20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SELECT</a:t>
            </a:r>
            <a:r>
              <a:rPr lang="en-US" b="1" dirty="0">
                <a:solidFill>
                  <a:srgbClr val="00B0F0"/>
                </a:solidFill>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DNAME, </a:t>
            </a:r>
            <a:r>
              <a:rPr lang="en-US" b="1" dirty="0">
                <a:solidFill>
                  <a:srgbClr val="002060"/>
                </a:solidFill>
                <a:latin typeface="Tahoma" pitchFamily="34" charset="0"/>
                <a:ea typeface="Tahoma" pitchFamily="34" charset="0"/>
                <a:cs typeface="Tahoma" pitchFamily="34" charset="0"/>
              </a:rPr>
              <a:t>COUNT (*), SUM </a:t>
            </a:r>
            <a:r>
              <a:rPr lang="en-US" b="1" dirty="0">
                <a:latin typeface="Tahoma" pitchFamily="34" charset="0"/>
                <a:ea typeface="Tahoma" pitchFamily="34" charset="0"/>
                <a:cs typeface="Tahoma" pitchFamily="34" charset="0"/>
              </a:rPr>
              <a:t>(SALARY)</a:t>
            </a:r>
          </a:p>
          <a:p>
            <a:pPr>
              <a:lnSpc>
                <a:spcPct val="20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FROM</a:t>
            </a:r>
            <a:r>
              <a:rPr lang="en-US" b="1" dirty="0">
                <a:solidFill>
                  <a:srgbClr val="00B0F0"/>
                </a:solidFill>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DEPARTMENT ,</a:t>
            </a:r>
            <a:r>
              <a:rPr lang="en-US" b="1" dirty="0">
                <a:solidFill>
                  <a:srgbClr val="00B0F0"/>
                </a:solidFill>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EMPLOYEE ON  </a:t>
            </a:r>
          </a:p>
          <a:p>
            <a:pPr>
              <a:lnSpc>
                <a:spcPct val="20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WHERE</a:t>
            </a:r>
            <a:r>
              <a:rPr lang="en-US" b="1" dirty="0">
                <a:latin typeface="Tahoma" pitchFamily="34" charset="0"/>
                <a:ea typeface="Tahoma" pitchFamily="34" charset="0"/>
                <a:cs typeface="Tahoma" pitchFamily="34" charset="0"/>
              </a:rPr>
              <a:t> </a:t>
            </a:r>
            <a:r>
              <a:rPr lang="en-US" dirty="0">
                <a:solidFill>
                  <a:srgbClr val="C00000"/>
                </a:solidFill>
                <a:latin typeface="Tahoma" pitchFamily="34" charset="0"/>
                <a:ea typeface="Tahoma" pitchFamily="34" charset="0"/>
                <a:cs typeface="Tahoma" pitchFamily="34" charset="0"/>
              </a:rPr>
              <a:t>DNUMBER=DNO</a:t>
            </a:r>
          </a:p>
          <a:p>
            <a:pPr>
              <a:lnSpc>
                <a:spcPct val="200000"/>
              </a:lnSpc>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GROUP BY </a:t>
            </a:r>
            <a:r>
              <a:rPr lang="en-US" dirty="0">
                <a:latin typeface="Tahoma" pitchFamily="34" charset="0"/>
                <a:ea typeface="Tahoma" pitchFamily="34" charset="0"/>
                <a:cs typeface="Tahoma" pitchFamily="34" charset="0"/>
              </a:rPr>
              <a:t>DNAME;</a:t>
            </a:r>
          </a:p>
        </p:txBody>
      </p:sp>
      <p:sp>
        <p:nvSpPr>
          <p:cNvPr id="6" name="TextBox 5"/>
          <p:cNvSpPr txBox="1"/>
          <p:nvPr/>
        </p:nvSpPr>
        <p:spPr>
          <a:xfrm>
            <a:off x="381000" y="4495800"/>
            <a:ext cx="8534400" cy="1115626"/>
          </a:xfrm>
          <a:prstGeom prst="rect">
            <a:avLst/>
          </a:prstGeom>
          <a:noFill/>
        </p:spPr>
        <p:txBody>
          <a:bodyPr wrap="square" rtlCol="0">
            <a:spAutoFit/>
          </a:bodyPr>
          <a:lstStyle/>
          <a:p>
            <a:pPr algn="just">
              <a:lnSpc>
                <a:spcPct val="200000"/>
              </a:lnSpc>
              <a:buFont typeface="Arial" pitchFamily="34" charset="0"/>
              <a:buChar char="•"/>
            </a:pPr>
            <a:r>
              <a:rPr lang="en-US" dirty="0">
                <a:latin typeface="Times New Roman"/>
              </a:rPr>
              <a:t> A table DEPTS_INFO is created by U3A and is loaded with the summary information retrieved from the database by the query in U3B.</a:t>
            </a:r>
            <a:endParaRPr lang="en-US" dirty="0"/>
          </a:p>
        </p:txBody>
      </p:sp>
      <p:sp>
        <p:nvSpPr>
          <p:cNvPr id="9" name="TextBox 8"/>
          <p:cNvSpPr txBox="1"/>
          <p:nvPr/>
        </p:nvSpPr>
        <p:spPr>
          <a:xfrm>
            <a:off x="228600" y="228600"/>
            <a:ext cx="83058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Inserting multiple tuples  using select </a:t>
            </a:r>
          </a:p>
        </p:txBody>
      </p:sp>
    </p:spTree>
  </p:cSld>
  <p:clrMapOvr>
    <a:masterClrMapping/>
  </p:clrMapOvr>
  <p:transition>
    <p:cut/>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228600"/>
            <a:ext cx="80772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The DELETE Command</a:t>
            </a:r>
          </a:p>
        </p:txBody>
      </p:sp>
      <p:sp>
        <p:nvSpPr>
          <p:cNvPr id="7" name="TextBox 6"/>
          <p:cNvSpPr txBox="1"/>
          <p:nvPr/>
        </p:nvSpPr>
        <p:spPr>
          <a:xfrm>
            <a:off x="228600" y="1143000"/>
            <a:ext cx="8458200" cy="4524315"/>
          </a:xfrm>
          <a:prstGeom prst="rect">
            <a:avLst/>
          </a:prstGeom>
          <a:noFill/>
        </p:spPr>
        <p:txBody>
          <a:bodyPr wrap="square" rtlCol="0">
            <a:spAutoFit/>
          </a:bodyPr>
          <a:lstStyle/>
          <a:p>
            <a:pPr marL="342900" indent="-342900" algn="just">
              <a:lnSpc>
                <a:spcPct val="200000"/>
              </a:lnSpc>
              <a:buFont typeface="Arial" pitchFamily="34" charset="0"/>
              <a:buChar char="•"/>
            </a:pPr>
            <a:r>
              <a:rPr lang="en-US" b="1"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The DELETE command removes tuples from a relation. It can  include WHERE clause  to select the tuples to be deleted.</a:t>
            </a:r>
          </a:p>
          <a:p>
            <a:pPr marL="342900" indent="-342900" algn="just">
              <a:lnSpc>
                <a:spcPct val="200000"/>
              </a:lnSpc>
              <a:buFont typeface="Arial" pitchFamily="34" charset="0"/>
              <a:buChar char="•"/>
            </a:pPr>
            <a:r>
              <a:rPr lang="en-US" dirty="0">
                <a:latin typeface="Tahoma" pitchFamily="34" charset="0"/>
                <a:ea typeface="Tahoma" pitchFamily="34" charset="0"/>
                <a:cs typeface="Tahoma" pitchFamily="34" charset="0"/>
              </a:rPr>
              <a:t> Tuples are explicitly  deleted from only one table at a time</a:t>
            </a:r>
          </a:p>
          <a:p>
            <a:pPr marL="342900" indent="-342900" algn="just">
              <a:lnSpc>
                <a:spcPct val="200000"/>
              </a:lnSpc>
              <a:buFont typeface="Arial" pitchFamily="34" charset="0"/>
              <a:buChar char="•"/>
            </a:pPr>
            <a:r>
              <a:rPr lang="en-US" dirty="0">
                <a:latin typeface="Tahoma" pitchFamily="34" charset="0"/>
                <a:ea typeface="Tahoma" pitchFamily="34" charset="0"/>
                <a:cs typeface="Tahoma" pitchFamily="34" charset="0"/>
              </a:rPr>
              <a:t> The deletion may propagate to tuples in  other relations if referential triggered actions are specified in the referential integrity constraints  of the DDL</a:t>
            </a:r>
          </a:p>
          <a:p>
            <a:pPr marL="342900" indent="-342900" algn="just">
              <a:lnSpc>
                <a:spcPct val="200000"/>
              </a:lnSpc>
              <a:buFont typeface="Arial" pitchFamily="34" charset="0"/>
              <a:buChar char="•"/>
            </a:pPr>
            <a:r>
              <a:rPr lang="en-US" dirty="0">
                <a:latin typeface="Tahoma" pitchFamily="34" charset="0"/>
                <a:ea typeface="Tahoma" pitchFamily="34" charset="0"/>
                <a:cs typeface="Tahoma" pitchFamily="34" charset="0"/>
              </a:rPr>
              <a:t>A missing WHERE clause specifies that all tuples in the relation are to be deleted;</a:t>
            </a:r>
          </a:p>
        </p:txBody>
      </p:sp>
    </p:spTree>
  </p:cSld>
  <p:clrMapOvr>
    <a:masterClrMapping/>
  </p:clrMapOvr>
  <p:transition>
    <p:cut/>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066800"/>
            <a:ext cx="8458200" cy="4524315"/>
          </a:xfrm>
          <a:prstGeom prst="rect">
            <a:avLst/>
          </a:prstGeom>
          <a:noFill/>
        </p:spPr>
        <p:txBody>
          <a:bodyPr wrap="square" rtlCol="0">
            <a:spAutoFit/>
          </a:bodyPr>
          <a:lstStyle/>
          <a:p>
            <a:pPr algn="just">
              <a:lnSpc>
                <a:spcPct val="200000"/>
              </a:lnSpc>
            </a:pPr>
            <a:r>
              <a:rPr lang="en-US" dirty="0">
                <a:latin typeface="Tahoma" pitchFamily="34" charset="0"/>
                <a:ea typeface="Tahoma" pitchFamily="34" charset="0"/>
                <a:cs typeface="Tahoma" pitchFamily="34" charset="0"/>
              </a:rPr>
              <a:t>U4A:   </a:t>
            </a:r>
            <a:r>
              <a:rPr lang="en-US" b="1" dirty="0">
                <a:solidFill>
                  <a:srgbClr val="002060"/>
                </a:solidFill>
                <a:latin typeface="Tahoma" pitchFamily="34" charset="0"/>
                <a:ea typeface="Tahoma" pitchFamily="34" charset="0"/>
                <a:cs typeface="Tahoma" pitchFamily="34" charset="0"/>
              </a:rPr>
              <a:t>DELETE  FROM </a:t>
            </a:r>
            <a:r>
              <a:rPr lang="en-US" dirty="0">
                <a:latin typeface="Tahoma" pitchFamily="34" charset="0"/>
                <a:ea typeface="Tahoma" pitchFamily="34" charset="0"/>
                <a:cs typeface="Tahoma" pitchFamily="34" charset="0"/>
              </a:rPr>
              <a:t>EMPLOYEE  </a:t>
            </a:r>
            <a:r>
              <a:rPr lang="en-US" b="1" dirty="0">
                <a:solidFill>
                  <a:srgbClr val="002060"/>
                </a:solidFill>
                <a:latin typeface="Tahoma" pitchFamily="34" charset="0"/>
                <a:ea typeface="Tahoma" pitchFamily="34" charset="0"/>
                <a:cs typeface="Tahoma" pitchFamily="34" charset="0"/>
              </a:rPr>
              <a:t>WHERE </a:t>
            </a:r>
            <a:r>
              <a:rPr lang="en-US" dirty="0">
                <a:latin typeface="Tahoma" pitchFamily="34" charset="0"/>
                <a:ea typeface="Tahoma" pitchFamily="34" charset="0"/>
                <a:cs typeface="Tahoma" pitchFamily="34" charset="0"/>
              </a:rPr>
              <a:t>LNAME='Brown';</a:t>
            </a:r>
          </a:p>
          <a:p>
            <a:pPr algn="just">
              <a:lnSpc>
                <a:spcPct val="200000"/>
              </a:lnSpc>
            </a:pPr>
            <a:r>
              <a:rPr lang="en-US" dirty="0">
                <a:latin typeface="Tahoma" pitchFamily="34" charset="0"/>
                <a:ea typeface="Tahoma" pitchFamily="34" charset="0"/>
                <a:cs typeface="Tahoma" pitchFamily="34" charset="0"/>
              </a:rPr>
              <a:t>U4B:   </a:t>
            </a:r>
            <a:r>
              <a:rPr lang="en-US" b="1" dirty="0">
                <a:solidFill>
                  <a:srgbClr val="002060"/>
                </a:solidFill>
                <a:latin typeface="Tahoma" pitchFamily="34" charset="0"/>
                <a:ea typeface="Tahoma" pitchFamily="34" charset="0"/>
                <a:cs typeface="Tahoma" pitchFamily="34" charset="0"/>
              </a:rPr>
              <a:t>DELETE FROM   </a:t>
            </a:r>
            <a:r>
              <a:rPr lang="en-US" dirty="0">
                <a:latin typeface="Tahoma" pitchFamily="34" charset="0"/>
                <a:ea typeface="Tahoma" pitchFamily="34" charset="0"/>
                <a:cs typeface="Tahoma" pitchFamily="34" charset="0"/>
              </a:rPr>
              <a:t>EMPLOYEE   </a:t>
            </a:r>
            <a:r>
              <a:rPr lang="en-US" b="1" dirty="0">
                <a:solidFill>
                  <a:srgbClr val="002060"/>
                </a:solidFill>
                <a:latin typeface="Tahoma" pitchFamily="34" charset="0"/>
                <a:ea typeface="Tahoma" pitchFamily="34" charset="0"/>
                <a:cs typeface="Tahoma" pitchFamily="34" charset="0"/>
              </a:rPr>
              <a:t>WHERE</a:t>
            </a:r>
            <a:r>
              <a:rPr lang="en-US" dirty="0">
                <a:solidFill>
                  <a:srgbClr val="00B0F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 SSN='123456789';</a:t>
            </a:r>
          </a:p>
          <a:p>
            <a:pPr algn="just">
              <a:lnSpc>
                <a:spcPct val="200000"/>
              </a:lnSpc>
            </a:pPr>
            <a:r>
              <a:rPr lang="en-US" dirty="0">
                <a:latin typeface="Tahoma" pitchFamily="34" charset="0"/>
                <a:ea typeface="Tahoma" pitchFamily="34" charset="0"/>
                <a:cs typeface="Tahoma" pitchFamily="34" charset="0"/>
              </a:rPr>
              <a:t>U4C:  </a:t>
            </a:r>
            <a:r>
              <a:rPr lang="en-US" b="1" dirty="0">
                <a:solidFill>
                  <a:srgbClr val="002060"/>
                </a:solidFill>
                <a:latin typeface="Tahoma" pitchFamily="34" charset="0"/>
                <a:ea typeface="Tahoma" pitchFamily="34" charset="0"/>
                <a:cs typeface="Tahoma" pitchFamily="34" charset="0"/>
              </a:rPr>
              <a:t>DELETE FROM  </a:t>
            </a:r>
            <a:r>
              <a:rPr lang="en-US" dirty="0">
                <a:latin typeface="Tahoma" pitchFamily="34" charset="0"/>
                <a:ea typeface="Tahoma" pitchFamily="34" charset="0"/>
                <a:cs typeface="Tahoma" pitchFamily="34" charset="0"/>
              </a:rPr>
              <a:t>EMPLOYEE </a:t>
            </a:r>
            <a:r>
              <a:rPr lang="en-US" b="1" dirty="0">
                <a:solidFill>
                  <a:srgbClr val="002060"/>
                </a:solidFill>
                <a:latin typeface="Tahoma" pitchFamily="34" charset="0"/>
                <a:ea typeface="Tahoma" pitchFamily="34" charset="0"/>
                <a:cs typeface="Tahoma" pitchFamily="34" charset="0"/>
              </a:rPr>
              <a:t>WHERE</a:t>
            </a:r>
            <a:r>
              <a:rPr lang="en-US" b="1" dirty="0">
                <a:solidFill>
                  <a:srgbClr val="00B0F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 </a:t>
            </a:r>
          </a:p>
          <a:p>
            <a:pPr algn="just">
              <a:lnSpc>
                <a:spcPct val="200000"/>
              </a:lnSpc>
            </a:pPr>
            <a:r>
              <a:rPr lang="en-US" dirty="0">
                <a:latin typeface="Tahoma" pitchFamily="34" charset="0"/>
                <a:ea typeface="Tahoma" pitchFamily="34" charset="0"/>
                <a:cs typeface="Tahoma" pitchFamily="34" charset="0"/>
              </a:rPr>
              <a:t>                                 DNO </a:t>
            </a:r>
            <a:r>
              <a:rPr lang="en-US" b="1" dirty="0">
                <a:solidFill>
                  <a:srgbClr val="002060"/>
                </a:solidFill>
                <a:latin typeface="Tahoma" pitchFamily="34" charset="0"/>
                <a:ea typeface="Tahoma" pitchFamily="34" charset="0"/>
                <a:cs typeface="Tahoma" pitchFamily="34" charset="0"/>
              </a:rPr>
              <a:t>IN</a:t>
            </a:r>
            <a:r>
              <a:rPr lang="en-US" dirty="0">
                <a:solidFill>
                  <a:srgbClr val="00B0F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SELECT</a:t>
            </a:r>
            <a:r>
              <a:rPr lang="en-US" dirty="0">
                <a:solidFill>
                  <a:srgbClr val="00206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  DNUMBER</a:t>
            </a:r>
          </a:p>
          <a:p>
            <a:pPr algn="just">
              <a:lnSpc>
                <a:spcPct val="200000"/>
              </a:lnSpc>
            </a:pPr>
            <a:r>
              <a:rPr lang="en-US"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FROM</a:t>
            </a:r>
            <a:r>
              <a:rPr lang="en-US" b="1" dirty="0">
                <a:solidFill>
                  <a:srgbClr val="00B0F0"/>
                </a:solidFill>
                <a:latin typeface="Tahoma" pitchFamily="34" charset="0"/>
                <a:ea typeface="Tahoma" pitchFamily="34" charset="0"/>
                <a:cs typeface="Tahoma" pitchFamily="34" charset="0"/>
              </a:rPr>
              <a:t> </a:t>
            </a:r>
            <a:r>
              <a:rPr lang="en-US" dirty="0">
                <a:solidFill>
                  <a:srgbClr val="00B0F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 DEPARTMENT  </a:t>
            </a:r>
          </a:p>
          <a:p>
            <a:pPr algn="just">
              <a:lnSpc>
                <a:spcPct val="200000"/>
              </a:lnSpc>
            </a:pPr>
            <a:r>
              <a:rPr lang="en-US" dirty="0">
                <a:latin typeface="Tahoma" pitchFamily="34" charset="0"/>
                <a:ea typeface="Tahoma" pitchFamily="34" charset="0"/>
                <a:cs typeface="Tahoma" pitchFamily="34" charset="0"/>
              </a:rPr>
              <a:t>                                            </a:t>
            </a:r>
            <a:r>
              <a:rPr lang="en-US" dirty="0">
                <a:solidFill>
                  <a:srgbClr val="00B0F0"/>
                </a:solidFill>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WHERE</a:t>
            </a:r>
            <a:r>
              <a:rPr lang="en-US" dirty="0">
                <a:solidFill>
                  <a:srgbClr val="00B0F0"/>
                </a:solidFill>
                <a:latin typeface="Tahoma" pitchFamily="34" charset="0"/>
                <a:ea typeface="Tahoma" pitchFamily="34" charset="0"/>
                <a:cs typeface="Tahoma" pitchFamily="34" charset="0"/>
              </a:rPr>
              <a:t>  </a:t>
            </a:r>
            <a:r>
              <a:rPr lang="en-US" dirty="0"/>
              <a:t>DNAME='Research');</a:t>
            </a:r>
            <a:endParaRPr lang="en-US" dirty="0">
              <a:latin typeface="Tahoma" pitchFamily="34" charset="0"/>
              <a:ea typeface="Tahoma" pitchFamily="34" charset="0"/>
              <a:cs typeface="Tahoma" pitchFamily="34" charset="0"/>
            </a:endParaRPr>
          </a:p>
          <a:p>
            <a:pPr algn="just">
              <a:lnSpc>
                <a:spcPct val="200000"/>
              </a:lnSpc>
            </a:pPr>
            <a:endParaRPr lang="en-US" dirty="0">
              <a:latin typeface="Tahoma" pitchFamily="34" charset="0"/>
              <a:ea typeface="Tahoma" pitchFamily="34" charset="0"/>
              <a:cs typeface="Tahoma" pitchFamily="34" charset="0"/>
            </a:endParaRPr>
          </a:p>
          <a:p>
            <a:pPr algn="just">
              <a:lnSpc>
                <a:spcPct val="200000"/>
              </a:lnSpc>
            </a:pPr>
            <a:r>
              <a:rPr lang="en-US" dirty="0">
                <a:latin typeface="Tahoma" pitchFamily="34" charset="0"/>
                <a:ea typeface="Tahoma" pitchFamily="34" charset="0"/>
                <a:cs typeface="Tahoma" pitchFamily="34" charset="0"/>
              </a:rPr>
              <a:t>U4D: </a:t>
            </a:r>
            <a:r>
              <a:rPr lang="en-US" b="1" dirty="0">
                <a:solidFill>
                  <a:srgbClr val="002060"/>
                </a:solidFill>
                <a:latin typeface="Tahoma" pitchFamily="34" charset="0"/>
                <a:ea typeface="Tahoma" pitchFamily="34" charset="0"/>
                <a:cs typeface="Tahoma" pitchFamily="34" charset="0"/>
              </a:rPr>
              <a:t>DELETE FROM </a:t>
            </a:r>
            <a:r>
              <a:rPr lang="en-US" dirty="0">
                <a:latin typeface="Tahoma" pitchFamily="34" charset="0"/>
                <a:ea typeface="Tahoma" pitchFamily="34" charset="0"/>
                <a:cs typeface="Tahoma" pitchFamily="34" charset="0"/>
              </a:rPr>
              <a:t>EMPLOYEE;   (becomes empty table)</a:t>
            </a:r>
          </a:p>
        </p:txBody>
      </p:sp>
      <p:sp>
        <p:nvSpPr>
          <p:cNvPr id="6" name="TextBox 5"/>
          <p:cNvSpPr txBox="1"/>
          <p:nvPr/>
        </p:nvSpPr>
        <p:spPr>
          <a:xfrm>
            <a:off x="228600" y="228600"/>
            <a:ext cx="51054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The DELETE Command</a:t>
            </a:r>
          </a:p>
        </p:txBody>
      </p:sp>
    </p:spTree>
  </p:cSld>
  <p:clrMapOvr>
    <a:masterClrMapping/>
  </p:clrMapOvr>
  <p:transition>
    <p:cut/>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228600"/>
            <a:ext cx="83058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The UPDATE Command</a:t>
            </a:r>
          </a:p>
        </p:txBody>
      </p:sp>
      <p:sp>
        <p:nvSpPr>
          <p:cNvPr id="7" name="TextBox 6"/>
          <p:cNvSpPr txBox="1"/>
          <p:nvPr/>
        </p:nvSpPr>
        <p:spPr>
          <a:xfrm>
            <a:off x="228600" y="1143000"/>
            <a:ext cx="8458200" cy="5078313"/>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a:t> </a:t>
            </a:r>
            <a:r>
              <a:rPr lang="en-US" dirty="0">
                <a:latin typeface="Tahoma" pitchFamily="34" charset="0"/>
                <a:ea typeface="Tahoma" pitchFamily="34" charset="0"/>
                <a:cs typeface="Tahoma" pitchFamily="34" charset="0"/>
              </a:rPr>
              <a:t>The UPDATE command is used to modify attribute values of one or more selected tuples.</a:t>
            </a:r>
          </a:p>
          <a:p>
            <a:pPr marL="342900" indent="-342900" algn="just">
              <a:lnSpc>
                <a:spcPct val="150000"/>
              </a:lnSpc>
              <a:buFont typeface="Arial" pitchFamily="34" charset="0"/>
              <a:buChar char="•"/>
            </a:pPr>
            <a:endParaRPr lang="en-US" dirty="0">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dirty="0">
                <a:latin typeface="Tahoma" pitchFamily="34" charset="0"/>
                <a:ea typeface="Tahoma" pitchFamily="34" charset="0"/>
                <a:cs typeface="Tahoma" pitchFamily="34" charset="0"/>
              </a:rPr>
              <a:t>  As in the DELETE command, a WHERE clause in the UPDATE command selects the tuples to be modified from a single relation.</a:t>
            </a:r>
          </a:p>
          <a:p>
            <a:pPr marL="342900" indent="-342900">
              <a:lnSpc>
                <a:spcPct val="150000"/>
              </a:lnSpc>
              <a:buFont typeface="Arial" pitchFamily="34" charset="0"/>
              <a:buChar char="•"/>
            </a:pPr>
            <a:endParaRPr lang="en-US" dirty="0">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dirty="0">
                <a:latin typeface="Tahoma" pitchFamily="34" charset="0"/>
                <a:ea typeface="Tahoma" pitchFamily="34" charset="0"/>
                <a:cs typeface="Tahoma" pitchFamily="34" charset="0"/>
              </a:rPr>
              <a:t> However, updating a primary key value may propagate  to the foreign key values of tuples in other relations if such a referential triggered action  is specified in the referential integrity constraints of the DDL</a:t>
            </a:r>
          </a:p>
          <a:p>
            <a:pPr marL="342900" indent="-342900" algn="just">
              <a:lnSpc>
                <a:spcPct val="150000"/>
              </a:lnSpc>
              <a:buFont typeface="Arial" pitchFamily="34" charset="0"/>
              <a:buChar char="•"/>
            </a:pPr>
            <a:endParaRPr lang="en-US" dirty="0">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dirty="0">
                <a:latin typeface="Tahoma" pitchFamily="34" charset="0"/>
                <a:ea typeface="Tahoma" pitchFamily="34" charset="0"/>
                <a:cs typeface="Tahoma" pitchFamily="34" charset="0"/>
              </a:rPr>
              <a:t> An additional SET clause in the UPDATE command specifies the attributes to be modified and </a:t>
            </a:r>
            <a:r>
              <a:rPr lang="en-US" dirty="0"/>
              <a:t>their new values.</a:t>
            </a:r>
            <a:endParaRPr lang="en-US"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04800" y="1219200"/>
            <a:ext cx="8458200" cy="3554819"/>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a:t> </a:t>
            </a:r>
            <a:r>
              <a:rPr lang="en-US" dirty="0">
                <a:latin typeface="Tahoma" pitchFamily="34" charset="0"/>
                <a:ea typeface="Tahoma" pitchFamily="34" charset="0"/>
                <a:cs typeface="Tahoma" pitchFamily="34" charset="0"/>
              </a:rPr>
              <a:t>For example, to change the location and controlling department number of project number 10 to 'Bellaire' and 5, respectively, we use  US:</a:t>
            </a:r>
          </a:p>
          <a:p>
            <a:pPr marL="342900" indent="-342900" algn="just">
              <a:lnSpc>
                <a:spcPct val="150000"/>
              </a:lnSpc>
            </a:pPr>
            <a:endParaRPr lang="en-US" dirty="0">
              <a:latin typeface="Tahoma" pitchFamily="34" charset="0"/>
              <a:ea typeface="Tahoma" pitchFamily="34" charset="0"/>
              <a:cs typeface="Tahoma" pitchFamily="34" charset="0"/>
            </a:endParaRPr>
          </a:p>
          <a:p>
            <a:pPr marL="342900" indent="-342900" algn="just">
              <a:lnSpc>
                <a:spcPct val="200000"/>
              </a:lnSpc>
              <a:buFont typeface="Arial" pitchFamily="34" charset="0"/>
              <a:buChar char="•"/>
            </a:pPr>
            <a:r>
              <a:rPr lang="en-US" b="1" dirty="0">
                <a:latin typeface="Tahoma" pitchFamily="34" charset="0"/>
                <a:ea typeface="Tahoma" pitchFamily="34" charset="0"/>
                <a:cs typeface="Tahoma" pitchFamily="34" charset="0"/>
              </a:rPr>
              <a:t>U5: </a:t>
            </a:r>
            <a:r>
              <a:rPr lang="en-US" b="1" dirty="0">
                <a:solidFill>
                  <a:srgbClr val="002060"/>
                </a:solidFill>
                <a:latin typeface="Tahoma" pitchFamily="34" charset="0"/>
                <a:ea typeface="Tahoma" pitchFamily="34" charset="0"/>
                <a:cs typeface="Tahoma" pitchFamily="34" charset="0"/>
              </a:rPr>
              <a:t>UPDATE</a:t>
            </a:r>
            <a:r>
              <a:rPr lang="en-US" dirty="0">
                <a:solidFill>
                  <a:srgbClr val="00B0F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  PROJECT  </a:t>
            </a:r>
            <a:r>
              <a:rPr lang="en-US" b="1" dirty="0">
                <a:solidFill>
                  <a:srgbClr val="002060"/>
                </a:solidFill>
                <a:latin typeface="Tahoma" pitchFamily="34" charset="0"/>
                <a:ea typeface="Tahoma" pitchFamily="34" charset="0"/>
                <a:cs typeface="Tahoma" pitchFamily="34" charset="0"/>
              </a:rPr>
              <a:t>SET</a:t>
            </a:r>
            <a:r>
              <a:rPr lang="en-US" dirty="0">
                <a:solidFill>
                  <a:srgbClr val="00B0F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PNUMBER=10 , DNUM = 5 </a:t>
            </a:r>
            <a:r>
              <a:rPr lang="en-US" b="1" dirty="0">
                <a:solidFill>
                  <a:srgbClr val="002060"/>
                </a:solidFill>
                <a:latin typeface="Tahoma" pitchFamily="34" charset="0"/>
                <a:ea typeface="Tahoma" pitchFamily="34" charset="0"/>
                <a:cs typeface="Tahoma" pitchFamily="34" charset="0"/>
              </a:rPr>
              <a:t>WHERE</a:t>
            </a:r>
            <a:r>
              <a:rPr lang="en-US" dirty="0">
                <a:solidFill>
                  <a:srgbClr val="00B0F0"/>
                </a:solidFill>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 PLOCATION = 'Bellaire‘;</a:t>
            </a:r>
          </a:p>
          <a:p>
            <a:pPr algn="just">
              <a:lnSpc>
                <a:spcPct val="200000"/>
              </a:lnSpc>
            </a:pPr>
            <a:endParaRPr lang="en-US" dirty="0">
              <a:latin typeface="Tahoma" pitchFamily="34" charset="0"/>
              <a:ea typeface="Tahoma" pitchFamily="34" charset="0"/>
              <a:cs typeface="Tahoma" pitchFamily="34" charset="0"/>
            </a:endParaRPr>
          </a:p>
          <a:p>
            <a:pPr algn="just">
              <a:lnSpc>
                <a:spcPct val="200000"/>
              </a:lnSpc>
            </a:pPr>
            <a:endParaRPr lang="en-US" dirty="0">
              <a:latin typeface="Tahoma" pitchFamily="34" charset="0"/>
              <a:ea typeface="Tahoma" pitchFamily="34" charset="0"/>
              <a:cs typeface="Tahoma" pitchFamily="34" charset="0"/>
            </a:endParaRPr>
          </a:p>
        </p:txBody>
      </p:sp>
      <p:sp>
        <p:nvSpPr>
          <p:cNvPr id="6" name="TextBox 5"/>
          <p:cNvSpPr txBox="1"/>
          <p:nvPr/>
        </p:nvSpPr>
        <p:spPr>
          <a:xfrm>
            <a:off x="228600" y="228600"/>
            <a:ext cx="83058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The UPDATE Command</a:t>
            </a:r>
          </a:p>
        </p:txBody>
      </p:sp>
    </p:spTree>
  </p:cSld>
  <p:clrMapOvr>
    <a:masterClrMapping/>
  </p:clrMapOvr>
  <p:transition>
    <p:cut/>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143000"/>
            <a:ext cx="8458200" cy="3970318"/>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a:t> </a:t>
            </a:r>
            <a:r>
              <a:rPr lang="en-US" dirty="0">
                <a:latin typeface="Tahoma" pitchFamily="34" charset="0"/>
                <a:ea typeface="Tahoma" pitchFamily="34" charset="0"/>
                <a:cs typeface="Tahoma" pitchFamily="34" charset="0"/>
              </a:rPr>
              <a:t>Several tuples can be modified with a single UPDATE command. An example is to give all employees in the 'Research' department a 10 percent raise in salary, as shown in U6.</a:t>
            </a:r>
          </a:p>
          <a:p>
            <a:pPr algn="just">
              <a:lnSpc>
                <a:spcPct val="150000"/>
              </a:lnSpc>
            </a:pPr>
            <a:endParaRPr lang="en-US" dirty="0">
              <a:latin typeface="Tahoma" pitchFamily="34" charset="0"/>
              <a:ea typeface="Tahoma" pitchFamily="34" charset="0"/>
              <a:cs typeface="Tahoma" pitchFamily="34" charset="0"/>
            </a:endParaRPr>
          </a:p>
          <a:p>
            <a:pPr algn="just">
              <a:lnSpc>
                <a:spcPct val="150000"/>
              </a:lnSpc>
            </a:pPr>
            <a:r>
              <a:rPr lang="en-US" dirty="0">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U6: </a:t>
            </a:r>
            <a:r>
              <a:rPr lang="en-US" dirty="0">
                <a:solidFill>
                  <a:srgbClr val="00B0F0"/>
                </a:solidFill>
                <a:latin typeface="Tahoma" pitchFamily="34" charset="0"/>
                <a:ea typeface="Tahoma" pitchFamily="34" charset="0"/>
                <a:cs typeface="Tahoma" pitchFamily="34" charset="0"/>
              </a:rPr>
              <a:t>UPDATE</a:t>
            </a:r>
            <a:r>
              <a:rPr lang="en-US" dirty="0">
                <a:latin typeface="Tahoma" pitchFamily="34" charset="0"/>
                <a:ea typeface="Tahoma" pitchFamily="34" charset="0"/>
                <a:cs typeface="Tahoma" pitchFamily="34" charset="0"/>
              </a:rPr>
              <a:t>  EMPLOYEE   </a:t>
            </a:r>
            <a:r>
              <a:rPr lang="en-US" dirty="0">
                <a:solidFill>
                  <a:srgbClr val="00B0F0"/>
                </a:solidFill>
                <a:latin typeface="Tahoma" pitchFamily="34" charset="0"/>
                <a:ea typeface="Tahoma" pitchFamily="34" charset="0"/>
                <a:cs typeface="Tahoma" pitchFamily="34" charset="0"/>
              </a:rPr>
              <a:t>SET  </a:t>
            </a:r>
            <a:r>
              <a:rPr lang="en-US" dirty="0">
                <a:latin typeface="Tahoma" pitchFamily="34" charset="0"/>
                <a:ea typeface="Tahoma" pitchFamily="34" charset="0"/>
                <a:cs typeface="Tahoma" pitchFamily="34" charset="0"/>
              </a:rPr>
              <a:t>SALARY = SALARY *1.1</a:t>
            </a:r>
          </a:p>
          <a:p>
            <a:pPr algn="just">
              <a:lnSpc>
                <a:spcPct val="150000"/>
              </a:lnSpc>
            </a:pPr>
            <a:r>
              <a:rPr lang="en-US" dirty="0">
                <a:latin typeface="Tahoma" pitchFamily="34" charset="0"/>
                <a:ea typeface="Tahoma" pitchFamily="34" charset="0"/>
                <a:cs typeface="Tahoma" pitchFamily="34" charset="0"/>
              </a:rPr>
              <a:t>          </a:t>
            </a:r>
            <a:r>
              <a:rPr lang="en-US" dirty="0">
                <a:solidFill>
                  <a:srgbClr val="00B0F0"/>
                </a:solidFill>
                <a:latin typeface="Tahoma" pitchFamily="34" charset="0"/>
                <a:ea typeface="Tahoma" pitchFamily="34" charset="0"/>
                <a:cs typeface="Tahoma" pitchFamily="34" charset="0"/>
              </a:rPr>
              <a:t>WHERE </a:t>
            </a:r>
            <a:r>
              <a:rPr lang="en-US" dirty="0">
                <a:latin typeface="Tahoma" pitchFamily="34" charset="0"/>
                <a:ea typeface="Tahoma" pitchFamily="34" charset="0"/>
                <a:cs typeface="Tahoma" pitchFamily="34" charset="0"/>
              </a:rPr>
              <a:t>DNO </a:t>
            </a:r>
            <a:r>
              <a:rPr lang="en-US" dirty="0">
                <a:solidFill>
                  <a:srgbClr val="00B0F0"/>
                </a:solidFill>
                <a:latin typeface="Tahoma" pitchFamily="34" charset="0"/>
                <a:ea typeface="Tahoma" pitchFamily="34" charset="0"/>
                <a:cs typeface="Tahoma" pitchFamily="34" charset="0"/>
              </a:rPr>
              <a:t>IN </a:t>
            </a:r>
            <a:r>
              <a:rPr lang="en-US" dirty="0">
                <a:latin typeface="Tahoma" pitchFamily="34" charset="0"/>
                <a:ea typeface="Tahoma" pitchFamily="34" charset="0"/>
                <a:cs typeface="Tahoma" pitchFamily="34" charset="0"/>
              </a:rPr>
              <a:t>  (  </a:t>
            </a:r>
            <a:r>
              <a:rPr lang="en-US" dirty="0">
                <a:solidFill>
                  <a:srgbClr val="00B0F0"/>
                </a:solidFill>
                <a:latin typeface="Tahoma" pitchFamily="34" charset="0"/>
                <a:ea typeface="Tahoma" pitchFamily="34" charset="0"/>
                <a:cs typeface="Tahoma" pitchFamily="34" charset="0"/>
              </a:rPr>
              <a:t>SELECT</a:t>
            </a:r>
            <a:r>
              <a:rPr lang="en-US" dirty="0">
                <a:latin typeface="Tahoma" pitchFamily="34" charset="0"/>
                <a:ea typeface="Tahoma" pitchFamily="34" charset="0"/>
                <a:cs typeface="Tahoma" pitchFamily="34" charset="0"/>
              </a:rPr>
              <a:t> DNUMBER</a:t>
            </a:r>
          </a:p>
          <a:p>
            <a:pPr algn="just">
              <a:lnSpc>
                <a:spcPct val="150000"/>
              </a:lnSpc>
            </a:pPr>
            <a:r>
              <a:rPr lang="en-US" dirty="0">
                <a:latin typeface="Tahoma" pitchFamily="34" charset="0"/>
                <a:ea typeface="Tahoma" pitchFamily="34" charset="0"/>
                <a:cs typeface="Tahoma" pitchFamily="34" charset="0"/>
              </a:rPr>
              <a:t>			</a:t>
            </a:r>
            <a:r>
              <a:rPr lang="en-US" dirty="0">
                <a:solidFill>
                  <a:srgbClr val="00B0F0"/>
                </a:solidFill>
                <a:latin typeface="Tahoma" pitchFamily="34" charset="0"/>
                <a:ea typeface="Tahoma" pitchFamily="34" charset="0"/>
                <a:cs typeface="Tahoma" pitchFamily="34" charset="0"/>
              </a:rPr>
              <a:t>FROM </a:t>
            </a:r>
            <a:r>
              <a:rPr lang="en-US" dirty="0">
                <a:latin typeface="Tahoma" pitchFamily="34" charset="0"/>
                <a:ea typeface="Tahoma" pitchFamily="34" charset="0"/>
                <a:cs typeface="Tahoma" pitchFamily="34" charset="0"/>
              </a:rPr>
              <a:t>DEPARTMENT</a:t>
            </a:r>
          </a:p>
          <a:p>
            <a:pPr algn="just">
              <a:lnSpc>
                <a:spcPct val="150000"/>
              </a:lnSpc>
            </a:pPr>
            <a:r>
              <a:rPr lang="en-US" dirty="0">
                <a:latin typeface="Tahoma" pitchFamily="34" charset="0"/>
                <a:ea typeface="Tahoma" pitchFamily="34" charset="0"/>
                <a:cs typeface="Tahoma" pitchFamily="34" charset="0"/>
              </a:rPr>
              <a:t>			</a:t>
            </a:r>
            <a:r>
              <a:rPr lang="en-US" dirty="0">
                <a:solidFill>
                  <a:srgbClr val="00B0F0"/>
                </a:solidFill>
                <a:latin typeface="Tahoma" pitchFamily="34" charset="0"/>
                <a:ea typeface="Tahoma" pitchFamily="34" charset="0"/>
                <a:cs typeface="Tahoma" pitchFamily="34" charset="0"/>
              </a:rPr>
              <a:t>WHERE</a:t>
            </a:r>
            <a:r>
              <a:rPr lang="en-US" dirty="0">
                <a:latin typeface="Tahoma" pitchFamily="34" charset="0"/>
                <a:ea typeface="Tahoma" pitchFamily="34" charset="0"/>
                <a:cs typeface="Tahoma" pitchFamily="34" charset="0"/>
              </a:rPr>
              <a:t> DNAME='Research');</a:t>
            </a:r>
          </a:p>
          <a:p>
            <a:pPr algn="just">
              <a:lnSpc>
                <a:spcPct val="200000"/>
              </a:lnSpc>
            </a:pPr>
            <a:endParaRPr lang="en-US" dirty="0">
              <a:latin typeface="Tahoma" pitchFamily="34" charset="0"/>
              <a:ea typeface="Tahoma" pitchFamily="34" charset="0"/>
              <a:cs typeface="Tahoma" pitchFamily="34" charset="0"/>
            </a:endParaRPr>
          </a:p>
        </p:txBody>
      </p:sp>
      <p:sp>
        <p:nvSpPr>
          <p:cNvPr id="5" name="TextBox 4"/>
          <p:cNvSpPr txBox="1"/>
          <p:nvPr/>
        </p:nvSpPr>
        <p:spPr>
          <a:xfrm>
            <a:off x="381000" y="5257800"/>
            <a:ext cx="8763000" cy="873252"/>
          </a:xfrm>
          <a:prstGeom prst="rect">
            <a:avLst/>
          </a:prstGeom>
          <a:noFill/>
        </p:spPr>
        <p:txBody>
          <a:bodyPr wrap="square" rtlCol="0">
            <a:spAutoFit/>
          </a:bodyPr>
          <a:lstStyle/>
          <a:p>
            <a:pPr>
              <a:lnSpc>
                <a:spcPct val="150000"/>
              </a:lnSpc>
              <a:buFont typeface="Arial" pitchFamily="34" charset="0"/>
              <a:buChar char="•"/>
            </a:pPr>
            <a:r>
              <a:rPr lang="en-US" dirty="0">
                <a:latin typeface="Times New Roman"/>
              </a:rPr>
              <a:t>   It is also possible to specify </a:t>
            </a:r>
            <a:r>
              <a:rPr lang="en-US" sz="1600" dirty="0">
                <a:latin typeface="Times New Roman"/>
              </a:rPr>
              <a:t>NULL </a:t>
            </a:r>
            <a:r>
              <a:rPr lang="en-US" dirty="0">
                <a:latin typeface="Times New Roman"/>
              </a:rPr>
              <a:t>or </a:t>
            </a:r>
            <a:r>
              <a:rPr lang="en-US" sz="1600" dirty="0">
                <a:latin typeface="Times New Roman"/>
              </a:rPr>
              <a:t>DEFAULT </a:t>
            </a:r>
            <a:r>
              <a:rPr lang="en-US" dirty="0">
                <a:latin typeface="Times New Roman"/>
              </a:rPr>
              <a:t>as the new attribute value.</a:t>
            </a:r>
          </a:p>
          <a:p>
            <a:pPr>
              <a:lnSpc>
                <a:spcPct val="150000"/>
              </a:lnSpc>
              <a:buFont typeface="Arial" pitchFamily="34" charset="0"/>
              <a:buChar char="•"/>
            </a:pPr>
            <a:r>
              <a:rPr lang="en-US" dirty="0">
                <a:latin typeface="Times New Roman"/>
              </a:rPr>
              <a:t>   Notice that  each </a:t>
            </a:r>
            <a:r>
              <a:rPr lang="en-US" sz="1600" dirty="0">
                <a:latin typeface="Times New Roman"/>
              </a:rPr>
              <a:t>UPDATE </a:t>
            </a:r>
            <a:r>
              <a:rPr lang="en-US" dirty="0">
                <a:latin typeface="Times New Roman"/>
              </a:rPr>
              <a:t>command explicitly refers to a single relation only.</a:t>
            </a:r>
            <a:endParaRPr lang="en-US" dirty="0"/>
          </a:p>
        </p:txBody>
      </p:sp>
      <p:sp>
        <p:nvSpPr>
          <p:cNvPr id="8" name="TextBox 7"/>
          <p:cNvSpPr txBox="1"/>
          <p:nvPr/>
        </p:nvSpPr>
        <p:spPr>
          <a:xfrm>
            <a:off x="228600" y="228600"/>
            <a:ext cx="83058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The UPDATE Command</a:t>
            </a:r>
          </a:p>
        </p:txBody>
      </p:sp>
    </p:spTree>
  </p:cSld>
  <p:clrMapOvr>
    <a:masterClrMapping/>
  </p:clrMapOvr>
  <p:transition>
    <p:cut/>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981200"/>
            <a:ext cx="8458200" cy="2446824"/>
          </a:xfrm>
          <a:prstGeom prst="rect">
            <a:avLst/>
          </a:prstGeom>
          <a:noFill/>
        </p:spPr>
        <p:txBody>
          <a:bodyPr wrap="square" rtlCol="0">
            <a:spAutoFit/>
          </a:bodyPr>
          <a:lstStyle/>
          <a:p>
            <a:pPr marL="342900" indent="-342900" algn="ctr">
              <a:lnSpc>
                <a:spcPct val="150000"/>
              </a:lnSpc>
            </a:pPr>
            <a:r>
              <a:rPr lang="en-IN" sz="5400" b="1" dirty="0"/>
              <a:t>VIEWS</a:t>
            </a:r>
            <a:r>
              <a:rPr lang="en-IN" sz="4800" b="1" dirty="0"/>
              <a:t> </a:t>
            </a:r>
            <a:r>
              <a:rPr lang="en-IN" sz="4400" b="1" dirty="0"/>
              <a:t>(VIRTUAL TABLES) </a:t>
            </a:r>
            <a:r>
              <a:rPr lang="en-IN" sz="4800" b="1" dirty="0"/>
              <a:t>IN SQL</a:t>
            </a:r>
            <a:endParaRPr lang="en-US" sz="4800" b="1"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0"/>
            <a:ext cx="8458200" cy="738023"/>
          </a:xfrm>
          <a:prstGeom prst="rect">
            <a:avLst/>
          </a:prstGeom>
          <a:noFill/>
        </p:spPr>
        <p:txBody>
          <a:bodyPr wrap="square" rtlCol="0">
            <a:spAutoFit/>
          </a:bodyPr>
          <a:lstStyle/>
          <a:p>
            <a:pPr marL="342900" indent="-342900">
              <a:lnSpc>
                <a:spcPct val="150000"/>
              </a:lnSpc>
            </a:pPr>
            <a:r>
              <a:rPr lang="en-IN" sz="3200" b="1" dirty="0"/>
              <a:t>Concept of a View in SQL</a:t>
            </a:r>
            <a:endParaRPr lang="en-US" sz="2800" b="1" dirty="0">
              <a:latin typeface="Tahoma" pitchFamily="34" charset="0"/>
              <a:ea typeface="Tahoma" pitchFamily="34" charset="0"/>
              <a:cs typeface="Tahoma" pitchFamily="34" charset="0"/>
            </a:endParaRPr>
          </a:p>
        </p:txBody>
      </p:sp>
      <p:sp>
        <p:nvSpPr>
          <p:cNvPr id="3" name="TextBox 2"/>
          <p:cNvSpPr txBox="1"/>
          <p:nvPr/>
        </p:nvSpPr>
        <p:spPr>
          <a:xfrm>
            <a:off x="381000" y="1219200"/>
            <a:ext cx="8458200" cy="4801314"/>
          </a:xfrm>
          <a:prstGeom prst="rect">
            <a:avLst/>
          </a:prstGeom>
          <a:noFill/>
        </p:spPr>
        <p:txBody>
          <a:bodyPr wrap="square" rtlCol="0">
            <a:spAutoFit/>
          </a:bodyPr>
          <a:lstStyle/>
          <a:p>
            <a:pPr marL="342900" indent="-342900" algn="just">
              <a:lnSpc>
                <a:spcPct val="150000"/>
              </a:lnSpc>
              <a:buFont typeface="Arial" pitchFamily="34" charset="0"/>
              <a:buChar char="•"/>
            </a:pPr>
            <a:r>
              <a:rPr lang="en-IN" sz="2400" dirty="0"/>
              <a:t>A view is a single table that is derived from other tables</a:t>
            </a:r>
          </a:p>
          <a:p>
            <a:pPr marL="342900" indent="-342900" algn="just">
              <a:lnSpc>
                <a:spcPct val="150000"/>
              </a:lnSpc>
              <a:buFont typeface="Arial" pitchFamily="34" charset="0"/>
              <a:buChar char="•"/>
            </a:pPr>
            <a:endParaRPr lang="en-US" sz="2400" dirty="0"/>
          </a:p>
          <a:p>
            <a:pPr marL="342900" indent="-342900" algn="just">
              <a:lnSpc>
                <a:spcPct val="150000"/>
              </a:lnSpc>
              <a:buFont typeface="Arial" pitchFamily="34" charset="0"/>
              <a:buChar char="•"/>
            </a:pPr>
            <a:r>
              <a:rPr lang="en-US" sz="2400" dirty="0"/>
              <a:t> </a:t>
            </a:r>
            <a:r>
              <a:rPr lang="en-IN" sz="2400" dirty="0"/>
              <a:t>other tables </a:t>
            </a:r>
            <a:r>
              <a:rPr lang="en-IN" sz="2400" dirty="0">
                <a:sym typeface="Wingdings" pitchFamily="2" charset="2"/>
              </a:rPr>
              <a:t> </a:t>
            </a:r>
            <a:r>
              <a:rPr lang="en-IN" sz="2000" b="1" dirty="0"/>
              <a:t>base tables </a:t>
            </a:r>
            <a:r>
              <a:rPr lang="en-IN" sz="2400" dirty="0"/>
              <a:t>or </a:t>
            </a:r>
            <a:r>
              <a:rPr lang="en-IN" sz="2000" b="1" dirty="0"/>
              <a:t>previously defined views</a:t>
            </a:r>
          </a:p>
          <a:p>
            <a:pPr marL="342900" indent="-342900" algn="just">
              <a:lnSpc>
                <a:spcPct val="150000"/>
              </a:lnSpc>
            </a:pPr>
            <a:endParaRPr lang="en-IN" sz="2000" b="1" dirty="0"/>
          </a:p>
          <a:p>
            <a:pPr marL="342900" indent="-342900" algn="just">
              <a:lnSpc>
                <a:spcPct val="150000"/>
              </a:lnSpc>
              <a:buFont typeface="Arial" pitchFamily="34" charset="0"/>
              <a:buChar char="•"/>
            </a:pPr>
            <a:r>
              <a:rPr lang="en-US" sz="2000" b="1" dirty="0"/>
              <a:t> </a:t>
            </a:r>
            <a:r>
              <a:rPr lang="en-IN" sz="2400" dirty="0"/>
              <a:t>A view does not necessarily exist in </a:t>
            </a:r>
            <a:r>
              <a:rPr lang="en-IN" sz="2400" b="1" dirty="0"/>
              <a:t>physical form.</a:t>
            </a:r>
          </a:p>
          <a:p>
            <a:pPr marL="342900" indent="-342900" algn="just">
              <a:lnSpc>
                <a:spcPct val="150000"/>
              </a:lnSpc>
              <a:buFont typeface="Arial" pitchFamily="34" charset="0"/>
              <a:buChar char="•"/>
            </a:pPr>
            <a:endParaRPr lang="en-IN" sz="2400" b="1" dirty="0"/>
          </a:p>
          <a:p>
            <a:pPr marL="342900" indent="-342900" algn="just">
              <a:lnSpc>
                <a:spcPct val="200000"/>
              </a:lnSpc>
              <a:buFont typeface="Arial" pitchFamily="34" charset="0"/>
              <a:buChar char="•"/>
            </a:pPr>
            <a:r>
              <a:rPr lang="en-US" sz="2400" b="1" dirty="0"/>
              <a:t> </a:t>
            </a:r>
            <a:r>
              <a:rPr lang="en-IN" sz="2400" dirty="0"/>
              <a:t>Views are useful when a table needs to be reference frequently</a:t>
            </a:r>
            <a:endParaRPr lang="en-IN" sz="2400" b="1" dirty="0"/>
          </a:p>
        </p:txBody>
      </p:sp>
    </p:spTree>
  </p:cSld>
  <p:clrMapOvr>
    <a:masterClrMapping/>
  </p:clrMapOvr>
  <p:transition>
    <p:cut/>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0"/>
            <a:ext cx="8458200" cy="830997"/>
          </a:xfrm>
          <a:prstGeom prst="rect">
            <a:avLst/>
          </a:prstGeom>
          <a:noFill/>
        </p:spPr>
        <p:txBody>
          <a:bodyPr wrap="square" rtlCol="0">
            <a:spAutoFit/>
          </a:bodyPr>
          <a:lstStyle/>
          <a:p>
            <a:pPr marL="342900" indent="-342900">
              <a:lnSpc>
                <a:spcPct val="150000"/>
              </a:lnSpc>
            </a:pPr>
            <a:r>
              <a:rPr lang="en-IN" sz="3200" b="1" dirty="0"/>
              <a:t>Why a View in SQL?</a:t>
            </a:r>
            <a:endParaRPr lang="en-US" sz="2800" b="1" dirty="0">
              <a:latin typeface="Tahoma" pitchFamily="34" charset="0"/>
              <a:ea typeface="Tahoma" pitchFamily="34" charset="0"/>
              <a:cs typeface="Tahoma" pitchFamily="34" charset="0"/>
            </a:endParaRPr>
          </a:p>
        </p:txBody>
      </p:sp>
      <p:sp>
        <p:nvSpPr>
          <p:cNvPr id="3" name="TextBox 2"/>
          <p:cNvSpPr txBox="1"/>
          <p:nvPr/>
        </p:nvSpPr>
        <p:spPr>
          <a:xfrm>
            <a:off x="381000" y="838200"/>
            <a:ext cx="8458200" cy="958660"/>
          </a:xfrm>
          <a:prstGeom prst="rect">
            <a:avLst/>
          </a:prstGeom>
          <a:noFill/>
        </p:spPr>
        <p:txBody>
          <a:bodyPr wrap="square" rtlCol="0">
            <a:spAutoFit/>
          </a:bodyPr>
          <a:lstStyle/>
          <a:p>
            <a:pPr marL="342900" indent="-342900" algn="just">
              <a:lnSpc>
                <a:spcPct val="150000"/>
              </a:lnSpc>
              <a:buFont typeface="Arial" pitchFamily="34" charset="0"/>
              <a:buChar char="•"/>
            </a:pPr>
            <a:r>
              <a:rPr lang="en-IN" sz="2000" dirty="0"/>
              <a:t>Suppose that we frequently issue queries that retrieve the </a:t>
            </a:r>
            <a:r>
              <a:rPr lang="en-IN" sz="2000" b="1" dirty="0"/>
              <a:t>employee name and the project names that the employee works on.</a:t>
            </a:r>
          </a:p>
        </p:txBody>
      </p:sp>
      <p:pic>
        <p:nvPicPr>
          <p:cNvPr id="2050" name="Picture 2"/>
          <p:cNvPicPr>
            <a:picLocks noChangeAspect="1" noChangeArrowheads="1"/>
          </p:cNvPicPr>
          <p:nvPr/>
        </p:nvPicPr>
        <p:blipFill>
          <a:blip r:embed="rId3" cstate="print"/>
          <a:srcRect/>
          <a:stretch>
            <a:fillRect/>
          </a:stretch>
        </p:blipFill>
        <p:spPr bwMode="auto">
          <a:xfrm>
            <a:off x="990600" y="2590800"/>
            <a:ext cx="7361927" cy="1447800"/>
          </a:xfrm>
          <a:prstGeom prst="rect">
            <a:avLst/>
          </a:prstGeom>
          <a:noFill/>
          <a:ln w="9525">
            <a:noFill/>
            <a:miter lim="800000"/>
            <a:headEnd/>
            <a:tailEnd/>
          </a:ln>
        </p:spPr>
      </p:pic>
      <p:sp>
        <p:nvSpPr>
          <p:cNvPr id="5" name="TextBox 4"/>
          <p:cNvSpPr txBox="1"/>
          <p:nvPr/>
        </p:nvSpPr>
        <p:spPr>
          <a:xfrm>
            <a:off x="228600" y="4953000"/>
            <a:ext cx="8610600" cy="1338828"/>
          </a:xfrm>
          <a:prstGeom prst="rect">
            <a:avLst/>
          </a:prstGeom>
          <a:noFill/>
        </p:spPr>
        <p:txBody>
          <a:bodyPr wrap="square" rtlCol="0">
            <a:spAutoFit/>
          </a:bodyPr>
          <a:lstStyle/>
          <a:p>
            <a:pPr algn="just">
              <a:lnSpc>
                <a:spcPct val="150000"/>
              </a:lnSpc>
            </a:pPr>
            <a:r>
              <a:rPr lang="en-IN" dirty="0"/>
              <a:t>Rather than having to specify the join of the EMPLOYEE, WORKS_ON, and PROJECT tables every time we issue that query , we can define a view that is a result of these joins. We can then issue queries on the view</a:t>
            </a:r>
          </a:p>
        </p:txBody>
      </p:sp>
    </p:spTree>
  </p:cSld>
  <p:clrMapOvr>
    <a:masterClrMapping/>
  </p:clrMapOvr>
  <p:transition>
    <p:cut/>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0"/>
            <a:ext cx="8458200" cy="738023"/>
          </a:xfrm>
          <a:prstGeom prst="rect">
            <a:avLst/>
          </a:prstGeom>
          <a:noFill/>
        </p:spPr>
        <p:txBody>
          <a:bodyPr wrap="square" rtlCol="0">
            <a:spAutoFit/>
          </a:bodyPr>
          <a:lstStyle/>
          <a:p>
            <a:pPr marL="342900" indent="-342900">
              <a:lnSpc>
                <a:spcPct val="150000"/>
              </a:lnSpc>
            </a:pPr>
            <a:r>
              <a:rPr lang="en-IN" sz="3200" b="1" dirty="0"/>
              <a:t>Specification of Views in SQL</a:t>
            </a:r>
            <a:endParaRPr lang="en-US" sz="2800" b="1" dirty="0">
              <a:latin typeface="Tahoma" pitchFamily="34" charset="0"/>
              <a:ea typeface="Tahoma" pitchFamily="34" charset="0"/>
              <a:cs typeface="Tahoma" pitchFamily="34" charset="0"/>
            </a:endParaRPr>
          </a:p>
        </p:txBody>
      </p:sp>
      <p:sp>
        <p:nvSpPr>
          <p:cNvPr id="3" name="TextBox 2"/>
          <p:cNvSpPr txBox="1"/>
          <p:nvPr/>
        </p:nvSpPr>
        <p:spPr>
          <a:xfrm>
            <a:off x="381000" y="838200"/>
            <a:ext cx="8458200" cy="2585323"/>
          </a:xfrm>
          <a:prstGeom prst="rect">
            <a:avLst/>
          </a:prstGeom>
          <a:noFill/>
        </p:spPr>
        <p:txBody>
          <a:bodyPr wrap="square" rtlCol="0">
            <a:spAutoFit/>
          </a:bodyPr>
          <a:lstStyle/>
          <a:p>
            <a:pPr marL="342900" indent="-342900" algn="just">
              <a:lnSpc>
                <a:spcPct val="150000"/>
              </a:lnSpc>
              <a:buFont typeface="Arial" pitchFamily="34" charset="0"/>
              <a:buChar char="•"/>
            </a:pPr>
            <a:r>
              <a:rPr lang="en-IN" sz="2400" dirty="0"/>
              <a:t>the command to specify a view is </a:t>
            </a:r>
            <a:r>
              <a:rPr lang="en-IN" sz="2400" b="1" dirty="0"/>
              <a:t>CREATE VIEW.</a:t>
            </a:r>
          </a:p>
          <a:p>
            <a:pPr marL="342900" indent="-342900" algn="just">
              <a:lnSpc>
                <a:spcPct val="150000"/>
              </a:lnSpc>
              <a:buFont typeface="Arial" pitchFamily="34" charset="0"/>
              <a:buChar char="•"/>
            </a:pPr>
            <a:r>
              <a:rPr lang="en-IN" sz="2400" dirty="0"/>
              <a:t>The view is given a </a:t>
            </a:r>
          </a:p>
          <a:p>
            <a:pPr marL="1828800" lvl="3" indent="-457200" algn="just">
              <a:lnSpc>
                <a:spcPct val="150000"/>
              </a:lnSpc>
              <a:buFont typeface="+mj-lt"/>
              <a:buAutoNum type="arabicPeriod"/>
            </a:pPr>
            <a:r>
              <a:rPr lang="en-IN" sz="2000" b="1" dirty="0"/>
              <a:t>view name, </a:t>
            </a:r>
          </a:p>
          <a:p>
            <a:pPr marL="1828800" lvl="3" indent="-457200" algn="just">
              <a:lnSpc>
                <a:spcPct val="150000"/>
              </a:lnSpc>
              <a:buFont typeface="+mj-lt"/>
              <a:buAutoNum type="arabicPeriod"/>
            </a:pPr>
            <a:r>
              <a:rPr lang="en-IN" sz="2000" b="1" dirty="0"/>
              <a:t>a list of attribute names (Optional) </a:t>
            </a:r>
          </a:p>
          <a:p>
            <a:pPr marL="1828800" lvl="3" indent="-457200" algn="just">
              <a:lnSpc>
                <a:spcPct val="150000"/>
              </a:lnSpc>
              <a:buFont typeface="+mj-lt"/>
              <a:buAutoNum type="arabicPeriod"/>
            </a:pPr>
            <a:r>
              <a:rPr lang="en-IN" sz="2000" b="1" dirty="0"/>
              <a:t>and a query to specify the contents of the view.</a:t>
            </a:r>
          </a:p>
        </p:txBody>
      </p:sp>
      <p:pic>
        <p:nvPicPr>
          <p:cNvPr id="3074" name="Picture 2"/>
          <p:cNvPicPr>
            <a:picLocks noChangeAspect="1" noChangeArrowheads="1"/>
          </p:cNvPicPr>
          <p:nvPr/>
        </p:nvPicPr>
        <p:blipFill>
          <a:blip r:embed="rId3" cstate="print"/>
          <a:srcRect/>
          <a:stretch>
            <a:fillRect/>
          </a:stretch>
        </p:blipFill>
        <p:spPr bwMode="auto">
          <a:xfrm>
            <a:off x="381000" y="4191000"/>
            <a:ext cx="8344469" cy="1752600"/>
          </a:xfrm>
          <a:prstGeom prst="rect">
            <a:avLst/>
          </a:prstGeom>
          <a:noFill/>
          <a:ln w="9525">
            <a:noFill/>
            <a:miter lim="800000"/>
            <a:headEnd/>
            <a:tailEnd/>
          </a:ln>
        </p:spPr>
      </p:pic>
    </p:spTree>
  </p:cSld>
  <p:clrMapOvr>
    <a:masterClrMapping/>
  </p:clrMapOvr>
  <p:transition>
    <p:cut/>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0"/>
            <a:ext cx="8458200" cy="738023"/>
          </a:xfrm>
          <a:prstGeom prst="rect">
            <a:avLst/>
          </a:prstGeom>
          <a:noFill/>
        </p:spPr>
        <p:txBody>
          <a:bodyPr wrap="square" rtlCol="0">
            <a:spAutoFit/>
          </a:bodyPr>
          <a:lstStyle/>
          <a:p>
            <a:pPr marL="342900" indent="-342900">
              <a:lnSpc>
                <a:spcPct val="150000"/>
              </a:lnSpc>
            </a:pPr>
            <a:r>
              <a:rPr lang="en-IN" sz="3200" b="1" dirty="0"/>
              <a:t>Specification of Views in SQL</a:t>
            </a:r>
            <a:endParaRPr lang="en-US" sz="2800" b="1" dirty="0">
              <a:latin typeface="Tahoma" pitchFamily="34" charset="0"/>
              <a:ea typeface="Tahoma" pitchFamily="34" charset="0"/>
              <a:cs typeface="Tahoma" pitchFamily="34" charset="0"/>
            </a:endParaRPr>
          </a:p>
        </p:txBody>
      </p:sp>
      <p:pic>
        <p:nvPicPr>
          <p:cNvPr id="4098" name="Picture 2"/>
          <p:cNvPicPr>
            <a:picLocks noChangeAspect="1" noChangeArrowheads="1"/>
          </p:cNvPicPr>
          <p:nvPr/>
        </p:nvPicPr>
        <p:blipFill>
          <a:blip r:embed="rId3" cstate="print"/>
          <a:srcRect/>
          <a:stretch>
            <a:fillRect/>
          </a:stretch>
        </p:blipFill>
        <p:spPr bwMode="auto">
          <a:xfrm>
            <a:off x="152400" y="1676400"/>
            <a:ext cx="8801100" cy="1981200"/>
          </a:xfrm>
          <a:prstGeom prst="rect">
            <a:avLst/>
          </a:prstGeom>
          <a:noFill/>
          <a:ln w="9525">
            <a:noFill/>
            <a:miter lim="800000"/>
            <a:headEnd/>
            <a:tailEnd/>
          </a:ln>
        </p:spPr>
      </p:pic>
      <p:pic>
        <p:nvPicPr>
          <p:cNvPr id="4099" name="Picture 3"/>
          <p:cNvPicPr>
            <a:picLocks noChangeAspect="1" noChangeArrowheads="1"/>
          </p:cNvPicPr>
          <p:nvPr/>
        </p:nvPicPr>
        <p:blipFill>
          <a:blip r:embed="rId4" cstate="print"/>
          <a:srcRect/>
          <a:stretch>
            <a:fillRect/>
          </a:stretch>
        </p:blipFill>
        <p:spPr bwMode="auto">
          <a:xfrm>
            <a:off x="1524000" y="4114800"/>
            <a:ext cx="5715000" cy="2122114"/>
          </a:xfrm>
          <a:prstGeom prst="rect">
            <a:avLst/>
          </a:prstGeom>
          <a:noFill/>
          <a:ln w="9525">
            <a:noFill/>
            <a:miter lim="800000"/>
            <a:headEnd/>
            <a:tailEnd/>
          </a:ln>
        </p:spPr>
      </p:pic>
    </p:spTree>
  </p:cSld>
  <p:clrMapOvr>
    <a:masterClrMapping/>
  </p:clrMapOvr>
  <p:transition>
    <p:cut/>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0"/>
            <a:ext cx="8458200" cy="738023"/>
          </a:xfrm>
          <a:prstGeom prst="rect">
            <a:avLst/>
          </a:prstGeom>
          <a:noFill/>
        </p:spPr>
        <p:txBody>
          <a:bodyPr wrap="square" rtlCol="0">
            <a:spAutoFit/>
          </a:bodyPr>
          <a:lstStyle/>
          <a:p>
            <a:pPr marL="342900" indent="-342900">
              <a:lnSpc>
                <a:spcPct val="150000"/>
              </a:lnSpc>
            </a:pPr>
            <a:r>
              <a:rPr lang="en-IN" sz="3200" b="1" dirty="0"/>
              <a:t>Specification of Views in SQL</a:t>
            </a:r>
            <a:endParaRPr lang="en-US" sz="2800" b="1" dirty="0">
              <a:latin typeface="Tahoma" pitchFamily="34" charset="0"/>
              <a:ea typeface="Tahoma" pitchFamily="34" charset="0"/>
              <a:cs typeface="Tahoma" pitchFamily="34" charset="0"/>
            </a:endParaRPr>
          </a:p>
        </p:txBody>
      </p:sp>
      <p:sp>
        <p:nvSpPr>
          <p:cNvPr id="5" name="Rectangle 4"/>
          <p:cNvSpPr/>
          <p:nvPr/>
        </p:nvSpPr>
        <p:spPr>
          <a:xfrm>
            <a:off x="228600" y="838200"/>
            <a:ext cx="8534400" cy="872034"/>
          </a:xfrm>
          <a:prstGeom prst="rect">
            <a:avLst/>
          </a:prstGeom>
        </p:spPr>
        <p:txBody>
          <a:bodyPr wrap="square">
            <a:spAutoFit/>
          </a:bodyPr>
          <a:lstStyle/>
          <a:p>
            <a:pPr>
              <a:lnSpc>
                <a:spcPct val="150000"/>
              </a:lnSpc>
            </a:pPr>
            <a:r>
              <a:rPr lang="en-IN" dirty="0"/>
              <a:t>We can now specify SQL queries on a view-or virtual table-in the same way we</a:t>
            </a:r>
          </a:p>
          <a:p>
            <a:pPr>
              <a:lnSpc>
                <a:spcPct val="150000"/>
              </a:lnSpc>
            </a:pPr>
            <a:r>
              <a:rPr lang="en-IN" dirty="0"/>
              <a:t>specify queries involving base tables.</a:t>
            </a:r>
          </a:p>
        </p:txBody>
      </p:sp>
      <p:sp>
        <p:nvSpPr>
          <p:cNvPr id="6" name="Rectangle 5"/>
          <p:cNvSpPr/>
          <p:nvPr/>
        </p:nvSpPr>
        <p:spPr>
          <a:xfrm>
            <a:off x="228600" y="1828800"/>
            <a:ext cx="8534400" cy="969496"/>
          </a:xfrm>
          <a:prstGeom prst="rect">
            <a:avLst/>
          </a:prstGeom>
        </p:spPr>
        <p:txBody>
          <a:bodyPr wrap="square">
            <a:spAutoFit/>
          </a:bodyPr>
          <a:lstStyle/>
          <a:p>
            <a:pPr>
              <a:lnSpc>
                <a:spcPct val="150000"/>
              </a:lnSpc>
            </a:pPr>
            <a:r>
              <a:rPr lang="en-IN" sz="2000" b="1" dirty="0"/>
              <a:t>Example : </a:t>
            </a:r>
            <a:r>
              <a:rPr lang="en-IN" dirty="0"/>
              <a:t>to retrieve the last name and first name Of all employees who work on '</a:t>
            </a:r>
            <a:r>
              <a:rPr lang="en-IN" dirty="0" err="1"/>
              <a:t>ProjectX</a:t>
            </a:r>
            <a:r>
              <a:rPr lang="en-IN" dirty="0"/>
              <a:t>',</a:t>
            </a:r>
          </a:p>
        </p:txBody>
      </p:sp>
      <p:pic>
        <p:nvPicPr>
          <p:cNvPr id="5122" name="Picture 2"/>
          <p:cNvPicPr>
            <a:picLocks noChangeAspect="1" noChangeArrowheads="1"/>
          </p:cNvPicPr>
          <p:nvPr/>
        </p:nvPicPr>
        <p:blipFill>
          <a:blip r:embed="rId3" cstate="print"/>
          <a:srcRect/>
          <a:stretch>
            <a:fillRect/>
          </a:stretch>
        </p:blipFill>
        <p:spPr bwMode="auto">
          <a:xfrm>
            <a:off x="1676400" y="2667000"/>
            <a:ext cx="4685288" cy="1371600"/>
          </a:xfrm>
          <a:prstGeom prst="rect">
            <a:avLst/>
          </a:prstGeom>
          <a:noFill/>
          <a:ln w="9525">
            <a:noFill/>
            <a:miter lim="800000"/>
            <a:headEnd/>
            <a:tailEnd/>
          </a:ln>
        </p:spPr>
      </p:pic>
      <p:pic>
        <p:nvPicPr>
          <p:cNvPr id="6146" name="Picture 2"/>
          <p:cNvPicPr>
            <a:picLocks noChangeAspect="1" noChangeArrowheads="1"/>
          </p:cNvPicPr>
          <p:nvPr/>
        </p:nvPicPr>
        <p:blipFill>
          <a:blip r:embed="rId4" cstate="print"/>
          <a:srcRect/>
          <a:stretch>
            <a:fillRect/>
          </a:stretch>
        </p:blipFill>
        <p:spPr bwMode="auto">
          <a:xfrm>
            <a:off x="1905000" y="4876800"/>
            <a:ext cx="5655452" cy="1514475"/>
          </a:xfrm>
          <a:prstGeom prst="rect">
            <a:avLst/>
          </a:prstGeom>
          <a:noFill/>
          <a:ln w="9525">
            <a:noFill/>
            <a:miter lim="800000"/>
            <a:headEnd/>
            <a:tailEnd/>
          </a:ln>
        </p:spPr>
      </p:pic>
      <p:sp>
        <p:nvSpPr>
          <p:cNvPr id="8" name="TextBox 7"/>
          <p:cNvSpPr txBox="1"/>
          <p:nvPr/>
        </p:nvSpPr>
        <p:spPr>
          <a:xfrm>
            <a:off x="228600" y="4191000"/>
            <a:ext cx="8382000" cy="400110"/>
          </a:xfrm>
          <a:prstGeom prst="rect">
            <a:avLst/>
          </a:prstGeom>
          <a:noFill/>
        </p:spPr>
        <p:txBody>
          <a:bodyPr wrap="square" rtlCol="0">
            <a:spAutoFit/>
          </a:bodyPr>
          <a:lstStyle/>
          <a:p>
            <a:r>
              <a:rPr lang="en-US" sz="2000" dirty="0"/>
              <a:t>Equivalent  query if </a:t>
            </a:r>
            <a:r>
              <a:rPr lang="en-IN" sz="2000" dirty="0"/>
              <a:t>if specified on the base relations</a:t>
            </a:r>
          </a:p>
        </p:txBody>
      </p:sp>
    </p:spTree>
  </p:cSld>
  <p:clrMapOvr>
    <a:masterClrMapping/>
  </p:clrMapOvr>
  <p:transition>
    <p:cut/>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0"/>
            <a:ext cx="8458200" cy="738023"/>
          </a:xfrm>
          <a:prstGeom prst="rect">
            <a:avLst/>
          </a:prstGeom>
          <a:noFill/>
        </p:spPr>
        <p:txBody>
          <a:bodyPr wrap="square" rtlCol="0">
            <a:spAutoFit/>
          </a:bodyPr>
          <a:lstStyle/>
          <a:p>
            <a:pPr marL="342900" indent="-342900">
              <a:lnSpc>
                <a:spcPct val="150000"/>
              </a:lnSpc>
            </a:pPr>
            <a:r>
              <a:rPr lang="en-IN" sz="3200" b="1" dirty="0"/>
              <a:t>Specification of Views in SQL</a:t>
            </a:r>
            <a:endParaRPr lang="en-US" sz="2800" b="1" dirty="0">
              <a:latin typeface="Tahoma" pitchFamily="34" charset="0"/>
              <a:ea typeface="Tahoma" pitchFamily="34" charset="0"/>
              <a:cs typeface="Tahoma" pitchFamily="34" charset="0"/>
            </a:endParaRPr>
          </a:p>
        </p:txBody>
      </p:sp>
      <p:sp>
        <p:nvSpPr>
          <p:cNvPr id="5" name="Rectangle 4"/>
          <p:cNvSpPr/>
          <p:nvPr/>
        </p:nvSpPr>
        <p:spPr>
          <a:xfrm>
            <a:off x="228600" y="838200"/>
            <a:ext cx="8534400" cy="3370153"/>
          </a:xfrm>
          <a:prstGeom prst="rect">
            <a:avLst/>
          </a:prstGeom>
        </p:spPr>
        <p:txBody>
          <a:bodyPr wrap="square">
            <a:spAutoFit/>
          </a:bodyPr>
          <a:lstStyle/>
          <a:p>
            <a:pPr>
              <a:lnSpc>
                <a:spcPct val="150000"/>
              </a:lnSpc>
            </a:pPr>
            <a:r>
              <a:rPr lang="en-US" sz="2400" b="1" dirty="0"/>
              <a:t>Advantages </a:t>
            </a:r>
            <a:endParaRPr lang="en-IN" sz="2400" b="1" dirty="0"/>
          </a:p>
          <a:p>
            <a:pPr marL="1257300" lvl="2" indent="-342900">
              <a:lnSpc>
                <a:spcPct val="150000"/>
              </a:lnSpc>
              <a:buFont typeface="Arial" pitchFamily="34" charset="0"/>
              <a:buChar char="•"/>
            </a:pPr>
            <a:r>
              <a:rPr lang="en-IN" dirty="0"/>
              <a:t>a view is to simplify the specification of certain queries.</a:t>
            </a:r>
          </a:p>
          <a:p>
            <a:pPr marL="1257300" lvl="2" indent="-342900">
              <a:lnSpc>
                <a:spcPct val="150000"/>
              </a:lnSpc>
              <a:buFont typeface="Arial" pitchFamily="34" charset="0"/>
              <a:buChar char="•"/>
            </a:pPr>
            <a:r>
              <a:rPr lang="en-US" dirty="0"/>
              <a:t> </a:t>
            </a:r>
            <a:r>
              <a:rPr lang="en-IN" dirty="0"/>
              <a:t>Views are also used as a security and authorization mechanism</a:t>
            </a:r>
          </a:p>
          <a:p>
            <a:pPr marL="1257300" lvl="2" indent="-342900">
              <a:lnSpc>
                <a:spcPct val="150000"/>
              </a:lnSpc>
            </a:pPr>
            <a:endParaRPr lang="en-IN" dirty="0"/>
          </a:p>
          <a:p>
            <a:pPr marL="342900" indent="-342900">
              <a:lnSpc>
                <a:spcPct val="150000"/>
              </a:lnSpc>
              <a:buFont typeface="Arial" pitchFamily="34" charset="0"/>
              <a:buChar char="•"/>
            </a:pPr>
            <a:r>
              <a:rPr lang="en-US" dirty="0"/>
              <a:t> </a:t>
            </a:r>
            <a:r>
              <a:rPr lang="en-IN" sz="2400" b="1" i="1" dirty="0">
                <a:solidFill>
                  <a:srgbClr val="002060"/>
                </a:solidFill>
              </a:rPr>
              <a:t>A view is supposed to be always up to date;</a:t>
            </a:r>
          </a:p>
          <a:p>
            <a:pPr marL="342900" indent="-342900">
              <a:lnSpc>
                <a:spcPct val="150000"/>
              </a:lnSpc>
              <a:buFont typeface="Arial" pitchFamily="34" charset="0"/>
              <a:buChar char="•"/>
            </a:pPr>
            <a:endParaRPr lang="en-US" sz="2400" b="1" i="1" dirty="0">
              <a:solidFill>
                <a:srgbClr val="002060"/>
              </a:solidFill>
            </a:endParaRPr>
          </a:p>
          <a:p>
            <a:pPr marL="457200" indent="-457200">
              <a:buFont typeface="Arial" pitchFamily="34" charset="0"/>
              <a:buChar char="•"/>
            </a:pPr>
            <a:r>
              <a:rPr lang="en-IN" sz="2400" dirty="0"/>
              <a:t> DROP VIEW command is used to dispose a view</a:t>
            </a:r>
            <a:endParaRPr lang="en-IN" sz="2400" b="1" i="1" dirty="0">
              <a:solidFill>
                <a:srgbClr val="002060"/>
              </a:solidFill>
            </a:endParaRPr>
          </a:p>
        </p:txBody>
      </p:sp>
      <p:pic>
        <p:nvPicPr>
          <p:cNvPr id="7170" name="Picture 2"/>
          <p:cNvPicPr>
            <a:picLocks noChangeAspect="1" noChangeArrowheads="1"/>
          </p:cNvPicPr>
          <p:nvPr/>
        </p:nvPicPr>
        <p:blipFill>
          <a:blip r:embed="rId3" cstate="print"/>
          <a:srcRect/>
          <a:stretch>
            <a:fillRect/>
          </a:stretch>
        </p:blipFill>
        <p:spPr bwMode="auto">
          <a:xfrm>
            <a:off x="1371601" y="4724401"/>
            <a:ext cx="4953000" cy="533399"/>
          </a:xfrm>
          <a:prstGeom prst="rect">
            <a:avLst/>
          </a:prstGeom>
          <a:noFill/>
          <a:ln w="9525">
            <a:noFill/>
            <a:miter lim="800000"/>
            <a:headEnd/>
            <a:tailEnd/>
          </a:ln>
        </p:spPr>
      </p:pic>
    </p:spTree>
  </p:cSld>
  <p:clrMapOvr>
    <a:masterClrMapping/>
  </p:clrMapOvr>
  <p:transition>
    <p:cut/>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22015-89D9-4260-9FB6-AF57007A578C}"/>
              </a:ext>
            </a:extLst>
          </p:cNvPr>
          <p:cNvSpPr>
            <a:spLocks noGrp="1"/>
          </p:cNvSpPr>
          <p:nvPr>
            <p:ph type="title"/>
          </p:nvPr>
        </p:nvSpPr>
        <p:spPr>
          <a:xfrm>
            <a:off x="457200" y="274638"/>
            <a:ext cx="8229600" cy="1143000"/>
          </a:xfrm>
        </p:spPr>
        <p:txBody>
          <a:bodyPr/>
          <a:lstStyle/>
          <a:p>
            <a:r>
              <a:rPr lang="en-US" dirty="0"/>
              <a:t>Specifying General Constraints as Assertions in SQL</a:t>
            </a:r>
            <a:br>
              <a:rPr lang="en-US" dirty="0"/>
            </a:br>
            <a:endParaRPr lang="en-IN" dirty="0"/>
          </a:p>
        </p:txBody>
      </p:sp>
      <p:sp>
        <p:nvSpPr>
          <p:cNvPr id="3" name="Content Placeholder 2">
            <a:extLst>
              <a:ext uri="{FF2B5EF4-FFF2-40B4-BE49-F238E27FC236}">
                <a16:creationId xmlns:a16="http://schemas.microsoft.com/office/drawing/2014/main" id="{CCA4DE06-3285-4C39-84EC-37F6D00BB2DE}"/>
              </a:ext>
            </a:extLst>
          </p:cNvPr>
          <p:cNvSpPr>
            <a:spLocks noGrp="1"/>
          </p:cNvSpPr>
          <p:nvPr>
            <p:ph idx="1"/>
          </p:nvPr>
        </p:nvSpPr>
        <p:spPr>
          <a:xfrm>
            <a:off x="304800" y="1417638"/>
            <a:ext cx="8229600" cy="4525963"/>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Assertions are used to specify additional types of constraints outside scope of built-in relational model constraints. In SQL, users can specify general constraints via declarative assertions, using</a:t>
            </a:r>
          </a:p>
          <a:p>
            <a:pPr marL="0" indent="0" algn="just">
              <a:buNone/>
            </a:pPr>
            <a:r>
              <a:rPr lang="en-US" sz="2800" dirty="0">
                <a:latin typeface="Times New Roman" panose="02020603050405020304" pitchFamily="18" charset="0"/>
                <a:cs typeface="Times New Roman" panose="02020603050405020304" pitchFamily="18" charset="0"/>
              </a:rPr>
              <a:t>CREATE ASSERTION &lt;</a:t>
            </a:r>
            <a:r>
              <a:rPr lang="en-US" sz="2800" dirty="0" err="1">
                <a:latin typeface="Times New Roman" panose="02020603050405020304" pitchFamily="18" charset="0"/>
                <a:cs typeface="Times New Roman" panose="02020603050405020304" pitchFamily="18" charset="0"/>
              </a:rPr>
              <a:t>Name_of_assertion</a:t>
            </a:r>
            <a:r>
              <a:rPr lang="en-US" sz="2800" dirty="0">
                <a:latin typeface="Times New Roman" panose="02020603050405020304" pitchFamily="18" charset="0"/>
                <a:cs typeface="Times New Roman" panose="02020603050405020304" pitchFamily="18" charset="0"/>
              </a:rPr>
              <a:t>&gt; CHECK (&lt;</a:t>
            </a:r>
            <a:r>
              <a:rPr lang="en-US" sz="2800" dirty="0" err="1">
                <a:latin typeface="Times New Roman" panose="02020603050405020304" pitchFamily="18" charset="0"/>
                <a:cs typeface="Times New Roman" panose="02020603050405020304" pitchFamily="18" charset="0"/>
              </a:rPr>
              <a:t>cond</a:t>
            </a:r>
            <a:r>
              <a:rPr lang="en-US" sz="2800" dirty="0">
                <a:latin typeface="Times New Roman" panose="02020603050405020304" pitchFamily="18" charset="0"/>
                <a:cs typeface="Times New Roman" panose="02020603050405020304" pitchFamily="18" charset="0"/>
              </a:rPr>
              <a:t>&gt;)</a:t>
            </a:r>
          </a:p>
          <a:p>
            <a:pPr marL="0" indent="0" algn="just">
              <a:buNone/>
            </a:pPr>
            <a:r>
              <a:rPr lang="en-US" sz="2800" dirty="0">
                <a:latin typeface="Times New Roman" panose="02020603050405020304" pitchFamily="18" charset="0"/>
                <a:cs typeface="Times New Roman" panose="02020603050405020304" pitchFamily="18" charset="0"/>
              </a:rPr>
              <a:t>For the assertion to be satisfied, the condition specified after CHECK clause must return true.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674348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2DACD-B8FE-4B1C-A04F-DDD64743109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9963253-6366-482C-92BF-50073A6BA5E9}"/>
              </a:ext>
            </a:extLst>
          </p:cNvPr>
          <p:cNvSpPr>
            <a:spLocks noGrp="1"/>
          </p:cNvSpPr>
          <p:nvPr>
            <p:ph idx="1"/>
          </p:nvPr>
        </p:nvSpPr>
        <p:spPr>
          <a:xfrm>
            <a:off x="609600" y="1676400"/>
            <a:ext cx="8229600" cy="4525963"/>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The CREATE ASSERTION statement of the DDL.</a:t>
            </a:r>
          </a:p>
          <a:p>
            <a:pPr marL="0" indent="0" algn="just">
              <a:buNone/>
            </a:pPr>
            <a:r>
              <a:rPr lang="en-US" sz="2800" dirty="0">
                <a:latin typeface="Times New Roman" panose="02020603050405020304" pitchFamily="18" charset="0"/>
                <a:cs typeface="Times New Roman" panose="02020603050405020304" pitchFamily="18" charset="0"/>
              </a:rPr>
              <a:t>Each assertion is given a constraint name and is specified via a condition similar to the WHERE clause of an SQL query.</a:t>
            </a:r>
          </a:p>
          <a:p>
            <a:pPr marL="0" indent="0" algn="just">
              <a:buNone/>
            </a:pPr>
            <a:r>
              <a:rPr lang="en-US" sz="2800" dirty="0">
                <a:latin typeface="Times New Roman" panose="02020603050405020304" pitchFamily="18" charset="0"/>
                <a:cs typeface="Times New Roman" panose="02020603050405020304" pitchFamily="18" charset="0"/>
              </a:rPr>
              <a:t>General form :</a:t>
            </a:r>
          </a:p>
          <a:p>
            <a:pPr marL="0" indent="0" algn="just">
              <a:buNone/>
            </a:pPr>
            <a:r>
              <a:rPr lang="en-US" sz="2800" dirty="0">
                <a:latin typeface="Times New Roman" panose="02020603050405020304" pitchFamily="18" charset="0"/>
                <a:cs typeface="Times New Roman" panose="02020603050405020304" pitchFamily="18" charset="0"/>
              </a:rPr>
              <a:t>CREATE ASSERTION &lt;</a:t>
            </a:r>
            <a:r>
              <a:rPr lang="en-US" sz="2800" dirty="0" err="1">
                <a:latin typeface="Times New Roman" panose="02020603050405020304" pitchFamily="18" charset="0"/>
                <a:cs typeface="Times New Roman" panose="02020603050405020304" pitchFamily="18" charset="0"/>
              </a:rPr>
              <a:t>Name_of_assertion</a:t>
            </a:r>
            <a:r>
              <a:rPr lang="en-US" sz="2800" dirty="0">
                <a:latin typeface="Times New Roman" panose="02020603050405020304" pitchFamily="18" charset="0"/>
                <a:cs typeface="Times New Roman" panose="02020603050405020304" pitchFamily="18" charset="0"/>
              </a:rPr>
              <a:t>&gt; CHECK (&lt;</a:t>
            </a:r>
            <a:r>
              <a:rPr lang="en-US" sz="2800" dirty="0" err="1">
                <a:latin typeface="Times New Roman" panose="02020603050405020304" pitchFamily="18" charset="0"/>
                <a:cs typeface="Times New Roman" panose="02020603050405020304" pitchFamily="18" charset="0"/>
              </a:rPr>
              <a:t>cond</a:t>
            </a:r>
            <a:r>
              <a:rPr lang="en-US" sz="2800" dirty="0">
                <a:latin typeface="Times New Roman" panose="02020603050405020304" pitchFamily="18" charset="0"/>
                <a:cs typeface="Times New Roman" panose="02020603050405020304" pitchFamily="18" charset="0"/>
              </a:rPr>
              <a:t>&gt;)</a:t>
            </a:r>
          </a:p>
          <a:p>
            <a:pPr marL="0" indent="0" algn="just">
              <a:buNone/>
            </a:pPr>
            <a:r>
              <a:rPr lang="en-US" sz="2800" dirty="0">
                <a:latin typeface="Times New Roman" panose="02020603050405020304" pitchFamily="18" charset="0"/>
                <a:cs typeface="Times New Roman" panose="02020603050405020304" pitchFamily="18" charset="0"/>
              </a:rPr>
              <a:t>For the assertion to be satisfied, the condition specified after CHECK clause must return true.</a:t>
            </a: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419031119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CCB5D-B875-4C0A-806E-6F0F0EE282B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94C37D4-CC2A-4C03-8C69-403FE07D98B0}"/>
              </a:ext>
            </a:extLst>
          </p:cNvPr>
          <p:cNvSpPr>
            <a:spLocks noGrp="1"/>
          </p:cNvSpPr>
          <p:nvPr>
            <p:ph idx="1"/>
          </p:nvPr>
        </p:nvSpPr>
        <p:spPr/>
        <p:txBody>
          <a:bodyPr/>
          <a:lstStyle/>
          <a:p>
            <a:pPr marL="0" indent="0">
              <a:buNone/>
            </a:pPr>
            <a:r>
              <a:rPr lang="en-US" sz="2800" dirty="0">
                <a:latin typeface="Times New Roman" panose="02020603050405020304" pitchFamily="18" charset="0"/>
                <a:cs typeface="Times New Roman" panose="02020603050405020304" pitchFamily="18" charset="0"/>
              </a:rPr>
              <a:t>Write an assertion to specify the constraint that the Sum of loans taken by a customer does not exceed 100,000</a:t>
            </a:r>
          </a:p>
          <a:p>
            <a:pPr marL="0" indent="0">
              <a:buNone/>
            </a:pPr>
            <a:r>
              <a:rPr lang="en-US" sz="2800" dirty="0">
                <a:latin typeface="Times New Roman" panose="02020603050405020304" pitchFamily="18" charset="0"/>
                <a:cs typeface="Times New Roman" panose="02020603050405020304" pitchFamily="18" charset="0"/>
              </a:rPr>
              <a:t>CREATE ASSERTION </a:t>
            </a:r>
            <a:r>
              <a:rPr lang="en-US" sz="2800" dirty="0" err="1">
                <a:latin typeface="Times New Roman" panose="02020603050405020304" pitchFamily="18" charset="0"/>
                <a:cs typeface="Times New Roman" panose="02020603050405020304" pitchFamily="18" charset="0"/>
              </a:rPr>
              <a:t>sumofloans</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CHECK (100000&gt; = ALL</a:t>
            </a:r>
          </a:p>
          <a:p>
            <a:pPr marL="0" indent="0">
              <a:buNone/>
            </a:pPr>
            <a:r>
              <a:rPr lang="en-US" sz="2800" dirty="0">
                <a:latin typeface="Times New Roman" panose="02020603050405020304" pitchFamily="18" charset="0"/>
                <a:cs typeface="Times New Roman" panose="02020603050405020304" pitchFamily="18" charset="0"/>
              </a:rPr>
              <a:t>SELECT </a:t>
            </a:r>
            <a:r>
              <a:rPr lang="en-US" sz="2800" dirty="0" err="1">
                <a:latin typeface="Times New Roman" panose="02020603050405020304" pitchFamily="18" charset="0"/>
                <a:cs typeface="Times New Roman" panose="02020603050405020304" pitchFamily="18" charset="0"/>
              </a:rPr>
              <a:t>customer_name,sum</a:t>
            </a:r>
            <a:r>
              <a:rPr lang="en-US" sz="2800" dirty="0">
                <a:latin typeface="Times New Roman" panose="02020603050405020304" pitchFamily="18" charset="0"/>
                <a:cs typeface="Times New Roman" panose="02020603050405020304" pitchFamily="18" charset="0"/>
              </a:rPr>
              <a:t>(amount)</a:t>
            </a:r>
          </a:p>
          <a:p>
            <a:pPr marL="0" indent="0">
              <a:buNone/>
            </a:pPr>
            <a:r>
              <a:rPr lang="en-US" sz="2800" dirty="0">
                <a:latin typeface="Times New Roman" panose="02020603050405020304" pitchFamily="18" charset="0"/>
                <a:cs typeface="Times New Roman" panose="02020603050405020304" pitchFamily="18" charset="0"/>
              </a:rPr>
              <a:t>FROM borrower b, loan l</a:t>
            </a:r>
          </a:p>
          <a:p>
            <a:pPr marL="0" indent="0">
              <a:buNone/>
            </a:pPr>
            <a:r>
              <a:rPr lang="en-US" sz="2800" dirty="0">
                <a:latin typeface="Times New Roman" panose="02020603050405020304" pitchFamily="18" charset="0"/>
                <a:cs typeface="Times New Roman" panose="02020603050405020304" pitchFamily="18" charset="0"/>
              </a:rPr>
              <a:t>WHERE </a:t>
            </a:r>
            <a:r>
              <a:rPr lang="en-US" sz="2800" dirty="0" err="1">
                <a:latin typeface="Times New Roman" panose="02020603050405020304" pitchFamily="18" charset="0"/>
                <a:cs typeface="Times New Roman" panose="02020603050405020304" pitchFamily="18" charset="0"/>
              </a:rPr>
              <a:t>b.loan_number</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l.loan_number</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GROUP BY </a:t>
            </a:r>
            <a:r>
              <a:rPr lang="en-US" sz="2800" dirty="0" err="1">
                <a:latin typeface="Times New Roman" panose="02020603050405020304" pitchFamily="18" charset="0"/>
                <a:cs typeface="Times New Roman" panose="02020603050405020304" pitchFamily="18" charset="0"/>
              </a:rPr>
              <a:t>customer_name</a:t>
            </a:r>
            <a:r>
              <a:rPr lang="en-US"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24063244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0FB03-E091-4817-9CAC-8BFBBA4C676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C9D4489-8576-4867-A4B7-DABD3C8C4A70}"/>
              </a:ext>
            </a:extLst>
          </p:cNvPr>
          <p:cNvSpPr>
            <a:spLocks noGrp="1"/>
          </p:cNvSpPr>
          <p:nvPr>
            <p:ph idx="1"/>
          </p:nvPr>
        </p:nvSpPr>
        <p:spPr/>
        <p:txBody>
          <a:bodyPr/>
          <a:lstStyle/>
          <a:p>
            <a:pPr marL="0" indent="0" algn="just">
              <a:buNone/>
            </a:pPr>
            <a:r>
              <a:rPr lang="en-US" sz="2800" dirty="0">
                <a:latin typeface="Times New Roman" panose="02020603050405020304" pitchFamily="18" charset="0"/>
                <a:cs typeface="Times New Roman" panose="02020603050405020304" pitchFamily="18" charset="0"/>
              </a:rPr>
              <a:t>For example, to specify the constraint that the salary of an employee must not be greater than the salary of the manager of the department that the employee works for in SQL, we can write the following assertion:</a:t>
            </a:r>
          </a:p>
          <a:p>
            <a:pPr marL="0" indent="0">
              <a:buNone/>
            </a:pPr>
            <a:endParaRPr lang="en-IN" dirty="0"/>
          </a:p>
        </p:txBody>
      </p:sp>
    </p:spTree>
    <p:extLst>
      <p:ext uri="{BB962C8B-B14F-4D97-AF65-F5344CB8AC3E}">
        <p14:creationId xmlns:p14="http://schemas.microsoft.com/office/powerpoint/2010/main" val="38555225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086ED-D2C1-409E-9055-692F7FE12A7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57D1C1C-D7B3-4DBD-8AB4-F408ED28A650}"/>
              </a:ext>
            </a:extLst>
          </p:cNvPr>
          <p:cNvSpPr>
            <a:spLocks noGrp="1"/>
          </p:cNvSpPr>
          <p:nvPr>
            <p:ph idx="1"/>
          </p:nvPr>
        </p:nvSpPr>
        <p:spPr/>
        <p:txBody>
          <a:bodyPr/>
          <a:lstStyle/>
          <a:p>
            <a:pPr marL="0" indent="0" algn="just">
              <a:buNone/>
            </a:pPr>
            <a:r>
              <a:rPr lang="en-US" sz="2800" dirty="0">
                <a:latin typeface="Times New Roman" panose="02020603050405020304" pitchFamily="18" charset="0"/>
                <a:cs typeface="Times New Roman" panose="02020603050405020304" pitchFamily="18" charset="0"/>
              </a:rPr>
              <a:t>CREATE ASSERTION SALARY_CONSTRAINT</a:t>
            </a:r>
          </a:p>
          <a:p>
            <a:pPr marL="0" indent="0" algn="just">
              <a:buNone/>
            </a:pPr>
            <a:r>
              <a:rPr lang="en-US" sz="2800" dirty="0">
                <a:latin typeface="Times New Roman" panose="02020603050405020304" pitchFamily="18" charset="0"/>
                <a:cs typeface="Times New Roman" panose="02020603050405020304" pitchFamily="18" charset="0"/>
              </a:rPr>
              <a:t>CHECK ( NOT EXISTS ( SELECT * FROM EMPLOYEE E, EMPLOYEE M,</a:t>
            </a:r>
          </a:p>
          <a:p>
            <a:pPr marL="0" indent="0" algn="just">
              <a:buNone/>
            </a:pPr>
            <a:r>
              <a:rPr lang="en-US" sz="2800" dirty="0">
                <a:latin typeface="Times New Roman" panose="02020603050405020304" pitchFamily="18" charset="0"/>
                <a:cs typeface="Times New Roman" panose="02020603050405020304" pitchFamily="18" charset="0"/>
              </a:rPr>
              <a:t>DEPARTMENT D WHERE </a:t>
            </a:r>
            <a:r>
              <a:rPr lang="en-US" sz="2800" dirty="0" err="1">
                <a:latin typeface="Times New Roman" panose="02020603050405020304" pitchFamily="18" charset="0"/>
                <a:cs typeface="Times New Roman" panose="02020603050405020304" pitchFamily="18" charset="0"/>
              </a:rPr>
              <a:t>E.Salary</a:t>
            </a:r>
            <a:r>
              <a:rPr lang="en-US" sz="2800" dirty="0">
                <a:latin typeface="Times New Roman" panose="02020603050405020304" pitchFamily="18" charset="0"/>
                <a:cs typeface="Times New Roman" panose="02020603050405020304" pitchFamily="18" charset="0"/>
              </a:rPr>
              <a:t>&gt;</a:t>
            </a:r>
            <a:r>
              <a:rPr lang="en-US" sz="2800" dirty="0" err="1">
                <a:latin typeface="Times New Roman" panose="02020603050405020304" pitchFamily="18" charset="0"/>
                <a:cs typeface="Times New Roman" panose="02020603050405020304" pitchFamily="18" charset="0"/>
              </a:rPr>
              <a:t>M.Salary</a:t>
            </a:r>
            <a:r>
              <a:rPr lang="en-US" sz="2800" dirty="0">
                <a:latin typeface="Times New Roman" panose="02020603050405020304" pitchFamily="18" charset="0"/>
                <a:cs typeface="Times New Roman" panose="02020603050405020304" pitchFamily="18" charset="0"/>
              </a:rPr>
              <a:t> AND</a:t>
            </a:r>
          </a:p>
          <a:p>
            <a:pPr marL="0" indent="0" algn="just">
              <a:buNone/>
            </a:pPr>
            <a:r>
              <a:rPr lang="en-US" sz="2800" dirty="0" err="1">
                <a:latin typeface="Times New Roman" panose="02020603050405020304" pitchFamily="18" charset="0"/>
                <a:cs typeface="Times New Roman" panose="02020603050405020304" pitchFamily="18" charset="0"/>
              </a:rPr>
              <a:t>E.Dno</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D.Dnumber</a:t>
            </a:r>
            <a:r>
              <a:rPr lang="en-US" sz="2800" dirty="0">
                <a:latin typeface="Times New Roman" panose="02020603050405020304" pitchFamily="18" charset="0"/>
                <a:cs typeface="Times New Roman" panose="02020603050405020304" pitchFamily="18" charset="0"/>
              </a:rPr>
              <a:t> AND </a:t>
            </a:r>
            <a:r>
              <a:rPr lang="en-US" sz="2800" dirty="0" err="1">
                <a:latin typeface="Times New Roman" panose="02020603050405020304" pitchFamily="18" charset="0"/>
                <a:cs typeface="Times New Roman" panose="02020603050405020304" pitchFamily="18" charset="0"/>
              </a:rPr>
              <a:t>D.Mgr_ssn</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M.Ssn</a:t>
            </a:r>
            <a:r>
              <a:rPr lang="en-US" sz="2800" dirty="0">
                <a:latin typeface="Times New Roman" panose="02020603050405020304" pitchFamily="18" charset="0"/>
                <a:cs typeface="Times New Roman" panose="02020603050405020304" pitchFamily="18" charset="0"/>
              </a:rPr>
              <a:t> ) );</a:t>
            </a:r>
            <a:endParaRPr lang="en-IN" sz="28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43908215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0352B-0A4A-433D-9E91-8942E4A4665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0458A96-A0D1-4208-88AF-9E0619078861}"/>
              </a:ext>
            </a:extLst>
          </p:cNvPr>
          <p:cNvSpPr>
            <a:spLocks noGrp="1"/>
          </p:cNvSpPr>
          <p:nvPr>
            <p:ph idx="1"/>
          </p:nvPr>
        </p:nvSpPr>
        <p:spPr/>
        <p:txBody>
          <a:bodyPr/>
          <a:lstStyle/>
          <a:p>
            <a:pPr marL="0" indent="0">
              <a:buNone/>
            </a:pPr>
            <a:r>
              <a:rPr lang="en-US" sz="2800" dirty="0">
                <a:latin typeface="Times New Roman" panose="02020603050405020304" pitchFamily="18" charset="0"/>
                <a:cs typeface="Times New Roman" panose="02020603050405020304" pitchFamily="18" charset="0"/>
              </a:rPr>
              <a:t>Write an assertion to specify the constraint that the Sum of loans taken by a customer does not</a:t>
            </a:r>
          </a:p>
          <a:p>
            <a:pPr marL="0" indent="0">
              <a:buNone/>
            </a:pPr>
            <a:r>
              <a:rPr lang="en-US" sz="2800" dirty="0">
                <a:latin typeface="Times New Roman" panose="02020603050405020304" pitchFamily="18" charset="0"/>
                <a:cs typeface="Times New Roman" panose="02020603050405020304" pitchFamily="18" charset="0"/>
              </a:rPr>
              <a:t>exceed 100,000</a:t>
            </a:r>
          </a:p>
          <a:p>
            <a:pPr marL="0" indent="0">
              <a:buNone/>
            </a:pPr>
            <a:r>
              <a:rPr lang="en-US" sz="2800" dirty="0">
                <a:latin typeface="Times New Roman" panose="02020603050405020304" pitchFamily="18" charset="0"/>
                <a:cs typeface="Times New Roman" panose="02020603050405020304" pitchFamily="18" charset="0"/>
              </a:rPr>
              <a:t>CREATE ASSERTION </a:t>
            </a:r>
            <a:r>
              <a:rPr lang="en-US" sz="2800" dirty="0" err="1">
                <a:latin typeface="Times New Roman" panose="02020603050405020304" pitchFamily="18" charset="0"/>
                <a:cs typeface="Times New Roman" panose="02020603050405020304" pitchFamily="18" charset="0"/>
              </a:rPr>
              <a:t>sumofloans</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CHECK (100000&gt; = ALL</a:t>
            </a:r>
          </a:p>
          <a:p>
            <a:pPr marL="0" indent="0">
              <a:buNone/>
            </a:pPr>
            <a:r>
              <a:rPr lang="en-US" sz="2800" dirty="0">
                <a:latin typeface="Times New Roman" panose="02020603050405020304" pitchFamily="18" charset="0"/>
                <a:cs typeface="Times New Roman" panose="02020603050405020304" pitchFamily="18" charset="0"/>
              </a:rPr>
              <a:t>SELECT </a:t>
            </a:r>
            <a:r>
              <a:rPr lang="en-US" sz="2800" dirty="0" err="1">
                <a:latin typeface="Times New Roman" panose="02020603050405020304" pitchFamily="18" charset="0"/>
                <a:cs typeface="Times New Roman" panose="02020603050405020304" pitchFamily="18" charset="0"/>
              </a:rPr>
              <a:t>customer_name,sum</a:t>
            </a:r>
            <a:r>
              <a:rPr lang="en-US" sz="2800" dirty="0">
                <a:latin typeface="Times New Roman" panose="02020603050405020304" pitchFamily="18" charset="0"/>
                <a:cs typeface="Times New Roman" panose="02020603050405020304" pitchFamily="18" charset="0"/>
              </a:rPr>
              <a:t>(amount)</a:t>
            </a:r>
          </a:p>
          <a:p>
            <a:pPr marL="0" indent="0">
              <a:buNone/>
            </a:pPr>
            <a:r>
              <a:rPr lang="en-US" sz="2800" dirty="0">
                <a:latin typeface="Times New Roman" panose="02020603050405020304" pitchFamily="18" charset="0"/>
                <a:cs typeface="Times New Roman" panose="02020603050405020304" pitchFamily="18" charset="0"/>
              </a:rPr>
              <a:t>FROM borrower b, loan l</a:t>
            </a:r>
          </a:p>
          <a:p>
            <a:pPr marL="0" indent="0">
              <a:buNone/>
            </a:pPr>
            <a:r>
              <a:rPr lang="en-US" sz="2800" dirty="0">
                <a:latin typeface="Times New Roman" panose="02020603050405020304" pitchFamily="18" charset="0"/>
                <a:cs typeface="Times New Roman" panose="02020603050405020304" pitchFamily="18" charset="0"/>
              </a:rPr>
              <a:t>WHERE </a:t>
            </a:r>
            <a:r>
              <a:rPr lang="en-US" sz="2800" dirty="0" err="1">
                <a:latin typeface="Times New Roman" panose="02020603050405020304" pitchFamily="18" charset="0"/>
                <a:cs typeface="Times New Roman" panose="02020603050405020304" pitchFamily="18" charset="0"/>
              </a:rPr>
              <a:t>b.loan_number</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l.loan_number</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GROUP BY </a:t>
            </a:r>
            <a:r>
              <a:rPr lang="en-US" sz="2800" dirty="0" err="1">
                <a:latin typeface="Times New Roman" panose="02020603050405020304" pitchFamily="18" charset="0"/>
                <a:cs typeface="Times New Roman" panose="02020603050405020304" pitchFamily="18" charset="0"/>
              </a:rPr>
              <a:t>customer_name</a:t>
            </a:r>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670515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AF58F-903E-4C3B-9A1B-AC0ABDD76A8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C43EAE-3303-486C-BAB9-98F655D9C26D}"/>
              </a:ext>
            </a:extLst>
          </p:cNvPr>
          <p:cNvSpPr>
            <a:spLocks noGrp="1"/>
          </p:cNvSpPr>
          <p:nvPr>
            <p:ph idx="1"/>
          </p:nvPr>
        </p:nvSpPr>
        <p:spPr/>
        <p:txBody>
          <a:bodyPr/>
          <a:lstStyle/>
          <a:p>
            <a:pPr marL="0" indent="0">
              <a:buNone/>
            </a:pPr>
            <a:r>
              <a:rPr lang="en-US" sz="2800" dirty="0">
                <a:latin typeface="Times New Roman" panose="02020603050405020304" pitchFamily="18" charset="0"/>
                <a:cs typeface="Times New Roman" panose="02020603050405020304" pitchFamily="18" charset="0"/>
              </a:rPr>
              <a:t>Write an assertion to specify the constraint that the Number of accounts for each customer in a</a:t>
            </a:r>
          </a:p>
          <a:p>
            <a:pPr marL="0" indent="0">
              <a:buNone/>
            </a:pPr>
            <a:r>
              <a:rPr lang="en-US" sz="2800" dirty="0">
                <a:latin typeface="Times New Roman" panose="02020603050405020304" pitchFamily="18" charset="0"/>
                <a:cs typeface="Times New Roman" panose="02020603050405020304" pitchFamily="18" charset="0"/>
              </a:rPr>
              <a:t>given branch is at most two</a:t>
            </a:r>
          </a:p>
          <a:p>
            <a:pPr marL="0" indent="0">
              <a:buNone/>
            </a:pPr>
            <a:r>
              <a:rPr lang="en-US" sz="2800" dirty="0">
                <a:latin typeface="Times New Roman" panose="02020603050405020304" pitchFamily="18" charset="0"/>
                <a:cs typeface="Times New Roman" panose="02020603050405020304" pitchFamily="18" charset="0"/>
              </a:rPr>
              <a:t>CREATE ASSERTION </a:t>
            </a:r>
            <a:r>
              <a:rPr lang="en-US" sz="2800" dirty="0" err="1">
                <a:latin typeface="Times New Roman" panose="02020603050405020304" pitchFamily="18" charset="0"/>
                <a:cs typeface="Times New Roman" panose="02020603050405020304" pitchFamily="18" charset="0"/>
              </a:rPr>
              <a:t>NumAccounts</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CHECK ( 2 &gt;= ALL</a:t>
            </a:r>
          </a:p>
          <a:p>
            <a:pPr marL="0" indent="0">
              <a:buNone/>
            </a:pPr>
            <a:r>
              <a:rPr lang="en-US" sz="2800" dirty="0">
                <a:latin typeface="Times New Roman" panose="02020603050405020304" pitchFamily="18" charset="0"/>
                <a:cs typeface="Times New Roman" panose="02020603050405020304" pitchFamily="18" charset="0"/>
              </a:rPr>
              <a:t>SELECT </a:t>
            </a:r>
            <a:r>
              <a:rPr lang="en-US" sz="2800" dirty="0" err="1">
                <a:latin typeface="Times New Roman" panose="02020603050405020304" pitchFamily="18" charset="0"/>
                <a:cs typeface="Times New Roman" panose="02020603050405020304" pitchFamily="18" charset="0"/>
              </a:rPr>
              <a:t>customer_name,branch_name</a:t>
            </a:r>
            <a:r>
              <a:rPr lang="en-US" sz="2800" dirty="0">
                <a:latin typeface="Times New Roman" panose="02020603050405020304" pitchFamily="18" charset="0"/>
                <a:cs typeface="Times New Roman" panose="02020603050405020304" pitchFamily="18" charset="0"/>
              </a:rPr>
              <a:t>, count(*)</a:t>
            </a:r>
          </a:p>
          <a:p>
            <a:pPr marL="0" indent="0">
              <a:buNone/>
            </a:pPr>
            <a:r>
              <a:rPr lang="en-US" sz="2800" dirty="0">
                <a:latin typeface="Times New Roman" panose="02020603050405020304" pitchFamily="18" charset="0"/>
                <a:cs typeface="Times New Roman" panose="02020603050405020304" pitchFamily="18" charset="0"/>
              </a:rPr>
              <a:t>FROM account A , depositor D</a:t>
            </a:r>
          </a:p>
          <a:p>
            <a:pPr marL="0" indent="0">
              <a:buNone/>
            </a:pPr>
            <a:r>
              <a:rPr lang="en-US" sz="2800" dirty="0">
                <a:latin typeface="Times New Roman" panose="02020603050405020304" pitchFamily="18" charset="0"/>
                <a:cs typeface="Times New Roman" panose="02020603050405020304" pitchFamily="18" charset="0"/>
              </a:rPr>
              <a:t>WHERE </a:t>
            </a:r>
            <a:r>
              <a:rPr lang="en-US" sz="2800" dirty="0" err="1">
                <a:latin typeface="Times New Roman" panose="02020603050405020304" pitchFamily="18" charset="0"/>
                <a:cs typeface="Times New Roman" panose="02020603050405020304" pitchFamily="18" charset="0"/>
              </a:rPr>
              <a:t>A.account_number</a:t>
            </a: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D.account_number</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GROUP BY </a:t>
            </a:r>
            <a:r>
              <a:rPr lang="en-US" sz="2800" dirty="0" err="1">
                <a:latin typeface="Times New Roman" panose="02020603050405020304" pitchFamily="18" charset="0"/>
                <a:cs typeface="Times New Roman" panose="02020603050405020304" pitchFamily="18" charset="0"/>
              </a:rPr>
              <a:t>customer_name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branch_name</a:t>
            </a:r>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174249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67C8-6CE4-46B0-9FF2-BFC18259722F}"/>
              </a:ext>
            </a:extLst>
          </p:cNvPr>
          <p:cNvSpPr>
            <a:spLocks noGrp="1"/>
          </p:cNvSpPr>
          <p:nvPr>
            <p:ph type="title"/>
          </p:nvPr>
        </p:nvSpPr>
        <p:spPr/>
        <p:txBody>
          <a:bodyPr/>
          <a:lstStyle/>
          <a:p>
            <a:r>
              <a:rPr lang="en-US" dirty="0"/>
              <a:t>Introduction to Triggers in SQL</a:t>
            </a:r>
            <a:endParaRPr lang="en-IN" dirty="0"/>
          </a:p>
        </p:txBody>
      </p:sp>
      <p:sp>
        <p:nvSpPr>
          <p:cNvPr id="3" name="Content Placeholder 2">
            <a:extLst>
              <a:ext uri="{FF2B5EF4-FFF2-40B4-BE49-F238E27FC236}">
                <a16:creationId xmlns:a16="http://schemas.microsoft.com/office/drawing/2014/main" id="{BC82DCE5-525D-401C-A2E2-5663FCD9BDFA}"/>
              </a:ext>
            </a:extLst>
          </p:cNvPr>
          <p:cNvSpPr>
            <a:spLocks noGrp="1"/>
          </p:cNvSpPr>
          <p:nvPr>
            <p:ph idx="1"/>
          </p:nvPr>
        </p:nvSpPr>
        <p:spPr/>
        <p:txBody>
          <a:bodyPr/>
          <a:lstStyle/>
          <a:p>
            <a:pPr marL="0" indent="0" algn="just">
              <a:buNone/>
            </a:pPr>
            <a:r>
              <a:rPr lang="en-US" sz="2800" dirty="0">
                <a:latin typeface="Times New Roman" panose="02020603050405020304" pitchFamily="18" charset="0"/>
                <a:cs typeface="Times New Roman" panose="02020603050405020304" pitchFamily="18" charset="0"/>
              </a:rPr>
              <a:t>A trigger is a procedure that runs automatically when a certain event occurs in the DBMS.</a:t>
            </a:r>
          </a:p>
          <a:p>
            <a:pPr marL="0" indent="0" algn="just">
              <a:buNone/>
            </a:pPr>
            <a:r>
              <a:rPr lang="en-US" sz="2800" dirty="0">
                <a:latin typeface="Times New Roman" panose="02020603050405020304" pitchFamily="18" charset="0"/>
                <a:cs typeface="Times New Roman" panose="02020603050405020304" pitchFamily="18" charset="0"/>
              </a:rPr>
              <a:t> In many cases it is convenient to specify the type of action to be taken when certain events occur and when certain conditions are satisfied. </a:t>
            </a:r>
          </a:p>
          <a:p>
            <a:pPr marL="0" indent="0" algn="just">
              <a:buNone/>
            </a:pPr>
            <a:r>
              <a:rPr lang="en-US" sz="2800" dirty="0">
                <a:latin typeface="Times New Roman" panose="02020603050405020304" pitchFamily="18" charset="0"/>
                <a:cs typeface="Times New Roman" panose="02020603050405020304" pitchFamily="18" charset="0"/>
              </a:rPr>
              <a:t>The CREATE TRIGGER statement is used to implement such actions in SQL.</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890928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52FB6-B1EC-41B8-B4CF-5F141DCA2A6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43CAEFD-3276-4695-A4A9-BC4E77027432}"/>
              </a:ext>
            </a:extLst>
          </p:cNvPr>
          <p:cNvSpPr>
            <a:spLocks noGrp="1"/>
          </p:cNvSpPr>
          <p:nvPr>
            <p:ph idx="1"/>
          </p:nvPr>
        </p:nvSpPr>
        <p:spPr/>
        <p:txBody>
          <a:bodyPr/>
          <a:lstStyle/>
          <a:p>
            <a:pPr marL="0" indent="0">
              <a:buNone/>
            </a:pPr>
            <a:r>
              <a:rPr lang="en-US" sz="2800" dirty="0">
                <a:latin typeface="Times New Roman" panose="02020603050405020304" pitchFamily="18" charset="0"/>
                <a:cs typeface="Times New Roman" panose="02020603050405020304" pitchFamily="18" charset="0"/>
              </a:rPr>
              <a:t>General form:</a:t>
            </a: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CREATE TRIGGER &lt;name&gt;</a:t>
            </a:r>
          </a:p>
          <a:p>
            <a:pPr marL="0" indent="0">
              <a:buNone/>
            </a:pPr>
            <a:r>
              <a:rPr lang="en-US" sz="2800" dirty="0">
                <a:latin typeface="Times New Roman" panose="02020603050405020304" pitchFamily="18" charset="0"/>
                <a:cs typeface="Times New Roman" panose="02020603050405020304" pitchFamily="18" charset="0"/>
              </a:rPr>
              <a:t>BEFORE | AFTER | &lt;events&gt;</a:t>
            </a:r>
          </a:p>
          <a:p>
            <a:pPr marL="0" indent="0">
              <a:buNone/>
            </a:pPr>
            <a:r>
              <a:rPr lang="en-US" sz="2800" dirty="0">
                <a:latin typeface="Times New Roman" panose="02020603050405020304" pitchFamily="18" charset="0"/>
                <a:cs typeface="Times New Roman" panose="02020603050405020304" pitchFamily="18" charset="0"/>
              </a:rPr>
              <a:t>FOR EACH ROW |FOR EACH STATEMENT</a:t>
            </a:r>
          </a:p>
          <a:p>
            <a:pPr marL="0" indent="0">
              <a:buNone/>
            </a:pPr>
            <a:r>
              <a:rPr lang="en-US" sz="2800" dirty="0">
                <a:latin typeface="Times New Roman" panose="02020603050405020304" pitchFamily="18" charset="0"/>
                <a:cs typeface="Times New Roman" panose="02020603050405020304" pitchFamily="18" charset="0"/>
              </a:rPr>
              <a:t>WHEN (&lt;condition&gt;)</a:t>
            </a:r>
          </a:p>
          <a:p>
            <a:pPr marL="0" indent="0">
              <a:buNone/>
            </a:pPr>
            <a:r>
              <a:rPr lang="en-US" sz="2800" dirty="0">
                <a:latin typeface="Times New Roman" panose="02020603050405020304" pitchFamily="18" charset="0"/>
                <a:cs typeface="Times New Roman" panose="02020603050405020304" pitchFamily="18" charset="0"/>
              </a:rPr>
              <a:t>&lt;action&gt;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986395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DBEFA-6723-4962-AD4E-B74BA7F19DC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F1E698E-02BF-4210-B85A-AAF34268C170}"/>
              </a:ext>
            </a:extLst>
          </p:cNvPr>
          <p:cNvSpPr>
            <a:spLocks noGrp="1"/>
          </p:cNvSpPr>
          <p:nvPr>
            <p:ph idx="1"/>
          </p:nvPr>
        </p:nvSpPr>
        <p:spPr/>
        <p:txBody>
          <a:bodyPr/>
          <a:lstStyle/>
          <a:p>
            <a:pPr marL="0" indent="0">
              <a:buNone/>
            </a:pPr>
            <a:r>
              <a:rPr lang="en-US" sz="2800" dirty="0">
                <a:latin typeface="Times New Roman" panose="02020603050405020304" pitchFamily="18" charset="0"/>
                <a:cs typeface="Times New Roman" panose="02020603050405020304" pitchFamily="18" charset="0"/>
              </a:rPr>
              <a:t>A trigger has three components</a:t>
            </a:r>
          </a:p>
          <a:p>
            <a:pPr marL="0" indent="0">
              <a:buNone/>
            </a:pPr>
            <a:r>
              <a:rPr lang="en-US" sz="2800" dirty="0">
                <a:latin typeface="Times New Roman" panose="02020603050405020304" pitchFamily="18" charset="0"/>
                <a:cs typeface="Times New Roman" panose="02020603050405020304" pitchFamily="18" charset="0"/>
              </a:rPr>
              <a:t>1. Event: When this event happens, the trigger is activated</a:t>
            </a:r>
          </a:p>
          <a:p>
            <a:pPr marL="0" indent="0">
              <a:buNone/>
            </a:pPr>
            <a:r>
              <a:rPr lang="en-US" sz="2800" dirty="0">
                <a:latin typeface="Times New Roman" panose="02020603050405020304" pitchFamily="18" charset="0"/>
                <a:cs typeface="Times New Roman" panose="02020603050405020304" pitchFamily="18" charset="0"/>
              </a:rPr>
              <a:t> Three event types : Insert, Update, Delete</a:t>
            </a:r>
          </a:p>
          <a:p>
            <a:pPr marL="0" indent="0">
              <a:buNone/>
            </a:pPr>
            <a:r>
              <a:rPr lang="en-US" sz="2800" dirty="0">
                <a:latin typeface="Times New Roman" panose="02020603050405020304" pitchFamily="18" charset="0"/>
                <a:cs typeface="Times New Roman" panose="02020603050405020304" pitchFamily="18" charset="0"/>
              </a:rPr>
              <a:t> Two triggering times: Before the event</a:t>
            </a:r>
          </a:p>
        </p:txBody>
      </p:sp>
    </p:spTree>
    <p:extLst>
      <p:ext uri="{BB962C8B-B14F-4D97-AF65-F5344CB8AC3E}">
        <p14:creationId xmlns:p14="http://schemas.microsoft.com/office/powerpoint/2010/main" val="32660306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5" name="Rectangle 4"/>
          <p:cNvSpPr/>
          <p:nvPr/>
        </p:nvSpPr>
        <p:spPr>
          <a:xfrm>
            <a:off x="152400" y="1981200"/>
            <a:ext cx="8991600" cy="2554545"/>
          </a:xfrm>
          <a:prstGeom prst="rect">
            <a:avLst/>
          </a:prstGeom>
        </p:spPr>
        <p:txBody>
          <a:bodyPr wrap="square">
            <a:spAutoFit/>
          </a:bodyPr>
          <a:lstStyle/>
          <a:p>
            <a:pPr>
              <a:lnSpc>
                <a:spcPct val="200000"/>
              </a:lnSpc>
            </a:pPr>
            <a:r>
              <a:rPr lang="en-US" sz="2000" dirty="0">
                <a:latin typeface="Arial" pitchFamily="34" charset="0"/>
                <a:cs typeface="Arial" pitchFamily="34" charset="0"/>
              </a:rPr>
              <a:t>Student(</a:t>
            </a:r>
            <a:r>
              <a:rPr lang="en-US" sz="2000" u="sng" dirty="0" err="1">
                <a:latin typeface="Arial" pitchFamily="34" charset="0"/>
                <a:cs typeface="Arial" pitchFamily="34" charset="0"/>
              </a:rPr>
              <a:t>snum</a:t>
            </a:r>
            <a:r>
              <a:rPr lang="en-US" sz="2000" u="sng" dirty="0">
                <a:latin typeface="Arial" pitchFamily="34" charset="0"/>
                <a:cs typeface="Arial" pitchFamily="34" charset="0"/>
              </a:rPr>
              <a:t>: integer</a:t>
            </a:r>
            <a:r>
              <a:rPr lang="en-US" sz="2000" dirty="0">
                <a:latin typeface="Arial" pitchFamily="34" charset="0"/>
                <a:cs typeface="Arial" pitchFamily="34" charset="0"/>
              </a:rPr>
              <a:t>, sname: string, major: string, level: string, age: integer)</a:t>
            </a:r>
          </a:p>
          <a:p>
            <a:pPr>
              <a:lnSpc>
                <a:spcPct val="200000"/>
              </a:lnSpc>
            </a:pPr>
            <a:r>
              <a:rPr lang="en-US" sz="2000" dirty="0">
                <a:latin typeface="Arial" pitchFamily="34" charset="0"/>
                <a:cs typeface="Arial" pitchFamily="34" charset="0"/>
              </a:rPr>
              <a:t>Class(</a:t>
            </a:r>
            <a:r>
              <a:rPr lang="en-US" sz="2000" dirty="0" err="1">
                <a:latin typeface="Arial" pitchFamily="34" charset="0"/>
                <a:cs typeface="Arial" pitchFamily="34" charset="0"/>
              </a:rPr>
              <a:t>c</a:t>
            </a:r>
            <a:r>
              <a:rPr lang="en-US" sz="2000" u="sng" dirty="0" err="1">
                <a:latin typeface="Arial" pitchFamily="34" charset="0"/>
                <a:cs typeface="Arial" pitchFamily="34" charset="0"/>
              </a:rPr>
              <a:t>name</a:t>
            </a:r>
            <a:r>
              <a:rPr lang="en-US" sz="2000" u="sng" dirty="0">
                <a:latin typeface="Arial" pitchFamily="34" charset="0"/>
                <a:cs typeface="Arial" pitchFamily="34" charset="0"/>
              </a:rPr>
              <a:t>: string</a:t>
            </a:r>
            <a:r>
              <a:rPr lang="en-US" sz="2000" dirty="0">
                <a:latin typeface="Arial" pitchFamily="34" charset="0"/>
                <a:cs typeface="Arial" pitchFamily="34" charset="0"/>
              </a:rPr>
              <a:t>, </a:t>
            </a:r>
            <a:r>
              <a:rPr lang="en-US" sz="2000" dirty="0" err="1">
                <a:latin typeface="Arial" pitchFamily="34" charset="0"/>
                <a:cs typeface="Arial" pitchFamily="34" charset="0"/>
              </a:rPr>
              <a:t>meets_at</a:t>
            </a:r>
            <a:r>
              <a:rPr lang="en-US" sz="2000" dirty="0">
                <a:latin typeface="Arial" pitchFamily="34" charset="0"/>
                <a:cs typeface="Arial" pitchFamily="34" charset="0"/>
              </a:rPr>
              <a:t>: time, room: string, fid: integer)</a:t>
            </a:r>
          </a:p>
          <a:p>
            <a:pPr>
              <a:lnSpc>
                <a:spcPct val="200000"/>
              </a:lnSpc>
            </a:pPr>
            <a:r>
              <a:rPr lang="en-US" sz="2000" dirty="0">
                <a:latin typeface="Arial" pitchFamily="34" charset="0"/>
                <a:cs typeface="Arial" pitchFamily="34" charset="0"/>
              </a:rPr>
              <a:t>Enrolled(</a:t>
            </a:r>
            <a:r>
              <a:rPr lang="en-US" sz="2000" u="sng" dirty="0" err="1">
                <a:latin typeface="Arial" pitchFamily="34" charset="0"/>
                <a:cs typeface="Arial" pitchFamily="34" charset="0"/>
              </a:rPr>
              <a:t>snum</a:t>
            </a:r>
            <a:r>
              <a:rPr lang="en-US" sz="2000" u="sng" dirty="0">
                <a:latin typeface="Arial" pitchFamily="34" charset="0"/>
                <a:cs typeface="Arial" pitchFamily="34" charset="0"/>
              </a:rPr>
              <a:t>: integer</a:t>
            </a:r>
            <a:r>
              <a:rPr lang="en-US" sz="2000" dirty="0">
                <a:latin typeface="Arial" pitchFamily="34" charset="0"/>
                <a:cs typeface="Arial" pitchFamily="34" charset="0"/>
              </a:rPr>
              <a:t>, </a:t>
            </a:r>
            <a:r>
              <a:rPr lang="en-US" sz="2000" u="sng" dirty="0" err="1">
                <a:latin typeface="Arial" pitchFamily="34" charset="0"/>
                <a:cs typeface="Arial" pitchFamily="34" charset="0"/>
              </a:rPr>
              <a:t>cname</a:t>
            </a:r>
            <a:r>
              <a:rPr lang="en-US" sz="2000" u="sng" dirty="0">
                <a:latin typeface="Arial" pitchFamily="34" charset="0"/>
                <a:cs typeface="Arial" pitchFamily="34" charset="0"/>
              </a:rPr>
              <a:t>: string</a:t>
            </a:r>
            <a:r>
              <a:rPr lang="en-US" sz="2000" dirty="0">
                <a:latin typeface="Arial" pitchFamily="34" charset="0"/>
                <a:cs typeface="Arial" pitchFamily="34" charset="0"/>
              </a:rPr>
              <a:t>)</a:t>
            </a:r>
          </a:p>
          <a:p>
            <a:pPr>
              <a:lnSpc>
                <a:spcPct val="200000"/>
              </a:lnSpc>
            </a:pPr>
            <a:r>
              <a:rPr lang="en-US" sz="2000" dirty="0">
                <a:latin typeface="Arial" pitchFamily="34" charset="0"/>
                <a:cs typeface="Arial" pitchFamily="34" charset="0"/>
              </a:rPr>
              <a:t>Faculty(</a:t>
            </a:r>
            <a:r>
              <a:rPr lang="en-US" sz="2000" u="sng" dirty="0">
                <a:latin typeface="Arial" pitchFamily="34" charset="0"/>
                <a:cs typeface="Arial" pitchFamily="34" charset="0"/>
              </a:rPr>
              <a:t>fid: integer</a:t>
            </a:r>
            <a:r>
              <a:rPr lang="en-US" sz="2000" dirty="0">
                <a:latin typeface="Arial" pitchFamily="34" charset="0"/>
                <a:cs typeface="Arial" pitchFamily="34" charset="0"/>
              </a:rPr>
              <a:t>, fname: string, deptid: integer)</a:t>
            </a:r>
          </a:p>
        </p:txBody>
      </p:sp>
      <p:sp>
        <p:nvSpPr>
          <p:cNvPr id="6" name="Rectangle 5"/>
          <p:cNvSpPr/>
          <p:nvPr/>
        </p:nvSpPr>
        <p:spPr>
          <a:xfrm>
            <a:off x="228600" y="1295400"/>
            <a:ext cx="7696200" cy="461665"/>
          </a:xfrm>
          <a:prstGeom prst="rect">
            <a:avLst/>
          </a:prstGeom>
        </p:spPr>
        <p:txBody>
          <a:bodyPr wrap="square">
            <a:spAutoFit/>
          </a:bodyPr>
          <a:lstStyle/>
          <a:p>
            <a:r>
              <a:rPr lang="en-US" sz="2400" dirty="0"/>
              <a:t>Consider the following database schema:</a:t>
            </a:r>
          </a:p>
        </p:txBody>
      </p:sp>
      <p:sp>
        <p:nvSpPr>
          <p:cNvPr id="7" name="TextBox 6"/>
          <p:cNvSpPr txBox="1"/>
          <p:nvPr/>
        </p:nvSpPr>
        <p:spPr>
          <a:xfrm>
            <a:off x="228600" y="5029200"/>
            <a:ext cx="8686800" cy="369332"/>
          </a:xfrm>
          <a:prstGeom prst="rect">
            <a:avLst/>
          </a:prstGeom>
          <a:noFill/>
        </p:spPr>
        <p:txBody>
          <a:bodyPr wrap="square" rtlCol="0">
            <a:spAutoFit/>
          </a:bodyPr>
          <a:lstStyle/>
          <a:p>
            <a:r>
              <a:rPr lang="en-US" b="1" dirty="0"/>
              <a:t>Student Levels :   Freshman(FR), Sophomore(SO), </a:t>
            </a:r>
            <a:r>
              <a:rPr lang="en-US" b="1" i="1" dirty="0"/>
              <a:t>Junior(JR), Senior(SR)</a:t>
            </a:r>
            <a:endParaRPr lang="en-US" b="1"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D3072-2FEC-45F6-89CA-A814F4DC990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E42BEEC-A093-4C0C-A0A4-EE9F7CFE828C}"/>
              </a:ext>
            </a:extLst>
          </p:cNvPr>
          <p:cNvSpPr>
            <a:spLocks noGrp="1"/>
          </p:cNvSpPr>
          <p:nvPr>
            <p:ph idx="1"/>
          </p:nvPr>
        </p:nvSpPr>
        <p:spPr/>
        <p:txBody>
          <a:bodyPr/>
          <a:lstStyle/>
          <a:p>
            <a:pPr marL="0" indent="0">
              <a:buNone/>
            </a:pPr>
            <a:r>
              <a:rPr lang="en-US" sz="2800" dirty="0">
                <a:latin typeface="Times New Roman" panose="02020603050405020304" pitchFamily="18" charset="0"/>
                <a:cs typeface="Times New Roman" panose="02020603050405020304" pitchFamily="18" charset="0"/>
              </a:rPr>
              <a:t>After the event</a:t>
            </a:r>
          </a:p>
          <a:p>
            <a:pPr marL="0" indent="0">
              <a:buNone/>
            </a:pPr>
            <a:r>
              <a:rPr lang="en-US" sz="2800" dirty="0">
                <a:latin typeface="Times New Roman" panose="02020603050405020304" pitchFamily="18" charset="0"/>
                <a:cs typeface="Times New Roman" panose="02020603050405020304" pitchFamily="18" charset="0"/>
              </a:rPr>
              <a:t>2. Condition (optional): If the condition is true, the trigger executes, otherwise</a:t>
            </a:r>
          </a:p>
          <a:p>
            <a:pPr marL="0" indent="0">
              <a:buNone/>
            </a:pPr>
            <a:r>
              <a:rPr lang="en-US" sz="2800" dirty="0">
                <a:latin typeface="Times New Roman" panose="02020603050405020304" pitchFamily="18" charset="0"/>
                <a:cs typeface="Times New Roman" panose="02020603050405020304" pitchFamily="18" charset="0"/>
              </a:rPr>
              <a:t>skipped</a:t>
            </a:r>
          </a:p>
          <a:p>
            <a:pPr marL="0" indent="0">
              <a:buNone/>
            </a:pPr>
            <a:r>
              <a:rPr lang="en-US" sz="2800" dirty="0">
                <a:latin typeface="Times New Roman" panose="02020603050405020304" pitchFamily="18" charset="0"/>
                <a:cs typeface="Times New Roman" panose="02020603050405020304" pitchFamily="18" charset="0"/>
              </a:rPr>
              <a:t>3. Action: The actions performed by the trigger</a:t>
            </a:r>
          </a:p>
          <a:p>
            <a:pPr marL="0" indent="0">
              <a:buNone/>
            </a:pPr>
            <a:r>
              <a:rPr lang="en-US" sz="2800" dirty="0">
                <a:latin typeface="Times New Roman" panose="02020603050405020304" pitchFamily="18" charset="0"/>
                <a:cs typeface="Times New Roman" panose="02020603050405020304" pitchFamily="18" charset="0"/>
              </a:rPr>
              <a:t>When the Event occurs and Condition is true, execute the Action</a:t>
            </a:r>
            <a:endParaRPr lang="en-IN" sz="28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09760069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0012-44C7-4AFC-984C-2F438AA37917}"/>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311128D9-CF28-455E-BF87-11554CA9416C}"/>
              </a:ext>
            </a:extLst>
          </p:cNvPr>
          <p:cNvPicPr>
            <a:picLocks noGrp="1" noChangeAspect="1"/>
          </p:cNvPicPr>
          <p:nvPr>
            <p:ph idx="1"/>
          </p:nvPr>
        </p:nvPicPr>
        <p:blipFill>
          <a:blip r:embed="rId2"/>
          <a:stretch>
            <a:fillRect/>
          </a:stretch>
        </p:blipFill>
        <p:spPr>
          <a:xfrm>
            <a:off x="1295400" y="1672430"/>
            <a:ext cx="6705600" cy="5033169"/>
          </a:xfrm>
          <a:prstGeom prst="rect">
            <a:avLst/>
          </a:prstGeom>
        </p:spPr>
      </p:pic>
    </p:spTree>
    <p:extLst>
      <p:ext uri="{BB962C8B-B14F-4D97-AF65-F5344CB8AC3E}">
        <p14:creationId xmlns:p14="http://schemas.microsoft.com/office/powerpoint/2010/main" val="365954177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0E40B-DEB6-4CDF-9562-E480A3D75C20}"/>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DC3A8D83-EB65-489C-891D-D75E4604BC63}"/>
              </a:ext>
            </a:extLst>
          </p:cNvPr>
          <p:cNvPicPr>
            <a:picLocks noGrp="1" noChangeAspect="1"/>
          </p:cNvPicPr>
          <p:nvPr>
            <p:ph idx="1"/>
          </p:nvPr>
        </p:nvPicPr>
        <p:blipFill>
          <a:blip r:embed="rId2"/>
          <a:stretch>
            <a:fillRect/>
          </a:stretch>
        </p:blipFill>
        <p:spPr>
          <a:xfrm>
            <a:off x="990600" y="1820069"/>
            <a:ext cx="7162799" cy="4352131"/>
          </a:xfrm>
          <a:prstGeom prst="rect">
            <a:avLst/>
          </a:prstGeom>
        </p:spPr>
      </p:pic>
    </p:spTree>
    <p:extLst>
      <p:ext uri="{BB962C8B-B14F-4D97-AF65-F5344CB8AC3E}">
        <p14:creationId xmlns:p14="http://schemas.microsoft.com/office/powerpoint/2010/main" val="291971392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E7E12-2067-44CC-A194-A4E43C9FBCA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1FAF0C3-3EA6-47D8-8E0F-0F62A215B882}"/>
              </a:ext>
            </a:extLst>
          </p:cNvPr>
          <p:cNvPicPr>
            <a:picLocks noGrp="1" noChangeAspect="1"/>
          </p:cNvPicPr>
          <p:nvPr>
            <p:ph idx="1"/>
          </p:nvPr>
        </p:nvPicPr>
        <p:blipFill>
          <a:blip r:embed="rId2"/>
          <a:stretch>
            <a:fillRect/>
          </a:stretch>
        </p:blipFill>
        <p:spPr>
          <a:xfrm>
            <a:off x="990600" y="1729580"/>
            <a:ext cx="7162800" cy="4853781"/>
          </a:xfrm>
          <a:prstGeom prst="rect">
            <a:avLst/>
          </a:prstGeom>
        </p:spPr>
      </p:pic>
    </p:spTree>
    <p:extLst>
      <p:ext uri="{BB962C8B-B14F-4D97-AF65-F5344CB8AC3E}">
        <p14:creationId xmlns:p14="http://schemas.microsoft.com/office/powerpoint/2010/main" val="218954679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07531-818F-4FA2-AE1F-A50EFA641C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6F633BE-D2D3-4743-8476-2CBF2928A3BD}"/>
              </a:ext>
            </a:extLst>
          </p:cNvPr>
          <p:cNvSpPr>
            <a:spLocks noGrp="1"/>
          </p:cNvSpPr>
          <p:nvPr>
            <p:ph idx="1"/>
          </p:nvPr>
        </p:nvSpPr>
        <p:spPr/>
        <p:txBody>
          <a:bodyPr/>
          <a:lstStyle/>
          <a:p>
            <a:pPr marL="0" indent="0" algn="just">
              <a:buNone/>
            </a:pPr>
            <a:r>
              <a:rPr lang="en-US" dirty="0"/>
              <a:t>3. </a:t>
            </a:r>
            <a:r>
              <a:rPr lang="en-US" sz="2800" dirty="0">
                <a:latin typeface="Times New Roman" panose="02020603050405020304" pitchFamily="18" charset="0"/>
                <a:cs typeface="Times New Roman" panose="02020603050405020304" pitchFamily="18" charset="0"/>
              </a:rPr>
              <a:t>Suppose we want to check whenever an employee’s salary is greater than the salary of his or her direct supervisor in the COMPANY database</a:t>
            </a:r>
          </a:p>
          <a:p>
            <a:pPr marL="0" indent="0" algn="just">
              <a:buNone/>
            </a:pPr>
            <a:r>
              <a:rPr lang="en-US" sz="2800" dirty="0">
                <a:latin typeface="Times New Roman" panose="02020603050405020304" pitchFamily="18" charset="0"/>
                <a:cs typeface="Times New Roman" panose="02020603050405020304" pitchFamily="18" charset="0"/>
              </a:rPr>
              <a:t> Several events can trigger this rule:</a:t>
            </a:r>
          </a:p>
          <a:p>
            <a:pPr marL="0" indent="0" algn="just">
              <a:buNone/>
            </a:pPr>
            <a:r>
              <a:rPr lang="en-US" sz="2800" dirty="0">
                <a:latin typeface="Times New Roman" panose="02020603050405020304" pitchFamily="18" charset="0"/>
                <a:cs typeface="Times New Roman" panose="02020603050405020304" pitchFamily="18" charset="0"/>
              </a:rPr>
              <a:t>• inserting a new employee record</a:t>
            </a:r>
          </a:p>
          <a:p>
            <a:pPr marL="0" indent="0" algn="just">
              <a:buNone/>
            </a:pPr>
            <a:r>
              <a:rPr lang="en-US" sz="2800" dirty="0">
                <a:latin typeface="Times New Roman" panose="02020603050405020304" pitchFamily="18" charset="0"/>
                <a:cs typeface="Times New Roman" panose="02020603050405020304" pitchFamily="18" charset="0"/>
              </a:rPr>
              <a:t>• changing an employee’s salary or</a:t>
            </a:r>
          </a:p>
          <a:p>
            <a:pPr marL="0" indent="0" algn="just">
              <a:buNone/>
            </a:pPr>
            <a:r>
              <a:rPr lang="en-US" sz="2800" dirty="0">
                <a:latin typeface="Times New Roman" panose="02020603050405020304" pitchFamily="18" charset="0"/>
                <a:cs typeface="Times New Roman" panose="02020603050405020304" pitchFamily="18" charset="0"/>
              </a:rPr>
              <a:t>• changing an employee’s supervisor</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839273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30584-991A-47A8-9A94-AC1B02C6F99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C00864-43DE-4C4D-AE1E-C8993D54731A}"/>
              </a:ext>
            </a:extLst>
          </p:cNvPr>
          <p:cNvSpPr>
            <a:spLocks noGrp="1"/>
          </p:cNvSpPr>
          <p:nvPr>
            <p:ph idx="1"/>
          </p:nvPr>
        </p:nvSpPr>
        <p:spPr/>
        <p:txBody>
          <a:bodyPr/>
          <a:lstStyle/>
          <a:p>
            <a:pPr marL="0" indent="0">
              <a:buNone/>
            </a:pPr>
            <a:r>
              <a:rPr lang="en-US" sz="2400" dirty="0">
                <a:latin typeface="Times New Roman" panose="02020603050405020304" pitchFamily="18" charset="0"/>
                <a:cs typeface="Times New Roman" panose="02020603050405020304" pitchFamily="18" charset="0"/>
              </a:rPr>
              <a:t>Suppose that the action to take would be to call an external stored procedure SALARY_VIOLATION which will notify the supervisor</a:t>
            </a:r>
          </a:p>
          <a:p>
            <a:pPr marL="0" indent="0">
              <a:buNone/>
            </a:pPr>
            <a:r>
              <a:rPr lang="en-US" sz="2400" dirty="0">
                <a:latin typeface="Times New Roman" panose="02020603050405020304" pitchFamily="18" charset="0"/>
                <a:cs typeface="Times New Roman" panose="02020603050405020304" pitchFamily="18" charset="0"/>
              </a:rPr>
              <a:t>CREATE TRIGGER SALARY_VIOLATION</a:t>
            </a:r>
          </a:p>
          <a:p>
            <a:pPr marL="0" indent="0">
              <a:buNone/>
            </a:pPr>
            <a:r>
              <a:rPr lang="en-US" sz="2400" dirty="0">
                <a:latin typeface="Times New Roman" panose="02020603050405020304" pitchFamily="18" charset="0"/>
                <a:cs typeface="Times New Roman" panose="02020603050405020304" pitchFamily="18" charset="0"/>
              </a:rPr>
              <a:t>BEFORE INSERT OR UPDATE OF SALARY, SUPERVISOR_SSN</a:t>
            </a:r>
          </a:p>
          <a:p>
            <a:pPr marL="0" indent="0">
              <a:buNone/>
            </a:pPr>
            <a:r>
              <a:rPr lang="en-US" sz="2400" dirty="0">
                <a:latin typeface="Times New Roman" panose="02020603050405020304" pitchFamily="18" charset="0"/>
                <a:cs typeface="Times New Roman" panose="02020603050405020304" pitchFamily="18" charset="0"/>
              </a:rPr>
              <a:t>ON EMPLOYEE</a:t>
            </a:r>
          </a:p>
          <a:p>
            <a:pPr marL="0" indent="0">
              <a:buNone/>
            </a:pPr>
            <a:r>
              <a:rPr lang="en-US" sz="2400" dirty="0">
                <a:latin typeface="Times New Roman" panose="02020603050405020304" pitchFamily="18" charset="0"/>
                <a:cs typeface="Times New Roman" panose="02020603050405020304" pitchFamily="18" charset="0"/>
              </a:rPr>
              <a:t>FOR EACH ROW</a:t>
            </a:r>
          </a:p>
          <a:p>
            <a:pPr marL="0" indent="0">
              <a:buNone/>
            </a:pPr>
            <a:r>
              <a:rPr lang="en-US" sz="2400" dirty="0">
                <a:latin typeface="Times New Roman" panose="02020603050405020304" pitchFamily="18" charset="0"/>
                <a:cs typeface="Times New Roman" panose="02020603050405020304" pitchFamily="18" charset="0"/>
              </a:rPr>
              <a:t>WHEN ( NEW.SALARY &gt; ( SELECT SALARY FROM EMPLOYEE</a:t>
            </a:r>
          </a:p>
          <a:p>
            <a:pPr marL="0" indent="0">
              <a:buNone/>
            </a:pPr>
            <a:r>
              <a:rPr lang="en-US" sz="2400" dirty="0">
                <a:latin typeface="Times New Roman" panose="02020603050405020304" pitchFamily="18" charset="0"/>
                <a:cs typeface="Times New Roman" panose="02020603050405020304" pitchFamily="18" charset="0"/>
              </a:rPr>
              <a:t>WHERE SSN = NEW.SUPERVISOR_SSN ) )</a:t>
            </a:r>
          </a:p>
          <a:p>
            <a:pPr marL="0" indent="0">
              <a:buNone/>
            </a:pPr>
            <a:r>
              <a:rPr lang="en-US" sz="2400" dirty="0">
                <a:latin typeface="Times New Roman" panose="02020603050405020304" pitchFamily="18" charset="0"/>
                <a:cs typeface="Times New Roman" panose="02020603050405020304" pitchFamily="18" charset="0"/>
              </a:rPr>
              <a:t>INFORM_SUPERVISOR(</a:t>
            </a:r>
            <a:r>
              <a:rPr lang="en-US" sz="2400" dirty="0" err="1">
                <a:latin typeface="Times New Roman" panose="02020603050405020304" pitchFamily="18" charset="0"/>
                <a:cs typeface="Times New Roman" panose="02020603050405020304" pitchFamily="18" charset="0"/>
              </a:rPr>
              <a:t>NEW.Supervisor_ssn,NEW.Ssn</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331415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EAEB5-FAF3-4E89-BE48-63407E9E362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D64E59A-ED2F-443D-A4E4-FCB98D7580E1}"/>
              </a:ext>
            </a:extLst>
          </p:cNvPr>
          <p:cNvSpPr>
            <a:spLocks noGrp="1"/>
          </p:cNvSpPr>
          <p:nvPr>
            <p:ph idx="1"/>
          </p:nvPr>
        </p:nvSpPr>
        <p:spPr/>
        <p:txBody>
          <a:bodyPr/>
          <a:lstStyle/>
          <a:p>
            <a:pPr marL="0" indent="0" algn="just">
              <a:buNone/>
            </a:pPr>
            <a:r>
              <a:rPr lang="en-US" sz="2800" dirty="0">
                <a:latin typeface="Times New Roman" panose="02020603050405020304" pitchFamily="18" charset="0"/>
                <a:cs typeface="Times New Roman" panose="02020603050405020304" pitchFamily="18" charset="0"/>
              </a:rPr>
              <a:t>The trigger is given the name SALARY_VIOLATION, which can be used to remove or deactivate the trigger later</a:t>
            </a:r>
          </a:p>
          <a:p>
            <a:pPr marL="0" indent="0" algn="just">
              <a:buNone/>
            </a:pPr>
            <a:r>
              <a:rPr lang="en-US" sz="2800" dirty="0">
                <a:latin typeface="Times New Roman" panose="02020603050405020304" pitchFamily="18" charset="0"/>
                <a:cs typeface="Times New Roman" panose="02020603050405020304" pitchFamily="18" charset="0"/>
              </a:rPr>
              <a:t> In this example the events are: inserting a new employee record, changing an employee’s salary, or changing an employee’s supervisor</a:t>
            </a:r>
          </a:p>
          <a:p>
            <a:pPr marL="0" indent="0" algn="just">
              <a:buNone/>
            </a:pPr>
            <a:r>
              <a:rPr lang="en-US" sz="2800" dirty="0">
                <a:latin typeface="Times New Roman" panose="02020603050405020304" pitchFamily="18" charset="0"/>
                <a:cs typeface="Times New Roman" panose="02020603050405020304" pitchFamily="18" charset="0"/>
              </a:rPr>
              <a:t> The action is to execute the stored procedure INFORM_SUPERVISOR</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296430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CBD63-BBA4-4E27-B211-E9740598D3AB}"/>
              </a:ext>
            </a:extLst>
          </p:cNvPr>
          <p:cNvSpPr>
            <a:spLocks noGrp="1"/>
          </p:cNvSpPr>
          <p:nvPr>
            <p:ph type="title"/>
          </p:nvPr>
        </p:nvSpPr>
        <p:spPr/>
        <p:txBody>
          <a:bodyPr/>
          <a:lstStyle/>
          <a:p>
            <a:r>
              <a:rPr lang="en-US" dirty="0"/>
              <a:t>Assertions vs. Triggers</a:t>
            </a:r>
            <a:br>
              <a:rPr lang="en-US" dirty="0"/>
            </a:br>
            <a:endParaRPr lang="en-IN" dirty="0"/>
          </a:p>
        </p:txBody>
      </p:sp>
      <p:sp>
        <p:nvSpPr>
          <p:cNvPr id="3" name="Content Placeholder 2">
            <a:extLst>
              <a:ext uri="{FF2B5EF4-FFF2-40B4-BE49-F238E27FC236}">
                <a16:creationId xmlns:a16="http://schemas.microsoft.com/office/drawing/2014/main" id="{F198D7B8-89BA-4C05-ADE5-F093ACDB2AD1}"/>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Assertions do not modify the data, they only check certain conditions. Triggers are more powerful because the can check conditions and also modify the data</a:t>
            </a:r>
          </a:p>
          <a:p>
            <a:pPr marL="0" indent="0" algn="just">
              <a:buNone/>
            </a:pPr>
            <a:r>
              <a:rPr lang="en-US" sz="2800" dirty="0">
                <a:latin typeface="Times New Roman" panose="02020603050405020304" pitchFamily="18" charset="0"/>
                <a:cs typeface="Times New Roman" panose="02020603050405020304" pitchFamily="18" charset="0"/>
              </a:rPr>
              <a:t> Assertions are not linked to specific tables in the database and not linked to specific events.</a:t>
            </a:r>
          </a:p>
          <a:p>
            <a:pPr marL="0" indent="0" algn="just">
              <a:buNone/>
            </a:pPr>
            <a:r>
              <a:rPr lang="en-US" sz="2800" dirty="0">
                <a:latin typeface="Times New Roman" panose="02020603050405020304" pitchFamily="18" charset="0"/>
                <a:cs typeface="Times New Roman" panose="02020603050405020304" pitchFamily="18" charset="0"/>
              </a:rPr>
              <a:t>Triggers are linked to specific tables and specific events</a:t>
            </a:r>
          </a:p>
          <a:p>
            <a:pPr marL="0" indent="0" algn="just">
              <a:buNone/>
            </a:pPr>
            <a:r>
              <a:rPr lang="en-US" sz="2800" dirty="0">
                <a:latin typeface="Times New Roman" panose="02020603050405020304" pitchFamily="18" charset="0"/>
                <a:cs typeface="Times New Roman" panose="02020603050405020304" pitchFamily="18" charset="0"/>
              </a:rPr>
              <a:t> All assertions can be implemented as triggers (one or more). Not all triggers can be implemented as assertions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774336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lstStyle/>
          <a:p>
            <a:r>
              <a:rPr lang="en-US" dirty="0"/>
              <a:t>Exercise</a:t>
            </a:r>
          </a:p>
        </p:txBody>
      </p:sp>
      <p:sp>
        <p:nvSpPr>
          <p:cNvPr id="6" name="Rectangle 5"/>
          <p:cNvSpPr/>
          <p:nvPr/>
        </p:nvSpPr>
        <p:spPr>
          <a:xfrm>
            <a:off x="152400" y="914401"/>
            <a:ext cx="8686800" cy="5632311"/>
          </a:xfrm>
          <a:prstGeom prst="rect">
            <a:avLst/>
          </a:prstGeom>
        </p:spPr>
        <p:txBody>
          <a:bodyPr wrap="square">
            <a:spAutoFit/>
          </a:bodyPr>
          <a:lstStyle/>
          <a:p>
            <a:pPr algn="just"/>
            <a:r>
              <a:rPr lang="en-US" sz="2400" dirty="0"/>
              <a:t>Write the following queries in SQL.</a:t>
            </a:r>
          </a:p>
          <a:p>
            <a:pPr algn="just"/>
            <a:endParaRPr lang="en-US" sz="2400" dirty="0"/>
          </a:p>
          <a:p>
            <a:pPr marL="457200" indent="-457200" algn="just">
              <a:buFont typeface="+mj-lt"/>
              <a:buAutoNum type="arabicPeriod"/>
            </a:pPr>
            <a:r>
              <a:rPr lang="en-US" sz="2400" dirty="0"/>
              <a:t>Find the names of all Juniors (Level = JR) who are enrolled in a class taught by  John Borg.</a:t>
            </a:r>
          </a:p>
          <a:p>
            <a:pPr marL="457200" indent="-457200" algn="just">
              <a:buFont typeface="+mj-lt"/>
              <a:buAutoNum type="arabicPeriod"/>
            </a:pPr>
            <a:r>
              <a:rPr lang="en-US" sz="2400" dirty="0"/>
              <a:t>Find the age of the oldest student who is either a History major or is enrolled in a course taught by John Borg.</a:t>
            </a:r>
          </a:p>
          <a:p>
            <a:pPr marL="457200" indent="-457200" algn="just">
              <a:buFont typeface="+mj-lt"/>
              <a:buAutoNum type="arabicPeriod"/>
            </a:pPr>
            <a:r>
              <a:rPr lang="en-US" sz="2400" dirty="0"/>
              <a:t>Find the names of all classes that either meet in room R128 or have five or more students enrolled.</a:t>
            </a:r>
          </a:p>
          <a:p>
            <a:pPr marL="457200" indent="-457200" algn="just">
              <a:buFont typeface="+mj-lt"/>
              <a:buAutoNum type="arabicPeriod"/>
            </a:pPr>
            <a:r>
              <a:rPr lang="en-US" sz="2400" dirty="0"/>
              <a:t>Find the names of all students who are enrolled in two classes that meet at the same time.</a:t>
            </a:r>
          </a:p>
          <a:p>
            <a:pPr marL="457200" indent="-457200" algn="just">
              <a:buFont typeface="+mj-lt"/>
              <a:buAutoNum type="arabicPeriod"/>
            </a:pPr>
            <a:r>
              <a:rPr lang="en-US" sz="2400" dirty="0"/>
              <a:t> Find the names of faculty members who teach in every room in which some class is taught.</a:t>
            </a:r>
          </a:p>
          <a:p>
            <a:pPr marL="457200" indent="-457200" algn="just">
              <a:buFont typeface="+mj-lt"/>
              <a:buAutoNum type="arabicPeriod"/>
            </a:pPr>
            <a:r>
              <a:rPr lang="en-US" sz="2400" dirty="0"/>
              <a:t>Find the names of faculty members for whom the combined enrollment of the courses that they teach is less than five.</a:t>
            </a:r>
          </a:p>
          <a:p>
            <a:pPr marL="457200" indent="-457200" algn="just">
              <a:buFont typeface="+mj-lt"/>
              <a:buAutoNum type="arabicPeriod"/>
            </a:pPr>
            <a:endParaRPr lang="en-US" sz="24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lstStyle/>
          <a:p>
            <a:r>
              <a:rPr lang="en-US" dirty="0"/>
              <a:t>Exercise</a:t>
            </a:r>
          </a:p>
        </p:txBody>
      </p:sp>
      <p:sp>
        <p:nvSpPr>
          <p:cNvPr id="6" name="Rectangle 5"/>
          <p:cNvSpPr/>
          <p:nvPr/>
        </p:nvSpPr>
        <p:spPr>
          <a:xfrm>
            <a:off x="152400" y="914401"/>
            <a:ext cx="8686800" cy="5632311"/>
          </a:xfrm>
          <a:prstGeom prst="rect">
            <a:avLst/>
          </a:prstGeom>
        </p:spPr>
        <p:txBody>
          <a:bodyPr wrap="square">
            <a:spAutoFit/>
          </a:bodyPr>
          <a:lstStyle/>
          <a:p>
            <a:pPr algn="just"/>
            <a:r>
              <a:rPr lang="en-US" sz="2400" dirty="0"/>
              <a:t>Write the following queries in SQL.</a:t>
            </a:r>
          </a:p>
          <a:p>
            <a:pPr algn="just"/>
            <a:endParaRPr lang="en-US" sz="2400" dirty="0"/>
          </a:p>
          <a:p>
            <a:pPr marL="457200" indent="-457200" algn="just">
              <a:buFont typeface="+mj-lt"/>
              <a:buAutoNum type="arabicPeriod" startAt="7"/>
            </a:pPr>
            <a:r>
              <a:rPr lang="en-US" sz="2400" dirty="0"/>
              <a:t>Print the Level and the average age of students for that Level, for each Level. </a:t>
            </a:r>
          </a:p>
          <a:p>
            <a:pPr marL="457200" indent="-457200" algn="just">
              <a:buFont typeface="+mj-lt"/>
              <a:buAutoNum type="arabicPeriod" startAt="7"/>
            </a:pPr>
            <a:r>
              <a:rPr lang="en-US" sz="2400" dirty="0"/>
              <a:t>Print the Level and the average age of students for that Level, for all Levels except JR.</a:t>
            </a:r>
          </a:p>
          <a:p>
            <a:pPr marL="457200" indent="-457200" algn="just">
              <a:buFont typeface="+mj-lt"/>
              <a:buAutoNum type="arabicPeriod" startAt="7"/>
            </a:pPr>
            <a:r>
              <a:rPr lang="en-US" sz="2400" dirty="0"/>
              <a:t>Find the names of students who are enrolled in the maximum number of classes.</a:t>
            </a:r>
          </a:p>
          <a:p>
            <a:pPr marL="457200" indent="-457200" algn="just">
              <a:buFont typeface="+mj-lt"/>
              <a:buAutoNum type="arabicPeriod" startAt="7"/>
            </a:pPr>
            <a:r>
              <a:rPr lang="en-US" sz="2400" dirty="0"/>
              <a:t>Find the names of students who are not enrolled in any class.</a:t>
            </a:r>
          </a:p>
          <a:p>
            <a:pPr marL="457200" indent="-457200" algn="just">
              <a:buFont typeface="+mj-lt"/>
              <a:buAutoNum type="arabicPeriod" startAt="7"/>
            </a:pPr>
            <a:r>
              <a:rPr lang="en-US" sz="2400" dirty="0"/>
              <a:t>For each age value that appears in Students, </a:t>
            </a:r>
            <a:r>
              <a:rPr lang="en-US" sz="2400" dirty="0" err="1"/>
              <a:t>nd</a:t>
            </a:r>
            <a:r>
              <a:rPr lang="en-US" sz="2400" dirty="0"/>
              <a:t> the level value that appears most often. For example, if there are more FR level students aged 18 than SR, JR, or SO students aged 18, you should print the pair (18, FR).</a:t>
            </a:r>
          </a:p>
          <a:p>
            <a:pPr marL="457200" indent="-457200" algn="just">
              <a:buFont typeface="+mj-lt"/>
              <a:buAutoNum type="arabicPeriod" startAt="7"/>
            </a:pPr>
            <a:endParaRPr lang="en-US" sz="24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lstStyle/>
          <a:p>
            <a:r>
              <a:rPr lang="en-US" dirty="0"/>
              <a:t>Exercise</a:t>
            </a:r>
          </a:p>
        </p:txBody>
      </p:sp>
      <p:sp>
        <p:nvSpPr>
          <p:cNvPr id="1025" name="Rectangle 1"/>
          <p:cNvSpPr>
            <a:spLocks noChangeArrowheads="1"/>
          </p:cNvSpPr>
          <p:nvPr/>
        </p:nvSpPr>
        <p:spPr bwMode="auto">
          <a:xfrm>
            <a:off x="304800" y="762000"/>
            <a:ext cx="8305800"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Write the output of the following queries specified on the given table.</a:t>
            </a: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graphicFrame>
        <p:nvGraphicFramePr>
          <p:cNvPr id="5" name="Table 4"/>
          <p:cNvGraphicFramePr>
            <a:graphicFrameLocks noGrp="1"/>
          </p:cNvGraphicFramePr>
          <p:nvPr/>
        </p:nvGraphicFramePr>
        <p:xfrm>
          <a:off x="685800" y="1219200"/>
          <a:ext cx="7010401" cy="2717800"/>
        </p:xfrm>
        <a:graphic>
          <a:graphicData uri="http://schemas.openxmlformats.org/drawingml/2006/table">
            <a:tbl>
              <a:tblPr/>
              <a:tblGrid>
                <a:gridCol w="2097661">
                  <a:extLst>
                    <a:ext uri="{9D8B030D-6E8A-4147-A177-3AD203B41FA5}">
                      <a16:colId xmlns:a16="http://schemas.microsoft.com/office/drawing/2014/main" val="20000"/>
                    </a:ext>
                  </a:extLst>
                </a:gridCol>
                <a:gridCol w="2386188">
                  <a:extLst>
                    <a:ext uri="{9D8B030D-6E8A-4147-A177-3AD203B41FA5}">
                      <a16:colId xmlns:a16="http://schemas.microsoft.com/office/drawing/2014/main" val="20001"/>
                    </a:ext>
                  </a:extLst>
                </a:gridCol>
                <a:gridCol w="2526552">
                  <a:extLst>
                    <a:ext uri="{9D8B030D-6E8A-4147-A177-3AD203B41FA5}">
                      <a16:colId xmlns:a16="http://schemas.microsoft.com/office/drawing/2014/main" val="20002"/>
                    </a:ext>
                  </a:extLst>
                </a:gridCol>
              </a:tblGrid>
              <a:tr h="330200">
                <a:tc gridSpan="3">
                  <a:txBody>
                    <a:bodyPr/>
                    <a:lstStyle/>
                    <a:p>
                      <a:pPr marL="0" marR="0" algn="ctr">
                        <a:spcBef>
                          <a:spcPts val="0"/>
                        </a:spcBef>
                        <a:spcAft>
                          <a:spcPts val="0"/>
                        </a:spcAft>
                      </a:pPr>
                      <a:r>
                        <a:rPr lang="en-US" sz="1800" b="1" dirty="0">
                          <a:latin typeface="Times New Roman"/>
                          <a:ea typeface="Times New Roman"/>
                          <a:cs typeface="Times New Roman"/>
                        </a:rPr>
                        <a:t>People</a:t>
                      </a:r>
                      <a:endParaRPr lang="en-US" sz="1800" dirty="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0200">
                <a:tc>
                  <a:txBody>
                    <a:bodyPr/>
                    <a:lstStyle/>
                    <a:p>
                      <a:pPr marL="0" marR="0" algn="just">
                        <a:spcBef>
                          <a:spcPts val="0"/>
                        </a:spcBef>
                        <a:spcAft>
                          <a:spcPts val="0"/>
                        </a:spcAft>
                      </a:pPr>
                      <a:r>
                        <a:rPr lang="en-US" sz="1800" b="1" dirty="0">
                          <a:latin typeface="Times New Roman"/>
                          <a:ea typeface="Times New Roman"/>
                          <a:cs typeface="Times New Roman"/>
                        </a:rPr>
                        <a:t>FirstName</a:t>
                      </a:r>
                      <a:endParaRPr lang="en-US" sz="1800" dirty="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b="1" dirty="0">
                          <a:latin typeface="Times New Roman"/>
                          <a:ea typeface="Times New Roman"/>
                          <a:cs typeface="Times New Roman"/>
                        </a:rPr>
                        <a:t>LastName</a:t>
                      </a:r>
                      <a:endParaRPr lang="en-US" sz="1800" dirty="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b="1" dirty="0">
                          <a:latin typeface="Times New Roman"/>
                          <a:ea typeface="Times New Roman"/>
                          <a:cs typeface="Times New Roman"/>
                        </a:rPr>
                        <a:t>YearOfBirth</a:t>
                      </a:r>
                      <a:endParaRPr lang="en-US" sz="1800" dirty="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Alva Edison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1847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 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Franklin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1706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marR="0" algn="just">
                        <a:spcBef>
                          <a:spcPts val="0"/>
                        </a:spcBef>
                        <a:spcAft>
                          <a:spcPts val="0"/>
                        </a:spcAft>
                      </a:pPr>
                      <a:r>
                        <a:rPr lang="en-US" sz="1800">
                          <a:solidFill>
                            <a:schemeClr val="tx1"/>
                          </a:solidFill>
                          <a:latin typeface="Arial" pitchFamily="34" charset="0"/>
                          <a:ea typeface="Times New Roman"/>
                          <a:cs typeface="Arial" pitchFamily="34" charset="0"/>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More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1478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06400">
                <a:tc>
                  <a:txBody>
                    <a:bodyPr/>
                    <a:lstStyle/>
                    <a:p>
                      <a:pPr marL="0" marR="0" algn="just">
                        <a:spcBef>
                          <a:spcPts val="0"/>
                        </a:spcBef>
                        <a:spcAft>
                          <a:spcPts val="0"/>
                        </a:spcAft>
                      </a:pPr>
                      <a:r>
                        <a:rPr lang="en-US" sz="1800">
                          <a:solidFill>
                            <a:schemeClr val="tx1"/>
                          </a:solidFill>
                          <a:latin typeface="Arial" pitchFamily="34" charset="0"/>
                          <a:ea typeface="Times New Roman"/>
                          <a:cs typeface="Arial" pitchFamily="34" charset="0"/>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Jefferson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1826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r>
                        <a:rPr lang="en-US" dirty="0"/>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dirty="0"/>
                        <a:t>Britten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1767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30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dirty="0"/>
                        <a:t>Burnley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dirty="0">
                          <a:solidFill>
                            <a:schemeClr val="tx1"/>
                          </a:solidFill>
                          <a:latin typeface="Arial" pitchFamily="34" charset="0"/>
                          <a:ea typeface="Times New Roman"/>
                          <a:cs typeface="Arial" pitchFamily="34" charset="0"/>
                        </a:rPr>
                        <a:t>1845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026" name="Rectangle 2"/>
          <p:cNvSpPr>
            <a:spLocks noChangeArrowheads="1"/>
          </p:cNvSpPr>
          <p:nvPr/>
        </p:nvSpPr>
        <p:spPr bwMode="auto">
          <a:xfrm>
            <a:off x="457200" y="4038600"/>
            <a:ext cx="8686800" cy="1938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000" dirty="0"/>
              <a:t>SELECT * FROM People ORDER BY </a:t>
            </a:r>
            <a:r>
              <a:rPr lang="en-US" sz="2000" b="1" dirty="0">
                <a:latin typeface="Times New Roman"/>
                <a:ea typeface="Times New Roman"/>
                <a:cs typeface="Times New Roman"/>
              </a:rPr>
              <a:t>FirstName </a:t>
            </a:r>
            <a:r>
              <a:rPr lang="en-US" sz="2000" dirty="0"/>
              <a:t> DESC, </a:t>
            </a:r>
            <a:r>
              <a:rPr lang="en-US" sz="2000" b="1" dirty="0">
                <a:latin typeface="Times New Roman"/>
                <a:ea typeface="Times New Roman"/>
                <a:cs typeface="Times New Roman"/>
              </a:rPr>
              <a:t>YearOfBirth </a:t>
            </a:r>
            <a:r>
              <a:rPr lang="en-US" sz="2000" dirty="0"/>
              <a:t> ASC</a:t>
            </a:r>
          </a:p>
          <a:p>
            <a:pPr>
              <a:lnSpc>
                <a:spcPct val="150000"/>
              </a:lnSpc>
            </a:pPr>
            <a:r>
              <a:rPr lang="en-US" sz="2000" dirty="0"/>
              <a:t>SELECT * FROM People ORDER BY </a:t>
            </a:r>
            <a:r>
              <a:rPr lang="en-US" sz="2000" b="1" dirty="0">
                <a:latin typeface="Times New Roman"/>
                <a:ea typeface="Times New Roman"/>
                <a:cs typeface="Times New Roman"/>
              </a:rPr>
              <a:t>FirstName</a:t>
            </a:r>
            <a:r>
              <a:rPr lang="en-US" sz="2000" b="1" dirty="0"/>
              <a:t>, YearOfBirth, LastName</a:t>
            </a:r>
          </a:p>
          <a:p>
            <a:pPr>
              <a:lnSpc>
                <a:spcPct val="150000"/>
              </a:lnSpc>
            </a:pPr>
            <a:r>
              <a:rPr lang="en-US" sz="2000" dirty="0"/>
              <a:t>SELECT * FROM People ORDER BY </a:t>
            </a:r>
            <a:r>
              <a:rPr lang="en-US" sz="2000" b="1" dirty="0"/>
              <a:t>FirstName</a:t>
            </a:r>
            <a:r>
              <a:rPr lang="en-US" sz="2000" dirty="0"/>
              <a:t> DESC , </a:t>
            </a:r>
            <a:r>
              <a:rPr lang="en-US" sz="2000" b="1" dirty="0">
                <a:latin typeface="Times New Roman"/>
                <a:ea typeface="Times New Roman"/>
                <a:cs typeface="Times New Roman"/>
              </a:rPr>
              <a:t>LastName</a:t>
            </a:r>
            <a:r>
              <a:rPr lang="en-US" sz="2000" dirty="0"/>
              <a:t>, ASC , </a:t>
            </a:r>
            <a:r>
              <a:rPr lang="en-US" sz="2000" b="1" dirty="0">
                <a:latin typeface="Times New Roman"/>
                <a:ea typeface="Times New Roman"/>
                <a:cs typeface="Times New Roman"/>
              </a:rPr>
              <a:t>YearOfBirth</a:t>
            </a:r>
            <a:r>
              <a:rPr lang="en-US" sz="2000" dirty="0"/>
              <a:t> DESC </a:t>
            </a: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lstStyle/>
          <a:p>
            <a:r>
              <a:rPr lang="en-US" dirty="0"/>
              <a:t>Exercise</a:t>
            </a:r>
          </a:p>
        </p:txBody>
      </p:sp>
      <p:sp>
        <p:nvSpPr>
          <p:cNvPr id="1025" name="Rectangle 1"/>
          <p:cNvSpPr>
            <a:spLocks noChangeArrowheads="1"/>
          </p:cNvSpPr>
          <p:nvPr/>
        </p:nvSpPr>
        <p:spPr bwMode="auto">
          <a:xfrm>
            <a:off x="304800" y="762000"/>
            <a:ext cx="8305800"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output.</a:t>
            </a: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graphicFrame>
        <p:nvGraphicFramePr>
          <p:cNvPr id="6" name="Table 5"/>
          <p:cNvGraphicFramePr>
            <a:graphicFrameLocks noGrp="1"/>
          </p:cNvGraphicFramePr>
          <p:nvPr/>
        </p:nvGraphicFramePr>
        <p:xfrm>
          <a:off x="914400" y="1219200"/>
          <a:ext cx="6934200" cy="2275142"/>
        </p:xfrm>
        <a:graphic>
          <a:graphicData uri="http://schemas.openxmlformats.org/drawingml/2006/table">
            <a:tbl>
              <a:tblPr/>
              <a:tblGrid>
                <a:gridCol w="2619882">
                  <a:extLst>
                    <a:ext uri="{9D8B030D-6E8A-4147-A177-3AD203B41FA5}">
                      <a16:colId xmlns:a16="http://schemas.microsoft.com/office/drawing/2014/main" val="20000"/>
                    </a:ext>
                  </a:extLst>
                </a:gridCol>
                <a:gridCol w="2619882">
                  <a:extLst>
                    <a:ext uri="{9D8B030D-6E8A-4147-A177-3AD203B41FA5}">
                      <a16:colId xmlns:a16="http://schemas.microsoft.com/office/drawing/2014/main" val="20001"/>
                    </a:ext>
                  </a:extLst>
                </a:gridCol>
                <a:gridCol w="1694436">
                  <a:extLst>
                    <a:ext uri="{9D8B030D-6E8A-4147-A177-3AD203B41FA5}">
                      <a16:colId xmlns:a16="http://schemas.microsoft.com/office/drawing/2014/main" val="20002"/>
                    </a:ext>
                  </a:extLst>
                </a:gridCol>
              </a:tblGrid>
              <a:tr h="228600">
                <a:tc>
                  <a:txBody>
                    <a:bodyPr/>
                    <a:lstStyle/>
                    <a:p>
                      <a:pPr marL="0" marR="0" algn="just">
                        <a:lnSpc>
                          <a:spcPct val="115000"/>
                        </a:lnSpc>
                        <a:spcBef>
                          <a:spcPts val="0"/>
                        </a:spcBef>
                        <a:spcAft>
                          <a:spcPts val="0"/>
                        </a:spcAft>
                      </a:pPr>
                      <a:r>
                        <a:rPr lang="en-US" sz="1800" b="1" dirty="0">
                          <a:latin typeface="Times New Roman"/>
                          <a:ea typeface="Calibri"/>
                          <a:cs typeface="Times New Roman"/>
                        </a:rPr>
                        <a:t>FirstName</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b="1" dirty="0">
                          <a:latin typeface="Times New Roman"/>
                          <a:ea typeface="Calibri"/>
                          <a:cs typeface="Times New Roman"/>
                        </a:rPr>
                        <a:t>LastName</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b="1" dirty="0">
                          <a:latin typeface="Times New Roman"/>
                          <a:ea typeface="Calibri"/>
                          <a:cs typeface="Times New Roman"/>
                        </a:rPr>
                        <a:t>YearOfBirth</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4325">
                <a:tc>
                  <a:txBody>
                    <a:bodyPr/>
                    <a:lstStyle/>
                    <a:p>
                      <a:pPr marL="0" marR="0">
                        <a:lnSpc>
                          <a:spcPct val="115000"/>
                        </a:lnSpc>
                        <a:spcBef>
                          <a:spcPts val="0"/>
                        </a:spcBef>
                        <a:spcAft>
                          <a:spcPts val="0"/>
                        </a:spcAft>
                      </a:pPr>
                      <a:r>
                        <a:rPr lang="en-US" sz="2000" dirty="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More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1810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4325">
                <a:tc>
                  <a:txBody>
                    <a:bodyPr/>
                    <a:lstStyle/>
                    <a:p>
                      <a:pPr marL="0" marR="0">
                        <a:lnSpc>
                          <a:spcPct val="115000"/>
                        </a:lnSpc>
                        <a:spcBef>
                          <a:spcPts val="0"/>
                        </a:spcBef>
                        <a:spcAft>
                          <a:spcPts val="0"/>
                        </a:spcAft>
                      </a:pPr>
                      <a:r>
                        <a:rPr lang="en-US" sz="2000" dirty="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Alva Edison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1815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14325">
                <a:tc>
                  <a:txBody>
                    <a:bodyPr/>
                    <a:lstStyle/>
                    <a:p>
                      <a:pPr marL="0" marR="0">
                        <a:lnSpc>
                          <a:spcPct val="115000"/>
                        </a:lnSpc>
                        <a:spcBef>
                          <a:spcPts val="0"/>
                        </a:spcBef>
                        <a:spcAft>
                          <a:spcPts val="0"/>
                        </a:spcAft>
                      </a:pPr>
                      <a:r>
                        <a:rPr lang="en-US" sz="2000" dirty="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More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1820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14325">
                <a:tc>
                  <a:txBody>
                    <a:bodyPr/>
                    <a:lstStyle/>
                    <a:p>
                      <a:pPr marL="0" marR="0">
                        <a:lnSpc>
                          <a:spcPct val="115000"/>
                        </a:lnSpc>
                        <a:spcBef>
                          <a:spcPts val="0"/>
                        </a:spcBef>
                        <a:spcAft>
                          <a:spcPts val="0"/>
                        </a:spcAft>
                      </a:pPr>
                      <a:r>
                        <a:rPr lang="en-US" sz="200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err="1">
                          <a:latin typeface="Calibri"/>
                          <a:ea typeface="Calibri"/>
                          <a:cs typeface="Times New Roman"/>
                        </a:rPr>
                        <a:t>Burnley</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1745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14325">
                <a:tc>
                  <a:txBody>
                    <a:bodyPr/>
                    <a:lstStyle/>
                    <a:p>
                      <a:pPr marL="0" marR="0">
                        <a:lnSpc>
                          <a:spcPct val="115000"/>
                        </a:lnSpc>
                        <a:spcBef>
                          <a:spcPts val="0"/>
                        </a:spcBef>
                        <a:spcAft>
                          <a:spcPts val="0"/>
                        </a:spcAft>
                      </a:pPr>
                      <a:r>
                        <a:rPr lang="en-US" sz="200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Franklin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1766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14325">
                <a:tc>
                  <a:txBody>
                    <a:bodyPr/>
                    <a:lstStyle/>
                    <a:p>
                      <a:pPr marL="0" marR="0">
                        <a:lnSpc>
                          <a:spcPct val="115000"/>
                        </a:lnSpc>
                        <a:spcBef>
                          <a:spcPts val="0"/>
                        </a:spcBef>
                        <a:spcAft>
                          <a:spcPts val="0"/>
                        </a:spcAft>
                      </a:pPr>
                      <a:r>
                        <a:rPr lang="en-US" sz="200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Britten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1767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7" name="Table 6"/>
          <p:cNvGraphicFramePr>
            <a:graphicFrameLocks noGrp="1"/>
          </p:cNvGraphicFramePr>
          <p:nvPr/>
        </p:nvGraphicFramePr>
        <p:xfrm>
          <a:off x="838201" y="3733800"/>
          <a:ext cx="7086600" cy="2438401"/>
        </p:xfrm>
        <a:graphic>
          <a:graphicData uri="http://schemas.openxmlformats.org/drawingml/2006/table">
            <a:tbl>
              <a:tblPr/>
              <a:tblGrid>
                <a:gridCol w="2527877">
                  <a:extLst>
                    <a:ext uri="{9D8B030D-6E8A-4147-A177-3AD203B41FA5}">
                      <a16:colId xmlns:a16="http://schemas.microsoft.com/office/drawing/2014/main" val="20000"/>
                    </a:ext>
                  </a:extLst>
                </a:gridCol>
                <a:gridCol w="2527877">
                  <a:extLst>
                    <a:ext uri="{9D8B030D-6E8A-4147-A177-3AD203B41FA5}">
                      <a16:colId xmlns:a16="http://schemas.microsoft.com/office/drawing/2014/main" val="20001"/>
                    </a:ext>
                  </a:extLst>
                </a:gridCol>
                <a:gridCol w="2030846">
                  <a:extLst>
                    <a:ext uri="{9D8B030D-6E8A-4147-A177-3AD203B41FA5}">
                      <a16:colId xmlns:a16="http://schemas.microsoft.com/office/drawing/2014/main" val="20002"/>
                    </a:ext>
                  </a:extLst>
                </a:gridCol>
              </a:tblGrid>
              <a:tr h="348343">
                <a:tc>
                  <a:txBody>
                    <a:bodyPr/>
                    <a:lstStyle/>
                    <a:p>
                      <a:pPr marL="0" marR="0" algn="just">
                        <a:lnSpc>
                          <a:spcPct val="115000"/>
                        </a:lnSpc>
                        <a:spcBef>
                          <a:spcPts val="0"/>
                        </a:spcBef>
                        <a:spcAft>
                          <a:spcPts val="0"/>
                        </a:spcAft>
                      </a:pPr>
                      <a:r>
                        <a:rPr lang="en-US" sz="1800" b="1" dirty="0">
                          <a:latin typeface="Times New Roman"/>
                          <a:ea typeface="Calibri"/>
                          <a:cs typeface="Times New Roman"/>
                        </a:rPr>
                        <a:t>FirstName</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b="1" dirty="0">
                          <a:latin typeface="Times New Roman"/>
                          <a:ea typeface="Calibri"/>
                          <a:cs typeface="Times New Roman"/>
                        </a:rPr>
                        <a:t>LastName</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b="1" dirty="0">
                          <a:latin typeface="Times New Roman"/>
                          <a:ea typeface="Calibri"/>
                          <a:cs typeface="Times New Roman"/>
                        </a:rPr>
                        <a:t>YearOfBirth</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8343">
                <a:tc>
                  <a:txBody>
                    <a:bodyPr/>
                    <a:lstStyle/>
                    <a:p>
                      <a:pPr marL="0" marR="0">
                        <a:lnSpc>
                          <a:spcPct val="115000"/>
                        </a:lnSpc>
                        <a:spcBef>
                          <a:spcPts val="0"/>
                        </a:spcBef>
                        <a:spcAft>
                          <a:spcPts val="0"/>
                        </a:spcAft>
                      </a:pPr>
                      <a:r>
                        <a:rPr lang="en-US" sz="2000" dirty="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err="1">
                          <a:latin typeface="Calibri"/>
                          <a:ea typeface="Calibri"/>
                          <a:cs typeface="Times New Roman"/>
                        </a:rPr>
                        <a:t>Burnley</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1745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48343">
                <a:tc>
                  <a:txBody>
                    <a:bodyPr/>
                    <a:lstStyle/>
                    <a:p>
                      <a:pPr marL="0" marR="0">
                        <a:lnSpc>
                          <a:spcPct val="115000"/>
                        </a:lnSpc>
                        <a:spcBef>
                          <a:spcPts val="0"/>
                        </a:spcBef>
                        <a:spcAft>
                          <a:spcPts val="0"/>
                        </a:spcAft>
                      </a:pPr>
                      <a:r>
                        <a:rPr lang="en-US" sz="2000" dirty="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Franklin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1766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48343">
                <a:tc>
                  <a:txBody>
                    <a:bodyPr/>
                    <a:lstStyle/>
                    <a:p>
                      <a:pPr marL="0" marR="0">
                        <a:lnSpc>
                          <a:spcPct val="115000"/>
                        </a:lnSpc>
                        <a:spcBef>
                          <a:spcPts val="0"/>
                        </a:spcBef>
                        <a:spcAft>
                          <a:spcPts val="0"/>
                        </a:spcAft>
                      </a:pPr>
                      <a:r>
                        <a:rPr lang="en-US" sz="200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Britten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1767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48343">
                <a:tc>
                  <a:txBody>
                    <a:bodyPr/>
                    <a:lstStyle/>
                    <a:p>
                      <a:pPr marL="0" marR="0">
                        <a:lnSpc>
                          <a:spcPct val="115000"/>
                        </a:lnSpc>
                        <a:spcBef>
                          <a:spcPts val="0"/>
                        </a:spcBef>
                        <a:spcAft>
                          <a:spcPts val="0"/>
                        </a:spcAft>
                      </a:pPr>
                      <a:r>
                        <a:rPr lang="en-US" sz="200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More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1810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48343">
                <a:tc>
                  <a:txBody>
                    <a:bodyPr/>
                    <a:lstStyle/>
                    <a:p>
                      <a:pPr marL="0" marR="0">
                        <a:lnSpc>
                          <a:spcPct val="115000"/>
                        </a:lnSpc>
                        <a:spcBef>
                          <a:spcPts val="0"/>
                        </a:spcBef>
                        <a:spcAft>
                          <a:spcPts val="0"/>
                        </a:spcAft>
                      </a:pPr>
                      <a:r>
                        <a:rPr lang="en-US" sz="200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Alva Edison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1815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48343">
                <a:tc>
                  <a:txBody>
                    <a:bodyPr/>
                    <a:lstStyle/>
                    <a:p>
                      <a:pPr marL="0" marR="0">
                        <a:lnSpc>
                          <a:spcPct val="115000"/>
                        </a:lnSpc>
                        <a:spcBef>
                          <a:spcPts val="0"/>
                        </a:spcBef>
                        <a:spcAft>
                          <a:spcPts val="0"/>
                        </a:spcAft>
                      </a:pPr>
                      <a:r>
                        <a:rPr lang="en-US" sz="200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a:latin typeface="Calibri"/>
                          <a:ea typeface="Calibri"/>
                          <a:cs typeface="Times New Roman"/>
                        </a:rPr>
                        <a:t>More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latin typeface="Calibri"/>
                          <a:ea typeface="Calibri"/>
                          <a:cs typeface="Times New Roman"/>
                        </a:rPr>
                        <a:t>1820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lstStyle/>
          <a:p>
            <a:r>
              <a:rPr lang="en-US" dirty="0"/>
              <a:t>Exercise</a:t>
            </a:r>
          </a:p>
        </p:txBody>
      </p:sp>
      <p:sp>
        <p:nvSpPr>
          <p:cNvPr id="1025" name="Rectangle 1"/>
          <p:cNvSpPr>
            <a:spLocks noChangeArrowheads="1"/>
          </p:cNvSpPr>
          <p:nvPr/>
        </p:nvSpPr>
        <p:spPr bwMode="auto">
          <a:xfrm>
            <a:off x="304800" y="762000"/>
            <a:ext cx="8305800"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output.</a:t>
            </a: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graphicFrame>
        <p:nvGraphicFramePr>
          <p:cNvPr id="8" name="Table 7"/>
          <p:cNvGraphicFramePr>
            <a:graphicFrameLocks noGrp="1"/>
          </p:cNvGraphicFramePr>
          <p:nvPr/>
        </p:nvGraphicFramePr>
        <p:xfrm>
          <a:off x="685800" y="1600200"/>
          <a:ext cx="7848601" cy="3276602"/>
        </p:xfrm>
        <a:graphic>
          <a:graphicData uri="http://schemas.openxmlformats.org/drawingml/2006/table">
            <a:tbl>
              <a:tblPr/>
              <a:tblGrid>
                <a:gridCol w="2799692">
                  <a:extLst>
                    <a:ext uri="{9D8B030D-6E8A-4147-A177-3AD203B41FA5}">
                      <a16:colId xmlns:a16="http://schemas.microsoft.com/office/drawing/2014/main" val="20000"/>
                    </a:ext>
                  </a:extLst>
                </a:gridCol>
                <a:gridCol w="2799692">
                  <a:extLst>
                    <a:ext uri="{9D8B030D-6E8A-4147-A177-3AD203B41FA5}">
                      <a16:colId xmlns:a16="http://schemas.microsoft.com/office/drawing/2014/main" val="20001"/>
                    </a:ext>
                  </a:extLst>
                </a:gridCol>
                <a:gridCol w="2249217">
                  <a:extLst>
                    <a:ext uri="{9D8B030D-6E8A-4147-A177-3AD203B41FA5}">
                      <a16:colId xmlns:a16="http://schemas.microsoft.com/office/drawing/2014/main" val="20002"/>
                    </a:ext>
                  </a:extLst>
                </a:gridCol>
              </a:tblGrid>
              <a:tr h="468086">
                <a:tc>
                  <a:txBody>
                    <a:bodyPr/>
                    <a:lstStyle/>
                    <a:p>
                      <a:pPr marL="0" marR="0" algn="just">
                        <a:lnSpc>
                          <a:spcPct val="115000"/>
                        </a:lnSpc>
                        <a:spcBef>
                          <a:spcPts val="0"/>
                        </a:spcBef>
                        <a:spcAft>
                          <a:spcPts val="0"/>
                        </a:spcAft>
                      </a:pPr>
                      <a:r>
                        <a:rPr lang="en-US" sz="2400" b="1" dirty="0">
                          <a:latin typeface="Times New Roman"/>
                          <a:ea typeface="Calibri"/>
                          <a:cs typeface="Times New Roman"/>
                        </a:rPr>
                        <a:t>FirstName</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2400" b="1" dirty="0">
                          <a:latin typeface="Times New Roman"/>
                          <a:ea typeface="Calibri"/>
                          <a:cs typeface="Times New Roman"/>
                        </a:rPr>
                        <a:t>LastName</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2400" b="1" dirty="0">
                          <a:latin typeface="Times New Roman"/>
                          <a:ea typeface="Calibri"/>
                          <a:cs typeface="Times New Roman"/>
                        </a:rPr>
                        <a:t>YearOfBirth</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68086">
                <a:tc>
                  <a:txBody>
                    <a:bodyPr/>
                    <a:lstStyle/>
                    <a:p>
                      <a:pPr marL="0" marR="0">
                        <a:lnSpc>
                          <a:spcPct val="115000"/>
                        </a:lnSpc>
                        <a:spcBef>
                          <a:spcPts val="0"/>
                        </a:spcBef>
                        <a:spcAft>
                          <a:spcPts val="0"/>
                        </a:spcAft>
                      </a:pPr>
                      <a:r>
                        <a:rPr lang="en-US" sz="2400" dirty="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latin typeface="Calibri"/>
                          <a:ea typeface="Calibri"/>
                          <a:cs typeface="Times New Roman"/>
                        </a:rPr>
                        <a:t>Alva Edison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latin typeface="Calibri"/>
                          <a:ea typeface="Calibri"/>
                          <a:cs typeface="Times New Roman"/>
                        </a:rPr>
                        <a:t>1815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8086">
                <a:tc>
                  <a:txBody>
                    <a:bodyPr/>
                    <a:lstStyle/>
                    <a:p>
                      <a:pPr marL="0" marR="0">
                        <a:lnSpc>
                          <a:spcPct val="115000"/>
                        </a:lnSpc>
                        <a:spcBef>
                          <a:spcPts val="0"/>
                        </a:spcBef>
                        <a:spcAft>
                          <a:spcPts val="0"/>
                        </a:spcAft>
                      </a:pPr>
                      <a:r>
                        <a:rPr lang="en-US" sz="2400" dirty="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a:latin typeface="Calibri"/>
                          <a:ea typeface="Calibri"/>
                          <a:cs typeface="Times New Roman"/>
                        </a:rPr>
                        <a:t>More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latin typeface="Calibri"/>
                          <a:ea typeface="Calibri"/>
                          <a:cs typeface="Times New Roman"/>
                        </a:rPr>
                        <a:t>1820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8086">
                <a:tc>
                  <a:txBody>
                    <a:bodyPr/>
                    <a:lstStyle/>
                    <a:p>
                      <a:pPr marL="0" marR="0">
                        <a:lnSpc>
                          <a:spcPct val="115000"/>
                        </a:lnSpc>
                        <a:spcBef>
                          <a:spcPts val="0"/>
                        </a:spcBef>
                        <a:spcAft>
                          <a:spcPts val="0"/>
                        </a:spcAft>
                      </a:pPr>
                      <a:r>
                        <a:rPr lang="en-US" sz="2400">
                          <a:latin typeface="Calibri"/>
                          <a:ea typeface="Calibri"/>
                          <a:cs typeface="Times New Roman"/>
                        </a:rPr>
                        <a:t>Thomas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a:latin typeface="Calibri"/>
                          <a:ea typeface="Calibri"/>
                          <a:cs typeface="Times New Roman"/>
                        </a:rPr>
                        <a:t>More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latin typeface="Calibri"/>
                          <a:ea typeface="Calibri"/>
                          <a:cs typeface="Times New Roman"/>
                        </a:rPr>
                        <a:t>1810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8086">
                <a:tc>
                  <a:txBody>
                    <a:bodyPr/>
                    <a:lstStyle/>
                    <a:p>
                      <a:pPr marL="0" marR="0">
                        <a:lnSpc>
                          <a:spcPct val="115000"/>
                        </a:lnSpc>
                        <a:spcBef>
                          <a:spcPts val="0"/>
                        </a:spcBef>
                        <a:spcAft>
                          <a:spcPts val="0"/>
                        </a:spcAft>
                      </a:pPr>
                      <a:r>
                        <a:rPr lang="en-US" sz="240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a:latin typeface="Calibri"/>
                          <a:ea typeface="Calibri"/>
                          <a:cs typeface="Times New Roman"/>
                        </a:rPr>
                        <a:t>Britten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latin typeface="Calibri"/>
                          <a:ea typeface="Calibri"/>
                          <a:cs typeface="Times New Roman"/>
                        </a:rPr>
                        <a:t>1767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68086">
                <a:tc>
                  <a:txBody>
                    <a:bodyPr/>
                    <a:lstStyle/>
                    <a:p>
                      <a:pPr marL="0" marR="0">
                        <a:lnSpc>
                          <a:spcPct val="115000"/>
                        </a:lnSpc>
                        <a:spcBef>
                          <a:spcPts val="0"/>
                        </a:spcBef>
                        <a:spcAft>
                          <a:spcPts val="0"/>
                        </a:spcAft>
                      </a:pPr>
                      <a:r>
                        <a:rPr lang="en-US" sz="240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err="1">
                          <a:latin typeface="Calibri"/>
                          <a:ea typeface="Calibri"/>
                          <a:cs typeface="Times New Roman"/>
                        </a:rPr>
                        <a:t>Burnley</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a:latin typeface="Calibri"/>
                          <a:ea typeface="Calibri"/>
                          <a:cs typeface="Times New Roman"/>
                        </a:rPr>
                        <a:t>1745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68086">
                <a:tc>
                  <a:txBody>
                    <a:bodyPr/>
                    <a:lstStyle/>
                    <a:p>
                      <a:pPr marL="0" marR="0">
                        <a:lnSpc>
                          <a:spcPct val="115000"/>
                        </a:lnSpc>
                        <a:spcBef>
                          <a:spcPts val="0"/>
                        </a:spcBef>
                        <a:spcAft>
                          <a:spcPts val="0"/>
                        </a:spcAft>
                      </a:pPr>
                      <a:r>
                        <a:rPr lang="en-US" sz="2400">
                          <a:latin typeface="Calibri"/>
                          <a:ea typeface="Calibri"/>
                          <a:cs typeface="Times New Roman"/>
                        </a:rPr>
                        <a:t>Benjamin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latin typeface="Calibri"/>
                          <a:ea typeface="Calibri"/>
                          <a:cs typeface="Times New Roman"/>
                        </a:rPr>
                        <a:t>Franklin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a:latin typeface="Calibri"/>
                          <a:ea typeface="Calibri"/>
                          <a:cs typeface="Times New Roman"/>
                        </a:rPr>
                        <a:t>1766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3637</TotalTime>
  <Words>9414</Words>
  <Application>Microsoft Office PowerPoint</Application>
  <PresentationFormat>On-screen Show (4:3)</PresentationFormat>
  <Paragraphs>1184</Paragraphs>
  <Slides>157</Slides>
  <Notes>128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157</vt:i4>
      </vt:variant>
    </vt:vector>
  </HeadingPairs>
  <TitlesOfParts>
    <vt:vector size="167" baseType="lpstr">
      <vt:lpstr>Arial</vt:lpstr>
      <vt:lpstr>Calibri</vt:lpstr>
      <vt:lpstr>Courier New</vt:lpstr>
      <vt:lpstr>Symbol</vt:lpstr>
      <vt:lpstr>Tahoma</vt:lpstr>
      <vt:lpstr>Times</vt:lpstr>
      <vt:lpstr>Times New Roman</vt:lpstr>
      <vt:lpstr>Wingdings</vt:lpstr>
      <vt:lpstr>Office Theme</vt:lpstr>
      <vt:lpstr>Default Design</vt:lpstr>
      <vt:lpstr>PowerPoint Presentation</vt:lpstr>
      <vt:lpstr> SQL - The Relational Database Standard</vt:lpstr>
      <vt:lpstr>PowerPoint Presentation</vt:lpstr>
      <vt:lpstr>Topics to be discussed</vt:lpstr>
      <vt:lpstr>PowerPoint Presentation</vt:lpstr>
      <vt:lpstr> SQL Data Definition</vt:lpstr>
      <vt:lpstr> SQL Data Definition : Schema and Catalog Concepts  </vt:lpstr>
      <vt:lpstr> SQL Data Definition : Schema and Catalog Concepts  </vt:lpstr>
      <vt:lpstr> SQL Data Definition : Schema and Catalog Concepts  </vt:lpstr>
      <vt:lpstr> SQL Data Definition : The CREATE TABLE Command </vt:lpstr>
      <vt:lpstr> SQL Data Definition : The CREATE TABLE Command </vt:lpstr>
      <vt:lpstr> SQL Data Definition : The CREATE TABLE Command </vt:lpstr>
      <vt:lpstr> SQL Data Definition : The CREATE TABLE Command </vt:lpstr>
      <vt:lpstr> SQL Data Definition : The CREATE TABLE Command </vt:lpstr>
      <vt:lpstr> SQL Data Definition : The CREATE TABLE Command </vt:lpstr>
      <vt:lpstr> SQL Data Definition :  The CREATE Domain Command </vt:lpstr>
      <vt:lpstr> SQL Data Definition : The CREATE TABLE Command </vt:lpstr>
      <vt:lpstr>SQL  DATA Types</vt:lpstr>
      <vt:lpstr>SQL  DATA Types</vt:lpstr>
      <vt:lpstr>SQL  DATA Types</vt:lpstr>
      <vt:lpstr>SQL  DATA Types</vt:lpstr>
      <vt:lpstr>SQL  DATA Types</vt:lpstr>
      <vt:lpstr>SQL  DATA Types</vt:lpstr>
      <vt:lpstr>PowerPoint Presentation</vt:lpstr>
      <vt:lpstr>PowerPoint Presentation</vt:lpstr>
      <vt:lpstr>Specifying Basic Constraints in SQL-99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Basic Queries in SQL -99</vt:lpstr>
      <vt:lpstr>The SELECT-FROM-WHERE</vt:lpstr>
      <vt:lpstr>The SELECT-FROM-WHERE</vt:lpstr>
      <vt:lpstr>The SELECT-FROM-WHERE</vt:lpstr>
      <vt:lpstr>The SELECT-FROM-WHERE :  Examples</vt:lpstr>
      <vt:lpstr>The SELECT-FROM-WHERE :  Examples</vt:lpstr>
      <vt:lpstr>The SELECT-FROM-WHERE :  Examples</vt:lpstr>
      <vt:lpstr>The SELECT-FROM-WHERE :  Examples</vt:lpstr>
      <vt:lpstr>The SELECT-FROM-WHERE :  Examples</vt:lpstr>
      <vt:lpstr>PowerPoint Presentation</vt:lpstr>
      <vt:lpstr>PowerPoint Presentation</vt:lpstr>
      <vt:lpstr>Aliasing and Tuple Variables </vt:lpstr>
      <vt:lpstr>Aliasing and Tuple Variables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More Complex SQL Queries</vt:lpstr>
      <vt:lpstr>Nested Query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Aggregate Functions in SQL-99</vt:lpstr>
      <vt:lpstr>PowerPoint Presentation</vt:lpstr>
      <vt:lpstr>PowerPoint Presentation</vt:lpstr>
      <vt:lpstr>PowerPoint Presentation</vt:lpstr>
      <vt:lpstr>PowerPoint Presentation</vt:lpstr>
      <vt:lpstr>PowerPoint Presentation</vt:lpstr>
      <vt:lpstr>The GROUP BY and HAVING Clauses</vt:lpstr>
      <vt:lpstr>The GROUP BY Clause</vt:lpstr>
      <vt:lpstr>The GROUP BY Clause</vt:lpstr>
      <vt:lpstr>The GROUP BY Clauses</vt:lpstr>
      <vt:lpstr>The GROUP BY Clauses</vt:lpstr>
      <vt:lpstr>GROUP BY and HAVING Clauses</vt:lpstr>
      <vt:lpstr>GROUP BY and HAVING Clauses</vt:lpstr>
      <vt:lpstr>GROUP BY and HAVING Clauses</vt:lpstr>
      <vt:lpstr>GROUP BY and HAVING Clauses</vt:lpstr>
      <vt:lpstr>GROUP BY and HAVING Clauses</vt:lpstr>
      <vt:lpstr>INSERT, DELETE, AND UPDATE STATEMENTS IN SQL-99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Specifying General Constraints as Assertions in SQL </vt:lpstr>
      <vt:lpstr>PowerPoint Presentation</vt:lpstr>
      <vt:lpstr>PowerPoint Presentation</vt:lpstr>
      <vt:lpstr>PowerPoint Presentation</vt:lpstr>
      <vt:lpstr>PowerPoint Presentation</vt:lpstr>
      <vt:lpstr>PowerPoint Presentation</vt:lpstr>
      <vt:lpstr>PowerPoint Presentation</vt:lpstr>
      <vt:lpstr>Introduction to Triggers in SQL</vt:lpstr>
      <vt:lpstr>PowerPoint Presentation</vt:lpstr>
      <vt:lpstr>PowerPoint Presentation</vt:lpstr>
      <vt:lpstr>Exercise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Assertions vs. Triggers </vt:lpstr>
      <vt:lpstr>Exercise</vt:lpstr>
      <vt:lpstr>Exercise</vt:lpstr>
      <vt:lpstr>Exercise</vt:lpstr>
      <vt:lpstr>Exercise</vt:lpstr>
      <vt:lpstr>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Ravi</dc:creator>
  <cp:lastModifiedBy>Admin</cp:lastModifiedBy>
  <cp:revision>772</cp:revision>
  <dcterms:created xsi:type="dcterms:W3CDTF">2006-08-16T00:00:00Z</dcterms:created>
  <dcterms:modified xsi:type="dcterms:W3CDTF">2026-03-12T04:10:21Z</dcterms:modified>
</cp:coreProperties>
</file>