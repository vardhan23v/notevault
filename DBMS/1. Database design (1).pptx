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6"/>
  </p:notesMasterIdLst>
  <p:sldIdLst>
    <p:sldId id="408" r:id="rId3"/>
    <p:sldId id="258" r:id="rId4"/>
    <p:sldId id="300" r:id="rId5"/>
    <p:sldId id="298" r:id="rId6"/>
    <p:sldId id="409" r:id="rId7"/>
    <p:sldId id="301" r:id="rId8"/>
    <p:sldId id="302" r:id="rId9"/>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410" r:id="rId26"/>
    <p:sldId id="319" r:id="rId27"/>
    <p:sldId id="320" r:id="rId28"/>
    <p:sldId id="322" r:id="rId29"/>
    <p:sldId id="321" r:id="rId30"/>
    <p:sldId id="323" r:id="rId31"/>
    <p:sldId id="324" r:id="rId32"/>
    <p:sldId id="325" r:id="rId33"/>
    <p:sldId id="326" r:id="rId34"/>
    <p:sldId id="328" r:id="rId35"/>
    <p:sldId id="412" r:id="rId36"/>
    <p:sldId id="411" r:id="rId37"/>
    <p:sldId id="329" r:id="rId38"/>
    <p:sldId id="413" r:id="rId39"/>
    <p:sldId id="330" r:id="rId40"/>
    <p:sldId id="332" r:id="rId41"/>
    <p:sldId id="331" r:id="rId42"/>
    <p:sldId id="334" r:id="rId43"/>
    <p:sldId id="333" r:id="rId44"/>
    <p:sldId id="414" r:id="rId45"/>
    <p:sldId id="335" r:id="rId46"/>
    <p:sldId id="336" r:id="rId47"/>
    <p:sldId id="337" r:id="rId48"/>
    <p:sldId id="415" r:id="rId49"/>
    <p:sldId id="338" r:id="rId50"/>
    <p:sldId id="416" r:id="rId51"/>
    <p:sldId id="418" r:id="rId52"/>
    <p:sldId id="420" r:id="rId53"/>
    <p:sldId id="339" r:id="rId54"/>
    <p:sldId id="417" r:id="rId55"/>
    <p:sldId id="340" r:id="rId56"/>
    <p:sldId id="341" r:id="rId57"/>
    <p:sldId id="429" r:id="rId58"/>
    <p:sldId id="421" r:id="rId59"/>
    <p:sldId id="422" r:id="rId60"/>
    <p:sldId id="423" r:id="rId61"/>
    <p:sldId id="437" r:id="rId62"/>
    <p:sldId id="438" r:id="rId63"/>
    <p:sldId id="343" r:id="rId64"/>
    <p:sldId id="424" r:id="rId65"/>
    <p:sldId id="425" r:id="rId66"/>
    <p:sldId id="342" r:id="rId67"/>
    <p:sldId id="426" r:id="rId68"/>
    <p:sldId id="344" r:id="rId69"/>
    <p:sldId id="345" r:id="rId70"/>
    <p:sldId id="427" r:id="rId71"/>
    <p:sldId id="346" r:id="rId72"/>
    <p:sldId id="347" r:id="rId73"/>
    <p:sldId id="348" r:id="rId74"/>
    <p:sldId id="349" r:id="rId75"/>
    <p:sldId id="350" r:id="rId76"/>
    <p:sldId id="351" r:id="rId77"/>
    <p:sldId id="352" r:id="rId78"/>
    <p:sldId id="353" r:id="rId79"/>
    <p:sldId id="355" r:id="rId80"/>
    <p:sldId id="356" r:id="rId81"/>
    <p:sldId id="357" r:id="rId82"/>
    <p:sldId id="358" r:id="rId83"/>
    <p:sldId id="428" r:id="rId84"/>
    <p:sldId id="359" r:id="rId85"/>
    <p:sldId id="360" r:id="rId86"/>
    <p:sldId id="361" r:id="rId87"/>
    <p:sldId id="363" r:id="rId88"/>
    <p:sldId id="430" r:id="rId89"/>
    <p:sldId id="364" r:id="rId90"/>
    <p:sldId id="431" r:id="rId91"/>
    <p:sldId id="365" r:id="rId92"/>
    <p:sldId id="366" r:id="rId93"/>
    <p:sldId id="432" r:id="rId94"/>
    <p:sldId id="369" r:id="rId95"/>
    <p:sldId id="362" r:id="rId96"/>
    <p:sldId id="436" r:id="rId97"/>
    <p:sldId id="435" r:id="rId98"/>
    <p:sldId id="370" r:id="rId99"/>
    <p:sldId id="433" r:id="rId100"/>
    <p:sldId id="372" r:id="rId101"/>
    <p:sldId id="434" r:id="rId102"/>
    <p:sldId id="371" r:id="rId103"/>
    <p:sldId id="439" r:id="rId104"/>
    <p:sldId id="440" r:id="rId10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47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07" Type="http://schemas.openxmlformats.org/officeDocument/2006/relationships/presProps" Target="presProps.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slide" Target="slides/slide100.xml"/><Relationship Id="rId110"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theme" Target="theme/theme1.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2B8EC6-99C2-4AD2-AB06-AD5DCCEF6092}" type="datetimeFigureOut">
              <a:rPr lang="en-US" smtClean="0"/>
              <a:pPr/>
              <a:t>5/10/2025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50763E-8F8B-4313-A6FE-E021F7DCB887}" type="slidenum">
              <a:rPr lang="en-US" smtClean="0"/>
              <a:pPr/>
              <a:t>‹#›</a:t>
            </a:fld>
            <a:endParaRPr lang="en-US"/>
          </a:p>
        </p:txBody>
      </p:sp>
    </p:spTree>
    <p:extLst>
      <p:ext uri="{BB962C8B-B14F-4D97-AF65-F5344CB8AC3E}">
        <p14:creationId xmlns:p14="http://schemas.microsoft.com/office/powerpoint/2010/main" val="3945542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50763E-8F8B-4313-A6FE-E021F7DCB887}" type="slidenum">
              <a:rPr lang="en-US" smtClean="0"/>
              <a:pPr/>
              <a:t>1</a:t>
            </a:fld>
            <a:endParaRPr lang="en-US"/>
          </a:p>
        </p:txBody>
      </p:sp>
    </p:spTree>
    <p:extLst>
      <p:ext uri="{BB962C8B-B14F-4D97-AF65-F5344CB8AC3E}">
        <p14:creationId xmlns:p14="http://schemas.microsoft.com/office/powerpoint/2010/main" val="882187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C50763E-8F8B-4313-A6FE-E021F7DCB887}" type="slidenum">
              <a:rPr lang="en-US" smtClean="0"/>
              <a:pPr/>
              <a:t>2</a:t>
            </a:fld>
            <a:endParaRPr lang="en-US"/>
          </a:p>
        </p:txBody>
      </p:sp>
    </p:spTree>
    <p:extLst>
      <p:ext uri="{BB962C8B-B14F-4D97-AF65-F5344CB8AC3E}">
        <p14:creationId xmlns:p14="http://schemas.microsoft.com/office/powerpoint/2010/main" val="3346300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C50763E-8F8B-4313-A6FE-E021F7DCB887}" type="slidenum">
              <a:rPr lang="en-US" smtClean="0"/>
              <a:pPr/>
              <a:t>3</a:t>
            </a:fld>
            <a:endParaRPr lang="en-US"/>
          </a:p>
        </p:txBody>
      </p:sp>
    </p:spTree>
    <p:extLst>
      <p:ext uri="{BB962C8B-B14F-4D97-AF65-F5344CB8AC3E}">
        <p14:creationId xmlns:p14="http://schemas.microsoft.com/office/powerpoint/2010/main" val="3252356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4230177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2558065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757912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24464581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33220797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1834811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2138517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2149178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4118983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4270981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32244947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2824745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3803547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27466536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11869305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40051064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13413388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32727906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35646747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15183264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35921752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7556689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42595930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35330396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33231513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29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1023488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105778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12435683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a:p>
        </p:txBody>
      </p:sp>
    </p:spTree>
    <p:extLst>
      <p:ext uri="{BB962C8B-B14F-4D97-AF65-F5344CB8AC3E}">
        <p14:creationId xmlns:p14="http://schemas.microsoft.com/office/powerpoint/2010/main" val="17653280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8669084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1619415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40694326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0136778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1122511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4238570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39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3379986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6203228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3177800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40466120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7593702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5837453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40565058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1691829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8031301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457851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49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5264532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4719202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9452704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68543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81248294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1273535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60411528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72776246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98531165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74183949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59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6708489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21990899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1869682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5577916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85607660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18507411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46496237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74376849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92387361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6448925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69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3764255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87438840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16535916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81963494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86110890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2901264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68481369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24726562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1611083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10885816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79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426327609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81026135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8547942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413986746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57064618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47710852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66956001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79789231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85477364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1324936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89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80500398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65630386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74847141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400834916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417518491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94</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42691887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95</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4773524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15601680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97</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341488213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98</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02783137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99</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241564078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100</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59321648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101</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94252377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102</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126869826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18AE76C5-700C-4EB0-B547-6A6D1176E430}" type="slidenum">
              <a:rPr lang="en-US"/>
              <a:pPr/>
              <a:t>103</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3400"/>
            <a:ext cx="5029200" cy="4114800"/>
          </a:xfrm>
          <a:noFill/>
          <a:ln/>
        </p:spPr>
        <p:txBody>
          <a:bodyPr lIns="90488" tIns="44450" rIns="90488" bIns="44450"/>
          <a:lstStyle/>
          <a:p>
            <a:pPr eaLnBrk="1" hangingPunct="1"/>
            <a:endParaRPr lang="en-US" dirty="0"/>
          </a:p>
        </p:txBody>
      </p:sp>
    </p:spTree>
    <p:extLst>
      <p:ext uri="{BB962C8B-B14F-4D97-AF65-F5344CB8AC3E}">
        <p14:creationId xmlns:p14="http://schemas.microsoft.com/office/powerpoint/2010/main" val="4270701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D6CE9E6-CED9-4B47-AE3B-6AD023DF56C3}"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7A604BC-8308-4083-B6FD-9E22D8ED14B1}"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5EB9678-6A8C-4D72-AF37-6AACBDDCCA3C}" type="slidenum">
              <a:rPr lang="en-US"/>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581AE42C-477A-4C9E-9560-4DD398F455E5}"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5EB433EF-D194-497D-AFFA-606830F4E69A}"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791A5C10-49DC-4AAD-A392-47399ABF66D8}"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DA664181-B7F4-47C1-ADBC-A411506A375D}"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CA8AB861-AF41-4CB1-B860-1AA00FDBD18A}"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338F8C75-53DB-41C0-845C-0573187C9BFE}" type="slidenum">
              <a:rPr lang="en-US"/>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6C5E805-56A8-4BAD-A2F9-CBB48157DAE9}" type="slidenum">
              <a:rPr lang="en-US"/>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D626601-F876-4448-819B-88411D430A7B}" type="slidenum">
              <a:rPr lang="en-US"/>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26418E4B-70D6-4E4D-AB7E-9D857DF55EF9}" type="slidenum">
              <a:rPr lang="en-US"/>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00200"/>
            <a:ext cx="4038600" cy="4525963"/>
          </a:xfrm>
        </p:spPr>
        <p:txBody>
          <a:bodyPr/>
          <a:lstStyle/>
          <a:p>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C75899C1-C94D-4C59-92FF-43F146094B63}" type="slidenum">
              <a:rPr lang="en-US"/>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5225"/>
            <a:ext cx="2133600" cy="476250"/>
          </a:xfrm>
        </p:spPr>
        <p:txBody>
          <a:bodyPr/>
          <a:lstStyle>
            <a:lvl1pPr>
              <a:defRPr/>
            </a:lvl1pPr>
          </a:lstStyle>
          <a:p>
            <a:endParaRPr lang="en-US"/>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A327D4D6-0751-4A39-9C10-37B7E31606E0}" type="slidenum">
              <a:rPr lang="en-US"/>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457200" y="6245225"/>
            <a:ext cx="2133600" cy="476250"/>
          </a:xfrm>
        </p:spPr>
        <p:txBody>
          <a:bodyPr/>
          <a:lstStyle>
            <a:lvl1pPr>
              <a:defRPr/>
            </a:lvl1pPr>
          </a:lstStyle>
          <a:p>
            <a:endParaRPr lang="en-US"/>
          </a:p>
        </p:txBody>
      </p:sp>
      <p:sp>
        <p:nvSpPr>
          <p:cNvPr id="4" name="Footer Placeholder 3"/>
          <p:cNvSpPr>
            <a:spLocks noGrp="1"/>
          </p:cNvSpPr>
          <p:nvPr>
            <p:ph type="ftr" sz="quarter" idx="11"/>
          </p:nvPr>
        </p:nvSpPr>
        <p:spPr>
          <a:xfrm>
            <a:off x="3124200" y="6245225"/>
            <a:ext cx="2895600" cy="476250"/>
          </a:xfrm>
        </p:spPr>
        <p:txBody>
          <a:bodyPr/>
          <a:lstStyle>
            <a:lvl1pPr>
              <a:defRPr/>
            </a:lvl1pPr>
          </a:lstStyle>
          <a:p>
            <a:endParaRPr lang="en-US"/>
          </a:p>
        </p:txBody>
      </p:sp>
      <p:sp>
        <p:nvSpPr>
          <p:cNvPr id="5" name="Slide Number Placeholder 4"/>
          <p:cNvSpPr>
            <a:spLocks noGrp="1"/>
          </p:cNvSpPr>
          <p:nvPr>
            <p:ph type="sldNum" sz="quarter" idx="12"/>
          </p:nvPr>
        </p:nvSpPr>
        <p:spPr>
          <a:xfrm>
            <a:off x="6553200" y="6245225"/>
            <a:ext cx="2133600" cy="476250"/>
          </a:xfrm>
        </p:spPr>
        <p:txBody>
          <a:bodyPr/>
          <a:lstStyle>
            <a:lvl1pPr>
              <a:defRPr/>
            </a:lvl1pPr>
          </a:lstStyle>
          <a:p>
            <a:fld id="{89030011-1923-4BF9-A289-EE8F4B6B85C7}" type="slidenum">
              <a:rPr lang="en-US"/>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245225"/>
            <a:ext cx="2133600" cy="476250"/>
          </a:xfrm>
        </p:spPr>
        <p:txBody>
          <a:bodyPr/>
          <a:lstStyle>
            <a:lvl1pPr>
              <a:defRPr/>
            </a:lvl1pPr>
          </a:lstStyle>
          <a:p>
            <a:endParaRPr lang="en-US"/>
          </a:p>
        </p:txBody>
      </p:sp>
      <p:sp>
        <p:nvSpPr>
          <p:cNvPr id="8" name="Footer Placeholder 7"/>
          <p:cNvSpPr>
            <a:spLocks noGrp="1"/>
          </p:cNvSpPr>
          <p:nvPr>
            <p:ph type="ftr" sz="quarter" idx="11"/>
          </p:nvPr>
        </p:nvSpPr>
        <p:spPr>
          <a:xfrm>
            <a:off x="3124200" y="6245225"/>
            <a:ext cx="2895600" cy="476250"/>
          </a:xfrm>
        </p:spPr>
        <p:txBody>
          <a:bodyPr/>
          <a:lstStyle>
            <a:lvl1pPr>
              <a:defRPr/>
            </a:lvl1pPr>
          </a:lstStyle>
          <a:p>
            <a:endParaRPr lang="en-US"/>
          </a:p>
        </p:txBody>
      </p:sp>
      <p:sp>
        <p:nvSpPr>
          <p:cNvPr id="9" name="Slide Number Placeholder 8"/>
          <p:cNvSpPr>
            <a:spLocks noGrp="1"/>
          </p:cNvSpPr>
          <p:nvPr>
            <p:ph type="sldNum" sz="quarter" idx="12"/>
          </p:nvPr>
        </p:nvSpPr>
        <p:spPr>
          <a:xfrm>
            <a:off x="6553200" y="6245225"/>
            <a:ext cx="2133600" cy="476250"/>
          </a:xfrm>
        </p:spPr>
        <p:txBody>
          <a:bodyPr/>
          <a:lstStyle>
            <a:lvl1pPr>
              <a:defRPr/>
            </a:lvl1pPr>
          </a:lstStyle>
          <a:p>
            <a:fld id="{F8A6D5DB-2EE1-4C11-A478-A1C78B145B02}" type="slidenum">
              <a:rPr lang="en-US"/>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457200" y="6245225"/>
            <a:ext cx="2133600" cy="476250"/>
          </a:xfrm>
        </p:spPr>
        <p:txBody>
          <a:bodyPr/>
          <a:lstStyle>
            <a:lvl1pPr>
              <a:defRPr/>
            </a:lvl1pPr>
          </a:lstStyle>
          <a:p>
            <a:endParaRPr lang="en-US"/>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endParaRPr lang="en-US"/>
          </a:p>
        </p:txBody>
      </p:sp>
      <p:sp>
        <p:nvSpPr>
          <p:cNvPr id="8" name="Slide Number Placeholder 7"/>
          <p:cNvSpPr>
            <a:spLocks noGrp="1"/>
          </p:cNvSpPr>
          <p:nvPr>
            <p:ph type="sldNum" sz="quarter" idx="12"/>
          </p:nvPr>
        </p:nvSpPr>
        <p:spPr>
          <a:xfrm>
            <a:off x="6553200" y="6245225"/>
            <a:ext cx="2133600" cy="476250"/>
          </a:xfrm>
        </p:spPr>
        <p:txBody>
          <a:bodyPr/>
          <a:lstStyle>
            <a:lvl1pPr>
              <a:defRPr/>
            </a:lvl1pPr>
          </a:lstStyle>
          <a:p>
            <a:fld id="{63250DF1-BFA7-4AEA-B5A3-1ACB69DB13D5}"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8371"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837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vl1pPr>
          </a:lstStyle>
          <a:p>
            <a:endParaRPr lang="en-US"/>
          </a:p>
        </p:txBody>
      </p:sp>
      <p:sp>
        <p:nvSpPr>
          <p:cNvPr id="5837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5837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A945E353-CA23-4DCB-B0B5-73AE1CDF66E6}"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8.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7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3.xml"/><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9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8.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9.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362200"/>
            <a:ext cx="7772400" cy="685799"/>
          </a:xfrm>
        </p:spPr>
        <p:txBody>
          <a:bodyPr/>
          <a:lstStyle/>
          <a:p>
            <a:r>
              <a:rPr lang="en-US" sz="6600" b="1" dirty="0">
                <a:latin typeface="Tahoma" pitchFamily="34" charset="0"/>
                <a:ea typeface="Tahoma" pitchFamily="34" charset="0"/>
                <a:cs typeface="Tahoma" pitchFamily="34" charset="0"/>
              </a:rPr>
              <a:t>Database Design</a:t>
            </a:r>
          </a:p>
        </p:txBody>
      </p:sp>
      <p:sp>
        <p:nvSpPr>
          <p:cNvPr id="3" name="Subtitle 2"/>
          <p:cNvSpPr>
            <a:spLocks noGrp="1"/>
          </p:cNvSpPr>
          <p:nvPr>
            <p:ph type="subTitle" idx="1"/>
          </p:nvPr>
        </p:nvSpPr>
        <p:spPr>
          <a:xfrm>
            <a:off x="304800" y="3886200"/>
            <a:ext cx="8610600" cy="1066800"/>
          </a:xfrm>
        </p:spPr>
        <p:txBody>
          <a:bodyPr/>
          <a:lstStyle/>
          <a:p>
            <a:pPr eaLnBrk="1" hangingPunct="1">
              <a:lnSpc>
                <a:spcPct val="150000"/>
              </a:lnSpc>
            </a:pPr>
            <a:r>
              <a:rPr lang="en-US" sz="1600" b="1" dirty="0">
                <a:solidFill>
                  <a:srgbClr val="002060"/>
                </a:solidFill>
                <a:latin typeface="Tahoma" pitchFamily="34" charset="0"/>
                <a:ea typeface="Tahoma" pitchFamily="34" charset="0"/>
                <a:cs typeface="Tahoma" pitchFamily="34" charset="0"/>
              </a:rPr>
              <a:t>This chapter  deals with the goal of evaluating relational schemas for design quality</a:t>
            </a:r>
            <a:r>
              <a:rPr lang="en-US" sz="1600" dirty="0">
                <a:latin typeface="Tahoma" pitchFamily="34" charset="0"/>
                <a:ea typeface="Tahoma" pitchFamily="34" charset="0"/>
                <a:cs typeface="Tahoma" pitchFamily="34" charset="0"/>
              </a:rPr>
              <a:t>.</a:t>
            </a:r>
          </a:p>
          <a:p>
            <a:pPr eaLnBrk="1" hangingPunct="1"/>
            <a:endParaRPr lang="en-US" sz="1600" dirty="0">
              <a:latin typeface="Tahoma" pitchFamily="34" charset="0"/>
              <a:ea typeface="Tahoma" pitchFamily="34" charset="0"/>
              <a:cs typeface="Tahoma" pitchFamily="34" charset="0"/>
            </a:endParaRPr>
          </a:p>
          <a:p>
            <a:pPr marL="514350" indent="-514350" algn="l">
              <a:lnSpc>
                <a:spcPct val="200000"/>
              </a:lnSpc>
            </a:pPr>
            <a:endParaRPr lang="en-US" sz="2400" b="1" dirty="0"/>
          </a:p>
          <a:p>
            <a:pPr marL="514350" indent="-514350" algn="l"/>
            <a:endParaRPr lang="en-US" sz="2400" b="1" dirty="0"/>
          </a:p>
          <a:p>
            <a:pPr marL="514350" indent="-514350"/>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52400"/>
            <a:ext cx="7543800" cy="685799"/>
          </a:xfrm>
        </p:spPr>
        <p:txBody>
          <a:bodyPr/>
          <a:lstStyle/>
          <a:p>
            <a:pPr algn="l"/>
            <a:r>
              <a:rPr lang="en-US" sz="2800" b="1" dirty="0">
                <a:solidFill>
                  <a:srgbClr val="002060"/>
                </a:solidFill>
                <a:latin typeface="Tahoma" pitchFamily="34" charset="0"/>
                <a:ea typeface="Tahoma" pitchFamily="34" charset="0"/>
                <a:cs typeface="Tahoma" pitchFamily="34" charset="0"/>
              </a:rPr>
              <a:t>Database Design</a:t>
            </a:r>
          </a:p>
        </p:txBody>
      </p:sp>
      <p:sp>
        <p:nvSpPr>
          <p:cNvPr id="3" name="Subtitle 2"/>
          <p:cNvSpPr>
            <a:spLocks noGrp="1"/>
          </p:cNvSpPr>
          <p:nvPr>
            <p:ph type="subTitle" idx="1"/>
          </p:nvPr>
        </p:nvSpPr>
        <p:spPr>
          <a:xfrm>
            <a:off x="304800" y="762000"/>
            <a:ext cx="8610600" cy="5715000"/>
          </a:xfrm>
        </p:spPr>
        <p:txBody>
          <a:bodyPr/>
          <a:lstStyle/>
          <a:p>
            <a:pPr eaLnBrk="1" hangingPunct="1"/>
            <a:endParaRPr lang="en-US" sz="1600" dirty="0">
              <a:latin typeface="Tahoma" pitchFamily="34" charset="0"/>
              <a:ea typeface="Tahoma" pitchFamily="34" charset="0"/>
              <a:cs typeface="Tahoma" pitchFamily="34" charset="0"/>
            </a:endParaRPr>
          </a:p>
          <a:p>
            <a:pPr algn="just" eaLnBrk="1" hangingPunct="1"/>
            <a:r>
              <a:rPr lang="en-US" sz="1800" b="1" dirty="0">
                <a:latin typeface="Tahoma" pitchFamily="34" charset="0"/>
                <a:ea typeface="Tahoma" pitchFamily="34" charset="0"/>
                <a:cs typeface="Tahoma" pitchFamily="34" charset="0"/>
              </a:rPr>
              <a:t>The 2 levels at which we measure “"goodness" of relation schemas</a:t>
            </a:r>
          </a:p>
          <a:p>
            <a:pPr algn="just" eaLnBrk="1" hangingPunct="1"/>
            <a:endParaRPr lang="en-US" sz="1800" b="1" dirty="0">
              <a:latin typeface="Tahoma" pitchFamily="34" charset="0"/>
              <a:ea typeface="Tahoma" pitchFamily="34" charset="0"/>
              <a:cs typeface="Tahoma" pitchFamily="34" charset="0"/>
            </a:endParaRPr>
          </a:p>
          <a:p>
            <a:pPr marL="800100" lvl="1" indent="-342900" algn="just" eaLnBrk="1" hangingPunct="1">
              <a:lnSpc>
                <a:spcPct val="150000"/>
              </a:lnSpc>
              <a:buFont typeface="Arial" pitchFamily="34" charset="0"/>
              <a:buChar char="•"/>
            </a:pPr>
            <a:r>
              <a:rPr lang="en-US" sz="1800" b="1" dirty="0">
                <a:latin typeface="Tahoma" pitchFamily="34" charset="0"/>
                <a:ea typeface="Tahoma" pitchFamily="34" charset="0"/>
                <a:cs typeface="Tahoma" pitchFamily="34" charset="0"/>
              </a:rPr>
              <a:t>Logical (or conceptual) level :</a:t>
            </a:r>
            <a:r>
              <a:rPr lang="en-US" sz="1800"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how users interpret the relation schemas and the meaning of their attributes.</a:t>
            </a:r>
          </a:p>
          <a:p>
            <a:pPr marL="800100" lvl="1" indent="-342900" algn="just" eaLnBrk="1" hangingPunct="1">
              <a:lnSpc>
                <a:spcPct val="150000"/>
              </a:lnSpc>
              <a:buFont typeface="Arial" pitchFamily="34" charset="0"/>
              <a:buChar char="•"/>
            </a:pPr>
            <a:r>
              <a:rPr lang="en-US" sz="1800" b="1" dirty="0">
                <a:latin typeface="Tahoma" pitchFamily="34" charset="0"/>
                <a:ea typeface="Tahoma" pitchFamily="34" charset="0"/>
                <a:cs typeface="Tahoma" pitchFamily="34" charset="0"/>
              </a:rPr>
              <a:t>Implementation (or storage) level :</a:t>
            </a:r>
            <a:r>
              <a:rPr lang="en-US" sz="1800"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how the tuples in a base relation are stored and updated</a:t>
            </a:r>
            <a:endParaRPr lang="en-US" sz="1600" dirty="0">
              <a:latin typeface="Tahoma" pitchFamily="34" charset="0"/>
              <a:ea typeface="Tahoma" pitchFamily="34" charset="0"/>
              <a:cs typeface="Tahoma" pitchFamily="34" charset="0"/>
            </a:endParaRPr>
          </a:p>
          <a:p>
            <a:pPr algn="l" eaLnBrk="1" hangingPunct="1"/>
            <a:endParaRPr lang="en-US" sz="2000" b="1" dirty="0">
              <a:latin typeface="Tahoma" pitchFamily="34" charset="0"/>
              <a:ea typeface="Tahoma" pitchFamily="34" charset="0"/>
              <a:cs typeface="Tahoma" pitchFamily="34" charset="0"/>
            </a:endParaRPr>
          </a:p>
          <a:p>
            <a:pPr algn="l" eaLnBrk="1" hangingPunct="1"/>
            <a:endParaRPr lang="en-US" sz="2000" b="1" dirty="0">
              <a:latin typeface="Tahoma" pitchFamily="34" charset="0"/>
              <a:ea typeface="Tahoma" pitchFamily="34" charset="0"/>
              <a:cs typeface="Tahoma" pitchFamily="34" charset="0"/>
            </a:endParaRPr>
          </a:p>
          <a:p>
            <a:pPr algn="l"/>
            <a:r>
              <a:rPr lang="en-US" sz="2000" b="1" dirty="0">
                <a:latin typeface="Tahoma" pitchFamily="34" charset="0"/>
                <a:ea typeface="Tahoma" pitchFamily="34" charset="0"/>
                <a:cs typeface="Tahoma" pitchFamily="34" charset="0"/>
              </a:rPr>
              <a:t>Database design methodologies</a:t>
            </a:r>
          </a:p>
          <a:p>
            <a:pPr marL="914400" lvl="1" indent="-457200" algn="l" eaLnBrk="1" hangingPunct="1">
              <a:lnSpc>
                <a:spcPct val="150000"/>
              </a:lnSpc>
              <a:buFont typeface="Arial" pitchFamily="34" charset="0"/>
              <a:buChar char="•"/>
            </a:pPr>
            <a:r>
              <a:rPr lang="en-US" sz="2000" dirty="0">
                <a:latin typeface="Tahoma" pitchFamily="34" charset="0"/>
                <a:ea typeface="Tahoma" pitchFamily="34" charset="0"/>
                <a:cs typeface="Tahoma" pitchFamily="34" charset="0"/>
              </a:rPr>
              <a:t> A bottom-up design methodology (Design by synthesis.)</a:t>
            </a:r>
          </a:p>
          <a:p>
            <a:pPr marL="914400" lvl="1" indent="-457200" algn="l" eaLnBrk="1" hangingPunct="1">
              <a:lnSpc>
                <a:spcPct val="150000"/>
              </a:lnSpc>
              <a:buFont typeface="Arial" pitchFamily="34" charset="0"/>
              <a:buChar char="•"/>
            </a:pPr>
            <a:r>
              <a:rPr lang="en-US" sz="2000" dirty="0">
                <a:latin typeface="Tahoma" pitchFamily="34" charset="0"/>
                <a:ea typeface="Tahoma" pitchFamily="34" charset="0"/>
                <a:cs typeface="Tahoma" pitchFamily="34" charset="0"/>
              </a:rPr>
              <a:t> A top-down design methodology (Design by analysis)</a:t>
            </a:r>
          </a:p>
          <a:p>
            <a:pPr marL="514350" indent="-514350" algn="l">
              <a:lnSpc>
                <a:spcPct val="200000"/>
              </a:lnSpc>
            </a:pPr>
            <a:endParaRPr lang="en-US" sz="2400" b="1" dirty="0"/>
          </a:p>
          <a:p>
            <a:pPr marL="514350" indent="-514350" algn="l"/>
            <a:endParaRPr lang="en-US" sz="2400" b="1" dirty="0"/>
          </a:p>
          <a:p>
            <a:pPr marL="514350" indent="-514350"/>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52400"/>
            <a:ext cx="7772400" cy="685799"/>
          </a:xfrm>
        </p:spPr>
        <p:txBody>
          <a:bodyPr/>
          <a:lstStyle/>
          <a:p>
            <a:pPr marL="514350" indent="-514350"/>
            <a:r>
              <a:rPr lang="en-US" sz="2800" b="1" i="1" dirty="0"/>
              <a:t>Topics to be discussed</a:t>
            </a:r>
          </a:p>
        </p:txBody>
      </p:sp>
      <p:sp>
        <p:nvSpPr>
          <p:cNvPr id="3" name="Subtitle 2"/>
          <p:cNvSpPr>
            <a:spLocks noGrp="1"/>
          </p:cNvSpPr>
          <p:nvPr>
            <p:ph type="subTitle" idx="1"/>
          </p:nvPr>
        </p:nvSpPr>
        <p:spPr>
          <a:xfrm>
            <a:off x="457200" y="990600"/>
            <a:ext cx="8305800" cy="5257800"/>
          </a:xfrm>
        </p:spPr>
        <p:txBody>
          <a:bodyPr/>
          <a:lstStyle/>
          <a:p>
            <a:pPr marL="971550" lvl="1" indent="-514350" algn="l">
              <a:lnSpc>
                <a:spcPct val="150000"/>
              </a:lnSpc>
              <a:buFont typeface="+mj-lt"/>
              <a:buAutoNum type="arabicPeriod"/>
            </a:pPr>
            <a:r>
              <a:rPr lang="en-US" sz="1800" b="1" dirty="0"/>
              <a:t>Informal Design guidelines for Relational Schemas </a:t>
            </a:r>
          </a:p>
          <a:p>
            <a:pPr marL="971550" lvl="1" indent="-514350" algn="l">
              <a:lnSpc>
                <a:spcPct val="150000"/>
              </a:lnSpc>
              <a:buFont typeface="+mj-lt"/>
              <a:buAutoNum type="arabicPeriod"/>
            </a:pPr>
            <a:r>
              <a:rPr lang="en-US" sz="1800" b="1" dirty="0"/>
              <a:t> Functional Dependencies</a:t>
            </a:r>
          </a:p>
          <a:p>
            <a:pPr marL="971550" lvl="1" indent="-514350" algn="l">
              <a:lnSpc>
                <a:spcPct val="150000"/>
              </a:lnSpc>
              <a:buFont typeface="+mj-lt"/>
              <a:buAutoNum type="arabicPeriod"/>
            </a:pPr>
            <a:r>
              <a:rPr lang="en-US" sz="1800" b="1" dirty="0"/>
              <a:t>Normal Forms based on Primary Keys</a:t>
            </a:r>
          </a:p>
          <a:p>
            <a:pPr marL="971550" lvl="1" indent="-514350" algn="l">
              <a:lnSpc>
                <a:spcPct val="150000"/>
              </a:lnSpc>
              <a:buFont typeface="+mj-lt"/>
              <a:buAutoNum type="arabicPeriod"/>
            </a:pPr>
            <a:r>
              <a:rPr lang="en-US" sz="1800" b="1" dirty="0"/>
              <a:t>Definitions of 2</a:t>
            </a:r>
            <a:r>
              <a:rPr lang="en-US" sz="1800" b="1" baseline="30000" dirty="0"/>
              <a:t>nd</a:t>
            </a:r>
            <a:r>
              <a:rPr lang="en-US" sz="1800" b="1" dirty="0"/>
              <a:t> and 3</a:t>
            </a:r>
            <a:r>
              <a:rPr lang="en-US" sz="1800" b="1" baseline="30000" dirty="0"/>
              <a:t>rd</a:t>
            </a:r>
            <a:r>
              <a:rPr lang="en-US" sz="1800" b="1" dirty="0"/>
              <a:t>  Normal Forms</a:t>
            </a:r>
          </a:p>
          <a:p>
            <a:pPr marL="971550" lvl="1" indent="-514350" algn="l">
              <a:lnSpc>
                <a:spcPct val="150000"/>
              </a:lnSpc>
              <a:buFont typeface="+mj-lt"/>
              <a:buAutoNum type="arabicPeriod"/>
            </a:pPr>
            <a:r>
              <a:rPr lang="en-US" sz="1800" b="1" dirty="0"/>
              <a:t>Boyce – Codd Normal forms</a:t>
            </a:r>
          </a:p>
          <a:p>
            <a:pPr marL="971550" lvl="1" indent="-514350" algn="l">
              <a:lnSpc>
                <a:spcPct val="150000"/>
              </a:lnSpc>
              <a:buFont typeface="+mj-lt"/>
              <a:buAutoNum type="arabicPeriod"/>
            </a:pPr>
            <a:r>
              <a:rPr lang="en-US" sz="1800" b="1" dirty="0"/>
              <a:t>Properties of Relational Decompositions</a:t>
            </a:r>
          </a:p>
          <a:p>
            <a:pPr marL="971550" lvl="1" indent="-514350" algn="l">
              <a:lnSpc>
                <a:spcPct val="150000"/>
              </a:lnSpc>
              <a:buFont typeface="+mj-lt"/>
              <a:buAutoNum type="arabicPeriod"/>
            </a:pPr>
            <a:r>
              <a:rPr lang="en-US" sz="1800" b="1" dirty="0"/>
              <a:t>Algorithms for  Relational Database</a:t>
            </a:r>
          </a:p>
          <a:p>
            <a:pPr marL="971550" lvl="1" indent="-514350" algn="l">
              <a:lnSpc>
                <a:spcPct val="150000"/>
              </a:lnSpc>
              <a:buFont typeface="+mj-lt"/>
              <a:buAutoNum type="arabicPeriod"/>
            </a:pPr>
            <a:r>
              <a:rPr lang="en-US" sz="1800" b="1"/>
              <a:t>Schema Design</a:t>
            </a:r>
            <a:endParaRPr lang="en-US" sz="1800" b="1" dirty="0"/>
          </a:p>
          <a:p>
            <a:pPr lvl="1" algn="l">
              <a:lnSpc>
                <a:spcPct val="150000"/>
              </a:lnSpc>
            </a:pPr>
            <a:endParaRPr lang="en-US" sz="1800" b="1" dirty="0"/>
          </a:p>
          <a:p>
            <a:pPr marL="971550" lvl="1" indent="-514350" algn="l">
              <a:lnSpc>
                <a:spcPct val="150000"/>
              </a:lnSpc>
              <a:buFont typeface="+mj-lt"/>
              <a:buAutoNum type="arabicPeriod"/>
            </a:pPr>
            <a:endParaRPr lang="en-US" sz="2400" b="1" dirty="0"/>
          </a:p>
          <a:p>
            <a:pPr marL="514350" indent="-514350" algn="l"/>
            <a:endParaRPr lang="en-US" sz="2400" b="1" dirty="0"/>
          </a:p>
          <a:p>
            <a:pPr marL="514350" indent="-514350"/>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7200" y="2209800"/>
            <a:ext cx="8305800" cy="2736775"/>
          </a:xfrm>
          <a:prstGeom prst="rect">
            <a:avLst/>
          </a:prstGeom>
          <a:noFill/>
        </p:spPr>
        <p:txBody>
          <a:bodyPr wrap="square" rtlCol="0">
            <a:spAutoFit/>
          </a:bodyPr>
          <a:lstStyle/>
          <a:p>
            <a:pPr algn="ctr">
              <a:lnSpc>
                <a:spcPct val="150000"/>
              </a:lnSpc>
            </a:pPr>
            <a:r>
              <a:rPr lang="en-US" sz="4000" b="1" dirty="0">
                <a:latin typeface="Tahoma" pitchFamily="34" charset="0"/>
                <a:ea typeface="Tahoma" pitchFamily="34" charset="0"/>
                <a:cs typeface="Tahoma" pitchFamily="34" charset="0"/>
              </a:rPr>
              <a:t>Four  Informal Design Guidelines for Relational Schemas </a:t>
            </a: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04800" y="533400"/>
            <a:ext cx="8610600" cy="5791200"/>
          </a:xfrm>
          <a:noFill/>
        </p:spPr>
        <p:txBody>
          <a:bodyPr lIns="90488" tIns="44450" rIns="90488" bIns="44450"/>
          <a:lstStyle/>
          <a:p>
            <a:endParaRPr lang="en-US" sz="2400" b="1" dirty="0"/>
          </a:p>
          <a:p>
            <a:pPr>
              <a:buNone/>
            </a:pPr>
            <a:r>
              <a:rPr lang="en-US" sz="2000" b="1" dirty="0">
                <a:latin typeface="Tahoma" pitchFamily="34" charset="0"/>
                <a:ea typeface="Tahoma" pitchFamily="34" charset="0"/>
                <a:cs typeface="Tahoma" pitchFamily="34" charset="0"/>
              </a:rPr>
              <a:t>Four Informal Design Guidelines for Relation Schemas  are :</a:t>
            </a:r>
          </a:p>
          <a:p>
            <a:pPr>
              <a:buNone/>
            </a:pPr>
            <a:endParaRPr lang="en-US" sz="1800" b="1" dirty="0">
              <a:latin typeface="Tahoma" pitchFamily="34" charset="0"/>
              <a:ea typeface="Tahoma" pitchFamily="34" charset="0"/>
              <a:cs typeface="Tahoma" pitchFamily="34" charset="0"/>
            </a:endParaRPr>
          </a:p>
          <a:p>
            <a:pPr lvl="2">
              <a:lnSpc>
                <a:spcPct val="150000"/>
              </a:lnSpc>
              <a:buFont typeface="+mj-lt"/>
              <a:buAutoNum type="arabicPeriod"/>
            </a:pPr>
            <a:r>
              <a:rPr lang="en-US" sz="2000" b="1" dirty="0">
                <a:solidFill>
                  <a:srgbClr val="002060"/>
                </a:solidFill>
                <a:latin typeface="Tahoma" pitchFamily="34" charset="0"/>
                <a:ea typeface="Tahoma" pitchFamily="34" charset="0"/>
                <a:cs typeface="Tahoma" pitchFamily="34" charset="0"/>
              </a:rPr>
              <a:t>Semantics of the attributes</a:t>
            </a:r>
          </a:p>
          <a:p>
            <a:pPr lvl="2">
              <a:lnSpc>
                <a:spcPct val="150000"/>
              </a:lnSpc>
              <a:buFont typeface="+mj-lt"/>
              <a:buAutoNum type="arabicPeriod"/>
            </a:pPr>
            <a:r>
              <a:rPr lang="en-US" sz="2000" b="1" dirty="0">
                <a:solidFill>
                  <a:srgbClr val="002060"/>
                </a:solidFill>
                <a:latin typeface="Tahoma" pitchFamily="34" charset="0"/>
                <a:ea typeface="Tahoma" pitchFamily="34" charset="0"/>
                <a:cs typeface="Tahoma" pitchFamily="34" charset="0"/>
              </a:rPr>
              <a:t>Reducing the redundant values in tuples</a:t>
            </a:r>
          </a:p>
          <a:p>
            <a:pPr lvl="2">
              <a:lnSpc>
                <a:spcPct val="150000"/>
              </a:lnSpc>
              <a:buFont typeface="+mj-lt"/>
              <a:buAutoNum type="arabicPeriod"/>
            </a:pPr>
            <a:r>
              <a:rPr lang="en-US" sz="2000" b="1" dirty="0">
                <a:solidFill>
                  <a:srgbClr val="002060"/>
                </a:solidFill>
                <a:latin typeface="Tahoma" pitchFamily="34" charset="0"/>
                <a:ea typeface="Tahoma" pitchFamily="34" charset="0"/>
                <a:cs typeface="Tahoma" pitchFamily="34" charset="0"/>
              </a:rPr>
              <a:t>Reducing the null values in tuples</a:t>
            </a:r>
          </a:p>
          <a:p>
            <a:pPr lvl="2">
              <a:lnSpc>
                <a:spcPct val="150000"/>
              </a:lnSpc>
              <a:buFont typeface="+mj-lt"/>
              <a:buAutoNum type="arabicPeriod"/>
            </a:pPr>
            <a:r>
              <a:rPr lang="en-US" sz="2000" b="1" dirty="0">
                <a:solidFill>
                  <a:srgbClr val="002060"/>
                </a:solidFill>
                <a:latin typeface="Tahoma" pitchFamily="34" charset="0"/>
                <a:ea typeface="Tahoma" pitchFamily="34" charset="0"/>
                <a:cs typeface="Tahoma" pitchFamily="34" charset="0"/>
              </a:rPr>
              <a:t>Disallowing the possibility of generating spurious tuples</a:t>
            </a: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04800" y="1066800"/>
            <a:ext cx="8382000" cy="5257800"/>
          </a:xfrm>
          <a:noFill/>
        </p:spPr>
        <p:txBody>
          <a:bodyPr lIns="90488" tIns="44450" rIns="90488" bIns="44450"/>
          <a:lstStyle/>
          <a:p>
            <a:pPr marL="800100" lvl="1" indent="-342900" algn="just">
              <a:lnSpc>
                <a:spcPct val="150000"/>
              </a:lnSpc>
            </a:pPr>
            <a:r>
              <a:rPr lang="en-US" sz="1800" dirty="0">
                <a:latin typeface="Tahoma" pitchFamily="34" charset="0"/>
                <a:ea typeface="Tahoma" pitchFamily="34" charset="0"/>
                <a:cs typeface="Tahoma" pitchFamily="34" charset="0"/>
              </a:rPr>
              <a:t>When we form a relation schema, the attributes belonging to that relation should  have certain real-world meaning and a proper interpretation.</a:t>
            </a:r>
          </a:p>
          <a:p>
            <a:pPr marL="800100" lvl="1" indent="-342900" algn="just">
              <a:lnSpc>
                <a:spcPct val="150000"/>
              </a:lnSpc>
              <a:buNone/>
            </a:pPr>
            <a:endParaRPr lang="en-US" sz="1800" dirty="0">
              <a:latin typeface="Tahoma" pitchFamily="34" charset="0"/>
              <a:ea typeface="Tahoma" pitchFamily="34" charset="0"/>
              <a:cs typeface="Tahoma" pitchFamily="34" charset="0"/>
            </a:endParaRPr>
          </a:p>
          <a:p>
            <a:pPr marL="800100" lvl="1" indent="-342900" algn="just">
              <a:lnSpc>
                <a:spcPct val="150000"/>
              </a:lnSpc>
            </a:pPr>
            <a:r>
              <a:rPr lang="en-US" sz="1800" dirty="0">
                <a:latin typeface="Tahoma" pitchFamily="34" charset="0"/>
                <a:ea typeface="Tahoma" pitchFamily="34" charset="0"/>
                <a:cs typeface="Tahoma" pitchFamily="34" charset="0"/>
              </a:rPr>
              <a:t>If the conceptual design is done carefully followed by a systematic mapping into relations , t</a:t>
            </a:r>
            <a:r>
              <a:rPr lang="en-US" sz="2000" dirty="0">
                <a:latin typeface="Tahoma" pitchFamily="34" charset="0"/>
                <a:ea typeface="Tahoma" pitchFamily="34" charset="0"/>
                <a:cs typeface="Tahoma" pitchFamily="34" charset="0"/>
              </a:rPr>
              <a:t>he resulting design should have a clear meaning.</a:t>
            </a:r>
          </a:p>
          <a:p>
            <a:pPr marL="800100" lvl="1" indent="-342900" algn="just">
              <a:lnSpc>
                <a:spcPct val="150000"/>
              </a:lnSpc>
              <a:buNone/>
            </a:pPr>
            <a:endParaRPr lang="en-US" dirty="0">
              <a:latin typeface="Tahoma" pitchFamily="34" charset="0"/>
              <a:ea typeface="Tahoma" pitchFamily="34" charset="0"/>
              <a:cs typeface="Tahoma" pitchFamily="34" charset="0"/>
            </a:endParaRPr>
          </a:p>
          <a:p>
            <a:pPr marL="800100" lvl="1" indent="-342900">
              <a:lnSpc>
                <a:spcPct val="200000"/>
              </a:lnSpc>
            </a:pPr>
            <a:r>
              <a:rPr lang="en-US" sz="1800" dirty="0">
                <a:latin typeface="Tahoma" pitchFamily="34" charset="0"/>
                <a:ea typeface="Tahoma" pitchFamily="34" charset="0"/>
                <a:cs typeface="Tahoma" pitchFamily="34" charset="0"/>
              </a:rPr>
              <a:t>In general, the easier it is to explain the semantics of the relation, the better the relation schema design will be.</a:t>
            </a:r>
          </a:p>
          <a:p>
            <a:pPr>
              <a:buNone/>
            </a:pPr>
            <a:endParaRPr lang="en-US" sz="1800" b="1" dirty="0">
              <a:latin typeface="Tahoma" pitchFamily="34" charset="0"/>
              <a:ea typeface="Tahoma" pitchFamily="34" charset="0"/>
              <a:cs typeface="Tahoma" pitchFamily="34" charset="0"/>
            </a:endParaRPr>
          </a:p>
        </p:txBody>
      </p:sp>
      <p:sp>
        <p:nvSpPr>
          <p:cNvPr id="4" name="Rectangle 3"/>
          <p:cNvSpPr/>
          <p:nvPr/>
        </p:nvSpPr>
        <p:spPr>
          <a:xfrm>
            <a:off x="152400" y="228600"/>
            <a:ext cx="5660524" cy="738664"/>
          </a:xfrm>
          <a:prstGeom prst="rect">
            <a:avLst/>
          </a:prstGeom>
        </p:spPr>
        <p:txBody>
          <a:bodyPr wrap="none">
            <a:spAutoFit/>
          </a:bodyPr>
          <a:lstStyle/>
          <a:p>
            <a:pPr marL="457200" indent="-457200">
              <a:lnSpc>
                <a:spcPct val="150000"/>
              </a:lnSpc>
              <a:buFont typeface="+mj-lt"/>
              <a:buAutoNum type="arabicPeriod"/>
            </a:pPr>
            <a:r>
              <a:rPr lang="en-US" sz="2800" b="1" dirty="0">
                <a:solidFill>
                  <a:srgbClr val="002060"/>
                </a:solidFill>
                <a:latin typeface="Tahoma" pitchFamily="34" charset="0"/>
                <a:ea typeface="Tahoma" pitchFamily="34" charset="0"/>
                <a:cs typeface="Tahoma" pitchFamily="34" charset="0"/>
              </a:rPr>
              <a:t>Semantics of the attributes </a:t>
            </a: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457200" y="762000"/>
            <a:ext cx="8229600" cy="990600"/>
          </a:xfrm>
          <a:noFill/>
        </p:spPr>
        <p:txBody>
          <a:bodyPr lIns="90488" tIns="44450" rIns="90488" bIns="44450"/>
          <a:lstStyle/>
          <a:p>
            <a:pPr>
              <a:lnSpc>
                <a:spcPct val="150000"/>
              </a:lnSpc>
            </a:pPr>
            <a:r>
              <a:rPr lang="en-US" sz="1800" dirty="0">
                <a:latin typeface="Tahoma" pitchFamily="34" charset="0"/>
                <a:ea typeface="Tahoma" pitchFamily="34" charset="0"/>
                <a:cs typeface="Tahoma" pitchFamily="34" charset="0"/>
              </a:rPr>
              <a:t>To illustrate this, consider , a simplified version of the COMPANY relational database schema</a:t>
            </a:r>
            <a:endParaRPr lang="en-US" sz="1600" b="1" dirty="0">
              <a:latin typeface="Tahoma" pitchFamily="34" charset="0"/>
              <a:ea typeface="Tahoma" pitchFamily="34" charset="0"/>
              <a:cs typeface="Tahoma" pitchFamily="34" charset="0"/>
            </a:endParaRPr>
          </a:p>
        </p:txBody>
      </p:sp>
      <p:sp>
        <p:nvSpPr>
          <p:cNvPr id="5" name="Rectangle 4"/>
          <p:cNvSpPr/>
          <p:nvPr/>
        </p:nvSpPr>
        <p:spPr>
          <a:xfrm>
            <a:off x="0" y="0"/>
            <a:ext cx="4943982" cy="570990"/>
          </a:xfrm>
          <a:prstGeom prst="rect">
            <a:avLst/>
          </a:prstGeom>
        </p:spPr>
        <p:txBody>
          <a:bodyPr wrap="none">
            <a:spAutoFit/>
          </a:bodyPr>
          <a:lstStyle/>
          <a:p>
            <a:pPr marL="457200" indent="-457200">
              <a:lnSpc>
                <a:spcPct val="150000"/>
              </a:lnSpc>
              <a:buFont typeface="+mj-lt"/>
              <a:buAutoNum type="arabicPeriod"/>
            </a:pPr>
            <a:r>
              <a:rPr lang="en-US" sz="2400" b="1" dirty="0">
                <a:solidFill>
                  <a:srgbClr val="002060"/>
                </a:solidFill>
                <a:latin typeface="Tahoma" pitchFamily="34" charset="0"/>
                <a:ea typeface="Tahoma" pitchFamily="34" charset="0"/>
                <a:cs typeface="Tahoma" pitchFamily="34" charset="0"/>
              </a:rPr>
              <a:t>Semantics of the attributes </a:t>
            </a:r>
          </a:p>
        </p:txBody>
      </p:sp>
      <p:pic>
        <p:nvPicPr>
          <p:cNvPr id="1026" name="Picture 2"/>
          <p:cNvPicPr>
            <a:picLocks noChangeAspect="1" noChangeArrowheads="1"/>
          </p:cNvPicPr>
          <p:nvPr/>
        </p:nvPicPr>
        <p:blipFill>
          <a:blip r:embed="rId3" cstate="print"/>
          <a:srcRect/>
          <a:stretch>
            <a:fillRect/>
          </a:stretch>
        </p:blipFill>
        <p:spPr bwMode="auto">
          <a:xfrm>
            <a:off x="457200" y="1752600"/>
            <a:ext cx="6248400" cy="4809058"/>
          </a:xfrm>
          <a:prstGeom prst="rect">
            <a:avLst/>
          </a:prstGeom>
          <a:noFill/>
          <a:ln w="9525">
            <a:noFill/>
            <a:miter lim="800000"/>
            <a:headEnd/>
            <a:tailEnd/>
          </a:ln>
        </p:spPr>
      </p:pic>
      <p:sp>
        <p:nvSpPr>
          <p:cNvPr id="7" name="Rectangle 6"/>
          <p:cNvSpPr/>
          <p:nvPr/>
        </p:nvSpPr>
        <p:spPr>
          <a:xfrm>
            <a:off x="4267200" y="3276600"/>
            <a:ext cx="4572000" cy="1107996"/>
          </a:xfrm>
          <a:prstGeom prst="rect">
            <a:avLst/>
          </a:prstGeom>
          <a:ln>
            <a:solidFill>
              <a:schemeClr val="accent1"/>
            </a:solidFill>
          </a:ln>
        </p:spPr>
        <p:txBody>
          <a:bodyPr wrap="square">
            <a:spAutoFit/>
          </a:bodyPr>
          <a:lstStyle/>
          <a:p>
            <a:pPr algn="just">
              <a:lnSpc>
                <a:spcPct val="150000"/>
              </a:lnSpc>
            </a:pPr>
            <a:r>
              <a:rPr lang="en-US" sz="1400" b="1" dirty="0">
                <a:solidFill>
                  <a:srgbClr val="0070C0"/>
                </a:solidFill>
                <a:latin typeface="Tahoma" pitchFamily="34" charset="0"/>
                <a:ea typeface="Tahoma" pitchFamily="34" charset="0"/>
                <a:cs typeface="Tahoma" pitchFamily="34" charset="0"/>
              </a:rPr>
              <a:t>All the relation schemas here may be considered as easy to explain and hence good from the standpoint of having clear semantics</a:t>
            </a:r>
            <a:r>
              <a:rPr lang="en-US" sz="1600" b="1" dirty="0">
                <a:solidFill>
                  <a:srgbClr val="0070C0"/>
                </a:solidFill>
                <a:latin typeface="Tahoma" pitchFamily="34" charset="0"/>
                <a:ea typeface="Tahoma" pitchFamily="34" charset="0"/>
                <a:cs typeface="Tahoma" pitchFamily="34" charset="0"/>
              </a:rPr>
              <a:t>.</a:t>
            </a: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228600" y="1524000"/>
            <a:ext cx="8382000" cy="609600"/>
          </a:xfrm>
          <a:noFill/>
        </p:spPr>
        <p:txBody>
          <a:bodyPr lIns="90488" tIns="44450" rIns="90488" bIns="44450"/>
          <a:lstStyle/>
          <a:p>
            <a:pPr>
              <a:lnSpc>
                <a:spcPct val="150000"/>
              </a:lnSpc>
              <a:buNone/>
            </a:pPr>
            <a:r>
              <a:rPr lang="en-US" sz="1800" b="1" dirty="0">
                <a:latin typeface="Tahoma" pitchFamily="34" charset="0"/>
                <a:ea typeface="Tahoma" pitchFamily="34" charset="0"/>
                <a:cs typeface="Tahoma" pitchFamily="34" charset="0"/>
              </a:rPr>
              <a:t>We can thus formulate the following informal design guideline.</a:t>
            </a:r>
          </a:p>
          <a:p>
            <a:pPr algn="just">
              <a:lnSpc>
                <a:spcPct val="200000"/>
              </a:lnSpc>
              <a:buNone/>
            </a:pPr>
            <a:r>
              <a:rPr lang="en-US" sz="1800" b="1" dirty="0">
                <a:latin typeface="Tahoma" pitchFamily="34" charset="0"/>
                <a:ea typeface="Tahoma" pitchFamily="34" charset="0"/>
                <a:cs typeface="Tahoma" pitchFamily="34" charset="0"/>
              </a:rPr>
              <a:t>    </a:t>
            </a:r>
            <a:endParaRPr lang="en-US" sz="1800" b="1" dirty="0">
              <a:solidFill>
                <a:srgbClr val="C00000"/>
              </a:solidFill>
              <a:latin typeface="Tahoma" pitchFamily="34" charset="0"/>
              <a:ea typeface="Tahoma" pitchFamily="34" charset="0"/>
              <a:cs typeface="Tahoma" pitchFamily="34" charset="0"/>
            </a:endParaRPr>
          </a:p>
        </p:txBody>
      </p:sp>
      <p:sp>
        <p:nvSpPr>
          <p:cNvPr id="4" name="Rectangle 3"/>
          <p:cNvSpPr/>
          <p:nvPr/>
        </p:nvSpPr>
        <p:spPr>
          <a:xfrm>
            <a:off x="0" y="0"/>
            <a:ext cx="4943982" cy="570990"/>
          </a:xfrm>
          <a:prstGeom prst="rect">
            <a:avLst/>
          </a:prstGeom>
        </p:spPr>
        <p:txBody>
          <a:bodyPr wrap="none">
            <a:spAutoFit/>
          </a:bodyPr>
          <a:lstStyle/>
          <a:p>
            <a:pPr marL="457200" indent="-457200">
              <a:lnSpc>
                <a:spcPct val="150000"/>
              </a:lnSpc>
              <a:buFont typeface="+mj-lt"/>
              <a:buAutoNum type="arabicPeriod"/>
            </a:pPr>
            <a:r>
              <a:rPr lang="en-US" sz="2400" b="1" dirty="0">
                <a:solidFill>
                  <a:srgbClr val="002060"/>
                </a:solidFill>
                <a:latin typeface="Tahoma" pitchFamily="34" charset="0"/>
                <a:ea typeface="Tahoma" pitchFamily="34" charset="0"/>
                <a:cs typeface="Tahoma" pitchFamily="34" charset="0"/>
              </a:rPr>
              <a:t>Semantics of the attributes </a:t>
            </a:r>
          </a:p>
        </p:txBody>
      </p:sp>
      <p:sp>
        <p:nvSpPr>
          <p:cNvPr id="5" name="Rectangle 4"/>
          <p:cNvSpPr/>
          <p:nvPr/>
        </p:nvSpPr>
        <p:spPr>
          <a:xfrm>
            <a:off x="381000" y="2514600"/>
            <a:ext cx="8229600" cy="1800493"/>
          </a:xfrm>
          <a:prstGeom prst="rect">
            <a:avLst/>
          </a:prstGeom>
          <a:solidFill>
            <a:schemeClr val="accent6">
              <a:lumMod val="20000"/>
              <a:lumOff val="80000"/>
            </a:schemeClr>
          </a:solidFill>
          <a:ln>
            <a:solidFill>
              <a:schemeClr val="accent1"/>
            </a:solidFill>
          </a:ln>
        </p:spPr>
        <p:txBody>
          <a:bodyPr wrap="square">
            <a:spAutoFit/>
          </a:bodyPr>
          <a:lstStyle/>
          <a:p>
            <a:pPr>
              <a:lnSpc>
                <a:spcPct val="150000"/>
              </a:lnSpc>
            </a:pPr>
            <a:r>
              <a:rPr lang="en-US" sz="2000" b="1" dirty="0">
                <a:solidFill>
                  <a:srgbClr val="002060"/>
                </a:solidFill>
                <a:latin typeface="Tahoma" pitchFamily="34" charset="0"/>
                <a:ea typeface="Tahoma" pitchFamily="34" charset="0"/>
                <a:cs typeface="Tahoma" pitchFamily="34" charset="0"/>
              </a:rPr>
              <a:t>GUIDELINE 1:  </a:t>
            </a:r>
          </a:p>
          <a:p>
            <a:pPr algn="just">
              <a:lnSpc>
                <a:spcPct val="150000"/>
              </a:lnSpc>
            </a:pPr>
            <a:r>
              <a:rPr lang="en-US" b="1" dirty="0">
                <a:latin typeface="Tahoma" pitchFamily="34" charset="0"/>
                <a:ea typeface="Tahoma" pitchFamily="34" charset="0"/>
                <a:cs typeface="Tahoma" pitchFamily="34" charset="0"/>
              </a:rPr>
              <a:t>Design a relation schema so that it is easy to explain its meaning. Do not combine attributes from multiple entity types and relationship types into a single relation.</a:t>
            </a:r>
            <a:endParaRPr lang="en-IN" b="1" dirty="0"/>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381000" y="685800"/>
            <a:ext cx="8229600" cy="457200"/>
          </a:xfrm>
          <a:noFill/>
        </p:spPr>
        <p:txBody>
          <a:bodyPr lIns="90488" tIns="44450" rIns="90488" bIns="44450"/>
          <a:lstStyle/>
          <a:p>
            <a:pPr>
              <a:lnSpc>
                <a:spcPct val="150000"/>
              </a:lnSpc>
              <a:buNone/>
            </a:pPr>
            <a:r>
              <a:rPr lang="en-US" sz="2400" b="1" dirty="0">
                <a:latin typeface="Tahoma" pitchFamily="34" charset="0"/>
                <a:ea typeface="Tahoma" pitchFamily="34" charset="0"/>
                <a:cs typeface="Tahoma" pitchFamily="34" charset="0"/>
              </a:rPr>
              <a:t>An Example poor relational schema designs</a:t>
            </a:r>
            <a:endParaRPr lang="en-US" sz="2400" b="1" dirty="0">
              <a:solidFill>
                <a:srgbClr val="C00000"/>
              </a:solidFill>
              <a:latin typeface="Tahoma" pitchFamily="34" charset="0"/>
              <a:ea typeface="Tahoma" pitchFamily="34" charset="0"/>
              <a:cs typeface="Tahoma" pitchFamily="34" charset="0"/>
            </a:endParaRPr>
          </a:p>
        </p:txBody>
      </p:sp>
      <p:sp>
        <p:nvSpPr>
          <p:cNvPr id="5" name="Rectangle 4"/>
          <p:cNvSpPr/>
          <p:nvPr/>
        </p:nvSpPr>
        <p:spPr>
          <a:xfrm>
            <a:off x="0" y="0"/>
            <a:ext cx="4943982" cy="570990"/>
          </a:xfrm>
          <a:prstGeom prst="rect">
            <a:avLst/>
          </a:prstGeom>
        </p:spPr>
        <p:txBody>
          <a:bodyPr wrap="none">
            <a:spAutoFit/>
          </a:bodyPr>
          <a:lstStyle/>
          <a:p>
            <a:pPr marL="457200" indent="-457200">
              <a:lnSpc>
                <a:spcPct val="150000"/>
              </a:lnSpc>
              <a:buFont typeface="+mj-lt"/>
              <a:buAutoNum type="arabicPeriod"/>
            </a:pPr>
            <a:r>
              <a:rPr lang="en-US" sz="2400" b="1" dirty="0">
                <a:solidFill>
                  <a:srgbClr val="002060"/>
                </a:solidFill>
                <a:latin typeface="Tahoma" pitchFamily="34" charset="0"/>
                <a:ea typeface="Tahoma" pitchFamily="34" charset="0"/>
                <a:cs typeface="Tahoma" pitchFamily="34" charset="0"/>
              </a:rPr>
              <a:t>Semantics of the attributes </a:t>
            </a:r>
          </a:p>
        </p:txBody>
      </p:sp>
      <p:pic>
        <p:nvPicPr>
          <p:cNvPr id="2050" name="Picture 2"/>
          <p:cNvPicPr>
            <a:picLocks noChangeAspect="1" noChangeArrowheads="1"/>
          </p:cNvPicPr>
          <p:nvPr/>
        </p:nvPicPr>
        <p:blipFill>
          <a:blip r:embed="rId3" cstate="print"/>
          <a:srcRect/>
          <a:stretch>
            <a:fillRect/>
          </a:stretch>
        </p:blipFill>
        <p:spPr bwMode="auto">
          <a:xfrm>
            <a:off x="381000" y="1371600"/>
            <a:ext cx="8559801" cy="838200"/>
          </a:xfrm>
          <a:prstGeom prst="rect">
            <a:avLst/>
          </a:prstGeom>
          <a:noFill/>
          <a:ln w="9525">
            <a:noFill/>
            <a:miter lim="800000"/>
            <a:headEnd/>
            <a:tailEnd/>
          </a:ln>
        </p:spPr>
      </p:pic>
      <p:pic>
        <p:nvPicPr>
          <p:cNvPr id="2051" name="Picture 3"/>
          <p:cNvPicPr>
            <a:picLocks noChangeAspect="1" noChangeArrowheads="1"/>
          </p:cNvPicPr>
          <p:nvPr/>
        </p:nvPicPr>
        <p:blipFill>
          <a:blip r:embed="rId4" cstate="print"/>
          <a:srcRect/>
          <a:stretch>
            <a:fillRect/>
          </a:stretch>
        </p:blipFill>
        <p:spPr bwMode="auto">
          <a:xfrm>
            <a:off x="304800" y="2362200"/>
            <a:ext cx="7910444" cy="990600"/>
          </a:xfrm>
          <a:prstGeom prst="rect">
            <a:avLst/>
          </a:prstGeom>
          <a:noFill/>
          <a:ln w="9525">
            <a:noFill/>
            <a:miter lim="800000"/>
            <a:headEnd/>
            <a:tailEnd/>
          </a:ln>
        </p:spPr>
      </p:pic>
      <p:sp>
        <p:nvSpPr>
          <p:cNvPr id="8" name="TextBox 7"/>
          <p:cNvSpPr txBox="1"/>
          <p:nvPr/>
        </p:nvSpPr>
        <p:spPr>
          <a:xfrm>
            <a:off x="609600" y="4038600"/>
            <a:ext cx="8305800" cy="2031325"/>
          </a:xfrm>
          <a:prstGeom prst="rect">
            <a:avLst/>
          </a:prstGeom>
          <a:noFill/>
        </p:spPr>
        <p:txBody>
          <a:bodyPr wrap="square" rtlCol="0">
            <a:spAutoFit/>
          </a:bodyPr>
          <a:lstStyle/>
          <a:p>
            <a:pPr marL="342900" indent="-342900" algn="just">
              <a:lnSpc>
                <a:spcPct val="150000"/>
              </a:lnSpc>
              <a:buFont typeface="Arial" pitchFamily="34" charset="0"/>
              <a:buChar char="•"/>
            </a:pPr>
            <a:r>
              <a:rPr lang="en-US" sz="2000" dirty="0"/>
              <a:t> Combining EMPLOYEE and DEPARTMENT into EMP_DEPT</a:t>
            </a:r>
          </a:p>
          <a:p>
            <a:pPr marL="342900" indent="-342900" algn="just">
              <a:lnSpc>
                <a:spcPct val="150000"/>
              </a:lnSpc>
              <a:buFont typeface="Arial" pitchFamily="34" charset="0"/>
              <a:buChar char="•"/>
            </a:pPr>
            <a:r>
              <a:rPr lang="en-US" sz="2000" dirty="0"/>
              <a:t> Grouping </a:t>
            </a:r>
            <a:r>
              <a:rPr lang="en-IN" sz="2000" dirty="0"/>
              <a:t> attributes from  EMPLOYEE,  PROJECT and WORK_ON into EMP_PROJ</a:t>
            </a:r>
          </a:p>
          <a:p>
            <a:pPr marL="342900" indent="-342900" algn="just">
              <a:lnSpc>
                <a:spcPct val="150000"/>
              </a:lnSpc>
            </a:pPr>
            <a:r>
              <a:rPr lang="en-US" sz="2000" dirty="0"/>
              <a:t> </a:t>
            </a:r>
            <a:r>
              <a:rPr lang="en-US" sz="2400" dirty="0">
                <a:solidFill>
                  <a:srgbClr val="FF0000"/>
                </a:solidFill>
              </a:rPr>
              <a:t>So  the violation of guideline 1</a:t>
            </a:r>
            <a:endParaRPr lang="en-IN" sz="2000" dirty="0">
              <a:solidFill>
                <a:srgbClr val="FF0000"/>
              </a:solidFill>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143000"/>
            <a:ext cx="8001000" cy="4247317"/>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a:t>One goal of schema design is to minimize the storage space that the base relations (files) occupy. </a:t>
            </a:r>
          </a:p>
          <a:p>
            <a:pPr marL="342900" indent="-342900" algn="just">
              <a:lnSpc>
                <a:spcPct val="150000"/>
              </a:lnSpc>
            </a:pPr>
            <a:endParaRPr lang="en-US" dirty="0"/>
          </a:p>
          <a:p>
            <a:pPr marL="342900" indent="-342900" algn="just">
              <a:lnSpc>
                <a:spcPct val="150000"/>
              </a:lnSpc>
              <a:buFont typeface="Arial" pitchFamily="34" charset="0"/>
              <a:buChar char="•"/>
            </a:pPr>
            <a:r>
              <a:rPr lang="en-US" dirty="0"/>
              <a:t>Grouping attributes into relation schemas has a significant effect on storage space. </a:t>
            </a:r>
          </a:p>
          <a:p>
            <a:pPr marL="800100" lvl="1" indent="-342900" algn="just">
              <a:lnSpc>
                <a:spcPct val="150000"/>
              </a:lnSpc>
            </a:pPr>
            <a:endParaRPr lang="en-US" b="1" dirty="0">
              <a:latin typeface="Tahoma" pitchFamily="34" charset="0"/>
              <a:ea typeface="Tahoma" pitchFamily="34" charset="0"/>
              <a:cs typeface="Tahoma" pitchFamily="34" charset="0"/>
            </a:endParaRPr>
          </a:p>
          <a:p>
            <a:pPr marL="342900" indent="-342900" algn="just">
              <a:lnSpc>
                <a:spcPct val="200000"/>
              </a:lnSpc>
            </a:pPr>
            <a:r>
              <a:rPr lang="en-US" b="1" dirty="0">
                <a:latin typeface="Tahoma" pitchFamily="34" charset="0"/>
                <a:ea typeface="Tahoma" pitchFamily="34" charset="0"/>
                <a:cs typeface="Tahoma" pitchFamily="34" charset="0"/>
              </a:rPr>
              <a:t>      Let us </a:t>
            </a:r>
            <a:r>
              <a:rPr lang="en-US" dirty="0">
                <a:latin typeface="Tahoma" pitchFamily="34" charset="0"/>
                <a:ea typeface="Tahoma" pitchFamily="34" charset="0"/>
                <a:cs typeface="Tahoma" pitchFamily="34" charset="0"/>
              </a:rPr>
              <a:t>compare the space used by the two base relations EMPLOYEE and DEPARTMENT with that for an EMP_DEPT base relation in the following database states</a:t>
            </a:r>
          </a:p>
        </p:txBody>
      </p:sp>
      <p:sp>
        <p:nvSpPr>
          <p:cNvPr id="4" name="Rectangle 3"/>
          <p:cNvSpPr/>
          <p:nvPr/>
        </p:nvSpPr>
        <p:spPr>
          <a:xfrm>
            <a:off x="0" y="0"/>
            <a:ext cx="8839200" cy="461665"/>
          </a:xfrm>
          <a:prstGeom prst="rect">
            <a:avLst/>
          </a:prstGeom>
        </p:spPr>
        <p:txBody>
          <a:bodyPr wrap="square">
            <a:spAutoFit/>
          </a:bodyPr>
          <a:lstStyle/>
          <a:p>
            <a:pPr marL="342900" indent="-342900">
              <a:buAutoNum type="arabicPeriod" startAt="2"/>
            </a:pPr>
            <a:r>
              <a:rPr lang="en-US" sz="2400" b="1" dirty="0">
                <a:solidFill>
                  <a:srgbClr val="002060"/>
                </a:solidFill>
              </a:rPr>
              <a:t>Redundant Information in Tuples and Update Anomalies</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a:stretch>
            <a:fillRect/>
          </a:stretch>
        </p:blipFill>
        <p:spPr bwMode="auto">
          <a:xfrm>
            <a:off x="1143000" y="1447800"/>
            <a:ext cx="7239000" cy="2315070"/>
          </a:xfrm>
          <a:prstGeom prst="rect">
            <a:avLst/>
          </a:prstGeom>
          <a:noFill/>
          <a:ln w="9525">
            <a:noFill/>
            <a:miter lim="800000"/>
            <a:headEnd/>
            <a:tailEnd/>
          </a:ln>
          <a:effectLst/>
        </p:spPr>
      </p:pic>
      <p:sp>
        <p:nvSpPr>
          <p:cNvPr id="5" name="TextBox 4"/>
          <p:cNvSpPr txBox="1"/>
          <p:nvPr/>
        </p:nvSpPr>
        <p:spPr>
          <a:xfrm>
            <a:off x="304800" y="1066800"/>
            <a:ext cx="5029200" cy="369332"/>
          </a:xfrm>
          <a:prstGeom prst="rect">
            <a:avLst/>
          </a:prstGeom>
          <a:noFill/>
        </p:spPr>
        <p:txBody>
          <a:bodyPr wrap="square" rtlCol="0">
            <a:spAutoFit/>
          </a:bodyPr>
          <a:lstStyle/>
          <a:p>
            <a:r>
              <a:rPr lang="en-US" dirty="0"/>
              <a:t>A Database state  for EMPLOYEE</a:t>
            </a:r>
          </a:p>
        </p:txBody>
      </p:sp>
      <p:pic>
        <p:nvPicPr>
          <p:cNvPr id="1027" name="Picture 3"/>
          <p:cNvPicPr>
            <a:picLocks noChangeAspect="1" noChangeArrowheads="1"/>
          </p:cNvPicPr>
          <p:nvPr/>
        </p:nvPicPr>
        <p:blipFill>
          <a:blip r:embed="rId4" cstate="print"/>
          <a:srcRect/>
          <a:stretch>
            <a:fillRect/>
          </a:stretch>
        </p:blipFill>
        <p:spPr bwMode="auto">
          <a:xfrm>
            <a:off x="2438400" y="4724400"/>
            <a:ext cx="4078111" cy="1524000"/>
          </a:xfrm>
          <a:prstGeom prst="rect">
            <a:avLst/>
          </a:prstGeom>
          <a:noFill/>
          <a:ln w="9525">
            <a:noFill/>
            <a:miter lim="800000"/>
            <a:headEnd/>
            <a:tailEnd/>
          </a:ln>
          <a:effectLst/>
        </p:spPr>
      </p:pic>
      <p:sp>
        <p:nvSpPr>
          <p:cNvPr id="8" name="TextBox 7"/>
          <p:cNvSpPr txBox="1"/>
          <p:nvPr/>
        </p:nvSpPr>
        <p:spPr>
          <a:xfrm>
            <a:off x="152400" y="4191000"/>
            <a:ext cx="5029200" cy="369332"/>
          </a:xfrm>
          <a:prstGeom prst="rect">
            <a:avLst/>
          </a:prstGeom>
          <a:noFill/>
        </p:spPr>
        <p:txBody>
          <a:bodyPr wrap="square" rtlCol="0">
            <a:spAutoFit/>
          </a:bodyPr>
          <a:lstStyle/>
          <a:p>
            <a:r>
              <a:rPr lang="en-US" dirty="0"/>
              <a:t>A Database state  for DEPARTMENT</a:t>
            </a:r>
          </a:p>
        </p:txBody>
      </p:sp>
      <p:sp>
        <p:nvSpPr>
          <p:cNvPr id="9" name="Rectangle 8"/>
          <p:cNvSpPr/>
          <p:nvPr/>
        </p:nvSpPr>
        <p:spPr>
          <a:xfrm>
            <a:off x="0" y="0"/>
            <a:ext cx="8839200" cy="461665"/>
          </a:xfrm>
          <a:prstGeom prst="rect">
            <a:avLst/>
          </a:prstGeom>
        </p:spPr>
        <p:txBody>
          <a:bodyPr wrap="square">
            <a:spAutoFit/>
          </a:bodyPr>
          <a:lstStyle/>
          <a:p>
            <a:pPr marL="342900" indent="-342900">
              <a:buAutoNum type="arabicPeriod" startAt="2"/>
            </a:pPr>
            <a:r>
              <a:rPr lang="en-US" sz="2400" b="1" dirty="0">
                <a:solidFill>
                  <a:srgbClr val="002060"/>
                </a:solidFill>
              </a:rPr>
              <a:t>Redundant Information in Tuples and Update Anomalies</a:t>
            </a: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57200" y="990600"/>
            <a:ext cx="5410200" cy="400110"/>
          </a:xfrm>
          <a:prstGeom prst="rect">
            <a:avLst/>
          </a:prstGeom>
          <a:noFill/>
        </p:spPr>
        <p:txBody>
          <a:bodyPr wrap="square" rtlCol="0">
            <a:spAutoFit/>
          </a:bodyPr>
          <a:lstStyle/>
          <a:p>
            <a:r>
              <a:rPr lang="en-US" sz="2000" dirty="0"/>
              <a:t>The same  Database state  for EMP_DEPT</a:t>
            </a:r>
          </a:p>
        </p:txBody>
      </p:sp>
      <p:pic>
        <p:nvPicPr>
          <p:cNvPr id="2050" name="Picture 2"/>
          <p:cNvPicPr>
            <a:picLocks noChangeAspect="1" noChangeArrowheads="1"/>
          </p:cNvPicPr>
          <p:nvPr/>
        </p:nvPicPr>
        <p:blipFill>
          <a:blip r:embed="rId3" cstate="print"/>
          <a:srcRect/>
          <a:stretch>
            <a:fillRect/>
          </a:stretch>
        </p:blipFill>
        <p:spPr bwMode="auto">
          <a:xfrm>
            <a:off x="304800" y="1600200"/>
            <a:ext cx="8620795" cy="2362200"/>
          </a:xfrm>
          <a:prstGeom prst="rect">
            <a:avLst/>
          </a:prstGeom>
          <a:noFill/>
          <a:ln w="9525">
            <a:noFill/>
            <a:miter lim="800000"/>
            <a:headEnd/>
            <a:tailEnd/>
          </a:ln>
          <a:effectLst/>
        </p:spPr>
      </p:pic>
      <p:sp>
        <p:nvSpPr>
          <p:cNvPr id="9" name="TextBox 8"/>
          <p:cNvSpPr txBox="1"/>
          <p:nvPr/>
        </p:nvSpPr>
        <p:spPr>
          <a:xfrm>
            <a:off x="304800" y="4572000"/>
            <a:ext cx="8610600" cy="1754326"/>
          </a:xfrm>
          <a:prstGeom prst="rect">
            <a:avLst/>
          </a:prstGeom>
          <a:noFill/>
          <a:ln w="19050">
            <a:solidFill>
              <a:schemeClr val="accent1"/>
            </a:solidFill>
          </a:ln>
        </p:spPr>
        <p:txBody>
          <a:bodyPr wrap="square" rtlCol="0">
            <a:spAutoFit/>
          </a:bodyPr>
          <a:lstStyle/>
          <a:p>
            <a:pPr marL="457200" indent="-457200" algn="just">
              <a:buFont typeface="Arial" pitchFamily="34" charset="0"/>
              <a:buChar char="•"/>
            </a:pPr>
            <a:r>
              <a:rPr lang="en-US" sz="2400" dirty="0">
                <a:latin typeface="Times New Roman"/>
              </a:rPr>
              <a:t>  </a:t>
            </a:r>
            <a:r>
              <a:rPr lang="en-US" sz="2000" dirty="0">
                <a:latin typeface="Times New Roman"/>
              </a:rPr>
              <a:t>In </a:t>
            </a:r>
            <a:r>
              <a:rPr lang="en-US" sz="1100" dirty="0"/>
              <a:t>EMP_DEPT, </a:t>
            </a:r>
            <a:r>
              <a:rPr lang="en-US" sz="2000" dirty="0">
                <a:latin typeface="Times New Roman"/>
              </a:rPr>
              <a:t>the attribute values pertaining to a particular department </a:t>
            </a:r>
            <a:r>
              <a:rPr lang="en-US" sz="1050" dirty="0"/>
              <a:t>(DNUMBER, DNAME, DMGRSSN)  </a:t>
            </a:r>
            <a:r>
              <a:rPr lang="en-US" sz="2000" dirty="0">
                <a:latin typeface="Times New Roman"/>
              </a:rPr>
              <a:t>are repeated for </a:t>
            </a:r>
            <a:r>
              <a:rPr lang="en-US" sz="2000" i="1" dirty="0">
                <a:latin typeface="Times New Roman"/>
              </a:rPr>
              <a:t>every employee who works for that department</a:t>
            </a:r>
            <a:r>
              <a:rPr lang="en-US" sz="2400" i="1" dirty="0">
                <a:latin typeface="Times New Roman"/>
              </a:rPr>
              <a:t>.</a:t>
            </a:r>
          </a:p>
          <a:p>
            <a:pPr marL="457200" indent="-457200" algn="just">
              <a:lnSpc>
                <a:spcPct val="150000"/>
              </a:lnSpc>
              <a:buFont typeface="Arial" pitchFamily="34" charset="0"/>
              <a:buChar char="•"/>
            </a:pPr>
            <a:r>
              <a:rPr lang="en-US" sz="2000" dirty="0">
                <a:latin typeface="Times New Roman"/>
              </a:rPr>
              <a:t>In the </a:t>
            </a:r>
            <a:r>
              <a:rPr lang="en-US" sz="1100" dirty="0"/>
              <a:t>EMPLOYEE</a:t>
            </a:r>
            <a:r>
              <a:rPr lang="en-US" sz="700" dirty="0"/>
              <a:t>  </a:t>
            </a:r>
            <a:r>
              <a:rPr lang="en-US" sz="2000" dirty="0">
                <a:latin typeface="Times New Roman"/>
              </a:rPr>
              <a:t>relation  only the department number </a:t>
            </a:r>
            <a:r>
              <a:rPr lang="en-US" sz="700" dirty="0"/>
              <a:t>(</a:t>
            </a:r>
            <a:r>
              <a:rPr lang="en-US" sz="1200" dirty="0"/>
              <a:t>DNUMBER) </a:t>
            </a:r>
            <a:r>
              <a:rPr lang="en-US" sz="2000" dirty="0">
                <a:latin typeface="Times New Roman"/>
              </a:rPr>
              <a:t>is repeated for each  employee who works in that department.</a:t>
            </a:r>
            <a:endParaRPr lang="en-US" sz="2400" dirty="0"/>
          </a:p>
        </p:txBody>
      </p:sp>
      <p:sp>
        <p:nvSpPr>
          <p:cNvPr id="8" name="Rectangle 7"/>
          <p:cNvSpPr/>
          <p:nvPr/>
        </p:nvSpPr>
        <p:spPr>
          <a:xfrm>
            <a:off x="0" y="0"/>
            <a:ext cx="8839200" cy="461665"/>
          </a:xfrm>
          <a:prstGeom prst="rect">
            <a:avLst/>
          </a:prstGeom>
        </p:spPr>
        <p:txBody>
          <a:bodyPr wrap="square">
            <a:spAutoFit/>
          </a:bodyPr>
          <a:lstStyle/>
          <a:p>
            <a:pPr marL="342900" indent="-342900">
              <a:buAutoNum type="arabicPeriod" startAt="2"/>
            </a:pPr>
            <a:r>
              <a:rPr lang="en-US" sz="2400" b="1" dirty="0">
                <a:solidFill>
                  <a:srgbClr val="002060"/>
                </a:solidFill>
              </a:rPr>
              <a:t>Redundant Information in Tuples and Update Anomalies</a:t>
            </a: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38200" y="1066800"/>
            <a:ext cx="6324600" cy="400110"/>
          </a:xfrm>
          <a:prstGeom prst="rect">
            <a:avLst/>
          </a:prstGeom>
          <a:noFill/>
        </p:spPr>
        <p:txBody>
          <a:bodyPr wrap="square" rtlCol="0">
            <a:spAutoFit/>
          </a:bodyPr>
          <a:lstStyle/>
          <a:p>
            <a:r>
              <a:rPr lang="en-US" sz="2000" dirty="0"/>
              <a:t>A  Database state  for WORKS_ON and PROJECT</a:t>
            </a:r>
          </a:p>
        </p:txBody>
      </p:sp>
      <p:pic>
        <p:nvPicPr>
          <p:cNvPr id="3074" name="Picture 2"/>
          <p:cNvPicPr>
            <a:picLocks noChangeAspect="1" noChangeArrowheads="1"/>
          </p:cNvPicPr>
          <p:nvPr/>
        </p:nvPicPr>
        <p:blipFill>
          <a:blip r:embed="rId3" cstate="print"/>
          <a:srcRect/>
          <a:stretch>
            <a:fillRect/>
          </a:stretch>
        </p:blipFill>
        <p:spPr bwMode="auto">
          <a:xfrm>
            <a:off x="304800" y="1905000"/>
            <a:ext cx="8517671" cy="3886200"/>
          </a:xfrm>
          <a:prstGeom prst="rect">
            <a:avLst/>
          </a:prstGeom>
          <a:noFill/>
          <a:ln w="9525">
            <a:noFill/>
            <a:miter lim="800000"/>
            <a:headEnd/>
            <a:tailEnd/>
          </a:ln>
          <a:effectLst/>
        </p:spPr>
      </p:pic>
      <p:sp>
        <p:nvSpPr>
          <p:cNvPr id="8" name="Rectangle 7"/>
          <p:cNvSpPr/>
          <p:nvPr/>
        </p:nvSpPr>
        <p:spPr>
          <a:xfrm>
            <a:off x="0" y="0"/>
            <a:ext cx="8839200" cy="461665"/>
          </a:xfrm>
          <a:prstGeom prst="rect">
            <a:avLst/>
          </a:prstGeom>
        </p:spPr>
        <p:txBody>
          <a:bodyPr wrap="square">
            <a:spAutoFit/>
          </a:bodyPr>
          <a:lstStyle/>
          <a:p>
            <a:pPr marL="342900" indent="-342900">
              <a:buAutoNum type="arabicPeriod" startAt="2"/>
            </a:pPr>
            <a:r>
              <a:rPr lang="en-US" sz="2400" b="1" dirty="0">
                <a:solidFill>
                  <a:srgbClr val="002060"/>
                </a:solidFill>
              </a:rPr>
              <a:t>Redundant Information in Tuples and Update Anomalies</a:t>
            </a: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914400"/>
            <a:ext cx="6324600" cy="461665"/>
          </a:xfrm>
          <a:prstGeom prst="rect">
            <a:avLst/>
          </a:prstGeom>
          <a:noFill/>
        </p:spPr>
        <p:txBody>
          <a:bodyPr wrap="square" rtlCol="0">
            <a:spAutoFit/>
          </a:bodyPr>
          <a:lstStyle/>
          <a:p>
            <a:r>
              <a:rPr lang="en-US" sz="2400" dirty="0"/>
              <a:t>The same  Database state  for EMP_PROJ</a:t>
            </a:r>
          </a:p>
        </p:txBody>
      </p:sp>
      <p:pic>
        <p:nvPicPr>
          <p:cNvPr id="4098" name="Picture 2"/>
          <p:cNvPicPr>
            <a:picLocks noChangeAspect="1" noChangeArrowheads="1"/>
          </p:cNvPicPr>
          <p:nvPr/>
        </p:nvPicPr>
        <p:blipFill>
          <a:blip r:embed="rId3" cstate="print"/>
          <a:srcRect/>
          <a:stretch>
            <a:fillRect/>
          </a:stretch>
        </p:blipFill>
        <p:spPr bwMode="auto">
          <a:xfrm>
            <a:off x="762000" y="1600200"/>
            <a:ext cx="7162800" cy="3635921"/>
          </a:xfrm>
          <a:prstGeom prst="rect">
            <a:avLst/>
          </a:prstGeom>
          <a:noFill/>
          <a:ln w="9525">
            <a:noFill/>
            <a:miter lim="800000"/>
            <a:headEnd/>
            <a:tailEnd/>
          </a:ln>
          <a:effectLst/>
        </p:spPr>
      </p:pic>
      <p:sp>
        <p:nvSpPr>
          <p:cNvPr id="8" name="TextBox 7"/>
          <p:cNvSpPr txBox="1"/>
          <p:nvPr/>
        </p:nvSpPr>
        <p:spPr>
          <a:xfrm>
            <a:off x="457200" y="5562600"/>
            <a:ext cx="8382000" cy="780791"/>
          </a:xfrm>
          <a:prstGeom prst="rect">
            <a:avLst/>
          </a:prstGeom>
          <a:noFill/>
          <a:ln w="19050">
            <a:solidFill>
              <a:schemeClr val="accent1"/>
            </a:solidFill>
          </a:ln>
        </p:spPr>
        <p:txBody>
          <a:bodyPr wrap="square" rtlCol="0">
            <a:spAutoFit/>
          </a:bodyPr>
          <a:lstStyle/>
          <a:p>
            <a:pPr algn="just">
              <a:lnSpc>
                <a:spcPct val="150000"/>
              </a:lnSpc>
            </a:pPr>
            <a:r>
              <a:rPr lang="en-US" sz="1600" dirty="0">
                <a:latin typeface="Tahoma" pitchFamily="34" charset="0"/>
                <a:ea typeface="Tahoma" pitchFamily="34" charset="0"/>
                <a:cs typeface="Tahoma" pitchFamily="34" charset="0"/>
              </a:rPr>
              <a:t>Similar comments apply to the EMP_PRO] relation which augments the WORKS_ON relation with additional attributes from EMPLOYEE and PRO]ECT.</a:t>
            </a:r>
          </a:p>
        </p:txBody>
      </p:sp>
      <p:sp>
        <p:nvSpPr>
          <p:cNvPr id="9" name="Rectangle 8"/>
          <p:cNvSpPr/>
          <p:nvPr/>
        </p:nvSpPr>
        <p:spPr>
          <a:xfrm>
            <a:off x="0" y="0"/>
            <a:ext cx="8839200" cy="461665"/>
          </a:xfrm>
          <a:prstGeom prst="rect">
            <a:avLst/>
          </a:prstGeom>
        </p:spPr>
        <p:txBody>
          <a:bodyPr wrap="square">
            <a:spAutoFit/>
          </a:bodyPr>
          <a:lstStyle/>
          <a:p>
            <a:pPr marL="342900" indent="-342900">
              <a:buAutoNum type="arabicPeriod" startAt="2"/>
            </a:pPr>
            <a:r>
              <a:rPr lang="en-US" sz="2400" b="1" dirty="0">
                <a:solidFill>
                  <a:srgbClr val="002060"/>
                </a:solidFill>
              </a:rPr>
              <a:t>Redundant Information in Tuples and Update Anomalies</a:t>
            </a: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762000"/>
            <a:ext cx="8686800" cy="4488408"/>
          </a:xfrm>
          <a:prstGeom prst="rect">
            <a:avLst/>
          </a:prstGeom>
          <a:noFill/>
        </p:spPr>
        <p:txBody>
          <a:bodyPr wrap="square" rtlCol="0">
            <a:spAutoFit/>
          </a:bodyPr>
          <a:lstStyle/>
          <a:p>
            <a:pPr>
              <a:lnSpc>
                <a:spcPct val="150000"/>
              </a:lnSpc>
            </a:pPr>
            <a:r>
              <a:rPr lang="en-US" sz="2400" dirty="0">
                <a:solidFill>
                  <a:srgbClr val="C00000"/>
                </a:solidFill>
              </a:rPr>
              <a:t>Another serious problem with EMP_DEPT and  EMP_PROJ is </a:t>
            </a:r>
            <a:r>
              <a:rPr lang="en-US" sz="2800" b="1" dirty="0">
                <a:solidFill>
                  <a:srgbClr val="C00000"/>
                </a:solidFill>
              </a:rPr>
              <a:t>update anomalies </a:t>
            </a:r>
            <a:endParaRPr lang="en-US" sz="2400" b="1" dirty="0">
              <a:solidFill>
                <a:srgbClr val="C00000"/>
              </a:solidFill>
            </a:endParaRPr>
          </a:p>
          <a:p>
            <a:endParaRPr lang="en-US" b="1" dirty="0">
              <a:solidFill>
                <a:srgbClr val="C00000"/>
              </a:solidFill>
            </a:endParaRPr>
          </a:p>
          <a:p>
            <a:r>
              <a:rPr lang="en-US" sz="2000" b="1" dirty="0">
                <a:latin typeface="Tahoma" pitchFamily="34" charset="0"/>
                <a:ea typeface="Tahoma" pitchFamily="34" charset="0"/>
                <a:cs typeface="Tahoma" pitchFamily="34" charset="0"/>
              </a:rPr>
              <a:t>These can be classified into </a:t>
            </a:r>
          </a:p>
          <a:p>
            <a:pPr marL="1257300" lvl="2" indent="-342900">
              <a:lnSpc>
                <a:spcPct val="150000"/>
              </a:lnSpc>
              <a:buFont typeface="+mj-lt"/>
              <a:buAutoNum type="arabicPeriod"/>
            </a:pPr>
            <a:r>
              <a:rPr lang="en-US" dirty="0">
                <a:latin typeface="Tahoma" pitchFamily="34" charset="0"/>
                <a:ea typeface="Tahoma" pitchFamily="34" charset="0"/>
                <a:cs typeface="Tahoma" pitchFamily="34" charset="0"/>
              </a:rPr>
              <a:t>insertion anomalies </a:t>
            </a:r>
            <a:r>
              <a:rPr lang="en-US" dirty="0">
                <a:latin typeface="Tahoma" pitchFamily="34" charset="0"/>
                <a:ea typeface="Tahoma" pitchFamily="34" charset="0"/>
                <a:cs typeface="Tahoma" pitchFamily="34" charset="0"/>
                <a:sym typeface="Wingdings" pitchFamily="2" charset="2"/>
              </a:rPr>
              <a:t>2 types </a:t>
            </a:r>
          </a:p>
          <a:p>
            <a:pPr marL="2667000" lvl="5" indent="-381000" algn="just">
              <a:lnSpc>
                <a:spcPct val="150000"/>
              </a:lnSpc>
              <a:spcBef>
                <a:spcPts val="500"/>
              </a:spcBef>
              <a:spcAft>
                <a:spcPts val="500"/>
              </a:spcAft>
              <a:buFont typeface="+mj-lt"/>
              <a:buAutoNum type="arabicPeriod"/>
            </a:pPr>
            <a:r>
              <a:rPr lang="en-US" dirty="0"/>
              <a:t>consistency problem</a:t>
            </a:r>
          </a:p>
          <a:p>
            <a:pPr marL="2667000" lvl="5" indent="-381000" algn="just">
              <a:lnSpc>
                <a:spcPct val="150000"/>
              </a:lnSpc>
              <a:spcBef>
                <a:spcPts val="500"/>
              </a:spcBef>
              <a:spcAft>
                <a:spcPts val="500"/>
              </a:spcAft>
              <a:buFont typeface="+mj-lt"/>
              <a:buAutoNum type="arabicPeriod"/>
            </a:pPr>
            <a:r>
              <a:rPr lang="en-US" dirty="0"/>
              <a:t>null values problem</a:t>
            </a:r>
            <a:endParaRPr lang="en-US" dirty="0">
              <a:latin typeface="Tahoma" pitchFamily="34" charset="0"/>
              <a:ea typeface="Tahoma" pitchFamily="34" charset="0"/>
              <a:cs typeface="Tahoma" pitchFamily="34" charset="0"/>
            </a:endParaRPr>
          </a:p>
          <a:p>
            <a:pPr marL="1257300" lvl="2" indent="-342900">
              <a:lnSpc>
                <a:spcPct val="150000"/>
              </a:lnSpc>
              <a:buFont typeface="+mj-lt"/>
              <a:buAutoNum type="arabicPeriod"/>
            </a:pPr>
            <a:r>
              <a:rPr lang="en-US" dirty="0">
                <a:latin typeface="Tahoma" pitchFamily="34" charset="0"/>
                <a:ea typeface="Tahoma" pitchFamily="34" charset="0"/>
                <a:cs typeface="Tahoma" pitchFamily="34" charset="0"/>
              </a:rPr>
              <a:t>deletion anomalies</a:t>
            </a:r>
          </a:p>
          <a:p>
            <a:pPr marL="1257300" lvl="2" indent="-342900">
              <a:lnSpc>
                <a:spcPct val="150000"/>
              </a:lnSpc>
              <a:buFont typeface="+mj-lt"/>
              <a:buAutoNum type="arabicPeriod"/>
            </a:pPr>
            <a:r>
              <a:rPr lang="en-US" dirty="0">
                <a:latin typeface="Tahoma" pitchFamily="34" charset="0"/>
                <a:ea typeface="Tahoma" pitchFamily="34" charset="0"/>
                <a:cs typeface="Tahoma" pitchFamily="34" charset="0"/>
              </a:rPr>
              <a:t>modification anomalies</a:t>
            </a:r>
            <a:endParaRPr lang="en-US" b="1" dirty="0">
              <a:solidFill>
                <a:srgbClr val="C00000"/>
              </a:solidFill>
              <a:latin typeface="Tahoma" pitchFamily="34" charset="0"/>
              <a:ea typeface="Tahoma" pitchFamily="34" charset="0"/>
              <a:cs typeface="Tahoma" pitchFamily="34" charset="0"/>
            </a:endParaRPr>
          </a:p>
          <a:p>
            <a:endParaRPr lang="en-US" dirty="0"/>
          </a:p>
        </p:txBody>
      </p:sp>
      <p:sp>
        <p:nvSpPr>
          <p:cNvPr id="8" name="Rectangle 7"/>
          <p:cNvSpPr/>
          <p:nvPr/>
        </p:nvSpPr>
        <p:spPr>
          <a:xfrm>
            <a:off x="0" y="0"/>
            <a:ext cx="8839200" cy="461665"/>
          </a:xfrm>
          <a:prstGeom prst="rect">
            <a:avLst/>
          </a:prstGeom>
        </p:spPr>
        <p:txBody>
          <a:bodyPr wrap="square">
            <a:spAutoFit/>
          </a:bodyPr>
          <a:lstStyle/>
          <a:p>
            <a:pPr marL="342900" indent="-342900">
              <a:buAutoNum type="arabicPeriod" startAt="2"/>
            </a:pPr>
            <a:r>
              <a:rPr lang="en-US" sz="2400" b="1" dirty="0">
                <a:solidFill>
                  <a:srgbClr val="002060"/>
                </a:solidFill>
              </a:rPr>
              <a:t>Redundant Information in Tuples and Update Anomalies</a:t>
            </a: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609600"/>
            <a:ext cx="8686800" cy="1985159"/>
          </a:xfrm>
          <a:prstGeom prst="rect">
            <a:avLst/>
          </a:prstGeom>
          <a:noFill/>
        </p:spPr>
        <p:txBody>
          <a:bodyPr wrap="square" rtlCol="0">
            <a:spAutoFit/>
          </a:bodyPr>
          <a:lstStyle/>
          <a:p>
            <a:pPr marL="342900" lvl="3" indent="-342900">
              <a:buFont typeface="+mj-lt"/>
              <a:buAutoNum type="arabicPeriod"/>
            </a:pPr>
            <a:r>
              <a:rPr lang="en-US" sz="2400" b="1" dirty="0">
                <a:latin typeface="Tahoma" pitchFamily="34" charset="0"/>
                <a:ea typeface="Tahoma" pitchFamily="34" charset="0"/>
                <a:cs typeface="Tahoma" pitchFamily="34" charset="0"/>
              </a:rPr>
              <a:t>insertion anomalies : </a:t>
            </a:r>
            <a:r>
              <a:rPr lang="en-US" sz="2400" dirty="0">
                <a:solidFill>
                  <a:srgbClr val="C00000"/>
                </a:solidFill>
              </a:rPr>
              <a:t>consistency problem</a:t>
            </a:r>
          </a:p>
          <a:p>
            <a:pPr marL="800100" lvl="1" indent="-342900"/>
            <a:endParaRPr lang="en-US" dirty="0">
              <a:latin typeface="Tahoma" pitchFamily="34" charset="0"/>
              <a:ea typeface="Tahoma" pitchFamily="34" charset="0"/>
              <a:cs typeface="Tahoma" pitchFamily="34" charset="0"/>
            </a:endParaRPr>
          </a:p>
          <a:p>
            <a:pPr marL="342900" indent="-342900" algn="just">
              <a:lnSpc>
                <a:spcPct val="150000"/>
              </a:lnSpc>
            </a:pPr>
            <a:r>
              <a:rPr lang="en-US" b="1" dirty="0">
                <a:latin typeface="Tahoma" pitchFamily="34" charset="0"/>
                <a:ea typeface="Tahoma" pitchFamily="34" charset="0"/>
                <a:cs typeface="Tahoma" pitchFamily="34" charset="0"/>
              </a:rPr>
              <a:t>Example : </a:t>
            </a:r>
            <a:r>
              <a:rPr lang="en-US" dirty="0">
                <a:latin typeface="Tahoma" pitchFamily="34" charset="0"/>
                <a:ea typeface="Tahoma" pitchFamily="34" charset="0"/>
                <a:cs typeface="Tahoma" pitchFamily="34" charset="0"/>
              </a:rPr>
              <a:t>To insert a new tuple for an employee who works in department number 5, we must enter the attribute values of department 5 correctly so that they are consistent with values for department 5 in other tuples in EMP_DEPT. </a:t>
            </a:r>
          </a:p>
        </p:txBody>
      </p:sp>
      <p:pic>
        <p:nvPicPr>
          <p:cNvPr id="8" name="Picture 2"/>
          <p:cNvPicPr>
            <a:picLocks noChangeAspect="1" noChangeArrowheads="1"/>
          </p:cNvPicPr>
          <p:nvPr/>
        </p:nvPicPr>
        <p:blipFill>
          <a:blip r:embed="rId3" cstate="print"/>
          <a:srcRect/>
          <a:stretch>
            <a:fillRect/>
          </a:stretch>
        </p:blipFill>
        <p:spPr bwMode="auto">
          <a:xfrm>
            <a:off x="228600" y="3124200"/>
            <a:ext cx="8620795" cy="2514600"/>
          </a:xfrm>
          <a:prstGeom prst="rect">
            <a:avLst/>
          </a:prstGeom>
          <a:noFill/>
          <a:ln w="9525">
            <a:noFill/>
            <a:miter lim="800000"/>
            <a:headEnd/>
            <a:tailEnd/>
          </a:ln>
          <a:effectLst/>
        </p:spPr>
      </p:pic>
      <p:sp>
        <p:nvSpPr>
          <p:cNvPr id="9" name="Rectangle 8"/>
          <p:cNvSpPr/>
          <p:nvPr/>
        </p:nvSpPr>
        <p:spPr>
          <a:xfrm>
            <a:off x="0" y="0"/>
            <a:ext cx="8839200" cy="461665"/>
          </a:xfrm>
          <a:prstGeom prst="rect">
            <a:avLst/>
          </a:prstGeom>
        </p:spPr>
        <p:txBody>
          <a:bodyPr wrap="square">
            <a:spAutoFit/>
          </a:bodyPr>
          <a:lstStyle/>
          <a:p>
            <a:pPr marL="342900" indent="-342900">
              <a:buAutoNum type="arabicPeriod" startAt="2"/>
            </a:pPr>
            <a:r>
              <a:rPr lang="en-US" sz="2400" b="1" dirty="0">
                <a:solidFill>
                  <a:srgbClr val="002060"/>
                </a:solidFill>
              </a:rPr>
              <a:t>Redundant Information in Tuples and Update Anomalies</a:t>
            </a: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838200"/>
            <a:ext cx="8686800" cy="2123658"/>
          </a:xfrm>
          <a:prstGeom prst="rect">
            <a:avLst/>
          </a:prstGeom>
          <a:noFill/>
        </p:spPr>
        <p:txBody>
          <a:bodyPr wrap="square" rtlCol="0">
            <a:spAutoFit/>
          </a:bodyPr>
          <a:lstStyle/>
          <a:p>
            <a:pPr marL="342900" lvl="3" indent="-342900">
              <a:buFont typeface="+mj-lt"/>
              <a:buAutoNum type="arabicPeriod"/>
            </a:pPr>
            <a:r>
              <a:rPr lang="en-US" sz="2400" b="1" dirty="0">
                <a:latin typeface="Tahoma" pitchFamily="34" charset="0"/>
                <a:ea typeface="Tahoma" pitchFamily="34" charset="0"/>
                <a:cs typeface="Tahoma" pitchFamily="34" charset="0"/>
              </a:rPr>
              <a:t>insertion anomalies : </a:t>
            </a:r>
            <a:r>
              <a:rPr lang="en-US" sz="2400" dirty="0">
                <a:solidFill>
                  <a:srgbClr val="C00000"/>
                </a:solidFill>
              </a:rPr>
              <a:t>consistency problem</a:t>
            </a:r>
          </a:p>
          <a:p>
            <a:pPr marL="800100" lvl="1" indent="-342900"/>
            <a:endParaRPr lang="en-US" dirty="0">
              <a:latin typeface="Tahoma" pitchFamily="34" charset="0"/>
              <a:ea typeface="Tahoma" pitchFamily="34" charset="0"/>
              <a:cs typeface="Tahoma" pitchFamily="34" charset="0"/>
            </a:endParaRPr>
          </a:p>
          <a:p>
            <a:pPr algn="just">
              <a:lnSpc>
                <a:spcPct val="150000"/>
              </a:lnSpc>
            </a:pPr>
            <a:r>
              <a:rPr lang="en-US" sz="2000" dirty="0">
                <a:latin typeface="Tahoma" pitchFamily="34" charset="0"/>
                <a:ea typeface="Tahoma" pitchFamily="34" charset="0"/>
                <a:cs typeface="Tahoma" pitchFamily="34" charset="0"/>
              </a:rPr>
              <a:t>In the design of the Figure 14.1 , we do not have to worry about this consistency problem because we enter only the department number in the employee tuple; </a:t>
            </a:r>
            <a:endParaRPr lang="en-US" dirty="0">
              <a:latin typeface="Tahoma" pitchFamily="34" charset="0"/>
              <a:ea typeface="Tahoma" pitchFamily="34" charset="0"/>
              <a:cs typeface="Tahoma" pitchFamily="34" charset="0"/>
            </a:endParaRPr>
          </a:p>
        </p:txBody>
      </p:sp>
      <p:pic>
        <p:nvPicPr>
          <p:cNvPr id="9" name="Picture 2"/>
          <p:cNvPicPr>
            <a:picLocks noChangeAspect="1" noChangeArrowheads="1"/>
          </p:cNvPicPr>
          <p:nvPr/>
        </p:nvPicPr>
        <p:blipFill>
          <a:blip r:embed="rId3" cstate="print"/>
          <a:srcRect/>
          <a:stretch>
            <a:fillRect/>
          </a:stretch>
        </p:blipFill>
        <p:spPr bwMode="auto">
          <a:xfrm>
            <a:off x="2362200" y="2667000"/>
            <a:ext cx="6572540" cy="2101933"/>
          </a:xfrm>
          <a:prstGeom prst="rect">
            <a:avLst/>
          </a:prstGeom>
          <a:noFill/>
          <a:ln w="9525">
            <a:noFill/>
            <a:miter lim="800000"/>
            <a:headEnd/>
            <a:tailEnd/>
          </a:ln>
          <a:effectLst/>
        </p:spPr>
      </p:pic>
      <p:pic>
        <p:nvPicPr>
          <p:cNvPr id="10" name="Picture 3"/>
          <p:cNvPicPr>
            <a:picLocks noChangeAspect="1" noChangeArrowheads="1"/>
          </p:cNvPicPr>
          <p:nvPr/>
        </p:nvPicPr>
        <p:blipFill>
          <a:blip r:embed="rId4" cstate="print"/>
          <a:srcRect/>
          <a:stretch>
            <a:fillRect/>
          </a:stretch>
        </p:blipFill>
        <p:spPr bwMode="auto">
          <a:xfrm>
            <a:off x="304800" y="4953000"/>
            <a:ext cx="3455811" cy="1291445"/>
          </a:xfrm>
          <a:prstGeom prst="rect">
            <a:avLst/>
          </a:prstGeom>
          <a:noFill/>
          <a:ln w="9525">
            <a:noFill/>
            <a:miter lim="800000"/>
            <a:headEnd/>
            <a:tailEnd/>
          </a:ln>
          <a:effectLst/>
        </p:spPr>
      </p:pic>
      <p:sp>
        <p:nvSpPr>
          <p:cNvPr id="8" name="Rectangle 7"/>
          <p:cNvSpPr/>
          <p:nvPr/>
        </p:nvSpPr>
        <p:spPr>
          <a:xfrm>
            <a:off x="0" y="0"/>
            <a:ext cx="8839200" cy="461665"/>
          </a:xfrm>
          <a:prstGeom prst="rect">
            <a:avLst/>
          </a:prstGeom>
        </p:spPr>
        <p:txBody>
          <a:bodyPr wrap="square">
            <a:spAutoFit/>
          </a:bodyPr>
          <a:lstStyle/>
          <a:p>
            <a:pPr marL="342900" indent="-342900">
              <a:buAutoNum type="arabicPeriod" startAt="2"/>
            </a:pPr>
            <a:r>
              <a:rPr lang="en-US" sz="2400" b="1" dirty="0">
                <a:solidFill>
                  <a:srgbClr val="002060"/>
                </a:solidFill>
              </a:rPr>
              <a:t>Redundant Information in Tuples and Update Anomalies</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685800"/>
            <a:ext cx="8458200" cy="2677656"/>
          </a:xfrm>
          <a:prstGeom prst="rect">
            <a:avLst/>
          </a:prstGeom>
          <a:noFill/>
        </p:spPr>
        <p:txBody>
          <a:bodyPr wrap="square" rtlCol="0">
            <a:spAutoFit/>
          </a:bodyPr>
          <a:lstStyle/>
          <a:p>
            <a:pPr marL="342900" lvl="3" indent="-342900">
              <a:buFont typeface="+mj-lt"/>
              <a:buAutoNum type="arabicPeriod"/>
            </a:pPr>
            <a:r>
              <a:rPr lang="en-US" sz="2800" b="1" dirty="0">
                <a:latin typeface="Tahoma" pitchFamily="34" charset="0"/>
                <a:ea typeface="Tahoma" pitchFamily="34" charset="0"/>
                <a:cs typeface="Tahoma" pitchFamily="34" charset="0"/>
              </a:rPr>
              <a:t>insertion anomalies : </a:t>
            </a:r>
            <a:r>
              <a:rPr lang="en-US" sz="2800" dirty="0">
                <a:solidFill>
                  <a:srgbClr val="C00000"/>
                </a:solidFill>
              </a:rPr>
              <a:t>null values problem</a:t>
            </a:r>
            <a:endParaRPr lang="en-US" sz="2800" dirty="0">
              <a:solidFill>
                <a:srgbClr val="C00000"/>
              </a:solidFill>
              <a:latin typeface="Tahoma" pitchFamily="34" charset="0"/>
              <a:ea typeface="Tahoma" pitchFamily="34" charset="0"/>
              <a:cs typeface="Tahoma" pitchFamily="34" charset="0"/>
            </a:endParaRPr>
          </a:p>
          <a:p>
            <a:pPr algn="just"/>
            <a:endParaRPr lang="en-US" sz="2000" dirty="0">
              <a:latin typeface="Tahoma" pitchFamily="34" charset="0"/>
              <a:ea typeface="Tahoma" pitchFamily="34" charset="0"/>
              <a:cs typeface="Tahoma" pitchFamily="34" charset="0"/>
            </a:endParaRPr>
          </a:p>
          <a:p>
            <a:pPr algn="just">
              <a:lnSpc>
                <a:spcPct val="150000"/>
              </a:lnSpc>
            </a:pPr>
            <a:r>
              <a:rPr lang="en-US" sz="2000" dirty="0">
                <a:latin typeface="Tahoma" pitchFamily="34" charset="0"/>
                <a:ea typeface="Tahoma" pitchFamily="34" charset="0"/>
                <a:cs typeface="Tahoma" pitchFamily="34" charset="0"/>
              </a:rPr>
              <a:t>It is difficult to insert a new department that has no employees as yet in the EMP_DEPT relation. The only way to do this is to place null values in the attributes for employee. This causes a problem because SSN is the primary key of EMP_DEPT</a:t>
            </a:r>
            <a:endParaRPr lang="en-US" dirty="0">
              <a:latin typeface="Tahoma" pitchFamily="34" charset="0"/>
              <a:ea typeface="Tahoma" pitchFamily="34" charset="0"/>
              <a:cs typeface="Tahoma" pitchFamily="34" charset="0"/>
            </a:endParaRPr>
          </a:p>
        </p:txBody>
      </p:sp>
      <p:pic>
        <p:nvPicPr>
          <p:cNvPr id="8" name="Picture 2"/>
          <p:cNvPicPr>
            <a:picLocks noChangeAspect="1" noChangeArrowheads="1"/>
          </p:cNvPicPr>
          <p:nvPr/>
        </p:nvPicPr>
        <p:blipFill>
          <a:blip r:embed="rId3" cstate="print"/>
          <a:srcRect/>
          <a:stretch>
            <a:fillRect/>
          </a:stretch>
        </p:blipFill>
        <p:spPr bwMode="auto">
          <a:xfrm>
            <a:off x="228600" y="3581400"/>
            <a:ext cx="8620795" cy="2362200"/>
          </a:xfrm>
          <a:prstGeom prst="rect">
            <a:avLst/>
          </a:prstGeom>
          <a:noFill/>
          <a:ln w="9525">
            <a:noFill/>
            <a:miter lim="800000"/>
            <a:headEnd/>
            <a:tailEnd/>
          </a:ln>
          <a:effectLst/>
        </p:spPr>
      </p:pic>
      <p:sp>
        <p:nvSpPr>
          <p:cNvPr id="9" name="Rectangle 8"/>
          <p:cNvSpPr/>
          <p:nvPr/>
        </p:nvSpPr>
        <p:spPr>
          <a:xfrm>
            <a:off x="0" y="0"/>
            <a:ext cx="8839200" cy="461665"/>
          </a:xfrm>
          <a:prstGeom prst="rect">
            <a:avLst/>
          </a:prstGeom>
        </p:spPr>
        <p:txBody>
          <a:bodyPr wrap="square">
            <a:spAutoFit/>
          </a:bodyPr>
          <a:lstStyle/>
          <a:p>
            <a:pPr marL="342900" indent="-342900">
              <a:buAutoNum type="arabicPeriod" startAt="2"/>
            </a:pPr>
            <a:r>
              <a:rPr lang="en-US" sz="2400" b="1" dirty="0">
                <a:solidFill>
                  <a:srgbClr val="002060"/>
                </a:solidFill>
              </a:rPr>
              <a:t>Redundant Information in Tuples and Update Anomalies</a:t>
            </a: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838200"/>
            <a:ext cx="8686800" cy="1969770"/>
          </a:xfrm>
          <a:prstGeom prst="rect">
            <a:avLst/>
          </a:prstGeom>
          <a:noFill/>
        </p:spPr>
        <p:txBody>
          <a:bodyPr wrap="square" rtlCol="0">
            <a:spAutoFit/>
          </a:bodyPr>
          <a:lstStyle/>
          <a:p>
            <a:pPr marL="342900" lvl="3" indent="-342900">
              <a:buFont typeface="+mj-lt"/>
              <a:buAutoNum type="arabicPeriod"/>
            </a:pPr>
            <a:r>
              <a:rPr lang="en-US" sz="2400" b="1" dirty="0">
                <a:latin typeface="Tahoma" pitchFamily="34" charset="0"/>
                <a:ea typeface="Tahoma" pitchFamily="34" charset="0"/>
                <a:cs typeface="Tahoma" pitchFamily="34" charset="0"/>
              </a:rPr>
              <a:t>insertion anomalies : </a:t>
            </a:r>
            <a:r>
              <a:rPr lang="en-US" sz="2400" dirty="0">
                <a:solidFill>
                  <a:srgbClr val="C00000"/>
                </a:solidFill>
              </a:rPr>
              <a:t>null values problem</a:t>
            </a:r>
            <a:endParaRPr lang="en-US" sz="2400" dirty="0">
              <a:solidFill>
                <a:srgbClr val="C00000"/>
              </a:solidFill>
              <a:latin typeface="Tahoma" pitchFamily="34" charset="0"/>
              <a:ea typeface="Tahoma" pitchFamily="34" charset="0"/>
              <a:cs typeface="Tahoma" pitchFamily="34" charset="0"/>
            </a:endParaRPr>
          </a:p>
          <a:p>
            <a:pPr marL="800100" lvl="1" indent="-342900"/>
            <a:endParaRPr lang="en-US" dirty="0">
              <a:latin typeface="Tahoma" pitchFamily="34" charset="0"/>
              <a:ea typeface="Tahoma" pitchFamily="34" charset="0"/>
              <a:cs typeface="Tahoma" pitchFamily="34" charset="0"/>
            </a:endParaRPr>
          </a:p>
          <a:p>
            <a:pPr algn="just"/>
            <a:r>
              <a:rPr lang="en-US" sz="2000" dirty="0">
                <a:latin typeface="Tahoma" pitchFamily="34" charset="0"/>
                <a:ea typeface="Tahoma" pitchFamily="34" charset="0"/>
                <a:cs typeface="Tahoma" pitchFamily="34" charset="0"/>
              </a:rPr>
              <a:t>This problem does not occur in the design of Figure 14.1, because a department is entered in the DEPARTMENT relation whether or not any employees work for it, and whenever an employee is assigned to that department, a corresponding tuple is inserted in EMPLOYEE.</a:t>
            </a:r>
            <a:endParaRPr lang="en-US" dirty="0">
              <a:latin typeface="Tahoma" pitchFamily="34" charset="0"/>
              <a:ea typeface="Tahoma" pitchFamily="34" charset="0"/>
              <a:cs typeface="Tahoma" pitchFamily="34" charset="0"/>
            </a:endParaRPr>
          </a:p>
        </p:txBody>
      </p:sp>
      <p:pic>
        <p:nvPicPr>
          <p:cNvPr id="9" name="Picture 2"/>
          <p:cNvPicPr>
            <a:picLocks noChangeAspect="1" noChangeArrowheads="1"/>
          </p:cNvPicPr>
          <p:nvPr/>
        </p:nvPicPr>
        <p:blipFill>
          <a:blip r:embed="rId3" cstate="print"/>
          <a:srcRect/>
          <a:stretch>
            <a:fillRect/>
          </a:stretch>
        </p:blipFill>
        <p:spPr bwMode="auto">
          <a:xfrm>
            <a:off x="381000" y="3048000"/>
            <a:ext cx="6096000" cy="1949533"/>
          </a:xfrm>
          <a:prstGeom prst="rect">
            <a:avLst/>
          </a:prstGeom>
          <a:noFill/>
          <a:ln w="9525">
            <a:noFill/>
            <a:miter lim="800000"/>
            <a:headEnd/>
            <a:tailEnd/>
          </a:ln>
          <a:effectLst/>
        </p:spPr>
      </p:pic>
      <p:pic>
        <p:nvPicPr>
          <p:cNvPr id="10" name="Picture 3"/>
          <p:cNvPicPr>
            <a:picLocks noChangeAspect="1" noChangeArrowheads="1"/>
          </p:cNvPicPr>
          <p:nvPr/>
        </p:nvPicPr>
        <p:blipFill>
          <a:blip r:embed="rId4" cstate="print"/>
          <a:srcRect/>
          <a:stretch>
            <a:fillRect/>
          </a:stretch>
        </p:blipFill>
        <p:spPr bwMode="auto">
          <a:xfrm>
            <a:off x="4953000" y="5172372"/>
            <a:ext cx="3276600" cy="1224473"/>
          </a:xfrm>
          <a:prstGeom prst="rect">
            <a:avLst/>
          </a:prstGeom>
          <a:noFill/>
          <a:ln w="9525">
            <a:noFill/>
            <a:miter lim="800000"/>
            <a:headEnd/>
            <a:tailEnd/>
          </a:ln>
          <a:effectLst/>
        </p:spPr>
      </p:pic>
      <p:sp>
        <p:nvSpPr>
          <p:cNvPr id="8" name="Rectangle 7"/>
          <p:cNvSpPr/>
          <p:nvPr/>
        </p:nvSpPr>
        <p:spPr>
          <a:xfrm>
            <a:off x="0" y="0"/>
            <a:ext cx="8839200" cy="461665"/>
          </a:xfrm>
          <a:prstGeom prst="rect">
            <a:avLst/>
          </a:prstGeom>
        </p:spPr>
        <p:txBody>
          <a:bodyPr wrap="square">
            <a:spAutoFit/>
          </a:bodyPr>
          <a:lstStyle/>
          <a:p>
            <a:pPr marL="342900" indent="-342900">
              <a:buAutoNum type="arabicPeriod" startAt="2"/>
            </a:pPr>
            <a:r>
              <a:rPr lang="en-US" sz="2400" b="1" dirty="0">
                <a:solidFill>
                  <a:srgbClr val="002060"/>
                </a:solidFill>
              </a:rPr>
              <a:t>Redundant Information in Tuples and Update Anomalies</a:t>
            </a: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838200"/>
            <a:ext cx="8686800" cy="2954655"/>
          </a:xfrm>
          <a:prstGeom prst="rect">
            <a:avLst/>
          </a:prstGeom>
          <a:noFill/>
        </p:spPr>
        <p:txBody>
          <a:bodyPr wrap="square" rtlCol="0">
            <a:spAutoFit/>
          </a:bodyPr>
          <a:lstStyle/>
          <a:p>
            <a:pPr marL="342900" lvl="3" indent="-342900">
              <a:buFont typeface="+mj-lt"/>
              <a:buAutoNum type="arabicPeriod" startAt="2"/>
            </a:pPr>
            <a:r>
              <a:rPr lang="en-US" sz="2400" b="1" dirty="0">
                <a:latin typeface="Tahoma" pitchFamily="34" charset="0"/>
                <a:ea typeface="Tahoma" pitchFamily="34" charset="0"/>
                <a:cs typeface="Tahoma" pitchFamily="34" charset="0"/>
              </a:rPr>
              <a:t>deletion anomalies</a:t>
            </a:r>
          </a:p>
          <a:p>
            <a:pPr marL="342900" lvl="3" indent="-342900">
              <a:buFont typeface="+mj-lt"/>
              <a:buAutoNum type="arabicPeriod" startAt="2"/>
            </a:pPr>
            <a:endParaRPr lang="en-US" dirty="0">
              <a:latin typeface="Tahoma" pitchFamily="34" charset="0"/>
              <a:ea typeface="Tahoma" pitchFamily="34" charset="0"/>
              <a:cs typeface="Tahoma" pitchFamily="34" charset="0"/>
            </a:endParaRPr>
          </a:p>
          <a:p>
            <a:pPr algn="just">
              <a:lnSpc>
                <a:spcPct val="150000"/>
              </a:lnSpc>
            </a:pPr>
            <a:r>
              <a:rPr lang="en-US" sz="2000" dirty="0">
                <a:latin typeface="Tahoma" pitchFamily="34" charset="0"/>
                <a:ea typeface="Tahoma" pitchFamily="34" charset="0"/>
                <a:cs typeface="Tahoma" pitchFamily="34" charset="0"/>
              </a:rPr>
              <a:t>If we delete from EMP_DEPT an employee tuple that happens to represent the last employee working for a particular department, the information concerning that department is lost from the database.</a:t>
            </a:r>
            <a:r>
              <a:rPr lang="en-US" dirty="0"/>
              <a:t> </a:t>
            </a:r>
            <a:r>
              <a:rPr lang="en-US" i="1" dirty="0">
                <a:solidFill>
                  <a:srgbClr val="0070C0"/>
                </a:solidFill>
              </a:rPr>
              <a:t>This problem does not occur in the database of Figure 14.1 because DEPARTMENT tuples are stored separately.</a:t>
            </a:r>
            <a:endParaRPr lang="en-US" i="1" dirty="0">
              <a:solidFill>
                <a:srgbClr val="0070C0"/>
              </a:solidFill>
              <a:latin typeface="Tahoma" pitchFamily="34" charset="0"/>
              <a:ea typeface="Tahoma" pitchFamily="34" charset="0"/>
              <a:cs typeface="Tahoma" pitchFamily="34" charset="0"/>
            </a:endParaRPr>
          </a:p>
        </p:txBody>
      </p:sp>
      <p:pic>
        <p:nvPicPr>
          <p:cNvPr id="8" name="Picture 2"/>
          <p:cNvPicPr>
            <a:picLocks noChangeAspect="1" noChangeArrowheads="1"/>
          </p:cNvPicPr>
          <p:nvPr/>
        </p:nvPicPr>
        <p:blipFill>
          <a:blip r:embed="rId3" cstate="print"/>
          <a:srcRect/>
          <a:stretch>
            <a:fillRect/>
          </a:stretch>
        </p:blipFill>
        <p:spPr bwMode="auto">
          <a:xfrm>
            <a:off x="304800" y="3962400"/>
            <a:ext cx="8620795" cy="2362200"/>
          </a:xfrm>
          <a:prstGeom prst="rect">
            <a:avLst/>
          </a:prstGeom>
          <a:noFill/>
          <a:ln w="9525">
            <a:noFill/>
            <a:miter lim="800000"/>
            <a:headEnd/>
            <a:tailEnd/>
          </a:ln>
          <a:effectLst/>
        </p:spPr>
      </p:pic>
      <p:sp>
        <p:nvSpPr>
          <p:cNvPr id="9" name="Rectangle 8"/>
          <p:cNvSpPr/>
          <p:nvPr/>
        </p:nvSpPr>
        <p:spPr>
          <a:xfrm>
            <a:off x="0" y="0"/>
            <a:ext cx="8839200" cy="461665"/>
          </a:xfrm>
          <a:prstGeom prst="rect">
            <a:avLst/>
          </a:prstGeom>
        </p:spPr>
        <p:txBody>
          <a:bodyPr wrap="square">
            <a:spAutoFit/>
          </a:bodyPr>
          <a:lstStyle/>
          <a:p>
            <a:pPr marL="342900" indent="-342900">
              <a:buAutoNum type="arabicPeriod" startAt="2"/>
            </a:pPr>
            <a:r>
              <a:rPr lang="en-US" sz="2400" b="1" dirty="0">
                <a:solidFill>
                  <a:srgbClr val="002060"/>
                </a:solidFill>
              </a:rPr>
              <a:t>Redundant Information in Tuples and Update Anomalies</a:t>
            </a: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400" y="685800"/>
            <a:ext cx="8686800" cy="2616101"/>
          </a:xfrm>
          <a:prstGeom prst="rect">
            <a:avLst/>
          </a:prstGeom>
          <a:noFill/>
        </p:spPr>
        <p:txBody>
          <a:bodyPr wrap="square" rtlCol="0">
            <a:spAutoFit/>
          </a:bodyPr>
          <a:lstStyle/>
          <a:p>
            <a:pPr marL="457200" lvl="3" indent="-457200">
              <a:buFont typeface="+mj-lt"/>
              <a:buAutoNum type="arabicPeriod" startAt="3"/>
            </a:pPr>
            <a:r>
              <a:rPr lang="en-US" sz="2400" b="1" dirty="0">
                <a:latin typeface="Tahoma" pitchFamily="34" charset="0"/>
                <a:ea typeface="Tahoma" pitchFamily="34" charset="0"/>
                <a:cs typeface="Tahoma" pitchFamily="34" charset="0"/>
              </a:rPr>
              <a:t>modification anomalies</a:t>
            </a:r>
          </a:p>
          <a:p>
            <a:pPr marL="457200" lvl="3" indent="-457200"/>
            <a:endParaRPr lang="en-US" sz="2800" b="1" dirty="0">
              <a:latin typeface="Tahoma" pitchFamily="34" charset="0"/>
              <a:ea typeface="Tahoma" pitchFamily="34" charset="0"/>
              <a:cs typeface="Tahoma" pitchFamily="34" charset="0"/>
            </a:endParaRPr>
          </a:p>
          <a:p>
            <a:pPr algn="just">
              <a:lnSpc>
                <a:spcPct val="150000"/>
              </a:lnSpc>
            </a:pPr>
            <a:r>
              <a:rPr lang="en-US" dirty="0">
                <a:latin typeface="Tahoma" pitchFamily="34" charset="0"/>
                <a:ea typeface="Tahoma" pitchFamily="34" charset="0"/>
                <a:cs typeface="Tahoma" pitchFamily="34" charset="0"/>
              </a:rPr>
              <a:t>In </a:t>
            </a:r>
            <a:r>
              <a:rPr lang="en-US" sz="1100" dirty="0">
                <a:latin typeface="Tahoma" pitchFamily="34" charset="0"/>
                <a:ea typeface="Tahoma" pitchFamily="34" charset="0"/>
                <a:cs typeface="Tahoma" pitchFamily="34" charset="0"/>
              </a:rPr>
              <a:t>EMP_DEPT, </a:t>
            </a:r>
            <a:r>
              <a:rPr lang="en-US" dirty="0">
                <a:latin typeface="Tahoma" pitchFamily="34" charset="0"/>
                <a:ea typeface="Tahoma" pitchFamily="34" charset="0"/>
                <a:cs typeface="Tahoma" pitchFamily="34" charset="0"/>
              </a:rPr>
              <a:t>if we change the value of one of the attributes of a particular department-say, </a:t>
            </a:r>
            <a:r>
              <a:rPr lang="en-US" b="1" dirty="0">
                <a:latin typeface="Tahoma" pitchFamily="34" charset="0"/>
                <a:ea typeface="Tahoma" pitchFamily="34" charset="0"/>
                <a:cs typeface="Tahoma" pitchFamily="34" charset="0"/>
              </a:rPr>
              <a:t>the manager of department 5 </a:t>
            </a:r>
            <a:r>
              <a:rPr lang="en-US" dirty="0">
                <a:latin typeface="Tahoma" pitchFamily="34" charset="0"/>
                <a:ea typeface="Tahoma" pitchFamily="34" charset="0"/>
                <a:cs typeface="Tahoma" pitchFamily="34" charset="0"/>
              </a:rPr>
              <a:t>-we must update the tuples of all employees who work in that department; otherwise, the database will become inconsistent.</a:t>
            </a:r>
            <a:endParaRPr lang="en-US" sz="4800" b="1" dirty="0">
              <a:latin typeface="Tahoma" pitchFamily="34" charset="0"/>
              <a:ea typeface="Tahoma" pitchFamily="34" charset="0"/>
              <a:cs typeface="Tahoma" pitchFamily="34" charset="0"/>
            </a:endParaRPr>
          </a:p>
        </p:txBody>
      </p:sp>
      <p:pic>
        <p:nvPicPr>
          <p:cNvPr id="8" name="Picture 2"/>
          <p:cNvPicPr>
            <a:picLocks noChangeAspect="1" noChangeArrowheads="1"/>
          </p:cNvPicPr>
          <p:nvPr/>
        </p:nvPicPr>
        <p:blipFill>
          <a:blip r:embed="rId3" cstate="print"/>
          <a:srcRect/>
          <a:stretch>
            <a:fillRect/>
          </a:stretch>
        </p:blipFill>
        <p:spPr bwMode="auto">
          <a:xfrm>
            <a:off x="304800" y="3657600"/>
            <a:ext cx="8620795" cy="2362200"/>
          </a:xfrm>
          <a:prstGeom prst="rect">
            <a:avLst/>
          </a:prstGeom>
          <a:noFill/>
          <a:ln w="9525">
            <a:noFill/>
            <a:miter lim="800000"/>
            <a:headEnd/>
            <a:tailEnd/>
          </a:ln>
          <a:effectLst/>
        </p:spPr>
      </p:pic>
      <p:sp>
        <p:nvSpPr>
          <p:cNvPr id="9" name="Rectangle 8"/>
          <p:cNvSpPr/>
          <p:nvPr/>
        </p:nvSpPr>
        <p:spPr>
          <a:xfrm>
            <a:off x="0" y="0"/>
            <a:ext cx="8839200" cy="461665"/>
          </a:xfrm>
          <a:prstGeom prst="rect">
            <a:avLst/>
          </a:prstGeom>
        </p:spPr>
        <p:txBody>
          <a:bodyPr wrap="square">
            <a:spAutoFit/>
          </a:bodyPr>
          <a:lstStyle/>
          <a:p>
            <a:pPr marL="342900" indent="-342900">
              <a:buAutoNum type="arabicPeriod" startAt="2"/>
            </a:pPr>
            <a:r>
              <a:rPr lang="en-US" sz="2400" b="1" dirty="0">
                <a:solidFill>
                  <a:srgbClr val="002060"/>
                </a:solidFill>
              </a:rPr>
              <a:t>Redundant Information in Tuples and Update Anomalies</a:t>
            </a: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1219200"/>
            <a:ext cx="8686800" cy="1323439"/>
          </a:xfrm>
          <a:prstGeom prst="rect">
            <a:avLst/>
          </a:prstGeom>
          <a:noFill/>
        </p:spPr>
        <p:txBody>
          <a:bodyPr wrap="square" rtlCol="0">
            <a:spAutoFit/>
          </a:bodyPr>
          <a:lstStyle/>
          <a:p>
            <a:pPr marL="0" lvl="2" indent="-457200">
              <a:lnSpc>
                <a:spcPct val="150000"/>
              </a:lnSpc>
            </a:pPr>
            <a:r>
              <a:rPr lang="en-US" sz="2000" dirty="0">
                <a:solidFill>
                  <a:srgbClr val="002060"/>
                </a:solidFill>
              </a:rPr>
              <a:t> Based on the preceding three anomalies, we can state the guideline that  follows</a:t>
            </a:r>
          </a:p>
          <a:p>
            <a:pPr marL="457200" lvl="3" indent="-457200" algn="just"/>
            <a:endParaRPr lang="en-US" sz="2000" dirty="0">
              <a:latin typeface="Tahoma" pitchFamily="34" charset="0"/>
              <a:ea typeface="Tahoma" pitchFamily="34" charset="0"/>
              <a:cs typeface="Tahoma" pitchFamily="34" charset="0"/>
            </a:endParaRPr>
          </a:p>
        </p:txBody>
      </p:sp>
      <p:sp>
        <p:nvSpPr>
          <p:cNvPr id="8" name="Rectangle 7"/>
          <p:cNvSpPr/>
          <p:nvPr/>
        </p:nvSpPr>
        <p:spPr>
          <a:xfrm>
            <a:off x="0" y="0"/>
            <a:ext cx="8839200" cy="461665"/>
          </a:xfrm>
          <a:prstGeom prst="rect">
            <a:avLst/>
          </a:prstGeom>
        </p:spPr>
        <p:txBody>
          <a:bodyPr wrap="square">
            <a:spAutoFit/>
          </a:bodyPr>
          <a:lstStyle/>
          <a:p>
            <a:pPr marL="342900" indent="-342900">
              <a:buAutoNum type="arabicPeriod" startAt="2"/>
            </a:pPr>
            <a:r>
              <a:rPr lang="en-US" sz="2400" b="1" dirty="0">
                <a:solidFill>
                  <a:srgbClr val="002060"/>
                </a:solidFill>
              </a:rPr>
              <a:t>Redundant Information in Tuples and Update Anomalies</a:t>
            </a:r>
          </a:p>
        </p:txBody>
      </p:sp>
      <p:sp>
        <p:nvSpPr>
          <p:cNvPr id="9" name="Rectangle 8"/>
          <p:cNvSpPr/>
          <p:nvPr/>
        </p:nvSpPr>
        <p:spPr>
          <a:xfrm>
            <a:off x="381000" y="2667000"/>
            <a:ext cx="8382000" cy="2971800"/>
          </a:xfrm>
          <a:prstGeom prst="rect">
            <a:avLst/>
          </a:prstGeom>
          <a:solidFill>
            <a:schemeClr val="accent6">
              <a:lumMod val="20000"/>
              <a:lumOff val="80000"/>
            </a:schemeClr>
          </a:solidFill>
          <a:ln>
            <a:solidFill>
              <a:schemeClr val="accent1"/>
            </a:solidFill>
          </a:ln>
        </p:spPr>
        <p:txBody>
          <a:bodyPr wrap="square">
            <a:spAutoFit/>
          </a:bodyPr>
          <a:lstStyle/>
          <a:p>
            <a:pPr marL="457200" lvl="3" indent="-457200" algn="just">
              <a:lnSpc>
                <a:spcPct val="200000"/>
              </a:lnSpc>
            </a:pPr>
            <a:r>
              <a:rPr lang="en-US" sz="2000" b="1" dirty="0"/>
              <a:t>GUIDELINE 2:  </a:t>
            </a:r>
          </a:p>
          <a:p>
            <a:pPr marL="457200" lvl="3" indent="-457200" algn="just">
              <a:lnSpc>
                <a:spcPct val="200000"/>
              </a:lnSpc>
            </a:pPr>
            <a:r>
              <a:rPr lang="en-US" b="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Design the base relation schemas so that no insertion, deletion, or modification anomalies are present in the relations. If any anomalies are present, note them clearly and make sure that the programs that update the database will operate correctly..</a:t>
            </a:r>
            <a:endParaRPr lang="en-US" sz="4800" b="1"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1143000"/>
            <a:ext cx="8686800" cy="4678204"/>
          </a:xfrm>
          <a:prstGeom prst="rect">
            <a:avLst/>
          </a:prstGeom>
          <a:noFill/>
        </p:spPr>
        <p:txBody>
          <a:bodyPr wrap="square" rtlCol="0">
            <a:spAutoFit/>
          </a:bodyPr>
          <a:lstStyle/>
          <a:p>
            <a:pPr marL="457200" lvl="3" indent="-457200" algn="just">
              <a:lnSpc>
                <a:spcPct val="150000"/>
              </a:lnSpc>
              <a:buFont typeface="Arial" pitchFamily="34" charset="0"/>
              <a:buChar char="•"/>
            </a:pPr>
            <a:r>
              <a:rPr lang="en-US" sz="2000" dirty="0">
                <a:latin typeface="Tahoma" pitchFamily="34" charset="0"/>
                <a:ea typeface="Tahoma" pitchFamily="34" charset="0"/>
                <a:cs typeface="Tahoma" pitchFamily="34" charset="0"/>
              </a:rPr>
              <a:t>When we group many attributes,  if many of the attributes do not apply to all tuples in the relation, then we end up with many nulls in those tuples. </a:t>
            </a:r>
          </a:p>
          <a:p>
            <a:pPr marL="457200" lvl="3" indent="-457200" algn="just">
              <a:lnSpc>
                <a:spcPct val="150000"/>
              </a:lnSpc>
              <a:buFont typeface="Arial" pitchFamily="34" charset="0"/>
              <a:buChar char="•"/>
            </a:pPr>
            <a:endParaRPr lang="en-US" sz="2000" dirty="0">
              <a:latin typeface="Tahoma" pitchFamily="34" charset="0"/>
              <a:ea typeface="Tahoma" pitchFamily="34" charset="0"/>
              <a:cs typeface="Tahoma" pitchFamily="34" charset="0"/>
            </a:endParaRPr>
          </a:p>
          <a:p>
            <a:pPr marL="457200" lvl="3" indent="-457200" algn="just">
              <a:lnSpc>
                <a:spcPct val="150000"/>
              </a:lnSpc>
              <a:buFont typeface="Arial" pitchFamily="34" charset="0"/>
              <a:buChar char="•"/>
            </a:pPr>
            <a:r>
              <a:rPr lang="en-US" sz="2000" dirty="0">
                <a:latin typeface="Tahoma" pitchFamily="34" charset="0"/>
                <a:ea typeface="Tahoma" pitchFamily="34" charset="0"/>
                <a:cs typeface="Tahoma" pitchFamily="34" charset="0"/>
              </a:rPr>
              <a:t>Nulls  can have many problems:</a:t>
            </a:r>
          </a:p>
          <a:p>
            <a:pPr marL="1371600" lvl="5" indent="-457200" algn="just">
              <a:lnSpc>
                <a:spcPct val="200000"/>
              </a:lnSpc>
              <a:buFont typeface="+mj-lt"/>
              <a:buAutoNum type="arabicPeriod"/>
            </a:pPr>
            <a:r>
              <a:rPr lang="en-US" sz="2000" dirty="0"/>
              <a:t>Wastage space at the storage level</a:t>
            </a:r>
          </a:p>
          <a:p>
            <a:pPr marL="1371600" lvl="5" indent="-457200" algn="just">
              <a:lnSpc>
                <a:spcPct val="200000"/>
              </a:lnSpc>
              <a:buFont typeface="+mj-lt"/>
              <a:buAutoNum type="arabicPeriod"/>
            </a:pPr>
            <a:r>
              <a:rPr lang="en-US" dirty="0">
                <a:latin typeface="Tahoma" pitchFamily="34" charset="0"/>
                <a:ea typeface="Tahoma" pitchFamily="34" charset="0"/>
                <a:cs typeface="Tahoma" pitchFamily="34" charset="0"/>
              </a:rPr>
              <a:t>Problems with understanding the meaning of the attributes </a:t>
            </a:r>
          </a:p>
          <a:p>
            <a:pPr marL="1371600" lvl="5" indent="-457200" algn="just">
              <a:lnSpc>
                <a:spcPct val="200000"/>
              </a:lnSpc>
              <a:buFont typeface="+mj-lt"/>
              <a:buAutoNum type="arabicPeriod"/>
            </a:pPr>
            <a:r>
              <a:rPr lang="en-US" dirty="0">
                <a:latin typeface="Tahoma" pitchFamily="34" charset="0"/>
                <a:ea typeface="Tahoma" pitchFamily="34" charset="0"/>
                <a:cs typeface="Tahoma" pitchFamily="34" charset="0"/>
              </a:rPr>
              <a:t>Problems  </a:t>
            </a:r>
            <a:r>
              <a:rPr lang="en-US" dirty="0"/>
              <a:t>with specifying </a:t>
            </a:r>
            <a:r>
              <a:rPr lang="en-US" sz="1600" dirty="0"/>
              <a:t>JOIN </a:t>
            </a:r>
            <a:r>
              <a:rPr lang="en-US" dirty="0"/>
              <a:t>operations at the logical level.</a:t>
            </a:r>
          </a:p>
          <a:p>
            <a:pPr marL="1371600" lvl="5" indent="-457200" algn="just">
              <a:lnSpc>
                <a:spcPct val="200000"/>
              </a:lnSpc>
              <a:buFont typeface="+mj-lt"/>
              <a:buAutoNum type="arabicPeriod"/>
            </a:pPr>
            <a:r>
              <a:rPr lang="en-US" dirty="0">
                <a:latin typeface="Tahoma" pitchFamily="34" charset="0"/>
                <a:ea typeface="Tahoma" pitchFamily="34" charset="0"/>
                <a:cs typeface="Tahoma" pitchFamily="34" charset="0"/>
              </a:rPr>
              <a:t>Problems  </a:t>
            </a:r>
            <a:r>
              <a:rPr lang="en-US" dirty="0"/>
              <a:t>with  aggregate operations such as COUNT or SUM</a:t>
            </a:r>
          </a:p>
        </p:txBody>
      </p:sp>
      <p:sp>
        <p:nvSpPr>
          <p:cNvPr id="8" name="Rectangle 7"/>
          <p:cNvSpPr/>
          <p:nvPr/>
        </p:nvSpPr>
        <p:spPr>
          <a:xfrm>
            <a:off x="0" y="0"/>
            <a:ext cx="8839200" cy="523220"/>
          </a:xfrm>
          <a:prstGeom prst="rect">
            <a:avLst/>
          </a:prstGeom>
        </p:spPr>
        <p:txBody>
          <a:bodyPr wrap="square">
            <a:spAutoFit/>
          </a:bodyPr>
          <a:lstStyle/>
          <a:p>
            <a:pPr marL="457200" indent="-457200">
              <a:buFont typeface="+mj-lt"/>
              <a:buAutoNum type="arabicPeriod" startAt="3"/>
            </a:pPr>
            <a:r>
              <a:rPr lang="en-US" sz="2800" b="1" dirty="0">
                <a:solidFill>
                  <a:srgbClr val="002060"/>
                </a:solidFill>
              </a:rPr>
              <a:t>Null Values in Tuples</a:t>
            </a:r>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400" y="2057400"/>
            <a:ext cx="8763000" cy="2492990"/>
          </a:xfrm>
          <a:prstGeom prst="rect">
            <a:avLst/>
          </a:prstGeom>
          <a:solidFill>
            <a:schemeClr val="accent6">
              <a:lumMod val="20000"/>
              <a:lumOff val="80000"/>
            </a:schemeClr>
          </a:solidFill>
          <a:ln>
            <a:solidFill>
              <a:schemeClr val="accent1"/>
            </a:solidFill>
          </a:ln>
        </p:spPr>
        <p:txBody>
          <a:bodyPr wrap="square" rtlCol="0">
            <a:spAutoFit/>
          </a:bodyPr>
          <a:lstStyle/>
          <a:p>
            <a:pPr marL="457200" lvl="3" indent="-457200" algn="just">
              <a:lnSpc>
                <a:spcPct val="150000"/>
              </a:lnSpc>
            </a:pPr>
            <a:r>
              <a:rPr lang="en-US" sz="2400" b="1" dirty="0">
                <a:latin typeface="Tahoma" pitchFamily="34" charset="0"/>
                <a:ea typeface="Tahoma" pitchFamily="34" charset="0"/>
                <a:cs typeface="Tahoma" pitchFamily="34" charset="0"/>
              </a:rPr>
              <a:t>Guideline3 :</a:t>
            </a:r>
          </a:p>
          <a:p>
            <a:pPr marL="457200" lvl="3" indent="-457200" algn="just">
              <a:lnSpc>
                <a:spcPct val="150000"/>
              </a:lnSpc>
            </a:pPr>
            <a:r>
              <a:rPr lang="en-US" sz="2000" dirty="0">
                <a:latin typeface="Tahoma" pitchFamily="34" charset="0"/>
                <a:ea typeface="Tahoma" pitchFamily="34" charset="0"/>
                <a:cs typeface="Tahoma" pitchFamily="34" charset="0"/>
              </a:rPr>
              <a:t>       </a:t>
            </a:r>
            <a:r>
              <a:rPr lang="en-US" sz="2000" b="1" dirty="0">
                <a:latin typeface="Tahoma" pitchFamily="34" charset="0"/>
                <a:ea typeface="Tahoma" pitchFamily="34" charset="0"/>
                <a:cs typeface="Tahoma" pitchFamily="34" charset="0"/>
              </a:rPr>
              <a:t>As far as possible, avoid placing attributes in a base relation whose values may frequently be null. If nulls are unavoidable, make sure that they apply in exceptional cases only and do not apply to a majority of tuples in the relation</a:t>
            </a:r>
          </a:p>
        </p:txBody>
      </p:sp>
      <p:sp>
        <p:nvSpPr>
          <p:cNvPr id="8" name="Rectangle 7"/>
          <p:cNvSpPr/>
          <p:nvPr/>
        </p:nvSpPr>
        <p:spPr>
          <a:xfrm>
            <a:off x="0" y="0"/>
            <a:ext cx="8839200" cy="523220"/>
          </a:xfrm>
          <a:prstGeom prst="rect">
            <a:avLst/>
          </a:prstGeom>
        </p:spPr>
        <p:txBody>
          <a:bodyPr wrap="square">
            <a:spAutoFit/>
          </a:bodyPr>
          <a:lstStyle/>
          <a:p>
            <a:pPr marL="457200" indent="-457200">
              <a:buFont typeface="+mj-lt"/>
              <a:buAutoNum type="arabicPeriod" startAt="3"/>
            </a:pPr>
            <a:r>
              <a:rPr lang="en-US" sz="2800" b="1" dirty="0">
                <a:solidFill>
                  <a:srgbClr val="002060"/>
                </a:solidFill>
              </a:rPr>
              <a:t>Null Values in Tuples</a:t>
            </a:r>
          </a:p>
        </p:txBody>
      </p:sp>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0"/>
            <a:ext cx="8001000" cy="523220"/>
          </a:xfrm>
          <a:prstGeom prst="rect">
            <a:avLst/>
          </a:prstGeom>
          <a:noFill/>
        </p:spPr>
        <p:txBody>
          <a:bodyPr wrap="square" rtlCol="0">
            <a:spAutoFit/>
          </a:bodyPr>
          <a:lstStyle/>
          <a:p>
            <a:pPr marL="457200" indent="-457200"/>
            <a:r>
              <a:rPr lang="en-US" sz="2800" b="1" dirty="0">
                <a:solidFill>
                  <a:srgbClr val="002060"/>
                </a:solidFill>
                <a:latin typeface="Tahoma" pitchFamily="34" charset="0"/>
                <a:ea typeface="Tahoma" pitchFamily="34" charset="0"/>
                <a:cs typeface="Tahoma" pitchFamily="34" charset="0"/>
              </a:rPr>
              <a:t>4. Generation of Spurious Tuples</a:t>
            </a:r>
          </a:p>
        </p:txBody>
      </p:sp>
      <p:sp>
        <p:nvSpPr>
          <p:cNvPr id="5" name="TextBox 4"/>
          <p:cNvSpPr txBox="1"/>
          <p:nvPr/>
        </p:nvSpPr>
        <p:spPr>
          <a:xfrm>
            <a:off x="228600" y="838200"/>
            <a:ext cx="8686800" cy="455574"/>
          </a:xfrm>
          <a:prstGeom prst="rect">
            <a:avLst/>
          </a:prstGeom>
          <a:noFill/>
        </p:spPr>
        <p:txBody>
          <a:bodyPr wrap="square" rtlCol="0">
            <a:spAutoFit/>
          </a:bodyPr>
          <a:lstStyle/>
          <a:p>
            <a:pPr marL="457200" lvl="3" indent="-457200" algn="just">
              <a:lnSpc>
                <a:spcPct val="150000"/>
              </a:lnSpc>
            </a:pPr>
            <a:r>
              <a:rPr lang="en-US" dirty="0"/>
              <a:t>Consider  EMP_PROJ relation of Figure </a:t>
            </a:r>
            <a:r>
              <a:rPr lang="en-US" dirty="0">
                <a:latin typeface="Tahoma" pitchFamily="34" charset="0"/>
                <a:ea typeface="Tahoma" pitchFamily="34" charset="0"/>
                <a:cs typeface="Tahoma" pitchFamily="34" charset="0"/>
              </a:rPr>
              <a:t>14.1b and its  relation state</a:t>
            </a:r>
          </a:p>
        </p:txBody>
      </p:sp>
      <p:pic>
        <p:nvPicPr>
          <p:cNvPr id="1026" name="Picture 2"/>
          <p:cNvPicPr>
            <a:picLocks noChangeAspect="1" noChangeArrowheads="1"/>
          </p:cNvPicPr>
          <p:nvPr/>
        </p:nvPicPr>
        <p:blipFill>
          <a:blip r:embed="rId3" cstate="print"/>
          <a:srcRect/>
          <a:stretch>
            <a:fillRect/>
          </a:stretch>
        </p:blipFill>
        <p:spPr bwMode="auto">
          <a:xfrm>
            <a:off x="381000" y="1639760"/>
            <a:ext cx="7911548" cy="951040"/>
          </a:xfrm>
          <a:prstGeom prst="rect">
            <a:avLst/>
          </a:prstGeom>
          <a:noFill/>
          <a:ln w="9525">
            <a:noFill/>
            <a:miter lim="800000"/>
            <a:headEnd/>
            <a:tailEnd/>
          </a:ln>
          <a:effectLst/>
        </p:spPr>
      </p:pic>
      <p:pic>
        <p:nvPicPr>
          <p:cNvPr id="8" name="Picture 2"/>
          <p:cNvPicPr>
            <a:picLocks noChangeAspect="1" noChangeArrowheads="1"/>
          </p:cNvPicPr>
          <p:nvPr/>
        </p:nvPicPr>
        <p:blipFill>
          <a:blip r:embed="rId4" cstate="print"/>
          <a:srcRect/>
          <a:stretch>
            <a:fillRect/>
          </a:stretch>
        </p:blipFill>
        <p:spPr bwMode="auto">
          <a:xfrm>
            <a:off x="838200" y="2893280"/>
            <a:ext cx="7391400" cy="3751961"/>
          </a:xfrm>
          <a:prstGeom prst="rect">
            <a:avLst/>
          </a:prstGeom>
          <a:noFill/>
          <a:ln w="9525">
            <a:noFill/>
            <a:miter lim="800000"/>
            <a:headEnd/>
            <a:tailEnd/>
          </a:ln>
          <a:effectLst/>
        </p:spPr>
      </p:pic>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400" y="609600"/>
            <a:ext cx="8686800" cy="923330"/>
          </a:xfrm>
          <a:prstGeom prst="rect">
            <a:avLst/>
          </a:prstGeom>
          <a:noFill/>
        </p:spPr>
        <p:txBody>
          <a:bodyPr wrap="square" rtlCol="0">
            <a:spAutoFit/>
          </a:bodyPr>
          <a:lstStyle/>
          <a:p>
            <a:pPr marL="457200" lvl="3" indent="-457200" algn="just">
              <a:lnSpc>
                <a:spcPct val="150000"/>
              </a:lnSpc>
            </a:pPr>
            <a:r>
              <a:rPr lang="en-US" dirty="0"/>
              <a:t>Let us split  EMP_PROJ  into 2 relation </a:t>
            </a:r>
            <a:r>
              <a:rPr lang="en-US" b="1" dirty="0"/>
              <a:t>EMP_PROJ1</a:t>
            </a:r>
            <a:r>
              <a:rPr lang="en-US" dirty="0"/>
              <a:t> and </a:t>
            </a:r>
            <a:r>
              <a:rPr lang="en-US" b="1" dirty="0"/>
              <a:t>EMP_LOCS</a:t>
            </a:r>
            <a:r>
              <a:rPr lang="en-US" dirty="0"/>
              <a:t> as shown below.</a:t>
            </a:r>
            <a:endParaRPr lang="en-US" dirty="0">
              <a:latin typeface="Tahoma" pitchFamily="34" charset="0"/>
              <a:ea typeface="Tahoma" pitchFamily="34" charset="0"/>
              <a:cs typeface="Tahoma" pitchFamily="34" charset="0"/>
            </a:endParaRPr>
          </a:p>
        </p:txBody>
      </p:sp>
      <p:pic>
        <p:nvPicPr>
          <p:cNvPr id="2050" name="Picture 2"/>
          <p:cNvPicPr>
            <a:picLocks noChangeAspect="1" noChangeArrowheads="1"/>
          </p:cNvPicPr>
          <p:nvPr/>
        </p:nvPicPr>
        <p:blipFill>
          <a:blip r:embed="rId3" cstate="print"/>
          <a:srcRect/>
          <a:stretch>
            <a:fillRect/>
          </a:stretch>
        </p:blipFill>
        <p:spPr bwMode="auto">
          <a:xfrm>
            <a:off x="1143000" y="1883343"/>
            <a:ext cx="7315200" cy="2387065"/>
          </a:xfrm>
          <a:prstGeom prst="rect">
            <a:avLst/>
          </a:prstGeom>
          <a:noFill/>
          <a:ln w="9525">
            <a:noFill/>
            <a:miter lim="800000"/>
            <a:headEnd/>
            <a:tailEnd/>
          </a:ln>
          <a:effectLst/>
        </p:spPr>
      </p:pic>
      <p:sp>
        <p:nvSpPr>
          <p:cNvPr id="9" name="TextBox 8"/>
          <p:cNvSpPr txBox="1"/>
          <p:nvPr/>
        </p:nvSpPr>
        <p:spPr>
          <a:xfrm>
            <a:off x="228600" y="4495800"/>
            <a:ext cx="8686800" cy="1969770"/>
          </a:xfrm>
          <a:prstGeom prst="rect">
            <a:avLst/>
          </a:prstGeom>
          <a:noFill/>
        </p:spPr>
        <p:txBody>
          <a:bodyPr wrap="square" rtlCol="0">
            <a:spAutoFit/>
          </a:bodyPr>
          <a:lstStyle/>
          <a:p>
            <a:pPr algn="just">
              <a:buFont typeface="Arial" pitchFamily="34" charset="0"/>
              <a:buChar char="•"/>
            </a:pPr>
            <a:r>
              <a:rPr lang="en-US" dirty="0">
                <a:latin typeface="Times New Roman"/>
              </a:rPr>
              <a:t> </a:t>
            </a:r>
            <a:r>
              <a:rPr lang="en-US" sz="2000" dirty="0">
                <a:latin typeface="Times New Roman"/>
              </a:rPr>
              <a:t>A tuple in </a:t>
            </a:r>
            <a:r>
              <a:rPr lang="en-US" sz="1200" dirty="0"/>
              <a:t>EMP_LOCS</a:t>
            </a:r>
            <a:r>
              <a:rPr lang="en-US" sz="900" dirty="0"/>
              <a:t> </a:t>
            </a:r>
            <a:r>
              <a:rPr lang="en-US" sz="2000" dirty="0">
                <a:latin typeface="Times New Roman"/>
              </a:rPr>
              <a:t>means that  the employee whose name is </a:t>
            </a:r>
            <a:r>
              <a:rPr lang="en-US" sz="1400" dirty="0"/>
              <a:t>ENAME </a:t>
            </a:r>
            <a:r>
              <a:rPr lang="en-US" sz="2000" dirty="0">
                <a:latin typeface="Times New Roman"/>
              </a:rPr>
              <a:t>works on </a:t>
            </a:r>
            <a:r>
              <a:rPr lang="en-US" sz="2400" i="1" dirty="0">
                <a:latin typeface="Times New Roman"/>
              </a:rPr>
              <a:t>some project </a:t>
            </a:r>
            <a:r>
              <a:rPr lang="en-US" sz="2000" i="1" dirty="0">
                <a:latin typeface="Times New Roman"/>
              </a:rPr>
              <a:t>whose location is </a:t>
            </a:r>
            <a:r>
              <a:rPr lang="en-US" sz="1400" i="1" dirty="0"/>
              <a:t>PLOCATION</a:t>
            </a:r>
          </a:p>
          <a:p>
            <a:pPr algn="just">
              <a:buFont typeface="Arial" pitchFamily="34" charset="0"/>
              <a:buChar char="•"/>
            </a:pPr>
            <a:endParaRPr lang="en-US" sz="1400" i="1" dirty="0"/>
          </a:p>
          <a:p>
            <a:pPr algn="just">
              <a:buFont typeface="Arial" pitchFamily="34" charset="0"/>
              <a:buChar char="•"/>
            </a:pPr>
            <a:r>
              <a:rPr lang="en-US" sz="2000" dirty="0">
                <a:latin typeface="Times New Roman"/>
              </a:rPr>
              <a:t> A tuple  in </a:t>
            </a:r>
            <a:r>
              <a:rPr lang="en-US" sz="1100" dirty="0"/>
              <a:t>EMP_PROJ1 </a:t>
            </a:r>
            <a:r>
              <a:rPr lang="en-US" sz="2000" dirty="0">
                <a:latin typeface="Times New Roman"/>
              </a:rPr>
              <a:t>means that the employee whose social security number is </a:t>
            </a:r>
            <a:r>
              <a:rPr lang="en-US" sz="1200" dirty="0"/>
              <a:t>SSN</a:t>
            </a:r>
            <a:r>
              <a:rPr lang="en-US" sz="1000" dirty="0"/>
              <a:t> </a:t>
            </a:r>
            <a:r>
              <a:rPr lang="en-US" sz="2000" dirty="0">
                <a:latin typeface="Times New Roman"/>
              </a:rPr>
              <a:t>works </a:t>
            </a:r>
            <a:r>
              <a:rPr lang="en-US" sz="1100" dirty="0"/>
              <a:t>HOURS</a:t>
            </a:r>
            <a:r>
              <a:rPr lang="en-US" sz="900" dirty="0"/>
              <a:t>  </a:t>
            </a:r>
            <a:r>
              <a:rPr lang="en-US" sz="2000" dirty="0">
                <a:latin typeface="Times New Roman"/>
              </a:rPr>
              <a:t>per week on the project whose name, number, and location are </a:t>
            </a:r>
            <a:r>
              <a:rPr lang="en-US" sz="1200" dirty="0"/>
              <a:t>PNAME,</a:t>
            </a:r>
            <a:r>
              <a:rPr lang="en-US" sz="1050" dirty="0"/>
              <a:t> </a:t>
            </a:r>
            <a:r>
              <a:rPr lang="en-US" sz="1200" dirty="0"/>
              <a:t>PNUMBER, </a:t>
            </a:r>
            <a:r>
              <a:rPr lang="en-US" sz="2000" dirty="0">
                <a:latin typeface="Times New Roman"/>
              </a:rPr>
              <a:t>and</a:t>
            </a:r>
            <a:r>
              <a:rPr lang="en-US" sz="2400" dirty="0">
                <a:latin typeface="Times New Roman"/>
              </a:rPr>
              <a:t> </a:t>
            </a:r>
            <a:r>
              <a:rPr lang="en-US" sz="1100" dirty="0"/>
              <a:t>PLOCATION</a:t>
            </a:r>
            <a:endParaRPr lang="en-US" sz="2000" dirty="0"/>
          </a:p>
        </p:txBody>
      </p:sp>
      <p:sp>
        <p:nvSpPr>
          <p:cNvPr id="8" name="TextBox 7"/>
          <p:cNvSpPr txBox="1"/>
          <p:nvPr/>
        </p:nvSpPr>
        <p:spPr>
          <a:xfrm>
            <a:off x="0" y="0"/>
            <a:ext cx="8001000" cy="523220"/>
          </a:xfrm>
          <a:prstGeom prst="rect">
            <a:avLst/>
          </a:prstGeom>
          <a:noFill/>
        </p:spPr>
        <p:txBody>
          <a:bodyPr wrap="square" rtlCol="0">
            <a:spAutoFit/>
          </a:bodyPr>
          <a:lstStyle/>
          <a:p>
            <a:pPr marL="457200" indent="-457200"/>
            <a:r>
              <a:rPr lang="en-US" sz="2800" b="1" dirty="0">
                <a:solidFill>
                  <a:srgbClr val="002060"/>
                </a:solidFill>
                <a:latin typeface="Tahoma" pitchFamily="34" charset="0"/>
                <a:ea typeface="Tahoma" pitchFamily="34" charset="0"/>
                <a:cs typeface="Tahoma" pitchFamily="34" charset="0"/>
              </a:rPr>
              <a:t>4. Generation of Spurious Tuples</a:t>
            </a: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685800"/>
            <a:ext cx="8686800" cy="923330"/>
          </a:xfrm>
          <a:prstGeom prst="rect">
            <a:avLst/>
          </a:prstGeom>
          <a:noFill/>
        </p:spPr>
        <p:txBody>
          <a:bodyPr wrap="square" rtlCol="0">
            <a:spAutoFit/>
          </a:bodyPr>
          <a:lstStyle/>
          <a:p>
            <a:pPr marL="457200" lvl="3" indent="-457200" algn="just">
              <a:lnSpc>
                <a:spcPct val="150000"/>
              </a:lnSpc>
            </a:pPr>
            <a:r>
              <a:rPr lang="en-US" dirty="0">
                <a:latin typeface="Tahoma" pitchFamily="34" charset="0"/>
                <a:ea typeface="Tahoma" pitchFamily="34" charset="0"/>
                <a:cs typeface="Tahoma" pitchFamily="34" charset="0"/>
              </a:rPr>
              <a:t>Now  produce  tuples for </a:t>
            </a:r>
            <a:r>
              <a:rPr lang="en-US" b="1" dirty="0">
                <a:latin typeface="Tahoma" pitchFamily="34" charset="0"/>
                <a:ea typeface="Tahoma" pitchFamily="34" charset="0"/>
                <a:cs typeface="Tahoma" pitchFamily="34" charset="0"/>
              </a:rPr>
              <a:t>EMP_LOCS</a:t>
            </a:r>
            <a:r>
              <a:rPr lang="en-US" dirty="0">
                <a:latin typeface="Tahoma" pitchFamily="34" charset="0"/>
                <a:ea typeface="Tahoma" pitchFamily="34" charset="0"/>
                <a:cs typeface="Tahoma" pitchFamily="34" charset="0"/>
              </a:rPr>
              <a:t> by applying </a:t>
            </a:r>
            <a:r>
              <a:rPr lang="en-US" b="1" dirty="0">
                <a:latin typeface="Tahoma" pitchFamily="34" charset="0"/>
                <a:ea typeface="Tahoma" pitchFamily="34" charset="0"/>
                <a:cs typeface="Tahoma" pitchFamily="34" charset="0"/>
              </a:rPr>
              <a:t>project</a:t>
            </a:r>
            <a:r>
              <a:rPr lang="en-US" dirty="0">
                <a:latin typeface="Tahoma" pitchFamily="34" charset="0"/>
                <a:ea typeface="Tahoma" pitchFamily="34" charset="0"/>
                <a:cs typeface="Tahoma" pitchFamily="34" charset="0"/>
              </a:rPr>
              <a:t>  operation  to EMP_PROJ relation state  , So we get tuples as shown below </a:t>
            </a:r>
          </a:p>
        </p:txBody>
      </p:sp>
      <p:pic>
        <p:nvPicPr>
          <p:cNvPr id="3074" name="Picture 2"/>
          <p:cNvPicPr>
            <a:picLocks noChangeAspect="1" noChangeArrowheads="1"/>
          </p:cNvPicPr>
          <p:nvPr/>
        </p:nvPicPr>
        <p:blipFill>
          <a:blip r:embed="rId3" cstate="print"/>
          <a:srcRect/>
          <a:stretch>
            <a:fillRect/>
          </a:stretch>
        </p:blipFill>
        <p:spPr bwMode="auto">
          <a:xfrm>
            <a:off x="981364" y="2057400"/>
            <a:ext cx="5876636" cy="3840180"/>
          </a:xfrm>
          <a:prstGeom prst="rect">
            <a:avLst/>
          </a:prstGeom>
          <a:noFill/>
          <a:ln w="9525">
            <a:noFill/>
            <a:miter lim="800000"/>
            <a:headEnd/>
            <a:tailEnd/>
          </a:ln>
          <a:effectLst/>
        </p:spPr>
      </p:pic>
      <p:sp>
        <p:nvSpPr>
          <p:cNvPr id="8" name="TextBox 7"/>
          <p:cNvSpPr txBox="1"/>
          <p:nvPr/>
        </p:nvSpPr>
        <p:spPr>
          <a:xfrm>
            <a:off x="228600" y="6172200"/>
            <a:ext cx="8686800" cy="369332"/>
          </a:xfrm>
          <a:prstGeom prst="rect">
            <a:avLst/>
          </a:prstGeom>
          <a:noFill/>
        </p:spPr>
        <p:txBody>
          <a:bodyPr wrap="square" rtlCol="0">
            <a:spAutoFit/>
          </a:bodyPr>
          <a:lstStyle/>
          <a:p>
            <a:r>
              <a:rPr lang="en-US" dirty="0"/>
              <a:t>Tuples for </a:t>
            </a:r>
            <a:r>
              <a:rPr lang="en-US" b="1" dirty="0">
                <a:latin typeface="Tahoma" pitchFamily="34" charset="0"/>
                <a:ea typeface="Tahoma" pitchFamily="34" charset="0"/>
                <a:cs typeface="Tahoma" pitchFamily="34" charset="0"/>
              </a:rPr>
              <a:t>EMP_LOCS</a:t>
            </a:r>
            <a:r>
              <a:rPr lang="en-US" dirty="0">
                <a:latin typeface="Tahoma" pitchFamily="34" charset="0"/>
                <a:ea typeface="Tahoma" pitchFamily="34" charset="0"/>
                <a:cs typeface="Tahoma" pitchFamily="34" charset="0"/>
              </a:rPr>
              <a:t>  obtained by  applying  Project operation  to EMP_PROJ</a:t>
            </a:r>
            <a:endParaRPr lang="en-US" dirty="0"/>
          </a:p>
        </p:txBody>
      </p:sp>
      <p:sp>
        <p:nvSpPr>
          <p:cNvPr id="9" name="TextBox 8"/>
          <p:cNvSpPr txBox="1"/>
          <p:nvPr/>
        </p:nvSpPr>
        <p:spPr>
          <a:xfrm>
            <a:off x="0" y="0"/>
            <a:ext cx="8001000" cy="523220"/>
          </a:xfrm>
          <a:prstGeom prst="rect">
            <a:avLst/>
          </a:prstGeom>
          <a:noFill/>
        </p:spPr>
        <p:txBody>
          <a:bodyPr wrap="square" rtlCol="0">
            <a:spAutoFit/>
          </a:bodyPr>
          <a:lstStyle/>
          <a:p>
            <a:pPr marL="457200" indent="-457200"/>
            <a:r>
              <a:rPr lang="en-US" sz="2800" b="1" dirty="0">
                <a:solidFill>
                  <a:srgbClr val="002060"/>
                </a:solidFill>
                <a:latin typeface="Tahoma" pitchFamily="34" charset="0"/>
                <a:ea typeface="Tahoma" pitchFamily="34" charset="0"/>
                <a:cs typeface="Tahoma" pitchFamily="34" charset="0"/>
              </a:rPr>
              <a:t>4. Generation of Spurious Tuples</a:t>
            </a: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400" y="685800"/>
            <a:ext cx="8686800" cy="923330"/>
          </a:xfrm>
          <a:prstGeom prst="rect">
            <a:avLst/>
          </a:prstGeom>
          <a:noFill/>
        </p:spPr>
        <p:txBody>
          <a:bodyPr wrap="square" rtlCol="0">
            <a:spAutoFit/>
          </a:bodyPr>
          <a:lstStyle/>
          <a:p>
            <a:pPr marL="457200" lvl="3" indent="-457200" algn="just">
              <a:lnSpc>
                <a:spcPct val="150000"/>
              </a:lnSpc>
            </a:pPr>
            <a:r>
              <a:rPr lang="en-US" dirty="0">
                <a:latin typeface="Tahoma" pitchFamily="34" charset="0"/>
                <a:ea typeface="Tahoma" pitchFamily="34" charset="0"/>
                <a:cs typeface="Tahoma" pitchFamily="34" charset="0"/>
              </a:rPr>
              <a:t>Now  produce  tuples for </a:t>
            </a:r>
            <a:r>
              <a:rPr lang="en-US" b="1" dirty="0">
                <a:latin typeface="Tahoma" pitchFamily="34" charset="0"/>
                <a:ea typeface="Tahoma" pitchFamily="34" charset="0"/>
                <a:cs typeface="Tahoma" pitchFamily="34" charset="0"/>
              </a:rPr>
              <a:t>EMP_PROJ1</a:t>
            </a:r>
            <a:r>
              <a:rPr lang="en-US" dirty="0">
                <a:latin typeface="Tahoma" pitchFamily="34" charset="0"/>
                <a:ea typeface="Tahoma" pitchFamily="34" charset="0"/>
                <a:cs typeface="Tahoma" pitchFamily="34" charset="0"/>
              </a:rPr>
              <a:t> by applying </a:t>
            </a:r>
            <a:r>
              <a:rPr lang="en-US" b="1" dirty="0">
                <a:latin typeface="Tahoma" pitchFamily="34" charset="0"/>
                <a:ea typeface="Tahoma" pitchFamily="34" charset="0"/>
                <a:cs typeface="Tahoma" pitchFamily="34" charset="0"/>
              </a:rPr>
              <a:t>project</a:t>
            </a:r>
            <a:r>
              <a:rPr lang="en-US" dirty="0">
                <a:latin typeface="Tahoma" pitchFamily="34" charset="0"/>
                <a:ea typeface="Tahoma" pitchFamily="34" charset="0"/>
                <a:cs typeface="Tahoma" pitchFamily="34" charset="0"/>
              </a:rPr>
              <a:t>  operation  to EMP_PROJ relation state  , So we get tuples as shown below </a:t>
            </a:r>
          </a:p>
        </p:txBody>
      </p:sp>
      <p:sp>
        <p:nvSpPr>
          <p:cNvPr id="8" name="TextBox 7"/>
          <p:cNvSpPr txBox="1"/>
          <p:nvPr/>
        </p:nvSpPr>
        <p:spPr>
          <a:xfrm>
            <a:off x="228600" y="6172200"/>
            <a:ext cx="8686800" cy="369332"/>
          </a:xfrm>
          <a:prstGeom prst="rect">
            <a:avLst/>
          </a:prstGeom>
          <a:noFill/>
        </p:spPr>
        <p:txBody>
          <a:bodyPr wrap="square" rtlCol="0">
            <a:spAutoFit/>
          </a:bodyPr>
          <a:lstStyle/>
          <a:p>
            <a:r>
              <a:rPr lang="en-US" dirty="0"/>
              <a:t>Tuples for </a:t>
            </a:r>
            <a:r>
              <a:rPr lang="en-US" b="1" dirty="0">
                <a:latin typeface="Tahoma" pitchFamily="34" charset="0"/>
                <a:ea typeface="Tahoma" pitchFamily="34" charset="0"/>
                <a:cs typeface="Tahoma" pitchFamily="34" charset="0"/>
              </a:rPr>
              <a:t>EMP_PROJ1</a:t>
            </a:r>
            <a:r>
              <a:rPr lang="en-US" dirty="0">
                <a:latin typeface="Tahoma" pitchFamily="34" charset="0"/>
                <a:ea typeface="Tahoma" pitchFamily="34" charset="0"/>
                <a:cs typeface="Tahoma" pitchFamily="34" charset="0"/>
              </a:rPr>
              <a:t> obtained by  applying  Project operation  to EMP_PROJ</a:t>
            </a:r>
            <a:endParaRPr lang="en-US" dirty="0"/>
          </a:p>
        </p:txBody>
      </p:sp>
      <p:pic>
        <p:nvPicPr>
          <p:cNvPr id="3075" name="Picture 3"/>
          <p:cNvPicPr>
            <a:picLocks noChangeAspect="1" noChangeArrowheads="1"/>
          </p:cNvPicPr>
          <p:nvPr/>
        </p:nvPicPr>
        <p:blipFill>
          <a:blip r:embed="rId3" cstate="print"/>
          <a:srcRect/>
          <a:stretch>
            <a:fillRect/>
          </a:stretch>
        </p:blipFill>
        <p:spPr bwMode="auto">
          <a:xfrm>
            <a:off x="762000" y="2286000"/>
            <a:ext cx="7315200" cy="3762820"/>
          </a:xfrm>
          <a:prstGeom prst="rect">
            <a:avLst/>
          </a:prstGeom>
          <a:noFill/>
          <a:ln w="9525">
            <a:noFill/>
            <a:miter lim="800000"/>
            <a:headEnd/>
            <a:tailEnd/>
          </a:ln>
          <a:effectLst/>
        </p:spPr>
      </p:pic>
      <p:sp>
        <p:nvSpPr>
          <p:cNvPr id="9" name="TextBox 8"/>
          <p:cNvSpPr txBox="1"/>
          <p:nvPr/>
        </p:nvSpPr>
        <p:spPr>
          <a:xfrm>
            <a:off x="0" y="0"/>
            <a:ext cx="6324600" cy="523220"/>
          </a:xfrm>
          <a:prstGeom prst="rect">
            <a:avLst/>
          </a:prstGeom>
          <a:noFill/>
        </p:spPr>
        <p:txBody>
          <a:bodyPr wrap="square" rtlCol="0">
            <a:spAutoFit/>
          </a:bodyPr>
          <a:lstStyle/>
          <a:p>
            <a:pPr marL="457200" indent="-457200"/>
            <a:r>
              <a:rPr lang="en-US" sz="2800" b="1" dirty="0">
                <a:solidFill>
                  <a:srgbClr val="002060"/>
                </a:solidFill>
                <a:latin typeface="Tahoma" pitchFamily="34" charset="0"/>
                <a:ea typeface="Tahoma" pitchFamily="34" charset="0"/>
                <a:cs typeface="Tahoma" pitchFamily="34" charset="0"/>
              </a:rPr>
              <a:t>4. Generation of Spurious Tuples</a:t>
            </a: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762000"/>
            <a:ext cx="8001000" cy="400110"/>
          </a:xfrm>
          <a:prstGeom prst="rect">
            <a:avLst/>
          </a:prstGeom>
          <a:noFill/>
        </p:spPr>
        <p:txBody>
          <a:bodyPr wrap="square" rtlCol="0">
            <a:spAutoFit/>
          </a:bodyPr>
          <a:lstStyle/>
          <a:p>
            <a:pPr marL="457200" indent="-457200">
              <a:buFont typeface="+mj-lt"/>
              <a:buAutoNum type="arabicPeriod" startAt="4"/>
            </a:pPr>
            <a:r>
              <a:rPr lang="en-US" sz="2000" b="1" dirty="0">
                <a:latin typeface="Tahoma" pitchFamily="34" charset="0"/>
                <a:ea typeface="Tahoma" pitchFamily="34" charset="0"/>
                <a:cs typeface="Tahoma" pitchFamily="34" charset="0"/>
              </a:rPr>
              <a:t>Generation of Spurious Tuples</a:t>
            </a:r>
          </a:p>
        </p:txBody>
      </p:sp>
      <p:sp>
        <p:nvSpPr>
          <p:cNvPr id="5" name="TextBox 4"/>
          <p:cNvSpPr txBox="1"/>
          <p:nvPr/>
        </p:nvSpPr>
        <p:spPr>
          <a:xfrm>
            <a:off x="228600" y="1219200"/>
            <a:ext cx="8686800" cy="1523494"/>
          </a:xfrm>
          <a:prstGeom prst="rect">
            <a:avLst/>
          </a:prstGeom>
          <a:noFill/>
        </p:spPr>
        <p:txBody>
          <a:bodyPr wrap="square" rtlCol="0">
            <a:spAutoFit/>
          </a:bodyPr>
          <a:lstStyle/>
          <a:p>
            <a:pPr marL="457200" lvl="3" indent="-457200" algn="just">
              <a:lnSpc>
                <a:spcPct val="150000"/>
              </a:lnSpc>
            </a:pPr>
            <a:r>
              <a:rPr lang="en-US" sz="1600" dirty="0">
                <a:latin typeface="Tahoma" pitchFamily="34" charset="0"/>
                <a:ea typeface="Tahoma" pitchFamily="34" charset="0"/>
                <a:cs typeface="Tahoma" pitchFamily="34" charset="0"/>
              </a:rPr>
              <a:t>Now  apply natural join operation (*)  on </a:t>
            </a:r>
            <a:r>
              <a:rPr lang="en-US" sz="1600" b="1" dirty="0">
                <a:latin typeface="Tahoma" pitchFamily="34" charset="0"/>
                <a:ea typeface="Tahoma" pitchFamily="34" charset="0"/>
                <a:cs typeface="Tahoma" pitchFamily="34" charset="0"/>
              </a:rPr>
              <a:t>EMP_PROJ1</a:t>
            </a:r>
            <a:r>
              <a:rPr lang="en-US" sz="1600" dirty="0">
                <a:latin typeface="Tahoma" pitchFamily="34" charset="0"/>
                <a:ea typeface="Tahoma" pitchFamily="34" charset="0"/>
                <a:cs typeface="Tahoma" pitchFamily="34" charset="0"/>
              </a:rPr>
              <a:t> and </a:t>
            </a:r>
            <a:r>
              <a:rPr lang="en-US" sz="1600" b="1" dirty="0">
                <a:latin typeface="Tahoma" pitchFamily="34" charset="0"/>
                <a:ea typeface="Tahoma" pitchFamily="34" charset="0"/>
                <a:cs typeface="Tahoma" pitchFamily="34" charset="0"/>
              </a:rPr>
              <a:t>EMP_LOCS </a:t>
            </a:r>
            <a:r>
              <a:rPr lang="en-US" sz="1600" dirty="0">
                <a:latin typeface="Tahoma" pitchFamily="34" charset="0"/>
                <a:ea typeface="Tahoma" pitchFamily="34" charset="0"/>
                <a:cs typeface="Tahoma" pitchFamily="34" charset="0"/>
              </a:rPr>
              <a:t>to get the original relation</a:t>
            </a:r>
            <a:r>
              <a:rPr lang="en-US" sz="1600" b="1" dirty="0">
                <a:latin typeface="Tahoma" pitchFamily="34" charset="0"/>
                <a:ea typeface="Tahoma" pitchFamily="34" charset="0"/>
                <a:cs typeface="Tahoma" pitchFamily="34" charset="0"/>
              </a:rPr>
              <a:t> EMP_PROJ. We consider  only the tuples above dotted lines. So we get following relation </a:t>
            </a:r>
          </a:p>
          <a:p>
            <a:pPr marL="2743200" lvl="8" indent="-457200" algn="just">
              <a:lnSpc>
                <a:spcPct val="150000"/>
              </a:lnSpc>
            </a:pPr>
            <a:r>
              <a:rPr lang="en-US" sz="1400" b="1" dirty="0">
                <a:latin typeface="Tahoma" pitchFamily="34" charset="0"/>
                <a:ea typeface="Tahoma" pitchFamily="34" charset="0"/>
                <a:cs typeface="Tahoma" pitchFamily="34" charset="0"/>
              </a:rPr>
              <a:t>   EMP_PROJ1  </a:t>
            </a:r>
            <a:r>
              <a:rPr lang="en-US" sz="1400" dirty="0">
                <a:latin typeface="Tahoma" pitchFamily="34" charset="0"/>
                <a:ea typeface="Tahoma" pitchFamily="34" charset="0"/>
                <a:cs typeface="Tahoma" pitchFamily="34" charset="0"/>
              </a:rPr>
              <a:t>*  </a:t>
            </a:r>
            <a:r>
              <a:rPr lang="en-US" sz="1400" b="1" dirty="0">
                <a:latin typeface="Tahoma" pitchFamily="34" charset="0"/>
                <a:ea typeface="Tahoma" pitchFamily="34" charset="0"/>
                <a:cs typeface="Tahoma" pitchFamily="34" charset="0"/>
              </a:rPr>
              <a:t>EMP_LOCS</a:t>
            </a:r>
            <a:endParaRPr lang="en-US" sz="1400" dirty="0">
              <a:latin typeface="Tahoma" pitchFamily="34" charset="0"/>
              <a:ea typeface="Tahoma" pitchFamily="34" charset="0"/>
              <a:cs typeface="Tahoma" pitchFamily="34" charset="0"/>
            </a:endParaRPr>
          </a:p>
        </p:txBody>
      </p:sp>
      <p:pic>
        <p:nvPicPr>
          <p:cNvPr id="4100" name="Picture 4"/>
          <p:cNvPicPr>
            <a:picLocks noChangeAspect="1" noChangeArrowheads="1"/>
          </p:cNvPicPr>
          <p:nvPr/>
        </p:nvPicPr>
        <p:blipFill>
          <a:blip r:embed="rId3" cstate="print"/>
          <a:srcRect/>
          <a:stretch>
            <a:fillRect/>
          </a:stretch>
        </p:blipFill>
        <p:spPr bwMode="auto">
          <a:xfrm>
            <a:off x="1600200" y="2704283"/>
            <a:ext cx="5725292" cy="4153717"/>
          </a:xfrm>
          <a:prstGeom prst="rect">
            <a:avLst/>
          </a:prstGeom>
          <a:noFill/>
          <a:ln w="9525">
            <a:noFill/>
            <a:miter lim="800000"/>
            <a:headEnd/>
            <a:tailEnd/>
          </a:ln>
          <a:effectLst/>
        </p:spPr>
      </p:pic>
      <p:sp>
        <p:nvSpPr>
          <p:cNvPr id="8" name="TextBox 7"/>
          <p:cNvSpPr txBox="1"/>
          <p:nvPr/>
        </p:nvSpPr>
        <p:spPr>
          <a:xfrm>
            <a:off x="0" y="0"/>
            <a:ext cx="6324600" cy="523220"/>
          </a:xfrm>
          <a:prstGeom prst="rect">
            <a:avLst/>
          </a:prstGeom>
          <a:noFill/>
        </p:spPr>
        <p:txBody>
          <a:bodyPr wrap="square" rtlCol="0">
            <a:spAutoFit/>
          </a:bodyPr>
          <a:lstStyle/>
          <a:p>
            <a:pPr marL="457200" indent="-457200"/>
            <a:r>
              <a:rPr lang="en-US" sz="2800" b="1" dirty="0">
                <a:solidFill>
                  <a:srgbClr val="002060"/>
                </a:solidFill>
                <a:latin typeface="Tahoma" pitchFamily="34" charset="0"/>
                <a:ea typeface="Tahoma" pitchFamily="34" charset="0"/>
                <a:cs typeface="Tahoma" pitchFamily="34" charset="0"/>
              </a:rPr>
              <a:t>4. Generation of Spurious Tuples</a:t>
            </a:r>
          </a:p>
        </p:txBody>
      </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400" y="914400"/>
            <a:ext cx="8686800" cy="5078313"/>
          </a:xfrm>
          <a:prstGeom prst="rect">
            <a:avLst/>
          </a:prstGeom>
          <a:noFill/>
        </p:spPr>
        <p:txBody>
          <a:bodyPr wrap="square" rtlCol="0">
            <a:spAutoFit/>
          </a:bodyPr>
          <a:lstStyle/>
          <a:p>
            <a:pPr algn="just">
              <a:lnSpc>
                <a:spcPct val="150000"/>
              </a:lnSpc>
            </a:pPr>
            <a:r>
              <a:rPr lang="en-US" b="1" dirty="0">
                <a:latin typeface="Tahoma" pitchFamily="34" charset="0"/>
                <a:ea typeface="Tahoma" pitchFamily="34" charset="0"/>
                <a:cs typeface="Tahoma" pitchFamily="34" charset="0"/>
              </a:rPr>
              <a:t> </a:t>
            </a:r>
            <a:r>
              <a:rPr lang="en-US" b="1" u="sng" dirty="0">
                <a:solidFill>
                  <a:srgbClr val="C00000"/>
                </a:solidFill>
                <a:latin typeface="Tahoma" pitchFamily="34" charset="0"/>
                <a:ea typeface="Tahoma" pitchFamily="34" charset="0"/>
                <a:cs typeface="Tahoma" pitchFamily="34" charset="0"/>
              </a:rPr>
              <a:t> </a:t>
            </a:r>
            <a:r>
              <a:rPr lang="en-US" sz="2400" b="1" u="sng" dirty="0">
                <a:solidFill>
                  <a:srgbClr val="C00000"/>
                </a:solidFill>
                <a:latin typeface="Tahoma" pitchFamily="34" charset="0"/>
                <a:ea typeface="Tahoma" pitchFamily="34" charset="0"/>
                <a:cs typeface="Tahoma" pitchFamily="34" charset="0"/>
              </a:rPr>
              <a:t>Please note the following</a:t>
            </a:r>
            <a:r>
              <a:rPr lang="en-US" sz="2400" dirty="0">
                <a:solidFill>
                  <a:srgbClr val="C00000"/>
                </a:solidFill>
                <a:latin typeface="Tahoma" pitchFamily="34" charset="0"/>
                <a:ea typeface="Tahoma" pitchFamily="34" charset="0"/>
                <a:cs typeface="Tahoma" pitchFamily="34" charset="0"/>
              </a:rPr>
              <a:t> </a:t>
            </a:r>
            <a:endParaRPr lang="en-US" dirty="0">
              <a:solidFill>
                <a:srgbClr val="C00000"/>
              </a:solidFill>
              <a:latin typeface="Tahoma" pitchFamily="34" charset="0"/>
              <a:ea typeface="Tahoma" pitchFamily="34" charset="0"/>
              <a:cs typeface="Tahoma" pitchFamily="34" charset="0"/>
            </a:endParaRPr>
          </a:p>
          <a:p>
            <a:pPr algn="just">
              <a:lnSpc>
                <a:spcPct val="150000"/>
              </a:lnSpc>
            </a:pPr>
            <a:endParaRPr lang="en-US" dirty="0">
              <a:solidFill>
                <a:srgbClr val="C00000"/>
              </a:solidFill>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Additional tuples that were not in </a:t>
            </a:r>
            <a:r>
              <a:rPr lang="en-US" sz="1400" dirty="0">
                <a:latin typeface="Tahoma" pitchFamily="34" charset="0"/>
                <a:ea typeface="Tahoma" pitchFamily="34" charset="0"/>
                <a:cs typeface="Tahoma" pitchFamily="34" charset="0"/>
              </a:rPr>
              <a:t>EMP_PROJ </a:t>
            </a:r>
            <a:r>
              <a:rPr lang="en-US" dirty="0">
                <a:latin typeface="Tahoma" pitchFamily="34" charset="0"/>
                <a:ea typeface="Tahoma" pitchFamily="34" charset="0"/>
                <a:cs typeface="Tahoma" pitchFamily="34" charset="0"/>
              </a:rPr>
              <a:t>are called spurious tuples because they represent </a:t>
            </a:r>
            <a:r>
              <a:rPr lang="en-US" b="1" dirty="0">
                <a:latin typeface="Tahoma" pitchFamily="34" charset="0"/>
                <a:ea typeface="Tahoma" pitchFamily="34" charset="0"/>
                <a:cs typeface="Tahoma" pitchFamily="34" charset="0"/>
              </a:rPr>
              <a:t>spurious or </a:t>
            </a:r>
            <a:r>
              <a:rPr lang="en-US" sz="2000" b="1" i="1" dirty="0">
                <a:latin typeface="Tahoma" pitchFamily="34" charset="0"/>
                <a:ea typeface="Tahoma" pitchFamily="34" charset="0"/>
                <a:cs typeface="Tahoma" pitchFamily="34" charset="0"/>
              </a:rPr>
              <a:t>wrong </a:t>
            </a:r>
            <a:r>
              <a:rPr lang="en-US" b="1" i="1" dirty="0">
                <a:latin typeface="Tahoma" pitchFamily="34" charset="0"/>
                <a:ea typeface="Tahoma" pitchFamily="34" charset="0"/>
                <a:cs typeface="Tahoma" pitchFamily="34" charset="0"/>
              </a:rPr>
              <a:t>information that is not valid. </a:t>
            </a:r>
            <a:r>
              <a:rPr lang="en-US" i="1" dirty="0">
                <a:latin typeface="Tahoma" pitchFamily="34" charset="0"/>
                <a:ea typeface="Tahoma" pitchFamily="34" charset="0"/>
                <a:cs typeface="Tahoma" pitchFamily="34" charset="0"/>
              </a:rPr>
              <a:t>The spurious </a:t>
            </a:r>
            <a:r>
              <a:rPr lang="en-US" dirty="0">
                <a:latin typeface="Tahoma" pitchFamily="34" charset="0"/>
                <a:ea typeface="Tahoma" pitchFamily="34" charset="0"/>
                <a:cs typeface="Tahoma" pitchFamily="34" charset="0"/>
              </a:rPr>
              <a:t>tuples are marked by asterisks (*).</a:t>
            </a:r>
          </a:p>
          <a:p>
            <a:pPr algn="just">
              <a:lnSpc>
                <a:spcPct val="150000"/>
              </a:lnSpc>
            </a:pPr>
            <a:endParaRPr lang="en-US" dirty="0">
              <a:latin typeface="Tahoma" pitchFamily="34" charset="0"/>
              <a:ea typeface="Tahoma" pitchFamily="34" charset="0"/>
              <a:cs typeface="Tahoma" pitchFamily="34" charset="0"/>
            </a:endParaRPr>
          </a:p>
          <a:p>
            <a:pPr marL="457200" indent="-457200" algn="just">
              <a:lnSpc>
                <a:spcPct val="150000"/>
              </a:lnSpc>
              <a:buFont typeface="Arial" pitchFamily="34" charset="0"/>
              <a:buChar char="•"/>
            </a:pPr>
            <a:r>
              <a:rPr lang="en-US" sz="2000" dirty="0">
                <a:latin typeface="Tahoma" pitchFamily="34" charset="0"/>
                <a:ea typeface="Tahoma" pitchFamily="34" charset="0"/>
                <a:cs typeface="Tahoma" pitchFamily="34" charset="0"/>
              </a:rPr>
              <a:t>Decomposing</a:t>
            </a:r>
            <a:r>
              <a:rPr lang="en-US" sz="1200" dirty="0">
                <a:latin typeface="Tahoma" pitchFamily="34" charset="0"/>
                <a:ea typeface="Tahoma" pitchFamily="34" charset="0"/>
                <a:cs typeface="Tahoma" pitchFamily="34" charset="0"/>
              </a:rPr>
              <a:t> EMP_PROJ </a:t>
            </a:r>
            <a:r>
              <a:rPr lang="en-US" sz="2000" dirty="0">
                <a:latin typeface="Tahoma" pitchFamily="34" charset="0"/>
                <a:ea typeface="Tahoma" pitchFamily="34" charset="0"/>
                <a:cs typeface="Tahoma" pitchFamily="34" charset="0"/>
              </a:rPr>
              <a:t>into </a:t>
            </a:r>
            <a:r>
              <a:rPr lang="en-US" sz="1100" dirty="0">
                <a:latin typeface="Tahoma" pitchFamily="34" charset="0"/>
                <a:ea typeface="Tahoma" pitchFamily="34" charset="0"/>
                <a:cs typeface="Tahoma" pitchFamily="34" charset="0"/>
              </a:rPr>
              <a:t>EMP_LOCS </a:t>
            </a:r>
            <a:r>
              <a:rPr lang="en-US" sz="2000" dirty="0">
                <a:latin typeface="Tahoma" pitchFamily="34" charset="0"/>
                <a:ea typeface="Tahoma" pitchFamily="34" charset="0"/>
                <a:cs typeface="Tahoma" pitchFamily="34" charset="0"/>
              </a:rPr>
              <a:t>and</a:t>
            </a:r>
            <a:r>
              <a:rPr lang="en-US" sz="1200" dirty="0">
                <a:latin typeface="Tahoma" pitchFamily="34" charset="0"/>
                <a:ea typeface="Tahoma" pitchFamily="34" charset="0"/>
                <a:cs typeface="Tahoma" pitchFamily="34" charset="0"/>
              </a:rPr>
              <a:t> EMP_PROJ</a:t>
            </a:r>
            <a:r>
              <a:rPr lang="en-US" sz="400"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is undesirable because, when we </a:t>
            </a:r>
            <a:r>
              <a:rPr lang="en-US" dirty="0">
                <a:latin typeface="Calibri" pitchFamily="34" charset="0"/>
                <a:ea typeface="Tahoma" pitchFamily="34" charset="0"/>
                <a:cs typeface="Tahoma" pitchFamily="34" charset="0"/>
              </a:rPr>
              <a:t>JOIN</a:t>
            </a:r>
            <a:r>
              <a:rPr lang="en-US"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them back using </a:t>
            </a:r>
            <a:r>
              <a:rPr lang="en-US" sz="1200" dirty="0">
                <a:latin typeface="Tahoma" pitchFamily="34" charset="0"/>
                <a:ea typeface="Tahoma" pitchFamily="34" charset="0"/>
                <a:cs typeface="Tahoma" pitchFamily="34" charset="0"/>
              </a:rPr>
              <a:t>NATURAL JOIN, </a:t>
            </a:r>
            <a:r>
              <a:rPr lang="en-US" sz="2000" dirty="0">
                <a:latin typeface="Tahoma" pitchFamily="34" charset="0"/>
                <a:ea typeface="Tahoma" pitchFamily="34" charset="0"/>
                <a:cs typeface="Tahoma" pitchFamily="34" charset="0"/>
              </a:rPr>
              <a:t>we do not get the correct original information. This is  because </a:t>
            </a:r>
            <a:r>
              <a:rPr lang="en-US" sz="2000" dirty="0"/>
              <a:t> </a:t>
            </a:r>
            <a:r>
              <a:rPr lang="en-US" sz="2000" dirty="0">
                <a:latin typeface="Calibri" pitchFamily="34" charset="0"/>
              </a:rPr>
              <a:t>PLOCATION</a:t>
            </a:r>
            <a:r>
              <a:rPr lang="en-US" sz="2000" dirty="0"/>
              <a:t> is neither a primary key nor a foreign key in either </a:t>
            </a:r>
            <a:r>
              <a:rPr lang="en-US" sz="2000" dirty="0">
                <a:latin typeface="Calibri" pitchFamily="34" charset="0"/>
              </a:rPr>
              <a:t>EMP_LOCS</a:t>
            </a:r>
            <a:r>
              <a:rPr lang="en-US" sz="2000" dirty="0"/>
              <a:t> or </a:t>
            </a:r>
            <a:r>
              <a:rPr lang="en-US" sz="2000" dirty="0">
                <a:latin typeface="Calibri" pitchFamily="34" charset="0"/>
              </a:rPr>
              <a:t>EMP_PROJ1</a:t>
            </a:r>
            <a:endParaRPr lang="en-US" sz="2000" dirty="0">
              <a:latin typeface="Calibri" pitchFamily="34" charset="0"/>
              <a:ea typeface="Tahoma" pitchFamily="34" charset="0"/>
              <a:cs typeface="Tahoma" pitchFamily="34" charset="0"/>
            </a:endParaRPr>
          </a:p>
          <a:p>
            <a:pPr algn="just">
              <a:lnSpc>
                <a:spcPct val="150000"/>
              </a:lnSpc>
            </a:pPr>
            <a:endParaRPr lang="en-US" sz="2000" dirty="0">
              <a:latin typeface="Tahoma" pitchFamily="34" charset="0"/>
              <a:ea typeface="Tahoma" pitchFamily="34" charset="0"/>
              <a:cs typeface="Tahoma" pitchFamily="34" charset="0"/>
            </a:endParaRPr>
          </a:p>
        </p:txBody>
      </p:sp>
      <p:sp>
        <p:nvSpPr>
          <p:cNvPr id="8" name="TextBox 7"/>
          <p:cNvSpPr txBox="1"/>
          <p:nvPr/>
        </p:nvSpPr>
        <p:spPr>
          <a:xfrm>
            <a:off x="0" y="0"/>
            <a:ext cx="6324600" cy="523220"/>
          </a:xfrm>
          <a:prstGeom prst="rect">
            <a:avLst/>
          </a:prstGeom>
          <a:noFill/>
        </p:spPr>
        <p:txBody>
          <a:bodyPr wrap="square" rtlCol="0">
            <a:spAutoFit/>
          </a:bodyPr>
          <a:lstStyle/>
          <a:p>
            <a:pPr marL="457200" indent="-457200"/>
            <a:r>
              <a:rPr lang="en-US" sz="2800" b="1" dirty="0">
                <a:solidFill>
                  <a:srgbClr val="002060"/>
                </a:solidFill>
                <a:latin typeface="Tahoma" pitchFamily="34" charset="0"/>
                <a:ea typeface="Tahoma" pitchFamily="34" charset="0"/>
                <a:cs typeface="Tahoma" pitchFamily="34" charset="0"/>
              </a:rPr>
              <a:t>4. Generation of Spurious Tuples</a:t>
            </a:r>
          </a:p>
        </p:txBody>
      </p:sp>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400" y="1295400"/>
            <a:ext cx="8686800" cy="3693319"/>
          </a:xfrm>
          <a:prstGeom prst="rect">
            <a:avLst/>
          </a:prstGeom>
          <a:solidFill>
            <a:schemeClr val="accent2">
              <a:lumMod val="20000"/>
              <a:lumOff val="80000"/>
            </a:schemeClr>
          </a:solidFill>
          <a:ln>
            <a:solidFill>
              <a:schemeClr val="accent1"/>
            </a:solidFill>
          </a:ln>
        </p:spPr>
        <p:txBody>
          <a:bodyPr wrap="square" rtlCol="0">
            <a:spAutoFit/>
          </a:bodyPr>
          <a:lstStyle/>
          <a:p>
            <a:r>
              <a:rPr lang="en-US" b="1" dirty="0">
                <a:latin typeface="Tahoma" pitchFamily="34" charset="0"/>
                <a:ea typeface="Tahoma" pitchFamily="34" charset="0"/>
                <a:cs typeface="Tahoma" pitchFamily="34" charset="0"/>
              </a:rPr>
              <a:t>GUIDELINE 4. </a:t>
            </a:r>
          </a:p>
          <a:p>
            <a:pPr marL="342900" indent="-342900" algn="just">
              <a:lnSpc>
                <a:spcPct val="200000"/>
              </a:lnSpc>
              <a:buFont typeface="Arial" pitchFamily="34" charset="0"/>
              <a:buChar char="•"/>
            </a:pPr>
            <a:r>
              <a:rPr lang="en-US" dirty="0">
                <a:latin typeface="Tahoma" pitchFamily="34" charset="0"/>
                <a:ea typeface="Tahoma" pitchFamily="34" charset="0"/>
                <a:cs typeface="Tahoma" pitchFamily="34" charset="0"/>
              </a:rPr>
              <a:t>Design relation schemas so that they can be joined with equality conditions on attributes that are either primary keys or foreign keys in a way that guarantees that no spurious tuples are generated.</a:t>
            </a:r>
          </a:p>
          <a:p>
            <a:pPr marL="342900" indent="-342900" algn="just">
              <a:lnSpc>
                <a:spcPct val="200000"/>
              </a:lnSpc>
              <a:buFont typeface="Arial" pitchFamily="34" charset="0"/>
              <a:buChar char="•"/>
            </a:pPr>
            <a:r>
              <a:rPr lang="en-US" dirty="0">
                <a:latin typeface="Tahoma" pitchFamily="34" charset="0"/>
                <a:ea typeface="Tahoma" pitchFamily="34" charset="0"/>
                <a:cs typeface="Tahoma" pitchFamily="34" charset="0"/>
              </a:rPr>
              <a:t> Avoid relations that contain matching attributes that are not (foreign key, primary key) combinations, because joining on such attributes may produce spurious tuples.</a:t>
            </a:r>
            <a:endParaRPr lang="en-US" sz="2000" dirty="0">
              <a:latin typeface="Tahoma" pitchFamily="34" charset="0"/>
              <a:ea typeface="Tahoma" pitchFamily="34" charset="0"/>
              <a:cs typeface="Tahoma" pitchFamily="34" charset="0"/>
            </a:endParaRPr>
          </a:p>
        </p:txBody>
      </p:sp>
      <p:sp>
        <p:nvSpPr>
          <p:cNvPr id="8" name="TextBox 7"/>
          <p:cNvSpPr txBox="1"/>
          <p:nvPr/>
        </p:nvSpPr>
        <p:spPr>
          <a:xfrm>
            <a:off x="0" y="0"/>
            <a:ext cx="6324600" cy="523220"/>
          </a:xfrm>
          <a:prstGeom prst="rect">
            <a:avLst/>
          </a:prstGeom>
          <a:noFill/>
        </p:spPr>
        <p:txBody>
          <a:bodyPr wrap="square" rtlCol="0">
            <a:spAutoFit/>
          </a:bodyPr>
          <a:lstStyle/>
          <a:p>
            <a:pPr marL="457200" indent="-457200"/>
            <a:r>
              <a:rPr lang="en-US" sz="2800" b="1" dirty="0">
                <a:solidFill>
                  <a:srgbClr val="002060"/>
                </a:solidFill>
                <a:latin typeface="Tahoma" pitchFamily="34" charset="0"/>
                <a:ea typeface="Tahoma" pitchFamily="34" charset="0"/>
                <a:cs typeface="Tahoma" pitchFamily="34" charset="0"/>
              </a:rPr>
              <a:t>4. Generation of Spurious Tuples</a:t>
            </a:r>
          </a:p>
        </p:txBody>
      </p:sp>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228600"/>
            <a:ext cx="5715000" cy="523220"/>
          </a:xfrm>
          <a:prstGeom prst="rect">
            <a:avLst/>
          </a:prstGeom>
          <a:noFill/>
        </p:spPr>
        <p:txBody>
          <a:bodyPr wrap="square" rtlCol="0">
            <a:spAutoFit/>
          </a:bodyPr>
          <a:lstStyle/>
          <a:p>
            <a:pPr marL="457200" indent="-457200"/>
            <a:r>
              <a:rPr lang="en-US" sz="2800" b="1" u="sng" dirty="0"/>
              <a:t>Summary  of Design Guidelines</a:t>
            </a:r>
            <a:endParaRPr lang="en-US" sz="2800" b="1" u="sng" dirty="0">
              <a:latin typeface="Tahoma" pitchFamily="34" charset="0"/>
              <a:ea typeface="Tahoma" pitchFamily="34" charset="0"/>
              <a:cs typeface="Tahoma" pitchFamily="34" charset="0"/>
            </a:endParaRPr>
          </a:p>
        </p:txBody>
      </p:sp>
      <p:sp>
        <p:nvSpPr>
          <p:cNvPr id="5" name="TextBox 4"/>
          <p:cNvSpPr txBox="1"/>
          <p:nvPr/>
        </p:nvSpPr>
        <p:spPr>
          <a:xfrm>
            <a:off x="304800" y="1143000"/>
            <a:ext cx="8534400" cy="4708981"/>
          </a:xfrm>
          <a:prstGeom prst="rect">
            <a:avLst/>
          </a:prstGeom>
          <a:noFill/>
          <a:ln w="31750">
            <a:solidFill>
              <a:schemeClr val="accent1"/>
            </a:solidFill>
          </a:ln>
        </p:spPr>
        <p:txBody>
          <a:bodyPr wrap="square" rtlCol="0">
            <a:spAutoFit/>
          </a:bodyPr>
          <a:lstStyle/>
          <a:p>
            <a:pPr marL="457200" indent="-457200" algn="just">
              <a:lnSpc>
                <a:spcPct val="150000"/>
              </a:lnSpc>
              <a:buFont typeface="+mj-lt"/>
              <a:buAutoNum type="arabicPeriod"/>
            </a:pPr>
            <a:r>
              <a:rPr lang="en-US" sz="2000" dirty="0"/>
              <a:t> Semantics should be unambiguous and well defined .  </a:t>
            </a:r>
          </a:p>
          <a:p>
            <a:pPr marL="457200" indent="-457200" algn="just">
              <a:lnSpc>
                <a:spcPct val="150000"/>
              </a:lnSpc>
              <a:buFont typeface="+mj-lt"/>
              <a:buAutoNum type="arabicPeriod"/>
            </a:pPr>
            <a:r>
              <a:rPr lang="en-US" sz="2000" dirty="0"/>
              <a:t>Anomalies that imply additional work to be done during insertion into and modification of a relation, and that may cause accidental loss of information during a deletion from a relation. </a:t>
            </a:r>
          </a:p>
          <a:p>
            <a:pPr marL="457200" indent="-457200" algn="just">
              <a:lnSpc>
                <a:spcPct val="150000"/>
              </a:lnSpc>
              <a:buFont typeface="+mj-lt"/>
              <a:buAutoNum type="arabicPeriod"/>
            </a:pPr>
            <a:endParaRPr lang="en-US" sz="2000" dirty="0"/>
          </a:p>
          <a:p>
            <a:pPr marL="457200" indent="-457200" algn="just">
              <a:lnSpc>
                <a:spcPct val="150000"/>
              </a:lnSpc>
              <a:buFont typeface="+mj-lt"/>
              <a:buAutoNum type="arabicPeriod"/>
            </a:pPr>
            <a:r>
              <a:rPr lang="en-US" sz="2000" dirty="0"/>
              <a:t> Waste of storage space due to nulls and difficulty of performing aggregation operations and joins due to null values. </a:t>
            </a:r>
          </a:p>
          <a:p>
            <a:pPr marL="457200" indent="-457200" algn="just">
              <a:lnSpc>
                <a:spcPct val="150000"/>
              </a:lnSpc>
              <a:buFont typeface="+mj-lt"/>
              <a:buAutoNum type="arabicPeriod"/>
            </a:pPr>
            <a:endParaRPr lang="en-US" sz="2000" dirty="0"/>
          </a:p>
          <a:p>
            <a:pPr marL="457200" indent="-457200" algn="just">
              <a:lnSpc>
                <a:spcPct val="150000"/>
              </a:lnSpc>
              <a:buFont typeface="+mj-lt"/>
              <a:buAutoNum type="arabicPeriod"/>
            </a:pPr>
            <a:r>
              <a:rPr lang="en-US" sz="2000" dirty="0"/>
              <a:t>Generation of invalid and spurious data during joins on improperly related base relations</a:t>
            </a:r>
            <a:endParaRPr lang="en-US" sz="2000"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447800"/>
            <a:ext cx="8305800" cy="2554545"/>
          </a:xfrm>
          <a:prstGeom prst="rect">
            <a:avLst/>
          </a:prstGeom>
          <a:noFill/>
        </p:spPr>
        <p:txBody>
          <a:bodyPr wrap="square" rtlCol="0">
            <a:spAutoFit/>
          </a:bodyPr>
          <a:lstStyle/>
          <a:p>
            <a:pPr algn="ctr"/>
            <a:r>
              <a:rPr lang="en-US" sz="8000" b="1" dirty="0">
                <a:latin typeface="Tahoma" pitchFamily="34" charset="0"/>
                <a:ea typeface="Tahoma" pitchFamily="34" charset="0"/>
                <a:cs typeface="Tahoma" pitchFamily="34" charset="0"/>
              </a:rPr>
              <a:t> Functional Dependencies </a:t>
            </a:r>
          </a:p>
        </p:txBody>
      </p:sp>
      <p:sp>
        <p:nvSpPr>
          <p:cNvPr id="4" name="Rectangle 3"/>
          <p:cNvSpPr/>
          <p:nvPr/>
        </p:nvSpPr>
        <p:spPr>
          <a:xfrm>
            <a:off x="685800" y="4343400"/>
            <a:ext cx="8153400" cy="923330"/>
          </a:xfrm>
          <a:prstGeom prst="rect">
            <a:avLst/>
          </a:prstGeom>
        </p:spPr>
        <p:txBody>
          <a:bodyPr wrap="square">
            <a:spAutoFit/>
          </a:bodyPr>
          <a:lstStyle/>
          <a:p>
            <a:pPr marL="457200" indent="-457200" algn="just">
              <a:lnSpc>
                <a:spcPct val="150000"/>
              </a:lnSpc>
            </a:pPr>
            <a:r>
              <a:rPr lang="en-US" b="1" dirty="0">
                <a:latin typeface="Tahoma" pitchFamily="34" charset="0"/>
                <a:ea typeface="Tahoma" pitchFamily="34" charset="0"/>
                <a:cs typeface="Tahoma" pitchFamily="34" charset="0"/>
              </a:rPr>
              <a:t>A functional dependency is a constraint between two sets of attributes from the database</a:t>
            </a:r>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52400"/>
            <a:ext cx="44196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FORMAL DEFINITION</a:t>
            </a:r>
          </a:p>
        </p:txBody>
      </p:sp>
      <p:sp>
        <p:nvSpPr>
          <p:cNvPr id="7" name="TextBox 6"/>
          <p:cNvSpPr txBox="1"/>
          <p:nvPr/>
        </p:nvSpPr>
        <p:spPr>
          <a:xfrm>
            <a:off x="228600" y="762000"/>
            <a:ext cx="8686800" cy="4252446"/>
          </a:xfrm>
          <a:prstGeom prst="rect">
            <a:avLst/>
          </a:prstGeom>
          <a:noFill/>
        </p:spPr>
        <p:txBody>
          <a:bodyPr wrap="square" rtlCol="0">
            <a:spAutoFit/>
          </a:bodyPr>
          <a:lstStyle/>
          <a:p>
            <a:pPr algn="just">
              <a:lnSpc>
                <a:spcPct val="150000"/>
              </a:lnSpc>
              <a:spcBef>
                <a:spcPts val="500"/>
              </a:spcBef>
              <a:spcAft>
                <a:spcPts val="500"/>
              </a:spcAft>
            </a:pPr>
            <a:r>
              <a:rPr lang="en-US" sz="2000" b="1" dirty="0">
                <a:latin typeface="Tahoma" pitchFamily="34" charset="0"/>
                <a:ea typeface="Tahoma" pitchFamily="34" charset="0"/>
                <a:cs typeface="Tahoma" pitchFamily="34" charset="0"/>
              </a:rPr>
              <a:t>Let R be  a Universal  relation schema. R = {A1,A2…An}</a:t>
            </a:r>
          </a:p>
          <a:p>
            <a:pPr>
              <a:lnSpc>
                <a:spcPct val="150000"/>
              </a:lnSpc>
              <a:spcBef>
                <a:spcPts val="500"/>
              </a:spcBef>
              <a:spcAft>
                <a:spcPts val="500"/>
              </a:spcAft>
            </a:pPr>
            <a:r>
              <a:rPr lang="en-US" sz="2000" b="1" dirty="0">
                <a:latin typeface="Tahoma" pitchFamily="34" charset="0"/>
                <a:ea typeface="Tahoma" pitchFamily="34" charset="0"/>
                <a:cs typeface="Tahoma" pitchFamily="34" charset="0"/>
              </a:rPr>
              <a:t>Let  X and  Y be two sets of attributes of  R </a:t>
            </a:r>
          </a:p>
          <a:p>
            <a:pPr>
              <a:lnSpc>
                <a:spcPct val="150000"/>
              </a:lnSpc>
              <a:spcBef>
                <a:spcPts val="500"/>
              </a:spcBef>
              <a:spcAft>
                <a:spcPts val="500"/>
              </a:spcAft>
            </a:pPr>
            <a:r>
              <a:rPr lang="en-US" sz="2000" b="1" dirty="0">
                <a:latin typeface="Tahoma" pitchFamily="34" charset="0"/>
                <a:ea typeface="Tahoma" pitchFamily="34" charset="0"/>
                <a:cs typeface="Tahoma" pitchFamily="34" charset="0"/>
              </a:rPr>
              <a:t>Let  r  be a relation state  of R.</a:t>
            </a:r>
          </a:p>
          <a:p>
            <a:pPr>
              <a:lnSpc>
                <a:spcPct val="150000"/>
              </a:lnSpc>
              <a:spcBef>
                <a:spcPts val="500"/>
              </a:spcBef>
              <a:spcAft>
                <a:spcPts val="500"/>
              </a:spcAft>
            </a:pPr>
            <a:endParaRPr lang="en-US" b="1" dirty="0">
              <a:latin typeface="Tahoma" pitchFamily="34" charset="0"/>
              <a:ea typeface="Tahoma" pitchFamily="34" charset="0"/>
              <a:cs typeface="Tahoma" pitchFamily="34" charset="0"/>
            </a:endParaRPr>
          </a:p>
          <a:p>
            <a:pPr algn="just">
              <a:lnSpc>
                <a:spcPct val="200000"/>
              </a:lnSpc>
              <a:spcBef>
                <a:spcPts val="500"/>
              </a:spcBef>
              <a:spcAft>
                <a:spcPts val="500"/>
              </a:spcAft>
            </a:pPr>
            <a:r>
              <a:rPr lang="en-US" sz="2000" b="1" dirty="0">
                <a:latin typeface="Tahoma" pitchFamily="34" charset="0"/>
                <a:ea typeface="Tahoma" pitchFamily="34" charset="0"/>
                <a:cs typeface="Tahoma" pitchFamily="34" charset="0"/>
              </a:rPr>
              <a:t>A functional dependency  between X and Y,  </a:t>
            </a:r>
            <a:r>
              <a:rPr lang="en-US" sz="2000" b="1" i="1" dirty="0">
                <a:solidFill>
                  <a:srgbClr val="002060"/>
                </a:solidFill>
                <a:latin typeface="Tahoma" pitchFamily="34" charset="0"/>
                <a:ea typeface="Tahoma" pitchFamily="34" charset="0"/>
                <a:cs typeface="Tahoma" pitchFamily="34" charset="0"/>
              </a:rPr>
              <a:t>denoted by X </a:t>
            </a:r>
            <a:r>
              <a:rPr lang="en-US" sz="2000" b="1" i="1" dirty="0">
                <a:solidFill>
                  <a:srgbClr val="002060"/>
                </a:solidFill>
                <a:latin typeface="Tahoma" pitchFamily="34" charset="0"/>
                <a:ea typeface="Tahoma" pitchFamily="34" charset="0"/>
                <a:cs typeface="Tahoma" pitchFamily="34" charset="0"/>
                <a:sym typeface="Wingdings" pitchFamily="2" charset="2"/>
              </a:rPr>
              <a:t></a:t>
            </a:r>
            <a:r>
              <a:rPr lang="en-US" sz="2000" b="1" i="1" dirty="0">
                <a:solidFill>
                  <a:srgbClr val="002060"/>
                </a:solidFill>
                <a:latin typeface="Tahoma" pitchFamily="34" charset="0"/>
                <a:ea typeface="Tahoma" pitchFamily="34" charset="0"/>
                <a:cs typeface="Tahoma" pitchFamily="34" charset="0"/>
              </a:rPr>
              <a:t> Y, </a:t>
            </a:r>
            <a:r>
              <a:rPr lang="en-US" sz="2000" b="1" dirty="0">
                <a:latin typeface="Tahoma" pitchFamily="34" charset="0"/>
                <a:ea typeface="Tahoma" pitchFamily="34" charset="0"/>
                <a:cs typeface="Tahoma" pitchFamily="34" charset="0"/>
              </a:rPr>
              <a:t>specifies a constraint  that  for any two tuples t1 and t2 in r  of R that have t1[X] =t2[X], we must also have t1[Y] = t2[Y].</a:t>
            </a:r>
          </a:p>
        </p:txBody>
      </p:sp>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52400"/>
            <a:ext cx="44196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FORMAL DEFINITION</a:t>
            </a:r>
          </a:p>
        </p:txBody>
      </p:sp>
      <p:sp>
        <p:nvSpPr>
          <p:cNvPr id="7" name="TextBox 6"/>
          <p:cNvSpPr txBox="1"/>
          <p:nvPr/>
        </p:nvSpPr>
        <p:spPr>
          <a:xfrm>
            <a:off x="228600" y="762000"/>
            <a:ext cx="8686800" cy="5414303"/>
          </a:xfrm>
          <a:prstGeom prst="rect">
            <a:avLst/>
          </a:prstGeom>
          <a:noFill/>
        </p:spPr>
        <p:txBody>
          <a:bodyPr wrap="square" rtlCol="0">
            <a:spAutoFit/>
          </a:bodyPr>
          <a:lstStyle/>
          <a:p>
            <a:pPr marL="457200" indent="-457200" algn="just"/>
            <a:r>
              <a:rPr lang="en-US" sz="2000" b="1" u="sng" dirty="0">
                <a:latin typeface="Tahoma" pitchFamily="34" charset="0"/>
                <a:ea typeface="Tahoma" pitchFamily="34" charset="0"/>
                <a:cs typeface="Tahoma" pitchFamily="34" charset="0"/>
              </a:rPr>
              <a:t>Note the following:</a:t>
            </a:r>
          </a:p>
          <a:p>
            <a:pPr marL="457200" indent="-457200" algn="just"/>
            <a:endParaRPr lang="en-US" sz="1600" dirty="0">
              <a:latin typeface="Tahoma" pitchFamily="34" charset="0"/>
              <a:ea typeface="Tahoma" pitchFamily="34" charset="0"/>
              <a:cs typeface="Tahoma" pitchFamily="34" charset="0"/>
            </a:endParaRPr>
          </a:p>
          <a:p>
            <a:pPr marL="800100" lvl="1" indent="-342900" algn="just">
              <a:lnSpc>
                <a:spcPct val="150000"/>
              </a:lnSpc>
              <a:spcBef>
                <a:spcPts val="500"/>
              </a:spcBef>
              <a:spcAft>
                <a:spcPts val="500"/>
              </a:spcAft>
              <a:buFont typeface="Arial" pitchFamily="34" charset="0"/>
              <a:buChar char="•"/>
            </a:pPr>
            <a:r>
              <a:rPr lang="en-US" sz="2000" b="1" dirty="0">
                <a:latin typeface="Tahoma" pitchFamily="34" charset="0"/>
                <a:ea typeface="Tahoma" pitchFamily="34" charset="0"/>
                <a:cs typeface="Tahoma" pitchFamily="34" charset="0"/>
                <a:sym typeface="Wingdings" pitchFamily="2" charset="2"/>
              </a:rPr>
              <a:t>XY </a:t>
            </a:r>
            <a:r>
              <a:rPr lang="en-US" sz="2000" dirty="0">
                <a:latin typeface="Tahoma" pitchFamily="34" charset="0"/>
                <a:ea typeface="Tahoma" pitchFamily="34" charset="0"/>
                <a:cs typeface="Tahoma" pitchFamily="34" charset="0"/>
              </a:rPr>
              <a:t> means that the values of the Y component of a tuple in r depend on, or are determined by, the values of the X component;</a:t>
            </a:r>
          </a:p>
          <a:p>
            <a:pPr marL="800100" lvl="1" indent="-342900" algn="just">
              <a:lnSpc>
                <a:spcPct val="150000"/>
              </a:lnSpc>
              <a:spcBef>
                <a:spcPts val="500"/>
              </a:spcBef>
              <a:spcAft>
                <a:spcPts val="500"/>
              </a:spcAft>
              <a:buFont typeface="Arial" pitchFamily="34" charset="0"/>
              <a:buChar char="•"/>
            </a:pPr>
            <a:r>
              <a:rPr lang="en-US" sz="2000" dirty="0">
                <a:latin typeface="Tahoma" pitchFamily="34" charset="0"/>
                <a:ea typeface="Tahoma" pitchFamily="34" charset="0"/>
                <a:cs typeface="Tahoma" pitchFamily="34" charset="0"/>
              </a:rPr>
              <a:t>Or we also say that there is a functional dependency from X to Y or that Y is functionally dependent on X.</a:t>
            </a:r>
          </a:p>
          <a:p>
            <a:pPr marL="800100" lvl="1" indent="-342900" algn="just">
              <a:lnSpc>
                <a:spcPct val="150000"/>
              </a:lnSpc>
              <a:spcBef>
                <a:spcPts val="500"/>
              </a:spcBef>
              <a:spcAft>
                <a:spcPts val="500"/>
              </a:spcAft>
              <a:buFont typeface="Arial" pitchFamily="34" charset="0"/>
              <a:buChar char="•"/>
            </a:pPr>
            <a:r>
              <a:rPr lang="en-US" sz="2000" dirty="0"/>
              <a:t>The abbreviation for functional dependency is FD or </a:t>
            </a:r>
            <a:r>
              <a:rPr lang="en-US" sz="2000" dirty="0" err="1"/>
              <a:t>f.d</a:t>
            </a:r>
            <a:r>
              <a:rPr lang="en-US" sz="1600" dirty="0"/>
              <a:t>.</a:t>
            </a:r>
          </a:p>
          <a:p>
            <a:pPr marL="800100" lvl="1" indent="-342900" algn="just">
              <a:lnSpc>
                <a:spcPct val="150000"/>
              </a:lnSpc>
              <a:spcBef>
                <a:spcPts val="500"/>
              </a:spcBef>
              <a:spcAft>
                <a:spcPts val="500"/>
              </a:spcAft>
              <a:buFont typeface="Arial" pitchFamily="34" charset="0"/>
              <a:buChar char="•"/>
            </a:pPr>
            <a:r>
              <a:rPr lang="en-US" sz="2000" dirty="0"/>
              <a:t>If  X is a candidate key of R (one of the primary keys of R) , then X</a:t>
            </a:r>
            <a:r>
              <a:rPr lang="en-US" sz="2000" dirty="0">
                <a:sym typeface="Wingdings" pitchFamily="2" charset="2"/>
              </a:rPr>
              <a:t></a:t>
            </a:r>
            <a:r>
              <a:rPr lang="en-US" sz="2000" dirty="0"/>
              <a:t> </a:t>
            </a:r>
            <a:r>
              <a:rPr lang="en-US" sz="2000" i="1" dirty="0"/>
              <a:t>Y for any subset of attributes Y of R. </a:t>
            </a:r>
          </a:p>
          <a:p>
            <a:pPr marL="800100" lvl="1" indent="-342900" algn="just">
              <a:lnSpc>
                <a:spcPct val="150000"/>
              </a:lnSpc>
              <a:spcBef>
                <a:spcPts val="500"/>
              </a:spcBef>
              <a:spcAft>
                <a:spcPts val="500"/>
              </a:spcAft>
              <a:buFont typeface="Arial" pitchFamily="34" charset="0"/>
              <a:buChar char="•"/>
            </a:pPr>
            <a:r>
              <a:rPr lang="en-US" sz="2000" i="1" dirty="0"/>
              <a:t> </a:t>
            </a:r>
            <a:r>
              <a:rPr lang="en-US" sz="2000" dirty="0"/>
              <a:t>If X </a:t>
            </a:r>
            <a:r>
              <a:rPr lang="en-US" sz="2000" dirty="0">
                <a:sym typeface="Wingdings" pitchFamily="2" charset="2"/>
              </a:rPr>
              <a:t></a:t>
            </a:r>
            <a:r>
              <a:rPr lang="en-US" sz="2000" i="1" dirty="0"/>
              <a:t>Y in R, this does not say whether or not Y </a:t>
            </a:r>
            <a:r>
              <a:rPr lang="en-US" sz="2000" i="1" dirty="0">
                <a:sym typeface="Wingdings" pitchFamily="2" charset="2"/>
              </a:rPr>
              <a:t></a:t>
            </a:r>
            <a:r>
              <a:rPr lang="en-US" sz="2000" i="1" dirty="0"/>
              <a:t> X in R.</a:t>
            </a:r>
            <a:endParaRPr lang="en-US" sz="2000" b="1" u="sng" dirty="0">
              <a:latin typeface="Tahoma" pitchFamily="34" charset="0"/>
              <a:ea typeface="Tahoma" pitchFamily="34" charset="0"/>
              <a:cs typeface="Tahoma" pitchFamily="34" charset="0"/>
            </a:endParaRPr>
          </a:p>
          <a:p>
            <a:pPr marL="800100" lvl="1" indent="-342900" algn="just">
              <a:lnSpc>
                <a:spcPct val="150000"/>
              </a:lnSpc>
              <a:spcBef>
                <a:spcPts val="500"/>
              </a:spcBef>
              <a:spcAft>
                <a:spcPts val="500"/>
              </a:spcAft>
              <a:buFont typeface="Arial" pitchFamily="34" charset="0"/>
              <a:buChar char="•"/>
            </a:pPr>
            <a:endParaRPr lang="en-US" sz="1600"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381000"/>
            <a:ext cx="8458200" cy="461665"/>
          </a:xfrm>
          <a:prstGeom prst="rect">
            <a:avLst/>
          </a:prstGeom>
          <a:noFill/>
        </p:spPr>
        <p:txBody>
          <a:bodyPr wrap="square" rtlCol="0">
            <a:spAutoFit/>
          </a:bodyPr>
          <a:lstStyle/>
          <a:p>
            <a:pPr marL="457200" indent="-457200" algn="just"/>
            <a:r>
              <a:rPr lang="en-US" sz="2400" b="1" dirty="0">
                <a:latin typeface="Tahoma" pitchFamily="34" charset="0"/>
                <a:ea typeface="Tahoma" pitchFamily="34" charset="0"/>
                <a:cs typeface="Tahoma" pitchFamily="34" charset="0"/>
              </a:rPr>
              <a:t>An Example:</a:t>
            </a:r>
          </a:p>
        </p:txBody>
      </p:sp>
      <p:sp>
        <p:nvSpPr>
          <p:cNvPr id="4" name="TextBox 3"/>
          <p:cNvSpPr txBox="1"/>
          <p:nvPr/>
        </p:nvSpPr>
        <p:spPr>
          <a:xfrm>
            <a:off x="304800" y="1143000"/>
            <a:ext cx="8458200" cy="369332"/>
          </a:xfrm>
          <a:prstGeom prst="rect">
            <a:avLst/>
          </a:prstGeom>
          <a:noFill/>
        </p:spPr>
        <p:txBody>
          <a:bodyPr wrap="square" rtlCol="0">
            <a:spAutoFit/>
          </a:bodyPr>
          <a:lstStyle/>
          <a:p>
            <a:r>
              <a:rPr lang="en-US" dirty="0"/>
              <a:t>Consider the relation schema EMP_PROJ</a:t>
            </a:r>
          </a:p>
        </p:txBody>
      </p:sp>
      <p:sp>
        <p:nvSpPr>
          <p:cNvPr id="8" name="TextBox 7"/>
          <p:cNvSpPr txBox="1"/>
          <p:nvPr/>
        </p:nvSpPr>
        <p:spPr>
          <a:xfrm>
            <a:off x="228600" y="3352800"/>
            <a:ext cx="8610600" cy="2745367"/>
          </a:xfrm>
          <a:prstGeom prst="rect">
            <a:avLst/>
          </a:prstGeom>
          <a:noFill/>
        </p:spPr>
        <p:txBody>
          <a:bodyPr wrap="square" rtlCol="0">
            <a:spAutoFit/>
          </a:bodyPr>
          <a:lstStyle/>
          <a:p>
            <a:pPr algn="just">
              <a:lnSpc>
                <a:spcPct val="150000"/>
              </a:lnSpc>
            </a:pPr>
            <a:r>
              <a:rPr lang="en-US" sz="2400" dirty="0">
                <a:latin typeface="Calibri" pitchFamily="34" charset="0"/>
                <a:cs typeface="Calibri" pitchFamily="34" charset="0"/>
              </a:rPr>
              <a:t>From the semantics of the  attributes, we know that the following functional dependencies should hold:</a:t>
            </a:r>
          </a:p>
          <a:p>
            <a:pPr marL="1828800" lvl="3" indent="-457200" fontAlgn="base">
              <a:spcBef>
                <a:spcPct val="20000"/>
              </a:spcBef>
              <a:spcAft>
                <a:spcPct val="0"/>
              </a:spcAft>
              <a:buFont typeface="+mj-lt"/>
              <a:buAutoNum type="arabicPeriod"/>
            </a:pPr>
            <a:r>
              <a:rPr lang="en-US" sz="2400" b="1" kern="0" dirty="0">
                <a:solidFill>
                  <a:srgbClr val="000000"/>
                </a:solidFill>
                <a:latin typeface="Calibri" pitchFamily="34" charset="0"/>
              </a:rPr>
              <a:t>SSN </a:t>
            </a:r>
            <a:r>
              <a:rPr lang="en-US" sz="2400" b="1" kern="0" dirty="0">
                <a:solidFill>
                  <a:srgbClr val="000000"/>
                </a:solidFill>
                <a:latin typeface="Calibri" pitchFamily="34" charset="0"/>
                <a:sym typeface="Wingdings" pitchFamily="2" charset="2"/>
              </a:rPr>
              <a:t></a:t>
            </a:r>
            <a:r>
              <a:rPr lang="en-US" sz="2400" b="1" kern="0" dirty="0">
                <a:solidFill>
                  <a:srgbClr val="000000"/>
                </a:solidFill>
                <a:latin typeface="Calibri" pitchFamily="34" charset="0"/>
              </a:rPr>
              <a:t> ENAME </a:t>
            </a:r>
          </a:p>
          <a:p>
            <a:pPr marL="1828800" lvl="3" indent="-457200" fontAlgn="base">
              <a:spcBef>
                <a:spcPct val="20000"/>
              </a:spcBef>
              <a:spcAft>
                <a:spcPct val="0"/>
              </a:spcAft>
              <a:buFont typeface="+mj-lt"/>
              <a:buAutoNum type="arabicPeriod"/>
            </a:pPr>
            <a:r>
              <a:rPr lang="en-US" sz="2400" b="1" kern="0" dirty="0">
                <a:solidFill>
                  <a:srgbClr val="000000"/>
                </a:solidFill>
                <a:latin typeface="Calibri" pitchFamily="34" charset="0"/>
              </a:rPr>
              <a:t>PNUMBER </a:t>
            </a:r>
            <a:r>
              <a:rPr lang="en-US" sz="2400" b="1" kern="0" dirty="0">
                <a:solidFill>
                  <a:srgbClr val="000000"/>
                </a:solidFill>
                <a:latin typeface="Calibri" pitchFamily="34" charset="0"/>
                <a:sym typeface="Wingdings" pitchFamily="2" charset="2"/>
              </a:rPr>
              <a:t></a:t>
            </a:r>
            <a:r>
              <a:rPr lang="en-US" sz="2400" b="1" kern="0" dirty="0">
                <a:solidFill>
                  <a:srgbClr val="000000"/>
                </a:solidFill>
                <a:latin typeface="Calibri" pitchFamily="34" charset="0"/>
              </a:rPr>
              <a:t> {PNAME, PLOCATION} </a:t>
            </a:r>
          </a:p>
          <a:p>
            <a:pPr marL="1828800" lvl="3" indent="-457200" fontAlgn="base">
              <a:spcBef>
                <a:spcPct val="20000"/>
              </a:spcBef>
              <a:spcAft>
                <a:spcPct val="0"/>
              </a:spcAft>
              <a:buFont typeface="+mj-lt"/>
              <a:buAutoNum type="arabicPeriod"/>
            </a:pPr>
            <a:r>
              <a:rPr lang="en-US" sz="2400" b="1" kern="0" dirty="0">
                <a:solidFill>
                  <a:srgbClr val="000000"/>
                </a:solidFill>
                <a:latin typeface="Calibri" pitchFamily="34" charset="0"/>
              </a:rPr>
              <a:t>{SSN, PNUMBER} </a:t>
            </a:r>
            <a:r>
              <a:rPr lang="en-US" sz="2400" b="1" kern="0" dirty="0">
                <a:solidFill>
                  <a:srgbClr val="000000"/>
                </a:solidFill>
                <a:latin typeface="Calibri" pitchFamily="34" charset="0"/>
                <a:sym typeface="Wingdings" pitchFamily="2" charset="2"/>
              </a:rPr>
              <a:t></a:t>
            </a:r>
            <a:r>
              <a:rPr lang="en-US" sz="2400" b="1" kern="0" dirty="0">
                <a:solidFill>
                  <a:srgbClr val="000000"/>
                </a:solidFill>
                <a:latin typeface="Calibri" pitchFamily="34" charset="0"/>
              </a:rPr>
              <a:t> HOURS </a:t>
            </a:r>
          </a:p>
          <a:p>
            <a:pPr marL="342900" indent="-342900">
              <a:buFont typeface="+mj-lt"/>
              <a:buAutoNum type="arabicPeriod"/>
            </a:pPr>
            <a:endParaRPr lang="en-US" sz="1400" dirty="0"/>
          </a:p>
        </p:txBody>
      </p:sp>
      <p:pic>
        <p:nvPicPr>
          <p:cNvPr id="6" name="Picture 3"/>
          <p:cNvPicPr>
            <a:picLocks noChangeAspect="1" noChangeArrowheads="1"/>
          </p:cNvPicPr>
          <p:nvPr/>
        </p:nvPicPr>
        <p:blipFill>
          <a:blip r:embed="rId3" cstate="print"/>
          <a:srcRect/>
          <a:stretch>
            <a:fillRect/>
          </a:stretch>
        </p:blipFill>
        <p:spPr bwMode="auto">
          <a:xfrm>
            <a:off x="457200" y="1752600"/>
            <a:ext cx="7910444" cy="990600"/>
          </a:xfrm>
          <a:prstGeom prst="rect">
            <a:avLst/>
          </a:prstGeom>
          <a:noFill/>
          <a:ln w="9525">
            <a:noFill/>
            <a:miter lim="800000"/>
            <a:headEnd/>
            <a:tailEnd/>
          </a:ln>
        </p:spPr>
      </p:pic>
    </p:spTree>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52400"/>
            <a:ext cx="8458200" cy="707886"/>
          </a:xfrm>
          <a:prstGeom prst="rect">
            <a:avLst/>
          </a:prstGeom>
          <a:noFill/>
        </p:spPr>
        <p:txBody>
          <a:bodyPr wrap="square" rtlCol="0">
            <a:spAutoFit/>
          </a:bodyPr>
          <a:lstStyle/>
          <a:p>
            <a:pPr marL="457200" indent="-457200" algn="just"/>
            <a:r>
              <a:rPr lang="en-US" sz="2400" b="1" dirty="0">
                <a:latin typeface="Tahoma" pitchFamily="34" charset="0"/>
                <a:ea typeface="Tahoma" pitchFamily="34" charset="0"/>
                <a:cs typeface="Tahoma" pitchFamily="34" charset="0"/>
              </a:rPr>
              <a:t>Diagrammatic notation for displaying FDs</a:t>
            </a:r>
          </a:p>
          <a:p>
            <a:pPr marL="457200" indent="-457200" algn="just">
              <a:buFont typeface="Arial" pitchFamily="34" charset="0"/>
              <a:buChar char="•"/>
            </a:pPr>
            <a:endParaRPr lang="en-US" sz="1600" u="sng" dirty="0">
              <a:latin typeface="Tahoma" pitchFamily="34" charset="0"/>
              <a:ea typeface="Tahoma" pitchFamily="34" charset="0"/>
              <a:cs typeface="Tahoma" pitchFamily="34" charset="0"/>
            </a:endParaRPr>
          </a:p>
        </p:txBody>
      </p:sp>
      <p:pic>
        <p:nvPicPr>
          <p:cNvPr id="5122" name="Picture 2"/>
          <p:cNvPicPr>
            <a:picLocks noChangeAspect="1" noChangeArrowheads="1"/>
          </p:cNvPicPr>
          <p:nvPr/>
        </p:nvPicPr>
        <p:blipFill>
          <a:blip r:embed="rId3" cstate="print"/>
          <a:srcRect/>
          <a:stretch>
            <a:fillRect/>
          </a:stretch>
        </p:blipFill>
        <p:spPr bwMode="auto">
          <a:xfrm>
            <a:off x="381000" y="1143000"/>
            <a:ext cx="8545830" cy="2743200"/>
          </a:xfrm>
          <a:prstGeom prst="rect">
            <a:avLst/>
          </a:prstGeom>
          <a:noFill/>
          <a:ln w="9525">
            <a:noFill/>
            <a:miter lim="800000"/>
            <a:headEnd/>
            <a:tailEnd/>
          </a:ln>
          <a:effectLst/>
        </p:spPr>
      </p:pic>
      <p:sp>
        <p:nvSpPr>
          <p:cNvPr id="8" name="TextBox 7"/>
          <p:cNvSpPr txBox="1"/>
          <p:nvPr/>
        </p:nvSpPr>
        <p:spPr>
          <a:xfrm>
            <a:off x="533400" y="3886200"/>
            <a:ext cx="7848600" cy="1563505"/>
          </a:xfrm>
          <a:prstGeom prst="rect">
            <a:avLst/>
          </a:prstGeom>
          <a:noFill/>
        </p:spPr>
        <p:txBody>
          <a:bodyPr wrap="square" rtlCol="0">
            <a:spAutoFit/>
          </a:bodyPr>
          <a:lstStyle/>
          <a:p>
            <a:pPr marL="1828800" lvl="3" indent="-457200" fontAlgn="base">
              <a:spcBef>
                <a:spcPct val="20000"/>
              </a:spcBef>
              <a:spcAft>
                <a:spcPct val="0"/>
              </a:spcAft>
            </a:pPr>
            <a:r>
              <a:rPr lang="en-US" sz="2400" kern="0" dirty="0">
                <a:solidFill>
                  <a:srgbClr val="000000"/>
                </a:solidFill>
                <a:latin typeface="Calibri" pitchFamily="34" charset="0"/>
              </a:rPr>
              <a:t>FD1 : {SSN, PNUMBER} </a:t>
            </a:r>
            <a:r>
              <a:rPr lang="en-US" sz="2400" kern="0" dirty="0">
                <a:solidFill>
                  <a:srgbClr val="000000"/>
                </a:solidFill>
                <a:latin typeface="Calibri" pitchFamily="34" charset="0"/>
                <a:sym typeface="Wingdings" pitchFamily="2" charset="2"/>
              </a:rPr>
              <a:t></a:t>
            </a:r>
            <a:r>
              <a:rPr lang="en-US" sz="2400" kern="0" dirty="0">
                <a:solidFill>
                  <a:srgbClr val="000000"/>
                </a:solidFill>
                <a:latin typeface="Calibri" pitchFamily="34" charset="0"/>
              </a:rPr>
              <a:t> HOURS </a:t>
            </a:r>
          </a:p>
          <a:p>
            <a:pPr marL="1828800" lvl="3" indent="-457200" fontAlgn="base">
              <a:spcBef>
                <a:spcPct val="20000"/>
              </a:spcBef>
              <a:spcAft>
                <a:spcPct val="0"/>
              </a:spcAft>
            </a:pPr>
            <a:r>
              <a:rPr lang="en-US" sz="2400" kern="0" dirty="0">
                <a:solidFill>
                  <a:srgbClr val="000000"/>
                </a:solidFill>
                <a:latin typeface="Calibri" pitchFamily="34" charset="0"/>
              </a:rPr>
              <a:t>FD2 : SSN </a:t>
            </a:r>
            <a:r>
              <a:rPr lang="en-US" sz="2400" kern="0" dirty="0">
                <a:solidFill>
                  <a:srgbClr val="000000"/>
                </a:solidFill>
                <a:latin typeface="Calibri" pitchFamily="34" charset="0"/>
                <a:sym typeface="Wingdings" pitchFamily="2" charset="2"/>
              </a:rPr>
              <a:t></a:t>
            </a:r>
            <a:r>
              <a:rPr lang="en-US" sz="2400" kern="0" dirty="0">
                <a:solidFill>
                  <a:srgbClr val="000000"/>
                </a:solidFill>
                <a:latin typeface="Calibri" pitchFamily="34" charset="0"/>
              </a:rPr>
              <a:t> ENAME </a:t>
            </a:r>
          </a:p>
          <a:p>
            <a:pPr marL="1828800" lvl="3" indent="-457200" fontAlgn="base">
              <a:spcBef>
                <a:spcPct val="20000"/>
              </a:spcBef>
              <a:spcAft>
                <a:spcPct val="0"/>
              </a:spcAft>
            </a:pPr>
            <a:r>
              <a:rPr lang="en-US" sz="2400" kern="0" dirty="0">
                <a:solidFill>
                  <a:srgbClr val="000000"/>
                </a:solidFill>
                <a:latin typeface="Calibri" pitchFamily="34" charset="0"/>
              </a:rPr>
              <a:t>FD3 : PNUMBER </a:t>
            </a:r>
            <a:r>
              <a:rPr lang="en-US" sz="2400" kern="0" dirty="0">
                <a:solidFill>
                  <a:srgbClr val="000000"/>
                </a:solidFill>
                <a:latin typeface="Calibri" pitchFamily="34" charset="0"/>
                <a:sym typeface="Wingdings" pitchFamily="2" charset="2"/>
              </a:rPr>
              <a:t></a:t>
            </a:r>
            <a:r>
              <a:rPr lang="en-US" sz="2400" kern="0" dirty="0">
                <a:solidFill>
                  <a:srgbClr val="000000"/>
                </a:solidFill>
                <a:latin typeface="Calibri" pitchFamily="34" charset="0"/>
              </a:rPr>
              <a:t> {PNAME, PLOCATION} </a:t>
            </a:r>
          </a:p>
          <a:p>
            <a:pPr marL="342900" indent="-342900">
              <a:buFont typeface="+mj-lt"/>
              <a:buAutoNum type="arabicPeriod"/>
            </a:pPr>
            <a:endParaRPr lang="en-US" sz="1400" dirty="0"/>
          </a:p>
        </p:txBody>
      </p:sp>
    </p:spTree>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304800"/>
            <a:ext cx="8077200" cy="400110"/>
          </a:xfrm>
          <a:prstGeom prst="rect">
            <a:avLst/>
          </a:prstGeom>
          <a:noFill/>
        </p:spPr>
        <p:txBody>
          <a:bodyPr wrap="square" rtlCol="0">
            <a:spAutoFit/>
          </a:bodyPr>
          <a:lstStyle/>
          <a:p>
            <a:r>
              <a:rPr lang="en-US" sz="2000" b="1" dirty="0">
                <a:latin typeface="Tahoma" pitchFamily="34" charset="0"/>
                <a:ea typeface="Tahoma" pitchFamily="34" charset="0"/>
                <a:cs typeface="Tahoma" pitchFamily="34" charset="0"/>
              </a:rPr>
              <a:t>Functional Dependencies – not a  property of a relation state</a:t>
            </a:r>
          </a:p>
        </p:txBody>
      </p:sp>
      <p:sp>
        <p:nvSpPr>
          <p:cNvPr id="4" name="TextBox 3"/>
          <p:cNvSpPr txBox="1"/>
          <p:nvPr/>
        </p:nvSpPr>
        <p:spPr>
          <a:xfrm>
            <a:off x="304800" y="914401"/>
            <a:ext cx="8686800" cy="2492990"/>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 </a:t>
            </a:r>
            <a:r>
              <a:rPr lang="en-US" sz="1600" b="1" dirty="0">
                <a:latin typeface="Tahoma" pitchFamily="34" charset="0"/>
                <a:ea typeface="Tahoma" pitchFamily="34" charset="0"/>
                <a:cs typeface="Tahoma" pitchFamily="34" charset="0"/>
              </a:rPr>
              <a:t>An FD cannot be inferred automatically from a given relation extension r but must be defined explicitly by someone who knows the semantics of the attributes of R.</a:t>
            </a:r>
          </a:p>
          <a:p>
            <a:pPr algn="just">
              <a:lnSpc>
                <a:spcPct val="150000"/>
              </a:lnSpc>
            </a:pPr>
            <a:endParaRPr lang="en-US" dirty="0">
              <a:latin typeface="Tahoma" pitchFamily="34" charset="0"/>
              <a:ea typeface="Tahoma" pitchFamily="34" charset="0"/>
              <a:cs typeface="Tahoma" pitchFamily="34" charset="0"/>
            </a:endParaRPr>
          </a:p>
          <a:p>
            <a:pPr algn="just">
              <a:lnSpc>
                <a:spcPct val="150000"/>
              </a:lnSpc>
            </a:pPr>
            <a:r>
              <a:rPr lang="en-US" b="1" dirty="0">
                <a:latin typeface="Tahoma" pitchFamily="34" charset="0"/>
                <a:ea typeface="Tahoma" pitchFamily="34" charset="0"/>
                <a:cs typeface="Tahoma" pitchFamily="34" charset="0"/>
              </a:rPr>
              <a:t>For example</a:t>
            </a:r>
            <a:r>
              <a:rPr lang="en-US" dirty="0">
                <a:latin typeface="Tahoma" pitchFamily="34" charset="0"/>
                <a:ea typeface="Tahoma" pitchFamily="34" charset="0"/>
                <a:cs typeface="Tahoma" pitchFamily="34" charset="0"/>
              </a:rPr>
              <a:t>,</a:t>
            </a:r>
          </a:p>
          <a:p>
            <a:pPr algn="just">
              <a:lnSpc>
                <a:spcPct val="150000"/>
              </a:lnSpc>
            </a:pPr>
            <a:r>
              <a:rPr lang="en-US" dirty="0">
                <a:latin typeface="Tahoma" pitchFamily="34" charset="0"/>
                <a:ea typeface="Tahoma" pitchFamily="34" charset="0"/>
                <a:cs typeface="Tahoma" pitchFamily="34" charset="0"/>
              </a:rPr>
              <a:t>                  TEXT </a:t>
            </a:r>
            <a:r>
              <a:rPr lang="en-US" dirty="0">
                <a:latin typeface="Tahoma" pitchFamily="34" charset="0"/>
                <a:ea typeface="Tahoma" pitchFamily="34" charset="0"/>
                <a:cs typeface="Tahoma" pitchFamily="34" charset="0"/>
                <a:sym typeface="Wingdings" pitchFamily="2" charset="2"/>
              </a:rPr>
              <a:t>  COURSE .  </a:t>
            </a:r>
            <a:r>
              <a:rPr lang="en-US" dirty="0">
                <a:solidFill>
                  <a:srgbClr val="FF0000"/>
                </a:solidFill>
                <a:latin typeface="Tahoma" pitchFamily="34" charset="0"/>
                <a:ea typeface="Tahoma" pitchFamily="34" charset="0"/>
                <a:cs typeface="Tahoma" pitchFamily="34" charset="0"/>
                <a:sym typeface="Wingdings" pitchFamily="2" charset="2"/>
              </a:rPr>
              <a:t>Is it true for  all legal states of TEACH?</a:t>
            </a:r>
          </a:p>
        </p:txBody>
      </p:sp>
      <p:pic>
        <p:nvPicPr>
          <p:cNvPr id="1026" name="Picture 2"/>
          <p:cNvPicPr>
            <a:picLocks noChangeAspect="1" noChangeArrowheads="1"/>
          </p:cNvPicPr>
          <p:nvPr/>
        </p:nvPicPr>
        <p:blipFill>
          <a:blip r:embed="rId3" cstate="print"/>
          <a:srcRect/>
          <a:stretch>
            <a:fillRect/>
          </a:stretch>
        </p:blipFill>
        <p:spPr bwMode="auto">
          <a:xfrm>
            <a:off x="1447800" y="3505200"/>
            <a:ext cx="6019800" cy="2373016"/>
          </a:xfrm>
          <a:prstGeom prst="rect">
            <a:avLst/>
          </a:prstGeom>
          <a:noFill/>
          <a:ln w="9525">
            <a:solidFill>
              <a:srgbClr val="002060"/>
            </a:solidFill>
            <a:miter lim="800000"/>
            <a:headEnd/>
            <a:tailEnd/>
          </a:ln>
          <a:effectLst/>
        </p:spPr>
      </p:pic>
      <p:sp>
        <p:nvSpPr>
          <p:cNvPr id="7" name="TextBox 6"/>
          <p:cNvSpPr txBox="1"/>
          <p:nvPr/>
        </p:nvSpPr>
        <p:spPr>
          <a:xfrm>
            <a:off x="609600" y="6096000"/>
            <a:ext cx="7620000" cy="369332"/>
          </a:xfrm>
          <a:prstGeom prst="rect">
            <a:avLst/>
          </a:prstGeom>
          <a:noFill/>
        </p:spPr>
        <p:txBody>
          <a:bodyPr wrap="square" rtlCol="0">
            <a:spAutoFit/>
          </a:bodyPr>
          <a:lstStyle/>
          <a:p>
            <a:pPr algn="ctr"/>
            <a:r>
              <a:rPr lang="en-US" dirty="0"/>
              <a:t>But we can definitely say TEACHER </a:t>
            </a:r>
            <a:r>
              <a:rPr lang="en-US" dirty="0">
                <a:sym typeface="Wingdings" pitchFamily="2" charset="2"/>
              </a:rPr>
              <a:t> COURSE  is not true. </a:t>
            </a:r>
            <a:endParaRPr lang="en-IN" dirty="0"/>
          </a:p>
        </p:txBody>
      </p:sp>
    </p:spTree>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52400"/>
            <a:ext cx="85344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 </a:t>
            </a:r>
            <a:r>
              <a:rPr lang="en-IN" sz="2400" b="1" dirty="0">
                <a:solidFill>
                  <a:srgbClr val="002060"/>
                </a:solidFill>
                <a:latin typeface="Tahoma" pitchFamily="34" charset="0"/>
                <a:ea typeface="Tahoma" pitchFamily="34" charset="0"/>
                <a:cs typeface="Tahoma" pitchFamily="34" charset="0"/>
              </a:rPr>
              <a:t>Definition Closure of F  (F</a:t>
            </a:r>
            <a:r>
              <a:rPr lang="en-IN" sz="2400" b="1" baseline="30000" dirty="0">
                <a:solidFill>
                  <a:srgbClr val="002060"/>
                </a:solidFill>
                <a:latin typeface="Tahoma" pitchFamily="34" charset="0"/>
                <a:ea typeface="Tahoma" pitchFamily="34" charset="0"/>
                <a:cs typeface="Tahoma" pitchFamily="34" charset="0"/>
              </a:rPr>
              <a:t>+</a:t>
            </a:r>
            <a:r>
              <a:rPr lang="en-IN" sz="2400" b="1" dirty="0">
                <a:solidFill>
                  <a:srgbClr val="002060"/>
                </a:solidFill>
                <a:latin typeface="Tahoma" pitchFamily="34" charset="0"/>
                <a:ea typeface="Tahoma" pitchFamily="34" charset="0"/>
                <a:cs typeface="Tahoma" pitchFamily="34" charset="0"/>
              </a:rPr>
              <a:t> )</a:t>
            </a:r>
          </a:p>
        </p:txBody>
      </p:sp>
      <p:sp>
        <p:nvSpPr>
          <p:cNvPr id="4" name="TextBox 3"/>
          <p:cNvSpPr txBox="1"/>
          <p:nvPr/>
        </p:nvSpPr>
        <p:spPr>
          <a:xfrm>
            <a:off x="304800" y="914400"/>
            <a:ext cx="8686800" cy="5090624"/>
          </a:xfrm>
          <a:prstGeom prst="rect">
            <a:avLst/>
          </a:prstGeom>
          <a:noFill/>
        </p:spPr>
        <p:txBody>
          <a:bodyPr wrap="square" rtlCol="0">
            <a:spAutoFit/>
          </a:bodyPr>
          <a:lstStyle/>
          <a:p>
            <a:pPr algn="just">
              <a:lnSpc>
                <a:spcPct val="150000"/>
              </a:lnSpc>
            </a:pPr>
            <a:r>
              <a:rPr lang="en-US" sz="2000" kern="0" dirty="0">
                <a:solidFill>
                  <a:srgbClr val="000000"/>
                </a:solidFill>
                <a:latin typeface="Tahoma" pitchFamily="34" charset="0"/>
                <a:ea typeface="Tahoma" pitchFamily="34" charset="0"/>
                <a:cs typeface="Tahoma" pitchFamily="34" charset="0"/>
              </a:rPr>
              <a:t>Formally , the set of all dependencies that include F as well as all dependencies that can be inferred  from  F is called the closure of F; denoted by </a:t>
            </a:r>
            <a:r>
              <a:rPr lang="en-US" sz="2400" kern="0" dirty="0">
                <a:solidFill>
                  <a:srgbClr val="000000"/>
                </a:solidFill>
                <a:latin typeface="Tahoma" pitchFamily="34" charset="0"/>
                <a:ea typeface="Tahoma" pitchFamily="34" charset="0"/>
                <a:cs typeface="Tahoma" pitchFamily="34" charset="0"/>
              </a:rPr>
              <a:t>F</a:t>
            </a:r>
            <a:r>
              <a:rPr lang="en-US" sz="2400" kern="0" baseline="30000" dirty="0">
                <a:solidFill>
                  <a:srgbClr val="000000"/>
                </a:solidFill>
                <a:latin typeface="Tahoma" pitchFamily="34" charset="0"/>
                <a:ea typeface="Tahoma" pitchFamily="34" charset="0"/>
                <a:cs typeface="Tahoma" pitchFamily="34" charset="0"/>
              </a:rPr>
              <a:t>+</a:t>
            </a:r>
            <a:endParaRPr lang="en-US" sz="2000" b="1" kern="0" baseline="30000" dirty="0">
              <a:solidFill>
                <a:srgbClr val="000000"/>
              </a:solidFill>
              <a:latin typeface="Tahoma" pitchFamily="34" charset="0"/>
              <a:ea typeface="Tahoma" pitchFamily="34" charset="0"/>
              <a:cs typeface="Tahoma" pitchFamily="34" charset="0"/>
            </a:endParaRPr>
          </a:p>
          <a:p>
            <a:pPr marL="742950" lvl="1" indent="-285750" algn="just" fontAlgn="base">
              <a:spcBef>
                <a:spcPct val="20000"/>
              </a:spcBef>
              <a:spcAft>
                <a:spcPct val="0"/>
              </a:spcAft>
            </a:pPr>
            <a:endParaRPr lang="en-US" sz="2800" b="1" kern="0" baseline="30000" dirty="0">
              <a:solidFill>
                <a:srgbClr val="000000"/>
              </a:solidFill>
            </a:endParaRPr>
          </a:p>
          <a:p>
            <a:pPr marL="285750" indent="-285750" algn="just" fontAlgn="base">
              <a:spcBef>
                <a:spcPct val="20000"/>
              </a:spcBef>
              <a:spcAft>
                <a:spcPct val="0"/>
              </a:spcAft>
            </a:pPr>
            <a:r>
              <a:rPr lang="en-US" sz="2800" b="1" kern="0" baseline="30000" dirty="0">
                <a:solidFill>
                  <a:srgbClr val="000000"/>
                </a:solidFill>
              </a:rPr>
              <a:t>Example :</a:t>
            </a:r>
          </a:p>
          <a:p>
            <a:pPr marL="742950" lvl="1" indent="-285750" algn="just" fontAlgn="base">
              <a:spcBef>
                <a:spcPct val="20000"/>
              </a:spcBef>
              <a:spcAft>
                <a:spcPct val="0"/>
              </a:spcAft>
            </a:pPr>
            <a:r>
              <a:rPr lang="en-US" sz="2400" kern="0" baseline="30000" dirty="0">
                <a:solidFill>
                  <a:srgbClr val="000000"/>
                </a:solidFill>
              </a:rPr>
              <a:t> 	</a:t>
            </a:r>
            <a:r>
              <a:rPr lang="en-US" sz="2400" b="1" kern="0" baseline="30000" dirty="0">
                <a:solidFill>
                  <a:srgbClr val="000000"/>
                </a:solidFill>
              </a:rPr>
              <a:t>F = {SSN </a:t>
            </a:r>
            <a:r>
              <a:rPr lang="en-US" sz="2400" b="1" kern="0" baseline="30000" dirty="0">
                <a:solidFill>
                  <a:srgbClr val="000000"/>
                </a:solidFill>
                <a:sym typeface="Wingdings" pitchFamily="2" charset="2"/>
              </a:rPr>
              <a:t></a:t>
            </a:r>
            <a:r>
              <a:rPr lang="en-US" sz="2400" b="1" kern="0" baseline="30000" dirty="0">
                <a:solidFill>
                  <a:srgbClr val="000000"/>
                </a:solidFill>
              </a:rPr>
              <a:t> {ENAME, BDATE, ADDRESS, DNUMBER},</a:t>
            </a:r>
          </a:p>
          <a:p>
            <a:pPr marL="742950" lvl="1" indent="-285750" algn="just" fontAlgn="base">
              <a:spcBef>
                <a:spcPct val="20000"/>
              </a:spcBef>
              <a:spcAft>
                <a:spcPct val="0"/>
              </a:spcAft>
            </a:pPr>
            <a:r>
              <a:rPr lang="en-US" sz="2400" b="1" kern="0" baseline="30000" dirty="0">
                <a:solidFill>
                  <a:srgbClr val="000000"/>
                </a:solidFill>
              </a:rPr>
              <a:t>	        DNUMBER </a:t>
            </a:r>
            <a:r>
              <a:rPr lang="en-US" sz="2400" b="1" kern="0" baseline="30000" dirty="0">
                <a:solidFill>
                  <a:srgbClr val="000000"/>
                </a:solidFill>
                <a:sym typeface="Wingdings" pitchFamily="2" charset="2"/>
              </a:rPr>
              <a:t></a:t>
            </a:r>
            <a:r>
              <a:rPr lang="en-US" sz="2400" b="1" kern="0" baseline="30000" dirty="0">
                <a:solidFill>
                  <a:srgbClr val="000000"/>
                </a:solidFill>
              </a:rPr>
              <a:t> {DNAME,DMGRSSN}</a:t>
            </a:r>
            <a:r>
              <a:rPr lang="en-US" sz="2400" b="1" kern="0" dirty="0">
                <a:solidFill>
                  <a:srgbClr val="000000"/>
                </a:solidFill>
              </a:rPr>
              <a:t>   </a:t>
            </a:r>
            <a:r>
              <a:rPr lang="en-US" sz="2400" b="1" kern="0" baseline="30000" dirty="0">
                <a:solidFill>
                  <a:srgbClr val="000000"/>
                </a:solidFill>
              </a:rPr>
              <a:t>}</a:t>
            </a:r>
          </a:p>
          <a:p>
            <a:pPr marL="742950" lvl="1" indent="-285750" algn="just" fontAlgn="base">
              <a:spcBef>
                <a:spcPct val="20000"/>
              </a:spcBef>
              <a:spcAft>
                <a:spcPct val="0"/>
              </a:spcAft>
            </a:pPr>
            <a:endParaRPr lang="en-US" sz="2400" kern="0" baseline="30000" dirty="0">
              <a:solidFill>
                <a:srgbClr val="000000"/>
              </a:solidFill>
            </a:endParaRPr>
          </a:p>
          <a:p>
            <a:pPr marL="285750" indent="-285750" fontAlgn="base">
              <a:spcBef>
                <a:spcPct val="20000"/>
              </a:spcBef>
              <a:spcAft>
                <a:spcPct val="0"/>
              </a:spcAft>
            </a:pPr>
            <a:r>
              <a:rPr lang="en-US" sz="1400" b="1" dirty="0">
                <a:latin typeface="Tahoma" pitchFamily="34" charset="0"/>
                <a:ea typeface="Tahoma" pitchFamily="34" charset="0"/>
                <a:cs typeface="Tahoma" pitchFamily="34" charset="0"/>
              </a:rPr>
              <a:t>Some of the additional functional dependencies that we can infer from F :</a:t>
            </a:r>
          </a:p>
          <a:p>
            <a:pPr lvl="3" algn="just">
              <a:lnSpc>
                <a:spcPct val="150000"/>
              </a:lnSpc>
            </a:pPr>
            <a:endParaRPr lang="en-US" sz="2800" b="1" baseline="30000" dirty="0"/>
          </a:p>
          <a:p>
            <a:pPr lvl="3" algn="just">
              <a:lnSpc>
                <a:spcPct val="150000"/>
              </a:lnSpc>
            </a:pPr>
            <a:r>
              <a:rPr lang="en-US" sz="2400" b="1" baseline="30000" dirty="0"/>
              <a:t>SSN </a:t>
            </a:r>
            <a:r>
              <a:rPr lang="en-US" sz="2400" b="1" baseline="30000" dirty="0">
                <a:sym typeface="Wingdings" pitchFamily="2" charset="2"/>
              </a:rPr>
              <a:t></a:t>
            </a:r>
            <a:r>
              <a:rPr lang="en-US" sz="2400" b="1" baseline="30000" dirty="0"/>
              <a:t> {DNAME, DMGRSSN}</a:t>
            </a:r>
          </a:p>
          <a:p>
            <a:pPr lvl="3" algn="just">
              <a:lnSpc>
                <a:spcPct val="150000"/>
              </a:lnSpc>
            </a:pPr>
            <a:r>
              <a:rPr lang="en-US" sz="2400" b="1" baseline="30000" dirty="0"/>
              <a:t>SSN </a:t>
            </a:r>
            <a:r>
              <a:rPr lang="en-US" sz="2400" b="1" baseline="30000" dirty="0">
                <a:sym typeface="Wingdings" pitchFamily="2" charset="2"/>
              </a:rPr>
              <a:t></a:t>
            </a:r>
            <a:r>
              <a:rPr lang="en-US" sz="2400" b="1" baseline="30000" dirty="0"/>
              <a:t> SSN</a:t>
            </a:r>
          </a:p>
          <a:p>
            <a:pPr lvl="3" algn="just">
              <a:lnSpc>
                <a:spcPct val="150000"/>
              </a:lnSpc>
            </a:pPr>
            <a:r>
              <a:rPr lang="en-US" sz="2400" b="1" baseline="30000" dirty="0"/>
              <a:t>DNUMBER </a:t>
            </a:r>
            <a:r>
              <a:rPr lang="en-US" sz="2400" b="1" baseline="30000" dirty="0">
                <a:sym typeface="Wingdings" pitchFamily="2" charset="2"/>
              </a:rPr>
              <a:t></a:t>
            </a:r>
            <a:r>
              <a:rPr lang="en-US" sz="2400" b="1" baseline="30000" dirty="0"/>
              <a:t> DNAME</a:t>
            </a:r>
            <a:endParaRPr lang="en-US" b="1" baseline="30000" dirty="0"/>
          </a:p>
        </p:txBody>
      </p:sp>
      <p:sp>
        <p:nvSpPr>
          <p:cNvPr id="5" name="TextBox 4"/>
          <p:cNvSpPr txBox="1"/>
          <p:nvPr/>
        </p:nvSpPr>
        <p:spPr>
          <a:xfrm>
            <a:off x="228600" y="5943600"/>
            <a:ext cx="8915400" cy="523220"/>
          </a:xfrm>
          <a:prstGeom prst="rect">
            <a:avLst/>
          </a:prstGeom>
          <a:noFill/>
          <a:ln w="19050">
            <a:solidFill>
              <a:schemeClr val="accent1"/>
            </a:solidFill>
          </a:ln>
        </p:spPr>
        <p:txBody>
          <a:bodyPr wrap="square" rtlCol="0">
            <a:spAutoFit/>
          </a:bodyPr>
          <a:lstStyle/>
          <a:p>
            <a:r>
              <a:rPr lang="en-US" dirty="0">
                <a:solidFill>
                  <a:srgbClr val="C00000"/>
                </a:solidFill>
                <a:latin typeface="Times New Roman"/>
              </a:rPr>
              <a:t>The closure </a:t>
            </a:r>
            <a:r>
              <a:rPr lang="en-US" sz="2800" kern="0" dirty="0">
                <a:solidFill>
                  <a:srgbClr val="C00000"/>
                </a:solidFill>
                <a:latin typeface="Tahoma" pitchFamily="34" charset="0"/>
                <a:ea typeface="Tahoma" pitchFamily="34" charset="0"/>
                <a:cs typeface="Tahoma" pitchFamily="34" charset="0"/>
              </a:rPr>
              <a:t> </a:t>
            </a:r>
            <a:r>
              <a:rPr lang="en-US" kern="0" dirty="0">
                <a:solidFill>
                  <a:srgbClr val="C00000"/>
                </a:solidFill>
                <a:latin typeface="Tahoma" pitchFamily="34" charset="0"/>
                <a:ea typeface="Tahoma" pitchFamily="34" charset="0"/>
                <a:cs typeface="Tahoma" pitchFamily="34" charset="0"/>
              </a:rPr>
              <a:t>F</a:t>
            </a:r>
            <a:r>
              <a:rPr lang="en-US" kern="0" baseline="30000" dirty="0">
                <a:solidFill>
                  <a:srgbClr val="C00000"/>
                </a:solidFill>
                <a:latin typeface="Tahoma" pitchFamily="34" charset="0"/>
                <a:ea typeface="Tahoma" pitchFamily="34" charset="0"/>
                <a:cs typeface="Tahoma" pitchFamily="34" charset="0"/>
              </a:rPr>
              <a:t>+</a:t>
            </a:r>
            <a:r>
              <a:rPr lang="en-US" sz="2800" dirty="0">
                <a:solidFill>
                  <a:srgbClr val="C00000"/>
                </a:solidFill>
                <a:latin typeface="Times New Roman"/>
              </a:rPr>
              <a:t> </a:t>
            </a:r>
            <a:r>
              <a:rPr lang="en-US" dirty="0">
                <a:solidFill>
                  <a:srgbClr val="C00000"/>
                </a:solidFill>
                <a:latin typeface="Times New Roman"/>
              </a:rPr>
              <a:t>of F is the set of all functional dependencies that can be inferred from </a:t>
            </a:r>
            <a:r>
              <a:rPr lang="en-US" sz="2000" dirty="0">
                <a:solidFill>
                  <a:srgbClr val="C00000"/>
                </a:solidFill>
                <a:latin typeface="Times New Roman"/>
              </a:rPr>
              <a:t>F.</a:t>
            </a:r>
            <a:endParaRPr lang="en-US" dirty="0">
              <a:solidFill>
                <a:srgbClr val="C00000"/>
              </a:solidFill>
            </a:endParaRPr>
          </a:p>
        </p:txBody>
      </p:sp>
    </p:spTree>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2400" y="152400"/>
            <a:ext cx="7467600" cy="461665"/>
          </a:xfrm>
          <a:prstGeom prst="rect">
            <a:avLst/>
          </a:prstGeom>
          <a:noFill/>
        </p:spPr>
        <p:txBody>
          <a:bodyPr wrap="square" rtlCol="0">
            <a:spAutoFit/>
          </a:bodyPr>
          <a:lstStyle/>
          <a:p>
            <a:r>
              <a:rPr lang="en-US" sz="2000" b="1" dirty="0">
                <a:latin typeface="Tahoma" pitchFamily="34" charset="0"/>
                <a:ea typeface="Tahoma" pitchFamily="34" charset="0"/>
                <a:cs typeface="Tahoma" pitchFamily="34" charset="0"/>
              </a:rPr>
              <a:t> </a:t>
            </a:r>
            <a:r>
              <a:rPr lang="en-US" sz="2400" b="1" dirty="0">
                <a:solidFill>
                  <a:srgbClr val="002060"/>
                </a:solidFill>
                <a:latin typeface="Tahoma" pitchFamily="34" charset="0"/>
                <a:ea typeface="Tahoma" pitchFamily="34" charset="0"/>
                <a:cs typeface="Tahoma" pitchFamily="34" charset="0"/>
              </a:rPr>
              <a:t>Inference Rules for Functional Dependencies</a:t>
            </a:r>
          </a:p>
        </p:txBody>
      </p:sp>
      <p:sp>
        <p:nvSpPr>
          <p:cNvPr id="4" name="TextBox 3"/>
          <p:cNvSpPr txBox="1"/>
          <p:nvPr/>
        </p:nvSpPr>
        <p:spPr>
          <a:xfrm>
            <a:off x="304800" y="914400"/>
            <a:ext cx="8686800" cy="5493812"/>
          </a:xfrm>
          <a:prstGeom prst="rect">
            <a:avLst/>
          </a:prstGeom>
          <a:noFill/>
        </p:spPr>
        <p:txBody>
          <a:bodyPr wrap="square" rtlCol="0">
            <a:spAutoFit/>
          </a:bodyPr>
          <a:lstStyle/>
          <a:p>
            <a:pPr marL="342900" indent="-342900" algn="just">
              <a:lnSpc>
                <a:spcPct val="150000"/>
              </a:lnSpc>
              <a:buFont typeface="Arial" pitchFamily="34" charset="0"/>
              <a:buChar char="•"/>
            </a:pPr>
            <a:r>
              <a:rPr lang="en-US" sz="1600" b="1" dirty="0">
                <a:latin typeface="Tahoma" pitchFamily="34" charset="0"/>
                <a:ea typeface="Tahoma" pitchFamily="34" charset="0"/>
                <a:cs typeface="Tahoma" pitchFamily="34" charset="0"/>
              </a:rPr>
              <a:t> The schema designer specifies the functional dependencies F that are semantically obvious;</a:t>
            </a:r>
          </a:p>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However, numerous other functional dependencies hold in </a:t>
            </a:r>
            <a:r>
              <a:rPr lang="en-US" i="1" dirty="0">
                <a:latin typeface="Tahoma" pitchFamily="34" charset="0"/>
                <a:ea typeface="Tahoma" pitchFamily="34" charset="0"/>
                <a:cs typeface="Tahoma" pitchFamily="34" charset="0"/>
              </a:rPr>
              <a:t>all legal </a:t>
            </a:r>
            <a:r>
              <a:rPr lang="en-US" dirty="0">
                <a:latin typeface="Tahoma" pitchFamily="34" charset="0"/>
                <a:ea typeface="Tahoma" pitchFamily="34" charset="0"/>
                <a:cs typeface="Tahoma" pitchFamily="34" charset="0"/>
              </a:rPr>
              <a:t>relation states that satisfy the dependencies in F can be </a:t>
            </a:r>
            <a:r>
              <a:rPr lang="en-US" i="1" dirty="0">
                <a:latin typeface="Tahoma" pitchFamily="34" charset="0"/>
                <a:ea typeface="Tahoma" pitchFamily="34" charset="0"/>
                <a:cs typeface="Tahoma" pitchFamily="34" charset="0"/>
              </a:rPr>
              <a:t>inferred or deduced from the FDs in F.</a:t>
            </a:r>
          </a:p>
          <a:p>
            <a:pPr algn="just">
              <a:lnSpc>
                <a:spcPct val="150000"/>
              </a:lnSpc>
              <a:buFont typeface="Arial" pitchFamily="34" charset="0"/>
              <a:buChar char="•"/>
            </a:pPr>
            <a:endParaRPr lang="en-US" i="1" dirty="0">
              <a:latin typeface="Tahoma" pitchFamily="34" charset="0"/>
              <a:ea typeface="Tahoma" pitchFamily="34" charset="0"/>
              <a:cs typeface="Tahoma" pitchFamily="34" charset="0"/>
            </a:endParaRPr>
          </a:p>
          <a:p>
            <a:pPr algn="just">
              <a:lnSpc>
                <a:spcPct val="150000"/>
              </a:lnSpc>
            </a:pPr>
            <a:r>
              <a:rPr lang="en-US" b="1" dirty="0">
                <a:latin typeface="Tahoma" pitchFamily="34" charset="0"/>
                <a:ea typeface="Tahoma" pitchFamily="34" charset="0"/>
                <a:cs typeface="Tahoma" pitchFamily="34" charset="0"/>
              </a:rPr>
              <a:t>For Example: </a:t>
            </a:r>
          </a:p>
          <a:p>
            <a:pPr lvl="5" algn="just">
              <a:lnSpc>
                <a:spcPct val="150000"/>
              </a:lnSpc>
            </a:pPr>
            <a:r>
              <a:rPr lang="en-US" sz="1600" dirty="0">
                <a:latin typeface="Tahoma" pitchFamily="34" charset="0"/>
                <a:ea typeface="Tahoma" pitchFamily="34" charset="0"/>
                <a:cs typeface="Tahoma" pitchFamily="34" charset="0"/>
              </a:rPr>
              <a:t>  </a:t>
            </a:r>
            <a:r>
              <a:rPr lang="en-US" sz="1600" b="1" dirty="0">
                <a:latin typeface="Tahoma" pitchFamily="34" charset="0"/>
                <a:ea typeface="Tahoma" pitchFamily="34" charset="0"/>
                <a:cs typeface="Tahoma" pitchFamily="34" charset="0"/>
              </a:rPr>
              <a:t>DEPT_NO </a:t>
            </a:r>
            <a:r>
              <a:rPr lang="en-US" sz="1600" b="1" dirty="0">
                <a:latin typeface="Tahoma" pitchFamily="34" charset="0"/>
                <a:ea typeface="Tahoma" pitchFamily="34" charset="0"/>
                <a:cs typeface="Tahoma" pitchFamily="34" charset="0"/>
                <a:sym typeface="Wingdings" pitchFamily="2" charset="2"/>
              </a:rPr>
              <a:t></a:t>
            </a:r>
            <a:r>
              <a:rPr lang="en-US" sz="1600" b="1" dirty="0">
                <a:latin typeface="Tahoma" pitchFamily="34" charset="0"/>
                <a:ea typeface="Tahoma" pitchFamily="34" charset="0"/>
                <a:cs typeface="Tahoma" pitchFamily="34" charset="0"/>
              </a:rPr>
              <a:t>  MGR_SSN  </a:t>
            </a:r>
          </a:p>
          <a:p>
            <a:pPr lvl="5" algn="just">
              <a:lnSpc>
                <a:spcPct val="150000"/>
              </a:lnSpc>
            </a:pPr>
            <a:r>
              <a:rPr lang="en-US" sz="1600" dirty="0">
                <a:latin typeface="Tahoma" pitchFamily="34" charset="0"/>
                <a:ea typeface="Tahoma" pitchFamily="34" charset="0"/>
                <a:cs typeface="Tahoma" pitchFamily="34" charset="0"/>
              </a:rPr>
              <a:t>  </a:t>
            </a:r>
            <a:r>
              <a:rPr lang="en-US" sz="1600" b="1" dirty="0">
                <a:latin typeface="Tahoma" pitchFamily="34" charset="0"/>
                <a:ea typeface="Tahoma" pitchFamily="34" charset="0"/>
                <a:cs typeface="Tahoma" pitchFamily="34" charset="0"/>
              </a:rPr>
              <a:t>MGR_SSN </a:t>
            </a:r>
            <a:r>
              <a:rPr lang="en-US" sz="1600" b="1" dirty="0">
                <a:latin typeface="Tahoma" pitchFamily="34" charset="0"/>
                <a:ea typeface="Tahoma" pitchFamily="34" charset="0"/>
                <a:cs typeface="Tahoma" pitchFamily="34" charset="0"/>
                <a:sym typeface="Wingdings" pitchFamily="2" charset="2"/>
              </a:rPr>
              <a:t></a:t>
            </a:r>
            <a:r>
              <a:rPr lang="en-US" sz="1600" b="1" dirty="0">
                <a:latin typeface="Tahoma" pitchFamily="34" charset="0"/>
                <a:ea typeface="Tahoma" pitchFamily="34" charset="0"/>
                <a:cs typeface="Tahoma" pitchFamily="34" charset="0"/>
              </a:rPr>
              <a:t> MGR_PHONE </a:t>
            </a:r>
            <a:r>
              <a:rPr lang="en-US" sz="1600" dirty="0">
                <a:latin typeface="Tahoma" pitchFamily="34" charset="0"/>
                <a:ea typeface="Tahoma" pitchFamily="34" charset="0"/>
                <a:cs typeface="Tahoma" pitchFamily="34" charset="0"/>
              </a:rPr>
              <a:t> </a:t>
            </a:r>
          </a:p>
          <a:p>
            <a:pPr algn="just">
              <a:lnSpc>
                <a:spcPct val="150000"/>
              </a:lnSpc>
            </a:pPr>
            <a:endParaRPr lang="en-US" sz="1600" dirty="0">
              <a:latin typeface="Tahoma" pitchFamily="34" charset="0"/>
              <a:ea typeface="Tahoma" pitchFamily="34" charset="0"/>
              <a:cs typeface="Tahoma" pitchFamily="34" charset="0"/>
            </a:endParaRPr>
          </a:p>
          <a:p>
            <a:pPr algn="just">
              <a:lnSpc>
                <a:spcPct val="150000"/>
              </a:lnSpc>
            </a:pPr>
            <a:r>
              <a:rPr lang="en-US" sz="1600" dirty="0">
                <a:latin typeface="Tahoma" pitchFamily="34" charset="0"/>
                <a:ea typeface="Tahoma" pitchFamily="34" charset="0"/>
                <a:cs typeface="Tahoma" pitchFamily="34" charset="0"/>
              </a:rPr>
              <a:t>Then we can infer , </a:t>
            </a:r>
            <a:r>
              <a:rPr lang="en-US" sz="1600" b="1" dirty="0"/>
              <a:t>DEPT_NO  </a:t>
            </a:r>
            <a:r>
              <a:rPr lang="en-US" sz="1600" b="1" dirty="0">
                <a:sym typeface="Wingdings" pitchFamily="2" charset="2"/>
              </a:rPr>
              <a:t></a:t>
            </a:r>
            <a:r>
              <a:rPr lang="en-US" sz="1600" b="1" dirty="0"/>
              <a:t> MGR_PHONE</a:t>
            </a:r>
            <a:r>
              <a:rPr lang="en-US" sz="1600" dirty="0"/>
              <a:t> from the above FDs</a:t>
            </a:r>
          </a:p>
          <a:p>
            <a:pPr algn="just">
              <a:lnSpc>
                <a:spcPct val="150000"/>
              </a:lnSpc>
            </a:pPr>
            <a:endParaRPr lang="en-US" sz="1600" dirty="0">
              <a:latin typeface="Tahoma" pitchFamily="34" charset="0"/>
              <a:ea typeface="Tahoma" pitchFamily="34" charset="0"/>
              <a:cs typeface="Tahoma" pitchFamily="34" charset="0"/>
            </a:endParaRPr>
          </a:p>
          <a:p>
            <a:pPr marL="800100" lvl="1" indent="-342900" algn="just">
              <a:lnSpc>
                <a:spcPct val="150000"/>
              </a:lnSpc>
            </a:pPr>
            <a:r>
              <a:rPr lang="en-US" sz="1600" dirty="0">
                <a:latin typeface="Tahoma" pitchFamily="34" charset="0"/>
                <a:ea typeface="Tahoma" pitchFamily="34" charset="0"/>
                <a:cs typeface="Tahoma" pitchFamily="34" charset="0"/>
              </a:rPr>
              <a:t>Here </a:t>
            </a:r>
            <a:r>
              <a:rPr lang="en-US" sz="1600" b="1" dirty="0"/>
              <a:t>DEPT_NO  </a:t>
            </a:r>
            <a:r>
              <a:rPr lang="en-US" sz="1600" b="1" dirty="0">
                <a:sym typeface="Wingdings" pitchFamily="2" charset="2"/>
              </a:rPr>
              <a:t></a:t>
            </a:r>
            <a:r>
              <a:rPr lang="en-US" sz="1600" b="1" dirty="0"/>
              <a:t> MGR_PHONE </a:t>
            </a:r>
            <a:r>
              <a:rPr lang="en-US" sz="1600" dirty="0"/>
              <a:t> is</a:t>
            </a:r>
            <a:r>
              <a:rPr lang="en-US" sz="1600" i="1" dirty="0"/>
              <a:t> inferred  </a:t>
            </a:r>
            <a:r>
              <a:rPr lang="en-US" sz="1600" dirty="0"/>
              <a:t>or </a:t>
            </a:r>
            <a:r>
              <a:rPr lang="en-US" sz="1600" i="1" dirty="0"/>
              <a:t>deduced </a:t>
            </a:r>
            <a:r>
              <a:rPr lang="en-US" sz="1600" dirty="0"/>
              <a:t> FD.</a:t>
            </a:r>
            <a:endParaRPr lang="en-US" sz="1600" dirty="0">
              <a:latin typeface="Tahoma" pitchFamily="34" charset="0"/>
              <a:ea typeface="Tahoma" pitchFamily="34" charset="0"/>
              <a:cs typeface="Tahoma" pitchFamily="34" charset="0"/>
            </a:endParaRPr>
          </a:p>
          <a:p>
            <a:pPr algn="just">
              <a:lnSpc>
                <a:spcPct val="150000"/>
              </a:lnSpc>
            </a:pPr>
            <a:endParaRPr lang="en-US" sz="1600" b="1"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2400" y="152400"/>
            <a:ext cx="86106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Inference Rules for Functional Dependencies</a:t>
            </a:r>
          </a:p>
        </p:txBody>
      </p:sp>
      <p:sp>
        <p:nvSpPr>
          <p:cNvPr id="4" name="TextBox 3"/>
          <p:cNvSpPr txBox="1"/>
          <p:nvPr/>
        </p:nvSpPr>
        <p:spPr>
          <a:xfrm>
            <a:off x="152400" y="914400"/>
            <a:ext cx="8839200" cy="5309146"/>
          </a:xfrm>
          <a:prstGeom prst="rect">
            <a:avLst/>
          </a:prstGeom>
          <a:noFill/>
        </p:spPr>
        <p:txBody>
          <a:bodyPr wrap="square" rtlCol="0">
            <a:spAutoFit/>
          </a:bodyPr>
          <a:lstStyle/>
          <a:p>
            <a:pPr algn="just">
              <a:lnSpc>
                <a:spcPct val="150000"/>
              </a:lnSpc>
              <a:buFont typeface="Arial" pitchFamily="34" charset="0"/>
              <a:buChar char="•"/>
            </a:pPr>
            <a:r>
              <a:rPr lang="en-US" dirty="0"/>
              <a:t> </a:t>
            </a:r>
            <a:r>
              <a:rPr lang="en-US" b="1" dirty="0"/>
              <a:t>Standard Inference Rules are used t</a:t>
            </a:r>
            <a:r>
              <a:rPr lang="en-US" dirty="0"/>
              <a:t>o systematically  determine infer dependencies, from a given set of dependencies.</a:t>
            </a:r>
          </a:p>
          <a:p>
            <a:pPr algn="just">
              <a:lnSpc>
                <a:spcPct val="150000"/>
              </a:lnSpc>
            </a:pPr>
            <a:endParaRPr lang="en-US" baseline="30000" dirty="0"/>
          </a:p>
          <a:p>
            <a:pPr algn="just">
              <a:lnSpc>
                <a:spcPct val="150000"/>
              </a:lnSpc>
            </a:pPr>
            <a:r>
              <a:rPr lang="en-US" sz="2000" b="1" dirty="0"/>
              <a:t>Standard Inference Rules:</a:t>
            </a:r>
          </a:p>
          <a:p>
            <a:pPr marL="1066800" lvl="1" indent="-609600">
              <a:lnSpc>
                <a:spcPct val="200000"/>
              </a:lnSpc>
              <a:buFontTx/>
              <a:buAutoNum type="arabicPeriod"/>
            </a:pPr>
            <a:r>
              <a:rPr lang="en-US" sz="2000" dirty="0">
                <a:latin typeface="Tahoma" pitchFamily="34" charset="0"/>
                <a:ea typeface="Tahoma" pitchFamily="34" charset="0"/>
                <a:cs typeface="Tahoma" pitchFamily="34" charset="0"/>
              </a:rPr>
              <a:t>IR1 (reflexive rule): If Y </a:t>
            </a:r>
            <a:r>
              <a:rPr lang="en-US" sz="2000" i="1" u="sng" dirty="0">
                <a:latin typeface="Tahoma" pitchFamily="34" charset="0"/>
                <a:ea typeface="Tahoma" pitchFamily="34" charset="0"/>
                <a:cs typeface="Tahoma" pitchFamily="34" charset="0"/>
              </a:rPr>
              <a:t>subset-of</a:t>
            </a:r>
            <a:r>
              <a:rPr lang="en-US" sz="2000" dirty="0">
                <a:latin typeface="Tahoma" pitchFamily="34" charset="0"/>
                <a:ea typeface="Tahoma" pitchFamily="34" charset="0"/>
                <a:cs typeface="Tahoma" pitchFamily="34" charset="0"/>
              </a:rPr>
              <a:t>  X, then X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 Y.</a:t>
            </a:r>
          </a:p>
          <a:p>
            <a:pPr marL="1066800" lvl="1" indent="-609600">
              <a:lnSpc>
                <a:spcPct val="200000"/>
              </a:lnSpc>
              <a:buFontTx/>
              <a:buAutoNum type="arabicPeriod"/>
            </a:pPr>
            <a:r>
              <a:rPr lang="en-US" sz="2000" dirty="0">
                <a:latin typeface="Tahoma" pitchFamily="34" charset="0"/>
                <a:ea typeface="Tahoma" pitchFamily="34" charset="0"/>
                <a:cs typeface="Tahoma" pitchFamily="34" charset="0"/>
              </a:rPr>
              <a:t>IR2 (augmentation rule): {X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 Y } then XZ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 YZ.</a:t>
            </a:r>
          </a:p>
          <a:p>
            <a:pPr marL="1066800" lvl="1" indent="-609600">
              <a:lnSpc>
                <a:spcPct val="200000"/>
              </a:lnSpc>
              <a:buFontTx/>
              <a:buAutoNum type="arabicPeriod"/>
            </a:pPr>
            <a:r>
              <a:rPr lang="en-US" sz="2000" dirty="0">
                <a:latin typeface="Tahoma" pitchFamily="34" charset="0"/>
                <a:ea typeface="Tahoma" pitchFamily="34" charset="0"/>
                <a:cs typeface="Tahoma" pitchFamily="34" charset="0"/>
              </a:rPr>
              <a:t>IR3 (transitive rule): {X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 Y, Y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Z} then X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 Z.</a:t>
            </a:r>
          </a:p>
          <a:p>
            <a:pPr marL="1066800" lvl="1" indent="-609600">
              <a:lnSpc>
                <a:spcPct val="200000"/>
              </a:lnSpc>
              <a:buFontTx/>
              <a:buAutoNum type="arabicPeriod"/>
            </a:pPr>
            <a:r>
              <a:rPr lang="en-US" sz="2000" dirty="0">
                <a:latin typeface="Tahoma" pitchFamily="34" charset="0"/>
                <a:ea typeface="Tahoma" pitchFamily="34" charset="0"/>
                <a:cs typeface="Tahoma" pitchFamily="34" charset="0"/>
              </a:rPr>
              <a:t>IR4 (decomposition, or projective rule): {X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YZ} then X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 Y.</a:t>
            </a:r>
          </a:p>
          <a:p>
            <a:pPr marL="1066800" lvl="1" indent="-609600">
              <a:lnSpc>
                <a:spcPct val="200000"/>
              </a:lnSpc>
              <a:buFontTx/>
              <a:buAutoNum type="arabicPeriod"/>
            </a:pPr>
            <a:r>
              <a:rPr lang="en-US" sz="2000" dirty="0">
                <a:latin typeface="Tahoma" pitchFamily="34" charset="0"/>
                <a:ea typeface="Tahoma" pitchFamily="34" charset="0"/>
                <a:cs typeface="Tahoma" pitchFamily="34" charset="0"/>
              </a:rPr>
              <a:t>IR5 (union, or additive, rule): {X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 Y, X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Z} then X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 YZ.</a:t>
            </a:r>
          </a:p>
          <a:p>
            <a:pPr marL="1066800" lvl="1" indent="-609600">
              <a:lnSpc>
                <a:spcPct val="200000"/>
              </a:lnSpc>
              <a:buFontTx/>
              <a:buAutoNum type="arabicPeriod"/>
            </a:pPr>
            <a:r>
              <a:rPr lang="en-US" sz="2000" dirty="0">
                <a:latin typeface="Tahoma" pitchFamily="34" charset="0"/>
                <a:ea typeface="Tahoma" pitchFamily="34" charset="0"/>
                <a:cs typeface="Tahoma" pitchFamily="34" charset="0"/>
              </a:rPr>
              <a:t>IR6 (pseudotransitive rule): {X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 Y, WY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 Z } WX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 Z.</a:t>
            </a:r>
          </a:p>
        </p:txBody>
      </p:sp>
    </p:spTree>
  </p:cSld>
  <p:clrMapOvr>
    <a:masterClrMapping/>
  </p:clrMapOvr>
  <p:transition>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914400"/>
            <a:ext cx="8763000" cy="5493812"/>
          </a:xfrm>
          <a:prstGeom prst="rect">
            <a:avLst/>
          </a:prstGeom>
          <a:noFill/>
        </p:spPr>
        <p:txBody>
          <a:bodyPr wrap="square" rtlCol="0">
            <a:spAutoFit/>
          </a:bodyPr>
          <a:lstStyle/>
          <a:p>
            <a:pPr algn="just">
              <a:lnSpc>
                <a:spcPct val="150000"/>
              </a:lnSpc>
            </a:pPr>
            <a:r>
              <a:rPr lang="en-US" b="1" dirty="0"/>
              <a:t>Meaning of Inference Rules :</a:t>
            </a:r>
            <a:endParaRPr lang="en-US" baseline="30000" dirty="0"/>
          </a:p>
          <a:p>
            <a:pPr marL="800100" lvl="1" indent="-342900" algn="just">
              <a:lnSpc>
                <a:spcPct val="200000"/>
              </a:lnSpc>
              <a:buFont typeface="+mj-lt"/>
              <a:buAutoNum type="arabicPeriod"/>
            </a:pPr>
            <a:r>
              <a:rPr lang="en-US" dirty="0"/>
              <a:t>The reflexive rule (IR1) states that a set of attributes always determines itself or any of its subsets, which is obvious</a:t>
            </a:r>
          </a:p>
          <a:p>
            <a:pPr marL="800100" lvl="1" indent="-342900" algn="just">
              <a:lnSpc>
                <a:spcPct val="200000"/>
              </a:lnSpc>
              <a:buFont typeface="+mj-lt"/>
              <a:buAutoNum type="arabicPeriod"/>
            </a:pPr>
            <a:r>
              <a:rPr lang="en-US" dirty="0">
                <a:latin typeface="Tahoma" pitchFamily="34" charset="0"/>
                <a:ea typeface="Tahoma" pitchFamily="34" charset="0"/>
                <a:cs typeface="Tahoma" pitchFamily="34" charset="0"/>
              </a:rPr>
              <a:t>The augmentation rule (IR2) says that adding the same set of attributes to both the left- and right-hand sides of a dependency results in another valid dependency.</a:t>
            </a:r>
          </a:p>
          <a:p>
            <a:pPr marL="800100" lvl="1" indent="-342900" algn="just">
              <a:lnSpc>
                <a:spcPct val="200000"/>
              </a:lnSpc>
              <a:buFont typeface="+mj-lt"/>
              <a:buAutoNum type="arabicPeriod"/>
            </a:pPr>
            <a:r>
              <a:rPr lang="en-US" dirty="0"/>
              <a:t>According to IR3, functional dependencies are transitive</a:t>
            </a:r>
          </a:p>
          <a:p>
            <a:pPr marL="800100" lvl="1" indent="-342900" algn="just">
              <a:lnSpc>
                <a:spcPct val="200000"/>
              </a:lnSpc>
              <a:buFont typeface="+mj-lt"/>
              <a:buAutoNum type="arabicPeriod"/>
            </a:pPr>
            <a:r>
              <a:rPr lang="en-US" dirty="0">
                <a:latin typeface="Tahoma" pitchFamily="34" charset="0"/>
                <a:ea typeface="Tahoma" pitchFamily="34" charset="0"/>
                <a:cs typeface="Tahoma" pitchFamily="34" charset="0"/>
              </a:rPr>
              <a:t>The decomposition rule (IR4) says that we can remove attributes from the right-hand side of a dependency</a:t>
            </a:r>
          </a:p>
          <a:p>
            <a:pPr marL="800100" lvl="1" indent="-342900" algn="just">
              <a:lnSpc>
                <a:spcPct val="200000"/>
              </a:lnSpc>
              <a:buFont typeface="+mj-lt"/>
              <a:buAutoNum type="arabicPeriod"/>
            </a:pPr>
            <a:r>
              <a:rPr lang="en-US" dirty="0">
                <a:latin typeface="Tahoma" pitchFamily="34" charset="0"/>
                <a:ea typeface="Tahoma" pitchFamily="34" charset="0"/>
                <a:cs typeface="Tahoma" pitchFamily="34" charset="0"/>
              </a:rPr>
              <a:t>The union rule (IRS) allows us to do the opposite</a:t>
            </a:r>
            <a:endParaRPr lang="en-US" baseline="30000" dirty="0">
              <a:latin typeface="Tahoma" pitchFamily="34" charset="0"/>
              <a:ea typeface="Tahoma" pitchFamily="34" charset="0"/>
              <a:cs typeface="Tahoma" pitchFamily="34" charset="0"/>
            </a:endParaRPr>
          </a:p>
        </p:txBody>
      </p:sp>
      <p:sp>
        <p:nvSpPr>
          <p:cNvPr id="7" name="TextBox 6"/>
          <p:cNvSpPr txBox="1"/>
          <p:nvPr/>
        </p:nvSpPr>
        <p:spPr>
          <a:xfrm>
            <a:off x="152400" y="152400"/>
            <a:ext cx="86106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Inference Rules for Functional Dependencies</a:t>
            </a:r>
          </a:p>
        </p:txBody>
      </p:sp>
    </p:spTree>
  </p:cSld>
  <p:clrMapOvr>
    <a:masterClrMapping/>
  </p:clrMapOvr>
  <p:transition>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1066800"/>
            <a:ext cx="8686800" cy="2616101"/>
          </a:xfrm>
          <a:prstGeom prst="rect">
            <a:avLst/>
          </a:prstGeom>
          <a:noFill/>
          <a:ln w="19050">
            <a:solidFill>
              <a:schemeClr val="accent1"/>
            </a:solidFill>
          </a:ln>
        </p:spPr>
        <p:txBody>
          <a:bodyPr wrap="square" rtlCol="0">
            <a:spAutoFit/>
          </a:bodyPr>
          <a:lstStyle/>
          <a:p>
            <a:pPr marL="342900" indent="-342900"/>
            <a:r>
              <a:rPr lang="en-US" sz="2400" b="1" dirty="0">
                <a:latin typeface="Calibri" pitchFamily="34" charset="0"/>
                <a:ea typeface="Tahoma" pitchFamily="34" charset="0"/>
                <a:cs typeface="Tahoma" pitchFamily="34" charset="0"/>
              </a:rPr>
              <a:t>Note the following : </a:t>
            </a:r>
          </a:p>
          <a:p>
            <a:pPr marL="800100" lvl="1" indent="-342900" algn="just">
              <a:lnSpc>
                <a:spcPct val="150000"/>
              </a:lnSpc>
              <a:buFont typeface="Arial" pitchFamily="34" charset="0"/>
              <a:buChar char="•"/>
            </a:pPr>
            <a:r>
              <a:rPr lang="en-US" sz="2000" b="1" dirty="0">
                <a:latin typeface="Calibri" pitchFamily="34" charset="0"/>
                <a:ea typeface="Tahoma" pitchFamily="34" charset="0"/>
                <a:cs typeface="Tahoma" pitchFamily="34" charset="0"/>
              </a:rPr>
              <a:t>The rules IR1 through IR3 are called Armstrong’s inference rules  (</a:t>
            </a:r>
            <a:r>
              <a:rPr lang="en-US" sz="2000" dirty="0">
                <a:latin typeface="Calibri" pitchFamily="34" charset="0"/>
              </a:rPr>
              <a:t>sound and complete)</a:t>
            </a:r>
            <a:endParaRPr lang="en-US" sz="2000" baseline="30000" dirty="0">
              <a:latin typeface="Calibri" pitchFamily="34" charset="0"/>
            </a:endParaRPr>
          </a:p>
          <a:p>
            <a:pPr marL="800100" lvl="1" indent="-342900" algn="just">
              <a:buFont typeface="Arial" pitchFamily="34" charset="0"/>
              <a:buChar char="•"/>
            </a:pPr>
            <a:endParaRPr lang="en-US" sz="2000" dirty="0">
              <a:latin typeface="Calibri" pitchFamily="34" charset="0"/>
            </a:endParaRPr>
          </a:p>
          <a:p>
            <a:pPr marL="800100" lvl="1" indent="-342900" algn="just">
              <a:lnSpc>
                <a:spcPct val="150000"/>
              </a:lnSpc>
              <a:buFont typeface="Arial" pitchFamily="34" charset="0"/>
              <a:buChar char="•"/>
            </a:pPr>
            <a:r>
              <a:rPr lang="en-US" sz="2000" b="1" dirty="0">
                <a:latin typeface="Calibri" pitchFamily="34" charset="0"/>
              </a:rPr>
              <a:t>A functional dependency X </a:t>
            </a:r>
            <a:r>
              <a:rPr lang="en-US" sz="2000" b="1" dirty="0">
                <a:latin typeface="Calibri" pitchFamily="34" charset="0"/>
                <a:sym typeface="Wingdings" pitchFamily="2" charset="2"/>
              </a:rPr>
              <a:t></a:t>
            </a:r>
            <a:r>
              <a:rPr lang="en-US" sz="2000" b="1" dirty="0">
                <a:latin typeface="Calibri" pitchFamily="34" charset="0"/>
              </a:rPr>
              <a:t> Y is trivial if Y subset of X ;  otherwise, it is nontrivial.</a:t>
            </a:r>
          </a:p>
        </p:txBody>
      </p:sp>
      <p:sp>
        <p:nvSpPr>
          <p:cNvPr id="7" name="TextBox 6"/>
          <p:cNvSpPr txBox="1"/>
          <p:nvPr/>
        </p:nvSpPr>
        <p:spPr>
          <a:xfrm>
            <a:off x="152400" y="152400"/>
            <a:ext cx="86106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Inference Rules for Functional Dependencies</a:t>
            </a:r>
          </a:p>
        </p:txBody>
      </p:sp>
    </p:spTree>
  </p:cSld>
  <p:clrMapOvr>
    <a:masterClrMapping/>
  </p:clrMapOvr>
  <p:transition>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14400"/>
            <a:ext cx="8839200" cy="2846933"/>
          </a:xfrm>
          <a:prstGeom prst="rect">
            <a:avLst/>
          </a:prstGeom>
          <a:noFill/>
        </p:spPr>
        <p:txBody>
          <a:bodyPr wrap="square" rtlCol="0">
            <a:spAutoFit/>
          </a:bodyPr>
          <a:lstStyle/>
          <a:p>
            <a:pPr algn="just">
              <a:lnSpc>
                <a:spcPct val="150000"/>
              </a:lnSpc>
            </a:pPr>
            <a:r>
              <a:rPr lang="en-US" b="1" dirty="0">
                <a:latin typeface="Tahoma" pitchFamily="34" charset="0"/>
                <a:ea typeface="Tahoma" pitchFamily="34" charset="0"/>
                <a:cs typeface="Tahoma" pitchFamily="34" charset="0"/>
              </a:rPr>
              <a:t>Algorithm  to  Determining X</a:t>
            </a:r>
            <a:r>
              <a:rPr lang="en-US" sz="2000" b="1" baseline="30000" dirty="0">
                <a:latin typeface="Tahoma" pitchFamily="34" charset="0"/>
                <a:ea typeface="Tahoma" pitchFamily="34" charset="0"/>
                <a:cs typeface="Tahoma" pitchFamily="34" charset="0"/>
              </a:rPr>
              <a:t>+ </a:t>
            </a:r>
            <a:r>
              <a:rPr lang="en-US" b="1" baseline="30000" dirty="0">
                <a:latin typeface="Tahoma" pitchFamily="34" charset="0"/>
                <a:ea typeface="Tahoma" pitchFamily="34" charset="0"/>
                <a:cs typeface="Tahoma" pitchFamily="34" charset="0"/>
              </a:rPr>
              <a:t>(</a:t>
            </a:r>
            <a:r>
              <a:rPr lang="en-US" b="1" dirty="0">
                <a:latin typeface="Tahoma" pitchFamily="34" charset="0"/>
                <a:ea typeface="Tahoma" pitchFamily="34" charset="0"/>
                <a:cs typeface="Tahoma" pitchFamily="34" charset="0"/>
              </a:rPr>
              <a:t>the Closure of X)  under F</a:t>
            </a:r>
          </a:p>
          <a:p>
            <a:pPr algn="just">
              <a:lnSpc>
                <a:spcPct val="150000"/>
              </a:lnSpc>
            </a:pPr>
            <a:endParaRPr lang="en-US" sz="1600" b="1" baseline="30000" dirty="0">
              <a:latin typeface="Tahoma" pitchFamily="34" charset="0"/>
              <a:ea typeface="Tahoma" pitchFamily="34" charset="0"/>
              <a:cs typeface="Tahoma" pitchFamily="34" charset="0"/>
            </a:endParaRPr>
          </a:p>
          <a:p>
            <a:pPr marL="800100" lvl="1" indent="-342900" algn="just">
              <a:lnSpc>
                <a:spcPct val="200000"/>
              </a:lnSpc>
              <a:buFont typeface="+mj-lt"/>
              <a:buAutoNum type="arabicPeriod"/>
            </a:pPr>
            <a:r>
              <a:rPr lang="en-US" dirty="0">
                <a:latin typeface="Tahoma" pitchFamily="34" charset="0"/>
                <a:ea typeface="Tahoma" pitchFamily="34" charset="0"/>
                <a:cs typeface="Tahoma" pitchFamily="34" charset="0"/>
              </a:rPr>
              <a:t>First to determine each set of attributes X that appears as a left-hand side of some functional dependency in F</a:t>
            </a:r>
          </a:p>
          <a:p>
            <a:pPr marL="800100" lvl="1" indent="-342900">
              <a:lnSpc>
                <a:spcPct val="200000"/>
              </a:lnSpc>
              <a:buFont typeface="+mj-lt"/>
              <a:buAutoNum type="arabicPeriod"/>
            </a:pPr>
            <a:r>
              <a:rPr lang="en-US" dirty="0">
                <a:latin typeface="Tahoma" pitchFamily="34" charset="0"/>
                <a:ea typeface="Tahoma" pitchFamily="34" charset="0"/>
                <a:cs typeface="Tahoma" pitchFamily="34" charset="0"/>
              </a:rPr>
              <a:t>Then to determine the set of </a:t>
            </a:r>
            <a:r>
              <a:rPr lang="en-US" sz="2000" i="1" dirty="0">
                <a:latin typeface="Tahoma" pitchFamily="34" charset="0"/>
                <a:ea typeface="Tahoma" pitchFamily="34" charset="0"/>
                <a:cs typeface="Tahoma" pitchFamily="34" charset="0"/>
              </a:rPr>
              <a:t>all attributes </a:t>
            </a:r>
            <a:r>
              <a:rPr lang="en-US" i="1" dirty="0">
                <a:latin typeface="Tahoma" pitchFamily="34" charset="0"/>
                <a:ea typeface="Tahoma" pitchFamily="34" charset="0"/>
                <a:cs typeface="Tahoma" pitchFamily="34" charset="0"/>
              </a:rPr>
              <a:t>that are dependent on X</a:t>
            </a:r>
            <a:r>
              <a:rPr lang="en-US" i="1" dirty="0">
                <a:latin typeface="Times New Roman"/>
              </a:rPr>
              <a:t>.</a:t>
            </a:r>
            <a:endParaRPr lang="en-US" b="1" baseline="30000" dirty="0">
              <a:latin typeface="Tahoma" pitchFamily="34" charset="0"/>
              <a:ea typeface="Tahoma" pitchFamily="34" charset="0"/>
              <a:cs typeface="Tahoma" pitchFamily="34" charset="0"/>
            </a:endParaRPr>
          </a:p>
          <a:p>
            <a:pPr algn="just">
              <a:lnSpc>
                <a:spcPct val="150000"/>
              </a:lnSpc>
            </a:pPr>
            <a:endParaRPr lang="en-US" sz="1600" b="1" dirty="0">
              <a:latin typeface="Tahoma" pitchFamily="34" charset="0"/>
              <a:ea typeface="Tahoma" pitchFamily="34" charset="0"/>
              <a:cs typeface="Tahoma" pitchFamily="34" charset="0"/>
            </a:endParaRPr>
          </a:p>
        </p:txBody>
      </p:sp>
      <p:sp>
        <p:nvSpPr>
          <p:cNvPr id="7" name="TextBox 6"/>
          <p:cNvSpPr txBox="1"/>
          <p:nvPr/>
        </p:nvSpPr>
        <p:spPr>
          <a:xfrm>
            <a:off x="304800" y="3962400"/>
            <a:ext cx="8534400" cy="1338828"/>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a:t>i.e., for each  set of attributes X, we determine the set X</a:t>
            </a:r>
            <a:r>
              <a:rPr lang="en-US" baseline="30000" dirty="0"/>
              <a:t>+</a:t>
            </a:r>
            <a:r>
              <a:rPr lang="en-US" dirty="0"/>
              <a:t> of attributes that are functionally determined by X based on F</a:t>
            </a:r>
          </a:p>
          <a:p>
            <a:pPr marL="342900" indent="-342900">
              <a:lnSpc>
                <a:spcPct val="150000"/>
              </a:lnSpc>
              <a:buFont typeface="Arial" pitchFamily="34" charset="0"/>
              <a:buChar char="•"/>
            </a:pPr>
            <a:r>
              <a:rPr lang="en-US" dirty="0">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X</a:t>
            </a:r>
            <a:r>
              <a:rPr lang="en-US" b="1" baseline="30000" dirty="0">
                <a:latin typeface="Tahoma" pitchFamily="34" charset="0"/>
                <a:ea typeface="Tahoma" pitchFamily="34" charset="0"/>
                <a:cs typeface="Tahoma" pitchFamily="34" charset="0"/>
              </a:rPr>
              <a:t>+</a:t>
            </a:r>
            <a:r>
              <a:rPr lang="en-US" b="1" dirty="0">
                <a:latin typeface="Tahoma" pitchFamily="34" charset="0"/>
                <a:ea typeface="Tahoma" pitchFamily="34" charset="0"/>
                <a:cs typeface="Tahoma" pitchFamily="34" charset="0"/>
              </a:rPr>
              <a:t> is called the closure of X under F</a:t>
            </a:r>
          </a:p>
        </p:txBody>
      </p:sp>
      <p:sp>
        <p:nvSpPr>
          <p:cNvPr id="5" name="TextBox 4"/>
          <p:cNvSpPr txBox="1"/>
          <p:nvPr/>
        </p:nvSpPr>
        <p:spPr>
          <a:xfrm>
            <a:off x="152400" y="152400"/>
            <a:ext cx="86106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Inference Rules for Functional Dependencies</a:t>
            </a:r>
          </a:p>
        </p:txBody>
      </p:sp>
    </p:spTree>
  </p:cSld>
  <p:clrMapOvr>
    <a:masterClrMapping/>
  </p:clrMapOvr>
  <p:transition>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1219200"/>
            <a:ext cx="7543800" cy="3570208"/>
          </a:xfrm>
          <a:prstGeom prst="rect">
            <a:avLst/>
          </a:prstGeom>
          <a:noFill/>
          <a:ln>
            <a:solidFill>
              <a:srgbClr val="002060"/>
            </a:solidFill>
          </a:ln>
        </p:spPr>
        <p:txBody>
          <a:bodyPr wrap="square" rtlCol="0">
            <a:spAutoFit/>
          </a:bodyPr>
          <a:lstStyle/>
          <a:p>
            <a:r>
              <a:rPr lang="en-US" b="1" dirty="0"/>
              <a:t>Algorithm : Determining X</a:t>
            </a:r>
            <a:r>
              <a:rPr lang="en-US" sz="2400" b="1" baseline="30000" dirty="0"/>
              <a:t>+</a:t>
            </a:r>
            <a:r>
              <a:rPr lang="en-US" b="1" dirty="0"/>
              <a:t>, the Closure of X under F</a:t>
            </a:r>
          </a:p>
          <a:p>
            <a:endParaRPr lang="en-US" sz="1600" b="1" dirty="0"/>
          </a:p>
          <a:p>
            <a:pPr lvl="3">
              <a:lnSpc>
                <a:spcPct val="150000"/>
              </a:lnSpc>
            </a:pPr>
            <a:r>
              <a:rPr lang="en-US" sz="2000" dirty="0">
                <a:latin typeface="Tahoma" pitchFamily="34" charset="0"/>
                <a:ea typeface="Tahoma" pitchFamily="34" charset="0"/>
                <a:cs typeface="Tahoma" pitchFamily="34" charset="0"/>
              </a:rPr>
              <a:t>X</a:t>
            </a:r>
            <a:r>
              <a:rPr lang="en-US" sz="2000" baseline="30000" dirty="0">
                <a:latin typeface="Tahoma" pitchFamily="34" charset="0"/>
                <a:ea typeface="Tahoma" pitchFamily="34" charset="0"/>
                <a:cs typeface="Tahoma" pitchFamily="34" charset="0"/>
              </a:rPr>
              <a:t>+</a:t>
            </a:r>
            <a:r>
              <a:rPr lang="en-US" sz="2000" dirty="0">
                <a:latin typeface="Tahoma" pitchFamily="34" charset="0"/>
                <a:ea typeface="Tahoma" pitchFamily="34" charset="0"/>
                <a:cs typeface="Tahoma" pitchFamily="34" charset="0"/>
              </a:rPr>
              <a:t> =  X;</a:t>
            </a:r>
          </a:p>
          <a:p>
            <a:pPr lvl="3">
              <a:lnSpc>
                <a:spcPct val="150000"/>
              </a:lnSpc>
            </a:pPr>
            <a:r>
              <a:rPr lang="en-US" sz="2000" dirty="0">
                <a:latin typeface="Tahoma" pitchFamily="34" charset="0"/>
                <a:ea typeface="Tahoma" pitchFamily="34" charset="0"/>
                <a:cs typeface="Tahoma" pitchFamily="34" charset="0"/>
              </a:rPr>
              <a:t>repeat</a:t>
            </a:r>
          </a:p>
          <a:p>
            <a:pPr lvl="4">
              <a:lnSpc>
                <a:spcPct val="150000"/>
              </a:lnSpc>
            </a:pPr>
            <a:r>
              <a:rPr lang="en-US" sz="2000" dirty="0">
                <a:latin typeface="Tahoma" pitchFamily="34" charset="0"/>
                <a:ea typeface="Tahoma" pitchFamily="34" charset="0"/>
                <a:cs typeface="Tahoma" pitchFamily="34" charset="0"/>
              </a:rPr>
              <a:t>oldX</a:t>
            </a:r>
            <a:r>
              <a:rPr lang="en-US" sz="2400" baseline="30000" dirty="0">
                <a:latin typeface="Tahoma" pitchFamily="34" charset="0"/>
                <a:ea typeface="Tahoma" pitchFamily="34" charset="0"/>
                <a:cs typeface="Tahoma" pitchFamily="34" charset="0"/>
              </a:rPr>
              <a:t>+</a:t>
            </a:r>
            <a:r>
              <a:rPr lang="en-US" sz="2400"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 X</a:t>
            </a:r>
            <a:r>
              <a:rPr lang="en-US" sz="2000" baseline="30000" dirty="0">
                <a:latin typeface="Tahoma" pitchFamily="34" charset="0"/>
                <a:ea typeface="Tahoma" pitchFamily="34" charset="0"/>
                <a:cs typeface="Tahoma" pitchFamily="34" charset="0"/>
              </a:rPr>
              <a:t>+</a:t>
            </a:r>
            <a:r>
              <a:rPr lang="en-US" sz="2000" dirty="0">
                <a:latin typeface="Tahoma" pitchFamily="34" charset="0"/>
                <a:ea typeface="Tahoma" pitchFamily="34" charset="0"/>
                <a:cs typeface="Tahoma" pitchFamily="34" charset="0"/>
              </a:rPr>
              <a:t>;</a:t>
            </a:r>
          </a:p>
          <a:p>
            <a:pPr lvl="4">
              <a:lnSpc>
                <a:spcPct val="150000"/>
              </a:lnSpc>
            </a:pPr>
            <a:r>
              <a:rPr lang="en-US" sz="2000" dirty="0">
                <a:latin typeface="Tahoma" pitchFamily="34" charset="0"/>
                <a:ea typeface="Tahoma" pitchFamily="34" charset="0"/>
                <a:cs typeface="Tahoma" pitchFamily="34" charset="0"/>
              </a:rPr>
              <a:t>for each functional dependency Y </a:t>
            </a:r>
            <a:r>
              <a:rPr lang="en-US" sz="2000" dirty="0">
                <a:latin typeface="Tahoma" pitchFamily="34" charset="0"/>
                <a:ea typeface="Tahoma" pitchFamily="34" charset="0"/>
                <a:cs typeface="Tahoma" pitchFamily="34" charset="0"/>
                <a:sym typeface="Wingdings" pitchFamily="2" charset="2"/>
              </a:rPr>
              <a:t></a:t>
            </a:r>
            <a:r>
              <a:rPr lang="en-US" sz="2000" dirty="0">
                <a:latin typeface="Tahoma" pitchFamily="34" charset="0"/>
                <a:ea typeface="Tahoma" pitchFamily="34" charset="0"/>
                <a:cs typeface="Tahoma" pitchFamily="34" charset="0"/>
              </a:rPr>
              <a:t>Z in F  do</a:t>
            </a:r>
          </a:p>
          <a:p>
            <a:pPr lvl="5">
              <a:lnSpc>
                <a:spcPct val="150000"/>
              </a:lnSpc>
            </a:pPr>
            <a:r>
              <a:rPr lang="en-US" sz="2000" dirty="0">
                <a:latin typeface="Tahoma" pitchFamily="34" charset="0"/>
                <a:ea typeface="Tahoma" pitchFamily="34" charset="0"/>
                <a:cs typeface="Tahoma" pitchFamily="34" charset="0"/>
              </a:rPr>
              <a:t>If  X</a:t>
            </a:r>
            <a:r>
              <a:rPr lang="en-US" sz="2400" baseline="30000" dirty="0">
                <a:latin typeface="Tahoma" pitchFamily="34" charset="0"/>
                <a:ea typeface="Tahoma" pitchFamily="34" charset="0"/>
                <a:cs typeface="Tahoma" pitchFamily="34" charset="0"/>
              </a:rPr>
              <a:t>+</a:t>
            </a:r>
            <a:r>
              <a:rPr lang="en-US" sz="2000" dirty="0">
                <a:latin typeface="Tahoma" pitchFamily="34" charset="0"/>
                <a:ea typeface="Tahoma" pitchFamily="34" charset="0"/>
                <a:cs typeface="Tahoma" pitchFamily="34" charset="0"/>
              </a:rPr>
              <a:t>    Y then    X</a:t>
            </a:r>
            <a:r>
              <a:rPr lang="en-US" sz="2800" baseline="30000" dirty="0">
                <a:latin typeface="Tahoma" pitchFamily="34" charset="0"/>
                <a:ea typeface="Tahoma" pitchFamily="34" charset="0"/>
                <a:cs typeface="Tahoma" pitchFamily="34" charset="0"/>
              </a:rPr>
              <a:t>+</a:t>
            </a:r>
            <a:r>
              <a:rPr lang="en-US" sz="2000" dirty="0">
                <a:latin typeface="Tahoma" pitchFamily="34" charset="0"/>
                <a:ea typeface="Tahoma" pitchFamily="34" charset="0"/>
                <a:cs typeface="Tahoma" pitchFamily="34" charset="0"/>
              </a:rPr>
              <a:t> = X</a:t>
            </a:r>
            <a:r>
              <a:rPr lang="en-US" sz="2800" baseline="30000" dirty="0">
                <a:latin typeface="Tahoma" pitchFamily="34" charset="0"/>
                <a:ea typeface="Tahoma" pitchFamily="34" charset="0"/>
                <a:cs typeface="Tahoma" pitchFamily="34" charset="0"/>
              </a:rPr>
              <a:t>+</a:t>
            </a:r>
            <a:r>
              <a:rPr lang="en-US" sz="2000" dirty="0">
                <a:latin typeface="Tahoma" pitchFamily="34" charset="0"/>
                <a:ea typeface="Tahoma" pitchFamily="34" charset="0"/>
                <a:cs typeface="Tahoma" pitchFamily="34" charset="0"/>
              </a:rPr>
              <a:t>  </a:t>
            </a:r>
            <a:r>
              <a:rPr lang="en-US" sz="2400" dirty="0">
                <a:latin typeface="Tahoma" pitchFamily="34" charset="0"/>
                <a:ea typeface="Tahoma" pitchFamily="34" charset="0"/>
                <a:cs typeface="Tahoma" pitchFamily="34" charset="0"/>
              </a:rPr>
              <a:t>U</a:t>
            </a:r>
            <a:r>
              <a:rPr lang="en-US" sz="2000" dirty="0">
                <a:latin typeface="Tahoma" pitchFamily="34" charset="0"/>
                <a:ea typeface="Tahoma" pitchFamily="34" charset="0"/>
                <a:cs typeface="Tahoma" pitchFamily="34" charset="0"/>
              </a:rPr>
              <a:t>  Z;</a:t>
            </a:r>
          </a:p>
          <a:p>
            <a:pPr lvl="3">
              <a:lnSpc>
                <a:spcPct val="150000"/>
              </a:lnSpc>
            </a:pPr>
            <a:r>
              <a:rPr lang="en-US" sz="2000" dirty="0">
                <a:latin typeface="Tahoma" pitchFamily="34" charset="0"/>
                <a:ea typeface="Tahoma" pitchFamily="34" charset="0"/>
                <a:cs typeface="Tahoma" pitchFamily="34" charset="0"/>
              </a:rPr>
              <a:t>until (X</a:t>
            </a:r>
            <a:r>
              <a:rPr lang="en-US" sz="2000" baseline="30000" dirty="0">
                <a:latin typeface="Tahoma" pitchFamily="34" charset="0"/>
                <a:ea typeface="Tahoma" pitchFamily="34" charset="0"/>
                <a:cs typeface="Tahoma" pitchFamily="34" charset="0"/>
              </a:rPr>
              <a:t>+</a:t>
            </a:r>
            <a:r>
              <a:rPr lang="en-US" sz="2000" dirty="0">
                <a:latin typeface="Tahoma" pitchFamily="34" charset="0"/>
                <a:ea typeface="Tahoma" pitchFamily="34" charset="0"/>
                <a:cs typeface="Tahoma" pitchFamily="34" charset="0"/>
              </a:rPr>
              <a:t> = oldX</a:t>
            </a:r>
            <a:r>
              <a:rPr lang="en-US" sz="2000" baseline="30000"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a:t>
            </a:r>
            <a:endParaRPr lang="en-US" sz="2000" b="1" dirty="0">
              <a:latin typeface="Tahoma" pitchFamily="34" charset="0"/>
              <a:ea typeface="Tahoma" pitchFamily="34" charset="0"/>
              <a:cs typeface="Tahoma"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3733800" y="3886200"/>
            <a:ext cx="228599" cy="279399"/>
          </a:xfrm>
          <a:prstGeom prst="rect">
            <a:avLst/>
          </a:prstGeom>
          <a:noFill/>
          <a:ln w="9525">
            <a:noFill/>
            <a:miter lim="800000"/>
            <a:headEnd/>
            <a:tailEnd/>
          </a:ln>
          <a:effectLst/>
        </p:spPr>
      </p:pic>
      <p:sp>
        <p:nvSpPr>
          <p:cNvPr id="5" name="TextBox 4"/>
          <p:cNvSpPr txBox="1"/>
          <p:nvPr/>
        </p:nvSpPr>
        <p:spPr>
          <a:xfrm>
            <a:off x="152400" y="152400"/>
            <a:ext cx="86106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Inference Rules for Functional Dependencies</a:t>
            </a:r>
          </a:p>
        </p:txBody>
      </p:sp>
    </p:spTree>
  </p:cSld>
  <p:clrMapOvr>
    <a:masterClrMapping/>
  </p:clrMapOvr>
  <p:transition>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14400"/>
            <a:ext cx="8839200" cy="1015663"/>
          </a:xfrm>
          <a:prstGeom prst="rect">
            <a:avLst/>
          </a:prstGeom>
          <a:noFill/>
        </p:spPr>
        <p:txBody>
          <a:bodyPr wrap="square" rtlCol="0">
            <a:spAutoFit/>
          </a:bodyPr>
          <a:lstStyle/>
          <a:p>
            <a:r>
              <a:rPr lang="en-US" b="1" dirty="0"/>
              <a:t>Determining X+, the Closure of X under F</a:t>
            </a:r>
          </a:p>
          <a:p>
            <a:endParaRPr lang="en-US" b="1" dirty="0"/>
          </a:p>
          <a:p>
            <a:r>
              <a:rPr lang="en-US" sz="2400" b="1" dirty="0"/>
              <a:t>Example :</a:t>
            </a:r>
          </a:p>
        </p:txBody>
      </p:sp>
      <p:sp>
        <p:nvSpPr>
          <p:cNvPr id="5" name="TextBox 4"/>
          <p:cNvSpPr txBox="1"/>
          <p:nvPr/>
        </p:nvSpPr>
        <p:spPr>
          <a:xfrm>
            <a:off x="381000" y="2133600"/>
            <a:ext cx="8534400" cy="4355038"/>
          </a:xfrm>
          <a:prstGeom prst="rect">
            <a:avLst/>
          </a:prstGeom>
          <a:noFill/>
        </p:spPr>
        <p:txBody>
          <a:bodyPr wrap="square" rtlCol="0">
            <a:spAutoFit/>
          </a:bodyPr>
          <a:lstStyle/>
          <a:p>
            <a:pPr>
              <a:lnSpc>
                <a:spcPct val="150000"/>
              </a:lnSpc>
            </a:pPr>
            <a:r>
              <a:rPr lang="en-US" dirty="0"/>
              <a:t>F </a:t>
            </a:r>
            <a:r>
              <a:rPr lang="en-US" i="1" dirty="0"/>
              <a:t> </a:t>
            </a:r>
            <a:r>
              <a:rPr lang="en-US" dirty="0"/>
              <a:t>= {SSN </a:t>
            </a:r>
            <a:r>
              <a:rPr lang="en-US" dirty="0">
                <a:sym typeface="Wingdings" pitchFamily="2" charset="2"/>
              </a:rPr>
              <a:t></a:t>
            </a:r>
            <a:r>
              <a:rPr lang="en-US" dirty="0"/>
              <a:t> ENAME, 	</a:t>
            </a:r>
          </a:p>
          <a:p>
            <a:pPr>
              <a:lnSpc>
                <a:spcPct val="150000"/>
              </a:lnSpc>
            </a:pPr>
            <a:r>
              <a:rPr lang="en-US" dirty="0"/>
              <a:t>PNUMBER </a:t>
            </a:r>
            <a:r>
              <a:rPr lang="en-US" dirty="0">
                <a:sym typeface="Wingdings" pitchFamily="2" charset="2"/>
              </a:rPr>
              <a:t></a:t>
            </a:r>
            <a:r>
              <a:rPr lang="en-US" dirty="0"/>
              <a:t> {PNAME, PLOCATION}, 	</a:t>
            </a:r>
          </a:p>
          <a:p>
            <a:pPr>
              <a:lnSpc>
                <a:spcPct val="150000"/>
              </a:lnSpc>
            </a:pPr>
            <a:r>
              <a:rPr lang="en-US" dirty="0"/>
              <a:t>{SSN, PNUMBER} </a:t>
            </a:r>
            <a:r>
              <a:rPr lang="en-US" dirty="0">
                <a:sym typeface="Wingdings" pitchFamily="2" charset="2"/>
              </a:rPr>
              <a:t></a:t>
            </a:r>
            <a:r>
              <a:rPr lang="en-US" dirty="0"/>
              <a:t> HOURS} </a:t>
            </a:r>
          </a:p>
          <a:p>
            <a:endParaRPr lang="en-US" dirty="0"/>
          </a:p>
          <a:p>
            <a:endParaRPr lang="en-US" dirty="0"/>
          </a:p>
          <a:p>
            <a:r>
              <a:rPr lang="en-US" dirty="0"/>
              <a:t>Using Algorithm we calculate the following closure sets with respect to F;</a:t>
            </a:r>
          </a:p>
          <a:p>
            <a:endParaRPr lang="en-US" dirty="0"/>
          </a:p>
          <a:p>
            <a:endParaRPr lang="en-US" dirty="0"/>
          </a:p>
          <a:p>
            <a:pPr>
              <a:lnSpc>
                <a:spcPct val="150000"/>
              </a:lnSpc>
            </a:pPr>
            <a:r>
              <a:rPr lang="en-US" dirty="0">
                <a:latin typeface="Tahoma" pitchFamily="34" charset="0"/>
                <a:ea typeface="Tahoma" pitchFamily="34" charset="0"/>
                <a:cs typeface="Tahoma" pitchFamily="34" charset="0"/>
              </a:rPr>
              <a:t>{ SSN }</a:t>
            </a:r>
            <a:r>
              <a:rPr lang="en-US" sz="2800" baseline="30000" dirty="0">
                <a:latin typeface="Tahoma" pitchFamily="34" charset="0"/>
                <a:ea typeface="Tahoma" pitchFamily="34" charset="0"/>
                <a:cs typeface="Tahoma" pitchFamily="34" charset="0"/>
              </a:rPr>
              <a:t>+</a:t>
            </a:r>
            <a:r>
              <a:rPr lang="en-US" dirty="0">
                <a:latin typeface="Tahoma" pitchFamily="34" charset="0"/>
                <a:ea typeface="Tahoma" pitchFamily="34" charset="0"/>
                <a:cs typeface="Tahoma" pitchFamily="34" charset="0"/>
              </a:rPr>
              <a:t>  =  { SSN, ENAME }</a:t>
            </a:r>
          </a:p>
          <a:p>
            <a:pPr>
              <a:lnSpc>
                <a:spcPct val="150000"/>
              </a:lnSpc>
            </a:pPr>
            <a:r>
              <a:rPr lang="en-US" dirty="0">
                <a:latin typeface="Tahoma" pitchFamily="34" charset="0"/>
                <a:ea typeface="Tahoma" pitchFamily="34" charset="0"/>
                <a:cs typeface="Tahoma" pitchFamily="34" charset="0"/>
              </a:rPr>
              <a:t>{ PNUMBER }</a:t>
            </a:r>
            <a:r>
              <a:rPr lang="en-US" sz="3200" baseline="30000" dirty="0">
                <a:latin typeface="Tahoma" pitchFamily="34" charset="0"/>
                <a:ea typeface="Tahoma" pitchFamily="34" charset="0"/>
                <a:cs typeface="Tahoma" pitchFamily="34" charset="0"/>
              </a:rPr>
              <a:t>+</a:t>
            </a:r>
            <a:r>
              <a:rPr lang="en-US" dirty="0">
                <a:latin typeface="Tahoma" pitchFamily="34" charset="0"/>
                <a:ea typeface="Tahoma" pitchFamily="34" charset="0"/>
                <a:cs typeface="Tahoma" pitchFamily="34" charset="0"/>
              </a:rPr>
              <a:t>   =  { PNUMBER, PNAME, PLOCATION }</a:t>
            </a:r>
          </a:p>
          <a:p>
            <a:pPr>
              <a:lnSpc>
                <a:spcPct val="150000"/>
              </a:lnSpc>
            </a:pPr>
            <a:r>
              <a:rPr lang="en-US" dirty="0">
                <a:latin typeface="Tahoma" pitchFamily="34" charset="0"/>
                <a:ea typeface="Tahoma" pitchFamily="34" charset="0"/>
                <a:cs typeface="Tahoma" pitchFamily="34" charset="0"/>
              </a:rPr>
              <a:t>{ SSN, PNUMBER }</a:t>
            </a:r>
            <a:r>
              <a:rPr lang="en-US" sz="2800" baseline="30000" dirty="0">
                <a:latin typeface="Tahoma" pitchFamily="34" charset="0"/>
                <a:ea typeface="Tahoma" pitchFamily="34" charset="0"/>
                <a:cs typeface="Tahoma" pitchFamily="34" charset="0"/>
              </a:rPr>
              <a:t>+</a:t>
            </a:r>
            <a:r>
              <a:rPr lang="en-US" dirty="0">
                <a:latin typeface="Tahoma" pitchFamily="34" charset="0"/>
                <a:ea typeface="Tahoma" pitchFamily="34" charset="0"/>
                <a:cs typeface="Tahoma" pitchFamily="34" charset="0"/>
              </a:rPr>
              <a:t> = { SSN, PNUMBER, HOURS, ENAME, PLOCATION, PNAME}</a:t>
            </a:r>
          </a:p>
          <a:p>
            <a:r>
              <a:rPr lang="en-US" dirty="0"/>
              <a:t>	</a:t>
            </a:r>
          </a:p>
        </p:txBody>
      </p:sp>
      <p:sp>
        <p:nvSpPr>
          <p:cNvPr id="7" name="TextBox 6"/>
          <p:cNvSpPr txBox="1"/>
          <p:nvPr/>
        </p:nvSpPr>
        <p:spPr>
          <a:xfrm>
            <a:off x="152400" y="152400"/>
            <a:ext cx="86106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Inference Rules for Functional Dependencies</a:t>
            </a:r>
          </a:p>
        </p:txBody>
      </p:sp>
    </p:spTree>
  </p:cSld>
  <p:clrMapOvr>
    <a:masterClrMapping/>
  </p:clrMapOvr>
  <p:transition>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14400"/>
            <a:ext cx="8839200" cy="1015663"/>
          </a:xfrm>
          <a:prstGeom prst="rect">
            <a:avLst/>
          </a:prstGeom>
          <a:noFill/>
        </p:spPr>
        <p:txBody>
          <a:bodyPr wrap="square" rtlCol="0">
            <a:spAutoFit/>
          </a:bodyPr>
          <a:lstStyle/>
          <a:p>
            <a:r>
              <a:rPr lang="en-US" b="1" dirty="0"/>
              <a:t>Determining X</a:t>
            </a:r>
            <a:r>
              <a:rPr lang="en-US" b="1" baseline="30000" dirty="0"/>
              <a:t>+</a:t>
            </a:r>
            <a:r>
              <a:rPr lang="en-US" b="1" dirty="0"/>
              <a:t>, the Closure of X under F</a:t>
            </a:r>
          </a:p>
          <a:p>
            <a:endParaRPr lang="en-US" b="1" dirty="0"/>
          </a:p>
          <a:p>
            <a:r>
              <a:rPr lang="en-US" sz="2400" b="1" dirty="0"/>
              <a:t>Problem:</a:t>
            </a:r>
          </a:p>
        </p:txBody>
      </p:sp>
      <p:sp>
        <p:nvSpPr>
          <p:cNvPr id="5" name="TextBox 4"/>
          <p:cNvSpPr txBox="1"/>
          <p:nvPr/>
        </p:nvSpPr>
        <p:spPr>
          <a:xfrm>
            <a:off x="381000" y="2133600"/>
            <a:ext cx="8534400" cy="3416320"/>
          </a:xfrm>
          <a:prstGeom prst="rect">
            <a:avLst/>
          </a:prstGeom>
          <a:noFill/>
        </p:spPr>
        <p:txBody>
          <a:bodyPr wrap="square" rtlCol="0">
            <a:spAutoFit/>
          </a:bodyPr>
          <a:lstStyle/>
          <a:p>
            <a:r>
              <a:rPr lang="en-US" sz="2000" dirty="0"/>
              <a:t>Calculate the closure sets with respect to F  </a:t>
            </a:r>
          </a:p>
          <a:p>
            <a:endParaRPr lang="en-US" dirty="0"/>
          </a:p>
          <a:p>
            <a:pPr marL="800100" lvl="1" indent="-342900">
              <a:lnSpc>
                <a:spcPct val="200000"/>
              </a:lnSpc>
              <a:buFont typeface="+mj-lt"/>
              <a:buAutoNum type="arabicPeriod"/>
            </a:pPr>
            <a:r>
              <a:rPr lang="en-US" sz="2400" dirty="0"/>
              <a:t> F = { AB</a:t>
            </a:r>
            <a:r>
              <a:rPr lang="en-US" sz="2400" dirty="0">
                <a:sym typeface="Wingdings" pitchFamily="2" charset="2"/>
              </a:rPr>
              <a:t>C, </a:t>
            </a:r>
            <a:r>
              <a:rPr lang="en-US" sz="2400" dirty="0"/>
              <a:t>CD</a:t>
            </a:r>
            <a:r>
              <a:rPr lang="en-US" sz="2400" dirty="0">
                <a:sym typeface="Wingdings" pitchFamily="2" charset="2"/>
              </a:rPr>
              <a:t>E,  DEB}</a:t>
            </a:r>
          </a:p>
          <a:p>
            <a:pPr marL="800100" lvl="1" indent="-342900">
              <a:lnSpc>
                <a:spcPct val="200000"/>
              </a:lnSpc>
              <a:buFont typeface="+mj-lt"/>
              <a:buAutoNum type="arabicPeriod"/>
            </a:pPr>
            <a:r>
              <a:rPr lang="en-US" sz="2400" dirty="0">
                <a:sym typeface="Wingdings" pitchFamily="2" charset="2"/>
              </a:rPr>
              <a:t> F = { A C, ACD, EAD, EH}</a:t>
            </a:r>
          </a:p>
          <a:p>
            <a:pPr marL="800100" lvl="1" indent="-342900">
              <a:lnSpc>
                <a:spcPct val="200000"/>
              </a:lnSpc>
              <a:buFont typeface="+mj-lt"/>
              <a:buAutoNum type="arabicPeriod"/>
            </a:pPr>
            <a:r>
              <a:rPr lang="en-US" sz="2000" dirty="0">
                <a:sym typeface="Wingdings" pitchFamily="2" charset="2"/>
              </a:rPr>
              <a:t> </a:t>
            </a:r>
            <a:r>
              <a:rPr lang="en-US" sz="2400" dirty="0">
                <a:sym typeface="Wingdings" pitchFamily="2" charset="2"/>
              </a:rPr>
              <a:t>F = { ABC,  BCF,  BDCE,   CDEF,   EFG}</a:t>
            </a:r>
            <a:endParaRPr lang="en-US" sz="2000" dirty="0"/>
          </a:p>
          <a:p>
            <a:pPr>
              <a:lnSpc>
                <a:spcPct val="200000"/>
              </a:lnSpc>
            </a:pPr>
            <a:r>
              <a:rPr lang="en-US" dirty="0"/>
              <a:t>             </a:t>
            </a:r>
          </a:p>
        </p:txBody>
      </p:sp>
      <p:sp>
        <p:nvSpPr>
          <p:cNvPr id="7" name="TextBox 6"/>
          <p:cNvSpPr txBox="1"/>
          <p:nvPr/>
        </p:nvSpPr>
        <p:spPr>
          <a:xfrm>
            <a:off x="152400" y="152400"/>
            <a:ext cx="86106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Inference Rules for Functional Dependencies</a:t>
            </a:r>
          </a:p>
        </p:txBody>
      </p:sp>
    </p:spTree>
  </p:cSld>
  <p:clrMapOvr>
    <a:masterClrMapping/>
  </p:clrMapOvr>
  <p:transition>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2400" y="152400"/>
            <a:ext cx="86106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Equivalence of Sets of Functional Dependencies</a:t>
            </a:r>
          </a:p>
        </p:txBody>
      </p:sp>
      <p:sp>
        <p:nvSpPr>
          <p:cNvPr id="4" name="TextBox 3"/>
          <p:cNvSpPr txBox="1"/>
          <p:nvPr/>
        </p:nvSpPr>
        <p:spPr>
          <a:xfrm>
            <a:off x="304800" y="838200"/>
            <a:ext cx="8839200" cy="1015663"/>
          </a:xfrm>
          <a:prstGeom prst="rect">
            <a:avLst/>
          </a:prstGeom>
          <a:noFill/>
        </p:spPr>
        <p:txBody>
          <a:bodyPr wrap="square" rtlCol="0">
            <a:spAutoFit/>
          </a:bodyPr>
          <a:lstStyle/>
          <a:p>
            <a:pPr algn="just">
              <a:lnSpc>
                <a:spcPct val="150000"/>
              </a:lnSpc>
            </a:pPr>
            <a:r>
              <a:rPr lang="en-US" sz="2000" dirty="0">
                <a:latin typeface="Times New Roman" pitchFamily="18" charset="0"/>
                <a:cs typeface="Times New Roman" pitchFamily="18" charset="0"/>
              </a:rPr>
              <a:t>In this section we discuss the equivalence of two sets of functional dependencies. First, we give some preliminary definitions.</a:t>
            </a:r>
          </a:p>
        </p:txBody>
      </p:sp>
      <p:sp>
        <p:nvSpPr>
          <p:cNvPr id="5" name="TextBox 4"/>
          <p:cNvSpPr txBox="1"/>
          <p:nvPr/>
        </p:nvSpPr>
        <p:spPr>
          <a:xfrm>
            <a:off x="228600" y="2362200"/>
            <a:ext cx="8458200" cy="2169825"/>
          </a:xfrm>
          <a:prstGeom prst="rect">
            <a:avLst/>
          </a:prstGeom>
          <a:noFill/>
          <a:ln>
            <a:solidFill>
              <a:schemeClr val="tx1"/>
            </a:solidFill>
          </a:ln>
        </p:spPr>
        <p:txBody>
          <a:bodyPr wrap="square" rtlCol="0">
            <a:spAutoFit/>
          </a:bodyPr>
          <a:lstStyle/>
          <a:p>
            <a:pPr algn="just">
              <a:lnSpc>
                <a:spcPct val="150000"/>
              </a:lnSpc>
            </a:pPr>
            <a:r>
              <a:rPr lang="en-US" b="1" dirty="0">
                <a:latin typeface="Tahoma" pitchFamily="34" charset="0"/>
                <a:ea typeface="Tahoma" pitchFamily="34" charset="0"/>
                <a:cs typeface="Tahoma" pitchFamily="34" charset="0"/>
              </a:rPr>
              <a:t>Definition:  Cover of a set of functional dependencies F  </a:t>
            </a:r>
          </a:p>
          <a:p>
            <a:pPr algn="just">
              <a:lnSpc>
                <a:spcPct val="200000"/>
              </a:lnSpc>
            </a:pPr>
            <a:r>
              <a:rPr lang="en-US" dirty="0">
                <a:latin typeface="Tahoma" pitchFamily="34" charset="0"/>
                <a:ea typeface="Tahoma" pitchFamily="34" charset="0"/>
                <a:cs typeface="Tahoma" pitchFamily="34" charset="0"/>
              </a:rPr>
              <a:t>A set of functional dependencies F is said to cover another set of  functional dependencies E if every FD in E is also in F</a:t>
            </a:r>
            <a:r>
              <a:rPr lang="en-US" sz="2000" baseline="30000" dirty="0">
                <a:latin typeface="Tahoma" pitchFamily="34" charset="0"/>
                <a:ea typeface="Tahoma" pitchFamily="34" charset="0"/>
                <a:cs typeface="Tahoma" pitchFamily="34" charset="0"/>
              </a:rPr>
              <a:t>+</a:t>
            </a:r>
            <a:r>
              <a:rPr lang="en-US" dirty="0">
                <a:latin typeface="Tahoma" pitchFamily="34" charset="0"/>
                <a:ea typeface="Tahoma" pitchFamily="34" charset="0"/>
                <a:cs typeface="Tahoma" pitchFamily="34" charset="0"/>
              </a:rPr>
              <a:t>; that is, if every dependency in E can be inferred from F; </a:t>
            </a:r>
            <a:r>
              <a:rPr lang="en-US" b="1" dirty="0">
                <a:latin typeface="Tahoma" pitchFamily="34" charset="0"/>
                <a:ea typeface="Tahoma" pitchFamily="34" charset="0"/>
                <a:cs typeface="Tahoma" pitchFamily="34" charset="0"/>
              </a:rPr>
              <a:t>alternatively, we can say that E is covered by F. 	</a:t>
            </a:r>
          </a:p>
        </p:txBody>
      </p:sp>
    </p:spTree>
  </p:cSld>
  <p:clrMapOvr>
    <a:masterClrMapping/>
  </p:clrMapOvr>
  <p:transition>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524000"/>
            <a:ext cx="8458200" cy="4062651"/>
          </a:xfrm>
          <a:prstGeom prst="rect">
            <a:avLst/>
          </a:prstGeom>
          <a:noFill/>
          <a:ln w="38100">
            <a:solidFill>
              <a:schemeClr val="accent1"/>
            </a:solidFill>
          </a:ln>
        </p:spPr>
        <p:txBody>
          <a:bodyPr wrap="square" rtlCol="0">
            <a:spAutoFit/>
          </a:bodyPr>
          <a:lstStyle/>
          <a:p>
            <a:pPr algn="just">
              <a:lnSpc>
                <a:spcPct val="150000"/>
              </a:lnSpc>
            </a:pPr>
            <a:r>
              <a:rPr lang="en-US" sz="2400" b="1" dirty="0">
                <a:latin typeface="Tahoma" pitchFamily="34" charset="0"/>
                <a:ea typeface="Tahoma" pitchFamily="34" charset="0"/>
                <a:cs typeface="Tahoma" pitchFamily="34" charset="0"/>
              </a:rPr>
              <a:t>Definition : </a:t>
            </a:r>
            <a:r>
              <a:rPr lang="en-IN" b="1" dirty="0">
                <a:latin typeface="Tahoma" pitchFamily="34" charset="0"/>
                <a:ea typeface="Tahoma" pitchFamily="34" charset="0"/>
                <a:cs typeface="Tahoma" pitchFamily="34" charset="0"/>
              </a:rPr>
              <a:t>Equivalence of  two Sets of Functional Dependencies</a:t>
            </a:r>
            <a:endParaRPr lang="en-IN" sz="2400" b="1" dirty="0">
              <a:latin typeface="Tahoma" pitchFamily="34" charset="0"/>
              <a:ea typeface="Tahoma" pitchFamily="34" charset="0"/>
              <a:cs typeface="Tahoma" pitchFamily="34" charset="0"/>
            </a:endParaRPr>
          </a:p>
          <a:p>
            <a:pPr algn="just">
              <a:lnSpc>
                <a:spcPct val="150000"/>
              </a:lnSpc>
            </a:pPr>
            <a:r>
              <a:rPr lang="en-US" sz="2400" b="1" dirty="0">
                <a:latin typeface="Tahoma" pitchFamily="34" charset="0"/>
                <a:ea typeface="Tahoma" pitchFamily="34" charset="0"/>
                <a:cs typeface="Tahoma" pitchFamily="34" charset="0"/>
              </a:rPr>
              <a:t> </a:t>
            </a:r>
          </a:p>
          <a:p>
            <a:pPr algn="just">
              <a:lnSpc>
                <a:spcPct val="150000"/>
              </a:lnSpc>
            </a:pPr>
            <a:r>
              <a:rPr lang="en-US" sz="1600" b="1" dirty="0">
                <a:latin typeface="Tahoma" pitchFamily="34" charset="0"/>
                <a:ea typeface="Tahoma" pitchFamily="34" charset="0"/>
                <a:cs typeface="Tahoma" pitchFamily="34" charset="0"/>
              </a:rPr>
              <a:t>     </a:t>
            </a:r>
          </a:p>
          <a:p>
            <a:pPr algn="just">
              <a:lnSpc>
                <a:spcPct val="150000"/>
              </a:lnSpc>
            </a:pPr>
            <a:r>
              <a:rPr lang="en-US" sz="1600" b="1" dirty="0">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 </a:t>
            </a:r>
            <a:r>
              <a:rPr lang="en-US" b="1" dirty="0"/>
              <a:t>Two sets of functional dependencies  E and F are equivalent  if  E</a:t>
            </a:r>
            <a:r>
              <a:rPr lang="en-US" b="1" baseline="30000" dirty="0"/>
              <a:t>+ = </a:t>
            </a:r>
            <a:r>
              <a:rPr lang="en-US" b="1" dirty="0"/>
              <a:t>F</a:t>
            </a:r>
            <a:r>
              <a:rPr lang="en-US" b="1" baseline="30000" dirty="0"/>
              <a:t>+</a:t>
            </a:r>
            <a:r>
              <a:rPr lang="en-US" b="1" dirty="0"/>
              <a:t>.</a:t>
            </a:r>
            <a:endParaRPr lang="en-US" dirty="0">
              <a:latin typeface="Tahoma" pitchFamily="34" charset="0"/>
              <a:ea typeface="Tahoma" pitchFamily="34" charset="0"/>
              <a:cs typeface="Tahoma" pitchFamily="34" charset="0"/>
            </a:endParaRPr>
          </a:p>
          <a:p>
            <a:pPr lvl="1" algn="just">
              <a:lnSpc>
                <a:spcPct val="150000"/>
              </a:lnSpc>
            </a:pPr>
            <a:endParaRPr lang="en-US" dirty="0">
              <a:latin typeface="Tahoma" pitchFamily="34" charset="0"/>
              <a:ea typeface="Tahoma" pitchFamily="34" charset="0"/>
              <a:cs typeface="Tahoma" pitchFamily="34" charset="0"/>
            </a:endParaRPr>
          </a:p>
          <a:p>
            <a:pPr lvl="1" algn="just">
              <a:lnSpc>
                <a:spcPct val="200000"/>
              </a:lnSpc>
            </a:pPr>
            <a:r>
              <a:rPr lang="en-US" dirty="0">
                <a:latin typeface="Tahoma" pitchFamily="34" charset="0"/>
                <a:ea typeface="Tahoma" pitchFamily="34" charset="0"/>
                <a:cs typeface="Tahoma" pitchFamily="34" charset="0"/>
              </a:rPr>
              <a:t> Hence, equivalence means that every FD in E can be inferred from F, and every FD in F can be inferred from E; that is, E is equivalent to F if both the conditions E covers F and F covers E hold.</a:t>
            </a:r>
          </a:p>
        </p:txBody>
      </p:sp>
      <p:sp>
        <p:nvSpPr>
          <p:cNvPr id="8" name="TextBox 7"/>
          <p:cNvSpPr txBox="1"/>
          <p:nvPr/>
        </p:nvSpPr>
        <p:spPr>
          <a:xfrm>
            <a:off x="152400" y="152400"/>
            <a:ext cx="86106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Equivalence of Sets of Functional Dependencies</a:t>
            </a:r>
          </a:p>
        </p:txBody>
      </p:sp>
    </p:spTree>
  </p:cSld>
  <p:clrMapOvr>
    <a:masterClrMapping/>
  </p:clrMapOvr>
  <p:transition>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04800" y="1371600"/>
            <a:ext cx="8458200" cy="3785652"/>
          </a:xfrm>
          <a:prstGeom prst="rect">
            <a:avLst/>
          </a:prstGeom>
          <a:noFill/>
          <a:ln w="38100">
            <a:solidFill>
              <a:schemeClr val="accent1"/>
            </a:solidFill>
          </a:ln>
        </p:spPr>
        <p:txBody>
          <a:bodyPr wrap="square" rtlCol="0">
            <a:spAutoFit/>
          </a:bodyPr>
          <a:lstStyle/>
          <a:p>
            <a:pPr algn="just">
              <a:lnSpc>
                <a:spcPct val="150000"/>
              </a:lnSpc>
            </a:pPr>
            <a:r>
              <a:rPr lang="en-US" b="1" dirty="0">
                <a:latin typeface="Tahoma" pitchFamily="34" charset="0"/>
                <a:ea typeface="Tahoma" pitchFamily="34" charset="0"/>
                <a:cs typeface="Tahoma" pitchFamily="34" charset="0"/>
              </a:rPr>
              <a:t>Steps to check equivalence of two sets F and E of functional dependencies </a:t>
            </a:r>
          </a:p>
          <a:p>
            <a:pPr algn="just">
              <a:lnSpc>
                <a:spcPct val="150000"/>
              </a:lnSpc>
            </a:pPr>
            <a:r>
              <a:rPr lang="en-US" sz="1600" b="1" dirty="0">
                <a:latin typeface="Tahoma" pitchFamily="34" charset="0"/>
                <a:ea typeface="Tahoma" pitchFamily="34" charset="0"/>
                <a:cs typeface="Tahoma" pitchFamily="34" charset="0"/>
              </a:rPr>
              <a:t>     </a:t>
            </a:r>
          </a:p>
          <a:p>
            <a:pPr marL="800100" lvl="1" indent="-342900" algn="just">
              <a:lnSpc>
                <a:spcPct val="150000"/>
              </a:lnSpc>
              <a:buFont typeface="+mj-lt"/>
              <a:buAutoNum type="arabicPeriod"/>
            </a:pPr>
            <a:r>
              <a:rPr lang="en-US" sz="1600" b="1" dirty="0">
                <a:latin typeface="Tahoma" pitchFamily="34" charset="0"/>
                <a:ea typeface="Tahoma" pitchFamily="34" charset="0"/>
                <a:cs typeface="Tahoma" pitchFamily="34" charset="0"/>
              </a:rPr>
              <a:t> C</a:t>
            </a:r>
            <a:r>
              <a:rPr lang="en-IN" sz="1600" b="1" dirty="0">
                <a:latin typeface="Tahoma" pitchFamily="34" charset="0"/>
                <a:ea typeface="Tahoma" pitchFamily="34" charset="0"/>
                <a:cs typeface="Tahoma" pitchFamily="34" charset="0"/>
              </a:rPr>
              <a:t>alculate  X</a:t>
            </a:r>
            <a:r>
              <a:rPr lang="en-IN" sz="1600" b="1" baseline="30000" dirty="0">
                <a:latin typeface="Tahoma" pitchFamily="34" charset="0"/>
                <a:ea typeface="Tahoma" pitchFamily="34" charset="0"/>
                <a:cs typeface="Tahoma" pitchFamily="34" charset="0"/>
              </a:rPr>
              <a:t>+</a:t>
            </a:r>
            <a:r>
              <a:rPr lang="en-IN" sz="1600" b="1" dirty="0">
                <a:latin typeface="Tahoma" pitchFamily="34" charset="0"/>
                <a:ea typeface="Tahoma" pitchFamily="34" charset="0"/>
                <a:cs typeface="Tahoma" pitchFamily="34" charset="0"/>
              </a:rPr>
              <a:t> with respect to F for each FD X </a:t>
            </a:r>
            <a:r>
              <a:rPr lang="en-IN" sz="1600" b="1" dirty="0">
                <a:latin typeface="Tahoma" pitchFamily="34" charset="0"/>
                <a:ea typeface="Tahoma" pitchFamily="34" charset="0"/>
                <a:cs typeface="Tahoma" pitchFamily="34" charset="0"/>
                <a:sym typeface="Wingdings" pitchFamily="2" charset="2"/>
              </a:rPr>
              <a:t></a:t>
            </a:r>
            <a:r>
              <a:rPr lang="en-IN" sz="1600" b="1" dirty="0">
                <a:latin typeface="Tahoma" pitchFamily="34" charset="0"/>
                <a:ea typeface="Tahoma" pitchFamily="34" charset="0"/>
                <a:cs typeface="Tahoma" pitchFamily="34" charset="0"/>
              </a:rPr>
              <a:t> Y in E</a:t>
            </a:r>
            <a:r>
              <a:rPr lang="en-US" sz="3600" b="1" dirty="0">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  C</a:t>
            </a:r>
            <a:r>
              <a:rPr lang="en-IN" b="1" dirty="0"/>
              <a:t>heck whether this X</a:t>
            </a:r>
            <a:r>
              <a:rPr lang="en-IN" b="1" baseline="30000" dirty="0"/>
              <a:t>+</a:t>
            </a:r>
            <a:r>
              <a:rPr lang="en-IN" b="1" dirty="0"/>
              <a:t> includes the attributes in Y</a:t>
            </a:r>
          </a:p>
          <a:p>
            <a:pPr marL="1257300" lvl="2" indent="-342900" algn="just">
              <a:lnSpc>
                <a:spcPct val="150000"/>
              </a:lnSpc>
              <a:buFont typeface="Arial" pitchFamily="34" charset="0"/>
              <a:buChar char="•"/>
            </a:pPr>
            <a:r>
              <a:rPr lang="en-US" b="1" dirty="0">
                <a:latin typeface="Tahoma" pitchFamily="34" charset="0"/>
                <a:ea typeface="Tahoma" pitchFamily="34" charset="0"/>
                <a:cs typeface="Tahoma" pitchFamily="34" charset="0"/>
              </a:rPr>
              <a:t>If this is the </a:t>
            </a:r>
            <a:r>
              <a:rPr lang="en-IN" b="1" dirty="0"/>
              <a:t>case for </a:t>
            </a:r>
            <a:r>
              <a:rPr lang="en-IN" b="1" i="1" dirty="0"/>
              <a:t>every FD in E, then F covers E</a:t>
            </a:r>
          </a:p>
          <a:p>
            <a:pPr marL="800100" lvl="1" indent="-342900" algn="just">
              <a:lnSpc>
                <a:spcPct val="150000"/>
              </a:lnSpc>
              <a:buFont typeface="+mj-lt"/>
              <a:buAutoNum type="arabicPeriod"/>
            </a:pPr>
            <a:r>
              <a:rPr lang="en-US" b="1" dirty="0"/>
              <a:t> Similarly   check whether E covers F</a:t>
            </a:r>
            <a:endParaRPr lang="en-IN" b="1" dirty="0"/>
          </a:p>
          <a:p>
            <a:pPr marL="800100" lvl="1" indent="-342900" algn="just">
              <a:lnSpc>
                <a:spcPct val="150000"/>
              </a:lnSpc>
              <a:buFont typeface="+mj-lt"/>
              <a:buAutoNum type="arabicPeriod" startAt="3"/>
            </a:pPr>
            <a:r>
              <a:rPr lang="en-IN" b="1" dirty="0">
                <a:latin typeface="Tahoma" pitchFamily="34" charset="0"/>
                <a:ea typeface="Tahoma" pitchFamily="34" charset="0"/>
                <a:cs typeface="Tahoma" pitchFamily="34" charset="0"/>
              </a:rPr>
              <a:t>If  E covers F and F covers E. then E</a:t>
            </a:r>
            <a:r>
              <a:rPr lang="en-IN" b="1" baseline="30000" dirty="0">
                <a:latin typeface="Tahoma" pitchFamily="34" charset="0"/>
                <a:ea typeface="Tahoma" pitchFamily="34" charset="0"/>
                <a:cs typeface="Tahoma" pitchFamily="34" charset="0"/>
              </a:rPr>
              <a:t>+</a:t>
            </a:r>
            <a:r>
              <a:rPr lang="en-IN" b="1" dirty="0">
                <a:latin typeface="Tahoma" pitchFamily="34" charset="0"/>
                <a:ea typeface="Tahoma" pitchFamily="34" charset="0"/>
                <a:cs typeface="Tahoma" pitchFamily="34" charset="0"/>
              </a:rPr>
              <a:t> = F</a:t>
            </a:r>
            <a:r>
              <a:rPr lang="en-IN" b="1" baseline="30000" dirty="0">
                <a:latin typeface="Tahoma" pitchFamily="34" charset="0"/>
                <a:ea typeface="Tahoma" pitchFamily="34" charset="0"/>
                <a:cs typeface="Tahoma" pitchFamily="34" charset="0"/>
              </a:rPr>
              <a:t>+</a:t>
            </a:r>
            <a:endParaRPr lang="en-US" b="1" baseline="30000" dirty="0">
              <a:latin typeface="Tahoma" pitchFamily="34" charset="0"/>
              <a:ea typeface="Tahoma" pitchFamily="34" charset="0"/>
              <a:cs typeface="Tahoma" pitchFamily="34" charset="0"/>
            </a:endParaRPr>
          </a:p>
        </p:txBody>
      </p:sp>
      <p:sp>
        <p:nvSpPr>
          <p:cNvPr id="8" name="TextBox 7"/>
          <p:cNvSpPr txBox="1"/>
          <p:nvPr/>
        </p:nvSpPr>
        <p:spPr>
          <a:xfrm>
            <a:off x="152400" y="152400"/>
            <a:ext cx="86106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Equivalence of Sets of Functional Dependencies</a:t>
            </a:r>
          </a:p>
        </p:txBody>
      </p:sp>
    </p:spTree>
  </p:cSld>
  <p:clrMapOvr>
    <a:masterClrMapping/>
  </p:clrMapOvr>
  <p:transition>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685800"/>
            <a:ext cx="8458200" cy="5509200"/>
          </a:xfrm>
          <a:prstGeom prst="rect">
            <a:avLst/>
          </a:prstGeom>
          <a:noFill/>
          <a:ln w="38100">
            <a:solidFill>
              <a:schemeClr val="accent1"/>
            </a:solidFill>
          </a:ln>
        </p:spPr>
        <p:txBody>
          <a:bodyPr wrap="square" rtlCol="0">
            <a:spAutoFit/>
          </a:bodyPr>
          <a:lstStyle/>
          <a:p>
            <a:pPr algn="just">
              <a:lnSpc>
                <a:spcPct val="150000"/>
              </a:lnSpc>
            </a:pPr>
            <a:r>
              <a:rPr lang="en-US" sz="2400" b="1" dirty="0">
                <a:latin typeface="Tahoma" pitchFamily="34" charset="0"/>
                <a:ea typeface="Tahoma" pitchFamily="34" charset="0"/>
                <a:cs typeface="Tahoma" pitchFamily="34" charset="0"/>
              </a:rPr>
              <a:t>Problems :</a:t>
            </a:r>
          </a:p>
          <a:p>
            <a:pPr marL="514350" indent="-514350" algn="just">
              <a:lnSpc>
                <a:spcPct val="150000"/>
              </a:lnSpc>
              <a:buFont typeface="+mj-lt"/>
              <a:buAutoNum type="arabicPeriod"/>
            </a:pPr>
            <a:r>
              <a:rPr lang="en-IN" sz="2800" b="1" baseline="30000" dirty="0">
                <a:latin typeface="Tahoma" pitchFamily="34" charset="0"/>
                <a:ea typeface="Tahoma" pitchFamily="34" charset="0"/>
                <a:cs typeface="Tahoma" pitchFamily="34" charset="0"/>
              </a:rPr>
              <a:t>Consider the following two sets of functional dependencies: </a:t>
            </a:r>
          </a:p>
          <a:p>
            <a:pPr algn="just">
              <a:lnSpc>
                <a:spcPct val="150000"/>
              </a:lnSpc>
            </a:pPr>
            <a:r>
              <a:rPr lang="en-IN" sz="2800" b="1" baseline="30000" dirty="0">
                <a:latin typeface="Tahoma" pitchFamily="34" charset="0"/>
                <a:ea typeface="Tahoma" pitchFamily="34" charset="0"/>
                <a:cs typeface="Tahoma" pitchFamily="34" charset="0"/>
              </a:rPr>
              <a:t>                 F = {A </a:t>
            </a:r>
            <a:r>
              <a:rPr lang="en-IN" sz="2800" b="1" baseline="30000" dirty="0">
                <a:latin typeface="Tahoma" pitchFamily="34" charset="0"/>
                <a:ea typeface="Tahoma" pitchFamily="34" charset="0"/>
                <a:cs typeface="Tahoma" pitchFamily="34" charset="0"/>
                <a:sym typeface="Wingdings" pitchFamily="2" charset="2"/>
              </a:rPr>
              <a:t></a:t>
            </a:r>
            <a:r>
              <a:rPr lang="en-IN" sz="2800" b="1" baseline="30000" dirty="0">
                <a:latin typeface="Tahoma" pitchFamily="34" charset="0"/>
                <a:ea typeface="Tahoma" pitchFamily="34" charset="0"/>
                <a:cs typeface="Tahoma" pitchFamily="34" charset="0"/>
              </a:rPr>
              <a:t> C, AC </a:t>
            </a:r>
            <a:r>
              <a:rPr lang="en-IN" sz="2800" b="1" baseline="30000" dirty="0">
                <a:latin typeface="Tahoma" pitchFamily="34" charset="0"/>
                <a:ea typeface="Tahoma" pitchFamily="34" charset="0"/>
                <a:cs typeface="Tahoma" pitchFamily="34" charset="0"/>
                <a:sym typeface="Wingdings" pitchFamily="2" charset="2"/>
              </a:rPr>
              <a:t> </a:t>
            </a:r>
            <a:r>
              <a:rPr lang="en-IN" sz="2800" b="1" baseline="30000" dirty="0">
                <a:latin typeface="Tahoma" pitchFamily="34" charset="0"/>
                <a:ea typeface="Tahoma" pitchFamily="34" charset="0"/>
                <a:cs typeface="Tahoma" pitchFamily="34" charset="0"/>
              </a:rPr>
              <a:t>D, E </a:t>
            </a:r>
            <a:r>
              <a:rPr lang="en-IN" sz="2800" b="1" baseline="30000" dirty="0">
                <a:latin typeface="Tahoma" pitchFamily="34" charset="0"/>
                <a:ea typeface="Tahoma" pitchFamily="34" charset="0"/>
                <a:cs typeface="Tahoma" pitchFamily="34" charset="0"/>
                <a:sym typeface="Wingdings" pitchFamily="2" charset="2"/>
              </a:rPr>
              <a:t></a:t>
            </a:r>
            <a:r>
              <a:rPr lang="en-IN" sz="2800" b="1" baseline="30000" dirty="0">
                <a:latin typeface="Tahoma" pitchFamily="34" charset="0"/>
                <a:ea typeface="Tahoma" pitchFamily="34" charset="0"/>
                <a:cs typeface="Tahoma" pitchFamily="34" charset="0"/>
              </a:rPr>
              <a:t> AD, E </a:t>
            </a:r>
            <a:r>
              <a:rPr lang="en-IN" sz="2800" b="1" baseline="30000" dirty="0">
                <a:latin typeface="Tahoma" pitchFamily="34" charset="0"/>
                <a:ea typeface="Tahoma" pitchFamily="34" charset="0"/>
                <a:cs typeface="Tahoma" pitchFamily="34" charset="0"/>
                <a:sym typeface="Wingdings" pitchFamily="2" charset="2"/>
              </a:rPr>
              <a:t></a:t>
            </a:r>
            <a:r>
              <a:rPr lang="en-IN" sz="2800" b="1" baseline="30000" dirty="0">
                <a:latin typeface="Tahoma" pitchFamily="34" charset="0"/>
                <a:ea typeface="Tahoma" pitchFamily="34" charset="0"/>
                <a:cs typeface="Tahoma" pitchFamily="34" charset="0"/>
              </a:rPr>
              <a:t> H} </a:t>
            </a:r>
          </a:p>
          <a:p>
            <a:pPr algn="just">
              <a:lnSpc>
                <a:spcPct val="150000"/>
              </a:lnSpc>
            </a:pPr>
            <a:r>
              <a:rPr lang="en-IN" sz="2800" b="1" baseline="30000" dirty="0">
                <a:latin typeface="Tahoma" pitchFamily="34" charset="0"/>
                <a:ea typeface="Tahoma" pitchFamily="34" charset="0"/>
                <a:cs typeface="Tahoma" pitchFamily="34" charset="0"/>
              </a:rPr>
              <a:t>                G = {A </a:t>
            </a:r>
            <a:r>
              <a:rPr lang="en-IN" sz="2800" b="1" baseline="30000" dirty="0">
                <a:latin typeface="Tahoma" pitchFamily="34" charset="0"/>
                <a:ea typeface="Tahoma" pitchFamily="34" charset="0"/>
                <a:cs typeface="Tahoma" pitchFamily="34" charset="0"/>
                <a:sym typeface="Wingdings" pitchFamily="2" charset="2"/>
              </a:rPr>
              <a:t></a:t>
            </a:r>
            <a:r>
              <a:rPr lang="en-IN" sz="2800" b="1" baseline="30000" dirty="0">
                <a:latin typeface="Tahoma" pitchFamily="34" charset="0"/>
                <a:ea typeface="Tahoma" pitchFamily="34" charset="0"/>
                <a:cs typeface="Tahoma" pitchFamily="34" charset="0"/>
              </a:rPr>
              <a:t> CD, E </a:t>
            </a:r>
            <a:r>
              <a:rPr lang="en-IN" sz="2800" b="1" baseline="30000" dirty="0">
                <a:latin typeface="Tahoma" pitchFamily="34" charset="0"/>
                <a:ea typeface="Tahoma" pitchFamily="34" charset="0"/>
                <a:cs typeface="Tahoma" pitchFamily="34" charset="0"/>
                <a:sym typeface="Wingdings" pitchFamily="2" charset="2"/>
              </a:rPr>
              <a:t></a:t>
            </a:r>
            <a:r>
              <a:rPr lang="en-IN" sz="2800" b="1" baseline="30000" dirty="0">
                <a:latin typeface="Tahoma" pitchFamily="34" charset="0"/>
                <a:ea typeface="Tahoma" pitchFamily="34" charset="0"/>
                <a:cs typeface="Tahoma" pitchFamily="34" charset="0"/>
              </a:rPr>
              <a:t> AH}. </a:t>
            </a:r>
          </a:p>
          <a:p>
            <a:pPr algn="just">
              <a:lnSpc>
                <a:spcPct val="150000"/>
              </a:lnSpc>
            </a:pPr>
            <a:r>
              <a:rPr lang="en-IN" sz="2800" b="1" baseline="30000" dirty="0">
                <a:latin typeface="Tahoma" pitchFamily="34" charset="0"/>
                <a:ea typeface="Tahoma" pitchFamily="34" charset="0"/>
                <a:cs typeface="Tahoma" pitchFamily="34" charset="0"/>
              </a:rPr>
              <a:t>                 Check whether they are</a:t>
            </a:r>
            <a:r>
              <a:rPr lang="en-IN" sz="2800" b="1" dirty="0">
                <a:latin typeface="Tahoma" pitchFamily="34" charset="0"/>
                <a:ea typeface="Tahoma" pitchFamily="34" charset="0"/>
                <a:cs typeface="Tahoma" pitchFamily="34" charset="0"/>
              </a:rPr>
              <a:t> </a:t>
            </a:r>
            <a:r>
              <a:rPr lang="en-IN" sz="2800" b="1" baseline="30000" dirty="0">
                <a:latin typeface="Tahoma" pitchFamily="34" charset="0"/>
                <a:ea typeface="Tahoma" pitchFamily="34" charset="0"/>
                <a:cs typeface="Tahoma" pitchFamily="34" charset="0"/>
              </a:rPr>
              <a:t>equivalent.</a:t>
            </a:r>
          </a:p>
          <a:p>
            <a:pPr marL="514350" indent="-514350">
              <a:lnSpc>
                <a:spcPct val="150000"/>
              </a:lnSpc>
              <a:buFont typeface="+mj-lt"/>
              <a:buAutoNum type="arabicPeriod" startAt="2"/>
            </a:pPr>
            <a:r>
              <a:rPr lang="en-US" sz="2800" b="1" baseline="30000" dirty="0">
                <a:latin typeface="Tahoma" pitchFamily="34" charset="0"/>
                <a:ea typeface="Tahoma" pitchFamily="34" charset="0"/>
                <a:cs typeface="Tahoma" pitchFamily="34" charset="0"/>
              </a:rPr>
              <a:t>     </a:t>
            </a:r>
            <a:r>
              <a:rPr lang="en-IN" sz="2000" b="1" dirty="0"/>
              <a:t>Consider two sets of FDs, F and G,</a:t>
            </a:r>
          </a:p>
          <a:p>
            <a:pPr>
              <a:lnSpc>
                <a:spcPct val="150000"/>
              </a:lnSpc>
            </a:pPr>
            <a:r>
              <a:rPr lang="en-IN" sz="2000" b="1" dirty="0"/>
              <a:t>               F = {A </a:t>
            </a:r>
            <a:r>
              <a:rPr lang="en-IN" sz="2000" b="1" dirty="0">
                <a:sym typeface="Wingdings" pitchFamily="2" charset="2"/>
              </a:rPr>
              <a:t></a:t>
            </a:r>
            <a:r>
              <a:rPr lang="en-IN" sz="2000" b="1" dirty="0"/>
              <a:t> B, B </a:t>
            </a:r>
            <a:r>
              <a:rPr lang="en-IN" sz="2000" b="1" dirty="0">
                <a:sym typeface="Wingdings" pitchFamily="2" charset="2"/>
              </a:rPr>
              <a:t></a:t>
            </a:r>
            <a:r>
              <a:rPr lang="en-IN" sz="2000" b="1" dirty="0"/>
              <a:t> C, AC </a:t>
            </a:r>
            <a:r>
              <a:rPr lang="en-IN" sz="2000" b="1" dirty="0">
                <a:sym typeface="Wingdings" pitchFamily="2" charset="2"/>
              </a:rPr>
              <a:t></a:t>
            </a:r>
            <a:r>
              <a:rPr lang="en-IN" sz="2000" b="1" dirty="0"/>
              <a:t> D} and </a:t>
            </a:r>
          </a:p>
          <a:p>
            <a:pPr>
              <a:lnSpc>
                <a:spcPct val="150000"/>
              </a:lnSpc>
            </a:pPr>
            <a:r>
              <a:rPr lang="en-IN" sz="2000" b="1" dirty="0"/>
              <a:t>                 G = {A </a:t>
            </a:r>
            <a:r>
              <a:rPr lang="en-IN" sz="2000" b="1" dirty="0">
                <a:sym typeface="Wingdings" pitchFamily="2" charset="2"/>
              </a:rPr>
              <a:t></a:t>
            </a:r>
            <a:r>
              <a:rPr lang="en-IN" sz="2000" b="1" dirty="0"/>
              <a:t> B, B </a:t>
            </a:r>
            <a:r>
              <a:rPr lang="en-IN" sz="2000" b="1" dirty="0">
                <a:sym typeface="Wingdings" pitchFamily="2" charset="2"/>
              </a:rPr>
              <a:t></a:t>
            </a:r>
            <a:r>
              <a:rPr lang="en-IN" sz="2000" b="1" dirty="0"/>
              <a:t> C, A  </a:t>
            </a:r>
            <a:r>
              <a:rPr lang="en-IN" sz="2000" b="1" dirty="0">
                <a:sym typeface="Wingdings" pitchFamily="2" charset="2"/>
              </a:rPr>
              <a:t></a:t>
            </a:r>
            <a:r>
              <a:rPr lang="en-IN" sz="2000" b="1" dirty="0"/>
              <a:t> D}</a:t>
            </a:r>
          </a:p>
          <a:p>
            <a:pPr>
              <a:lnSpc>
                <a:spcPct val="150000"/>
              </a:lnSpc>
            </a:pPr>
            <a:r>
              <a:rPr lang="en-IN" sz="2000" b="1" dirty="0"/>
              <a:t>              Are F and G equivalent?</a:t>
            </a:r>
          </a:p>
          <a:p>
            <a:pPr>
              <a:lnSpc>
                <a:spcPct val="150000"/>
              </a:lnSpc>
            </a:pPr>
            <a:endParaRPr lang="en-IN" sz="2000" b="1" dirty="0"/>
          </a:p>
          <a:p>
            <a:pPr marL="457200" indent="-457200">
              <a:buFont typeface="+mj-lt"/>
              <a:buAutoNum type="arabicPeriod" startAt="3"/>
            </a:pPr>
            <a:r>
              <a:rPr lang="en-US" sz="2000" b="1" baseline="30000" dirty="0">
                <a:latin typeface="Tahoma" pitchFamily="34" charset="0"/>
                <a:ea typeface="Tahoma" pitchFamily="34" charset="0"/>
                <a:cs typeface="Tahoma" pitchFamily="34" charset="0"/>
              </a:rPr>
              <a:t>       </a:t>
            </a:r>
            <a:r>
              <a:rPr lang="pt-BR" sz="2000" b="1" dirty="0"/>
              <a:t>F = {A </a:t>
            </a:r>
            <a:r>
              <a:rPr lang="pt-BR" sz="2000" b="1" dirty="0">
                <a:sym typeface="Wingdings" pitchFamily="2" charset="2"/>
              </a:rPr>
              <a:t></a:t>
            </a:r>
            <a:r>
              <a:rPr lang="pt-BR" sz="2000" b="1" dirty="0"/>
              <a:t> B, A </a:t>
            </a:r>
            <a:r>
              <a:rPr lang="pt-BR" sz="2000" b="1" dirty="0">
                <a:sym typeface="Wingdings" pitchFamily="2" charset="2"/>
              </a:rPr>
              <a:t></a:t>
            </a:r>
            <a:r>
              <a:rPr lang="pt-BR" sz="2000" b="1" dirty="0"/>
              <a:t>C}</a:t>
            </a:r>
          </a:p>
          <a:p>
            <a:r>
              <a:rPr lang="en-IN" sz="2000" b="1" dirty="0"/>
              <a:t>           G = {A </a:t>
            </a:r>
            <a:r>
              <a:rPr lang="en-IN" sz="2000" b="1" dirty="0">
                <a:sym typeface="Wingdings" pitchFamily="2" charset="2"/>
              </a:rPr>
              <a:t></a:t>
            </a:r>
            <a:r>
              <a:rPr lang="en-IN" sz="2000" b="1" dirty="0"/>
              <a:t> B, B </a:t>
            </a:r>
            <a:r>
              <a:rPr lang="en-IN" sz="2000" b="1" dirty="0">
                <a:sym typeface="Wingdings" pitchFamily="2" charset="2"/>
              </a:rPr>
              <a:t></a:t>
            </a:r>
            <a:r>
              <a:rPr lang="en-IN" sz="2000" b="1" dirty="0"/>
              <a:t> C}    Are F and G equivalent?</a:t>
            </a:r>
          </a:p>
        </p:txBody>
      </p:sp>
      <p:sp>
        <p:nvSpPr>
          <p:cNvPr id="8" name="TextBox 7"/>
          <p:cNvSpPr txBox="1"/>
          <p:nvPr/>
        </p:nvSpPr>
        <p:spPr>
          <a:xfrm>
            <a:off x="152400" y="152400"/>
            <a:ext cx="86106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Equivalence of Sets of Functional Dependencies</a:t>
            </a:r>
          </a:p>
        </p:txBody>
      </p:sp>
    </p:spTree>
  </p:cSld>
  <p:clrMapOvr>
    <a:masterClrMapping/>
  </p:clrMapOvr>
  <p:transition>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52400"/>
            <a:ext cx="84582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Minimal Sets of Functional Dependencies</a:t>
            </a:r>
          </a:p>
        </p:txBody>
      </p:sp>
      <p:sp>
        <p:nvSpPr>
          <p:cNvPr id="8" name="TextBox 7"/>
          <p:cNvSpPr txBox="1"/>
          <p:nvPr/>
        </p:nvSpPr>
        <p:spPr>
          <a:xfrm>
            <a:off x="304800" y="1143000"/>
            <a:ext cx="8610600" cy="4247317"/>
          </a:xfrm>
          <a:prstGeom prst="rect">
            <a:avLst/>
          </a:prstGeom>
          <a:noFill/>
          <a:ln w="28575">
            <a:solidFill>
              <a:schemeClr val="accent1"/>
            </a:solidFill>
          </a:ln>
        </p:spPr>
        <p:txBody>
          <a:bodyPr wrap="square" rtlCol="0">
            <a:spAutoFit/>
          </a:bodyPr>
          <a:lstStyle/>
          <a:p>
            <a:pPr algn="just">
              <a:lnSpc>
                <a:spcPct val="150000"/>
              </a:lnSpc>
            </a:pPr>
            <a:r>
              <a:rPr lang="en-US" b="1" dirty="0">
                <a:latin typeface="Tahoma" pitchFamily="34" charset="0"/>
                <a:ea typeface="Tahoma" pitchFamily="34" charset="0"/>
                <a:cs typeface="Tahoma" pitchFamily="34" charset="0"/>
              </a:rPr>
              <a:t>A set of functional dependencies F is minimal if it satisfies the following conditions:</a:t>
            </a:r>
          </a:p>
          <a:p>
            <a:pPr marL="990600" lvl="1" indent="-533400" algn="just">
              <a:lnSpc>
                <a:spcPct val="200000"/>
              </a:lnSpc>
              <a:buFontTx/>
              <a:buAutoNum type="arabicPeriod"/>
            </a:pPr>
            <a:r>
              <a:rPr lang="en-US" dirty="0">
                <a:latin typeface="Tahoma" pitchFamily="34" charset="0"/>
                <a:ea typeface="Tahoma" pitchFamily="34" charset="0"/>
                <a:cs typeface="Tahoma" pitchFamily="34" charset="0"/>
              </a:rPr>
              <a:t>Every dependency in F has a single attribute for its right-hand side. </a:t>
            </a:r>
          </a:p>
          <a:p>
            <a:pPr marL="990600" lvl="1" indent="-533400" algn="just">
              <a:lnSpc>
                <a:spcPct val="200000"/>
              </a:lnSpc>
              <a:buFontTx/>
              <a:buAutoNum type="arabicPeriod"/>
            </a:pPr>
            <a:r>
              <a:rPr lang="en-US" dirty="0">
                <a:latin typeface="Tahoma" pitchFamily="34" charset="0"/>
                <a:ea typeface="Tahoma" pitchFamily="34" charset="0"/>
                <a:cs typeface="Tahoma" pitchFamily="34" charset="0"/>
              </a:rPr>
              <a:t> We cannot replace any dependency </a:t>
            </a:r>
            <a:r>
              <a:rPr lang="en-US" i="1" dirty="0">
                <a:latin typeface="Tahoma" pitchFamily="34" charset="0"/>
                <a:ea typeface="Tahoma" pitchFamily="34" charset="0"/>
                <a:cs typeface="Tahoma" pitchFamily="34" charset="0"/>
              </a:rPr>
              <a:t>X </a:t>
            </a:r>
            <a:r>
              <a:rPr lang="en-US" i="1" dirty="0">
                <a:latin typeface="Tahoma" pitchFamily="34" charset="0"/>
                <a:ea typeface="Tahoma" pitchFamily="34" charset="0"/>
                <a:cs typeface="Tahoma" pitchFamily="34" charset="0"/>
                <a:sym typeface="Wingdings" pitchFamily="2" charset="2"/>
              </a:rPr>
              <a:t></a:t>
            </a:r>
            <a:r>
              <a:rPr lang="en-US" dirty="0">
                <a:latin typeface="Tahoma" pitchFamily="34" charset="0"/>
                <a:ea typeface="Tahoma" pitchFamily="34" charset="0"/>
                <a:cs typeface="Tahoma" pitchFamily="34" charset="0"/>
              </a:rPr>
              <a:t> </a:t>
            </a:r>
            <a:r>
              <a:rPr lang="en-US" i="1" dirty="0">
                <a:latin typeface="Tahoma" pitchFamily="34" charset="0"/>
                <a:ea typeface="Tahoma" pitchFamily="34" charset="0"/>
                <a:cs typeface="Tahoma" pitchFamily="34" charset="0"/>
              </a:rPr>
              <a:t>A </a:t>
            </a:r>
            <a:r>
              <a:rPr lang="en-US" dirty="0">
                <a:latin typeface="Tahoma" pitchFamily="34" charset="0"/>
                <a:ea typeface="Tahoma" pitchFamily="34" charset="0"/>
                <a:cs typeface="Tahoma" pitchFamily="34" charset="0"/>
              </a:rPr>
              <a:t>in </a:t>
            </a:r>
            <a:r>
              <a:rPr lang="en-US" i="1" dirty="0">
                <a:latin typeface="Tahoma" pitchFamily="34" charset="0"/>
                <a:ea typeface="Tahoma" pitchFamily="34" charset="0"/>
                <a:cs typeface="Tahoma" pitchFamily="34" charset="0"/>
              </a:rPr>
              <a:t>F </a:t>
            </a:r>
            <a:r>
              <a:rPr lang="en-US" dirty="0">
                <a:latin typeface="Tahoma" pitchFamily="34" charset="0"/>
                <a:ea typeface="Tahoma" pitchFamily="34" charset="0"/>
                <a:cs typeface="Tahoma" pitchFamily="34" charset="0"/>
              </a:rPr>
              <a:t>with a dependency </a:t>
            </a:r>
          </a:p>
          <a:p>
            <a:pPr marL="990600" lvl="1" indent="-533400" algn="just">
              <a:lnSpc>
                <a:spcPct val="200000"/>
              </a:lnSpc>
            </a:pPr>
            <a:r>
              <a:rPr lang="en-US" i="1" dirty="0">
                <a:latin typeface="Tahoma" pitchFamily="34" charset="0"/>
                <a:ea typeface="Tahoma" pitchFamily="34" charset="0"/>
                <a:cs typeface="Tahoma" pitchFamily="34" charset="0"/>
              </a:rPr>
              <a:t>        Y</a:t>
            </a:r>
            <a:r>
              <a:rPr lang="en-US" i="1" dirty="0">
                <a:latin typeface="Tahoma" pitchFamily="34" charset="0"/>
                <a:ea typeface="Tahoma" pitchFamily="34" charset="0"/>
                <a:cs typeface="Tahoma" pitchFamily="34" charset="0"/>
                <a:sym typeface="Wingdings" pitchFamily="2" charset="2"/>
              </a:rPr>
              <a:t></a:t>
            </a:r>
            <a:r>
              <a:rPr lang="en-US" dirty="0">
                <a:latin typeface="Tahoma" pitchFamily="34" charset="0"/>
                <a:ea typeface="Tahoma" pitchFamily="34" charset="0"/>
                <a:cs typeface="Tahoma" pitchFamily="34" charset="0"/>
              </a:rPr>
              <a:t> </a:t>
            </a:r>
            <a:r>
              <a:rPr lang="en-US" i="1" dirty="0">
                <a:latin typeface="Tahoma" pitchFamily="34" charset="0"/>
                <a:ea typeface="Tahoma" pitchFamily="34" charset="0"/>
                <a:cs typeface="Tahoma" pitchFamily="34" charset="0"/>
              </a:rPr>
              <a:t>A, </a:t>
            </a:r>
            <a:r>
              <a:rPr lang="en-US" b="1" dirty="0">
                <a:latin typeface="Tahoma" pitchFamily="34" charset="0"/>
                <a:ea typeface="Tahoma" pitchFamily="34" charset="0"/>
                <a:cs typeface="Tahoma" pitchFamily="34" charset="0"/>
              </a:rPr>
              <a:t>where </a:t>
            </a:r>
            <a:r>
              <a:rPr lang="en-US" b="1" i="1" dirty="0">
                <a:latin typeface="Tahoma" pitchFamily="34" charset="0"/>
                <a:ea typeface="Tahoma" pitchFamily="34" charset="0"/>
                <a:cs typeface="Tahoma" pitchFamily="34" charset="0"/>
              </a:rPr>
              <a:t>Y </a:t>
            </a:r>
            <a:r>
              <a:rPr lang="en-US" b="1" dirty="0">
                <a:latin typeface="Tahoma" pitchFamily="34" charset="0"/>
                <a:ea typeface="Tahoma" pitchFamily="34" charset="0"/>
                <a:cs typeface="Tahoma" pitchFamily="34" charset="0"/>
              </a:rPr>
              <a:t>is a proper subset of </a:t>
            </a:r>
            <a:r>
              <a:rPr lang="en-US" b="1" i="1" dirty="0">
                <a:latin typeface="Tahoma" pitchFamily="34" charset="0"/>
                <a:ea typeface="Tahoma" pitchFamily="34" charset="0"/>
                <a:cs typeface="Tahoma" pitchFamily="34" charset="0"/>
              </a:rPr>
              <a:t>X</a:t>
            </a:r>
            <a:r>
              <a:rPr lang="en-US" i="1"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and still have a set of dependencies that is equivalent to </a:t>
            </a:r>
            <a:r>
              <a:rPr lang="en-US" i="1" dirty="0">
                <a:latin typeface="Tahoma" pitchFamily="34" charset="0"/>
                <a:ea typeface="Tahoma" pitchFamily="34" charset="0"/>
                <a:cs typeface="Tahoma" pitchFamily="34" charset="0"/>
              </a:rPr>
              <a:t>F. </a:t>
            </a:r>
          </a:p>
          <a:p>
            <a:pPr marL="990600" lvl="1" indent="-533400" algn="just">
              <a:lnSpc>
                <a:spcPct val="200000"/>
              </a:lnSpc>
              <a:buFont typeface="+mj-lt"/>
              <a:buAutoNum type="arabicPeriod" startAt="3"/>
            </a:pPr>
            <a:r>
              <a:rPr lang="en-US" dirty="0">
                <a:latin typeface="Tahoma" pitchFamily="34" charset="0"/>
                <a:ea typeface="Tahoma" pitchFamily="34" charset="0"/>
                <a:cs typeface="Tahoma" pitchFamily="34" charset="0"/>
              </a:rPr>
              <a:t>We cannot remove any dependency from </a:t>
            </a:r>
            <a:r>
              <a:rPr lang="en-US" i="1" dirty="0">
                <a:latin typeface="Tahoma" pitchFamily="34" charset="0"/>
                <a:ea typeface="Tahoma" pitchFamily="34" charset="0"/>
                <a:cs typeface="Tahoma" pitchFamily="34" charset="0"/>
              </a:rPr>
              <a:t>F </a:t>
            </a:r>
            <a:r>
              <a:rPr lang="en-US" dirty="0">
                <a:latin typeface="Tahoma" pitchFamily="34" charset="0"/>
                <a:ea typeface="Tahoma" pitchFamily="34" charset="0"/>
                <a:cs typeface="Tahoma" pitchFamily="34" charset="0"/>
              </a:rPr>
              <a:t>and still have a set of dependencies that is equivalent to </a:t>
            </a:r>
            <a:r>
              <a:rPr lang="en-US" i="1" dirty="0">
                <a:latin typeface="Tahoma" pitchFamily="34" charset="0"/>
                <a:ea typeface="Tahoma" pitchFamily="34" charset="0"/>
                <a:cs typeface="Tahoma" pitchFamily="34" charset="0"/>
              </a:rPr>
              <a:t>F. </a:t>
            </a:r>
            <a:endParaRPr lang="en-US" sz="2400"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04800" y="1143000"/>
            <a:ext cx="8610600" cy="4339650"/>
          </a:xfrm>
          <a:prstGeom prst="rect">
            <a:avLst/>
          </a:prstGeom>
          <a:noFill/>
          <a:ln w="22225">
            <a:solidFill>
              <a:schemeClr val="accent1"/>
            </a:solidFill>
          </a:ln>
        </p:spPr>
        <p:txBody>
          <a:bodyPr wrap="square" rtlCol="0">
            <a:spAutoFit/>
          </a:bodyPr>
          <a:lstStyle/>
          <a:p>
            <a:pPr marL="342900" indent="-342900" algn="just">
              <a:lnSpc>
                <a:spcPct val="200000"/>
              </a:lnSpc>
              <a:buFont typeface="Arial" pitchFamily="34" charset="0"/>
              <a:buChar char="•"/>
            </a:pPr>
            <a:r>
              <a:rPr lang="en-US" sz="2400" dirty="0">
                <a:latin typeface="Times New Roman"/>
              </a:rPr>
              <a:t>Condition </a:t>
            </a:r>
            <a:r>
              <a:rPr lang="en-US" sz="2400" dirty="0"/>
              <a:t>1 </a:t>
            </a:r>
            <a:r>
              <a:rPr lang="en-US" sz="2400" dirty="0">
                <a:latin typeface="Times New Roman"/>
              </a:rPr>
              <a:t>just represents every dependency in a </a:t>
            </a:r>
            <a:r>
              <a:rPr lang="en-US" sz="2400">
                <a:latin typeface="Times New Roman"/>
              </a:rPr>
              <a:t>canonical or standard form </a:t>
            </a:r>
            <a:r>
              <a:rPr lang="en-US" sz="2400" dirty="0">
                <a:latin typeface="Times New Roman"/>
              </a:rPr>
              <a:t>with a single attribute on the right-hand side.</a:t>
            </a:r>
          </a:p>
          <a:p>
            <a:pPr marL="342900" indent="-342900" algn="just">
              <a:lnSpc>
                <a:spcPct val="150000"/>
              </a:lnSpc>
              <a:buFont typeface="Arial" pitchFamily="34" charset="0"/>
              <a:buChar char="•"/>
            </a:pPr>
            <a:r>
              <a:rPr lang="en-US" sz="2400" dirty="0">
                <a:latin typeface="Times New Roman"/>
              </a:rPr>
              <a:t>Condition </a:t>
            </a:r>
            <a:r>
              <a:rPr lang="en-US" sz="2400" dirty="0"/>
              <a:t>2 </a:t>
            </a:r>
            <a:r>
              <a:rPr lang="en-US" sz="2400" dirty="0">
                <a:latin typeface="Times New Roman"/>
              </a:rPr>
              <a:t>ensures that there are no redundancies in the dependencies by having redundant attributes on the left-hand side of a dependency </a:t>
            </a:r>
          </a:p>
          <a:p>
            <a:pPr marL="342900" indent="-342900" algn="just">
              <a:lnSpc>
                <a:spcPct val="150000"/>
              </a:lnSpc>
              <a:buFont typeface="Arial" pitchFamily="34" charset="0"/>
              <a:buChar char="•"/>
            </a:pPr>
            <a:r>
              <a:rPr lang="en-US" sz="2400" dirty="0">
                <a:latin typeface="Times New Roman"/>
              </a:rPr>
              <a:t> Condition 3</a:t>
            </a:r>
            <a:r>
              <a:rPr lang="en-US" sz="2400" dirty="0"/>
              <a:t> </a:t>
            </a:r>
            <a:r>
              <a:rPr lang="en-US" sz="2400" dirty="0">
                <a:latin typeface="Times New Roman"/>
              </a:rPr>
              <a:t>ensures that there are no redundancies by having a dependency that can be  inferred from the remaining FDs in F </a:t>
            </a:r>
            <a:endParaRPr lang="en-US" sz="2400" dirty="0"/>
          </a:p>
        </p:txBody>
      </p:sp>
      <p:sp>
        <p:nvSpPr>
          <p:cNvPr id="5" name="TextBox 4"/>
          <p:cNvSpPr txBox="1"/>
          <p:nvPr/>
        </p:nvSpPr>
        <p:spPr>
          <a:xfrm>
            <a:off x="304800" y="152400"/>
            <a:ext cx="84582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Minimal Sets of Functional Dependencies</a:t>
            </a:r>
          </a:p>
        </p:txBody>
      </p:sp>
    </p:spTree>
  </p:cSld>
  <p:clrMapOvr>
    <a:masterClrMapping/>
  </p:clrMapOvr>
  <p:transition>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90600"/>
            <a:ext cx="8763000" cy="2677656"/>
          </a:xfrm>
          <a:prstGeom prst="rect">
            <a:avLst/>
          </a:prstGeom>
          <a:noFill/>
          <a:ln w="25400">
            <a:solidFill>
              <a:schemeClr val="accent1"/>
            </a:solidFill>
          </a:ln>
        </p:spPr>
        <p:txBody>
          <a:bodyPr wrap="square" rtlCol="0">
            <a:spAutoFit/>
          </a:bodyPr>
          <a:lstStyle/>
          <a:p>
            <a:pPr algn="just">
              <a:lnSpc>
                <a:spcPct val="200000"/>
              </a:lnSpc>
            </a:pPr>
            <a:r>
              <a:rPr lang="en-US" sz="2400" b="1" dirty="0">
                <a:solidFill>
                  <a:srgbClr val="0070C0"/>
                </a:solidFill>
                <a:latin typeface="Tahoma" pitchFamily="34" charset="0"/>
                <a:ea typeface="Tahoma" pitchFamily="34" charset="0"/>
                <a:cs typeface="Tahoma" pitchFamily="34" charset="0"/>
              </a:rPr>
              <a:t>Definition of Minimal Cover of E</a:t>
            </a:r>
          </a:p>
          <a:p>
            <a:pPr algn="just">
              <a:lnSpc>
                <a:spcPct val="200000"/>
              </a:lnSpc>
            </a:pPr>
            <a:r>
              <a:rPr lang="en-US"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A </a:t>
            </a:r>
            <a:r>
              <a:rPr lang="en-US" sz="2000" b="1" dirty="0">
                <a:latin typeface="Tahoma" pitchFamily="34" charset="0"/>
                <a:ea typeface="Tahoma" pitchFamily="34" charset="0"/>
                <a:cs typeface="Tahoma" pitchFamily="34" charset="0"/>
              </a:rPr>
              <a:t>minimal cover </a:t>
            </a:r>
            <a:r>
              <a:rPr lang="en-US" sz="2000" dirty="0">
                <a:latin typeface="Tahoma" pitchFamily="34" charset="0"/>
                <a:ea typeface="Tahoma" pitchFamily="34" charset="0"/>
                <a:cs typeface="Tahoma" pitchFamily="34" charset="0"/>
              </a:rPr>
              <a:t>of a set of functional dependencies E is a minimal set of dependencies F that satisfies the property that every dependency in  E  is in the closure of F</a:t>
            </a:r>
            <a:r>
              <a:rPr lang="en-US" sz="2000" baseline="30000" dirty="0">
                <a:latin typeface="Tahoma" pitchFamily="34" charset="0"/>
                <a:ea typeface="Tahoma" pitchFamily="34" charset="0"/>
                <a:cs typeface="Tahoma" pitchFamily="34" charset="0"/>
              </a:rPr>
              <a:t>+.</a:t>
            </a:r>
            <a:r>
              <a:rPr lang="en-US" sz="2000" dirty="0">
                <a:latin typeface="Tahoma" pitchFamily="34" charset="0"/>
                <a:ea typeface="Tahoma" pitchFamily="34" charset="0"/>
                <a:cs typeface="Tahoma" pitchFamily="34" charset="0"/>
              </a:rPr>
              <a:t> </a:t>
            </a:r>
            <a:endParaRPr lang="en-US" dirty="0">
              <a:latin typeface="Tahoma" pitchFamily="34" charset="0"/>
              <a:ea typeface="Tahoma" pitchFamily="34" charset="0"/>
              <a:cs typeface="Tahoma" pitchFamily="34" charset="0"/>
            </a:endParaRPr>
          </a:p>
        </p:txBody>
      </p:sp>
      <p:sp>
        <p:nvSpPr>
          <p:cNvPr id="5" name="TextBox 4"/>
          <p:cNvSpPr txBox="1"/>
          <p:nvPr/>
        </p:nvSpPr>
        <p:spPr>
          <a:xfrm>
            <a:off x="152400" y="4038600"/>
            <a:ext cx="8763000" cy="2031325"/>
          </a:xfrm>
          <a:prstGeom prst="rect">
            <a:avLst/>
          </a:prstGeom>
          <a:noFill/>
        </p:spPr>
        <p:txBody>
          <a:bodyPr wrap="square" rtlCol="0">
            <a:spAutoFit/>
          </a:bodyPr>
          <a:lstStyle/>
          <a:p>
            <a:pPr marL="342900" indent="-342900" algn="just">
              <a:lnSpc>
                <a:spcPct val="200000"/>
              </a:lnSpc>
              <a:buFont typeface="Arial" pitchFamily="34" charset="0"/>
              <a:buChar char="•"/>
            </a:pPr>
            <a:r>
              <a:rPr lang="en-US" dirty="0">
                <a:latin typeface="Tahoma" pitchFamily="34" charset="0"/>
                <a:ea typeface="Tahoma" pitchFamily="34" charset="0"/>
                <a:cs typeface="Tahoma" pitchFamily="34" charset="0"/>
              </a:rPr>
              <a:t>There can be several minimal covers  F for a set of functional dependencies E.</a:t>
            </a:r>
          </a:p>
          <a:p>
            <a:pPr marL="342900" indent="-342900" algn="just">
              <a:lnSpc>
                <a:spcPct val="200000"/>
              </a:lnSpc>
              <a:buFont typeface="Arial" pitchFamily="34" charset="0"/>
              <a:buChar char="•"/>
            </a:pPr>
            <a:r>
              <a:rPr lang="en-US" dirty="0">
                <a:latin typeface="Tahoma" pitchFamily="34" charset="0"/>
                <a:ea typeface="Tahoma" pitchFamily="34" charset="0"/>
                <a:cs typeface="Tahoma" pitchFamily="34" charset="0"/>
              </a:rPr>
              <a:t> We can always find </a:t>
            </a:r>
            <a:r>
              <a:rPr lang="en-US" i="1" dirty="0">
                <a:latin typeface="Tahoma" pitchFamily="34" charset="0"/>
                <a:ea typeface="Tahoma" pitchFamily="34" charset="0"/>
                <a:cs typeface="Tahoma" pitchFamily="34" charset="0"/>
              </a:rPr>
              <a:t>at least one </a:t>
            </a:r>
            <a:r>
              <a:rPr lang="en-US" dirty="0">
                <a:latin typeface="Tahoma" pitchFamily="34" charset="0"/>
                <a:ea typeface="Tahoma" pitchFamily="34" charset="0"/>
                <a:cs typeface="Tahoma" pitchFamily="34" charset="0"/>
              </a:rPr>
              <a:t>minimal cover F for any set of dependencies E using the  following Algorithm</a:t>
            </a:r>
          </a:p>
          <a:p>
            <a:endParaRPr lang="en-US" dirty="0"/>
          </a:p>
        </p:txBody>
      </p:sp>
      <p:sp>
        <p:nvSpPr>
          <p:cNvPr id="7" name="TextBox 6"/>
          <p:cNvSpPr txBox="1"/>
          <p:nvPr/>
        </p:nvSpPr>
        <p:spPr>
          <a:xfrm>
            <a:off x="304800" y="152400"/>
            <a:ext cx="84582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Minimal Sets of Functional Dependencies</a:t>
            </a:r>
          </a:p>
        </p:txBody>
      </p:sp>
    </p:spTree>
  </p:cSld>
  <p:clrMapOvr>
    <a:masterClrMapping/>
  </p:clrMapOvr>
  <p:transition>
    <p:cu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90600"/>
            <a:ext cx="8763000" cy="5179880"/>
          </a:xfrm>
          <a:prstGeom prst="rect">
            <a:avLst/>
          </a:prstGeom>
          <a:noFill/>
          <a:ln w="22225">
            <a:solidFill>
              <a:schemeClr val="accent1"/>
            </a:solidFill>
          </a:ln>
        </p:spPr>
        <p:txBody>
          <a:bodyPr wrap="square" rtlCol="0">
            <a:spAutoFit/>
          </a:bodyPr>
          <a:lstStyle/>
          <a:p>
            <a:pPr algn="just">
              <a:lnSpc>
                <a:spcPct val="200000"/>
              </a:lnSpc>
            </a:pPr>
            <a:r>
              <a:rPr lang="en-US" b="1" dirty="0">
                <a:latin typeface="Tahoma" pitchFamily="34" charset="0"/>
                <a:ea typeface="Tahoma" pitchFamily="34" charset="0"/>
                <a:cs typeface="Tahoma" pitchFamily="34" charset="0"/>
              </a:rPr>
              <a:t>Algorithm : </a:t>
            </a:r>
            <a:r>
              <a:rPr lang="en-US" dirty="0">
                <a:latin typeface="Tahoma" pitchFamily="34" charset="0"/>
                <a:ea typeface="Tahoma" pitchFamily="34" charset="0"/>
                <a:cs typeface="Tahoma" pitchFamily="34" charset="0"/>
              </a:rPr>
              <a:t>Finding a Minimal Cover F for a Set of Functional Dependencies E</a:t>
            </a:r>
          </a:p>
          <a:p>
            <a:pPr marL="914400" lvl="1" indent="-457200" fontAlgn="base">
              <a:lnSpc>
                <a:spcPct val="150000"/>
              </a:lnSpc>
              <a:spcBef>
                <a:spcPct val="20000"/>
              </a:spcBef>
              <a:spcAft>
                <a:spcPct val="0"/>
              </a:spcAft>
              <a:buFontTx/>
              <a:buAutoNum type="arabicPeriod"/>
            </a:pPr>
            <a:r>
              <a:rPr lang="en-US" sz="2000" kern="0" dirty="0">
                <a:solidFill>
                  <a:srgbClr val="000000"/>
                </a:solidFill>
                <a:latin typeface="Calibri" pitchFamily="34" charset="0"/>
              </a:rPr>
              <a:t>Set F</a:t>
            </a:r>
            <a:r>
              <a:rPr lang="en-US" sz="2000" i="1" kern="0" dirty="0">
                <a:solidFill>
                  <a:srgbClr val="000000"/>
                </a:solidFill>
                <a:latin typeface="Calibri" pitchFamily="34" charset="0"/>
              </a:rPr>
              <a:t> </a:t>
            </a:r>
            <a:r>
              <a:rPr lang="en-US" sz="2000" kern="0" dirty="0">
                <a:solidFill>
                  <a:srgbClr val="000000"/>
                </a:solidFill>
                <a:latin typeface="Calibri" pitchFamily="34" charset="0"/>
              </a:rPr>
              <a:t>:= E. 	</a:t>
            </a:r>
          </a:p>
          <a:p>
            <a:pPr marL="914400" lvl="1" indent="-457200" algn="just" fontAlgn="base">
              <a:lnSpc>
                <a:spcPct val="150000"/>
              </a:lnSpc>
              <a:spcBef>
                <a:spcPct val="20000"/>
              </a:spcBef>
              <a:spcAft>
                <a:spcPct val="0"/>
              </a:spcAft>
              <a:buFontTx/>
              <a:buAutoNum type="arabicPeriod"/>
            </a:pPr>
            <a:r>
              <a:rPr lang="en-US" sz="2000" kern="0" dirty="0">
                <a:solidFill>
                  <a:srgbClr val="000000"/>
                </a:solidFill>
                <a:latin typeface="Calibri" pitchFamily="34" charset="0"/>
              </a:rPr>
              <a:t>Replace each functional dependency </a:t>
            </a:r>
            <a:r>
              <a:rPr lang="en-US" sz="2000" i="1" kern="0" dirty="0">
                <a:solidFill>
                  <a:srgbClr val="000000"/>
                </a:solidFill>
                <a:latin typeface="Calibri" pitchFamily="34" charset="0"/>
              </a:rPr>
              <a:t>X </a:t>
            </a:r>
            <a:r>
              <a:rPr lang="en-US" sz="2000" i="1" kern="0" dirty="0">
                <a:solidFill>
                  <a:srgbClr val="000000"/>
                </a:solidFill>
                <a:latin typeface="Calibri" pitchFamily="34" charset="0"/>
                <a:sym typeface="Wingdings" pitchFamily="2" charset="2"/>
              </a:rPr>
              <a:t> {A1,A2…An}</a:t>
            </a:r>
            <a:r>
              <a:rPr lang="en-US" sz="2000" kern="0" dirty="0">
                <a:solidFill>
                  <a:srgbClr val="000000"/>
                </a:solidFill>
                <a:latin typeface="Calibri" pitchFamily="34" charset="0"/>
              </a:rPr>
              <a:t> in F</a:t>
            </a:r>
            <a:r>
              <a:rPr lang="en-US" sz="2000" i="1" kern="0" dirty="0">
                <a:solidFill>
                  <a:srgbClr val="000000"/>
                </a:solidFill>
                <a:latin typeface="Calibri" pitchFamily="34" charset="0"/>
              </a:rPr>
              <a:t> </a:t>
            </a:r>
            <a:r>
              <a:rPr lang="en-US" sz="2000" kern="0" dirty="0">
                <a:solidFill>
                  <a:srgbClr val="000000"/>
                </a:solidFill>
                <a:latin typeface="Calibri" pitchFamily="34" charset="0"/>
              </a:rPr>
              <a:t>by the </a:t>
            </a:r>
            <a:r>
              <a:rPr lang="en-US" sz="2000" i="1" kern="0" dirty="0">
                <a:solidFill>
                  <a:srgbClr val="000000"/>
                </a:solidFill>
                <a:latin typeface="Calibri" pitchFamily="34" charset="0"/>
              </a:rPr>
              <a:t>n </a:t>
            </a:r>
            <a:r>
              <a:rPr lang="en-US" sz="2000" kern="0" dirty="0">
                <a:solidFill>
                  <a:srgbClr val="000000"/>
                </a:solidFill>
                <a:latin typeface="Calibri" pitchFamily="34" charset="0"/>
              </a:rPr>
              <a:t>functional dependencies </a:t>
            </a:r>
            <a:r>
              <a:rPr lang="en-US" sz="2000" i="1" kern="0" dirty="0">
                <a:solidFill>
                  <a:srgbClr val="000000"/>
                </a:solidFill>
                <a:latin typeface="Calibri" pitchFamily="34" charset="0"/>
              </a:rPr>
              <a:t>X </a:t>
            </a:r>
            <a:r>
              <a:rPr lang="en-US" sz="2000" i="1" kern="0" dirty="0">
                <a:solidFill>
                  <a:srgbClr val="000000"/>
                </a:solidFill>
                <a:latin typeface="Calibri" pitchFamily="34" charset="0"/>
                <a:sym typeface="Wingdings" pitchFamily="2" charset="2"/>
              </a:rPr>
              <a:t>A1</a:t>
            </a:r>
            <a:r>
              <a:rPr lang="en-US" sz="2000" kern="0" dirty="0">
                <a:solidFill>
                  <a:srgbClr val="000000"/>
                </a:solidFill>
                <a:latin typeface="Calibri" pitchFamily="34" charset="0"/>
              </a:rPr>
              <a:t> , </a:t>
            </a:r>
            <a:r>
              <a:rPr lang="en-US" sz="2000" i="1" kern="0" dirty="0">
                <a:solidFill>
                  <a:srgbClr val="000000"/>
                </a:solidFill>
                <a:latin typeface="Calibri" pitchFamily="34" charset="0"/>
              </a:rPr>
              <a:t>X </a:t>
            </a:r>
            <a:r>
              <a:rPr lang="en-US" sz="2000" i="1" kern="0" dirty="0">
                <a:solidFill>
                  <a:srgbClr val="000000"/>
                </a:solidFill>
                <a:latin typeface="Calibri" pitchFamily="34" charset="0"/>
                <a:sym typeface="Wingdings" pitchFamily="2" charset="2"/>
              </a:rPr>
              <a:t>A2</a:t>
            </a:r>
            <a:r>
              <a:rPr lang="en-US" sz="2000" kern="0" dirty="0">
                <a:solidFill>
                  <a:srgbClr val="000000"/>
                </a:solidFill>
                <a:latin typeface="Calibri" pitchFamily="34" charset="0"/>
              </a:rPr>
              <a:t> , . . ., </a:t>
            </a:r>
            <a:r>
              <a:rPr lang="en-US" sz="2000" i="1" kern="0" dirty="0">
                <a:solidFill>
                  <a:srgbClr val="000000"/>
                </a:solidFill>
                <a:latin typeface="Calibri" pitchFamily="34" charset="0"/>
              </a:rPr>
              <a:t>X </a:t>
            </a:r>
            <a:r>
              <a:rPr lang="en-US" sz="2000" i="1" kern="0" dirty="0">
                <a:solidFill>
                  <a:srgbClr val="000000"/>
                </a:solidFill>
                <a:latin typeface="Calibri" pitchFamily="34" charset="0"/>
                <a:sym typeface="Wingdings" pitchFamily="2" charset="2"/>
              </a:rPr>
              <a:t>An</a:t>
            </a:r>
            <a:r>
              <a:rPr lang="en-US" sz="2000" kern="0" dirty="0">
                <a:solidFill>
                  <a:srgbClr val="000000"/>
                </a:solidFill>
                <a:latin typeface="Calibri" pitchFamily="34" charset="0"/>
              </a:rPr>
              <a:t> . </a:t>
            </a:r>
          </a:p>
          <a:p>
            <a:pPr marL="914400" lvl="1" indent="-457200" fontAlgn="base">
              <a:lnSpc>
                <a:spcPct val="150000"/>
              </a:lnSpc>
              <a:spcBef>
                <a:spcPct val="20000"/>
              </a:spcBef>
              <a:spcAft>
                <a:spcPct val="0"/>
              </a:spcAft>
              <a:buFontTx/>
              <a:buAutoNum type="arabicPeriod"/>
            </a:pPr>
            <a:r>
              <a:rPr lang="en-US" sz="2000" kern="0" dirty="0">
                <a:solidFill>
                  <a:srgbClr val="000000"/>
                </a:solidFill>
                <a:latin typeface="Calibri" pitchFamily="34" charset="0"/>
              </a:rPr>
              <a:t>For each functional dependency </a:t>
            </a:r>
            <a:r>
              <a:rPr lang="en-US" sz="2000" i="1" kern="0" dirty="0">
                <a:solidFill>
                  <a:srgbClr val="000000"/>
                </a:solidFill>
                <a:latin typeface="Calibri" pitchFamily="34" charset="0"/>
              </a:rPr>
              <a:t>X </a:t>
            </a:r>
            <a:r>
              <a:rPr lang="en-US" sz="2000" i="1" kern="0" dirty="0">
                <a:solidFill>
                  <a:srgbClr val="000000"/>
                </a:solidFill>
                <a:latin typeface="Calibri" pitchFamily="34" charset="0"/>
                <a:sym typeface="Wingdings" pitchFamily="2" charset="2"/>
              </a:rPr>
              <a:t></a:t>
            </a:r>
            <a:r>
              <a:rPr lang="en-US" sz="2000" kern="0" dirty="0">
                <a:solidFill>
                  <a:srgbClr val="000000"/>
                </a:solidFill>
                <a:latin typeface="Calibri" pitchFamily="34" charset="0"/>
              </a:rPr>
              <a:t> </a:t>
            </a:r>
            <a:r>
              <a:rPr lang="en-US" sz="2000" i="1" kern="0" dirty="0">
                <a:solidFill>
                  <a:srgbClr val="000000"/>
                </a:solidFill>
                <a:latin typeface="Calibri" pitchFamily="34" charset="0"/>
              </a:rPr>
              <a:t>A </a:t>
            </a:r>
            <a:r>
              <a:rPr lang="en-US" sz="2000" kern="0" dirty="0">
                <a:solidFill>
                  <a:srgbClr val="000000"/>
                </a:solidFill>
                <a:latin typeface="Calibri" pitchFamily="34" charset="0"/>
              </a:rPr>
              <a:t>in F</a:t>
            </a:r>
            <a:r>
              <a:rPr lang="en-US" sz="2000" i="1" kern="0" dirty="0">
                <a:solidFill>
                  <a:srgbClr val="000000"/>
                </a:solidFill>
                <a:latin typeface="Calibri" pitchFamily="34" charset="0"/>
              </a:rPr>
              <a:t> </a:t>
            </a:r>
            <a:r>
              <a:rPr lang="en-US" sz="2000" kern="0" dirty="0">
                <a:solidFill>
                  <a:srgbClr val="000000"/>
                </a:solidFill>
                <a:latin typeface="Calibri" pitchFamily="34" charset="0"/>
              </a:rPr>
              <a:t>	</a:t>
            </a:r>
          </a:p>
          <a:p>
            <a:pPr marL="1752600" lvl="3" indent="-381000" fontAlgn="base">
              <a:lnSpc>
                <a:spcPct val="150000"/>
              </a:lnSpc>
              <a:spcBef>
                <a:spcPct val="20000"/>
              </a:spcBef>
              <a:spcAft>
                <a:spcPct val="0"/>
              </a:spcAft>
            </a:pPr>
            <a:r>
              <a:rPr lang="en-US" kern="0" dirty="0">
                <a:solidFill>
                  <a:srgbClr val="000000"/>
                </a:solidFill>
                <a:latin typeface="Calibri" pitchFamily="34" charset="0"/>
              </a:rPr>
              <a:t>  For each attribute </a:t>
            </a:r>
            <a:r>
              <a:rPr lang="en-US" i="1" kern="0" dirty="0">
                <a:solidFill>
                  <a:srgbClr val="000000"/>
                </a:solidFill>
                <a:latin typeface="Calibri" pitchFamily="34" charset="0"/>
              </a:rPr>
              <a:t>B </a:t>
            </a:r>
            <a:r>
              <a:rPr lang="en-US" kern="0" dirty="0">
                <a:solidFill>
                  <a:srgbClr val="000000"/>
                </a:solidFill>
                <a:latin typeface="Calibri" pitchFamily="34" charset="0"/>
              </a:rPr>
              <a:t>that is an element of </a:t>
            </a:r>
            <a:r>
              <a:rPr lang="en-US" i="1" kern="0" dirty="0">
                <a:solidFill>
                  <a:srgbClr val="000000"/>
                </a:solidFill>
                <a:latin typeface="Calibri" pitchFamily="34" charset="0"/>
              </a:rPr>
              <a:t>X </a:t>
            </a:r>
            <a:r>
              <a:rPr lang="en-US" kern="0" dirty="0">
                <a:solidFill>
                  <a:srgbClr val="000000"/>
                </a:solidFill>
                <a:latin typeface="Calibri" pitchFamily="34" charset="0"/>
              </a:rPr>
              <a:t>	</a:t>
            </a:r>
          </a:p>
          <a:p>
            <a:pPr marL="1828800" lvl="3" indent="-457200" fontAlgn="base">
              <a:lnSpc>
                <a:spcPct val="150000"/>
              </a:lnSpc>
              <a:spcBef>
                <a:spcPct val="20000"/>
              </a:spcBef>
              <a:spcAft>
                <a:spcPct val="0"/>
              </a:spcAft>
            </a:pPr>
            <a:r>
              <a:rPr lang="en-US" sz="2000" kern="0" dirty="0">
                <a:solidFill>
                  <a:srgbClr val="000000"/>
                </a:solidFill>
                <a:latin typeface="Calibri" pitchFamily="34" charset="0"/>
              </a:rPr>
              <a:t>       if {{F</a:t>
            </a:r>
            <a:r>
              <a:rPr lang="en-US" sz="2000" i="1" kern="0" dirty="0">
                <a:solidFill>
                  <a:srgbClr val="000000"/>
                </a:solidFill>
                <a:latin typeface="Calibri" pitchFamily="34" charset="0"/>
              </a:rPr>
              <a:t> </a:t>
            </a:r>
            <a:r>
              <a:rPr lang="en-US" sz="2000" kern="0" dirty="0">
                <a:solidFill>
                  <a:srgbClr val="000000"/>
                </a:solidFill>
                <a:latin typeface="Calibri" pitchFamily="34" charset="0"/>
              </a:rPr>
              <a:t>- {</a:t>
            </a:r>
            <a:r>
              <a:rPr lang="en-US" sz="2000" i="1" kern="0" dirty="0">
                <a:solidFill>
                  <a:srgbClr val="000000"/>
                </a:solidFill>
                <a:latin typeface="Calibri" pitchFamily="34" charset="0"/>
              </a:rPr>
              <a:t>X </a:t>
            </a:r>
            <a:r>
              <a:rPr lang="en-US" sz="2000" i="1" kern="0" dirty="0">
                <a:solidFill>
                  <a:srgbClr val="000000"/>
                </a:solidFill>
                <a:latin typeface="Calibri" pitchFamily="34" charset="0"/>
                <a:sym typeface="Wingdings" pitchFamily="2" charset="2"/>
              </a:rPr>
              <a:t></a:t>
            </a:r>
            <a:r>
              <a:rPr lang="en-US" sz="2000" kern="0" dirty="0">
                <a:solidFill>
                  <a:srgbClr val="000000"/>
                </a:solidFill>
                <a:latin typeface="Calibri" pitchFamily="34" charset="0"/>
              </a:rPr>
              <a:t> </a:t>
            </a:r>
            <a:r>
              <a:rPr lang="en-US" sz="2000" i="1" kern="0" dirty="0">
                <a:solidFill>
                  <a:srgbClr val="000000"/>
                </a:solidFill>
                <a:latin typeface="Calibri" pitchFamily="34" charset="0"/>
              </a:rPr>
              <a:t>A</a:t>
            </a:r>
            <a:r>
              <a:rPr lang="en-US" sz="2000" kern="0" dirty="0">
                <a:solidFill>
                  <a:srgbClr val="000000"/>
                </a:solidFill>
                <a:latin typeface="Calibri" pitchFamily="34" charset="0"/>
              </a:rPr>
              <a:t>}} U {(</a:t>
            </a:r>
            <a:r>
              <a:rPr lang="en-US" sz="2000" i="1" kern="0" dirty="0">
                <a:solidFill>
                  <a:srgbClr val="000000"/>
                </a:solidFill>
                <a:latin typeface="Calibri" pitchFamily="34" charset="0"/>
              </a:rPr>
              <a:t>X </a:t>
            </a:r>
            <a:r>
              <a:rPr lang="en-US" sz="2000" kern="0" dirty="0">
                <a:solidFill>
                  <a:srgbClr val="000000"/>
                </a:solidFill>
                <a:latin typeface="Calibri" pitchFamily="34" charset="0"/>
              </a:rPr>
              <a:t>- {</a:t>
            </a:r>
            <a:r>
              <a:rPr lang="en-US" sz="2000" i="1" kern="0" dirty="0">
                <a:solidFill>
                  <a:srgbClr val="000000"/>
                </a:solidFill>
                <a:latin typeface="Calibri" pitchFamily="34" charset="0"/>
              </a:rPr>
              <a:t>B</a:t>
            </a:r>
            <a:r>
              <a:rPr lang="en-US" sz="2000" kern="0" dirty="0">
                <a:solidFill>
                  <a:srgbClr val="000000"/>
                </a:solidFill>
                <a:latin typeface="Calibri" pitchFamily="34" charset="0"/>
              </a:rPr>
              <a:t>}) </a:t>
            </a:r>
            <a:r>
              <a:rPr lang="en-US" sz="2000" kern="0" dirty="0">
                <a:solidFill>
                  <a:srgbClr val="000000"/>
                </a:solidFill>
                <a:latin typeface="Calibri" pitchFamily="34" charset="0"/>
                <a:sym typeface="Wingdings" pitchFamily="2" charset="2"/>
              </a:rPr>
              <a:t></a:t>
            </a:r>
            <a:r>
              <a:rPr lang="en-US" sz="2000" kern="0" dirty="0">
                <a:solidFill>
                  <a:srgbClr val="000000"/>
                </a:solidFill>
                <a:latin typeface="Calibri" pitchFamily="34" charset="0"/>
              </a:rPr>
              <a:t> </a:t>
            </a:r>
            <a:r>
              <a:rPr lang="en-US" sz="2000" i="1" kern="0" dirty="0">
                <a:solidFill>
                  <a:srgbClr val="000000"/>
                </a:solidFill>
                <a:latin typeface="Calibri" pitchFamily="34" charset="0"/>
              </a:rPr>
              <a:t>A</a:t>
            </a:r>
            <a:r>
              <a:rPr lang="en-US" sz="2000" kern="0" dirty="0">
                <a:solidFill>
                  <a:srgbClr val="000000"/>
                </a:solidFill>
                <a:latin typeface="Calibri" pitchFamily="34" charset="0"/>
              </a:rPr>
              <a:t>}} is equivalent to F</a:t>
            </a:r>
          </a:p>
          <a:p>
            <a:pPr marL="2286000" lvl="4" indent="-457200" fontAlgn="base">
              <a:lnSpc>
                <a:spcPct val="150000"/>
              </a:lnSpc>
              <a:spcBef>
                <a:spcPct val="20000"/>
              </a:spcBef>
              <a:spcAft>
                <a:spcPct val="0"/>
              </a:spcAft>
            </a:pPr>
            <a:r>
              <a:rPr lang="en-US" sz="2000" kern="0" dirty="0">
                <a:solidFill>
                  <a:srgbClr val="000000"/>
                </a:solidFill>
                <a:latin typeface="Calibri" pitchFamily="34" charset="0"/>
              </a:rPr>
              <a:t>         then replace </a:t>
            </a:r>
            <a:r>
              <a:rPr lang="en-US" sz="2000" i="1" kern="0" dirty="0">
                <a:solidFill>
                  <a:srgbClr val="000000"/>
                </a:solidFill>
                <a:latin typeface="Calibri" pitchFamily="34" charset="0"/>
              </a:rPr>
              <a:t>X </a:t>
            </a:r>
            <a:r>
              <a:rPr lang="en-US" sz="2000" i="1" kern="0" dirty="0">
                <a:solidFill>
                  <a:srgbClr val="000000"/>
                </a:solidFill>
                <a:latin typeface="Calibri" pitchFamily="34" charset="0"/>
                <a:sym typeface="Wingdings" pitchFamily="2" charset="2"/>
              </a:rPr>
              <a:t></a:t>
            </a:r>
            <a:r>
              <a:rPr lang="en-US" sz="2000" kern="0" dirty="0">
                <a:solidFill>
                  <a:srgbClr val="000000"/>
                </a:solidFill>
                <a:latin typeface="Calibri" pitchFamily="34" charset="0"/>
              </a:rPr>
              <a:t> </a:t>
            </a:r>
            <a:r>
              <a:rPr lang="en-US" sz="2000" i="1" kern="0" dirty="0">
                <a:solidFill>
                  <a:srgbClr val="000000"/>
                </a:solidFill>
                <a:latin typeface="Calibri" pitchFamily="34" charset="0"/>
              </a:rPr>
              <a:t>A </a:t>
            </a:r>
            <a:r>
              <a:rPr lang="en-US" sz="2000" kern="0" dirty="0">
                <a:solidFill>
                  <a:srgbClr val="000000"/>
                </a:solidFill>
                <a:latin typeface="Calibri" pitchFamily="34" charset="0"/>
              </a:rPr>
              <a:t>with (</a:t>
            </a:r>
            <a:r>
              <a:rPr lang="en-US" sz="2000" i="1" kern="0" dirty="0">
                <a:solidFill>
                  <a:srgbClr val="000000"/>
                </a:solidFill>
                <a:latin typeface="Calibri" pitchFamily="34" charset="0"/>
              </a:rPr>
              <a:t>X </a:t>
            </a:r>
            <a:r>
              <a:rPr lang="en-US" sz="2000" kern="0" dirty="0">
                <a:solidFill>
                  <a:srgbClr val="000000"/>
                </a:solidFill>
                <a:latin typeface="Calibri" pitchFamily="34" charset="0"/>
              </a:rPr>
              <a:t>- {</a:t>
            </a:r>
            <a:r>
              <a:rPr lang="en-US" sz="2000" i="1" kern="0" dirty="0">
                <a:solidFill>
                  <a:srgbClr val="000000"/>
                </a:solidFill>
                <a:latin typeface="Calibri" pitchFamily="34" charset="0"/>
              </a:rPr>
              <a:t>B</a:t>
            </a:r>
            <a:r>
              <a:rPr lang="en-US" sz="2000" kern="0" dirty="0">
                <a:solidFill>
                  <a:srgbClr val="000000"/>
                </a:solidFill>
                <a:latin typeface="Calibri" pitchFamily="34" charset="0"/>
              </a:rPr>
              <a:t>}) </a:t>
            </a:r>
            <a:r>
              <a:rPr lang="en-US" sz="2000" kern="0" dirty="0">
                <a:solidFill>
                  <a:srgbClr val="000000"/>
                </a:solidFill>
                <a:latin typeface="Calibri" pitchFamily="34" charset="0"/>
                <a:sym typeface="Wingdings" pitchFamily="2" charset="2"/>
              </a:rPr>
              <a:t></a:t>
            </a:r>
            <a:r>
              <a:rPr lang="en-US" sz="2000" kern="0" dirty="0">
                <a:solidFill>
                  <a:srgbClr val="000000"/>
                </a:solidFill>
                <a:latin typeface="Calibri" pitchFamily="34" charset="0"/>
              </a:rPr>
              <a:t> </a:t>
            </a:r>
            <a:r>
              <a:rPr lang="en-US" sz="2000" i="1" kern="0" dirty="0">
                <a:solidFill>
                  <a:srgbClr val="000000"/>
                </a:solidFill>
                <a:latin typeface="Calibri" pitchFamily="34" charset="0"/>
              </a:rPr>
              <a:t>A </a:t>
            </a:r>
            <a:r>
              <a:rPr lang="en-US" sz="2000" kern="0" dirty="0">
                <a:solidFill>
                  <a:srgbClr val="000000"/>
                </a:solidFill>
                <a:latin typeface="Calibri" pitchFamily="34" charset="0"/>
              </a:rPr>
              <a:t>in F.</a:t>
            </a:r>
          </a:p>
          <a:p>
            <a:pPr marL="914400" lvl="1" indent="-457200" fontAlgn="base">
              <a:lnSpc>
                <a:spcPct val="150000"/>
              </a:lnSpc>
              <a:spcBef>
                <a:spcPct val="20000"/>
              </a:spcBef>
              <a:spcAft>
                <a:spcPct val="0"/>
              </a:spcAft>
              <a:buFontTx/>
              <a:buAutoNum type="arabicPeriod" startAt="4"/>
            </a:pPr>
            <a:r>
              <a:rPr lang="en-US" sz="2000" kern="0" dirty="0">
                <a:solidFill>
                  <a:srgbClr val="000000"/>
                </a:solidFill>
                <a:latin typeface="Calibri" pitchFamily="34" charset="0"/>
              </a:rPr>
              <a:t>For each remaining functional dependency </a:t>
            </a:r>
            <a:r>
              <a:rPr lang="en-US" sz="2000" i="1" kern="0" dirty="0">
                <a:solidFill>
                  <a:srgbClr val="000000"/>
                </a:solidFill>
                <a:latin typeface="Calibri" pitchFamily="34" charset="0"/>
              </a:rPr>
              <a:t>X </a:t>
            </a:r>
            <a:r>
              <a:rPr lang="en-US" sz="2000" i="1" kern="0" dirty="0">
                <a:solidFill>
                  <a:srgbClr val="000000"/>
                </a:solidFill>
                <a:latin typeface="Calibri" pitchFamily="34" charset="0"/>
                <a:sym typeface="Wingdings" pitchFamily="2" charset="2"/>
              </a:rPr>
              <a:t></a:t>
            </a:r>
            <a:r>
              <a:rPr lang="en-US" sz="2000" kern="0" dirty="0">
                <a:solidFill>
                  <a:srgbClr val="000000"/>
                </a:solidFill>
                <a:latin typeface="Calibri" pitchFamily="34" charset="0"/>
              </a:rPr>
              <a:t> </a:t>
            </a:r>
            <a:r>
              <a:rPr lang="en-US" sz="2000" i="1" kern="0" dirty="0">
                <a:solidFill>
                  <a:srgbClr val="000000"/>
                </a:solidFill>
                <a:latin typeface="Calibri" pitchFamily="34" charset="0"/>
              </a:rPr>
              <a:t>A </a:t>
            </a:r>
            <a:r>
              <a:rPr lang="en-US" sz="2000" kern="0" dirty="0">
                <a:solidFill>
                  <a:srgbClr val="000000"/>
                </a:solidFill>
                <a:latin typeface="Calibri" pitchFamily="34" charset="0"/>
              </a:rPr>
              <a:t>in F</a:t>
            </a:r>
            <a:r>
              <a:rPr lang="en-US" sz="2000" i="1" kern="0" dirty="0">
                <a:solidFill>
                  <a:srgbClr val="000000"/>
                </a:solidFill>
                <a:latin typeface="Calibri" pitchFamily="34" charset="0"/>
              </a:rPr>
              <a:t> </a:t>
            </a:r>
            <a:r>
              <a:rPr lang="en-US" sz="2000" kern="0" dirty="0">
                <a:solidFill>
                  <a:srgbClr val="000000"/>
                </a:solidFill>
                <a:latin typeface="Calibri" pitchFamily="34" charset="0"/>
              </a:rPr>
              <a:t>if (F</a:t>
            </a:r>
            <a:r>
              <a:rPr lang="en-US" sz="2000" i="1" kern="0" dirty="0">
                <a:solidFill>
                  <a:srgbClr val="000000"/>
                </a:solidFill>
                <a:latin typeface="Calibri" pitchFamily="34" charset="0"/>
              </a:rPr>
              <a:t> </a:t>
            </a:r>
            <a:r>
              <a:rPr lang="en-US" sz="2000" kern="0" dirty="0">
                <a:solidFill>
                  <a:srgbClr val="000000"/>
                </a:solidFill>
                <a:latin typeface="Calibri" pitchFamily="34" charset="0"/>
              </a:rPr>
              <a:t>- {</a:t>
            </a:r>
            <a:r>
              <a:rPr lang="en-US" sz="2000" i="1" kern="0" dirty="0">
                <a:solidFill>
                  <a:srgbClr val="000000"/>
                </a:solidFill>
                <a:latin typeface="Calibri" pitchFamily="34" charset="0"/>
              </a:rPr>
              <a:t>X </a:t>
            </a:r>
            <a:r>
              <a:rPr lang="en-US" sz="2000" i="1" kern="0" dirty="0">
                <a:solidFill>
                  <a:srgbClr val="000000"/>
                </a:solidFill>
                <a:latin typeface="Calibri" pitchFamily="34" charset="0"/>
                <a:sym typeface="Wingdings" pitchFamily="2" charset="2"/>
              </a:rPr>
              <a:t></a:t>
            </a:r>
            <a:r>
              <a:rPr lang="en-US" sz="2000" kern="0" dirty="0">
                <a:solidFill>
                  <a:srgbClr val="000000"/>
                </a:solidFill>
                <a:latin typeface="Calibri" pitchFamily="34" charset="0"/>
              </a:rPr>
              <a:t> </a:t>
            </a:r>
            <a:r>
              <a:rPr lang="en-US" sz="2000" i="1" kern="0" dirty="0">
                <a:solidFill>
                  <a:srgbClr val="000000"/>
                </a:solidFill>
                <a:latin typeface="Calibri" pitchFamily="34" charset="0"/>
              </a:rPr>
              <a:t>A</a:t>
            </a:r>
            <a:r>
              <a:rPr lang="en-US" sz="2000" kern="0" dirty="0">
                <a:solidFill>
                  <a:srgbClr val="000000"/>
                </a:solidFill>
                <a:latin typeface="Calibri" pitchFamily="34" charset="0"/>
              </a:rPr>
              <a:t>}) is equivalent to F,  </a:t>
            </a:r>
            <a:r>
              <a:rPr lang="en-US" b="1" kern="0" dirty="0">
                <a:solidFill>
                  <a:srgbClr val="000000"/>
                </a:solidFill>
                <a:latin typeface="Calibri" pitchFamily="34" charset="0"/>
              </a:rPr>
              <a:t>then remove </a:t>
            </a:r>
            <a:r>
              <a:rPr lang="en-US" b="1" i="1" kern="0" dirty="0">
                <a:solidFill>
                  <a:srgbClr val="000000"/>
                </a:solidFill>
                <a:latin typeface="Calibri" pitchFamily="34" charset="0"/>
              </a:rPr>
              <a:t>X </a:t>
            </a:r>
            <a:r>
              <a:rPr lang="en-US" b="1" i="1" kern="0" dirty="0">
                <a:solidFill>
                  <a:srgbClr val="000000"/>
                </a:solidFill>
                <a:latin typeface="Calibri" pitchFamily="34" charset="0"/>
                <a:sym typeface="Wingdings" pitchFamily="2" charset="2"/>
              </a:rPr>
              <a:t></a:t>
            </a:r>
            <a:r>
              <a:rPr lang="en-US" b="1" kern="0" dirty="0">
                <a:solidFill>
                  <a:srgbClr val="000000"/>
                </a:solidFill>
                <a:latin typeface="Calibri" pitchFamily="34" charset="0"/>
              </a:rPr>
              <a:t> </a:t>
            </a:r>
            <a:r>
              <a:rPr lang="en-US" b="1" i="1" kern="0" dirty="0">
                <a:solidFill>
                  <a:srgbClr val="000000"/>
                </a:solidFill>
                <a:latin typeface="Calibri" pitchFamily="34" charset="0"/>
              </a:rPr>
              <a:t>A </a:t>
            </a:r>
            <a:r>
              <a:rPr lang="en-US" b="1" kern="0" dirty="0">
                <a:solidFill>
                  <a:srgbClr val="000000"/>
                </a:solidFill>
                <a:latin typeface="Calibri" pitchFamily="34" charset="0"/>
              </a:rPr>
              <a:t>from F. </a:t>
            </a:r>
            <a:r>
              <a:rPr lang="en-US" b="1" kern="0" dirty="0">
                <a:solidFill>
                  <a:srgbClr val="000000"/>
                </a:solidFill>
              </a:rPr>
              <a:t>	</a:t>
            </a:r>
          </a:p>
        </p:txBody>
      </p:sp>
      <p:sp>
        <p:nvSpPr>
          <p:cNvPr id="5" name="TextBox 4"/>
          <p:cNvSpPr txBox="1"/>
          <p:nvPr/>
        </p:nvSpPr>
        <p:spPr>
          <a:xfrm>
            <a:off x="304800" y="152400"/>
            <a:ext cx="84582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Minimal Sets of Functional Dependencies</a:t>
            </a:r>
          </a:p>
        </p:txBody>
      </p:sp>
    </p:spTree>
  </p:cSld>
  <p:clrMapOvr>
    <a:masterClrMapping/>
  </p:clrMapOvr>
  <p:transition>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90600"/>
            <a:ext cx="8763000" cy="4185761"/>
          </a:xfrm>
          <a:prstGeom prst="rect">
            <a:avLst/>
          </a:prstGeom>
          <a:noFill/>
          <a:ln w="22225">
            <a:solidFill>
              <a:schemeClr val="accent1"/>
            </a:solidFill>
          </a:ln>
        </p:spPr>
        <p:txBody>
          <a:bodyPr wrap="square" rtlCol="0">
            <a:spAutoFit/>
          </a:bodyPr>
          <a:lstStyle/>
          <a:p>
            <a:pPr algn="just">
              <a:lnSpc>
                <a:spcPct val="200000"/>
              </a:lnSpc>
            </a:pPr>
            <a:r>
              <a:rPr lang="en-US" sz="2000" b="1" kern="0" dirty="0">
                <a:solidFill>
                  <a:srgbClr val="002060"/>
                </a:solidFill>
              </a:rPr>
              <a:t>Step 3  can be simplified as follows:</a:t>
            </a:r>
          </a:p>
          <a:p>
            <a:pPr algn="just">
              <a:lnSpc>
                <a:spcPct val="200000"/>
              </a:lnSpc>
            </a:pPr>
            <a:r>
              <a:rPr lang="en-US" sz="2000" b="1" kern="0" dirty="0">
                <a:solidFill>
                  <a:srgbClr val="000000"/>
                </a:solidFill>
              </a:rPr>
              <a:t>You can use  the following steps to test for redundant attributes  :</a:t>
            </a:r>
          </a:p>
          <a:p>
            <a:pPr algn="just">
              <a:lnSpc>
                <a:spcPct val="150000"/>
              </a:lnSpc>
            </a:pPr>
            <a:r>
              <a:rPr lang="en-US" sz="2000" b="1" kern="0" dirty="0">
                <a:solidFill>
                  <a:srgbClr val="000000"/>
                </a:solidFill>
              </a:rPr>
              <a:t>  </a:t>
            </a:r>
            <a:r>
              <a:rPr lang="en-IN" sz="2000" dirty="0"/>
              <a:t>In an FD {X</a:t>
            </a:r>
            <a:r>
              <a:rPr lang="en-IN" sz="2000" dirty="0">
                <a:sym typeface="Wingdings" pitchFamily="2" charset="2"/>
              </a:rPr>
              <a:t>A</a:t>
            </a:r>
            <a:r>
              <a:rPr lang="en-IN" sz="2000" dirty="0"/>
              <a:t>} from set F</a:t>
            </a:r>
            <a:r>
              <a:rPr lang="en-US" sz="2000" b="1" kern="0" dirty="0">
                <a:solidFill>
                  <a:srgbClr val="000000"/>
                </a:solidFill>
              </a:rPr>
              <a:t>  , t</a:t>
            </a:r>
            <a:r>
              <a:rPr lang="en-IN" dirty="0"/>
              <a:t>o test if attribute B </a:t>
            </a:r>
            <a:r>
              <a:rPr lang="el-GR" sz="2800" dirty="0"/>
              <a:t>ϵ</a:t>
            </a:r>
            <a:r>
              <a:rPr lang="en-US" sz="2800" dirty="0"/>
              <a:t> </a:t>
            </a:r>
            <a:r>
              <a:rPr lang="en-US" sz="2000" dirty="0"/>
              <a:t>X</a:t>
            </a:r>
            <a:r>
              <a:rPr lang="en-IN" dirty="0"/>
              <a:t>   is redundant  do the following :</a:t>
            </a:r>
          </a:p>
          <a:p>
            <a:pPr algn="just">
              <a:lnSpc>
                <a:spcPct val="150000"/>
              </a:lnSpc>
            </a:pPr>
            <a:endParaRPr lang="en-IN" dirty="0"/>
          </a:p>
          <a:p>
            <a:pPr lvl="1">
              <a:lnSpc>
                <a:spcPct val="150000"/>
              </a:lnSpc>
            </a:pPr>
            <a:r>
              <a:rPr lang="en-IN" b="1" kern="0" dirty="0">
                <a:solidFill>
                  <a:srgbClr val="000000"/>
                </a:solidFill>
              </a:rPr>
              <a:t> </a:t>
            </a:r>
            <a:r>
              <a:rPr lang="en-IN" sz="2000" dirty="0"/>
              <a:t>Step 1:  Compute ({X} – B)</a:t>
            </a:r>
            <a:r>
              <a:rPr lang="en-IN" sz="2000" baseline="30000" dirty="0"/>
              <a:t>+ </a:t>
            </a:r>
            <a:r>
              <a:rPr lang="en-IN" sz="2000" dirty="0"/>
              <a:t>using the dependencies in </a:t>
            </a:r>
            <a:r>
              <a:rPr lang="en-IN" sz="2000" i="1" dirty="0"/>
              <a:t>F</a:t>
            </a:r>
          </a:p>
          <a:p>
            <a:pPr lvl="1">
              <a:lnSpc>
                <a:spcPct val="150000"/>
              </a:lnSpc>
            </a:pPr>
            <a:r>
              <a:rPr lang="en-IN" sz="2000" dirty="0"/>
              <a:t> Step 2:  Check that ({X} – B)</a:t>
            </a:r>
            <a:r>
              <a:rPr lang="en-IN" sz="2000" baseline="30000" dirty="0"/>
              <a:t>+</a:t>
            </a:r>
            <a:r>
              <a:rPr lang="en-IN" sz="2000" dirty="0"/>
              <a:t> </a:t>
            </a:r>
            <a:r>
              <a:rPr lang="en-IN" sz="2000"/>
              <a:t>contains B or A; </a:t>
            </a:r>
            <a:r>
              <a:rPr lang="en-IN" sz="2000" dirty="0"/>
              <a:t>if it does, </a:t>
            </a:r>
            <a:r>
              <a:rPr lang="en-IN" sz="2000" i="1" dirty="0"/>
              <a:t>B is redundant ,</a:t>
            </a:r>
            <a:r>
              <a:rPr lang="en-US" b="1" kern="0" dirty="0">
                <a:solidFill>
                  <a:srgbClr val="000000"/>
                </a:solidFill>
              </a:rPr>
              <a:t>	        (so remove it from X )</a:t>
            </a:r>
          </a:p>
        </p:txBody>
      </p:sp>
      <p:sp>
        <p:nvSpPr>
          <p:cNvPr id="5" name="TextBox 4"/>
          <p:cNvSpPr txBox="1"/>
          <p:nvPr/>
        </p:nvSpPr>
        <p:spPr>
          <a:xfrm>
            <a:off x="304800" y="152400"/>
            <a:ext cx="84582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Minimal Sets of Functional Dependencies</a:t>
            </a:r>
          </a:p>
        </p:txBody>
      </p:sp>
    </p:spTree>
  </p:cSld>
  <p:clrMapOvr>
    <a:masterClrMapping/>
  </p:clrMapOvr>
  <p:transition>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219200"/>
            <a:ext cx="8686800" cy="3046988"/>
          </a:xfrm>
          <a:prstGeom prst="rect">
            <a:avLst/>
          </a:prstGeom>
          <a:noFill/>
          <a:ln w="22225">
            <a:solidFill>
              <a:schemeClr val="accent1"/>
            </a:solidFill>
          </a:ln>
        </p:spPr>
        <p:txBody>
          <a:bodyPr wrap="square" rtlCol="0">
            <a:spAutoFit/>
          </a:bodyPr>
          <a:lstStyle/>
          <a:p>
            <a:pPr algn="just">
              <a:lnSpc>
                <a:spcPct val="200000"/>
              </a:lnSpc>
            </a:pPr>
            <a:r>
              <a:rPr lang="en-US" sz="2800" b="1" kern="0" dirty="0">
                <a:solidFill>
                  <a:srgbClr val="000000"/>
                </a:solidFill>
              </a:rPr>
              <a:t>Problem :</a:t>
            </a:r>
          </a:p>
          <a:p>
            <a:pPr algn="just">
              <a:lnSpc>
                <a:spcPct val="200000"/>
              </a:lnSpc>
            </a:pPr>
            <a:r>
              <a:rPr lang="en-US" sz="2800" b="1" kern="0" dirty="0">
                <a:solidFill>
                  <a:srgbClr val="000000"/>
                </a:solidFill>
              </a:rPr>
              <a:t> </a:t>
            </a:r>
            <a:r>
              <a:rPr lang="en-IN" sz="2000" dirty="0"/>
              <a:t>Consider the universal relation R = {A, B, C, D, E, F, G} and the set of functional dependencies F = {A</a:t>
            </a:r>
            <a:r>
              <a:rPr lang="en-IN" sz="2000" dirty="0">
                <a:sym typeface="Wingdings"/>
              </a:rPr>
              <a:t></a:t>
            </a:r>
            <a:r>
              <a:rPr lang="en-IN" sz="2000" dirty="0"/>
              <a:t>BC, BC</a:t>
            </a:r>
            <a:r>
              <a:rPr lang="en-IN" sz="2000" dirty="0">
                <a:sym typeface="Wingdings"/>
              </a:rPr>
              <a:t></a:t>
            </a:r>
            <a:r>
              <a:rPr lang="en-IN" sz="2000" dirty="0"/>
              <a:t>F, B</a:t>
            </a:r>
            <a:r>
              <a:rPr lang="en-IN" sz="2000" dirty="0">
                <a:sym typeface="Wingdings"/>
              </a:rPr>
              <a:t></a:t>
            </a:r>
            <a:r>
              <a:rPr lang="en-IN" sz="2000" dirty="0"/>
              <a:t>DCE, C</a:t>
            </a:r>
            <a:r>
              <a:rPr lang="en-IN" sz="2000" dirty="0">
                <a:sym typeface="Wingdings"/>
              </a:rPr>
              <a:t></a:t>
            </a:r>
            <a:r>
              <a:rPr lang="en-IN" sz="2000" dirty="0"/>
              <a:t>DEF, E </a:t>
            </a:r>
            <a:r>
              <a:rPr lang="en-IN" sz="2000" dirty="0">
                <a:sym typeface="Wingdings"/>
              </a:rPr>
              <a:t></a:t>
            </a:r>
            <a:r>
              <a:rPr lang="en-IN" sz="2000" dirty="0"/>
              <a:t> FG}.  Find a minimal cover G for F.</a:t>
            </a:r>
            <a:endParaRPr lang="en-US" sz="3200" b="1" kern="0" dirty="0">
              <a:solidFill>
                <a:srgbClr val="000000"/>
              </a:solidFill>
            </a:endParaRPr>
          </a:p>
        </p:txBody>
      </p:sp>
      <p:sp>
        <p:nvSpPr>
          <p:cNvPr id="3" name="TextBox 2"/>
          <p:cNvSpPr txBox="1"/>
          <p:nvPr/>
        </p:nvSpPr>
        <p:spPr>
          <a:xfrm>
            <a:off x="304800" y="152400"/>
            <a:ext cx="84582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Minimal Sets of Functional Dependencies</a:t>
            </a:r>
          </a:p>
        </p:txBody>
      </p:sp>
    </p:spTree>
  </p:cSld>
  <p:clrMapOvr>
    <a:masterClrMapping/>
  </p:clrMapOvr>
  <p:transition>
    <p:cu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219200"/>
            <a:ext cx="8686800" cy="3908762"/>
          </a:xfrm>
          <a:prstGeom prst="rect">
            <a:avLst/>
          </a:prstGeom>
          <a:noFill/>
          <a:ln w="22225">
            <a:solidFill>
              <a:schemeClr val="accent1"/>
            </a:solidFill>
          </a:ln>
        </p:spPr>
        <p:txBody>
          <a:bodyPr wrap="square" rtlCol="0">
            <a:spAutoFit/>
          </a:bodyPr>
          <a:lstStyle/>
          <a:p>
            <a:pPr algn="just">
              <a:lnSpc>
                <a:spcPct val="200000"/>
              </a:lnSpc>
            </a:pPr>
            <a:r>
              <a:rPr lang="en-US" sz="2800" b="1" kern="0" dirty="0">
                <a:solidFill>
                  <a:srgbClr val="000000"/>
                </a:solidFill>
              </a:rPr>
              <a:t>Problem :</a:t>
            </a:r>
          </a:p>
          <a:p>
            <a:pPr algn="just">
              <a:lnSpc>
                <a:spcPct val="200000"/>
              </a:lnSpc>
            </a:pPr>
            <a:r>
              <a:rPr lang="en-US" sz="2800" b="1" kern="0" dirty="0">
                <a:solidFill>
                  <a:srgbClr val="000000"/>
                </a:solidFill>
              </a:rPr>
              <a:t> </a:t>
            </a:r>
            <a:r>
              <a:rPr lang="en-IN" sz="2000" b="1" dirty="0"/>
              <a:t>Consider the universal relation R = {A, B, C, D, E, F, G, H, I,J} and the set of functional dependencies </a:t>
            </a:r>
          </a:p>
          <a:p>
            <a:pPr algn="just">
              <a:lnSpc>
                <a:spcPct val="200000"/>
              </a:lnSpc>
            </a:pPr>
            <a:r>
              <a:rPr lang="en-IN" sz="2000" b="1" dirty="0"/>
              <a:t> F = {AB</a:t>
            </a:r>
            <a:r>
              <a:rPr lang="en-IN" sz="2000" b="1" dirty="0">
                <a:sym typeface="Wingdings"/>
              </a:rPr>
              <a:t></a:t>
            </a:r>
            <a:r>
              <a:rPr lang="en-IN" sz="2000" b="1" dirty="0"/>
              <a:t>C, A</a:t>
            </a:r>
            <a:r>
              <a:rPr lang="en-IN" sz="2000" b="1" dirty="0">
                <a:sym typeface="Wingdings"/>
              </a:rPr>
              <a:t></a:t>
            </a:r>
            <a:r>
              <a:rPr lang="en-IN" sz="2000" b="1" dirty="0"/>
              <a:t> DE, B</a:t>
            </a:r>
            <a:r>
              <a:rPr lang="en-IN" sz="2000" b="1" dirty="0">
                <a:sym typeface="Wingdings"/>
              </a:rPr>
              <a:t></a:t>
            </a:r>
            <a:r>
              <a:rPr lang="en-IN" sz="2000" b="1" dirty="0"/>
              <a:t>F, F </a:t>
            </a:r>
            <a:r>
              <a:rPr lang="en-IN" sz="2000" b="1" dirty="0">
                <a:sym typeface="Wingdings"/>
              </a:rPr>
              <a:t></a:t>
            </a:r>
            <a:r>
              <a:rPr lang="en-IN" sz="2000" b="1" dirty="0"/>
              <a:t> GH, D</a:t>
            </a:r>
            <a:r>
              <a:rPr lang="en-IN" sz="2000" b="1" dirty="0">
                <a:sym typeface="Wingdings"/>
              </a:rPr>
              <a:t></a:t>
            </a:r>
            <a:r>
              <a:rPr lang="en-IN" sz="2000" b="1" dirty="0"/>
              <a:t>IJ}.  </a:t>
            </a:r>
          </a:p>
          <a:p>
            <a:pPr algn="just">
              <a:lnSpc>
                <a:spcPct val="200000"/>
              </a:lnSpc>
            </a:pPr>
            <a:r>
              <a:rPr lang="en-IN" sz="2000" dirty="0"/>
              <a:t>    </a:t>
            </a:r>
            <a:r>
              <a:rPr lang="en-IN" sz="2400" b="1" dirty="0"/>
              <a:t>Find a minimal cover G for </a:t>
            </a:r>
            <a:r>
              <a:rPr lang="en-IN" sz="2800" b="1" dirty="0"/>
              <a:t>F</a:t>
            </a:r>
            <a:endParaRPr lang="en-US" sz="3200" b="1" kern="0" dirty="0">
              <a:solidFill>
                <a:srgbClr val="000000"/>
              </a:solidFill>
            </a:endParaRPr>
          </a:p>
        </p:txBody>
      </p:sp>
      <p:sp>
        <p:nvSpPr>
          <p:cNvPr id="3" name="TextBox 2"/>
          <p:cNvSpPr txBox="1"/>
          <p:nvPr/>
        </p:nvSpPr>
        <p:spPr>
          <a:xfrm>
            <a:off x="304800" y="152400"/>
            <a:ext cx="84582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Minimal Sets of Functional Dependencies</a:t>
            </a:r>
          </a:p>
        </p:txBody>
      </p:sp>
    </p:spTree>
  </p:cSld>
  <p:clrMapOvr>
    <a:masterClrMapping/>
  </p:clrMapOvr>
  <p:transition>
    <p:cu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219200"/>
            <a:ext cx="8686800" cy="3908762"/>
          </a:xfrm>
          <a:prstGeom prst="rect">
            <a:avLst/>
          </a:prstGeom>
          <a:noFill/>
          <a:ln w="22225">
            <a:solidFill>
              <a:schemeClr val="accent1"/>
            </a:solidFill>
          </a:ln>
        </p:spPr>
        <p:txBody>
          <a:bodyPr wrap="square" rtlCol="0">
            <a:spAutoFit/>
          </a:bodyPr>
          <a:lstStyle/>
          <a:p>
            <a:pPr algn="just">
              <a:lnSpc>
                <a:spcPct val="200000"/>
              </a:lnSpc>
            </a:pPr>
            <a:r>
              <a:rPr lang="en-US" sz="2800" b="1" kern="0" dirty="0">
                <a:solidFill>
                  <a:srgbClr val="000000"/>
                </a:solidFill>
              </a:rPr>
              <a:t>Problem :</a:t>
            </a:r>
          </a:p>
          <a:p>
            <a:pPr algn="just">
              <a:lnSpc>
                <a:spcPct val="200000"/>
              </a:lnSpc>
            </a:pPr>
            <a:r>
              <a:rPr lang="en-US" sz="2800" b="1" kern="0" dirty="0">
                <a:solidFill>
                  <a:srgbClr val="000000"/>
                </a:solidFill>
              </a:rPr>
              <a:t> </a:t>
            </a:r>
            <a:r>
              <a:rPr lang="en-IN" sz="2000" b="1" dirty="0"/>
              <a:t>Consider the universal relation R = {A, B, C, D, E, F, G, H} and the set of functional dependencies </a:t>
            </a:r>
          </a:p>
          <a:p>
            <a:pPr algn="just">
              <a:lnSpc>
                <a:spcPct val="200000"/>
              </a:lnSpc>
            </a:pPr>
            <a:r>
              <a:rPr lang="en-IN" sz="2000" b="1" i="1" dirty="0"/>
              <a:t> F =  {A </a:t>
            </a:r>
            <a:r>
              <a:rPr lang="en-IN" sz="2000" b="1" i="1" dirty="0">
                <a:sym typeface="Wingdings" pitchFamily="2" charset="2"/>
              </a:rPr>
              <a:t></a:t>
            </a:r>
            <a:r>
              <a:rPr lang="en-IN" sz="2000" b="1" i="1" dirty="0"/>
              <a:t> B, ABCD </a:t>
            </a:r>
            <a:r>
              <a:rPr lang="en-IN" sz="2000" b="1" i="1" dirty="0">
                <a:sym typeface="Wingdings" pitchFamily="2" charset="2"/>
              </a:rPr>
              <a:t></a:t>
            </a:r>
            <a:r>
              <a:rPr lang="en-IN" sz="2000" b="1" i="1" dirty="0"/>
              <a:t> E, EF </a:t>
            </a:r>
            <a:r>
              <a:rPr lang="en-IN" sz="2000" b="1" i="1" dirty="0">
                <a:sym typeface="Wingdings" pitchFamily="2" charset="2"/>
              </a:rPr>
              <a:t></a:t>
            </a:r>
            <a:r>
              <a:rPr lang="en-IN" sz="2000" b="1" i="1" dirty="0"/>
              <a:t> G, EF </a:t>
            </a:r>
            <a:r>
              <a:rPr lang="en-IN" sz="2000" b="1" i="1" dirty="0">
                <a:sym typeface="Wingdings" pitchFamily="2" charset="2"/>
              </a:rPr>
              <a:t></a:t>
            </a:r>
            <a:r>
              <a:rPr lang="en-IN" sz="2000" b="1" i="1" dirty="0"/>
              <a:t> H, ACDF </a:t>
            </a:r>
            <a:r>
              <a:rPr lang="en-IN" sz="2000" b="1" i="1" dirty="0">
                <a:sym typeface="Wingdings" pitchFamily="2" charset="2"/>
              </a:rPr>
              <a:t></a:t>
            </a:r>
            <a:r>
              <a:rPr lang="en-IN" sz="2000" b="1" i="1" dirty="0"/>
              <a:t> EG.}</a:t>
            </a:r>
          </a:p>
          <a:p>
            <a:pPr algn="just">
              <a:lnSpc>
                <a:spcPct val="200000"/>
              </a:lnSpc>
            </a:pPr>
            <a:r>
              <a:rPr lang="en-IN" sz="2000" dirty="0"/>
              <a:t>    </a:t>
            </a:r>
            <a:r>
              <a:rPr lang="en-IN" sz="2400" b="1" dirty="0"/>
              <a:t>Find a minimal cover G for </a:t>
            </a:r>
            <a:r>
              <a:rPr lang="en-IN" sz="2800" b="1" dirty="0"/>
              <a:t>F</a:t>
            </a:r>
            <a:endParaRPr lang="en-US" sz="3200" b="1" kern="0" dirty="0">
              <a:solidFill>
                <a:srgbClr val="000000"/>
              </a:solidFill>
            </a:endParaRPr>
          </a:p>
        </p:txBody>
      </p:sp>
      <p:sp>
        <p:nvSpPr>
          <p:cNvPr id="3" name="TextBox 2"/>
          <p:cNvSpPr txBox="1"/>
          <p:nvPr/>
        </p:nvSpPr>
        <p:spPr>
          <a:xfrm>
            <a:off x="304800" y="152400"/>
            <a:ext cx="84582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Minimal Sets of Functional Dependencies</a:t>
            </a:r>
          </a:p>
        </p:txBody>
      </p:sp>
    </p:spTree>
  </p:cSld>
  <p:clrMapOvr>
    <a:masterClrMapping/>
  </p:clrMapOvr>
  <p:transition>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447800"/>
            <a:ext cx="8686800" cy="3539430"/>
          </a:xfrm>
          <a:prstGeom prst="rect">
            <a:avLst/>
          </a:prstGeom>
          <a:noFill/>
          <a:ln w="22225">
            <a:solidFill>
              <a:schemeClr val="accent1"/>
            </a:solidFill>
          </a:ln>
        </p:spPr>
        <p:txBody>
          <a:bodyPr wrap="square" rtlCol="0">
            <a:spAutoFit/>
          </a:bodyPr>
          <a:lstStyle/>
          <a:p>
            <a:pPr algn="just">
              <a:lnSpc>
                <a:spcPct val="200000"/>
              </a:lnSpc>
            </a:pPr>
            <a:r>
              <a:rPr lang="en-US" sz="2800" b="1" kern="0" dirty="0">
                <a:solidFill>
                  <a:srgbClr val="000000"/>
                </a:solidFill>
              </a:rPr>
              <a:t>Problem :</a:t>
            </a:r>
          </a:p>
          <a:p>
            <a:pPr algn="just">
              <a:lnSpc>
                <a:spcPct val="150000"/>
              </a:lnSpc>
            </a:pPr>
            <a:r>
              <a:rPr lang="en-US" sz="2800" b="1" kern="0" dirty="0">
                <a:solidFill>
                  <a:srgbClr val="000000"/>
                </a:solidFill>
              </a:rPr>
              <a:t> </a:t>
            </a:r>
            <a:r>
              <a:rPr lang="en-IN" sz="2000" b="1" dirty="0"/>
              <a:t>Consider the universal relation R = {A, B, C, D, E, F, G, H} and the set of functional dependencies </a:t>
            </a:r>
          </a:p>
          <a:p>
            <a:pPr algn="just">
              <a:lnSpc>
                <a:spcPct val="150000"/>
              </a:lnSpc>
            </a:pPr>
            <a:r>
              <a:rPr lang="en-IN" sz="2000" dirty="0"/>
              <a:t>F = { AB -&gt; C, C -&gt; A, BC -&gt; D, ACD -&gt; B, D -&gt; E, D -&gt; G, BE -&gt; C, CG -&gt; B  ,</a:t>
            </a:r>
            <a:r>
              <a:rPr lang="fr-FR" sz="2000" dirty="0"/>
              <a:t>CG -&gt; D, CE -&gt; A, CE -&gt; G}</a:t>
            </a:r>
            <a:r>
              <a:rPr lang="en-IN" sz="2000" dirty="0"/>
              <a:t>    </a:t>
            </a:r>
          </a:p>
          <a:p>
            <a:pPr>
              <a:lnSpc>
                <a:spcPct val="150000"/>
              </a:lnSpc>
            </a:pPr>
            <a:r>
              <a:rPr lang="en-IN" sz="2000" b="1" dirty="0"/>
              <a:t>Find a minimal cover G for </a:t>
            </a:r>
            <a:r>
              <a:rPr lang="en-IN" sz="2400" b="1" dirty="0"/>
              <a:t>F</a:t>
            </a:r>
            <a:endParaRPr lang="en-US" sz="2800" b="1" kern="0" dirty="0">
              <a:solidFill>
                <a:srgbClr val="000000"/>
              </a:solidFill>
            </a:endParaRPr>
          </a:p>
        </p:txBody>
      </p:sp>
      <p:sp>
        <p:nvSpPr>
          <p:cNvPr id="3" name="TextBox 2"/>
          <p:cNvSpPr txBox="1"/>
          <p:nvPr/>
        </p:nvSpPr>
        <p:spPr>
          <a:xfrm>
            <a:off x="304800" y="152400"/>
            <a:ext cx="84582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Minimal Sets of Functional Dependencies</a:t>
            </a:r>
          </a:p>
        </p:txBody>
      </p:sp>
    </p:spTree>
  </p:cSld>
  <p:clrMapOvr>
    <a:masterClrMapping/>
  </p:clrMapOvr>
  <p:transition>
    <p:cu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447800"/>
            <a:ext cx="8686800" cy="3262432"/>
          </a:xfrm>
          <a:prstGeom prst="rect">
            <a:avLst/>
          </a:prstGeom>
          <a:noFill/>
          <a:ln w="22225">
            <a:solidFill>
              <a:schemeClr val="accent1"/>
            </a:solidFill>
          </a:ln>
        </p:spPr>
        <p:txBody>
          <a:bodyPr wrap="square" rtlCol="0">
            <a:spAutoFit/>
          </a:bodyPr>
          <a:lstStyle/>
          <a:p>
            <a:pPr algn="just">
              <a:lnSpc>
                <a:spcPct val="200000"/>
              </a:lnSpc>
            </a:pPr>
            <a:r>
              <a:rPr lang="en-US" sz="2800" b="1" kern="0" dirty="0">
                <a:solidFill>
                  <a:srgbClr val="000000"/>
                </a:solidFill>
              </a:rPr>
              <a:t>Problem :</a:t>
            </a:r>
          </a:p>
          <a:p>
            <a:pPr algn="just">
              <a:lnSpc>
                <a:spcPct val="150000"/>
              </a:lnSpc>
            </a:pPr>
            <a:r>
              <a:rPr lang="en-IN" sz="2000" b="1" dirty="0"/>
              <a:t>Consider the universal relation R = {A, B, C, D, E, F, G} and the set of functional dependencies </a:t>
            </a:r>
          </a:p>
          <a:p>
            <a:pPr algn="just">
              <a:lnSpc>
                <a:spcPct val="150000"/>
              </a:lnSpc>
            </a:pPr>
            <a:r>
              <a:rPr lang="en-IN" sz="2000" dirty="0"/>
              <a:t>G = {A</a:t>
            </a:r>
            <a:r>
              <a:rPr lang="en-IN" sz="2000" dirty="0">
                <a:sym typeface="Wingdings" pitchFamily="2" charset="2"/>
              </a:rPr>
              <a:t>BCDE, EFG}  </a:t>
            </a:r>
            <a:r>
              <a:rPr lang="en-IN" sz="2000" dirty="0"/>
              <a:t>    </a:t>
            </a:r>
          </a:p>
          <a:p>
            <a:pPr>
              <a:lnSpc>
                <a:spcPct val="150000"/>
              </a:lnSpc>
            </a:pPr>
            <a:r>
              <a:rPr lang="en-IN" sz="2000" b="1" dirty="0"/>
              <a:t>find a minimal set of functional dependencies that is equivalent to G. Prove that  your set is equivalent to G.</a:t>
            </a:r>
            <a:endParaRPr lang="en-US" sz="2800" b="1" kern="0" dirty="0">
              <a:solidFill>
                <a:srgbClr val="000000"/>
              </a:solidFill>
            </a:endParaRPr>
          </a:p>
        </p:txBody>
      </p:sp>
      <p:sp>
        <p:nvSpPr>
          <p:cNvPr id="3" name="TextBox 2"/>
          <p:cNvSpPr txBox="1"/>
          <p:nvPr/>
        </p:nvSpPr>
        <p:spPr>
          <a:xfrm>
            <a:off x="304800" y="152400"/>
            <a:ext cx="84582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Minimal Sets of Functional Dependencies</a:t>
            </a:r>
          </a:p>
        </p:txBody>
      </p:sp>
    </p:spTree>
  </p:cSld>
  <p:clrMapOvr>
    <a:masterClrMapping/>
  </p:clrMapOvr>
  <p:transition>
    <p:cu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1000" y="2286000"/>
            <a:ext cx="8305800" cy="2674065"/>
          </a:xfrm>
          <a:prstGeom prst="rect">
            <a:avLst/>
          </a:prstGeom>
          <a:noFill/>
        </p:spPr>
        <p:txBody>
          <a:bodyPr wrap="square" rtlCol="0">
            <a:spAutoFit/>
          </a:bodyPr>
          <a:lstStyle/>
          <a:p>
            <a:pPr algn="ctr">
              <a:lnSpc>
                <a:spcPct val="150000"/>
              </a:lnSpc>
            </a:pPr>
            <a:r>
              <a:rPr lang="en-US" sz="6000" b="1" dirty="0">
                <a:latin typeface="Tahoma" pitchFamily="34" charset="0"/>
                <a:ea typeface="Tahoma" pitchFamily="34" charset="0"/>
                <a:cs typeface="Tahoma" pitchFamily="34" charset="0"/>
              </a:rPr>
              <a:t>Normal Forms Based on Primary Keys</a:t>
            </a:r>
          </a:p>
        </p:txBody>
      </p:sp>
      <p:sp>
        <p:nvSpPr>
          <p:cNvPr id="4" name="TextBox 3"/>
          <p:cNvSpPr txBox="1"/>
          <p:nvPr/>
        </p:nvSpPr>
        <p:spPr>
          <a:xfrm>
            <a:off x="152400" y="990600"/>
            <a:ext cx="8763000" cy="411459"/>
          </a:xfrm>
          <a:prstGeom prst="rect">
            <a:avLst/>
          </a:prstGeom>
          <a:noFill/>
          <a:ln w="22225">
            <a:noFill/>
          </a:ln>
        </p:spPr>
        <p:txBody>
          <a:bodyPr wrap="square" rtlCol="0">
            <a:spAutoFit/>
          </a:bodyPr>
          <a:lstStyle/>
          <a:p>
            <a:pPr algn="just">
              <a:lnSpc>
                <a:spcPct val="150000"/>
              </a:lnSpc>
              <a:buFont typeface="Arial" pitchFamily="34" charset="0"/>
              <a:buChar char="•"/>
            </a:pPr>
            <a:r>
              <a:rPr lang="en-US" sz="1600" dirty="0">
                <a:solidFill>
                  <a:srgbClr val="002060"/>
                </a:solidFill>
                <a:latin typeface="Tahoma" pitchFamily="34" charset="0"/>
                <a:ea typeface="Tahoma" pitchFamily="34" charset="0"/>
                <a:cs typeface="Tahoma" pitchFamily="34" charset="0"/>
              </a:rPr>
              <a:t>.</a:t>
            </a:r>
          </a:p>
        </p:txBody>
      </p:sp>
    </p:spTree>
  </p:cSld>
  <p:clrMapOvr>
    <a:masterClrMapping/>
  </p:clrMapOvr>
  <p:transition>
    <p:cu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52400"/>
            <a:ext cx="8458200" cy="584775"/>
          </a:xfrm>
          <a:prstGeom prst="rect">
            <a:avLst/>
          </a:prstGeom>
          <a:noFill/>
        </p:spPr>
        <p:txBody>
          <a:bodyPr wrap="square" rtlCol="0">
            <a:spAutoFit/>
          </a:bodyPr>
          <a:lstStyle/>
          <a:p>
            <a:r>
              <a:rPr lang="en-US" sz="3200" b="1" dirty="0">
                <a:solidFill>
                  <a:srgbClr val="002060"/>
                </a:solidFill>
                <a:latin typeface="Tahoma" pitchFamily="34" charset="0"/>
                <a:ea typeface="Tahoma" pitchFamily="34" charset="0"/>
                <a:cs typeface="Tahoma" pitchFamily="34" charset="0"/>
              </a:rPr>
              <a:t>What is Normalization?</a:t>
            </a:r>
          </a:p>
        </p:txBody>
      </p:sp>
      <p:sp>
        <p:nvSpPr>
          <p:cNvPr id="4" name="TextBox 3"/>
          <p:cNvSpPr txBox="1"/>
          <p:nvPr/>
        </p:nvSpPr>
        <p:spPr>
          <a:xfrm>
            <a:off x="304800" y="990600"/>
            <a:ext cx="8458200" cy="5666167"/>
          </a:xfrm>
          <a:prstGeom prst="rect">
            <a:avLst/>
          </a:prstGeom>
          <a:noFill/>
          <a:ln w="22225">
            <a:noFill/>
          </a:ln>
        </p:spPr>
        <p:txBody>
          <a:bodyPr wrap="square" rtlCol="0">
            <a:spAutoFit/>
          </a:bodyPr>
          <a:lstStyle/>
          <a:p>
            <a:pPr marL="342900" indent="-342900" algn="just">
              <a:lnSpc>
                <a:spcPct val="200000"/>
              </a:lnSpc>
              <a:buFont typeface="Arial" pitchFamily="34" charset="0"/>
              <a:buChar char="•"/>
            </a:pPr>
            <a:r>
              <a:rPr lang="en-US" b="1" dirty="0">
                <a:latin typeface="Tahoma" pitchFamily="34" charset="0"/>
                <a:ea typeface="Tahoma" pitchFamily="34" charset="0"/>
                <a:cs typeface="Tahoma" pitchFamily="34" charset="0"/>
              </a:rPr>
              <a:t> </a:t>
            </a:r>
            <a:r>
              <a:rPr lang="en-US" b="1" dirty="0">
                <a:solidFill>
                  <a:srgbClr val="002060"/>
                </a:solidFill>
                <a:latin typeface="Tahoma" pitchFamily="34" charset="0"/>
                <a:ea typeface="Tahoma" pitchFamily="34" charset="0"/>
                <a:cs typeface="Tahoma" pitchFamily="34" charset="0"/>
              </a:rPr>
              <a:t>Normalization of data </a:t>
            </a:r>
            <a:r>
              <a:rPr lang="en-US" dirty="0">
                <a:solidFill>
                  <a:srgbClr val="002060"/>
                </a:solidFill>
                <a:latin typeface="Tahoma" pitchFamily="34" charset="0"/>
                <a:ea typeface="Tahoma" pitchFamily="34" charset="0"/>
                <a:cs typeface="Tahoma" pitchFamily="34" charset="0"/>
              </a:rPr>
              <a:t>is a process of analyzing the given relation schemas based on their FDs and primary keys to achieve the following  desirable properties:</a:t>
            </a:r>
          </a:p>
          <a:p>
            <a:pPr marL="1371600" lvl="2" indent="-457200" algn="just" fontAlgn="base">
              <a:lnSpc>
                <a:spcPct val="150000"/>
              </a:lnSpc>
              <a:spcBef>
                <a:spcPct val="20000"/>
              </a:spcBef>
              <a:spcAft>
                <a:spcPct val="0"/>
              </a:spcAft>
              <a:buFont typeface="+mj-lt"/>
              <a:buAutoNum type="arabicPeriod"/>
            </a:pPr>
            <a:r>
              <a:rPr lang="en-US" sz="2000" b="1" kern="0" dirty="0">
                <a:solidFill>
                  <a:srgbClr val="000000"/>
                </a:solidFill>
                <a:latin typeface="Tahoma" pitchFamily="34" charset="0"/>
                <a:ea typeface="Tahoma" pitchFamily="34" charset="0"/>
                <a:cs typeface="Tahoma" pitchFamily="34" charset="0"/>
              </a:rPr>
              <a:t>minimizing redundancy </a:t>
            </a:r>
          </a:p>
          <a:p>
            <a:pPr marL="1371600" lvl="2" indent="-457200" algn="just" fontAlgn="base">
              <a:lnSpc>
                <a:spcPct val="150000"/>
              </a:lnSpc>
              <a:spcBef>
                <a:spcPct val="20000"/>
              </a:spcBef>
              <a:spcAft>
                <a:spcPct val="0"/>
              </a:spcAft>
              <a:buFont typeface="+mj-lt"/>
              <a:buAutoNum type="arabicPeriod"/>
            </a:pPr>
            <a:r>
              <a:rPr lang="en-US" sz="2000" b="1" kern="0" dirty="0">
                <a:solidFill>
                  <a:srgbClr val="000000"/>
                </a:solidFill>
                <a:latin typeface="Tahoma" pitchFamily="34" charset="0"/>
                <a:ea typeface="Tahoma" pitchFamily="34" charset="0"/>
                <a:cs typeface="Tahoma" pitchFamily="34" charset="0"/>
              </a:rPr>
              <a:t>minimizing the insertion, deletion, and update anomalies</a:t>
            </a:r>
          </a:p>
          <a:p>
            <a:pPr marL="1371600" lvl="2" indent="-457200" algn="just" fontAlgn="base">
              <a:lnSpc>
                <a:spcPct val="150000"/>
              </a:lnSpc>
              <a:spcBef>
                <a:spcPct val="20000"/>
              </a:spcBef>
              <a:spcAft>
                <a:spcPct val="0"/>
              </a:spcAft>
            </a:pPr>
            <a:endParaRPr lang="en-US" sz="2000" b="1" kern="0" dirty="0">
              <a:solidFill>
                <a:srgbClr val="000000"/>
              </a:solidFill>
              <a:latin typeface="Tahoma" pitchFamily="34" charset="0"/>
              <a:ea typeface="Tahoma" pitchFamily="34" charset="0"/>
              <a:cs typeface="Tahoma" pitchFamily="34" charset="0"/>
            </a:endParaRPr>
          </a:p>
          <a:p>
            <a:pPr marL="457200" indent="-457200" algn="just" fontAlgn="base">
              <a:lnSpc>
                <a:spcPct val="200000"/>
              </a:lnSpc>
              <a:spcBef>
                <a:spcPct val="20000"/>
              </a:spcBef>
              <a:spcAft>
                <a:spcPct val="0"/>
              </a:spcAft>
              <a:buFont typeface="Arial" pitchFamily="34" charset="0"/>
              <a:buChar char="•"/>
            </a:pPr>
            <a:r>
              <a:rPr lang="en-US" dirty="0">
                <a:latin typeface="Tahoma" pitchFamily="34" charset="0"/>
                <a:ea typeface="Tahoma" pitchFamily="34" charset="0"/>
                <a:cs typeface="Tahoma" pitchFamily="34" charset="0"/>
              </a:rPr>
              <a:t>Relation schemas that do not meet the properties  are decomposed into smaller relation schemas that meet desirable properties.</a:t>
            </a:r>
          </a:p>
          <a:p>
            <a:pPr marL="457200" indent="-457200" algn="just" fontAlgn="base">
              <a:lnSpc>
                <a:spcPct val="150000"/>
              </a:lnSpc>
              <a:spcBef>
                <a:spcPct val="20000"/>
              </a:spcBef>
              <a:spcAft>
                <a:spcPct val="0"/>
              </a:spcAft>
            </a:pPr>
            <a:endParaRPr lang="en-US" dirty="0">
              <a:latin typeface="Tahoma" pitchFamily="34" charset="0"/>
              <a:ea typeface="Tahoma" pitchFamily="34" charset="0"/>
              <a:cs typeface="Tahoma" pitchFamily="34" charset="0"/>
            </a:endParaRPr>
          </a:p>
          <a:p>
            <a:endParaRPr lang="en-US" sz="1600"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52400"/>
            <a:ext cx="8458200" cy="584775"/>
          </a:xfrm>
          <a:prstGeom prst="rect">
            <a:avLst/>
          </a:prstGeom>
          <a:noFill/>
        </p:spPr>
        <p:txBody>
          <a:bodyPr wrap="square" rtlCol="0">
            <a:spAutoFit/>
          </a:bodyPr>
          <a:lstStyle/>
          <a:p>
            <a:r>
              <a:rPr lang="en-US" sz="3200" b="1" dirty="0">
                <a:solidFill>
                  <a:srgbClr val="002060"/>
                </a:solidFill>
                <a:latin typeface="Tahoma" pitchFamily="34" charset="0"/>
                <a:ea typeface="Tahoma" pitchFamily="34" charset="0"/>
                <a:cs typeface="Tahoma" pitchFamily="34" charset="0"/>
              </a:rPr>
              <a:t>What is Normalization?</a:t>
            </a:r>
          </a:p>
        </p:txBody>
      </p:sp>
      <p:sp>
        <p:nvSpPr>
          <p:cNvPr id="4" name="TextBox 3"/>
          <p:cNvSpPr txBox="1"/>
          <p:nvPr/>
        </p:nvSpPr>
        <p:spPr>
          <a:xfrm>
            <a:off x="152400" y="990600"/>
            <a:ext cx="8763000" cy="4755148"/>
          </a:xfrm>
          <a:prstGeom prst="rect">
            <a:avLst/>
          </a:prstGeom>
          <a:noFill/>
          <a:ln w="22225">
            <a:noFill/>
          </a:ln>
        </p:spPr>
        <p:txBody>
          <a:bodyPr wrap="square" rtlCol="0">
            <a:spAutoFit/>
          </a:bodyPr>
          <a:lstStyle/>
          <a:p>
            <a:pPr algn="just">
              <a:lnSpc>
                <a:spcPct val="150000"/>
              </a:lnSpc>
              <a:buFont typeface="Arial" pitchFamily="34" charset="0"/>
              <a:buChar char="•"/>
            </a:pPr>
            <a:endParaRPr lang="en-US" dirty="0">
              <a:latin typeface="Tahoma" pitchFamily="34" charset="0"/>
              <a:ea typeface="Tahoma" pitchFamily="34" charset="0"/>
              <a:cs typeface="Tahoma" pitchFamily="34" charset="0"/>
            </a:endParaRPr>
          </a:p>
          <a:p>
            <a:pPr marL="342900" indent="-342900" algn="just">
              <a:lnSpc>
                <a:spcPct val="150000"/>
              </a:lnSpc>
              <a:buFont typeface="Arial" pitchFamily="34" charset="0"/>
              <a:buChar char="•"/>
            </a:pPr>
            <a:r>
              <a:rPr lang="en-US" sz="2000" b="1" dirty="0">
                <a:latin typeface="Tahoma" pitchFamily="34" charset="0"/>
                <a:ea typeface="Tahoma" pitchFamily="34" charset="0"/>
                <a:cs typeface="Tahoma" pitchFamily="34" charset="0"/>
              </a:rPr>
              <a:t>Thus, the normalization procedure provides database designers with the following:</a:t>
            </a:r>
          </a:p>
          <a:p>
            <a:pPr>
              <a:buFont typeface="Arial" pitchFamily="34" charset="0"/>
              <a:buChar char="•"/>
            </a:pPr>
            <a:endParaRPr lang="en-US" sz="1600" b="1" dirty="0">
              <a:latin typeface="Tahoma" pitchFamily="34" charset="0"/>
              <a:ea typeface="Tahoma" pitchFamily="34" charset="0"/>
              <a:cs typeface="Tahoma" pitchFamily="34" charset="0"/>
            </a:endParaRPr>
          </a:p>
          <a:p>
            <a:pPr marL="800100" lvl="1" indent="-342900" algn="just">
              <a:lnSpc>
                <a:spcPct val="200000"/>
              </a:lnSpc>
              <a:buFont typeface="+mj-lt"/>
              <a:buAutoNum type="arabicPeriod"/>
            </a:pPr>
            <a:r>
              <a:rPr lang="en-US" sz="2000" dirty="0">
                <a:latin typeface="Tahoma" pitchFamily="34" charset="0"/>
                <a:ea typeface="Tahoma" pitchFamily="34" charset="0"/>
                <a:cs typeface="Tahoma" pitchFamily="34" charset="0"/>
              </a:rPr>
              <a:t> </a:t>
            </a:r>
            <a:r>
              <a:rPr lang="en-US" sz="2000" dirty="0">
                <a:solidFill>
                  <a:srgbClr val="002060"/>
                </a:solidFill>
                <a:latin typeface="Tahoma" pitchFamily="34" charset="0"/>
                <a:ea typeface="Tahoma" pitchFamily="34" charset="0"/>
                <a:cs typeface="Tahoma" pitchFamily="34" charset="0"/>
              </a:rPr>
              <a:t>A formal framework for analyzing relation schemas based on their keys and on the functional dependencies among their attributes</a:t>
            </a:r>
          </a:p>
          <a:p>
            <a:pPr marL="800100" lvl="1" indent="-342900" algn="just">
              <a:lnSpc>
                <a:spcPct val="200000"/>
              </a:lnSpc>
              <a:buFont typeface="+mj-lt"/>
              <a:buAutoNum type="arabicPeriod"/>
            </a:pPr>
            <a:r>
              <a:rPr lang="en-US" sz="2000" dirty="0">
                <a:solidFill>
                  <a:srgbClr val="002060"/>
                </a:solidFill>
                <a:latin typeface="Tahoma" pitchFamily="34" charset="0"/>
                <a:ea typeface="Tahoma" pitchFamily="34" charset="0"/>
                <a:cs typeface="Tahoma" pitchFamily="34" charset="0"/>
              </a:rPr>
              <a:t>A series of normal form tests that can be carried out on individual relation schemas so that the relational database can be normalized to any desired degree.</a:t>
            </a:r>
          </a:p>
        </p:txBody>
      </p:sp>
    </p:spTree>
  </p:cSld>
  <p:clrMapOvr>
    <a:masterClrMapping/>
  </p:clrMapOvr>
  <p:transition>
    <p:cu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90600"/>
            <a:ext cx="8763000" cy="4918269"/>
          </a:xfrm>
          <a:prstGeom prst="rect">
            <a:avLst/>
          </a:prstGeom>
          <a:noFill/>
          <a:ln w="22225">
            <a:noFill/>
          </a:ln>
        </p:spPr>
        <p:txBody>
          <a:bodyPr wrap="square" rtlCol="0">
            <a:spAutoFit/>
          </a:bodyPr>
          <a:lstStyle/>
          <a:p>
            <a:pPr marL="342900" indent="-342900" algn="just">
              <a:lnSpc>
                <a:spcPct val="200000"/>
              </a:lnSpc>
              <a:buFont typeface="Arial" pitchFamily="34" charset="0"/>
              <a:buChar char="•"/>
            </a:pPr>
            <a:r>
              <a:rPr lang="en-US" b="1" dirty="0">
                <a:solidFill>
                  <a:srgbClr val="000000"/>
                </a:solidFill>
                <a:latin typeface="Tahoma" pitchFamily="34" charset="0"/>
                <a:ea typeface="Tahoma" pitchFamily="34" charset="0"/>
                <a:cs typeface="Tahoma" pitchFamily="34" charset="0"/>
              </a:rPr>
              <a:t>The highest normal form may not guarantee a good database design.  Relational schemas  should also possess  the following two properties:</a:t>
            </a:r>
          </a:p>
          <a:p>
            <a:pPr marL="342900" indent="-342900" algn="just">
              <a:lnSpc>
                <a:spcPct val="200000"/>
              </a:lnSpc>
              <a:buFont typeface="Arial" pitchFamily="34" charset="0"/>
              <a:buChar char="•"/>
            </a:pPr>
            <a:endParaRPr lang="en-US" sz="1600" b="1" dirty="0">
              <a:solidFill>
                <a:srgbClr val="000000"/>
              </a:solidFill>
              <a:latin typeface="Tahoma" pitchFamily="34" charset="0"/>
              <a:ea typeface="Tahoma" pitchFamily="34" charset="0"/>
              <a:cs typeface="Tahoma" pitchFamily="34" charset="0"/>
            </a:endParaRPr>
          </a:p>
          <a:p>
            <a:pPr marL="800100" lvl="1" indent="-342900" algn="just" fontAlgn="base">
              <a:lnSpc>
                <a:spcPct val="150000"/>
              </a:lnSpc>
              <a:spcBef>
                <a:spcPct val="20000"/>
              </a:spcBef>
              <a:spcAft>
                <a:spcPct val="0"/>
              </a:spcAft>
              <a:buFont typeface="+mj-lt"/>
              <a:buAutoNum type="arabicPeriod"/>
            </a:pPr>
            <a:r>
              <a:rPr lang="en-US" sz="2400" b="1" kern="0" dirty="0">
                <a:solidFill>
                  <a:srgbClr val="C00000"/>
                </a:solidFill>
                <a:latin typeface="Calibri" pitchFamily="34" charset="0"/>
                <a:ea typeface="Tahoma" pitchFamily="34" charset="0"/>
                <a:cs typeface="Tahoma" pitchFamily="34" charset="0"/>
              </a:rPr>
              <a:t>The lossless join or nonadditive join property</a:t>
            </a:r>
          </a:p>
          <a:p>
            <a:pPr marL="1257300" lvl="2" indent="-342900" algn="just" fontAlgn="base">
              <a:lnSpc>
                <a:spcPct val="150000"/>
              </a:lnSpc>
              <a:spcBef>
                <a:spcPct val="20000"/>
              </a:spcBef>
              <a:spcAft>
                <a:spcPct val="0"/>
              </a:spcAft>
            </a:pPr>
            <a:r>
              <a:rPr lang="en-US" sz="2000" b="1" kern="0" dirty="0">
                <a:solidFill>
                  <a:srgbClr val="000000"/>
                </a:solidFill>
                <a:latin typeface="Calibri" pitchFamily="34" charset="0"/>
                <a:ea typeface="Tahoma" pitchFamily="34" charset="0"/>
                <a:cs typeface="Tahoma" pitchFamily="34" charset="0"/>
                <a:sym typeface="Wingdings" pitchFamily="2" charset="2"/>
              </a:rPr>
              <a:t> </a:t>
            </a:r>
            <a:r>
              <a:rPr lang="en-US" sz="2000" kern="0" dirty="0">
                <a:solidFill>
                  <a:srgbClr val="000000"/>
                </a:solidFill>
                <a:latin typeface="Calibri" pitchFamily="34" charset="0"/>
                <a:ea typeface="Tahoma" pitchFamily="34" charset="0"/>
                <a:cs typeface="Tahoma" pitchFamily="34" charset="0"/>
              </a:rPr>
              <a:t>guarantees that the  no spurious tuple generation occurs  after decomposition</a:t>
            </a:r>
          </a:p>
          <a:p>
            <a:pPr marL="800100" lvl="1" indent="-342900" algn="just" fontAlgn="base">
              <a:lnSpc>
                <a:spcPct val="150000"/>
              </a:lnSpc>
              <a:spcBef>
                <a:spcPct val="20000"/>
              </a:spcBef>
              <a:spcAft>
                <a:spcPct val="0"/>
              </a:spcAft>
              <a:buFont typeface="+mj-lt"/>
              <a:buAutoNum type="arabicPeriod"/>
            </a:pPr>
            <a:r>
              <a:rPr lang="en-US" sz="2400" b="1" kern="0" dirty="0">
                <a:solidFill>
                  <a:srgbClr val="C00000"/>
                </a:solidFill>
                <a:latin typeface="Calibri" pitchFamily="34" charset="0"/>
                <a:ea typeface="Tahoma" pitchFamily="34" charset="0"/>
                <a:cs typeface="Tahoma" pitchFamily="34" charset="0"/>
              </a:rPr>
              <a:t>The dependency preservation property</a:t>
            </a:r>
          </a:p>
          <a:p>
            <a:pPr marL="1257300" lvl="2" indent="-342900" algn="just" fontAlgn="base">
              <a:lnSpc>
                <a:spcPct val="150000"/>
              </a:lnSpc>
              <a:spcBef>
                <a:spcPct val="20000"/>
              </a:spcBef>
              <a:spcAft>
                <a:spcPct val="0"/>
              </a:spcAft>
            </a:pPr>
            <a:r>
              <a:rPr lang="en-US" b="1" kern="0" dirty="0">
                <a:latin typeface="Calibri" pitchFamily="34" charset="0"/>
                <a:ea typeface="Tahoma" pitchFamily="34" charset="0"/>
                <a:cs typeface="Tahoma" pitchFamily="34" charset="0"/>
                <a:sym typeface="Wingdings" pitchFamily="2" charset="2"/>
              </a:rPr>
              <a:t> </a:t>
            </a:r>
            <a:r>
              <a:rPr lang="en-US" sz="2000" kern="0" dirty="0">
                <a:solidFill>
                  <a:srgbClr val="000000"/>
                </a:solidFill>
                <a:latin typeface="Calibri" pitchFamily="34" charset="0"/>
                <a:ea typeface="Tahoma" pitchFamily="34" charset="0"/>
                <a:cs typeface="Tahoma" pitchFamily="34" charset="0"/>
              </a:rPr>
              <a:t>ensures that each functional dependency is represented in some individual relations resulting after decomposition</a:t>
            </a:r>
            <a:endParaRPr lang="en-US" sz="1600" dirty="0">
              <a:solidFill>
                <a:srgbClr val="0070C0"/>
              </a:solidFill>
              <a:latin typeface="Calibri" pitchFamily="34" charset="0"/>
              <a:ea typeface="Tahoma" pitchFamily="34" charset="0"/>
              <a:cs typeface="Tahoma" pitchFamily="34" charset="0"/>
            </a:endParaRPr>
          </a:p>
        </p:txBody>
      </p:sp>
      <p:sp>
        <p:nvSpPr>
          <p:cNvPr id="5" name="TextBox 4"/>
          <p:cNvSpPr txBox="1"/>
          <p:nvPr/>
        </p:nvSpPr>
        <p:spPr>
          <a:xfrm>
            <a:off x="152400" y="152400"/>
            <a:ext cx="5943600" cy="584775"/>
          </a:xfrm>
          <a:prstGeom prst="rect">
            <a:avLst/>
          </a:prstGeom>
          <a:noFill/>
        </p:spPr>
        <p:txBody>
          <a:bodyPr wrap="square" rtlCol="0">
            <a:spAutoFit/>
          </a:bodyPr>
          <a:lstStyle/>
          <a:p>
            <a:r>
              <a:rPr lang="en-US" sz="3200" b="1" dirty="0">
                <a:solidFill>
                  <a:srgbClr val="002060"/>
                </a:solidFill>
                <a:latin typeface="Tahoma" pitchFamily="34" charset="0"/>
                <a:ea typeface="Tahoma" pitchFamily="34" charset="0"/>
                <a:cs typeface="Tahoma" pitchFamily="34" charset="0"/>
              </a:rPr>
              <a:t>What is Normalization?</a:t>
            </a:r>
          </a:p>
        </p:txBody>
      </p:sp>
    </p:spTree>
  </p:cSld>
  <p:clrMapOvr>
    <a:masterClrMapping/>
  </p:clrMapOvr>
  <p:transition>
    <p:cu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52400"/>
            <a:ext cx="85344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Normal Forms Based on Primary Keys</a:t>
            </a:r>
          </a:p>
        </p:txBody>
      </p:sp>
      <p:sp>
        <p:nvSpPr>
          <p:cNvPr id="4" name="TextBox 3"/>
          <p:cNvSpPr txBox="1"/>
          <p:nvPr/>
        </p:nvSpPr>
        <p:spPr>
          <a:xfrm>
            <a:off x="381000" y="1447800"/>
            <a:ext cx="8458200" cy="3985706"/>
          </a:xfrm>
          <a:prstGeom prst="rect">
            <a:avLst/>
          </a:prstGeom>
          <a:noFill/>
          <a:ln w="22225">
            <a:noFill/>
          </a:ln>
        </p:spPr>
        <p:txBody>
          <a:bodyPr wrap="square" rtlCol="0">
            <a:spAutoFit/>
          </a:bodyPr>
          <a:lstStyle/>
          <a:p>
            <a:r>
              <a:rPr lang="en-US" sz="2400" b="1" u="sng" dirty="0">
                <a:latin typeface="Tahoma" pitchFamily="34" charset="0"/>
                <a:ea typeface="Tahoma" pitchFamily="34" charset="0"/>
                <a:cs typeface="Tahoma" pitchFamily="34" charset="0"/>
              </a:rPr>
              <a:t>Definitions :</a:t>
            </a:r>
          </a:p>
          <a:p>
            <a:endParaRPr lang="en-US" sz="2400" b="1" u="sng" dirty="0">
              <a:latin typeface="Tahoma" pitchFamily="34" charset="0"/>
              <a:ea typeface="Tahoma" pitchFamily="34" charset="0"/>
              <a:cs typeface="Tahoma" pitchFamily="34" charset="0"/>
            </a:endParaRPr>
          </a:p>
          <a:p>
            <a:endParaRPr lang="en-US" sz="1600" b="1" dirty="0">
              <a:solidFill>
                <a:srgbClr val="0070C0"/>
              </a:solidFill>
              <a:latin typeface="Tahoma" pitchFamily="34" charset="0"/>
              <a:ea typeface="Tahoma" pitchFamily="34" charset="0"/>
              <a:cs typeface="Tahoma" pitchFamily="34" charset="0"/>
            </a:endParaRPr>
          </a:p>
          <a:p>
            <a:pPr marL="342900" indent="-342900">
              <a:buFont typeface="+mj-lt"/>
              <a:buAutoNum type="arabicPeriod"/>
            </a:pPr>
            <a:r>
              <a:rPr lang="en-US" sz="2400" b="1" dirty="0">
                <a:solidFill>
                  <a:srgbClr val="002060"/>
                </a:solidFill>
                <a:latin typeface="Tahoma" pitchFamily="34" charset="0"/>
                <a:ea typeface="Tahoma" pitchFamily="34" charset="0"/>
                <a:cs typeface="Tahoma" pitchFamily="34" charset="0"/>
              </a:rPr>
              <a:t>Prime Attribute </a:t>
            </a:r>
            <a:r>
              <a:rPr lang="en-US" b="1" dirty="0">
                <a:latin typeface="Tahoma" pitchFamily="34" charset="0"/>
                <a:ea typeface="Tahoma" pitchFamily="34" charset="0"/>
                <a:cs typeface="Tahoma" pitchFamily="34" charset="0"/>
              </a:rPr>
              <a:t>:</a:t>
            </a:r>
            <a:endParaRPr lang="en-US" sz="1600" b="1" dirty="0">
              <a:solidFill>
                <a:srgbClr val="0070C0"/>
              </a:solidFill>
              <a:latin typeface="Tahoma" pitchFamily="34" charset="0"/>
              <a:ea typeface="Tahoma" pitchFamily="34" charset="0"/>
              <a:cs typeface="Tahoma" pitchFamily="34" charset="0"/>
            </a:endParaRPr>
          </a:p>
          <a:p>
            <a:pPr lvl="1" algn="just">
              <a:lnSpc>
                <a:spcPct val="150000"/>
              </a:lnSpc>
            </a:pPr>
            <a:r>
              <a:rPr lang="en-US" dirty="0">
                <a:latin typeface="Tahoma" pitchFamily="34" charset="0"/>
                <a:ea typeface="Tahoma" pitchFamily="34" charset="0"/>
                <a:cs typeface="Tahoma" pitchFamily="34" charset="0"/>
              </a:rPr>
              <a:t>An attribute of relation schema R is called a prime attribute  if it is a member of </a:t>
            </a:r>
            <a:r>
              <a:rPr lang="en-US" i="1" dirty="0">
                <a:latin typeface="Tahoma" pitchFamily="34" charset="0"/>
                <a:ea typeface="Tahoma" pitchFamily="34" charset="0"/>
                <a:cs typeface="Tahoma" pitchFamily="34" charset="0"/>
              </a:rPr>
              <a:t>some candidate key of R.</a:t>
            </a:r>
          </a:p>
          <a:p>
            <a:pPr lvl="1" algn="just">
              <a:lnSpc>
                <a:spcPct val="150000"/>
              </a:lnSpc>
            </a:pPr>
            <a:endParaRPr lang="en-US" i="1" dirty="0">
              <a:latin typeface="Tahoma" pitchFamily="34" charset="0"/>
              <a:ea typeface="Tahoma" pitchFamily="34" charset="0"/>
              <a:cs typeface="Tahoma" pitchFamily="34" charset="0"/>
            </a:endParaRPr>
          </a:p>
          <a:p>
            <a:pPr marL="342900" indent="-342900" algn="just">
              <a:lnSpc>
                <a:spcPct val="150000"/>
              </a:lnSpc>
              <a:buFont typeface="+mj-lt"/>
              <a:buAutoNum type="arabicPeriod"/>
            </a:pPr>
            <a:r>
              <a:rPr lang="en-US" sz="2000" b="1" dirty="0">
                <a:solidFill>
                  <a:srgbClr val="002060"/>
                </a:solidFill>
                <a:latin typeface="Tahoma" pitchFamily="34" charset="0"/>
                <a:ea typeface="Tahoma" pitchFamily="34" charset="0"/>
                <a:cs typeface="Tahoma" pitchFamily="34" charset="0"/>
              </a:rPr>
              <a:t>Non- Prime Attribute </a:t>
            </a:r>
            <a:r>
              <a:rPr lang="en-US" b="1" dirty="0">
                <a:latin typeface="Tahoma" pitchFamily="34" charset="0"/>
                <a:ea typeface="Tahoma" pitchFamily="34" charset="0"/>
                <a:cs typeface="Tahoma" pitchFamily="34" charset="0"/>
              </a:rPr>
              <a:t>:</a:t>
            </a:r>
            <a:endParaRPr lang="en-US" i="1" dirty="0">
              <a:latin typeface="Tahoma" pitchFamily="34" charset="0"/>
              <a:ea typeface="Tahoma" pitchFamily="34" charset="0"/>
              <a:cs typeface="Tahoma" pitchFamily="34" charset="0"/>
            </a:endParaRPr>
          </a:p>
          <a:p>
            <a:pPr lvl="1">
              <a:lnSpc>
                <a:spcPct val="150000"/>
              </a:lnSpc>
            </a:pPr>
            <a:r>
              <a:rPr lang="en-US" dirty="0"/>
              <a:t>An attribute is called nonprime if it is not a prime attribute-that is, if it is not a member of any candidate key.</a:t>
            </a:r>
            <a:endParaRPr lang="en-US" i="1"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152400"/>
            <a:ext cx="85344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Normal Forms Based on Primary Keys</a:t>
            </a:r>
          </a:p>
        </p:txBody>
      </p:sp>
      <p:sp>
        <p:nvSpPr>
          <p:cNvPr id="4" name="TextBox 3"/>
          <p:cNvSpPr txBox="1"/>
          <p:nvPr/>
        </p:nvSpPr>
        <p:spPr>
          <a:xfrm>
            <a:off x="304800" y="1143000"/>
            <a:ext cx="8458200" cy="707886"/>
          </a:xfrm>
          <a:prstGeom prst="rect">
            <a:avLst/>
          </a:prstGeom>
          <a:noFill/>
          <a:ln w="22225">
            <a:noFill/>
          </a:ln>
        </p:spPr>
        <p:txBody>
          <a:bodyPr wrap="square" rtlCol="0">
            <a:spAutoFit/>
          </a:bodyPr>
          <a:lstStyle/>
          <a:p>
            <a:r>
              <a:rPr lang="en-US" sz="2400" b="1" u="sng" dirty="0">
                <a:latin typeface="Tahoma" pitchFamily="34" charset="0"/>
                <a:ea typeface="Tahoma" pitchFamily="34" charset="0"/>
                <a:cs typeface="Tahoma" pitchFamily="34" charset="0"/>
              </a:rPr>
              <a:t>Example</a:t>
            </a:r>
          </a:p>
          <a:p>
            <a:endParaRPr lang="en-US" sz="1600" b="1" dirty="0">
              <a:solidFill>
                <a:srgbClr val="0070C0"/>
              </a:solidFill>
              <a:latin typeface="Tahoma" pitchFamily="34" charset="0"/>
              <a:ea typeface="Tahoma" pitchFamily="34" charset="0"/>
              <a:cs typeface="Tahoma"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1752601" y="2057400"/>
            <a:ext cx="4953000" cy="1907189"/>
          </a:xfrm>
          <a:prstGeom prst="rect">
            <a:avLst/>
          </a:prstGeom>
          <a:noFill/>
          <a:ln w="9525">
            <a:noFill/>
            <a:miter lim="800000"/>
            <a:headEnd/>
            <a:tailEnd/>
          </a:ln>
          <a:effectLst/>
        </p:spPr>
      </p:pic>
      <p:sp>
        <p:nvSpPr>
          <p:cNvPr id="7" name="TextBox 6"/>
          <p:cNvSpPr txBox="1"/>
          <p:nvPr/>
        </p:nvSpPr>
        <p:spPr>
          <a:xfrm>
            <a:off x="304800" y="4191000"/>
            <a:ext cx="8534400" cy="1057790"/>
          </a:xfrm>
          <a:prstGeom prst="rect">
            <a:avLst/>
          </a:prstGeom>
          <a:noFill/>
        </p:spPr>
        <p:txBody>
          <a:bodyPr wrap="square" rtlCol="0">
            <a:spAutoFit/>
          </a:bodyPr>
          <a:lstStyle/>
          <a:p>
            <a:pPr marL="342900" indent="-342900">
              <a:lnSpc>
                <a:spcPct val="200000"/>
              </a:lnSpc>
              <a:buFont typeface="Arial" pitchFamily="34" charset="0"/>
              <a:buChar char="•"/>
            </a:pPr>
            <a:r>
              <a:rPr lang="en-US" b="1" dirty="0">
                <a:latin typeface="Tahoma" pitchFamily="34" charset="0"/>
                <a:ea typeface="Tahoma" pitchFamily="34" charset="0"/>
                <a:cs typeface="Tahoma" pitchFamily="34" charset="0"/>
              </a:rPr>
              <a:t>Prime attributes of WORKS_ON  : </a:t>
            </a:r>
            <a:r>
              <a:rPr lang="en-US" b="1" dirty="0">
                <a:solidFill>
                  <a:srgbClr val="0070C0"/>
                </a:solidFill>
                <a:latin typeface="Tahoma" pitchFamily="34" charset="0"/>
                <a:ea typeface="Tahoma" pitchFamily="34" charset="0"/>
                <a:cs typeface="Tahoma" pitchFamily="34" charset="0"/>
              </a:rPr>
              <a:t>SSN and PNUMBER</a:t>
            </a:r>
          </a:p>
          <a:p>
            <a:pPr marL="342900" indent="-342900">
              <a:lnSpc>
                <a:spcPct val="200000"/>
              </a:lnSpc>
              <a:buFont typeface="Arial" pitchFamily="34" charset="0"/>
              <a:buChar char="•"/>
            </a:pPr>
            <a:r>
              <a:rPr lang="en-US" sz="1600" b="1" dirty="0">
                <a:latin typeface="Tahoma" pitchFamily="34" charset="0"/>
                <a:ea typeface="Tahoma" pitchFamily="34" charset="0"/>
                <a:cs typeface="Tahoma" pitchFamily="34" charset="0"/>
              </a:rPr>
              <a:t>Non Prime attributes of WORKS_ON:  </a:t>
            </a:r>
            <a:r>
              <a:rPr lang="en-US" sz="1600" b="1" dirty="0">
                <a:solidFill>
                  <a:srgbClr val="0070C0"/>
                </a:solidFill>
                <a:latin typeface="Tahoma" pitchFamily="34" charset="0"/>
                <a:ea typeface="Tahoma" pitchFamily="34" charset="0"/>
                <a:cs typeface="Tahoma" pitchFamily="34" charset="0"/>
              </a:rPr>
              <a:t>HOURS</a:t>
            </a:r>
          </a:p>
        </p:txBody>
      </p:sp>
    </p:spTree>
  </p:cSld>
  <p:clrMapOvr>
    <a:masterClrMapping/>
  </p:clrMapOvr>
  <p:transition>
    <p:cu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90600"/>
            <a:ext cx="8763000" cy="369332"/>
          </a:xfrm>
          <a:prstGeom prst="rect">
            <a:avLst/>
          </a:prstGeom>
          <a:noFill/>
          <a:ln w="22225">
            <a:noFill/>
          </a:ln>
        </p:spPr>
        <p:txBody>
          <a:bodyPr wrap="square" rtlCol="0">
            <a:spAutoFit/>
          </a:bodyPr>
          <a:lstStyle/>
          <a:p>
            <a:r>
              <a:rPr lang="en-US" b="1" u="sng" dirty="0">
                <a:latin typeface="Tahoma" pitchFamily="34" charset="0"/>
                <a:ea typeface="Tahoma" pitchFamily="34" charset="0"/>
                <a:cs typeface="Tahoma" pitchFamily="34" charset="0"/>
              </a:rPr>
              <a:t> </a:t>
            </a:r>
            <a:endParaRPr lang="en-US" i="1" dirty="0">
              <a:latin typeface="Tahoma" pitchFamily="34" charset="0"/>
              <a:ea typeface="Tahoma" pitchFamily="34" charset="0"/>
              <a:cs typeface="Tahoma" pitchFamily="34" charset="0"/>
            </a:endParaRPr>
          </a:p>
        </p:txBody>
      </p:sp>
      <p:sp>
        <p:nvSpPr>
          <p:cNvPr id="5" name="TextBox 4"/>
          <p:cNvSpPr txBox="1"/>
          <p:nvPr/>
        </p:nvSpPr>
        <p:spPr>
          <a:xfrm>
            <a:off x="457200" y="1752600"/>
            <a:ext cx="8153400" cy="3970318"/>
          </a:xfrm>
          <a:prstGeom prst="rect">
            <a:avLst/>
          </a:prstGeom>
          <a:noFill/>
          <a:ln w="19050">
            <a:solidFill>
              <a:schemeClr val="accent1"/>
            </a:solidFill>
          </a:ln>
        </p:spPr>
        <p:txBody>
          <a:bodyPr wrap="square" rtlCol="0">
            <a:spAutoFit/>
          </a:bodyPr>
          <a:lstStyle/>
          <a:p>
            <a:pPr algn="just">
              <a:lnSpc>
                <a:spcPct val="150000"/>
              </a:lnSpc>
              <a:buFont typeface="Arial" pitchFamily="34" charset="0"/>
              <a:buChar char="•"/>
            </a:pPr>
            <a:r>
              <a:rPr lang="en-US" dirty="0"/>
              <a:t>    </a:t>
            </a:r>
            <a:r>
              <a:rPr lang="en-US" sz="2400" dirty="0">
                <a:latin typeface="Times New Roman" pitchFamily="18" charset="0"/>
                <a:cs typeface="Times New Roman" pitchFamily="18" charset="0"/>
              </a:rPr>
              <a:t>We discuss  the first three normal forms:</a:t>
            </a:r>
          </a:p>
          <a:p>
            <a:pPr marL="2743200" lvl="5" indent="-457200" algn="just">
              <a:lnSpc>
                <a:spcPct val="150000"/>
              </a:lnSpc>
              <a:buFont typeface="Arial" pitchFamily="34" charset="0"/>
              <a:buChar char="•"/>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1NF </a:t>
            </a:r>
            <a:r>
              <a:rPr lang="en-US" sz="2400" b="1" dirty="0">
                <a:latin typeface="Times New Roman" pitchFamily="18" charset="0"/>
                <a:cs typeface="Times New Roman" pitchFamily="18" charset="0"/>
                <a:sym typeface="Wingdings" pitchFamily="2" charset="2"/>
              </a:rPr>
              <a:t>first normal form</a:t>
            </a:r>
            <a:r>
              <a:rPr lang="en-US" sz="2400" b="1" dirty="0">
                <a:latin typeface="Times New Roman" pitchFamily="18" charset="0"/>
                <a:cs typeface="Times New Roman" pitchFamily="18" charset="0"/>
              </a:rPr>
              <a:t> </a:t>
            </a:r>
          </a:p>
          <a:p>
            <a:pPr marL="2743200" lvl="5" indent="-457200" algn="just">
              <a:lnSpc>
                <a:spcPct val="150000"/>
              </a:lnSpc>
              <a:buFont typeface="Arial" pitchFamily="34" charset="0"/>
              <a:buChar char="•"/>
            </a:pPr>
            <a:r>
              <a:rPr lang="en-US" sz="2400" b="1" dirty="0">
                <a:latin typeface="Times New Roman" pitchFamily="18" charset="0"/>
                <a:cs typeface="Times New Roman" pitchFamily="18" charset="0"/>
              </a:rPr>
              <a:t>2NF</a:t>
            </a:r>
            <a:r>
              <a:rPr lang="en-US" sz="2400" b="1" dirty="0">
                <a:latin typeface="Times New Roman" pitchFamily="18" charset="0"/>
                <a:cs typeface="Times New Roman" pitchFamily="18" charset="0"/>
                <a:sym typeface="Wingdings" pitchFamily="2" charset="2"/>
              </a:rPr>
              <a:t> second normal form</a:t>
            </a:r>
            <a:endParaRPr lang="en-US" sz="2400" b="1" dirty="0">
              <a:latin typeface="Times New Roman" pitchFamily="18" charset="0"/>
              <a:cs typeface="Times New Roman" pitchFamily="18" charset="0"/>
            </a:endParaRPr>
          </a:p>
          <a:p>
            <a:pPr marL="2743200" lvl="5" indent="-457200" algn="just">
              <a:lnSpc>
                <a:spcPct val="150000"/>
              </a:lnSpc>
              <a:buFont typeface="Arial" pitchFamily="34" charset="0"/>
              <a:buChar char="•"/>
            </a:pPr>
            <a:r>
              <a:rPr lang="en-US" sz="2400" b="1" dirty="0">
                <a:latin typeface="Times New Roman" pitchFamily="18" charset="0"/>
                <a:cs typeface="Times New Roman" pitchFamily="18" charset="0"/>
              </a:rPr>
              <a:t> 3NF</a:t>
            </a:r>
            <a:r>
              <a:rPr lang="en-US" sz="2400" b="1" dirty="0">
                <a:latin typeface="Times New Roman" pitchFamily="18" charset="0"/>
                <a:cs typeface="Times New Roman" pitchFamily="18" charset="0"/>
                <a:sym typeface="Wingdings" pitchFamily="2" charset="2"/>
              </a:rPr>
              <a:t> third normal form</a:t>
            </a:r>
            <a:endParaRPr lang="en-US" sz="2400" b="1" dirty="0">
              <a:latin typeface="Times New Roman" pitchFamily="18" charset="0"/>
              <a:cs typeface="Times New Roman" pitchFamily="18" charset="0"/>
            </a:endParaRPr>
          </a:p>
          <a:p>
            <a:pPr algn="just">
              <a:lnSpc>
                <a:spcPct val="150000"/>
              </a:lnSpc>
              <a:buFont typeface="Arial" pitchFamily="34" charset="0"/>
              <a:buChar char="•"/>
            </a:pPr>
            <a:r>
              <a:rPr lang="en-US" sz="2400" dirty="0">
                <a:latin typeface="Times New Roman" pitchFamily="18" charset="0"/>
                <a:cs typeface="Times New Roman" pitchFamily="18" charset="0"/>
              </a:rPr>
              <a:t>   These were proposed by Codd (l972) as a sequence to achieve the desirable state of 3NF</a:t>
            </a:r>
          </a:p>
          <a:p>
            <a:pPr algn="just">
              <a:lnSpc>
                <a:spcPct val="150000"/>
              </a:lnSpc>
            </a:pPr>
            <a:endParaRPr lang="en-US" sz="2400" dirty="0">
              <a:latin typeface="Times New Roman" pitchFamily="18" charset="0"/>
              <a:cs typeface="Times New Roman" pitchFamily="18" charset="0"/>
            </a:endParaRPr>
          </a:p>
        </p:txBody>
      </p:sp>
      <p:sp>
        <p:nvSpPr>
          <p:cNvPr id="8" name="TextBox 7"/>
          <p:cNvSpPr txBox="1"/>
          <p:nvPr/>
        </p:nvSpPr>
        <p:spPr>
          <a:xfrm>
            <a:off x="228600" y="152400"/>
            <a:ext cx="85344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Normal Forms Based on Primary Keys</a:t>
            </a:r>
          </a:p>
        </p:txBody>
      </p:sp>
    </p:spTree>
  </p:cSld>
  <p:clrMapOvr>
    <a:masterClrMapping/>
  </p:clrMapOvr>
  <p:transition>
    <p:cu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066800"/>
            <a:ext cx="8534400" cy="5355312"/>
          </a:xfrm>
          <a:prstGeom prst="rect">
            <a:avLst/>
          </a:prstGeom>
          <a:noFill/>
        </p:spPr>
        <p:txBody>
          <a:bodyPr wrap="square" rtlCol="0">
            <a:spAutoFit/>
          </a:bodyPr>
          <a:lstStyle/>
          <a:p>
            <a:pPr>
              <a:buFont typeface="Arial" pitchFamily="34" charset="0"/>
              <a:buChar char="•"/>
            </a:pPr>
            <a:endParaRPr lang="en-US" b="1" dirty="0">
              <a:latin typeface="Tahoma" pitchFamily="34" charset="0"/>
              <a:ea typeface="Tahoma" pitchFamily="34" charset="0"/>
              <a:cs typeface="Tahoma" pitchFamily="34" charset="0"/>
            </a:endParaRPr>
          </a:p>
          <a:p>
            <a:pPr marL="342900" indent="-342900" algn="just">
              <a:lnSpc>
                <a:spcPct val="200000"/>
              </a:lnSpc>
              <a:buFont typeface="Arial" pitchFamily="34" charset="0"/>
              <a:buChar char="•"/>
            </a:pPr>
            <a:r>
              <a:rPr lang="en-US" dirty="0"/>
              <a:t> </a:t>
            </a:r>
            <a:r>
              <a:rPr lang="en-US" b="1" dirty="0">
                <a:solidFill>
                  <a:srgbClr val="C00000"/>
                </a:solidFill>
                <a:latin typeface="Tahoma" pitchFamily="34" charset="0"/>
                <a:ea typeface="Tahoma" pitchFamily="34" charset="0"/>
                <a:cs typeface="Tahoma" pitchFamily="34" charset="0"/>
              </a:rPr>
              <a:t>First normal form (INF)  states that the domain of an attribute must include only </a:t>
            </a:r>
            <a:r>
              <a:rPr lang="en-US" b="1" i="1" dirty="0">
                <a:solidFill>
                  <a:srgbClr val="C00000"/>
                </a:solidFill>
                <a:latin typeface="Tahoma" pitchFamily="34" charset="0"/>
                <a:ea typeface="Tahoma" pitchFamily="34" charset="0"/>
                <a:cs typeface="Tahoma" pitchFamily="34" charset="0"/>
              </a:rPr>
              <a:t>atomic (simple, indivisible) values.</a:t>
            </a:r>
          </a:p>
          <a:p>
            <a:pPr marL="342900" indent="-342900">
              <a:lnSpc>
                <a:spcPct val="200000"/>
              </a:lnSpc>
              <a:buFont typeface="Arial" pitchFamily="34" charset="0"/>
              <a:buChar char="•"/>
            </a:pPr>
            <a:r>
              <a:rPr lang="en-US" dirty="0">
                <a:latin typeface="Tahoma" pitchFamily="34" charset="0"/>
                <a:ea typeface="Tahoma" pitchFamily="34" charset="0"/>
                <a:cs typeface="Tahoma" pitchFamily="34" charset="0"/>
              </a:rPr>
              <a:t> </a:t>
            </a:r>
            <a:r>
              <a:rPr lang="en-US" b="1" dirty="0">
                <a:latin typeface="Tahoma" pitchFamily="34" charset="0"/>
                <a:ea typeface="Tahoma" pitchFamily="34" charset="0"/>
                <a:cs typeface="Tahoma" pitchFamily="34" charset="0"/>
              </a:rPr>
              <a:t>So 1NF is defined to disallow </a:t>
            </a:r>
          </a:p>
          <a:p>
            <a:pPr marL="1257300" lvl="2" indent="-342900">
              <a:lnSpc>
                <a:spcPct val="200000"/>
              </a:lnSpc>
              <a:buFont typeface="Arial" pitchFamily="34" charset="0"/>
              <a:buChar char="•"/>
            </a:pPr>
            <a:r>
              <a:rPr lang="en-US" dirty="0">
                <a:latin typeface="Tahoma" pitchFamily="34" charset="0"/>
                <a:ea typeface="Tahoma" pitchFamily="34" charset="0"/>
                <a:cs typeface="Tahoma" pitchFamily="34" charset="0"/>
              </a:rPr>
              <a:t>multivalued attributes, </a:t>
            </a:r>
          </a:p>
          <a:p>
            <a:pPr marL="1257300" lvl="2" indent="-342900">
              <a:lnSpc>
                <a:spcPct val="200000"/>
              </a:lnSpc>
              <a:buFont typeface="Arial" pitchFamily="34" charset="0"/>
              <a:buChar char="•"/>
            </a:pPr>
            <a:r>
              <a:rPr lang="en-US" dirty="0">
                <a:latin typeface="Tahoma" pitchFamily="34" charset="0"/>
                <a:ea typeface="Tahoma" pitchFamily="34" charset="0"/>
                <a:cs typeface="Tahoma" pitchFamily="34" charset="0"/>
              </a:rPr>
              <a:t>composite attributes, </a:t>
            </a:r>
          </a:p>
          <a:p>
            <a:pPr marL="1257300" lvl="2" indent="-342900">
              <a:lnSpc>
                <a:spcPct val="200000"/>
              </a:lnSpc>
              <a:buFont typeface="Arial" pitchFamily="34" charset="0"/>
              <a:buChar char="•"/>
            </a:pPr>
            <a:r>
              <a:rPr lang="en-US" dirty="0">
                <a:latin typeface="Tahoma" pitchFamily="34" charset="0"/>
                <a:ea typeface="Tahoma" pitchFamily="34" charset="0"/>
                <a:cs typeface="Tahoma" pitchFamily="34" charset="0"/>
              </a:rPr>
              <a:t> their combinations.</a:t>
            </a:r>
          </a:p>
          <a:p>
            <a:pPr marL="1257300" lvl="2" indent="-342900">
              <a:lnSpc>
                <a:spcPct val="200000"/>
              </a:lnSpc>
            </a:pPr>
            <a:endParaRPr lang="en-US" dirty="0">
              <a:latin typeface="Tahoma" pitchFamily="34" charset="0"/>
              <a:ea typeface="Tahoma" pitchFamily="34" charset="0"/>
              <a:cs typeface="Tahoma" pitchFamily="34" charset="0"/>
            </a:endParaRPr>
          </a:p>
          <a:p>
            <a:pPr marL="342900" indent="-342900">
              <a:lnSpc>
                <a:spcPct val="200000"/>
              </a:lnSpc>
              <a:buFont typeface="Arial" pitchFamily="34" charset="0"/>
              <a:buChar char="•"/>
            </a:pPr>
            <a:r>
              <a:rPr lang="en-US" dirty="0">
                <a:latin typeface="Tahoma" pitchFamily="34" charset="0"/>
                <a:ea typeface="Tahoma" pitchFamily="34" charset="0"/>
                <a:cs typeface="Tahoma" pitchFamily="34" charset="0"/>
              </a:rPr>
              <a:t> The only attribute values permitted by 1NF are single atomic (or indivisible) values.</a:t>
            </a:r>
            <a:endParaRPr lang="en-US" b="1" dirty="0">
              <a:latin typeface="Tahoma" pitchFamily="34" charset="0"/>
              <a:ea typeface="Tahoma" pitchFamily="34" charset="0"/>
              <a:cs typeface="Tahoma" pitchFamily="34" charset="0"/>
            </a:endParaRPr>
          </a:p>
        </p:txBody>
      </p:sp>
      <p:sp>
        <p:nvSpPr>
          <p:cNvPr id="6" name="Rectangle 5"/>
          <p:cNvSpPr/>
          <p:nvPr/>
        </p:nvSpPr>
        <p:spPr>
          <a:xfrm>
            <a:off x="152400" y="228600"/>
            <a:ext cx="4729180" cy="523220"/>
          </a:xfrm>
          <a:prstGeom prst="rect">
            <a:avLst/>
          </a:prstGeom>
        </p:spPr>
        <p:txBody>
          <a:bodyPr wrap="none">
            <a:spAutoFit/>
          </a:bodyPr>
          <a:lstStyle/>
          <a:p>
            <a:r>
              <a:rPr lang="en-US" sz="2800" b="1" dirty="0">
                <a:solidFill>
                  <a:srgbClr val="002060"/>
                </a:solidFill>
                <a:latin typeface="Tahoma" pitchFamily="34" charset="0"/>
                <a:ea typeface="Tahoma" pitchFamily="34" charset="0"/>
                <a:cs typeface="Tahoma" pitchFamily="34" charset="0"/>
              </a:rPr>
              <a:t>First Normal Form(1NF) </a:t>
            </a:r>
          </a:p>
        </p:txBody>
      </p:sp>
    </p:spTree>
  </p:cSld>
  <p:clrMapOvr>
    <a:masterClrMapping/>
  </p:clrMapOvr>
  <p:transition>
    <p:cu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90600"/>
            <a:ext cx="8763000" cy="369332"/>
          </a:xfrm>
          <a:prstGeom prst="rect">
            <a:avLst/>
          </a:prstGeom>
          <a:noFill/>
          <a:ln w="22225">
            <a:noFill/>
          </a:ln>
        </p:spPr>
        <p:txBody>
          <a:bodyPr wrap="square" rtlCol="0">
            <a:spAutoFit/>
          </a:bodyPr>
          <a:lstStyle/>
          <a:p>
            <a:r>
              <a:rPr lang="en-US" b="1" u="sng" dirty="0">
                <a:latin typeface="Tahoma" pitchFamily="34" charset="0"/>
                <a:ea typeface="Tahoma" pitchFamily="34" charset="0"/>
                <a:cs typeface="Tahoma" pitchFamily="34" charset="0"/>
              </a:rPr>
              <a:t> </a:t>
            </a:r>
            <a:endParaRPr lang="en-US" i="1" dirty="0">
              <a:latin typeface="Tahoma" pitchFamily="34" charset="0"/>
              <a:ea typeface="Tahoma" pitchFamily="34" charset="0"/>
              <a:cs typeface="Tahoma" pitchFamily="34" charset="0"/>
            </a:endParaRPr>
          </a:p>
        </p:txBody>
      </p:sp>
      <p:sp>
        <p:nvSpPr>
          <p:cNvPr id="7" name="TextBox 6"/>
          <p:cNvSpPr txBox="1"/>
          <p:nvPr/>
        </p:nvSpPr>
        <p:spPr>
          <a:xfrm>
            <a:off x="228600" y="838200"/>
            <a:ext cx="8915400" cy="461665"/>
          </a:xfrm>
          <a:prstGeom prst="rect">
            <a:avLst/>
          </a:prstGeom>
          <a:noFill/>
        </p:spPr>
        <p:txBody>
          <a:bodyPr wrap="square" rtlCol="0">
            <a:spAutoFit/>
          </a:bodyPr>
          <a:lstStyle/>
          <a:p>
            <a:r>
              <a:rPr lang="en-US" sz="2400" b="1" dirty="0">
                <a:latin typeface="Tahoma" pitchFamily="34" charset="0"/>
                <a:ea typeface="Tahoma" pitchFamily="34" charset="0"/>
                <a:cs typeface="Tahoma" pitchFamily="34" charset="0"/>
              </a:rPr>
              <a:t>Example :</a:t>
            </a:r>
          </a:p>
        </p:txBody>
      </p:sp>
      <p:sp>
        <p:nvSpPr>
          <p:cNvPr id="8" name="TextBox 7"/>
          <p:cNvSpPr txBox="1"/>
          <p:nvPr/>
        </p:nvSpPr>
        <p:spPr>
          <a:xfrm>
            <a:off x="381000" y="1219200"/>
            <a:ext cx="8763000" cy="960006"/>
          </a:xfrm>
          <a:prstGeom prst="rect">
            <a:avLst/>
          </a:prstGeom>
          <a:noFill/>
        </p:spPr>
        <p:txBody>
          <a:bodyPr wrap="square" rtlCol="0">
            <a:spAutoFit/>
          </a:bodyPr>
          <a:lstStyle/>
          <a:p>
            <a:pPr>
              <a:lnSpc>
                <a:spcPct val="150000"/>
              </a:lnSpc>
            </a:pPr>
            <a:r>
              <a:rPr lang="en-US" sz="2000" dirty="0">
                <a:latin typeface="Times New Roman"/>
              </a:rPr>
              <a:t>Suppose that we extend DEPARTMENT by including the </a:t>
            </a:r>
            <a:r>
              <a:rPr lang="en-US" sz="2000" dirty="0"/>
              <a:t>DLOCATIONS  </a:t>
            </a:r>
            <a:r>
              <a:rPr lang="en-US" sz="2000" dirty="0">
                <a:latin typeface="Times New Roman"/>
              </a:rPr>
              <a:t>attribute as shown in the fig.</a:t>
            </a:r>
            <a:endParaRPr lang="en-US" sz="2000" dirty="0"/>
          </a:p>
        </p:txBody>
      </p:sp>
      <p:pic>
        <p:nvPicPr>
          <p:cNvPr id="2052" name="Picture 4"/>
          <p:cNvPicPr>
            <a:picLocks noChangeAspect="1" noChangeArrowheads="1"/>
          </p:cNvPicPr>
          <p:nvPr/>
        </p:nvPicPr>
        <p:blipFill>
          <a:blip r:embed="rId3" cstate="print"/>
          <a:srcRect/>
          <a:stretch>
            <a:fillRect/>
          </a:stretch>
        </p:blipFill>
        <p:spPr bwMode="auto">
          <a:xfrm>
            <a:off x="609599" y="2438400"/>
            <a:ext cx="7805367" cy="3208609"/>
          </a:xfrm>
          <a:prstGeom prst="rect">
            <a:avLst/>
          </a:prstGeom>
          <a:noFill/>
          <a:ln w="9525">
            <a:noFill/>
            <a:miter lim="800000"/>
            <a:headEnd/>
            <a:tailEnd/>
          </a:ln>
          <a:effectLst/>
        </p:spPr>
      </p:pic>
      <p:sp>
        <p:nvSpPr>
          <p:cNvPr id="10" name="TextBox 9"/>
          <p:cNvSpPr txBox="1"/>
          <p:nvPr/>
        </p:nvSpPr>
        <p:spPr>
          <a:xfrm>
            <a:off x="990600" y="5791200"/>
            <a:ext cx="7010400" cy="369332"/>
          </a:xfrm>
          <a:prstGeom prst="rect">
            <a:avLst/>
          </a:prstGeom>
          <a:noFill/>
        </p:spPr>
        <p:txBody>
          <a:bodyPr wrap="square" rtlCol="0">
            <a:spAutoFit/>
          </a:bodyPr>
          <a:lstStyle/>
          <a:p>
            <a:r>
              <a:rPr lang="en-US" b="1" dirty="0">
                <a:latin typeface="Tahoma" pitchFamily="34" charset="0"/>
                <a:ea typeface="Tahoma" pitchFamily="34" charset="0"/>
                <a:cs typeface="Tahoma" pitchFamily="34" charset="0"/>
              </a:rPr>
              <a:t>As we can see , the DEPARTMENT relation is not in 1NF;</a:t>
            </a:r>
          </a:p>
        </p:txBody>
      </p:sp>
      <p:sp>
        <p:nvSpPr>
          <p:cNvPr id="9" name="Rectangle 8"/>
          <p:cNvSpPr/>
          <p:nvPr/>
        </p:nvSpPr>
        <p:spPr>
          <a:xfrm>
            <a:off x="0" y="152400"/>
            <a:ext cx="4729180" cy="523220"/>
          </a:xfrm>
          <a:prstGeom prst="rect">
            <a:avLst/>
          </a:prstGeom>
        </p:spPr>
        <p:txBody>
          <a:bodyPr wrap="none">
            <a:spAutoFit/>
          </a:bodyPr>
          <a:lstStyle/>
          <a:p>
            <a:r>
              <a:rPr lang="en-US" sz="2800" b="1" dirty="0">
                <a:solidFill>
                  <a:srgbClr val="002060"/>
                </a:solidFill>
                <a:latin typeface="Tahoma" pitchFamily="34" charset="0"/>
                <a:ea typeface="Tahoma" pitchFamily="34" charset="0"/>
                <a:cs typeface="Tahoma" pitchFamily="34" charset="0"/>
              </a:rPr>
              <a:t>First Normal Form(1NF) </a:t>
            </a:r>
          </a:p>
        </p:txBody>
      </p:sp>
    </p:spTree>
  </p:cSld>
  <p:clrMapOvr>
    <a:masterClrMapping/>
  </p:clrMapOvr>
  <p:transition>
    <p:cu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90600"/>
            <a:ext cx="8763000" cy="369332"/>
          </a:xfrm>
          <a:prstGeom prst="rect">
            <a:avLst/>
          </a:prstGeom>
          <a:noFill/>
          <a:ln w="22225">
            <a:noFill/>
          </a:ln>
        </p:spPr>
        <p:txBody>
          <a:bodyPr wrap="square" rtlCol="0">
            <a:spAutoFit/>
          </a:bodyPr>
          <a:lstStyle/>
          <a:p>
            <a:r>
              <a:rPr lang="en-US" b="1" u="sng" dirty="0">
                <a:latin typeface="Tahoma" pitchFamily="34" charset="0"/>
                <a:ea typeface="Tahoma" pitchFamily="34" charset="0"/>
                <a:cs typeface="Tahoma" pitchFamily="34" charset="0"/>
              </a:rPr>
              <a:t> </a:t>
            </a:r>
            <a:endParaRPr lang="en-US" i="1" dirty="0">
              <a:latin typeface="Tahoma" pitchFamily="34" charset="0"/>
              <a:ea typeface="Tahoma" pitchFamily="34" charset="0"/>
              <a:cs typeface="Tahoma" pitchFamily="34" charset="0"/>
            </a:endParaRPr>
          </a:p>
        </p:txBody>
      </p:sp>
      <p:sp>
        <p:nvSpPr>
          <p:cNvPr id="8" name="TextBox 7"/>
          <p:cNvSpPr txBox="1"/>
          <p:nvPr/>
        </p:nvSpPr>
        <p:spPr>
          <a:xfrm>
            <a:off x="152400" y="762001"/>
            <a:ext cx="8763000" cy="2446824"/>
          </a:xfrm>
          <a:prstGeom prst="rect">
            <a:avLst/>
          </a:prstGeom>
          <a:noFill/>
        </p:spPr>
        <p:txBody>
          <a:bodyPr wrap="square" rtlCol="0">
            <a:spAutoFit/>
          </a:bodyPr>
          <a:lstStyle/>
          <a:p>
            <a:pPr>
              <a:lnSpc>
                <a:spcPct val="150000"/>
              </a:lnSpc>
            </a:pPr>
            <a:r>
              <a:rPr lang="en-US" sz="2400" dirty="0">
                <a:latin typeface="Times New Roman"/>
              </a:rPr>
              <a:t>There are three main techniques to achieve first normal form for such a relation:</a:t>
            </a:r>
            <a:endParaRPr lang="en-US" dirty="0">
              <a:latin typeface="Times New Roman"/>
            </a:endParaRPr>
          </a:p>
          <a:p>
            <a:pPr marL="800100" lvl="1" indent="-342900" algn="just">
              <a:lnSpc>
                <a:spcPct val="150000"/>
              </a:lnSpc>
              <a:buFont typeface="+mj-lt"/>
              <a:buAutoNum type="arabicPeriod"/>
            </a:pPr>
            <a:r>
              <a:rPr lang="en-US" dirty="0">
                <a:latin typeface="Tahoma" pitchFamily="34" charset="0"/>
                <a:ea typeface="Tahoma" pitchFamily="34" charset="0"/>
                <a:cs typeface="Tahoma" pitchFamily="34" charset="0"/>
              </a:rPr>
              <a:t>Remove the attribute </a:t>
            </a:r>
            <a:r>
              <a:rPr lang="en-US" sz="1100" dirty="0">
                <a:latin typeface="Tahoma" pitchFamily="34" charset="0"/>
                <a:ea typeface="Tahoma" pitchFamily="34" charset="0"/>
                <a:cs typeface="Tahoma" pitchFamily="34" charset="0"/>
              </a:rPr>
              <a:t>DLOCATIONS   </a:t>
            </a:r>
            <a:r>
              <a:rPr lang="en-US" dirty="0">
                <a:latin typeface="Tahoma" pitchFamily="34" charset="0"/>
                <a:ea typeface="Tahoma" pitchFamily="34" charset="0"/>
                <a:cs typeface="Tahoma" pitchFamily="34" charset="0"/>
              </a:rPr>
              <a:t>that violates 1NF and place it in a separate relation  </a:t>
            </a:r>
            <a:r>
              <a:rPr lang="en-US" sz="1200" dirty="0">
                <a:latin typeface="Tahoma" pitchFamily="34" charset="0"/>
                <a:ea typeface="Tahoma" pitchFamily="34" charset="0"/>
                <a:cs typeface="Tahoma" pitchFamily="34" charset="0"/>
              </a:rPr>
              <a:t>DEPT_LOCATIONS   </a:t>
            </a:r>
            <a:r>
              <a:rPr lang="en-US" dirty="0">
                <a:latin typeface="Tahoma" pitchFamily="34" charset="0"/>
                <a:ea typeface="Tahoma" pitchFamily="34" charset="0"/>
                <a:cs typeface="Tahoma" pitchFamily="34" charset="0"/>
              </a:rPr>
              <a:t>along with the primary key </a:t>
            </a:r>
            <a:r>
              <a:rPr lang="en-US" sz="1200" dirty="0">
                <a:latin typeface="Tahoma" pitchFamily="34" charset="0"/>
                <a:ea typeface="Tahoma" pitchFamily="34" charset="0"/>
                <a:cs typeface="Tahoma" pitchFamily="34" charset="0"/>
              </a:rPr>
              <a:t>DNUMBER </a:t>
            </a:r>
            <a:r>
              <a:rPr lang="en-US" dirty="0">
                <a:latin typeface="Tahoma" pitchFamily="34" charset="0"/>
                <a:ea typeface="Tahoma" pitchFamily="34" charset="0"/>
                <a:cs typeface="Tahoma" pitchFamily="34" charset="0"/>
              </a:rPr>
              <a:t>of </a:t>
            </a:r>
            <a:r>
              <a:rPr lang="en-US" sz="1100" dirty="0">
                <a:latin typeface="Tahoma" pitchFamily="34" charset="0"/>
                <a:ea typeface="Tahoma" pitchFamily="34" charset="0"/>
                <a:cs typeface="Tahoma" pitchFamily="34" charset="0"/>
              </a:rPr>
              <a:t>DEPARTMENT.  </a:t>
            </a:r>
            <a:r>
              <a:rPr lang="en-US" dirty="0">
                <a:latin typeface="Tahoma" pitchFamily="34" charset="0"/>
                <a:ea typeface="Tahoma" pitchFamily="34" charset="0"/>
                <a:cs typeface="Tahoma" pitchFamily="34" charset="0"/>
              </a:rPr>
              <a:t>The primary  key of this relation is the combination </a:t>
            </a:r>
            <a:r>
              <a:rPr lang="en-US" sz="1200" dirty="0">
                <a:latin typeface="Tahoma" pitchFamily="34" charset="0"/>
                <a:ea typeface="Tahoma" pitchFamily="34" charset="0"/>
                <a:cs typeface="Tahoma" pitchFamily="34" charset="0"/>
              </a:rPr>
              <a:t>{DNUMBER, DLOCATION}</a:t>
            </a:r>
            <a:endParaRPr lang="en-US" dirty="0">
              <a:latin typeface="Tahoma" pitchFamily="34" charset="0"/>
              <a:ea typeface="Tahoma" pitchFamily="34" charset="0"/>
              <a:cs typeface="Tahoma" pitchFamily="34" charset="0"/>
            </a:endParaRPr>
          </a:p>
        </p:txBody>
      </p:sp>
      <p:pic>
        <p:nvPicPr>
          <p:cNvPr id="3074" name="Picture 2"/>
          <p:cNvPicPr>
            <a:picLocks noChangeAspect="1" noChangeArrowheads="1"/>
          </p:cNvPicPr>
          <p:nvPr/>
        </p:nvPicPr>
        <p:blipFill>
          <a:blip r:embed="rId3" cstate="print"/>
          <a:srcRect/>
          <a:stretch>
            <a:fillRect/>
          </a:stretch>
        </p:blipFill>
        <p:spPr bwMode="auto">
          <a:xfrm>
            <a:off x="2362199" y="3581400"/>
            <a:ext cx="4151085" cy="2743200"/>
          </a:xfrm>
          <a:prstGeom prst="rect">
            <a:avLst/>
          </a:prstGeom>
          <a:noFill/>
          <a:ln w="9525">
            <a:noFill/>
            <a:miter lim="800000"/>
            <a:headEnd/>
            <a:tailEnd/>
          </a:ln>
          <a:effectLst/>
        </p:spPr>
      </p:pic>
      <p:sp>
        <p:nvSpPr>
          <p:cNvPr id="10" name="Rectangle 9"/>
          <p:cNvSpPr/>
          <p:nvPr/>
        </p:nvSpPr>
        <p:spPr>
          <a:xfrm>
            <a:off x="0" y="152400"/>
            <a:ext cx="4729180" cy="523220"/>
          </a:xfrm>
          <a:prstGeom prst="rect">
            <a:avLst/>
          </a:prstGeom>
        </p:spPr>
        <p:txBody>
          <a:bodyPr wrap="none">
            <a:spAutoFit/>
          </a:bodyPr>
          <a:lstStyle/>
          <a:p>
            <a:r>
              <a:rPr lang="en-US" sz="2800" b="1" dirty="0">
                <a:solidFill>
                  <a:srgbClr val="002060"/>
                </a:solidFill>
                <a:latin typeface="Tahoma" pitchFamily="34" charset="0"/>
                <a:ea typeface="Tahoma" pitchFamily="34" charset="0"/>
                <a:cs typeface="Tahoma" pitchFamily="34" charset="0"/>
              </a:rPr>
              <a:t>First Normal Form(1NF) </a:t>
            </a:r>
          </a:p>
        </p:txBody>
      </p:sp>
    </p:spTree>
  </p:cSld>
  <p:clrMapOvr>
    <a:masterClrMapping/>
  </p:clrMapOvr>
  <p:transition>
    <p:cu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90600"/>
            <a:ext cx="8763000" cy="369332"/>
          </a:xfrm>
          <a:prstGeom prst="rect">
            <a:avLst/>
          </a:prstGeom>
          <a:noFill/>
          <a:ln w="22225">
            <a:noFill/>
          </a:ln>
        </p:spPr>
        <p:txBody>
          <a:bodyPr wrap="square" rtlCol="0">
            <a:spAutoFit/>
          </a:bodyPr>
          <a:lstStyle/>
          <a:p>
            <a:r>
              <a:rPr lang="en-US" b="1" u="sng" dirty="0">
                <a:latin typeface="Tahoma" pitchFamily="34" charset="0"/>
                <a:ea typeface="Tahoma" pitchFamily="34" charset="0"/>
                <a:cs typeface="Tahoma" pitchFamily="34" charset="0"/>
              </a:rPr>
              <a:t> </a:t>
            </a:r>
            <a:endParaRPr lang="en-US" i="1" dirty="0">
              <a:latin typeface="Tahoma" pitchFamily="34" charset="0"/>
              <a:ea typeface="Tahoma" pitchFamily="34" charset="0"/>
              <a:cs typeface="Tahoma" pitchFamily="34" charset="0"/>
            </a:endParaRPr>
          </a:p>
        </p:txBody>
      </p:sp>
      <p:sp>
        <p:nvSpPr>
          <p:cNvPr id="8" name="TextBox 7"/>
          <p:cNvSpPr txBox="1"/>
          <p:nvPr/>
        </p:nvSpPr>
        <p:spPr>
          <a:xfrm>
            <a:off x="152400" y="838200"/>
            <a:ext cx="8763000" cy="1615827"/>
          </a:xfrm>
          <a:prstGeom prst="rect">
            <a:avLst/>
          </a:prstGeom>
          <a:noFill/>
        </p:spPr>
        <p:txBody>
          <a:bodyPr wrap="square" rtlCol="0">
            <a:spAutoFit/>
          </a:bodyPr>
          <a:lstStyle/>
          <a:p>
            <a:pPr marL="800100" lvl="1" indent="-342900"/>
            <a:endParaRPr lang="en-US" dirty="0">
              <a:latin typeface="Times New Roman"/>
            </a:endParaRPr>
          </a:p>
          <a:p>
            <a:pPr marL="800100" lvl="1" indent="-342900" algn="just">
              <a:lnSpc>
                <a:spcPct val="150000"/>
              </a:lnSpc>
              <a:buFont typeface="+mj-lt"/>
              <a:buAutoNum type="arabicPeriod" startAt="2"/>
            </a:pPr>
            <a:r>
              <a:rPr lang="en-US" dirty="0">
                <a:latin typeface="Tahoma" pitchFamily="34" charset="0"/>
                <a:ea typeface="Tahoma" pitchFamily="34" charset="0"/>
                <a:cs typeface="Tahoma" pitchFamily="34" charset="0"/>
              </a:rPr>
              <a:t>Expand the key so that there will be a separate tuple in the original DEPARTMENT relation for each location of a DEPARTMENT.    In this case, the primary key becomes the combination </a:t>
            </a:r>
            <a:r>
              <a:rPr lang="en-US" sz="1200" dirty="0">
                <a:latin typeface="Tahoma" pitchFamily="34" charset="0"/>
                <a:ea typeface="Tahoma" pitchFamily="34" charset="0"/>
                <a:cs typeface="Tahoma" pitchFamily="34" charset="0"/>
              </a:rPr>
              <a:t>{DNUMBER, DLOCATION}.</a:t>
            </a:r>
            <a:endParaRPr lang="en-US" dirty="0">
              <a:latin typeface="Tahoma" pitchFamily="34" charset="0"/>
              <a:ea typeface="Tahoma" pitchFamily="34" charset="0"/>
              <a:cs typeface="Tahoma" pitchFamily="34" charset="0"/>
            </a:endParaRPr>
          </a:p>
        </p:txBody>
      </p:sp>
      <p:sp>
        <p:nvSpPr>
          <p:cNvPr id="9" name="TextBox 8"/>
          <p:cNvSpPr txBox="1"/>
          <p:nvPr/>
        </p:nvSpPr>
        <p:spPr>
          <a:xfrm>
            <a:off x="228600" y="5638800"/>
            <a:ext cx="8610600" cy="461665"/>
          </a:xfrm>
          <a:prstGeom prst="rect">
            <a:avLst/>
          </a:prstGeom>
          <a:noFill/>
          <a:ln w="22225">
            <a:solidFill>
              <a:schemeClr val="accent1"/>
            </a:solidFill>
          </a:ln>
        </p:spPr>
        <p:txBody>
          <a:bodyPr wrap="square" rtlCol="0">
            <a:spAutoFit/>
          </a:bodyPr>
          <a:lstStyle/>
          <a:p>
            <a:r>
              <a:rPr lang="en-US" sz="2400" b="1" i="1" dirty="0">
                <a:latin typeface="Times New Roman"/>
              </a:rPr>
              <a:t>Disadvantage : </a:t>
            </a:r>
            <a:r>
              <a:rPr lang="en-US" sz="2400" i="1" dirty="0">
                <a:latin typeface="Times New Roman"/>
              </a:rPr>
              <a:t>redundancy in the relation.</a:t>
            </a:r>
            <a:r>
              <a:rPr lang="en-US" sz="2400" i="1" dirty="0"/>
              <a:t>.</a:t>
            </a:r>
            <a:endParaRPr lang="en-US" sz="2400" dirty="0"/>
          </a:p>
        </p:txBody>
      </p:sp>
      <p:pic>
        <p:nvPicPr>
          <p:cNvPr id="4098" name="Picture 2"/>
          <p:cNvPicPr>
            <a:picLocks noChangeAspect="1" noChangeArrowheads="1"/>
          </p:cNvPicPr>
          <p:nvPr/>
        </p:nvPicPr>
        <p:blipFill>
          <a:blip r:embed="rId3" cstate="print"/>
          <a:srcRect/>
          <a:stretch>
            <a:fillRect/>
          </a:stretch>
        </p:blipFill>
        <p:spPr bwMode="auto">
          <a:xfrm>
            <a:off x="762000" y="2971800"/>
            <a:ext cx="8088448" cy="2533650"/>
          </a:xfrm>
          <a:prstGeom prst="rect">
            <a:avLst/>
          </a:prstGeom>
          <a:noFill/>
          <a:ln w="9525">
            <a:noFill/>
            <a:miter lim="800000"/>
            <a:headEnd/>
            <a:tailEnd/>
          </a:ln>
          <a:effectLst/>
        </p:spPr>
      </p:pic>
      <p:sp>
        <p:nvSpPr>
          <p:cNvPr id="10" name="Rectangle 9"/>
          <p:cNvSpPr/>
          <p:nvPr/>
        </p:nvSpPr>
        <p:spPr>
          <a:xfrm>
            <a:off x="0" y="152400"/>
            <a:ext cx="4801314" cy="523220"/>
          </a:xfrm>
          <a:prstGeom prst="rect">
            <a:avLst/>
          </a:prstGeom>
        </p:spPr>
        <p:txBody>
          <a:bodyPr wrap="none">
            <a:spAutoFit/>
          </a:bodyPr>
          <a:lstStyle/>
          <a:p>
            <a:r>
              <a:rPr lang="en-US" sz="2800" b="1" dirty="0">
                <a:solidFill>
                  <a:srgbClr val="002060"/>
                </a:solidFill>
                <a:latin typeface="Tahoma" pitchFamily="34" charset="0"/>
                <a:ea typeface="Tahoma" pitchFamily="34" charset="0"/>
                <a:cs typeface="Tahoma" pitchFamily="34" charset="0"/>
              </a:rPr>
              <a:t>First Normal Form(1NF) 	</a:t>
            </a:r>
          </a:p>
        </p:txBody>
      </p:sp>
    </p:spTree>
  </p:cSld>
  <p:clrMapOvr>
    <a:masterClrMapping/>
  </p:clrMapOvr>
  <p:transition>
    <p:cu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90600"/>
            <a:ext cx="8763000" cy="369332"/>
          </a:xfrm>
          <a:prstGeom prst="rect">
            <a:avLst/>
          </a:prstGeom>
          <a:noFill/>
          <a:ln w="22225">
            <a:noFill/>
          </a:ln>
        </p:spPr>
        <p:txBody>
          <a:bodyPr wrap="square" rtlCol="0">
            <a:spAutoFit/>
          </a:bodyPr>
          <a:lstStyle/>
          <a:p>
            <a:r>
              <a:rPr lang="en-US" b="1" u="sng" dirty="0">
                <a:latin typeface="Tahoma" pitchFamily="34" charset="0"/>
                <a:ea typeface="Tahoma" pitchFamily="34" charset="0"/>
                <a:cs typeface="Tahoma" pitchFamily="34" charset="0"/>
              </a:rPr>
              <a:t> </a:t>
            </a:r>
            <a:endParaRPr lang="en-US" i="1" dirty="0">
              <a:latin typeface="Tahoma" pitchFamily="34" charset="0"/>
              <a:ea typeface="Tahoma" pitchFamily="34" charset="0"/>
              <a:cs typeface="Tahoma" pitchFamily="34" charset="0"/>
            </a:endParaRPr>
          </a:p>
        </p:txBody>
      </p:sp>
      <p:sp>
        <p:nvSpPr>
          <p:cNvPr id="8" name="TextBox 7"/>
          <p:cNvSpPr txBox="1"/>
          <p:nvPr/>
        </p:nvSpPr>
        <p:spPr>
          <a:xfrm>
            <a:off x="152400" y="762000"/>
            <a:ext cx="8763000" cy="3831818"/>
          </a:xfrm>
          <a:prstGeom prst="rect">
            <a:avLst/>
          </a:prstGeom>
          <a:noFill/>
        </p:spPr>
        <p:txBody>
          <a:bodyPr wrap="square" rtlCol="0">
            <a:spAutoFit/>
          </a:bodyPr>
          <a:lstStyle/>
          <a:p>
            <a:pPr marL="800100" lvl="1" indent="-342900"/>
            <a:endParaRPr lang="en-US" dirty="0">
              <a:latin typeface="Times New Roman"/>
            </a:endParaRPr>
          </a:p>
          <a:p>
            <a:pPr marL="800100" lvl="1" indent="-342900" algn="just">
              <a:lnSpc>
                <a:spcPct val="150000"/>
              </a:lnSpc>
              <a:buFont typeface="+mj-lt"/>
              <a:buAutoNum type="arabicPeriod" startAt="3"/>
            </a:pPr>
            <a:r>
              <a:rPr lang="en-US" dirty="0">
                <a:latin typeface="Tahoma" pitchFamily="34" charset="0"/>
                <a:ea typeface="Tahoma" pitchFamily="34" charset="0"/>
                <a:cs typeface="Tahoma" pitchFamily="34" charset="0"/>
              </a:rPr>
              <a:t>If a </a:t>
            </a:r>
            <a:r>
              <a:rPr lang="en-US" i="1" dirty="0">
                <a:latin typeface="Tahoma" pitchFamily="34" charset="0"/>
                <a:ea typeface="Tahoma" pitchFamily="34" charset="0"/>
                <a:cs typeface="Tahoma" pitchFamily="34" charset="0"/>
              </a:rPr>
              <a:t>maximum number of values is known for the attribute-for example, if it is  </a:t>
            </a:r>
            <a:r>
              <a:rPr lang="en-US" dirty="0">
                <a:latin typeface="Tahoma" pitchFamily="34" charset="0"/>
                <a:ea typeface="Tahoma" pitchFamily="34" charset="0"/>
                <a:cs typeface="Tahoma" pitchFamily="34" charset="0"/>
              </a:rPr>
              <a:t>known that </a:t>
            </a:r>
            <a:r>
              <a:rPr lang="en-US" i="1" dirty="0">
                <a:latin typeface="Tahoma" pitchFamily="34" charset="0"/>
                <a:ea typeface="Tahoma" pitchFamily="34" charset="0"/>
                <a:cs typeface="Tahoma" pitchFamily="34" charset="0"/>
              </a:rPr>
              <a:t>at most three locations can exist for a department-replace the </a:t>
            </a:r>
            <a:r>
              <a:rPr lang="en-US" sz="1400" dirty="0">
                <a:latin typeface="Tahoma" pitchFamily="34" charset="0"/>
                <a:ea typeface="Tahoma" pitchFamily="34" charset="0"/>
                <a:cs typeface="Tahoma" pitchFamily="34" charset="0"/>
              </a:rPr>
              <a:t>DLOCATIONS</a:t>
            </a:r>
            <a:r>
              <a:rPr lang="en-US" sz="900" dirty="0">
                <a:latin typeface="Tahoma" pitchFamily="34" charset="0"/>
                <a:ea typeface="Tahoma" pitchFamily="34" charset="0"/>
                <a:cs typeface="Tahoma" pitchFamily="34" charset="0"/>
              </a:rPr>
              <a:t> </a:t>
            </a:r>
            <a:r>
              <a:rPr lang="en-US" dirty="0">
                <a:latin typeface="Tahoma" pitchFamily="34" charset="0"/>
                <a:ea typeface="Tahoma" pitchFamily="34" charset="0"/>
                <a:cs typeface="Tahoma" pitchFamily="34" charset="0"/>
              </a:rPr>
              <a:t>attribute by three atomic attributes: </a:t>
            </a:r>
            <a:r>
              <a:rPr lang="en-US" sz="1400" dirty="0">
                <a:latin typeface="Tahoma" pitchFamily="34" charset="0"/>
                <a:ea typeface="Tahoma" pitchFamily="34" charset="0"/>
                <a:cs typeface="Tahoma" pitchFamily="34" charset="0"/>
              </a:rPr>
              <a:t>DLOCATION1, DLOCATION2, </a:t>
            </a:r>
            <a:r>
              <a:rPr lang="en-US" dirty="0">
                <a:latin typeface="Tahoma" pitchFamily="34" charset="0"/>
                <a:ea typeface="Tahoma" pitchFamily="34" charset="0"/>
                <a:cs typeface="Tahoma" pitchFamily="34" charset="0"/>
              </a:rPr>
              <a:t>and </a:t>
            </a:r>
            <a:r>
              <a:rPr lang="en-US" sz="1200" dirty="0">
                <a:latin typeface="Tahoma" pitchFamily="34" charset="0"/>
                <a:ea typeface="Tahoma" pitchFamily="34" charset="0"/>
                <a:cs typeface="Tahoma" pitchFamily="34" charset="0"/>
              </a:rPr>
              <a:t>DLOCATION3.</a:t>
            </a:r>
          </a:p>
          <a:p>
            <a:pPr marL="800100" lvl="1" indent="-342900" algn="just">
              <a:lnSpc>
                <a:spcPct val="150000"/>
              </a:lnSpc>
              <a:buFont typeface="+mj-lt"/>
              <a:buAutoNum type="arabicPeriod" startAt="3"/>
            </a:pPr>
            <a:endParaRPr lang="en-US" sz="1200" dirty="0">
              <a:latin typeface="Tahoma" pitchFamily="34" charset="0"/>
              <a:ea typeface="Tahoma" pitchFamily="34" charset="0"/>
              <a:cs typeface="Tahoma" pitchFamily="34" charset="0"/>
            </a:endParaRPr>
          </a:p>
          <a:p>
            <a:pPr marL="800100" lvl="1" indent="-342900" algn="just">
              <a:lnSpc>
                <a:spcPct val="150000"/>
              </a:lnSpc>
              <a:buFont typeface="Arial" pitchFamily="34" charset="0"/>
              <a:buChar char="•"/>
            </a:pPr>
            <a:r>
              <a:rPr lang="en-US" b="1" dirty="0">
                <a:latin typeface="Tahoma" pitchFamily="34" charset="0"/>
                <a:ea typeface="Tahoma" pitchFamily="34" charset="0"/>
                <a:cs typeface="Tahoma" pitchFamily="34" charset="0"/>
              </a:rPr>
              <a:t>Disadvantage  </a:t>
            </a:r>
          </a:p>
          <a:p>
            <a:pPr marL="1257300" lvl="2" indent="-342900">
              <a:lnSpc>
                <a:spcPct val="150000"/>
              </a:lnSpc>
              <a:buFont typeface="+mj-lt"/>
              <a:buAutoNum type="arabicPeriod"/>
            </a:pPr>
            <a:r>
              <a:rPr lang="en-US" dirty="0">
                <a:latin typeface="Tahoma" pitchFamily="34" charset="0"/>
                <a:ea typeface="Tahoma" pitchFamily="34" charset="0"/>
                <a:cs typeface="Tahoma" pitchFamily="34" charset="0"/>
              </a:rPr>
              <a:t>Introducing </a:t>
            </a:r>
            <a:r>
              <a:rPr lang="en-US" i="1" dirty="0">
                <a:latin typeface="Tahoma" pitchFamily="34" charset="0"/>
                <a:ea typeface="Tahoma" pitchFamily="34" charset="0"/>
                <a:cs typeface="Tahoma" pitchFamily="34" charset="0"/>
              </a:rPr>
              <a:t>null values if most departments </a:t>
            </a:r>
            <a:r>
              <a:rPr lang="en-US" dirty="0">
                <a:latin typeface="Tahoma" pitchFamily="34" charset="0"/>
                <a:ea typeface="Tahoma" pitchFamily="34" charset="0"/>
                <a:cs typeface="Tahoma" pitchFamily="34" charset="0"/>
              </a:rPr>
              <a:t>have fewer than three locations.</a:t>
            </a:r>
            <a:endParaRPr lang="en-US" sz="4000" dirty="0">
              <a:latin typeface="Tahoma" pitchFamily="34" charset="0"/>
              <a:ea typeface="Tahoma" pitchFamily="34" charset="0"/>
              <a:cs typeface="Tahoma" pitchFamily="34" charset="0"/>
            </a:endParaRPr>
          </a:p>
          <a:p>
            <a:pPr marL="1257300" lvl="2" indent="-342900">
              <a:lnSpc>
                <a:spcPct val="150000"/>
              </a:lnSpc>
              <a:buFont typeface="+mj-lt"/>
              <a:buAutoNum type="arabicPeriod"/>
            </a:pPr>
            <a:r>
              <a:rPr lang="en-US" dirty="0">
                <a:latin typeface="Tahoma" pitchFamily="34" charset="0"/>
                <a:ea typeface="Tahoma" pitchFamily="34" charset="0"/>
                <a:cs typeface="Tahoma" pitchFamily="34" charset="0"/>
              </a:rPr>
              <a:t>Introducing  </a:t>
            </a:r>
            <a:r>
              <a:rPr lang="en-US" dirty="0"/>
              <a:t>spurious tuples</a:t>
            </a:r>
            <a:endParaRPr lang="en-US" dirty="0">
              <a:latin typeface="Tahoma" pitchFamily="34" charset="0"/>
              <a:ea typeface="Tahoma" pitchFamily="34" charset="0"/>
              <a:cs typeface="Tahoma" pitchFamily="34" charset="0"/>
            </a:endParaRPr>
          </a:p>
        </p:txBody>
      </p:sp>
      <p:sp>
        <p:nvSpPr>
          <p:cNvPr id="10" name="TextBox 9"/>
          <p:cNvSpPr txBox="1"/>
          <p:nvPr/>
        </p:nvSpPr>
        <p:spPr>
          <a:xfrm>
            <a:off x="304800" y="5029200"/>
            <a:ext cx="8382000" cy="923330"/>
          </a:xfrm>
          <a:prstGeom prst="rect">
            <a:avLst/>
          </a:prstGeom>
          <a:noFill/>
          <a:ln w="22225">
            <a:solidFill>
              <a:schemeClr val="accent1"/>
            </a:solidFill>
          </a:ln>
        </p:spPr>
        <p:txBody>
          <a:bodyPr wrap="square" rtlCol="0">
            <a:spAutoFit/>
          </a:bodyPr>
          <a:lstStyle/>
          <a:p>
            <a:pPr marL="800100" lvl="1" indent="-342900" algn="just">
              <a:lnSpc>
                <a:spcPct val="150000"/>
              </a:lnSpc>
              <a:buFont typeface="Arial" pitchFamily="34" charset="0"/>
              <a:buChar char="•"/>
            </a:pPr>
            <a:r>
              <a:rPr lang="en-US" b="1" i="1" dirty="0">
                <a:latin typeface="Times New Roman"/>
              </a:rPr>
              <a:t>Of the three solutions above, the first is generally considered best because it does not suffer from redundancy and it is completely general</a:t>
            </a:r>
            <a:endParaRPr lang="en-US" b="1" i="1" dirty="0"/>
          </a:p>
        </p:txBody>
      </p:sp>
      <p:sp>
        <p:nvSpPr>
          <p:cNvPr id="9" name="Rectangle 8"/>
          <p:cNvSpPr/>
          <p:nvPr/>
        </p:nvSpPr>
        <p:spPr>
          <a:xfrm>
            <a:off x="0" y="152400"/>
            <a:ext cx="4801314" cy="523220"/>
          </a:xfrm>
          <a:prstGeom prst="rect">
            <a:avLst/>
          </a:prstGeom>
        </p:spPr>
        <p:txBody>
          <a:bodyPr wrap="none">
            <a:spAutoFit/>
          </a:bodyPr>
          <a:lstStyle/>
          <a:p>
            <a:r>
              <a:rPr lang="en-US" sz="2800" b="1" dirty="0">
                <a:solidFill>
                  <a:srgbClr val="002060"/>
                </a:solidFill>
                <a:latin typeface="Tahoma" pitchFamily="34" charset="0"/>
                <a:ea typeface="Tahoma" pitchFamily="34" charset="0"/>
                <a:cs typeface="Tahoma" pitchFamily="34" charset="0"/>
              </a:rPr>
              <a:t>First Normal Form(1NF) 	</a:t>
            </a:r>
          </a:p>
        </p:txBody>
      </p:sp>
    </p:spTree>
  </p:cSld>
  <p:clrMapOvr>
    <a:masterClrMapping/>
  </p:clrMapOvr>
  <p:transition>
    <p:cu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90600"/>
            <a:ext cx="8763000" cy="369332"/>
          </a:xfrm>
          <a:prstGeom prst="rect">
            <a:avLst/>
          </a:prstGeom>
          <a:noFill/>
          <a:ln w="22225">
            <a:noFill/>
          </a:ln>
        </p:spPr>
        <p:txBody>
          <a:bodyPr wrap="square" rtlCol="0">
            <a:spAutoFit/>
          </a:bodyPr>
          <a:lstStyle/>
          <a:p>
            <a:r>
              <a:rPr lang="en-US" b="1" u="sng" dirty="0">
                <a:latin typeface="Tahoma" pitchFamily="34" charset="0"/>
                <a:ea typeface="Tahoma" pitchFamily="34" charset="0"/>
                <a:cs typeface="Tahoma" pitchFamily="34" charset="0"/>
              </a:rPr>
              <a:t> </a:t>
            </a:r>
            <a:endParaRPr lang="en-US" i="1" dirty="0">
              <a:latin typeface="Tahoma" pitchFamily="34" charset="0"/>
              <a:ea typeface="Tahoma" pitchFamily="34" charset="0"/>
              <a:cs typeface="Tahoma" pitchFamily="34" charset="0"/>
            </a:endParaRPr>
          </a:p>
        </p:txBody>
      </p:sp>
      <p:sp>
        <p:nvSpPr>
          <p:cNvPr id="8" name="TextBox 7"/>
          <p:cNvSpPr txBox="1"/>
          <p:nvPr/>
        </p:nvSpPr>
        <p:spPr>
          <a:xfrm>
            <a:off x="152400" y="838200"/>
            <a:ext cx="8763000" cy="1882247"/>
          </a:xfrm>
          <a:prstGeom prst="rect">
            <a:avLst/>
          </a:prstGeom>
          <a:noFill/>
        </p:spPr>
        <p:txBody>
          <a:bodyPr wrap="square" rtlCol="0">
            <a:spAutoFit/>
          </a:bodyPr>
          <a:lstStyle/>
          <a:p>
            <a:pPr marL="457200" indent="-457200" algn="just">
              <a:lnSpc>
                <a:spcPct val="150000"/>
              </a:lnSpc>
              <a:buFont typeface="Arial" pitchFamily="34" charset="0"/>
              <a:buChar char="•"/>
            </a:pPr>
            <a:r>
              <a:rPr lang="en-US" sz="2000" dirty="0">
                <a:latin typeface="Tahoma" pitchFamily="34" charset="0"/>
                <a:ea typeface="Tahoma" pitchFamily="34" charset="0"/>
                <a:cs typeface="Tahoma" pitchFamily="34" charset="0"/>
              </a:rPr>
              <a:t>First normal form also disallows </a:t>
            </a:r>
            <a:r>
              <a:rPr lang="en-US" sz="2000" b="1" dirty="0">
                <a:latin typeface="Tahoma" pitchFamily="34" charset="0"/>
                <a:ea typeface="Tahoma" pitchFamily="34" charset="0"/>
                <a:cs typeface="Tahoma" pitchFamily="34" charset="0"/>
              </a:rPr>
              <a:t>multivalued attributes that are themselves composite. </a:t>
            </a:r>
          </a:p>
          <a:p>
            <a:pPr marL="457200" indent="-457200" algn="just">
              <a:lnSpc>
                <a:spcPct val="150000"/>
              </a:lnSpc>
              <a:buFont typeface="Arial" pitchFamily="34" charset="0"/>
              <a:buChar char="•"/>
            </a:pPr>
            <a:r>
              <a:rPr lang="en-US" sz="2000" dirty="0">
                <a:latin typeface="Tahoma" pitchFamily="34" charset="0"/>
                <a:ea typeface="Tahoma" pitchFamily="34" charset="0"/>
                <a:cs typeface="Tahoma" pitchFamily="34" charset="0"/>
              </a:rPr>
              <a:t>These are called </a:t>
            </a:r>
            <a:r>
              <a:rPr lang="en-US" sz="2000" b="1" dirty="0">
                <a:latin typeface="Tahoma" pitchFamily="34" charset="0"/>
                <a:ea typeface="Tahoma" pitchFamily="34" charset="0"/>
                <a:cs typeface="Tahoma" pitchFamily="34" charset="0"/>
              </a:rPr>
              <a:t>nested relations </a:t>
            </a:r>
            <a:r>
              <a:rPr lang="en-US" sz="2000" dirty="0">
                <a:latin typeface="Tahoma" pitchFamily="34" charset="0"/>
                <a:ea typeface="Tahoma" pitchFamily="34" charset="0"/>
                <a:cs typeface="Tahoma" pitchFamily="34" charset="0"/>
              </a:rPr>
              <a:t>because each tuple can have a relation within it.</a:t>
            </a:r>
            <a:r>
              <a:rPr lang="en-US" sz="2000" dirty="0">
                <a:latin typeface="Times New Roman"/>
              </a:rPr>
              <a:t>.</a:t>
            </a:r>
            <a:endParaRPr lang="en-US" sz="2000" dirty="0">
              <a:latin typeface="Tahoma" pitchFamily="34" charset="0"/>
              <a:ea typeface="Tahoma" pitchFamily="34" charset="0"/>
              <a:cs typeface="Tahoma"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1600200" y="3396258"/>
            <a:ext cx="6528114" cy="1861542"/>
          </a:xfrm>
          <a:prstGeom prst="rect">
            <a:avLst/>
          </a:prstGeom>
          <a:noFill/>
          <a:ln w="9525">
            <a:noFill/>
            <a:miter lim="800000"/>
            <a:headEnd/>
            <a:tailEnd/>
          </a:ln>
          <a:effectLst/>
        </p:spPr>
      </p:pic>
      <p:sp>
        <p:nvSpPr>
          <p:cNvPr id="9" name="TextBox 8"/>
          <p:cNvSpPr txBox="1"/>
          <p:nvPr/>
        </p:nvSpPr>
        <p:spPr>
          <a:xfrm>
            <a:off x="533400" y="5257800"/>
            <a:ext cx="8153400" cy="1107996"/>
          </a:xfrm>
          <a:prstGeom prst="rect">
            <a:avLst/>
          </a:prstGeom>
          <a:noFill/>
        </p:spPr>
        <p:txBody>
          <a:bodyPr wrap="square" rtlCol="0">
            <a:spAutoFit/>
          </a:bodyPr>
          <a:lstStyle/>
          <a:p>
            <a:pPr>
              <a:lnSpc>
                <a:spcPct val="150000"/>
              </a:lnSpc>
            </a:pPr>
            <a:r>
              <a:rPr lang="en-US" sz="2000" dirty="0">
                <a:latin typeface="Tahoma" pitchFamily="34" charset="0"/>
                <a:ea typeface="Tahoma" pitchFamily="34" charset="0"/>
                <a:cs typeface="Tahoma" pitchFamily="34" charset="0"/>
              </a:rPr>
              <a:t>The schema of this </a:t>
            </a:r>
            <a:r>
              <a:rPr lang="en-US" sz="1400" dirty="0">
                <a:latin typeface="Tahoma" pitchFamily="34" charset="0"/>
                <a:ea typeface="Tahoma" pitchFamily="34" charset="0"/>
                <a:cs typeface="Tahoma" pitchFamily="34" charset="0"/>
              </a:rPr>
              <a:t>EMP_PROJ </a:t>
            </a:r>
            <a:r>
              <a:rPr lang="en-US" sz="2000" dirty="0">
                <a:latin typeface="Tahoma" pitchFamily="34" charset="0"/>
                <a:ea typeface="Tahoma" pitchFamily="34" charset="0"/>
                <a:cs typeface="Tahoma" pitchFamily="34" charset="0"/>
              </a:rPr>
              <a:t>relation can be represented as follows: </a:t>
            </a:r>
            <a:r>
              <a:rPr lang="en-US" sz="2400" dirty="0">
                <a:latin typeface="Calibri" pitchFamily="34" charset="0"/>
              </a:rPr>
              <a:t>EMP_PROJ (SSN, ENAME, {PROJS(PNUMBER, HOURS)})</a:t>
            </a:r>
            <a:endParaRPr lang="en-US" sz="5400" dirty="0">
              <a:latin typeface="Calibri" pitchFamily="34" charset="0"/>
            </a:endParaRPr>
          </a:p>
        </p:txBody>
      </p:sp>
      <p:sp>
        <p:nvSpPr>
          <p:cNvPr id="10" name="Rectangle 9"/>
          <p:cNvSpPr/>
          <p:nvPr/>
        </p:nvSpPr>
        <p:spPr>
          <a:xfrm>
            <a:off x="0" y="152400"/>
            <a:ext cx="4801314" cy="523220"/>
          </a:xfrm>
          <a:prstGeom prst="rect">
            <a:avLst/>
          </a:prstGeom>
        </p:spPr>
        <p:txBody>
          <a:bodyPr wrap="none">
            <a:spAutoFit/>
          </a:bodyPr>
          <a:lstStyle/>
          <a:p>
            <a:r>
              <a:rPr lang="en-US" sz="2800" b="1" dirty="0">
                <a:solidFill>
                  <a:srgbClr val="002060"/>
                </a:solidFill>
                <a:latin typeface="Tahoma" pitchFamily="34" charset="0"/>
                <a:ea typeface="Tahoma" pitchFamily="34" charset="0"/>
                <a:cs typeface="Tahoma" pitchFamily="34" charset="0"/>
              </a:rPr>
              <a:t>First Normal Form(1NF) 	</a:t>
            </a:r>
          </a:p>
        </p:txBody>
      </p:sp>
      <p:sp>
        <p:nvSpPr>
          <p:cNvPr id="11" name="TextBox 10"/>
          <p:cNvSpPr txBox="1"/>
          <p:nvPr/>
        </p:nvSpPr>
        <p:spPr>
          <a:xfrm>
            <a:off x="457200" y="3124200"/>
            <a:ext cx="1600200" cy="400110"/>
          </a:xfrm>
          <a:prstGeom prst="rect">
            <a:avLst/>
          </a:prstGeom>
          <a:noFill/>
        </p:spPr>
        <p:txBody>
          <a:bodyPr wrap="square" rtlCol="0">
            <a:spAutoFit/>
          </a:bodyPr>
          <a:lstStyle/>
          <a:p>
            <a:r>
              <a:rPr lang="en-US" sz="2000" b="1" dirty="0"/>
              <a:t>Example :</a:t>
            </a:r>
            <a:endParaRPr lang="en-IN" sz="2000" b="1" dirty="0"/>
          </a:p>
        </p:txBody>
      </p:sp>
    </p:spTree>
  </p:cSld>
  <p:clrMapOvr>
    <a:masterClrMapping/>
  </p:clrMapOvr>
  <p:transition>
    <p:cu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90600"/>
            <a:ext cx="8763000" cy="369332"/>
          </a:xfrm>
          <a:prstGeom prst="rect">
            <a:avLst/>
          </a:prstGeom>
          <a:noFill/>
          <a:ln w="22225">
            <a:noFill/>
          </a:ln>
        </p:spPr>
        <p:txBody>
          <a:bodyPr wrap="square" rtlCol="0">
            <a:spAutoFit/>
          </a:bodyPr>
          <a:lstStyle/>
          <a:p>
            <a:r>
              <a:rPr lang="en-US" b="1" u="sng" dirty="0">
                <a:latin typeface="Tahoma" pitchFamily="34" charset="0"/>
                <a:ea typeface="Tahoma" pitchFamily="34" charset="0"/>
                <a:cs typeface="Tahoma" pitchFamily="34" charset="0"/>
              </a:rPr>
              <a:t> </a:t>
            </a:r>
            <a:endParaRPr lang="en-US" i="1" dirty="0">
              <a:latin typeface="Tahoma" pitchFamily="34" charset="0"/>
              <a:ea typeface="Tahoma" pitchFamily="34" charset="0"/>
              <a:cs typeface="Tahoma" pitchFamily="34" charset="0"/>
            </a:endParaRPr>
          </a:p>
        </p:txBody>
      </p:sp>
      <p:sp>
        <p:nvSpPr>
          <p:cNvPr id="8" name="TextBox 7"/>
          <p:cNvSpPr txBox="1"/>
          <p:nvPr/>
        </p:nvSpPr>
        <p:spPr>
          <a:xfrm>
            <a:off x="228600" y="609600"/>
            <a:ext cx="8763000" cy="570990"/>
          </a:xfrm>
          <a:prstGeom prst="rect">
            <a:avLst/>
          </a:prstGeom>
          <a:noFill/>
        </p:spPr>
        <p:txBody>
          <a:bodyPr wrap="square" rtlCol="0">
            <a:spAutoFit/>
          </a:bodyPr>
          <a:lstStyle/>
          <a:p>
            <a:pPr marL="457200" indent="-457200" algn="just">
              <a:lnSpc>
                <a:spcPct val="150000"/>
              </a:lnSpc>
              <a:buFont typeface="Arial" pitchFamily="34" charset="0"/>
              <a:buChar char="•"/>
            </a:pPr>
            <a:r>
              <a:rPr lang="en-US" sz="2400" b="1" dirty="0">
                <a:latin typeface="Tahoma" pitchFamily="34" charset="0"/>
                <a:ea typeface="Tahoma" pitchFamily="34" charset="0"/>
                <a:cs typeface="Tahoma" pitchFamily="34" charset="0"/>
              </a:rPr>
              <a:t>A relation state of the EMP_PROJ</a:t>
            </a:r>
            <a:endParaRPr lang="en-US" sz="2000" b="1" dirty="0">
              <a:latin typeface="Tahoma" pitchFamily="34" charset="0"/>
              <a:ea typeface="Tahoma" pitchFamily="34" charset="0"/>
              <a:cs typeface="Tahoma" pitchFamily="34" charset="0"/>
            </a:endParaRPr>
          </a:p>
        </p:txBody>
      </p:sp>
      <p:pic>
        <p:nvPicPr>
          <p:cNvPr id="2050" name="Picture 2"/>
          <p:cNvPicPr>
            <a:picLocks noChangeAspect="1" noChangeArrowheads="1"/>
          </p:cNvPicPr>
          <p:nvPr/>
        </p:nvPicPr>
        <p:blipFill>
          <a:blip r:embed="rId3" cstate="print"/>
          <a:srcRect/>
          <a:stretch>
            <a:fillRect/>
          </a:stretch>
        </p:blipFill>
        <p:spPr bwMode="auto">
          <a:xfrm>
            <a:off x="2057400" y="1371600"/>
            <a:ext cx="5638800" cy="4984163"/>
          </a:xfrm>
          <a:prstGeom prst="rect">
            <a:avLst/>
          </a:prstGeom>
          <a:noFill/>
          <a:ln w="9525">
            <a:noFill/>
            <a:miter lim="800000"/>
            <a:headEnd/>
            <a:tailEnd/>
          </a:ln>
          <a:effectLst/>
        </p:spPr>
      </p:pic>
      <p:sp>
        <p:nvSpPr>
          <p:cNvPr id="9" name="Rectangle 8"/>
          <p:cNvSpPr/>
          <p:nvPr/>
        </p:nvSpPr>
        <p:spPr>
          <a:xfrm>
            <a:off x="0" y="0"/>
            <a:ext cx="4801314" cy="523220"/>
          </a:xfrm>
          <a:prstGeom prst="rect">
            <a:avLst/>
          </a:prstGeom>
        </p:spPr>
        <p:txBody>
          <a:bodyPr wrap="none">
            <a:spAutoFit/>
          </a:bodyPr>
          <a:lstStyle/>
          <a:p>
            <a:r>
              <a:rPr lang="en-US" sz="2800" b="1" dirty="0">
                <a:solidFill>
                  <a:srgbClr val="002060"/>
                </a:solidFill>
                <a:latin typeface="Tahoma" pitchFamily="34" charset="0"/>
                <a:ea typeface="Tahoma" pitchFamily="34" charset="0"/>
                <a:cs typeface="Tahoma" pitchFamily="34" charset="0"/>
              </a:rPr>
              <a:t>First Normal Form(1NF) 	</a:t>
            </a:r>
          </a:p>
        </p:txBody>
      </p:sp>
    </p:spTree>
  </p:cSld>
  <p:clrMapOvr>
    <a:masterClrMapping/>
  </p:clrMapOvr>
  <p:transition>
    <p:cu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28600" y="685800"/>
            <a:ext cx="8458200" cy="2215991"/>
          </a:xfrm>
          <a:prstGeom prst="rect">
            <a:avLst/>
          </a:prstGeom>
          <a:noFill/>
        </p:spPr>
        <p:txBody>
          <a:bodyPr wrap="square" rtlCol="0">
            <a:spAutoFit/>
          </a:bodyPr>
          <a:lstStyle/>
          <a:p>
            <a:pPr algn="just">
              <a:lnSpc>
                <a:spcPct val="150000"/>
              </a:lnSpc>
            </a:pPr>
            <a:r>
              <a:rPr lang="en-US" sz="2000" b="1" dirty="0">
                <a:latin typeface="Tahoma" pitchFamily="34" charset="0"/>
                <a:ea typeface="Tahoma" pitchFamily="34" charset="0"/>
                <a:cs typeface="Tahoma" pitchFamily="34" charset="0"/>
              </a:rPr>
              <a:t>To normalize this into INF </a:t>
            </a:r>
            <a:r>
              <a:rPr lang="en-US" b="1" dirty="0">
                <a:latin typeface="Tahoma" pitchFamily="34" charset="0"/>
                <a:ea typeface="Tahoma" pitchFamily="34" charset="0"/>
                <a:cs typeface="Tahoma" pitchFamily="34" charset="0"/>
              </a:rPr>
              <a:t>:</a:t>
            </a:r>
          </a:p>
          <a:p>
            <a:pPr marL="800100" lvl="1" indent="-342900" algn="just">
              <a:lnSpc>
                <a:spcPct val="150000"/>
              </a:lnSpc>
              <a:buFont typeface="+mj-lt"/>
              <a:buAutoNum type="arabicPeriod"/>
            </a:pPr>
            <a:r>
              <a:rPr lang="en-US" dirty="0">
                <a:latin typeface="Tahoma" pitchFamily="34" charset="0"/>
                <a:ea typeface="Tahoma" pitchFamily="34" charset="0"/>
                <a:cs typeface="Tahoma" pitchFamily="34" charset="0"/>
              </a:rPr>
              <a:t>we remove the  nested relation attributes into a new relation and propagate the primary key into it</a:t>
            </a:r>
          </a:p>
          <a:p>
            <a:pPr marL="800100" lvl="1" indent="-342900" algn="just">
              <a:lnSpc>
                <a:spcPct val="150000"/>
              </a:lnSpc>
              <a:buFont typeface="+mj-lt"/>
              <a:buAutoNum type="arabicPeriod"/>
            </a:pPr>
            <a:r>
              <a:rPr lang="en-US" dirty="0">
                <a:latin typeface="Tahoma" pitchFamily="34" charset="0"/>
                <a:ea typeface="Tahoma" pitchFamily="34" charset="0"/>
                <a:cs typeface="Tahoma" pitchFamily="34" charset="0"/>
              </a:rPr>
              <a:t>The primary key of the new relation will combine the partial key with the primary key of the original relation.</a:t>
            </a:r>
          </a:p>
        </p:txBody>
      </p:sp>
      <p:pic>
        <p:nvPicPr>
          <p:cNvPr id="3074" name="Picture 2"/>
          <p:cNvPicPr>
            <a:picLocks noChangeAspect="1" noChangeArrowheads="1"/>
          </p:cNvPicPr>
          <p:nvPr/>
        </p:nvPicPr>
        <p:blipFill>
          <a:blip r:embed="rId3" cstate="print"/>
          <a:srcRect/>
          <a:stretch>
            <a:fillRect/>
          </a:stretch>
        </p:blipFill>
        <p:spPr bwMode="auto">
          <a:xfrm>
            <a:off x="1524000" y="3352800"/>
            <a:ext cx="5943600" cy="2787706"/>
          </a:xfrm>
          <a:prstGeom prst="rect">
            <a:avLst/>
          </a:prstGeom>
          <a:noFill/>
          <a:ln w="9525">
            <a:noFill/>
            <a:miter lim="800000"/>
            <a:headEnd/>
            <a:tailEnd/>
          </a:ln>
          <a:effectLst/>
        </p:spPr>
      </p:pic>
      <p:sp>
        <p:nvSpPr>
          <p:cNvPr id="9" name="Rectangle 8"/>
          <p:cNvSpPr/>
          <p:nvPr/>
        </p:nvSpPr>
        <p:spPr>
          <a:xfrm>
            <a:off x="0" y="0"/>
            <a:ext cx="4801314" cy="523220"/>
          </a:xfrm>
          <a:prstGeom prst="rect">
            <a:avLst/>
          </a:prstGeom>
        </p:spPr>
        <p:txBody>
          <a:bodyPr wrap="none">
            <a:spAutoFit/>
          </a:bodyPr>
          <a:lstStyle/>
          <a:p>
            <a:r>
              <a:rPr lang="en-US" sz="2800" b="1" dirty="0">
                <a:solidFill>
                  <a:srgbClr val="002060"/>
                </a:solidFill>
                <a:latin typeface="Tahoma" pitchFamily="34" charset="0"/>
                <a:ea typeface="Tahoma" pitchFamily="34" charset="0"/>
                <a:cs typeface="Tahoma" pitchFamily="34" charset="0"/>
              </a:rPr>
              <a:t>First Normal Form(1NF) 	</a:t>
            </a:r>
          </a:p>
        </p:txBody>
      </p:sp>
    </p:spTree>
  </p:cSld>
  <p:clrMapOvr>
    <a:masterClrMapping/>
  </p:clrMapOvr>
  <p:transition>
    <p:cu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0"/>
            <a:ext cx="51816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Second Normal Form(2NF) </a:t>
            </a:r>
            <a:r>
              <a:rPr lang="en-US" sz="2400" b="1" dirty="0">
                <a:solidFill>
                  <a:srgbClr val="002060"/>
                </a:solidFill>
                <a:latin typeface="Tahoma" pitchFamily="34" charset="0"/>
                <a:ea typeface="Tahoma" pitchFamily="34" charset="0"/>
                <a:cs typeface="Tahoma" pitchFamily="34" charset="0"/>
              </a:rPr>
              <a:t>:</a:t>
            </a:r>
          </a:p>
        </p:txBody>
      </p:sp>
      <p:sp>
        <p:nvSpPr>
          <p:cNvPr id="8" name="TextBox 7"/>
          <p:cNvSpPr txBox="1"/>
          <p:nvPr/>
        </p:nvSpPr>
        <p:spPr>
          <a:xfrm>
            <a:off x="381000" y="1676400"/>
            <a:ext cx="8763000" cy="3724096"/>
          </a:xfrm>
          <a:prstGeom prst="rect">
            <a:avLst/>
          </a:prstGeom>
          <a:noFill/>
        </p:spPr>
        <p:txBody>
          <a:bodyPr wrap="square" rtlCol="0">
            <a:spAutoFit/>
          </a:bodyPr>
          <a:lstStyle/>
          <a:p>
            <a:pPr marL="342900" indent="-342900" algn="just">
              <a:lnSpc>
                <a:spcPct val="150000"/>
              </a:lnSpc>
              <a:buFont typeface="+mj-lt"/>
              <a:buAutoNum type="arabicPeriod"/>
            </a:pPr>
            <a:r>
              <a:rPr lang="en-US" dirty="0">
                <a:latin typeface="Tahoma" pitchFamily="34" charset="0"/>
                <a:ea typeface="Tahoma" pitchFamily="34" charset="0"/>
                <a:cs typeface="Tahoma" pitchFamily="34" charset="0"/>
              </a:rPr>
              <a:t>A functional dependency X </a:t>
            </a:r>
            <a:r>
              <a:rPr lang="en-US" dirty="0">
                <a:latin typeface="Tahoma" pitchFamily="34" charset="0"/>
                <a:ea typeface="Tahoma" pitchFamily="34" charset="0"/>
                <a:cs typeface="Tahoma" pitchFamily="34" charset="0"/>
                <a:sym typeface="Wingdings" pitchFamily="2" charset="2"/>
              </a:rPr>
              <a:t> </a:t>
            </a:r>
            <a:r>
              <a:rPr lang="en-US" dirty="0">
                <a:latin typeface="Tahoma" pitchFamily="34" charset="0"/>
                <a:ea typeface="Tahoma" pitchFamily="34" charset="0"/>
                <a:cs typeface="Tahoma" pitchFamily="34" charset="0"/>
              </a:rPr>
              <a:t>Y is a full functional dependency if removal of any attribute A from X means that the dependency does not hold any more; </a:t>
            </a:r>
          </a:p>
          <a:p>
            <a:endParaRPr lang="en-US" dirty="0">
              <a:latin typeface="Tahoma" pitchFamily="34" charset="0"/>
              <a:ea typeface="Tahoma" pitchFamily="34" charset="0"/>
              <a:cs typeface="Tahoma" pitchFamily="34" charset="0"/>
            </a:endParaRPr>
          </a:p>
          <a:p>
            <a:r>
              <a:rPr lang="en-US" sz="1600" b="1" dirty="0">
                <a:solidFill>
                  <a:srgbClr val="C00000"/>
                </a:solidFill>
                <a:latin typeface="Tahoma" pitchFamily="34" charset="0"/>
                <a:ea typeface="Tahoma" pitchFamily="34" charset="0"/>
                <a:cs typeface="Tahoma" pitchFamily="34" charset="0"/>
              </a:rPr>
              <a:t>   i.e.  for any attribute A  </a:t>
            </a:r>
            <a:r>
              <a:rPr lang="el-GR" sz="2000" b="1" dirty="0">
                <a:solidFill>
                  <a:srgbClr val="C00000"/>
                </a:solidFill>
                <a:latin typeface="Tahoma" pitchFamily="34" charset="0"/>
                <a:ea typeface="Tahoma" pitchFamily="34" charset="0"/>
                <a:cs typeface="Tahoma" pitchFamily="34" charset="0"/>
              </a:rPr>
              <a:t>ϵ</a:t>
            </a:r>
            <a:r>
              <a:rPr lang="en-US" sz="2000" b="1" dirty="0">
                <a:solidFill>
                  <a:srgbClr val="C00000"/>
                </a:solidFill>
                <a:latin typeface="Tahoma" pitchFamily="34" charset="0"/>
                <a:ea typeface="Tahoma" pitchFamily="34" charset="0"/>
                <a:cs typeface="Tahoma" pitchFamily="34" charset="0"/>
              </a:rPr>
              <a:t> </a:t>
            </a:r>
            <a:r>
              <a:rPr lang="en-US" sz="1600" b="1" dirty="0">
                <a:solidFill>
                  <a:srgbClr val="C00000"/>
                </a:solidFill>
                <a:latin typeface="Tahoma" pitchFamily="34" charset="0"/>
                <a:ea typeface="Tahoma" pitchFamily="34" charset="0"/>
                <a:cs typeface="Tahoma" pitchFamily="34" charset="0"/>
              </a:rPr>
              <a:t>  X,    (X - </a:t>
            </a:r>
            <a:r>
              <a:rPr lang="en-US" sz="1600" b="1" i="1" dirty="0">
                <a:solidFill>
                  <a:srgbClr val="C00000"/>
                </a:solidFill>
                <a:latin typeface="Tahoma" pitchFamily="34" charset="0"/>
                <a:ea typeface="Tahoma" pitchFamily="34" charset="0"/>
                <a:cs typeface="Tahoma" pitchFamily="34" charset="0"/>
              </a:rPr>
              <a:t>{A}) v does not functionally determine Y</a:t>
            </a:r>
          </a:p>
          <a:p>
            <a:endParaRPr lang="en-US" i="1" dirty="0">
              <a:latin typeface="Tahoma" pitchFamily="34" charset="0"/>
              <a:ea typeface="Tahoma" pitchFamily="34" charset="0"/>
              <a:cs typeface="Tahoma" pitchFamily="34" charset="0"/>
            </a:endParaRPr>
          </a:p>
          <a:p>
            <a:pPr marL="342900" indent="-342900">
              <a:lnSpc>
                <a:spcPct val="150000"/>
              </a:lnSpc>
              <a:buFont typeface="+mj-lt"/>
              <a:buAutoNum type="arabicPeriod" startAt="2"/>
            </a:pPr>
            <a:r>
              <a:rPr lang="en-US" dirty="0">
                <a:latin typeface="Tahoma" pitchFamily="34" charset="0"/>
                <a:ea typeface="Tahoma" pitchFamily="34" charset="0"/>
                <a:cs typeface="Tahoma" pitchFamily="34" charset="0"/>
              </a:rPr>
              <a:t>A functional dependency X </a:t>
            </a:r>
            <a:r>
              <a:rPr lang="en-US" dirty="0">
                <a:latin typeface="Tahoma" pitchFamily="34" charset="0"/>
                <a:ea typeface="Tahoma" pitchFamily="34" charset="0"/>
                <a:cs typeface="Tahoma" pitchFamily="34" charset="0"/>
                <a:sym typeface="Wingdings" pitchFamily="2" charset="2"/>
              </a:rPr>
              <a:t></a:t>
            </a:r>
            <a:r>
              <a:rPr lang="en-US" dirty="0">
                <a:latin typeface="Tahoma" pitchFamily="34" charset="0"/>
                <a:ea typeface="Tahoma" pitchFamily="34" charset="0"/>
                <a:cs typeface="Tahoma" pitchFamily="34" charset="0"/>
              </a:rPr>
              <a:t> Y is a partial dependency if some attribute A can be removed from X and the </a:t>
            </a:r>
            <a:r>
              <a:rPr lang="en-US" b="1" i="1" dirty="0">
                <a:latin typeface="Tahoma" pitchFamily="34" charset="0"/>
                <a:ea typeface="Tahoma" pitchFamily="34" charset="0"/>
                <a:cs typeface="Tahoma" pitchFamily="34" charset="0"/>
              </a:rPr>
              <a:t>dependency still holds;</a:t>
            </a:r>
          </a:p>
          <a:p>
            <a:pPr>
              <a:lnSpc>
                <a:spcPct val="150000"/>
              </a:lnSpc>
            </a:pPr>
            <a:endParaRPr lang="en-US" dirty="0"/>
          </a:p>
          <a:p>
            <a:pPr>
              <a:lnSpc>
                <a:spcPct val="150000"/>
              </a:lnSpc>
            </a:pPr>
            <a:r>
              <a:rPr lang="en-US" dirty="0">
                <a:solidFill>
                  <a:srgbClr val="C00000"/>
                </a:solidFill>
              </a:rPr>
              <a:t>    that is, for some  A </a:t>
            </a:r>
            <a:r>
              <a:rPr lang="el-GR" sz="2400" b="1" dirty="0">
                <a:solidFill>
                  <a:srgbClr val="C00000"/>
                </a:solidFill>
                <a:latin typeface="Tahoma" pitchFamily="34" charset="0"/>
                <a:ea typeface="Tahoma" pitchFamily="34" charset="0"/>
                <a:cs typeface="Tahoma" pitchFamily="34" charset="0"/>
              </a:rPr>
              <a:t>ϵ</a:t>
            </a:r>
            <a:r>
              <a:rPr lang="en-US" dirty="0">
                <a:solidFill>
                  <a:srgbClr val="C00000"/>
                </a:solidFill>
              </a:rPr>
              <a:t>  X, (X - </a:t>
            </a:r>
            <a:r>
              <a:rPr lang="en-US" i="1" dirty="0">
                <a:solidFill>
                  <a:srgbClr val="C00000"/>
                </a:solidFill>
              </a:rPr>
              <a:t>{A}) </a:t>
            </a:r>
            <a:r>
              <a:rPr lang="en-US" i="1" dirty="0">
                <a:solidFill>
                  <a:srgbClr val="C00000"/>
                </a:solidFill>
                <a:sym typeface="Wingdings" pitchFamily="2" charset="2"/>
              </a:rPr>
              <a:t></a:t>
            </a:r>
            <a:r>
              <a:rPr lang="en-US" i="1" dirty="0">
                <a:solidFill>
                  <a:srgbClr val="C00000"/>
                </a:solidFill>
              </a:rPr>
              <a:t> Y.</a:t>
            </a:r>
          </a:p>
        </p:txBody>
      </p:sp>
      <p:sp>
        <p:nvSpPr>
          <p:cNvPr id="11" name="Rectangle 10"/>
          <p:cNvSpPr/>
          <p:nvPr/>
        </p:nvSpPr>
        <p:spPr>
          <a:xfrm>
            <a:off x="304800" y="762000"/>
            <a:ext cx="8153400" cy="646331"/>
          </a:xfrm>
          <a:prstGeom prst="rect">
            <a:avLst/>
          </a:prstGeom>
        </p:spPr>
        <p:txBody>
          <a:bodyPr wrap="square">
            <a:spAutoFit/>
          </a:bodyPr>
          <a:lstStyle/>
          <a:p>
            <a:pPr algn="just">
              <a:lnSpc>
                <a:spcPct val="150000"/>
              </a:lnSpc>
            </a:pPr>
            <a:r>
              <a:rPr lang="en-US" sz="2400" b="1" dirty="0">
                <a:latin typeface="Tahoma" pitchFamily="34" charset="0"/>
                <a:ea typeface="Tahoma" pitchFamily="34" charset="0"/>
                <a:cs typeface="Tahoma" pitchFamily="34" charset="0"/>
              </a:rPr>
              <a:t>Definitions:  </a:t>
            </a:r>
            <a:r>
              <a:rPr lang="en-US" sz="2000" b="1" dirty="0">
                <a:latin typeface="Tahoma" pitchFamily="34" charset="0"/>
                <a:ea typeface="Tahoma" pitchFamily="34" charset="0"/>
                <a:cs typeface="Tahoma" pitchFamily="34" charset="0"/>
              </a:rPr>
              <a:t>Full  and partial functional dependency:</a:t>
            </a:r>
          </a:p>
        </p:txBody>
      </p:sp>
    </p:spTree>
  </p:cSld>
  <p:clrMapOvr>
    <a:masterClrMapping/>
  </p:clrMapOvr>
  <p:transition>
    <p:cu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2400" y="533400"/>
            <a:ext cx="8763000" cy="1107996"/>
          </a:xfrm>
          <a:prstGeom prst="rect">
            <a:avLst/>
          </a:prstGeom>
          <a:noFill/>
        </p:spPr>
        <p:txBody>
          <a:bodyPr wrap="square" rtlCol="0">
            <a:spAutoFit/>
          </a:bodyPr>
          <a:lstStyle/>
          <a:p>
            <a:pPr algn="just">
              <a:lnSpc>
                <a:spcPct val="150000"/>
              </a:lnSpc>
            </a:pPr>
            <a:r>
              <a:rPr lang="en-US" sz="2000" b="1" dirty="0">
                <a:latin typeface="Tahoma" pitchFamily="34" charset="0"/>
                <a:ea typeface="Tahoma" pitchFamily="34" charset="0"/>
                <a:cs typeface="Tahoma" pitchFamily="34" charset="0"/>
              </a:rPr>
              <a:t>Full  and partial functional dependency</a:t>
            </a:r>
            <a:r>
              <a:rPr lang="en-US" b="1" dirty="0">
                <a:latin typeface="Tahoma" pitchFamily="34" charset="0"/>
                <a:ea typeface="Tahoma" pitchFamily="34" charset="0"/>
                <a:cs typeface="Tahoma" pitchFamily="34" charset="0"/>
              </a:rPr>
              <a:t>:</a:t>
            </a:r>
          </a:p>
          <a:p>
            <a:pPr>
              <a:lnSpc>
                <a:spcPct val="150000"/>
              </a:lnSpc>
            </a:pPr>
            <a:r>
              <a:rPr lang="en-US" sz="2400" b="1" dirty="0">
                <a:latin typeface="Tahoma" pitchFamily="34" charset="0"/>
                <a:ea typeface="Tahoma" pitchFamily="34" charset="0"/>
                <a:cs typeface="Tahoma" pitchFamily="34" charset="0"/>
              </a:rPr>
              <a:t>Example :</a:t>
            </a:r>
          </a:p>
        </p:txBody>
      </p:sp>
      <p:pic>
        <p:nvPicPr>
          <p:cNvPr id="4098" name="Picture 2"/>
          <p:cNvPicPr>
            <a:picLocks noChangeAspect="1" noChangeArrowheads="1"/>
          </p:cNvPicPr>
          <p:nvPr/>
        </p:nvPicPr>
        <p:blipFill>
          <a:blip r:embed="rId3" cstate="print"/>
          <a:srcRect/>
          <a:stretch>
            <a:fillRect/>
          </a:stretch>
        </p:blipFill>
        <p:spPr bwMode="auto">
          <a:xfrm>
            <a:off x="2590800" y="2895600"/>
            <a:ext cx="174172" cy="135467"/>
          </a:xfrm>
          <a:prstGeom prst="rect">
            <a:avLst/>
          </a:prstGeom>
          <a:noFill/>
          <a:ln w="9525">
            <a:noFill/>
            <a:miter lim="800000"/>
            <a:headEnd/>
            <a:tailEnd/>
          </a:ln>
          <a:effectLst/>
        </p:spPr>
      </p:pic>
      <p:pic>
        <p:nvPicPr>
          <p:cNvPr id="5122" name="Picture 2"/>
          <p:cNvPicPr>
            <a:picLocks noChangeAspect="1" noChangeArrowheads="1"/>
          </p:cNvPicPr>
          <p:nvPr/>
        </p:nvPicPr>
        <p:blipFill>
          <a:blip r:embed="rId4" cstate="print"/>
          <a:srcRect/>
          <a:stretch>
            <a:fillRect/>
          </a:stretch>
        </p:blipFill>
        <p:spPr bwMode="auto">
          <a:xfrm>
            <a:off x="1371600" y="1905000"/>
            <a:ext cx="7573044" cy="2209800"/>
          </a:xfrm>
          <a:prstGeom prst="rect">
            <a:avLst/>
          </a:prstGeom>
          <a:noFill/>
          <a:ln w="9525">
            <a:noFill/>
            <a:miter lim="800000"/>
            <a:headEnd/>
            <a:tailEnd/>
          </a:ln>
          <a:effectLst/>
        </p:spPr>
      </p:pic>
      <p:sp>
        <p:nvSpPr>
          <p:cNvPr id="10" name="TextBox 9"/>
          <p:cNvSpPr txBox="1"/>
          <p:nvPr/>
        </p:nvSpPr>
        <p:spPr>
          <a:xfrm>
            <a:off x="228600" y="4267200"/>
            <a:ext cx="8382000" cy="923330"/>
          </a:xfrm>
          <a:prstGeom prst="rect">
            <a:avLst/>
          </a:prstGeom>
          <a:noFill/>
        </p:spPr>
        <p:txBody>
          <a:bodyPr wrap="square" rtlCol="0">
            <a:spAutoFit/>
          </a:bodyPr>
          <a:lstStyle/>
          <a:p>
            <a:pPr>
              <a:lnSpc>
                <a:spcPct val="150000"/>
              </a:lnSpc>
              <a:buFont typeface="Arial" pitchFamily="34" charset="0"/>
              <a:buChar char="•"/>
            </a:pPr>
            <a:r>
              <a:rPr lang="en-US" b="1" dirty="0"/>
              <a:t>   {SSN, PNUMBER} </a:t>
            </a:r>
            <a:r>
              <a:rPr lang="en-US" dirty="0">
                <a:sym typeface="Wingdings" pitchFamily="2" charset="2"/>
              </a:rPr>
              <a:t></a:t>
            </a:r>
            <a:r>
              <a:rPr lang="en-US" dirty="0"/>
              <a:t> HOURS is a  full dependency</a:t>
            </a:r>
          </a:p>
          <a:p>
            <a:pPr>
              <a:lnSpc>
                <a:spcPct val="150000"/>
              </a:lnSpc>
              <a:buFont typeface="Arial" pitchFamily="34" charset="0"/>
              <a:buChar char="•"/>
            </a:pPr>
            <a:r>
              <a:rPr lang="en-US" b="1" dirty="0"/>
              <a:t>   {SSN, PNUMBER} </a:t>
            </a:r>
            <a:r>
              <a:rPr lang="en-US" dirty="0">
                <a:sym typeface="Wingdings" pitchFamily="2" charset="2"/>
              </a:rPr>
              <a:t></a:t>
            </a:r>
            <a:r>
              <a:rPr lang="en-US" dirty="0"/>
              <a:t> ENAME is partial because SSN </a:t>
            </a:r>
            <a:r>
              <a:rPr lang="en-US" dirty="0">
                <a:sym typeface="Wingdings" pitchFamily="2" charset="2"/>
              </a:rPr>
              <a:t> </a:t>
            </a:r>
            <a:r>
              <a:rPr lang="en-US" dirty="0"/>
              <a:t>ENAME holds.</a:t>
            </a:r>
          </a:p>
        </p:txBody>
      </p:sp>
      <p:sp>
        <p:nvSpPr>
          <p:cNvPr id="9" name="TextBox 8"/>
          <p:cNvSpPr txBox="1"/>
          <p:nvPr/>
        </p:nvSpPr>
        <p:spPr>
          <a:xfrm>
            <a:off x="304800" y="5410200"/>
            <a:ext cx="8610600" cy="1133580"/>
          </a:xfrm>
          <a:prstGeom prst="rect">
            <a:avLst/>
          </a:prstGeom>
          <a:noFill/>
          <a:ln w="15875">
            <a:solidFill>
              <a:schemeClr val="tx1"/>
            </a:solidFill>
          </a:ln>
        </p:spPr>
        <p:txBody>
          <a:bodyPr wrap="square" rtlCol="0">
            <a:spAutoFit/>
          </a:bodyPr>
          <a:lstStyle/>
          <a:p>
            <a:pPr algn="just">
              <a:lnSpc>
                <a:spcPct val="150000"/>
              </a:lnSpc>
            </a:pPr>
            <a:r>
              <a:rPr lang="en-US" sz="2000" b="1" dirty="0">
                <a:solidFill>
                  <a:srgbClr val="0070C0"/>
                </a:solidFill>
                <a:latin typeface="Times New Roman"/>
              </a:rPr>
              <a:t>Second normal form (2NF) is based on the concept of </a:t>
            </a:r>
            <a:r>
              <a:rPr lang="en-US" sz="2400" b="1" i="1" dirty="0">
                <a:solidFill>
                  <a:srgbClr val="0070C0"/>
                </a:solidFill>
                <a:latin typeface="Times New Roman"/>
              </a:rPr>
              <a:t>full functional dependency.</a:t>
            </a:r>
            <a:endParaRPr lang="en-US" sz="2000" b="1" dirty="0">
              <a:solidFill>
                <a:srgbClr val="0070C0"/>
              </a:solidFill>
            </a:endParaRPr>
          </a:p>
        </p:txBody>
      </p:sp>
      <p:sp>
        <p:nvSpPr>
          <p:cNvPr id="11" name="TextBox 10"/>
          <p:cNvSpPr txBox="1"/>
          <p:nvPr/>
        </p:nvSpPr>
        <p:spPr>
          <a:xfrm>
            <a:off x="0" y="0"/>
            <a:ext cx="51816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Second Normal Form(2NF) </a:t>
            </a:r>
            <a:r>
              <a:rPr lang="en-US" sz="2400" b="1" dirty="0">
                <a:solidFill>
                  <a:srgbClr val="002060"/>
                </a:solidFill>
                <a:latin typeface="Tahoma" pitchFamily="34" charset="0"/>
                <a:ea typeface="Tahoma" pitchFamily="34" charset="0"/>
                <a:cs typeface="Tahoma" pitchFamily="34" charset="0"/>
              </a:rPr>
              <a:t>:</a:t>
            </a:r>
          </a:p>
        </p:txBody>
      </p:sp>
    </p:spTree>
  </p:cSld>
  <p:clrMapOvr>
    <a:masterClrMapping/>
  </p:clrMapOvr>
  <p:transition>
    <p:cu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04800" y="838200"/>
            <a:ext cx="8839200" cy="952890"/>
          </a:xfrm>
          <a:prstGeom prst="rect">
            <a:avLst/>
          </a:prstGeom>
          <a:noFill/>
          <a:ln w="15875">
            <a:solidFill>
              <a:schemeClr val="accent1"/>
            </a:solidFill>
          </a:ln>
        </p:spPr>
        <p:txBody>
          <a:bodyPr wrap="square" rtlCol="0">
            <a:spAutoFit/>
          </a:bodyPr>
          <a:lstStyle/>
          <a:p>
            <a:pPr algn="just">
              <a:lnSpc>
                <a:spcPct val="150000"/>
              </a:lnSpc>
            </a:pPr>
            <a:r>
              <a:rPr lang="en-US" sz="2000" b="1" dirty="0"/>
              <a:t>Definition. </a:t>
            </a:r>
            <a:r>
              <a:rPr lang="en-US" sz="2000" dirty="0">
                <a:solidFill>
                  <a:srgbClr val="FF0000"/>
                </a:solidFill>
                <a:latin typeface="Tahoma" pitchFamily="34" charset="0"/>
                <a:ea typeface="Tahoma" pitchFamily="34" charset="0"/>
                <a:cs typeface="Tahoma" pitchFamily="34" charset="0"/>
              </a:rPr>
              <a:t>A relation schema R is in 2NF if every nonprime attribute A in R is </a:t>
            </a:r>
            <a:r>
              <a:rPr lang="en-US" sz="2000" i="1" dirty="0">
                <a:solidFill>
                  <a:srgbClr val="FF0000"/>
                </a:solidFill>
                <a:latin typeface="Tahoma" pitchFamily="34" charset="0"/>
                <a:ea typeface="Tahoma" pitchFamily="34" charset="0"/>
                <a:cs typeface="Tahoma" pitchFamily="34" charset="0"/>
              </a:rPr>
              <a:t>fully  functionally dependent on the primary key of R.</a:t>
            </a:r>
          </a:p>
        </p:txBody>
      </p:sp>
      <p:pic>
        <p:nvPicPr>
          <p:cNvPr id="11" name="Picture 2"/>
          <p:cNvPicPr>
            <a:picLocks noChangeAspect="1" noChangeArrowheads="1"/>
          </p:cNvPicPr>
          <p:nvPr/>
        </p:nvPicPr>
        <p:blipFill>
          <a:blip r:embed="rId3" cstate="print"/>
          <a:srcRect/>
          <a:stretch>
            <a:fillRect/>
          </a:stretch>
        </p:blipFill>
        <p:spPr bwMode="auto">
          <a:xfrm>
            <a:off x="881861" y="2362200"/>
            <a:ext cx="7311905" cy="2133600"/>
          </a:xfrm>
          <a:prstGeom prst="rect">
            <a:avLst/>
          </a:prstGeom>
          <a:noFill/>
          <a:ln w="9525">
            <a:noFill/>
            <a:miter lim="800000"/>
            <a:headEnd/>
            <a:tailEnd/>
          </a:ln>
          <a:effectLst/>
        </p:spPr>
      </p:pic>
      <p:sp>
        <p:nvSpPr>
          <p:cNvPr id="12" name="TextBox 11"/>
          <p:cNvSpPr txBox="1"/>
          <p:nvPr/>
        </p:nvSpPr>
        <p:spPr>
          <a:xfrm>
            <a:off x="381000" y="5029200"/>
            <a:ext cx="8382000" cy="338554"/>
          </a:xfrm>
          <a:prstGeom prst="rect">
            <a:avLst/>
          </a:prstGeom>
          <a:noFill/>
        </p:spPr>
        <p:txBody>
          <a:bodyPr wrap="square" rtlCol="0">
            <a:spAutoFit/>
          </a:bodyPr>
          <a:lstStyle/>
          <a:p>
            <a:r>
              <a:rPr lang="en-US" sz="1600" b="1" dirty="0">
                <a:latin typeface="Tahoma" pitchFamily="34" charset="0"/>
                <a:ea typeface="Tahoma" pitchFamily="34" charset="0"/>
                <a:cs typeface="Tahoma" pitchFamily="34" charset="0"/>
              </a:rPr>
              <a:t>The EMP_PROJ relation is in INF but is not in  2NF.   WHY?</a:t>
            </a:r>
          </a:p>
        </p:txBody>
      </p:sp>
      <p:sp>
        <p:nvSpPr>
          <p:cNvPr id="9" name="TextBox 8"/>
          <p:cNvSpPr txBox="1"/>
          <p:nvPr/>
        </p:nvSpPr>
        <p:spPr>
          <a:xfrm>
            <a:off x="0" y="0"/>
            <a:ext cx="51816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Second Normal Form(2NF) </a:t>
            </a:r>
            <a:r>
              <a:rPr lang="en-US" sz="2400" b="1" dirty="0">
                <a:solidFill>
                  <a:srgbClr val="002060"/>
                </a:solidFill>
                <a:latin typeface="Tahoma" pitchFamily="34" charset="0"/>
                <a:ea typeface="Tahoma" pitchFamily="34" charset="0"/>
                <a:cs typeface="Tahoma" pitchFamily="34" charset="0"/>
              </a:rPr>
              <a:t>:</a:t>
            </a:r>
          </a:p>
        </p:txBody>
      </p:sp>
      <p:sp>
        <p:nvSpPr>
          <p:cNvPr id="10" name="TextBox 9"/>
          <p:cNvSpPr txBox="1"/>
          <p:nvPr/>
        </p:nvSpPr>
        <p:spPr>
          <a:xfrm>
            <a:off x="1981200" y="5638801"/>
            <a:ext cx="3352800" cy="369332"/>
          </a:xfrm>
          <a:prstGeom prst="rect">
            <a:avLst/>
          </a:prstGeom>
          <a:noFill/>
        </p:spPr>
        <p:txBody>
          <a:bodyPr wrap="square" rtlCol="0">
            <a:spAutoFit/>
          </a:bodyPr>
          <a:lstStyle/>
          <a:p>
            <a:r>
              <a:rPr lang="en-US" b="1" dirty="0">
                <a:latin typeface="Tahoma" pitchFamily="34" charset="0"/>
                <a:ea typeface="Tahoma" pitchFamily="34" charset="0"/>
                <a:cs typeface="Tahoma" pitchFamily="34" charset="0"/>
                <a:sym typeface="Wingdings" pitchFamily="2" charset="2"/>
              </a:rPr>
              <a:t> </a:t>
            </a:r>
            <a:r>
              <a:rPr lang="en-US" b="1" dirty="0">
                <a:latin typeface="Tahoma" pitchFamily="34" charset="0"/>
                <a:ea typeface="Tahoma" pitchFamily="34" charset="0"/>
                <a:cs typeface="Tahoma" pitchFamily="34" charset="0"/>
              </a:rPr>
              <a:t>Because of FD2  &amp; FD3</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2400" y="685800"/>
            <a:ext cx="8686800" cy="1338828"/>
          </a:xfrm>
          <a:prstGeom prst="rect">
            <a:avLst/>
          </a:prstGeom>
          <a:noFill/>
          <a:ln w="15875">
            <a:solidFill>
              <a:schemeClr val="accent1"/>
            </a:solidFill>
          </a:ln>
        </p:spPr>
        <p:txBody>
          <a:bodyPr wrap="square" rtlCol="0">
            <a:spAutoFit/>
          </a:bodyPr>
          <a:lstStyle/>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 If a relation schema is not in 2NF, it can be "second normalized“ into  a number of 2NF relations in which nonprime attributes are associated only with the part of the primary key on which they are fully functionally dependent.</a:t>
            </a:r>
            <a:endParaRPr lang="en-US" i="1" dirty="0">
              <a:latin typeface="Tahoma" pitchFamily="34" charset="0"/>
              <a:ea typeface="Tahoma" pitchFamily="34" charset="0"/>
              <a:cs typeface="Tahoma" pitchFamily="34" charset="0"/>
            </a:endParaRPr>
          </a:p>
        </p:txBody>
      </p:sp>
      <p:pic>
        <p:nvPicPr>
          <p:cNvPr id="6146" name="Picture 2"/>
          <p:cNvPicPr>
            <a:picLocks noChangeAspect="1" noChangeArrowheads="1"/>
          </p:cNvPicPr>
          <p:nvPr/>
        </p:nvPicPr>
        <p:blipFill>
          <a:blip r:embed="rId3" cstate="print"/>
          <a:srcRect/>
          <a:stretch>
            <a:fillRect/>
          </a:stretch>
        </p:blipFill>
        <p:spPr bwMode="auto">
          <a:xfrm>
            <a:off x="838200" y="2057400"/>
            <a:ext cx="7391400" cy="3510633"/>
          </a:xfrm>
          <a:prstGeom prst="rect">
            <a:avLst/>
          </a:prstGeom>
          <a:noFill/>
          <a:ln w="9525">
            <a:noFill/>
            <a:miter lim="800000"/>
            <a:headEnd/>
            <a:tailEnd/>
          </a:ln>
          <a:effectLst/>
        </p:spPr>
      </p:pic>
      <p:sp>
        <p:nvSpPr>
          <p:cNvPr id="9" name="TextBox 8"/>
          <p:cNvSpPr txBox="1"/>
          <p:nvPr/>
        </p:nvSpPr>
        <p:spPr>
          <a:xfrm>
            <a:off x="152400" y="5943600"/>
            <a:ext cx="8839200" cy="677108"/>
          </a:xfrm>
          <a:prstGeom prst="rect">
            <a:avLst/>
          </a:prstGeom>
          <a:noFill/>
          <a:ln w="28575" cmpd="sng">
            <a:solidFill>
              <a:schemeClr val="accent1"/>
            </a:solidFill>
          </a:ln>
        </p:spPr>
        <p:txBody>
          <a:bodyPr wrap="square" rtlCol="0">
            <a:spAutoFit/>
          </a:bodyPr>
          <a:lstStyle/>
          <a:p>
            <a:r>
              <a:rPr lang="en-US" dirty="0">
                <a:latin typeface="Times New Roman"/>
              </a:rPr>
              <a:t>FD1, FD2, and </a:t>
            </a:r>
            <a:r>
              <a:rPr lang="en-US" dirty="0"/>
              <a:t>FD3  </a:t>
            </a:r>
            <a:r>
              <a:rPr lang="en-US" dirty="0">
                <a:latin typeface="Times New Roman"/>
              </a:rPr>
              <a:t>lead to the decomposition of </a:t>
            </a:r>
            <a:r>
              <a:rPr lang="en-US" sz="1100" dirty="0"/>
              <a:t>EMP_PRO]  </a:t>
            </a:r>
            <a:r>
              <a:rPr lang="en-US" dirty="0">
                <a:latin typeface="Times New Roman"/>
              </a:rPr>
              <a:t>into the three relation schemas </a:t>
            </a:r>
            <a:r>
              <a:rPr lang="en-US" sz="1200" b="1" dirty="0"/>
              <a:t>EP1 EP2</a:t>
            </a:r>
            <a:r>
              <a:rPr lang="en-US" sz="1050" b="1" dirty="0"/>
              <a:t>,</a:t>
            </a:r>
            <a:r>
              <a:rPr lang="en-US" sz="900" b="1" dirty="0"/>
              <a:t> </a:t>
            </a:r>
            <a:r>
              <a:rPr lang="en-US" sz="2000" b="1" dirty="0">
                <a:latin typeface="Times New Roman"/>
              </a:rPr>
              <a:t>and </a:t>
            </a:r>
            <a:r>
              <a:rPr lang="en-US" sz="1200" b="1" dirty="0"/>
              <a:t>EP3</a:t>
            </a:r>
            <a:endParaRPr lang="en-US" b="1" dirty="0"/>
          </a:p>
        </p:txBody>
      </p:sp>
      <p:sp>
        <p:nvSpPr>
          <p:cNvPr id="10" name="TextBox 9"/>
          <p:cNvSpPr txBox="1"/>
          <p:nvPr/>
        </p:nvSpPr>
        <p:spPr>
          <a:xfrm>
            <a:off x="0" y="0"/>
            <a:ext cx="51816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Second Normal Form(2NF) </a:t>
            </a:r>
            <a:r>
              <a:rPr lang="en-US" sz="2400" b="1" dirty="0">
                <a:solidFill>
                  <a:srgbClr val="002060"/>
                </a:solidFill>
                <a:latin typeface="Tahoma" pitchFamily="34" charset="0"/>
                <a:ea typeface="Tahoma" pitchFamily="34" charset="0"/>
                <a:cs typeface="Tahoma" pitchFamily="34" charset="0"/>
              </a:rPr>
              <a:t>:</a:t>
            </a:r>
          </a:p>
        </p:txBody>
      </p:sp>
    </p:spTree>
  </p:cSld>
  <p:clrMapOvr>
    <a:masterClrMapping/>
  </p:clrMapOvr>
  <p:transition>
    <p:cu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228600"/>
            <a:ext cx="53340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Third Normal Form :(3NF) :</a:t>
            </a:r>
          </a:p>
        </p:txBody>
      </p:sp>
      <p:sp>
        <p:nvSpPr>
          <p:cNvPr id="8" name="TextBox 7"/>
          <p:cNvSpPr txBox="1"/>
          <p:nvPr/>
        </p:nvSpPr>
        <p:spPr>
          <a:xfrm>
            <a:off x="228600" y="990600"/>
            <a:ext cx="8686800" cy="4770537"/>
          </a:xfrm>
          <a:prstGeom prst="rect">
            <a:avLst/>
          </a:prstGeom>
          <a:noFill/>
          <a:ln w="15875">
            <a:solidFill>
              <a:schemeClr val="accent1"/>
            </a:solidFill>
          </a:ln>
        </p:spPr>
        <p:txBody>
          <a:bodyPr wrap="square" rtlCol="0">
            <a:spAutoFit/>
          </a:bodyPr>
          <a:lstStyle/>
          <a:p>
            <a:pPr marL="342900" indent="-342900" algn="just">
              <a:lnSpc>
                <a:spcPct val="150000"/>
              </a:lnSpc>
              <a:buFont typeface="Arial" pitchFamily="34" charset="0"/>
              <a:buChar char="•"/>
            </a:pPr>
            <a:r>
              <a:rPr lang="en-US" dirty="0">
                <a:latin typeface="Tahoma" pitchFamily="34" charset="0"/>
                <a:ea typeface="Tahoma" pitchFamily="34" charset="0"/>
                <a:cs typeface="Tahoma" pitchFamily="34" charset="0"/>
              </a:rPr>
              <a:t> </a:t>
            </a:r>
            <a:r>
              <a:rPr lang="en-US" sz="2000" dirty="0">
                <a:latin typeface="Times New Roman"/>
              </a:rPr>
              <a:t>  </a:t>
            </a:r>
            <a:r>
              <a:rPr lang="en-US" sz="2800" dirty="0">
                <a:latin typeface="Tahoma" pitchFamily="34" charset="0"/>
                <a:ea typeface="Tahoma" pitchFamily="34" charset="0"/>
                <a:cs typeface="Tahoma" pitchFamily="34" charset="0"/>
              </a:rPr>
              <a:t>Third </a:t>
            </a:r>
            <a:r>
              <a:rPr lang="en-US" sz="2400" dirty="0">
                <a:latin typeface="Tahoma" pitchFamily="34" charset="0"/>
                <a:ea typeface="Tahoma" pitchFamily="34" charset="0"/>
                <a:cs typeface="Tahoma" pitchFamily="34" charset="0"/>
              </a:rPr>
              <a:t>normal form (3NF) is based on the concept of </a:t>
            </a:r>
            <a:r>
              <a:rPr lang="en-US" sz="2400" b="1" i="1" dirty="0">
                <a:latin typeface="Tahoma" pitchFamily="34" charset="0"/>
                <a:ea typeface="Tahoma" pitchFamily="34" charset="0"/>
                <a:cs typeface="Tahoma" pitchFamily="34" charset="0"/>
              </a:rPr>
              <a:t>transitive dependency</a:t>
            </a:r>
            <a:r>
              <a:rPr lang="en-US" b="1" i="1" dirty="0">
                <a:latin typeface="Tahoma" pitchFamily="34" charset="0"/>
                <a:ea typeface="Tahoma" pitchFamily="34" charset="0"/>
                <a:cs typeface="Tahoma" pitchFamily="34" charset="0"/>
              </a:rPr>
              <a:t>.</a:t>
            </a:r>
          </a:p>
          <a:p>
            <a:pPr marL="342900" indent="-342900" algn="just">
              <a:lnSpc>
                <a:spcPct val="150000"/>
              </a:lnSpc>
            </a:pPr>
            <a:endParaRPr lang="en-US" sz="2000" b="1" i="1" dirty="0">
              <a:latin typeface="Tahoma" pitchFamily="34" charset="0"/>
              <a:ea typeface="Tahoma" pitchFamily="34" charset="0"/>
              <a:cs typeface="Tahoma" pitchFamily="34" charset="0"/>
            </a:endParaRPr>
          </a:p>
          <a:p>
            <a:pPr marL="342900" indent="-342900" algn="just">
              <a:lnSpc>
                <a:spcPct val="150000"/>
              </a:lnSpc>
            </a:pPr>
            <a:r>
              <a:rPr lang="en-US" sz="2400" b="1" i="1" dirty="0">
                <a:latin typeface="Tahoma" pitchFamily="34" charset="0"/>
                <a:ea typeface="Tahoma" pitchFamily="34" charset="0"/>
                <a:cs typeface="Tahoma" pitchFamily="34" charset="0"/>
              </a:rPr>
              <a:t>What is transitive dependency?</a:t>
            </a:r>
          </a:p>
          <a:p>
            <a:pPr marL="342900" indent="-342900" algn="just">
              <a:lnSpc>
                <a:spcPct val="200000"/>
              </a:lnSpc>
              <a:buFont typeface="Arial" pitchFamily="34" charset="0"/>
              <a:buChar char="•"/>
            </a:pPr>
            <a:r>
              <a:rPr lang="en-US" i="1" dirty="0">
                <a:latin typeface="Tahoma" pitchFamily="34" charset="0"/>
                <a:ea typeface="Tahoma" pitchFamily="34" charset="0"/>
                <a:cs typeface="Tahoma" pitchFamily="34" charset="0"/>
              </a:rPr>
              <a:t> </a:t>
            </a:r>
            <a:r>
              <a:rPr lang="en-US" sz="2000" b="1" dirty="0">
                <a:solidFill>
                  <a:srgbClr val="002060"/>
                </a:solidFill>
                <a:latin typeface="Tahoma" pitchFamily="34" charset="0"/>
                <a:ea typeface="Tahoma" pitchFamily="34" charset="0"/>
                <a:cs typeface="Tahoma" pitchFamily="34" charset="0"/>
              </a:rPr>
              <a:t>A functional dependency X </a:t>
            </a:r>
            <a:r>
              <a:rPr lang="en-US" sz="2000" b="1" dirty="0">
                <a:solidFill>
                  <a:srgbClr val="002060"/>
                </a:solidFill>
                <a:latin typeface="Tahoma" pitchFamily="34" charset="0"/>
                <a:ea typeface="Tahoma" pitchFamily="34" charset="0"/>
                <a:cs typeface="Tahoma" pitchFamily="34" charset="0"/>
                <a:sym typeface="Wingdings" pitchFamily="2" charset="2"/>
              </a:rPr>
              <a:t> </a:t>
            </a:r>
            <a:r>
              <a:rPr lang="en-US" sz="2000" b="1" dirty="0">
                <a:solidFill>
                  <a:srgbClr val="002060"/>
                </a:solidFill>
                <a:latin typeface="Tahoma" pitchFamily="34" charset="0"/>
                <a:ea typeface="Tahoma" pitchFamily="34" charset="0"/>
                <a:cs typeface="Tahoma" pitchFamily="34" charset="0"/>
              </a:rPr>
              <a:t>Y in a relation schema R is a transitive dependency if there is a set of attributes Z that is neither a candidate key nor a subset of any key of R, and both X </a:t>
            </a:r>
            <a:r>
              <a:rPr lang="en-US" sz="2000" b="1" dirty="0">
                <a:solidFill>
                  <a:srgbClr val="002060"/>
                </a:solidFill>
                <a:latin typeface="Tahoma" pitchFamily="34" charset="0"/>
                <a:ea typeface="Tahoma" pitchFamily="34" charset="0"/>
                <a:cs typeface="Tahoma" pitchFamily="34" charset="0"/>
                <a:sym typeface="Wingdings" pitchFamily="2" charset="2"/>
              </a:rPr>
              <a:t></a:t>
            </a:r>
            <a:r>
              <a:rPr lang="en-US" sz="2000" b="1" dirty="0">
                <a:solidFill>
                  <a:srgbClr val="002060"/>
                </a:solidFill>
                <a:latin typeface="Tahoma" pitchFamily="34" charset="0"/>
                <a:ea typeface="Tahoma" pitchFamily="34" charset="0"/>
                <a:cs typeface="Tahoma" pitchFamily="34" charset="0"/>
              </a:rPr>
              <a:t>Z and Z </a:t>
            </a:r>
            <a:r>
              <a:rPr lang="en-US" sz="2000" b="1" dirty="0">
                <a:solidFill>
                  <a:srgbClr val="002060"/>
                </a:solidFill>
                <a:latin typeface="Tahoma" pitchFamily="34" charset="0"/>
                <a:ea typeface="Tahoma" pitchFamily="34" charset="0"/>
                <a:cs typeface="Tahoma" pitchFamily="34" charset="0"/>
                <a:sym typeface="Wingdings" pitchFamily="2" charset="2"/>
              </a:rPr>
              <a:t></a:t>
            </a:r>
            <a:r>
              <a:rPr lang="en-US" sz="2000" b="1" dirty="0">
                <a:solidFill>
                  <a:srgbClr val="002060"/>
                </a:solidFill>
                <a:latin typeface="Tahoma" pitchFamily="34" charset="0"/>
                <a:ea typeface="Tahoma" pitchFamily="34" charset="0"/>
                <a:cs typeface="Tahoma" pitchFamily="34" charset="0"/>
              </a:rPr>
              <a:t> Y hold.</a:t>
            </a:r>
            <a:endParaRPr lang="en-US" sz="2800" b="1"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228600"/>
            <a:ext cx="53340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Third Normal Form :(3NF) :</a:t>
            </a:r>
          </a:p>
        </p:txBody>
      </p:sp>
      <p:sp>
        <p:nvSpPr>
          <p:cNvPr id="8" name="TextBox 7"/>
          <p:cNvSpPr txBox="1"/>
          <p:nvPr/>
        </p:nvSpPr>
        <p:spPr>
          <a:xfrm>
            <a:off x="152400" y="990600"/>
            <a:ext cx="8763000" cy="659219"/>
          </a:xfrm>
          <a:prstGeom prst="rect">
            <a:avLst/>
          </a:prstGeom>
          <a:noFill/>
          <a:ln w="15875">
            <a:solidFill>
              <a:schemeClr val="accent1"/>
            </a:solidFill>
          </a:ln>
        </p:spPr>
        <p:txBody>
          <a:bodyPr wrap="square" rtlCol="0">
            <a:spAutoFit/>
          </a:bodyPr>
          <a:lstStyle/>
          <a:p>
            <a:pPr algn="just">
              <a:lnSpc>
                <a:spcPct val="150000"/>
              </a:lnSpc>
            </a:pPr>
            <a:r>
              <a:rPr lang="en-US" sz="2400" b="1" dirty="0">
                <a:latin typeface="Tahoma" pitchFamily="34" charset="0"/>
                <a:ea typeface="Tahoma" pitchFamily="34" charset="0"/>
                <a:cs typeface="Tahoma" pitchFamily="34" charset="0"/>
              </a:rPr>
              <a:t> </a:t>
            </a:r>
            <a:r>
              <a:rPr lang="en-US" sz="2800" b="1" dirty="0">
                <a:latin typeface="Times New Roman"/>
              </a:rPr>
              <a:t>  </a:t>
            </a:r>
            <a:r>
              <a:rPr lang="en-US" sz="2800" b="1" dirty="0">
                <a:latin typeface="Tahoma" pitchFamily="34" charset="0"/>
                <a:ea typeface="Tahoma" pitchFamily="34" charset="0"/>
                <a:cs typeface="Tahoma" pitchFamily="34" charset="0"/>
              </a:rPr>
              <a:t>Example</a:t>
            </a:r>
            <a:endParaRPr lang="en-US" sz="2400" b="1" i="1" dirty="0">
              <a:solidFill>
                <a:srgbClr val="0070C0"/>
              </a:solidFill>
              <a:latin typeface="Tahoma" pitchFamily="34" charset="0"/>
              <a:ea typeface="Tahoma" pitchFamily="34" charset="0"/>
              <a:cs typeface="Tahoma" pitchFamily="34" charset="0"/>
            </a:endParaRPr>
          </a:p>
        </p:txBody>
      </p:sp>
      <p:pic>
        <p:nvPicPr>
          <p:cNvPr id="7171" name="Picture 3"/>
          <p:cNvPicPr>
            <a:picLocks noChangeAspect="1" noChangeArrowheads="1"/>
          </p:cNvPicPr>
          <p:nvPr/>
        </p:nvPicPr>
        <p:blipFill>
          <a:blip r:embed="rId3" cstate="print"/>
          <a:srcRect/>
          <a:stretch>
            <a:fillRect/>
          </a:stretch>
        </p:blipFill>
        <p:spPr bwMode="auto">
          <a:xfrm>
            <a:off x="457200" y="2286000"/>
            <a:ext cx="8358188" cy="1524000"/>
          </a:xfrm>
          <a:prstGeom prst="rect">
            <a:avLst/>
          </a:prstGeom>
          <a:noFill/>
          <a:ln w="9525">
            <a:noFill/>
            <a:miter lim="800000"/>
            <a:headEnd/>
            <a:tailEnd/>
          </a:ln>
          <a:effectLst/>
        </p:spPr>
      </p:pic>
      <p:sp>
        <p:nvSpPr>
          <p:cNvPr id="10" name="TextBox 9"/>
          <p:cNvSpPr txBox="1"/>
          <p:nvPr/>
        </p:nvSpPr>
        <p:spPr>
          <a:xfrm>
            <a:off x="228600" y="4724400"/>
            <a:ext cx="8610600" cy="1015663"/>
          </a:xfrm>
          <a:prstGeom prst="rect">
            <a:avLst/>
          </a:prstGeom>
          <a:solidFill>
            <a:schemeClr val="accent1"/>
          </a:solidFill>
          <a:ln w="6350">
            <a:solidFill>
              <a:schemeClr val="tx1"/>
            </a:solidFill>
          </a:ln>
        </p:spPr>
        <p:txBody>
          <a:bodyPr wrap="square" rtlCol="0">
            <a:spAutoFit/>
          </a:bodyPr>
          <a:lstStyle/>
          <a:p>
            <a:r>
              <a:rPr lang="en-US" sz="2000" dirty="0">
                <a:latin typeface="Calibri" pitchFamily="34" charset="0"/>
                <a:ea typeface="Tahoma" pitchFamily="34" charset="0"/>
                <a:cs typeface="Tahoma" pitchFamily="34" charset="0"/>
              </a:rPr>
              <a:t>SSN </a:t>
            </a:r>
            <a:r>
              <a:rPr lang="en-US" sz="2000" dirty="0">
                <a:latin typeface="Calibri" pitchFamily="34" charset="0"/>
                <a:ea typeface="Tahoma" pitchFamily="34" charset="0"/>
                <a:cs typeface="Tahoma" pitchFamily="34" charset="0"/>
                <a:sym typeface="Wingdings" pitchFamily="2" charset="2"/>
              </a:rPr>
              <a:t></a:t>
            </a:r>
            <a:r>
              <a:rPr lang="en-US" sz="2000" dirty="0">
                <a:latin typeface="Calibri" pitchFamily="34" charset="0"/>
                <a:ea typeface="Tahoma" pitchFamily="34" charset="0"/>
                <a:cs typeface="Tahoma" pitchFamily="34" charset="0"/>
              </a:rPr>
              <a:t> DMGRSSN is transitive through DNUMBER in EMP_DEPT. </a:t>
            </a:r>
          </a:p>
          <a:p>
            <a:r>
              <a:rPr lang="en-US" sz="2000" dirty="0">
                <a:latin typeface="Calibri" pitchFamily="34" charset="0"/>
                <a:ea typeface="Tahoma" pitchFamily="34" charset="0"/>
                <a:cs typeface="Tahoma" pitchFamily="34" charset="0"/>
              </a:rPr>
              <a:t>Because both the dependencies SSN </a:t>
            </a:r>
            <a:r>
              <a:rPr lang="en-US" sz="2000" dirty="0">
                <a:latin typeface="Calibri" pitchFamily="34" charset="0"/>
                <a:ea typeface="Tahoma" pitchFamily="34" charset="0"/>
                <a:cs typeface="Tahoma" pitchFamily="34" charset="0"/>
                <a:sym typeface="Wingdings" pitchFamily="2" charset="2"/>
              </a:rPr>
              <a:t></a:t>
            </a:r>
            <a:r>
              <a:rPr lang="en-US" sz="2000" dirty="0">
                <a:latin typeface="Calibri" pitchFamily="34" charset="0"/>
                <a:ea typeface="Tahoma" pitchFamily="34" charset="0"/>
                <a:cs typeface="Tahoma" pitchFamily="34" charset="0"/>
              </a:rPr>
              <a:t> DNUMBER and DNUMBER </a:t>
            </a:r>
            <a:r>
              <a:rPr lang="en-US" sz="2000" dirty="0">
                <a:latin typeface="Calibri" pitchFamily="34" charset="0"/>
                <a:ea typeface="Tahoma" pitchFamily="34" charset="0"/>
                <a:cs typeface="Tahoma" pitchFamily="34" charset="0"/>
                <a:sym typeface="Wingdings" pitchFamily="2" charset="2"/>
              </a:rPr>
              <a:t></a:t>
            </a:r>
            <a:r>
              <a:rPr lang="en-US" sz="2000" dirty="0">
                <a:latin typeface="Calibri" pitchFamily="34" charset="0"/>
                <a:ea typeface="Tahoma" pitchFamily="34" charset="0"/>
                <a:cs typeface="Tahoma" pitchFamily="34" charset="0"/>
              </a:rPr>
              <a:t> DMGRSSN hold and DNUMBER is neither a key itself nor a subset of the key of EMP_DEPT</a:t>
            </a:r>
          </a:p>
        </p:txBody>
      </p:sp>
    </p:spTree>
  </p:cSld>
  <p:clrMapOvr>
    <a:masterClrMapping/>
  </p:clrMapOvr>
  <p:transition>
    <p:cut/>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2400" y="1066800"/>
            <a:ext cx="8763000" cy="1678986"/>
          </a:xfrm>
          <a:prstGeom prst="rect">
            <a:avLst/>
          </a:prstGeom>
          <a:noFill/>
          <a:ln w="15875">
            <a:solidFill>
              <a:schemeClr val="accent1"/>
            </a:solidFill>
          </a:ln>
        </p:spPr>
        <p:txBody>
          <a:bodyPr wrap="square" rtlCol="0">
            <a:spAutoFit/>
          </a:bodyPr>
          <a:lstStyle/>
          <a:p>
            <a:pPr algn="just">
              <a:lnSpc>
                <a:spcPct val="150000"/>
              </a:lnSpc>
            </a:pPr>
            <a:r>
              <a:rPr lang="en-US" sz="2000" b="1" dirty="0">
                <a:latin typeface="Tahoma" pitchFamily="34" charset="0"/>
                <a:ea typeface="Tahoma" pitchFamily="34" charset="0"/>
                <a:cs typeface="Tahoma" pitchFamily="34" charset="0"/>
              </a:rPr>
              <a:t>Definition : </a:t>
            </a:r>
            <a:r>
              <a:rPr lang="en-US" sz="2400" dirty="0">
                <a:solidFill>
                  <a:srgbClr val="FF0000"/>
                </a:solidFill>
                <a:latin typeface="Tahoma" pitchFamily="34" charset="0"/>
                <a:ea typeface="Tahoma" pitchFamily="34" charset="0"/>
                <a:cs typeface="Tahoma" pitchFamily="34" charset="0"/>
              </a:rPr>
              <a:t>A relation schema R is in 3NF if it satisfies 2NF and no nonprime attribute of R is transitively dependent on the primary key</a:t>
            </a:r>
            <a:r>
              <a:rPr lang="en-US" sz="2000" dirty="0">
                <a:solidFill>
                  <a:srgbClr val="FF0000"/>
                </a:solidFill>
                <a:latin typeface="Tahoma" pitchFamily="34" charset="0"/>
                <a:ea typeface="Tahoma" pitchFamily="34" charset="0"/>
                <a:cs typeface="Tahoma" pitchFamily="34" charset="0"/>
              </a:rPr>
              <a:t>.</a:t>
            </a:r>
            <a:endParaRPr lang="en-US" b="1" i="1" dirty="0">
              <a:solidFill>
                <a:srgbClr val="FF0000"/>
              </a:solidFill>
              <a:latin typeface="Tahoma" pitchFamily="34" charset="0"/>
              <a:ea typeface="Tahoma" pitchFamily="34" charset="0"/>
              <a:cs typeface="Tahoma" pitchFamily="34" charset="0"/>
            </a:endParaRPr>
          </a:p>
        </p:txBody>
      </p:sp>
      <p:pic>
        <p:nvPicPr>
          <p:cNvPr id="9" name="Picture 3"/>
          <p:cNvPicPr>
            <a:picLocks noChangeAspect="1" noChangeArrowheads="1"/>
          </p:cNvPicPr>
          <p:nvPr/>
        </p:nvPicPr>
        <p:blipFill>
          <a:blip r:embed="rId3" cstate="print"/>
          <a:srcRect/>
          <a:stretch>
            <a:fillRect/>
          </a:stretch>
        </p:blipFill>
        <p:spPr bwMode="auto">
          <a:xfrm>
            <a:off x="838199" y="3124200"/>
            <a:ext cx="7104459" cy="1295400"/>
          </a:xfrm>
          <a:prstGeom prst="rect">
            <a:avLst/>
          </a:prstGeom>
          <a:noFill/>
          <a:ln w="9525">
            <a:noFill/>
            <a:miter lim="800000"/>
            <a:headEnd/>
            <a:tailEnd/>
          </a:ln>
          <a:effectLst/>
        </p:spPr>
      </p:pic>
      <p:sp>
        <p:nvSpPr>
          <p:cNvPr id="11" name="TextBox 10"/>
          <p:cNvSpPr txBox="1"/>
          <p:nvPr/>
        </p:nvSpPr>
        <p:spPr>
          <a:xfrm>
            <a:off x="304800" y="4495800"/>
            <a:ext cx="8534400" cy="1754326"/>
          </a:xfrm>
          <a:prstGeom prst="rect">
            <a:avLst/>
          </a:prstGeom>
          <a:noFill/>
          <a:ln w="19050">
            <a:solidFill>
              <a:schemeClr val="accent1"/>
            </a:solidFill>
          </a:ln>
        </p:spPr>
        <p:txBody>
          <a:bodyPr wrap="square" rtlCol="0">
            <a:spAutoFit/>
          </a:bodyPr>
          <a:lstStyle/>
          <a:p>
            <a:pPr algn="just">
              <a:lnSpc>
                <a:spcPct val="150000"/>
              </a:lnSpc>
            </a:pPr>
            <a:r>
              <a:rPr lang="en-US" b="1" dirty="0">
                <a:latin typeface="Times New Roman"/>
              </a:rPr>
              <a:t>The relation schema </a:t>
            </a:r>
            <a:r>
              <a:rPr lang="en-US" sz="1200" b="1" dirty="0"/>
              <a:t>EMP_DEPT</a:t>
            </a:r>
            <a:r>
              <a:rPr lang="en-US" sz="800" b="1" dirty="0"/>
              <a:t> </a:t>
            </a:r>
            <a:r>
              <a:rPr lang="en-US" sz="800" b="1" dirty="0">
                <a:latin typeface="Times New Roman"/>
              </a:rPr>
              <a:t>  </a:t>
            </a:r>
            <a:r>
              <a:rPr lang="en-US" b="1" dirty="0">
                <a:latin typeface="Times New Roman"/>
              </a:rPr>
              <a:t>is in 2NF, since no partial dependencies  on a key exist. However, </a:t>
            </a:r>
            <a:r>
              <a:rPr lang="en-US" sz="1200" b="1" dirty="0"/>
              <a:t>EMP_DEPT </a:t>
            </a:r>
            <a:r>
              <a:rPr lang="en-US" b="1" dirty="0">
                <a:latin typeface="Times New Roman"/>
              </a:rPr>
              <a:t>is not in 3NF because</a:t>
            </a:r>
          </a:p>
          <a:p>
            <a:pPr marL="1257300" lvl="2" indent="-342900">
              <a:lnSpc>
                <a:spcPct val="150000"/>
              </a:lnSpc>
              <a:buFont typeface="+mj-lt"/>
              <a:buAutoNum type="arabicPeriod"/>
            </a:pPr>
            <a:r>
              <a:rPr lang="en-US" dirty="0">
                <a:latin typeface="Times New Roman"/>
              </a:rPr>
              <a:t>SSN</a:t>
            </a:r>
            <a:r>
              <a:rPr lang="en-US" dirty="0">
                <a:latin typeface="Times New Roman"/>
                <a:sym typeface="Wingdings" pitchFamily="2" charset="2"/>
              </a:rPr>
              <a:t>DNUMBER , DNUMBERDMGRSSN, hence  SSN DMGRSSN</a:t>
            </a:r>
          </a:p>
          <a:p>
            <a:pPr marL="1257300" lvl="2" indent="-342900">
              <a:lnSpc>
                <a:spcPct val="150000"/>
              </a:lnSpc>
              <a:buFont typeface="+mj-lt"/>
              <a:buAutoNum type="arabicPeriod"/>
            </a:pPr>
            <a:r>
              <a:rPr lang="en-US" dirty="0">
                <a:latin typeface="Times New Roman"/>
              </a:rPr>
              <a:t>SSN</a:t>
            </a:r>
            <a:r>
              <a:rPr lang="en-US" dirty="0">
                <a:latin typeface="Times New Roman"/>
                <a:sym typeface="Wingdings" pitchFamily="2" charset="2"/>
              </a:rPr>
              <a:t>DNUMBER , DNUMBERDNAME , hence  SSN DNAME</a:t>
            </a:r>
          </a:p>
        </p:txBody>
      </p:sp>
      <p:sp>
        <p:nvSpPr>
          <p:cNvPr id="10" name="TextBox 9"/>
          <p:cNvSpPr txBox="1"/>
          <p:nvPr/>
        </p:nvSpPr>
        <p:spPr>
          <a:xfrm>
            <a:off x="152400" y="228600"/>
            <a:ext cx="53340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Third Normal Form :(3NF) </a:t>
            </a:r>
          </a:p>
        </p:txBody>
      </p:sp>
    </p:spTree>
  </p:cSld>
  <p:clrMapOvr>
    <a:masterClrMapping/>
  </p:clrMapOvr>
  <p:transition>
    <p:cut/>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2400" y="1219200"/>
            <a:ext cx="8763000" cy="952890"/>
          </a:xfrm>
          <a:prstGeom prst="rect">
            <a:avLst/>
          </a:prstGeom>
          <a:noFill/>
          <a:ln w="15875">
            <a:solidFill>
              <a:schemeClr val="accent1"/>
            </a:solidFill>
          </a:ln>
        </p:spPr>
        <p:txBody>
          <a:bodyPr wrap="square" rtlCol="0">
            <a:spAutoFit/>
          </a:bodyPr>
          <a:lstStyle/>
          <a:p>
            <a:pPr algn="just">
              <a:lnSpc>
                <a:spcPct val="150000"/>
              </a:lnSpc>
              <a:buFont typeface="Arial" pitchFamily="34" charset="0"/>
              <a:buChar char="•"/>
            </a:pPr>
            <a:r>
              <a:rPr lang="en-US" sz="2000" dirty="0">
                <a:latin typeface="Tahoma" pitchFamily="34" charset="0"/>
                <a:ea typeface="Tahoma" pitchFamily="34" charset="0"/>
                <a:cs typeface="Tahoma" pitchFamily="34" charset="0"/>
              </a:rPr>
              <a:t> We can normalize EMP_DEPT by decomposing it into the two 3NF relation schemas ED1 and ED2 shown in the Figure</a:t>
            </a:r>
            <a:endParaRPr lang="en-US" i="1" dirty="0">
              <a:solidFill>
                <a:srgbClr val="0070C0"/>
              </a:solidFill>
              <a:latin typeface="Tahoma" pitchFamily="34" charset="0"/>
              <a:ea typeface="Tahoma" pitchFamily="34" charset="0"/>
              <a:cs typeface="Tahoma" pitchFamily="34" charset="0"/>
            </a:endParaRPr>
          </a:p>
        </p:txBody>
      </p:sp>
      <p:pic>
        <p:nvPicPr>
          <p:cNvPr id="8194" name="Picture 2"/>
          <p:cNvPicPr>
            <a:picLocks noChangeAspect="1" noChangeArrowheads="1"/>
          </p:cNvPicPr>
          <p:nvPr/>
        </p:nvPicPr>
        <p:blipFill>
          <a:blip r:embed="rId3" cstate="print"/>
          <a:srcRect/>
          <a:stretch>
            <a:fillRect/>
          </a:stretch>
        </p:blipFill>
        <p:spPr bwMode="auto">
          <a:xfrm>
            <a:off x="1143000" y="2438400"/>
            <a:ext cx="6629400" cy="2891547"/>
          </a:xfrm>
          <a:prstGeom prst="rect">
            <a:avLst/>
          </a:prstGeom>
          <a:noFill/>
          <a:ln w="9525">
            <a:noFill/>
            <a:miter lim="800000"/>
            <a:headEnd/>
            <a:tailEnd/>
          </a:ln>
          <a:effectLst/>
        </p:spPr>
      </p:pic>
      <p:sp>
        <p:nvSpPr>
          <p:cNvPr id="10" name="TextBox 9"/>
          <p:cNvSpPr txBox="1"/>
          <p:nvPr/>
        </p:nvSpPr>
        <p:spPr>
          <a:xfrm>
            <a:off x="304800" y="5562600"/>
            <a:ext cx="8610600" cy="969496"/>
          </a:xfrm>
          <a:prstGeom prst="rect">
            <a:avLst/>
          </a:prstGeom>
          <a:noFill/>
          <a:ln w="22225">
            <a:solidFill>
              <a:schemeClr val="accent1"/>
            </a:solidFill>
          </a:ln>
        </p:spPr>
        <p:txBody>
          <a:bodyPr wrap="square" rtlCol="0">
            <a:spAutoFit/>
          </a:bodyPr>
          <a:lstStyle/>
          <a:p>
            <a:pPr>
              <a:lnSpc>
                <a:spcPct val="150000"/>
              </a:lnSpc>
            </a:pPr>
            <a:r>
              <a:rPr lang="en-US" sz="2000" dirty="0">
                <a:latin typeface="Times New Roman"/>
              </a:rPr>
              <a:t>A  </a:t>
            </a:r>
            <a:r>
              <a:rPr lang="en-US" dirty="0">
                <a:latin typeface="Times New Roman"/>
              </a:rPr>
              <a:t>NATURAL JOIN operation on </a:t>
            </a:r>
            <a:r>
              <a:rPr lang="en-US" sz="1400" dirty="0"/>
              <a:t>ED1 </a:t>
            </a:r>
            <a:r>
              <a:rPr lang="en-US" sz="800" dirty="0"/>
              <a:t> </a:t>
            </a:r>
            <a:r>
              <a:rPr lang="en-US" dirty="0">
                <a:latin typeface="Times New Roman"/>
              </a:rPr>
              <a:t>and </a:t>
            </a:r>
            <a:r>
              <a:rPr lang="en-US" sz="1200" dirty="0"/>
              <a:t>ED2</a:t>
            </a:r>
            <a:r>
              <a:rPr lang="en-US" sz="800" dirty="0"/>
              <a:t> </a:t>
            </a:r>
            <a:r>
              <a:rPr lang="en-US" dirty="0">
                <a:latin typeface="Times New Roman"/>
              </a:rPr>
              <a:t>will recover the original relation </a:t>
            </a:r>
            <a:r>
              <a:rPr lang="en-US" sz="1200" dirty="0"/>
              <a:t>EMP_DEPT </a:t>
            </a:r>
            <a:r>
              <a:rPr lang="en-US" dirty="0">
                <a:latin typeface="Times New Roman"/>
              </a:rPr>
              <a:t>without generating spurious tuples.</a:t>
            </a:r>
            <a:endParaRPr lang="en-US" dirty="0"/>
          </a:p>
        </p:txBody>
      </p:sp>
      <p:sp>
        <p:nvSpPr>
          <p:cNvPr id="9" name="TextBox 8"/>
          <p:cNvSpPr txBox="1"/>
          <p:nvPr/>
        </p:nvSpPr>
        <p:spPr>
          <a:xfrm>
            <a:off x="152400" y="228600"/>
            <a:ext cx="5334000" cy="523220"/>
          </a:xfrm>
          <a:prstGeom prst="rect">
            <a:avLst/>
          </a:prstGeom>
          <a:noFill/>
        </p:spPr>
        <p:txBody>
          <a:bodyPr wrap="square" rtlCol="0">
            <a:spAutoFit/>
          </a:bodyPr>
          <a:lstStyle/>
          <a:p>
            <a:r>
              <a:rPr lang="en-US" sz="2800" b="1" dirty="0">
                <a:solidFill>
                  <a:srgbClr val="002060"/>
                </a:solidFill>
                <a:latin typeface="Tahoma" pitchFamily="34" charset="0"/>
                <a:ea typeface="Tahoma" pitchFamily="34" charset="0"/>
                <a:cs typeface="Tahoma" pitchFamily="34" charset="0"/>
              </a:rPr>
              <a:t>Third Normal Form :(3NF) </a:t>
            </a:r>
          </a:p>
        </p:txBody>
      </p:sp>
    </p:spTree>
  </p:cSld>
  <p:clrMapOvr>
    <a:masterClrMapping/>
  </p:clrMapOvr>
  <p:transition>
    <p:cu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7200" y="152400"/>
            <a:ext cx="8305800" cy="461665"/>
          </a:xfrm>
          <a:prstGeom prst="rect">
            <a:avLst/>
          </a:prstGeom>
          <a:noFill/>
        </p:spPr>
        <p:txBody>
          <a:bodyPr wrap="square" rtlCol="0">
            <a:spAutoFit/>
          </a:bodyPr>
          <a:lstStyle/>
          <a:p>
            <a:r>
              <a:rPr lang="en-US" sz="2400" b="1" dirty="0">
                <a:latin typeface="Tahoma" pitchFamily="34" charset="0"/>
                <a:ea typeface="Tahoma" pitchFamily="34" charset="0"/>
                <a:cs typeface="Tahoma" pitchFamily="34" charset="0"/>
              </a:rPr>
              <a:t>Normal Forms Based on Primary Keys</a:t>
            </a:r>
          </a:p>
        </p:txBody>
      </p:sp>
      <p:pic>
        <p:nvPicPr>
          <p:cNvPr id="9218" name="Picture 2"/>
          <p:cNvPicPr>
            <a:picLocks noChangeAspect="1" noChangeArrowheads="1"/>
          </p:cNvPicPr>
          <p:nvPr/>
        </p:nvPicPr>
        <p:blipFill>
          <a:blip r:embed="rId3" cstate="print"/>
          <a:srcRect/>
          <a:stretch>
            <a:fillRect/>
          </a:stretch>
        </p:blipFill>
        <p:spPr bwMode="auto">
          <a:xfrm>
            <a:off x="84461" y="1219200"/>
            <a:ext cx="8828537" cy="4667250"/>
          </a:xfrm>
          <a:prstGeom prst="rect">
            <a:avLst/>
          </a:prstGeom>
          <a:noFill/>
          <a:ln w="9525">
            <a:noFill/>
            <a:miter lim="800000"/>
            <a:headEnd/>
            <a:tailEnd/>
          </a:ln>
          <a:effectLst/>
        </p:spPr>
      </p:pic>
    </p:spTree>
  </p:cSld>
  <p:clrMapOvr>
    <a:masterClrMapping/>
  </p:clrMapOvr>
  <p:transition>
    <p:cut/>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2590800"/>
            <a:ext cx="8305800" cy="2123658"/>
          </a:xfrm>
          <a:prstGeom prst="rect">
            <a:avLst/>
          </a:prstGeom>
          <a:noFill/>
        </p:spPr>
        <p:txBody>
          <a:bodyPr wrap="square" rtlCol="0">
            <a:spAutoFit/>
          </a:bodyPr>
          <a:lstStyle/>
          <a:p>
            <a:pPr algn="ctr"/>
            <a:r>
              <a:rPr lang="en-US" sz="4400" b="1" dirty="0">
                <a:latin typeface="Tahoma" pitchFamily="34" charset="0"/>
                <a:ea typeface="Tahoma" pitchFamily="34" charset="0"/>
                <a:cs typeface="Tahoma" pitchFamily="34" charset="0"/>
              </a:rPr>
              <a:t>GENERAL DEFINITIONS OF SECOND AND</a:t>
            </a:r>
          </a:p>
          <a:p>
            <a:pPr algn="ctr"/>
            <a:r>
              <a:rPr lang="en-US" sz="4400" b="1" dirty="0">
                <a:latin typeface="Tahoma" pitchFamily="34" charset="0"/>
                <a:ea typeface="Tahoma" pitchFamily="34" charset="0"/>
                <a:cs typeface="Tahoma" pitchFamily="34" charset="0"/>
              </a:rPr>
              <a:t>THIRD NORMAL FORMS</a:t>
            </a:r>
          </a:p>
        </p:txBody>
      </p:sp>
    </p:spTree>
  </p:cSld>
  <p:clrMapOvr>
    <a:masterClrMapping/>
  </p:clrMapOvr>
  <p:transition>
    <p:cut/>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52400"/>
            <a:ext cx="8458200" cy="830997"/>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GENERAL DEFINITIONS OF SECOND AND THIRD NORMAL FORMS</a:t>
            </a:r>
          </a:p>
        </p:txBody>
      </p:sp>
      <p:sp>
        <p:nvSpPr>
          <p:cNvPr id="4" name="TextBox 3"/>
          <p:cNvSpPr txBox="1"/>
          <p:nvPr/>
        </p:nvSpPr>
        <p:spPr>
          <a:xfrm>
            <a:off x="228600" y="1143000"/>
            <a:ext cx="8534400" cy="3831818"/>
          </a:xfrm>
          <a:prstGeom prst="rect">
            <a:avLst/>
          </a:prstGeom>
          <a:noFill/>
        </p:spPr>
        <p:txBody>
          <a:bodyPr wrap="square" rtlCol="0">
            <a:spAutoFit/>
          </a:bodyPr>
          <a:lstStyle/>
          <a:p>
            <a:pPr algn="just">
              <a:lnSpc>
                <a:spcPct val="150000"/>
              </a:lnSpc>
              <a:buFont typeface="Arial" pitchFamily="34" charset="0"/>
              <a:buChar char="•"/>
            </a:pPr>
            <a:r>
              <a:rPr lang="en-US" dirty="0">
                <a:latin typeface="Tahoma" pitchFamily="34" charset="0"/>
                <a:ea typeface="Tahoma" pitchFamily="34" charset="0"/>
                <a:cs typeface="Tahoma" pitchFamily="34" charset="0"/>
              </a:rPr>
              <a:t> The previous definition of 2NF and 3NF do not take other candidate keys of a relation, if any, into account. In this section we give the more general definitions of 2NF and 3NF that take all candidate keys of a relation into account.</a:t>
            </a:r>
          </a:p>
          <a:p>
            <a:pPr algn="just">
              <a:lnSpc>
                <a:spcPct val="150000"/>
              </a:lnSpc>
              <a:buFont typeface="Arial" pitchFamily="34" charset="0"/>
              <a:buChar char="•"/>
            </a:pPr>
            <a:endParaRPr lang="en-US" dirty="0">
              <a:latin typeface="Tahoma" pitchFamily="34" charset="0"/>
              <a:ea typeface="Tahoma" pitchFamily="34" charset="0"/>
              <a:cs typeface="Tahoma" pitchFamily="34" charset="0"/>
            </a:endParaRPr>
          </a:p>
          <a:p>
            <a:pPr lvl="2" algn="just">
              <a:lnSpc>
                <a:spcPct val="150000"/>
              </a:lnSpc>
              <a:buFont typeface="Arial" pitchFamily="34" charset="0"/>
              <a:buChar char="•"/>
            </a:pPr>
            <a:r>
              <a:rPr lang="en-US" dirty="0">
                <a:latin typeface="Tahoma" pitchFamily="34" charset="0"/>
                <a:ea typeface="Tahoma" pitchFamily="34" charset="0"/>
                <a:cs typeface="Tahoma" pitchFamily="34" charset="0"/>
              </a:rPr>
              <a:t>Notice that this does not affect the definition of 1NF, since it is independent of keys and functional dependencies</a:t>
            </a:r>
          </a:p>
          <a:p>
            <a:pPr lvl="2" algn="just">
              <a:lnSpc>
                <a:spcPct val="150000"/>
              </a:lnSpc>
              <a:buFont typeface="Arial" pitchFamily="34" charset="0"/>
              <a:buChar char="•"/>
            </a:pPr>
            <a:endParaRPr lang="en-US" dirty="0">
              <a:latin typeface="Tahoma" pitchFamily="34" charset="0"/>
              <a:ea typeface="Tahoma" pitchFamily="34" charset="0"/>
              <a:cs typeface="Tahoma" pitchFamily="34" charset="0"/>
            </a:endParaRPr>
          </a:p>
          <a:p>
            <a:pPr lvl="2" algn="just">
              <a:lnSpc>
                <a:spcPct val="150000"/>
              </a:lnSpc>
              <a:buFont typeface="Arial" pitchFamily="34" charset="0"/>
              <a:buChar char="•"/>
            </a:pPr>
            <a:r>
              <a:rPr lang="en-US" b="1" dirty="0">
                <a:latin typeface="Tahoma" pitchFamily="34" charset="0"/>
                <a:ea typeface="Tahoma" pitchFamily="34" charset="0"/>
                <a:cs typeface="Tahoma" pitchFamily="34" charset="0"/>
              </a:rPr>
              <a:t>As a general definition of prime attribute, an attribute that is part of any candidate key will be considered as prime</a:t>
            </a:r>
          </a:p>
        </p:txBody>
      </p:sp>
    </p:spTree>
  </p:cSld>
  <p:clrMapOvr>
    <a:masterClrMapping/>
  </p:clrMapOvr>
  <p:transition>
    <p:cut/>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52400"/>
            <a:ext cx="8305800" cy="523220"/>
          </a:xfrm>
          <a:prstGeom prst="rect">
            <a:avLst/>
          </a:prstGeom>
          <a:noFill/>
        </p:spPr>
        <p:txBody>
          <a:bodyPr wrap="square" rtlCol="0">
            <a:spAutoFit/>
          </a:bodyPr>
          <a:lstStyle/>
          <a:p>
            <a:r>
              <a:rPr lang="en-IN" sz="2800" b="1" dirty="0">
                <a:solidFill>
                  <a:srgbClr val="002060"/>
                </a:solidFill>
                <a:latin typeface="Tahoma" pitchFamily="34" charset="0"/>
                <a:ea typeface="Tahoma" pitchFamily="34" charset="0"/>
                <a:cs typeface="Tahoma" pitchFamily="34" charset="0"/>
              </a:rPr>
              <a:t>General Definition of Second Normal Form : </a:t>
            </a:r>
          </a:p>
        </p:txBody>
      </p:sp>
      <p:sp>
        <p:nvSpPr>
          <p:cNvPr id="4" name="TextBox 3"/>
          <p:cNvSpPr txBox="1"/>
          <p:nvPr/>
        </p:nvSpPr>
        <p:spPr>
          <a:xfrm>
            <a:off x="304800" y="1295400"/>
            <a:ext cx="8534400" cy="4570482"/>
          </a:xfrm>
          <a:prstGeom prst="rect">
            <a:avLst/>
          </a:prstGeom>
          <a:noFill/>
        </p:spPr>
        <p:txBody>
          <a:bodyPr wrap="square" rtlCol="0">
            <a:spAutoFit/>
          </a:bodyPr>
          <a:lstStyle/>
          <a:p>
            <a:pPr algn="just">
              <a:lnSpc>
                <a:spcPct val="150000"/>
              </a:lnSpc>
            </a:pPr>
            <a:r>
              <a:rPr lang="en-US" sz="2400" b="1" dirty="0">
                <a:latin typeface="Tahoma" pitchFamily="34" charset="0"/>
                <a:ea typeface="Tahoma" pitchFamily="34" charset="0"/>
                <a:cs typeface="Tahoma" pitchFamily="34" charset="0"/>
              </a:rPr>
              <a:t>Definition :</a:t>
            </a:r>
            <a:r>
              <a:rPr lang="en-US" sz="2400" dirty="0">
                <a:latin typeface="Tahoma" pitchFamily="34" charset="0"/>
                <a:ea typeface="Tahoma" pitchFamily="34" charset="0"/>
                <a:cs typeface="Tahoma" pitchFamily="34" charset="0"/>
              </a:rPr>
              <a:t> </a:t>
            </a:r>
          </a:p>
          <a:p>
            <a:pPr algn="just">
              <a:lnSpc>
                <a:spcPct val="150000"/>
              </a:lnSpc>
            </a:pPr>
            <a:r>
              <a:rPr lang="en-US" sz="2400" dirty="0">
                <a:latin typeface="Tahoma" pitchFamily="34" charset="0"/>
                <a:ea typeface="Tahoma" pitchFamily="34" charset="0"/>
                <a:cs typeface="Tahoma" pitchFamily="34" charset="0"/>
              </a:rPr>
              <a:t>    A relation schema R is in second normal form (2NF) if every nonprime  attribute A in R is not partially dependent on any key of R.</a:t>
            </a:r>
          </a:p>
          <a:p>
            <a:pPr algn="just">
              <a:lnSpc>
                <a:spcPct val="150000"/>
              </a:lnSpc>
            </a:pPr>
            <a:endParaRPr lang="en-US" dirty="0">
              <a:latin typeface="Tahoma" pitchFamily="34" charset="0"/>
              <a:ea typeface="Tahoma" pitchFamily="34" charset="0"/>
              <a:cs typeface="Tahoma" pitchFamily="34" charset="0"/>
            </a:endParaRPr>
          </a:p>
          <a:p>
            <a:pPr algn="just"/>
            <a:r>
              <a:rPr lang="en-US" sz="2400" b="1" dirty="0">
                <a:latin typeface="Times New Roman"/>
              </a:rPr>
              <a:t>This definition can be restated as follows: </a:t>
            </a:r>
          </a:p>
          <a:p>
            <a:pPr algn="just"/>
            <a:endParaRPr lang="en-US" sz="2400" b="1" dirty="0">
              <a:latin typeface="Times New Roman"/>
            </a:endParaRPr>
          </a:p>
          <a:p>
            <a:pPr algn="just">
              <a:lnSpc>
                <a:spcPct val="150000"/>
              </a:lnSpc>
            </a:pPr>
            <a:r>
              <a:rPr lang="en-US" b="1" dirty="0">
                <a:latin typeface="Times New Roman"/>
              </a:rPr>
              <a:t>  </a:t>
            </a:r>
            <a:r>
              <a:rPr lang="en-US" sz="2400" dirty="0">
                <a:latin typeface="Times New Roman"/>
              </a:rPr>
              <a:t>A relation schema R is in 2NF if every nonprime attribute </a:t>
            </a:r>
            <a:r>
              <a:rPr lang="en-US" sz="2400" dirty="0"/>
              <a:t>A </a:t>
            </a:r>
            <a:r>
              <a:rPr lang="en-US" sz="2400" dirty="0">
                <a:latin typeface="Times New Roman"/>
              </a:rPr>
              <a:t>in R is fully functionally dependent on </a:t>
            </a:r>
            <a:r>
              <a:rPr lang="en-US" sz="2400" i="1" dirty="0">
                <a:latin typeface="Times New Roman"/>
              </a:rPr>
              <a:t>every key of R.</a:t>
            </a:r>
            <a:endParaRPr lang="en-US" sz="2400"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52400"/>
            <a:ext cx="8305800" cy="523220"/>
          </a:xfrm>
          <a:prstGeom prst="rect">
            <a:avLst/>
          </a:prstGeom>
          <a:noFill/>
        </p:spPr>
        <p:txBody>
          <a:bodyPr wrap="square" rtlCol="0">
            <a:spAutoFit/>
          </a:bodyPr>
          <a:lstStyle/>
          <a:p>
            <a:r>
              <a:rPr lang="en-IN" sz="2800" b="1" dirty="0">
                <a:solidFill>
                  <a:srgbClr val="002060"/>
                </a:solidFill>
                <a:latin typeface="Tahoma" pitchFamily="34" charset="0"/>
                <a:ea typeface="Tahoma" pitchFamily="34" charset="0"/>
                <a:cs typeface="Tahoma" pitchFamily="34" charset="0"/>
              </a:rPr>
              <a:t>General Definition of Second Normal Form : </a:t>
            </a:r>
          </a:p>
        </p:txBody>
      </p:sp>
      <p:sp>
        <p:nvSpPr>
          <p:cNvPr id="5" name="TextBox 4"/>
          <p:cNvSpPr txBox="1"/>
          <p:nvPr/>
        </p:nvSpPr>
        <p:spPr>
          <a:xfrm>
            <a:off x="304800" y="914400"/>
            <a:ext cx="8610600" cy="1754326"/>
          </a:xfrm>
          <a:prstGeom prst="rect">
            <a:avLst/>
          </a:prstGeom>
          <a:noFill/>
        </p:spPr>
        <p:txBody>
          <a:bodyPr wrap="square" rtlCol="0">
            <a:spAutoFit/>
          </a:bodyPr>
          <a:lstStyle/>
          <a:p>
            <a:pPr algn="just"/>
            <a:r>
              <a:rPr lang="en-US" b="1" dirty="0">
                <a:latin typeface="Tahoma" pitchFamily="34" charset="0"/>
                <a:ea typeface="Tahoma" pitchFamily="34" charset="0"/>
                <a:cs typeface="Tahoma" pitchFamily="34" charset="0"/>
              </a:rPr>
              <a:t>Example:</a:t>
            </a:r>
          </a:p>
          <a:p>
            <a:pPr algn="just">
              <a:lnSpc>
                <a:spcPct val="150000"/>
              </a:lnSpc>
            </a:pPr>
            <a:r>
              <a:rPr lang="en-US" sz="2000" dirty="0">
                <a:latin typeface="Tahoma" pitchFamily="34" charset="0"/>
                <a:ea typeface="Tahoma" pitchFamily="34" charset="0"/>
                <a:cs typeface="Tahoma" pitchFamily="34" charset="0"/>
              </a:rPr>
              <a:t>Consider the relation schema LOTS which describes parcels of land for sale in various counties of a state.</a:t>
            </a:r>
            <a:r>
              <a:rPr lang="en-US" sz="2000" dirty="0"/>
              <a:t> Suppose that there are two candidate keys: </a:t>
            </a:r>
            <a:r>
              <a:rPr lang="en-US" sz="2000" b="1" dirty="0">
                <a:latin typeface="Calibri" pitchFamily="34" charset="0"/>
              </a:rPr>
              <a:t>PROPERTY_ID# </a:t>
            </a:r>
            <a:r>
              <a:rPr lang="en-US" sz="2000" dirty="0">
                <a:latin typeface="Calibri" pitchFamily="34" charset="0"/>
              </a:rPr>
              <a:t> and</a:t>
            </a:r>
            <a:r>
              <a:rPr lang="en-US" sz="2000" b="1" dirty="0">
                <a:latin typeface="Calibri" pitchFamily="34" charset="0"/>
              </a:rPr>
              <a:t>  {COUNTY_NAME, LOT#};</a:t>
            </a:r>
            <a:endParaRPr lang="en-US" sz="2000" b="1" dirty="0">
              <a:latin typeface="Calibri" pitchFamily="34" charset="0"/>
              <a:ea typeface="Tahoma" pitchFamily="34" charset="0"/>
              <a:cs typeface="Tahoma" pitchFamily="34" charset="0"/>
            </a:endParaRPr>
          </a:p>
        </p:txBody>
      </p:sp>
      <p:pic>
        <p:nvPicPr>
          <p:cNvPr id="1026" name="Picture 2"/>
          <p:cNvPicPr>
            <a:picLocks noChangeAspect="1" noChangeArrowheads="1"/>
          </p:cNvPicPr>
          <p:nvPr/>
        </p:nvPicPr>
        <p:blipFill>
          <a:blip r:embed="rId3" cstate="print"/>
          <a:srcRect/>
          <a:stretch>
            <a:fillRect/>
          </a:stretch>
        </p:blipFill>
        <p:spPr bwMode="auto">
          <a:xfrm>
            <a:off x="304800" y="2895600"/>
            <a:ext cx="8245875" cy="2743200"/>
          </a:xfrm>
          <a:prstGeom prst="rect">
            <a:avLst/>
          </a:prstGeom>
          <a:noFill/>
          <a:ln w="9525">
            <a:noFill/>
            <a:miter lim="800000"/>
            <a:headEnd/>
            <a:tailEnd/>
          </a:ln>
          <a:effectLst/>
        </p:spPr>
      </p:pic>
      <p:sp>
        <p:nvSpPr>
          <p:cNvPr id="7" name="TextBox 6"/>
          <p:cNvSpPr txBox="1"/>
          <p:nvPr/>
        </p:nvSpPr>
        <p:spPr>
          <a:xfrm>
            <a:off x="609600" y="5791200"/>
            <a:ext cx="3276600" cy="523220"/>
          </a:xfrm>
          <a:prstGeom prst="rect">
            <a:avLst/>
          </a:prstGeom>
          <a:noFill/>
        </p:spPr>
        <p:txBody>
          <a:bodyPr wrap="square" rtlCol="0">
            <a:spAutoFit/>
          </a:bodyPr>
          <a:lstStyle/>
          <a:p>
            <a:r>
              <a:rPr lang="en-US" dirty="0"/>
              <a:t>This  not in 2NF     </a:t>
            </a:r>
            <a:r>
              <a:rPr lang="en-US" sz="2800" b="1" dirty="0"/>
              <a:t>why?</a:t>
            </a:r>
            <a:endParaRPr lang="en-IN" b="1" dirty="0"/>
          </a:p>
        </p:txBody>
      </p:sp>
      <p:sp>
        <p:nvSpPr>
          <p:cNvPr id="8" name="TextBox 7"/>
          <p:cNvSpPr txBox="1"/>
          <p:nvPr/>
        </p:nvSpPr>
        <p:spPr>
          <a:xfrm>
            <a:off x="3810000" y="5867400"/>
            <a:ext cx="3810000" cy="461665"/>
          </a:xfrm>
          <a:prstGeom prst="rect">
            <a:avLst/>
          </a:prstGeom>
          <a:noFill/>
        </p:spPr>
        <p:txBody>
          <a:bodyPr wrap="square" rtlCol="0">
            <a:spAutoFit/>
          </a:bodyPr>
          <a:lstStyle/>
          <a:p>
            <a:r>
              <a:rPr lang="en-US" sz="2400" b="1" i="1" dirty="0"/>
              <a:t>Because of FD3</a:t>
            </a:r>
            <a:endParaRPr lang="en-IN" sz="2400" b="1" i="1"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600" y="914400"/>
            <a:ext cx="8610600" cy="1015663"/>
          </a:xfrm>
          <a:prstGeom prst="rect">
            <a:avLst/>
          </a:prstGeom>
          <a:noFill/>
        </p:spPr>
        <p:txBody>
          <a:bodyPr wrap="square" rtlCol="0">
            <a:spAutoFit/>
          </a:bodyPr>
          <a:lstStyle/>
          <a:p>
            <a:pPr marL="342900" indent="-342900" algn="just">
              <a:lnSpc>
                <a:spcPct val="150000"/>
              </a:lnSpc>
              <a:buFont typeface="Arial" pitchFamily="34" charset="0"/>
              <a:buChar char="•"/>
            </a:pPr>
            <a:r>
              <a:rPr lang="en-US" sz="1600" dirty="0">
                <a:latin typeface="Tahoma" pitchFamily="34" charset="0"/>
                <a:ea typeface="Tahoma" pitchFamily="34" charset="0"/>
                <a:cs typeface="Tahoma" pitchFamily="34" charset="0"/>
              </a:rPr>
              <a:t> </a:t>
            </a:r>
            <a:r>
              <a:rPr lang="en-US" sz="2000" dirty="0">
                <a:latin typeface="Tahoma" pitchFamily="34" charset="0"/>
                <a:ea typeface="Tahoma" pitchFamily="34" charset="0"/>
                <a:cs typeface="Tahoma" pitchFamily="34" charset="0"/>
              </a:rPr>
              <a:t>To normalize LOTS  into 2NF, we decompose it into the two relations LOTS1  and LOTS2, shown in the following  Figure</a:t>
            </a:r>
            <a:endParaRPr lang="en-US" sz="1600" dirty="0">
              <a:latin typeface="Tahoma" pitchFamily="34" charset="0"/>
              <a:ea typeface="Tahoma" pitchFamily="34" charset="0"/>
              <a:cs typeface="Tahoma" pitchFamily="34" charset="0"/>
            </a:endParaRPr>
          </a:p>
        </p:txBody>
      </p:sp>
      <p:pic>
        <p:nvPicPr>
          <p:cNvPr id="2050" name="Picture 2"/>
          <p:cNvPicPr>
            <a:picLocks noChangeAspect="1" noChangeArrowheads="1"/>
          </p:cNvPicPr>
          <p:nvPr/>
        </p:nvPicPr>
        <p:blipFill>
          <a:blip r:embed="rId3" cstate="print"/>
          <a:srcRect/>
          <a:stretch>
            <a:fillRect/>
          </a:stretch>
        </p:blipFill>
        <p:spPr bwMode="auto">
          <a:xfrm>
            <a:off x="838200" y="2057400"/>
            <a:ext cx="7315200" cy="3672320"/>
          </a:xfrm>
          <a:prstGeom prst="rect">
            <a:avLst/>
          </a:prstGeom>
          <a:noFill/>
          <a:ln w="9525">
            <a:noFill/>
            <a:miter lim="800000"/>
            <a:headEnd/>
            <a:tailEnd/>
          </a:ln>
          <a:effectLst/>
        </p:spPr>
      </p:pic>
      <p:sp>
        <p:nvSpPr>
          <p:cNvPr id="7" name="TextBox 6"/>
          <p:cNvSpPr txBox="1"/>
          <p:nvPr/>
        </p:nvSpPr>
        <p:spPr>
          <a:xfrm>
            <a:off x="304800" y="152400"/>
            <a:ext cx="8305800" cy="523220"/>
          </a:xfrm>
          <a:prstGeom prst="rect">
            <a:avLst/>
          </a:prstGeom>
          <a:noFill/>
        </p:spPr>
        <p:txBody>
          <a:bodyPr wrap="square" rtlCol="0">
            <a:spAutoFit/>
          </a:bodyPr>
          <a:lstStyle/>
          <a:p>
            <a:r>
              <a:rPr lang="en-IN" sz="2800" b="1" dirty="0">
                <a:solidFill>
                  <a:srgbClr val="002060"/>
                </a:solidFill>
                <a:latin typeface="Tahoma" pitchFamily="34" charset="0"/>
                <a:ea typeface="Tahoma" pitchFamily="34" charset="0"/>
                <a:cs typeface="Tahoma" pitchFamily="34" charset="0"/>
              </a:rPr>
              <a:t>General Definition of Second Normal Form : </a:t>
            </a:r>
          </a:p>
        </p:txBody>
      </p:sp>
    </p:spTree>
  </p:cSld>
  <p:clrMapOvr>
    <a:masterClrMapping/>
  </p:clrMapOvr>
  <p:transition>
    <p:cut/>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52400"/>
            <a:ext cx="8305800" cy="523220"/>
          </a:xfrm>
          <a:prstGeom prst="rect">
            <a:avLst/>
          </a:prstGeom>
          <a:noFill/>
        </p:spPr>
        <p:txBody>
          <a:bodyPr wrap="square" rtlCol="0">
            <a:spAutoFit/>
          </a:bodyPr>
          <a:lstStyle/>
          <a:p>
            <a:r>
              <a:rPr lang="en-IN" sz="2800" b="1" dirty="0">
                <a:solidFill>
                  <a:srgbClr val="002060"/>
                </a:solidFill>
                <a:latin typeface="Tahoma" pitchFamily="34" charset="0"/>
                <a:ea typeface="Tahoma" pitchFamily="34" charset="0"/>
                <a:cs typeface="Tahoma" pitchFamily="34" charset="0"/>
              </a:rPr>
              <a:t>General Definition of Third Normal Form </a:t>
            </a:r>
          </a:p>
        </p:txBody>
      </p:sp>
      <p:sp>
        <p:nvSpPr>
          <p:cNvPr id="5" name="TextBox 4"/>
          <p:cNvSpPr txBox="1"/>
          <p:nvPr/>
        </p:nvSpPr>
        <p:spPr>
          <a:xfrm>
            <a:off x="304800" y="1524000"/>
            <a:ext cx="8610600" cy="3231654"/>
          </a:xfrm>
          <a:prstGeom prst="rect">
            <a:avLst/>
          </a:prstGeom>
          <a:noFill/>
        </p:spPr>
        <p:txBody>
          <a:bodyPr wrap="square" rtlCol="0">
            <a:spAutoFit/>
          </a:bodyPr>
          <a:lstStyle/>
          <a:p>
            <a:pPr algn="just">
              <a:lnSpc>
                <a:spcPct val="150000"/>
              </a:lnSpc>
            </a:pPr>
            <a:r>
              <a:rPr lang="en-US" sz="3200" b="1" dirty="0"/>
              <a:t>Definition: </a:t>
            </a:r>
            <a:r>
              <a:rPr lang="en-US" sz="2400" dirty="0">
                <a:solidFill>
                  <a:srgbClr val="FF0000"/>
                </a:solidFill>
              </a:rPr>
              <a:t>A relation schema R is in third normal form (3NF) if, whenever a </a:t>
            </a:r>
            <a:r>
              <a:rPr lang="en-US" sz="2400" i="1" dirty="0">
                <a:solidFill>
                  <a:srgbClr val="FF0000"/>
                </a:solidFill>
              </a:rPr>
              <a:t>nontrivial functional dependency </a:t>
            </a:r>
            <a:r>
              <a:rPr lang="en-US" sz="2400" b="1" i="1" dirty="0">
                <a:solidFill>
                  <a:srgbClr val="FF0000"/>
                </a:solidFill>
              </a:rPr>
              <a:t>X </a:t>
            </a:r>
            <a:r>
              <a:rPr lang="en-US" sz="2400" b="1" i="1" dirty="0">
                <a:solidFill>
                  <a:srgbClr val="FF0000"/>
                </a:solidFill>
                <a:sym typeface="Wingdings" pitchFamily="2" charset="2"/>
              </a:rPr>
              <a:t></a:t>
            </a:r>
            <a:r>
              <a:rPr lang="en-US" sz="2400" b="1" i="1" dirty="0">
                <a:solidFill>
                  <a:srgbClr val="FF0000"/>
                </a:solidFill>
              </a:rPr>
              <a:t> A  </a:t>
            </a:r>
            <a:r>
              <a:rPr lang="en-US" sz="2400" i="1" dirty="0">
                <a:solidFill>
                  <a:srgbClr val="FF0000"/>
                </a:solidFill>
              </a:rPr>
              <a:t>holds in R, either </a:t>
            </a:r>
            <a:endParaRPr lang="en-US" sz="2800" i="1" dirty="0">
              <a:solidFill>
                <a:srgbClr val="FF0000"/>
              </a:solidFill>
            </a:endParaRPr>
          </a:p>
          <a:p>
            <a:pPr marL="800100" lvl="1" indent="-342900" algn="just">
              <a:lnSpc>
                <a:spcPct val="150000"/>
              </a:lnSpc>
              <a:buAutoNum type="alphaLcParenBoth"/>
            </a:pPr>
            <a:r>
              <a:rPr lang="en-US" sz="2800" b="1" i="1" dirty="0"/>
              <a:t> X is a super key of R  or </a:t>
            </a:r>
          </a:p>
          <a:p>
            <a:pPr marL="800100" lvl="1" indent="-342900" algn="just">
              <a:lnSpc>
                <a:spcPct val="150000"/>
              </a:lnSpc>
              <a:buAutoNum type="alphaLcParenBoth"/>
            </a:pPr>
            <a:r>
              <a:rPr lang="en-US" sz="2800" b="1" i="1" dirty="0"/>
              <a:t> A is a prime attribute of R.</a:t>
            </a:r>
            <a:endParaRPr lang="en-US" sz="2800" b="1" i="1" dirty="0">
              <a:ea typeface="Tahoma" pitchFamily="34" charset="0"/>
              <a:cs typeface="Tahoma" pitchFamily="34" charset="0"/>
            </a:endParaRPr>
          </a:p>
        </p:txBody>
      </p:sp>
    </p:spTree>
  </p:cSld>
  <p:clrMapOvr>
    <a:masterClrMapping/>
  </p:clrMapOvr>
  <p:transition>
    <p:cut/>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4800" y="152400"/>
            <a:ext cx="8305800" cy="523220"/>
          </a:xfrm>
          <a:prstGeom prst="rect">
            <a:avLst/>
          </a:prstGeom>
          <a:noFill/>
        </p:spPr>
        <p:txBody>
          <a:bodyPr wrap="square" rtlCol="0">
            <a:spAutoFit/>
          </a:bodyPr>
          <a:lstStyle/>
          <a:p>
            <a:r>
              <a:rPr lang="en-IN" sz="2800" b="1" dirty="0">
                <a:solidFill>
                  <a:srgbClr val="002060"/>
                </a:solidFill>
                <a:latin typeface="Tahoma" pitchFamily="34" charset="0"/>
                <a:ea typeface="Tahoma" pitchFamily="34" charset="0"/>
                <a:cs typeface="Tahoma" pitchFamily="34" charset="0"/>
              </a:rPr>
              <a:t>General Definition of Third Normal Form </a:t>
            </a:r>
          </a:p>
        </p:txBody>
      </p:sp>
      <p:pic>
        <p:nvPicPr>
          <p:cNvPr id="3075" name="Picture 3"/>
          <p:cNvPicPr>
            <a:picLocks noChangeAspect="1" noChangeArrowheads="1"/>
          </p:cNvPicPr>
          <p:nvPr/>
        </p:nvPicPr>
        <p:blipFill>
          <a:blip r:embed="rId3" cstate="print"/>
          <a:srcRect/>
          <a:stretch>
            <a:fillRect/>
          </a:stretch>
        </p:blipFill>
        <p:spPr bwMode="auto">
          <a:xfrm>
            <a:off x="304799" y="1066800"/>
            <a:ext cx="8820473" cy="2743200"/>
          </a:xfrm>
          <a:prstGeom prst="rect">
            <a:avLst/>
          </a:prstGeom>
          <a:noFill/>
          <a:ln w="9525">
            <a:noFill/>
            <a:miter lim="800000"/>
            <a:headEnd/>
            <a:tailEnd/>
          </a:ln>
          <a:effectLst/>
        </p:spPr>
      </p:pic>
      <p:sp>
        <p:nvSpPr>
          <p:cNvPr id="8" name="TextBox 7"/>
          <p:cNvSpPr txBox="1"/>
          <p:nvPr/>
        </p:nvSpPr>
        <p:spPr>
          <a:xfrm>
            <a:off x="304800" y="4419600"/>
            <a:ext cx="8610600" cy="969496"/>
          </a:xfrm>
          <a:prstGeom prst="rect">
            <a:avLst/>
          </a:prstGeom>
          <a:noFill/>
        </p:spPr>
        <p:txBody>
          <a:bodyPr wrap="square" rtlCol="0">
            <a:spAutoFit/>
          </a:bodyPr>
          <a:lstStyle/>
          <a:p>
            <a:pPr algn="just">
              <a:lnSpc>
                <a:spcPct val="150000"/>
              </a:lnSpc>
            </a:pPr>
            <a:r>
              <a:rPr lang="en-US" dirty="0">
                <a:latin typeface="Tahoma" pitchFamily="34" charset="0"/>
                <a:ea typeface="Tahoma" pitchFamily="34" charset="0"/>
                <a:cs typeface="Tahoma" pitchFamily="34" charset="0"/>
              </a:rPr>
              <a:t>According to this definition, LOTS2 is in 3NF. </a:t>
            </a:r>
          </a:p>
          <a:p>
            <a:pPr algn="just">
              <a:lnSpc>
                <a:spcPct val="150000"/>
              </a:lnSpc>
            </a:pPr>
            <a:r>
              <a:rPr lang="en-US" dirty="0">
                <a:latin typeface="Tahoma" pitchFamily="34" charset="0"/>
                <a:ea typeface="Tahoma" pitchFamily="34" charset="0"/>
                <a:cs typeface="Tahoma" pitchFamily="34" charset="0"/>
              </a:rPr>
              <a:t>But </a:t>
            </a:r>
            <a:r>
              <a:rPr lang="en-US" dirty="0"/>
              <a:t>However, FD4 in LOTS1 violates 3NF .  </a:t>
            </a:r>
            <a:r>
              <a:rPr lang="en-US" sz="2000" b="1" dirty="0"/>
              <a:t>WHY ?</a:t>
            </a:r>
            <a:endParaRPr lang="en-US" sz="2000" b="1" dirty="0">
              <a:latin typeface="Tahoma" pitchFamily="34" charset="0"/>
              <a:ea typeface="Tahoma" pitchFamily="34" charset="0"/>
              <a:cs typeface="Tahoma" pitchFamily="34" charset="0"/>
            </a:endParaRPr>
          </a:p>
        </p:txBody>
      </p:sp>
      <p:sp>
        <p:nvSpPr>
          <p:cNvPr id="7" name="Rectangle 6"/>
          <p:cNvSpPr/>
          <p:nvPr/>
        </p:nvSpPr>
        <p:spPr>
          <a:xfrm>
            <a:off x="762000" y="5638800"/>
            <a:ext cx="7086600" cy="923330"/>
          </a:xfrm>
          <a:prstGeom prst="rect">
            <a:avLst/>
          </a:prstGeom>
        </p:spPr>
        <p:txBody>
          <a:bodyPr wrap="square">
            <a:spAutoFit/>
          </a:bodyPr>
          <a:lstStyle/>
          <a:p>
            <a:pPr algn="just">
              <a:lnSpc>
                <a:spcPct val="150000"/>
              </a:lnSpc>
            </a:pPr>
            <a:r>
              <a:rPr lang="en-US" dirty="0"/>
              <a:t> </a:t>
            </a:r>
            <a:r>
              <a:rPr lang="en-US" b="1" dirty="0"/>
              <a:t>Because AREA is not a </a:t>
            </a:r>
            <a:r>
              <a:rPr lang="en-US" b="1" dirty="0" err="1"/>
              <a:t>superkey</a:t>
            </a:r>
            <a:r>
              <a:rPr lang="en-US" b="1"/>
              <a:t> OR </a:t>
            </a:r>
            <a:r>
              <a:rPr lang="en-US" b="1" dirty="0"/>
              <a:t>PRICE is not a prime attribute in LOTS1.</a:t>
            </a:r>
            <a:endParaRPr lang="en-US" b="1" dirty="0">
              <a:latin typeface="Tahoma" pitchFamily="34" charset="0"/>
              <a:ea typeface="Tahoma" pitchFamily="34" charset="0"/>
              <a:cs typeface="Tahoma" pitchFamily="34" charset="0"/>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400" y="1447800"/>
            <a:ext cx="8763000" cy="923330"/>
          </a:xfrm>
          <a:prstGeom prst="rect">
            <a:avLst/>
          </a:prstGeom>
          <a:noFill/>
        </p:spPr>
        <p:txBody>
          <a:bodyPr wrap="square" rtlCol="0">
            <a:spAutoFit/>
          </a:bodyPr>
          <a:lstStyle/>
          <a:p>
            <a:pPr algn="just">
              <a:lnSpc>
                <a:spcPct val="150000"/>
              </a:lnSpc>
            </a:pPr>
            <a:r>
              <a:rPr lang="en-US" dirty="0">
                <a:latin typeface="Tahoma" pitchFamily="34" charset="0"/>
                <a:ea typeface="Tahoma" pitchFamily="34" charset="0"/>
                <a:cs typeface="Tahoma" pitchFamily="34" charset="0"/>
              </a:rPr>
              <a:t>To normalize LOTS1 into 3NF, we decompose it into the relation schemas LOTS1A and LOTS1B shown in Figure</a:t>
            </a:r>
            <a:endParaRPr lang="en-US" sz="1400" b="1" i="1" dirty="0">
              <a:latin typeface="Tahoma" pitchFamily="34" charset="0"/>
              <a:ea typeface="Tahoma" pitchFamily="34" charset="0"/>
              <a:cs typeface="Tahoma" pitchFamily="34" charset="0"/>
            </a:endParaRPr>
          </a:p>
        </p:txBody>
      </p:sp>
      <p:pic>
        <p:nvPicPr>
          <p:cNvPr id="4098" name="Picture 2"/>
          <p:cNvPicPr>
            <a:picLocks noChangeAspect="1" noChangeArrowheads="1"/>
          </p:cNvPicPr>
          <p:nvPr/>
        </p:nvPicPr>
        <p:blipFill>
          <a:blip r:embed="rId3" cstate="print"/>
          <a:srcRect/>
          <a:stretch>
            <a:fillRect/>
          </a:stretch>
        </p:blipFill>
        <p:spPr bwMode="auto">
          <a:xfrm>
            <a:off x="533400" y="2590800"/>
            <a:ext cx="8336789" cy="1762125"/>
          </a:xfrm>
          <a:prstGeom prst="rect">
            <a:avLst/>
          </a:prstGeom>
          <a:noFill/>
          <a:ln w="9525">
            <a:noFill/>
            <a:miter lim="800000"/>
            <a:headEnd/>
            <a:tailEnd/>
          </a:ln>
          <a:effectLst/>
        </p:spPr>
      </p:pic>
      <p:pic>
        <p:nvPicPr>
          <p:cNvPr id="4099" name="Picture 3"/>
          <p:cNvPicPr>
            <a:picLocks noChangeAspect="1" noChangeArrowheads="1"/>
          </p:cNvPicPr>
          <p:nvPr/>
        </p:nvPicPr>
        <p:blipFill>
          <a:blip r:embed="rId4" cstate="print"/>
          <a:srcRect/>
          <a:stretch>
            <a:fillRect/>
          </a:stretch>
        </p:blipFill>
        <p:spPr bwMode="auto">
          <a:xfrm>
            <a:off x="2743200" y="4572000"/>
            <a:ext cx="4648200" cy="2134079"/>
          </a:xfrm>
          <a:prstGeom prst="rect">
            <a:avLst/>
          </a:prstGeom>
          <a:noFill/>
          <a:ln w="9525">
            <a:noFill/>
            <a:miter lim="800000"/>
            <a:headEnd/>
            <a:tailEnd/>
          </a:ln>
          <a:effectLst/>
        </p:spPr>
      </p:pic>
      <p:sp>
        <p:nvSpPr>
          <p:cNvPr id="7" name="TextBox 6"/>
          <p:cNvSpPr txBox="1"/>
          <p:nvPr/>
        </p:nvSpPr>
        <p:spPr>
          <a:xfrm>
            <a:off x="304800" y="152400"/>
            <a:ext cx="8305800" cy="523220"/>
          </a:xfrm>
          <a:prstGeom prst="rect">
            <a:avLst/>
          </a:prstGeom>
          <a:noFill/>
        </p:spPr>
        <p:txBody>
          <a:bodyPr wrap="square" rtlCol="0">
            <a:spAutoFit/>
          </a:bodyPr>
          <a:lstStyle/>
          <a:p>
            <a:r>
              <a:rPr lang="en-IN" sz="2800" b="1" dirty="0">
                <a:solidFill>
                  <a:srgbClr val="002060"/>
                </a:solidFill>
                <a:latin typeface="Tahoma" pitchFamily="34" charset="0"/>
                <a:ea typeface="Tahoma" pitchFamily="34" charset="0"/>
                <a:cs typeface="Tahoma" pitchFamily="34" charset="0"/>
              </a:rPr>
              <a:t>General Definition of Third Normal Form </a:t>
            </a:r>
          </a:p>
        </p:txBody>
      </p:sp>
    </p:spTree>
  </p:cSld>
  <p:clrMapOvr>
    <a:masterClrMapping/>
  </p:clrMapOvr>
  <p:transition>
    <p:cut/>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228600"/>
            <a:ext cx="8305800" cy="800219"/>
          </a:xfrm>
          <a:prstGeom prst="rect">
            <a:avLst/>
          </a:prstGeom>
          <a:noFill/>
        </p:spPr>
        <p:txBody>
          <a:bodyPr wrap="square" rtlCol="0">
            <a:spAutoFit/>
          </a:bodyPr>
          <a:lstStyle/>
          <a:p>
            <a:r>
              <a:rPr lang="en-US" sz="2400" b="1" dirty="0">
                <a:latin typeface="Tahoma" pitchFamily="34" charset="0"/>
                <a:ea typeface="Tahoma" pitchFamily="34" charset="0"/>
                <a:cs typeface="Tahoma" pitchFamily="34" charset="0"/>
              </a:rPr>
              <a:t> </a:t>
            </a:r>
            <a:r>
              <a:rPr lang="en-US" sz="2800" b="1" dirty="0">
                <a:solidFill>
                  <a:srgbClr val="002060"/>
                </a:solidFill>
                <a:latin typeface="Tahoma" pitchFamily="34" charset="0"/>
                <a:ea typeface="Tahoma" pitchFamily="34" charset="0"/>
                <a:cs typeface="Tahoma" pitchFamily="34" charset="0"/>
              </a:rPr>
              <a:t>BOYCE-CODD NORMAL FORM (</a:t>
            </a:r>
            <a:r>
              <a:rPr lang="en-US" sz="2800" dirty="0">
                <a:solidFill>
                  <a:srgbClr val="002060"/>
                </a:solidFill>
                <a:latin typeface="Tahoma" pitchFamily="34" charset="0"/>
                <a:ea typeface="Tahoma" pitchFamily="34" charset="0"/>
                <a:cs typeface="Tahoma" pitchFamily="34" charset="0"/>
              </a:rPr>
              <a:t>BCNF</a:t>
            </a:r>
            <a:r>
              <a:rPr lang="en-US" sz="2800" dirty="0">
                <a:solidFill>
                  <a:srgbClr val="002060"/>
                </a:solidFill>
              </a:rPr>
              <a:t>)</a:t>
            </a:r>
            <a:endParaRPr lang="en-US" sz="2400" dirty="0">
              <a:solidFill>
                <a:srgbClr val="002060"/>
              </a:solidFill>
            </a:endParaRPr>
          </a:p>
          <a:p>
            <a:r>
              <a:rPr lang="en-US" b="1" dirty="0">
                <a:latin typeface="Tahoma" pitchFamily="34" charset="0"/>
                <a:ea typeface="Tahoma" pitchFamily="34" charset="0"/>
                <a:cs typeface="Tahoma" pitchFamily="34" charset="0"/>
              </a:rPr>
              <a:t>         ( A stronger definition for 3NF .  Proposed by Boyce and Codd)</a:t>
            </a:r>
          </a:p>
        </p:txBody>
      </p:sp>
      <p:sp>
        <p:nvSpPr>
          <p:cNvPr id="4" name="TextBox 3"/>
          <p:cNvSpPr txBox="1"/>
          <p:nvPr/>
        </p:nvSpPr>
        <p:spPr>
          <a:xfrm>
            <a:off x="457200" y="1371600"/>
            <a:ext cx="2514600" cy="738664"/>
          </a:xfrm>
          <a:prstGeom prst="rect">
            <a:avLst/>
          </a:prstGeom>
          <a:noFill/>
        </p:spPr>
        <p:txBody>
          <a:bodyPr wrap="square" rtlCol="0">
            <a:spAutoFit/>
          </a:bodyPr>
          <a:lstStyle/>
          <a:p>
            <a:pPr algn="just">
              <a:lnSpc>
                <a:spcPct val="150000"/>
              </a:lnSpc>
            </a:pPr>
            <a:r>
              <a:rPr lang="en-US" sz="2800" b="1" dirty="0">
                <a:latin typeface="Tahoma" pitchFamily="34" charset="0"/>
                <a:ea typeface="Tahoma" pitchFamily="34" charset="0"/>
                <a:cs typeface="Tahoma" pitchFamily="34" charset="0"/>
              </a:rPr>
              <a:t>Why BCNF ?</a:t>
            </a:r>
          </a:p>
        </p:txBody>
      </p:sp>
      <p:pic>
        <p:nvPicPr>
          <p:cNvPr id="2050" name="Picture 2"/>
          <p:cNvPicPr>
            <a:picLocks noChangeAspect="1" noChangeArrowheads="1"/>
          </p:cNvPicPr>
          <p:nvPr/>
        </p:nvPicPr>
        <p:blipFill>
          <a:blip r:embed="rId3" cstate="print"/>
          <a:srcRect/>
          <a:stretch>
            <a:fillRect/>
          </a:stretch>
        </p:blipFill>
        <p:spPr bwMode="auto">
          <a:xfrm>
            <a:off x="685800" y="2667000"/>
            <a:ext cx="7672691" cy="2286000"/>
          </a:xfrm>
          <a:prstGeom prst="rect">
            <a:avLst/>
          </a:prstGeom>
          <a:noFill/>
          <a:ln w="9525">
            <a:noFill/>
            <a:miter lim="800000"/>
            <a:headEnd/>
            <a:tailEnd/>
          </a:ln>
        </p:spPr>
      </p:pic>
    </p:spTree>
  </p:cSld>
  <p:clrMapOvr>
    <a:masterClrMapping/>
  </p:clrMapOvr>
  <p:transition>
    <p:cut/>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228600"/>
            <a:ext cx="8305800" cy="800219"/>
          </a:xfrm>
          <a:prstGeom prst="rect">
            <a:avLst/>
          </a:prstGeom>
          <a:noFill/>
        </p:spPr>
        <p:txBody>
          <a:bodyPr wrap="square" rtlCol="0">
            <a:spAutoFit/>
          </a:bodyPr>
          <a:lstStyle/>
          <a:p>
            <a:r>
              <a:rPr lang="en-US" sz="2400" b="1" dirty="0">
                <a:latin typeface="Tahoma" pitchFamily="34" charset="0"/>
                <a:ea typeface="Tahoma" pitchFamily="34" charset="0"/>
                <a:cs typeface="Tahoma" pitchFamily="34" charset="0"/>
              </a:rPr>
              <a:t> </a:t>
            </a:r>
            <a:r>
              <a:rPr lang="en-US" sz="2800" b="1" dirty="0">
                <a:solidFill>
                  <a:srgbClr val="002060"/>
                </a:solidFill>
                <a:latin typeface="Tahoma" pitchFamily="34" charset="0"/>
                <a:ea typeface="Tahoma" pitchFamily="34" charset="0"/>
                <a:cs typeface="Tahoma" pitchFamily="34" charset="0"/>
              </a:rPr>
              <a:t>BOYCE-CODD NORMAL FORM (</a:t>
            </a:r>
            <a:r>
              <a:rPr lang="en-US" sz="2800" dirty="0">
                <a:solidFill>
                  <a:srgbClr val="002060"/>
                </a:solidFill>
                <a:latin typeface="Tahoma" pitchFamily="34" charset="0"/>
                <a:ea typeface="Tahoma" pitchFamily="34" charset="0"/>
                <a:cs typeface="Tahoma" pitchFamily="34" charset="0"/>
              </a:rPr>
              <a:t>BCNF</a:t>
            </a:r>
            <a:r>
              <a:rPr lang="en-US" sz="2800" dirty="0">
                <a:solidFill>
                  <a:srgbClr val="002060"/>
                </a:solidFill>
              </a:rPr>
              <a:t>)</a:t>
            </a:r>
            <a:endParaRPr lang="en-US" sz="2400" dirty="0">
              <a:solidFill>
                <a:srgbClr val="002060"/>
              </a:solidFill>
            </a:endParaRPr>
          </a:p>
          <a:p>
            <a:r>
              <a:rPr lang="en-US" b="1" dirty="0">
                <a:latin typeface="Tahoma" pitchFamily="34" charset="0"/>
                <a:ea typeface="Tahoma" pitchFamily="34" charset="0"/>
                <a:cs typeface="Tahoma" pitchFamily="34" charset="0"/>
              </a:rPr>
              <a:t>         ( A stronger definition for 3NF .  Proposed by Boyce and Codd)</a:t>
            </a:r>
          </a:p>
        </p:txBody>
      </p:sp>
      <p:sp>
        <p:nvSpPr>
          <p:cNvPr id="4" name="TextBox 3"/>
          <p:cNvSpPr txBox="1"/>
          <p:nvPr/>
        </p:nvSpPr>
        <p:spPr>
          <a:xfrm>
            <a:off x="457200" y="1371600"/>
            <a:ext cx="2514600" cy="738664"/>
          </a:xfrm>
          <a:prstGeom prst="rect">
            <a:avLst/>
          </a:prstGeom>
          <a:noFill/>
        </p:spPr>
        <p:txBody>
          <a:bodyPr wrap="square" rtlCol="0">
            <a:spAutoFit/>
          </a:bodyPr>
          <a:lstStyle/>
          <a:p>
            <a:pPr algn="just">
              <a:lnSpc>
                <a:spcPct val="150000"/>
              </a:lnSpc>
            </a:pPr>
            <a:r>
              <a:rPr lang="en-US" sz="2800" b="1" dirty="0">
                <a:latin typeface="Tahoma" pitchFamily="34" charset="0"/>
                <a:ea typeface="Tahoma" pitchFamily="34" charset="0"/>
                <a:cs typeface="Tahoma" pitchFamily="34" charset="0"/>
              </a:rPr>
              <a:t>Why BCNF ?</a:t>
            </a:r>
          </a:p>
        </p:txBody>
      </p:sp>
      <p:pic>
        <p:nvPicPr>
          <p:cNvPr id="5" name="Picture 2"/>
          <p:cNvPicPr>
            <a:picLocks noChangeAspect="1" noChangeArrowheads="1"/>
          </p:cNvPicPr>
          <p:nvPr/>
        </p:nvPicPr>
        <p:blipFill>
          <a:blip r:embed="rId3" cstate="print"/>
          <a:srcRect/>
          <a:stretch>
            <a:fillRect/>
          </a:stretch>
        </p:blipFill>
        <p:spPr bwMode="auto">
          <a:xfrm>
            <a:off x="609600" y="2819400"/>
            <a:ext cx="8126725" cy="2362200"/>
          </a:xfrm>
          <a:prstGeom prst="rect">
            <a:avLst/>
          </a:prstGeom>
          <a:noFill/>
          <a:ln w="9525">
            <a:noFill/>
            <a:miter lim="800000"/>
            <a:headEnd/>
            <a:tailEnd/>
          </a:ln>
          <a:effectLst/>
        </p:spPr>
      </p:pic>
    </p:spTree>
  </p:cSld>
  <p:clrMapOvr>
    <a:masterClrMapping/>
  </p:clrMapOvr>
  <p:transition>
    <p:cut/>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28600" y="228600"/>
            <a:ext cx="8305800" cy="800219"/>
          </a:xfrm>
          <a:prstGeom prst="rect">
            <a:avLst/>
          </a:prstGeom>
          <a:noFill/>
        </p:spPr>
        <p:txBody>
          <a:bodyPr wrap="square" rtlCol="0">
            <a:spAutoFit/>
          </a:bodyPr>
          <a:lstStyle/>
          <a:p>
            <a:r>
              <a:rPr lang="en-US" sz="2400" b="1" dirty="0">
                <a:latin typeface="Tahoma" pitchFamily="34" charset="0"/>
                <a:ea typeface="Tahoma" pitchFamily="34" charset="0"/>
                <a:cs typeface="Tahoma" pitchFamily="34" charset="0"/>
              </a:rPr>
              <a:t> </a:t>
            </a:r>
            <a:r>
              <a:rPr lang="en-US" sz="2800" b="1" dirty="0">
                <a:solidFill>
                  <a:srgbClr val="002060"/>
                </a:solidFill>
                <a:latin typeface="Tahoma" pitchFamily="34" charset="0"/>
                <a:ea typeface="Tahoma" pitchFamily="34" charset="0"/>
                <a:cs typeface="Tahoma" pitchFamily="34" charset="0"/>
              </a:rPr>
              <a:t>BOYCE-CODD NORMAL FORM (</a:t>
            </a:r>
            <a:r>
              <a:rPr lang="en-US" sz="2800" dirty="0">
                <a:solidFill>
                  <a:srgbClr val="002060"/>
                </a:solidFill>
                <a:latin typeface="Tahoma" pitchFamily="34" charset="0"/>
                <a:ea typeface="Tahoma" pitchFamily="34" charset="0"/>
                <a:cs typeface="Tahoma" pitchFamily="34" charset="0"/>
              </a:rPr>
              <a:t>BCNF</a:t>
            </a:r>
            <a:r>
              <a:rPr lang="en-US" sz="2800" dirty="0">
                <a:solidFill>
                  <a:srgbClr val="002060"/>
                </a:solidFill>
              </a:rPr>
              <a:t>)</a:t>
            </a:r>
            <a:endParaRPr lang="en-US" sz="2400" dirty="0">
              <a:solidFill>
                <a:srgbClr val="002060"/>
              </a:solidFill>
            </a:endParaRPr>
          </a:p>
          <a:p>
            <a:r>
              <a:rPr lang="en-US" b="1" dirty="0">
                <a:latin typeface="Tahoma" pitchFamily="34" charset="0"/>
                <a:ea typeface="Tahoma" pitchFamily="34" charset="0"/>
                <a:cs typeface="Tahoma" pitchFamily="34" charset="0"/>
              </a:rPr>
              <a:t>         ( A stronger definition for 3NF .  Proposed by Boyce and Codd)</a:t>
            </a:r>
          </a:p>
        </p:txBody>
      </p:sp>
      <p:sp>
        <p:nvSpPr>
          <p:cNvPr id="4" name="TextBox 3"/>
          <p:cNvSpPr txBox="1"/>
          <p:nvPr/>
        </p:nvSpPr>
        <p:spPr>
          <a:xfrm>
            <a:off x="228600" y="1752600"/>
            <a:ext cx="8686800" cy="2862322"/>
          </a:xfrm>
          <a:prstGeom prst="rect">
            <a:avLst/>
          </a:prstGeom>
          <a:noFill/>
        </p:spPr>
        <p:txBody>
          <a:bodyPr wrap="square" rtlCol="0">
            <a:spAutoFit/>
          </a:bodyPr>
          <a:lstStyle/>
          <a:p>
            <a:pPr algn="just">
              <a:lnSpc>
                <a:spcPct val="150000"/>
              </a:lnSpc>
            </a:pPr>
            <a:r>
              <a:rPr lang="en-US" sz="1600" dirty="0">
                <a:latin typeface="Tahoma" pitchFamily="34" charset="0"/>
                <a:ea typeface="Tahoma" pitchFamily="34" charset="0"/>
                <a:cs typeface="Tahoma" pitchFamily="34" charset="0"/>
              </a:rPr>
              <a:t> </a:t>
            </a:r>
            <a:r>
              <a:rPr lang="en-US" sz="3200" b="1" dirty="0">
                <a:latin typeface="Times New Roman"/>
              </a:rPr>
              <a:t>Definition : </a:t>
            </a:r>
            <a:r>
              <a:rPr lang="en-US" sz="2400" b="1" dirty="0">
                <a:latin typeface="Times New Roman"/>
              </a:rPr>
              <a:t>A relation schema R is in </a:t>
            </a:r>
            <a:r>
              <a:rPr lang="en-US" sz="2000" b="1" dirty="0">
                <a:latin typeface="Times New Roman"/>
              </a:rPr>
              <a:t>BCNF </a:t>
            </a:r>
            <a:r>
              <a:rPr lang="en-US" sz="2400" b="1" dirty="0">
                <a:latin typeface="Times New Roman"/>
              </a:rPr>
              <a:t>if whenever a </a:t>
            </a:r>
            <a:r>
              <a:rPr lang="en-US" sz="2800" b="1" i="1" dirty="0">
                <a:latin typeface="Times New Roman"/>
              </a:rPr>
              <a:t>nontrivial </a:t>
            </a:r>
            <a:r>
              <a:rPr lang="en-US" sz="2400" b="1" i="1" dirty="0">
                <a:latin typeface="Times New Roman"/>
              </a:rPr>
              <a:t>functional </a:t>
            </a:r>
            <a:r>
              <a:rPr lang="en-US" sz="2400" b="1" dirty="0">
                <a:latin typeface="Times New Roman"/>
              </a:rPr>
              <a:t>dependency   X</a:t>
            </a:r>
            <a:r>
              <a:rPr lang="en-US" sz="2400" b="1" dirty="0">
                <a:latin typeface="Times New Roman"/>
                <a:sym typeface="Wingdings" pitchFamily="2" charset="2"/>
              </a:rPr>
              <a:t></a:t>
            </a:r>
            <a:r>
              <a:rPr lang="en-US" sz="2400" b="1" dirty="0">
                <a:latin typeface="Times New Roman"/>
              </a:rPr>
              <a:t>A    holds in R, then X is a </a:t>
            </a:r>
            <a:r>
              <a:rPr lang="en-US" sz="2400" b="1" dirty="0" err="1">
                <a:latin typeface="Times New Roman"/>
              </a:rPr>
              <a:t>superkey</a:t>
            </a:r>
            <a:r>
              <a:rPr lang="en-US" sz="2400" b="1" dirty="0">
                <a:latin typeface="Times New Roman"/>
              </a:rPr>
              <a:t> of R.</a:t>
            </a:r>
          </a:p>
          <a:p>
            <a:pPr algn="just">
              <a:lnSpc>
                <a:spcPct val="150000"/>
              </a:lnSpc>
            </a:pPr>
            <a:endParaRPr lang="en-US" b="1" dirty="0">
              <a:latin typeface="Times New Roman"/>
            </a:endParaRPr>
          </a:p>
          <a:p>
            <a:pPr algn="just">
              <a:lnSpc>
                <a:spcPct val="150000"/>
              </a:lnSpc>
            </a:pPr>
            <a:r>
              <a:rPr lang="en-US" sz="1600" b="1" dirty="0">
                <a:latin typeface="Times New Roman"/>
                <a:ea typeface="Tahoma" pitchFamily="34" charset="0"/>
                <a:cs typeface="Tahoma" pitchFamily="34" charset="0"/>
              </a:rPr>
              <a:t>                  </a:t>
            </a:r>
            <a:r>
              <a:rPr lang="en-US" b="1" dirty="0">
                <a:latin typeface="Times New Roman"/>
                <a:ea typeface="Tahoma" pitchFamily="34" charset="0"/>
                <a:cs typeface="Tahoma" pitchFamily="34" charset="0"/>
              </a:rPr>
              <a:t>(3NF </a:t>
            </a:r>
            <a:r>
              <a:rPr lang="en-US" dirty="0"/>
              <a:t>allows A to be prime, but is absent from BCNF)</a:t>
            </a:r>
            <a:endParaRPr lang="en-US" sz="1600" b="1" dirty="0">
              <a:latin typeface="Tahoma" pitchFamily="34" charset="0"/>
              <a:ea typeface="Tahoma" pitchFamily="34" charset="0"/>
              <a:cs typeface="Tahoma" pitchFamily="34" charset="0"/>
            </a:endParaRPr>
          </a:p>
        </p:txBody>
      </p:sp>
    </p:spTree>
  </p:cSld>
  <p:clrMapOvr>
    <a:masterClrMapping/>
  </p:clrMapOvr>
  <p:transition>
    <p:cut/>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762000"/>
            <a:ext cx="8686800" cy="923330"/>
          </a:xfrm>
          <a:prstGeom prst="rect">
            <a:avLst/>
          </a:prstGeom>
          <a:noFill/>
        </p:spPr>
        <p:txBody>
          <a:bodyPr wrap="square" rtlCol="0">
            <a:spAutoFit/>
          </a:bodyPr>
          <a:lstStyle/>
          <a:p>
            <a:pPr algn="just">
              <a:lnSpc>
                <a:spcPct val="150000"/>
              </a:lnSpc>
            </a:pPr>
            <a:r>
              <a:rPr lang="en-US" dirty="0">
                <a:latin typeface="Tahoma" pitchFamily="34" charset="0"/>
                <a:ea typeface="Tahoma" pitchFamily="34" charset="0"/>
                <a:cs typeface="Tahoma" pitchFamily="34" charset="0"/>
              </a:rPr>
              <a:t> To normalize LOTS1A into BCNF , we can decompose LOTS1A into two BCNF relations LOTS1AX and LOTS 1AY, shown in the  Figure</a:t>
            </a:r>
            <a:endParaRPr lang="en-US" b="1" dirty="0">
              <a:latin typeface="Tahoma" pitchFamily="34" charset="0"/>
              <a:ea typeface="Tahoma" pitchFamily="34" charset="0"/>
              <a:cs typeface="Tahoma" pitchFamily="34" charset="0"/>
            </a:endParaRPr>
          </a:p>
        </p:txBody>
      </p:sp>
      <p:sp>
        <p:nvSpPr>
          <p:cNvPr id="8" name="TextBox 7"/>
          <p:cNvSpPr txBox="1"/>
          <p:nvPr/>
        </p:nvSpPr>
        <p:spPr>
          <a:xfrm>
            <a:off x="304800" y="5715000"/>
            <a:ext cx="8610600" cy="923330"/>
          </a:xfrm>
          <a:prstGeom prst="rect">
            <a:avLst/>
          </a:prstGeom>
          <a:solidFill>
            <a:schemeClr val="accent1"/>
          </a:solidFill>
          <a:ln w="19050">
            <a:solidFill>
              <a:schemeClr val="tx2"/>
            </a:solidFill>
          </a:ln>
        </p:spPr>
        <p:txBody>
          <a:bodyPr wrap="square" rtlCol="0">
            <a:spAutoFit/>
          </a:bodyPr>
          <a:lstStyle/>
          <a:p>
            <a:pPr>
              <a:lnSpc>
                <a:spcPct val="150000"/>
              </a:lnSpc>
            </a:pPr>
            <a:r>
              <a:rPr lang="en-US" dirty="0">
                <a:latin typeface="Times New Roman"/>
              </a:rPr>
              <a:t>This decomposition loses the functional dependency FD2 because its attributes no longer coexist in the same relation after decomposition.</a:t>
            </a:r>
            <a:endParaRPr lang="en-US" dirty="0"/>
          </a:p>
        </p:txBody>
      </p:sp>
      <p:pic>
        <p:nvPicPr>
          <p:cNvPr id="1026" name="Picture 2"/>
          <p:cNvPicPr>
            <a:picLocks noChangeAspect="1" noChangeArrowheads="1"/>
          </p:cNvPicPr>
          <p:nvPr/>
        </p:nvPicPr>
        <p:blipFill>
          <a:blip r:embed="rId3" cstate="print"/>
          <a:srcRect/>
          <a:stretch>
            <a:fillRect/>
          </a:stretch>
        </p:blipFill>
        <p:spPr bwMode="auto">
          <a:xfrm>
            <a:off x="914400" y="1828799"/>
            <a:ext cx="7186039" cy="3658999"/>
          </a:xfrm>
          <a:prstGeom prst="rect">
            <a:avLst/>
          </a:prstGeom>
          <a:noFill/>
          <a:ln w="9525">
            <a:noFill/>
            <a:miter lim="800000"/>
            <a:headEnd/>
            <a:tailEnd/>
          </a:ln>
          <a:effectLst/>
        </p:spPr>
      </p:pic>
      <p:sp>
        <p:nvSpPr>
          <p:cNvPr id="7" name="TextBox 6"/>
          <p:cNvSpPr txBox="1"/>
          <p:nvPr/>
        </p:nvSpPr>
        <p:spPr>
          <a:xfrm>
            <a:off x="152400" y="228600"/>
            <a:ext cx="83058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 BOYCE-CODD NORMAL FORM (</a:t>
            </a:r>
            <a:r>
              <a:rPr lang="en-US" sz="2400" dirty="0">
                <a:solidFill>
                  <a:srgbClr val="002060"/>
                </a:solidFill>
                <a:latin typeface="Tahoma" pitchFamily="34" charset="0"/>
                <a:ea typeface="Tahoma" pitchFamily="34" charset="0"/>
                <a:cs typeface="Tahoma" pitchFamily="34" charset="0"/>
              </a:rPr>
              <a:t>BCNF</a:t>
            </a:r>
            <a:r>
              <a:rPr lang="en-US" sz="2400" dirty="0">
                <a:solidFill>
                  <a:srgbClr val="002060"/>
                </a:solidFill>
              </a:rPr>
              <a:t>)</a:t>
            </a:r>
            <a:endParaRPr lang="en-US" sz="2400" b="1"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2400" y="228600"/>
            <a:ext cx="83058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 BOYCE-CODD NORMAL FORM (</a:t>
            </a:r>
            <a:r>
              <a:rPr lang="en-US" sz="2400" dirty="0">
                <a:solidFill>
                  <a:srgbClr val="002060"/>
                </a:solidFill>
                <a:latin typeface="Tahoma" pitchFamily="34" charset="0"/>
                <a:ea typeface="Tahoma" pitchFamily="34" charset="0"/>
                <a:cs typeface="Tahoma" pitchFamily="34" charset="0"/>
              </a:rPr>
              <a:t>BCNF</a:t>
            </a:r>
            <a:r>
              <a:rPr lang="en-US" sz="2400" dirty="0">
                <a:solidFill>
                  <a:srgbClr val="002060"/>
                </a:solidFill>
              </a:rPr>
              <a:t>)</a:t>
            </a:r>
            <a:endParaRPr lang="en-US" sz="2400" b="1" dirty="0">
              <a:solidFill>
                <a:srgbClr val="002060"/>
              </a:solidFill>
              <a:latin typeface="Tahoma" pitchFamily="34" charset="0"/>
              <a:ea typeface="Tahoma" pitchFamily="34" charset="0"/>
              <a:cs typeface="Tahoma" pitchFamily="34" charset="0"/>
            </a:endParaRPr>
          </a:p>
        </p:txBody>
      </p:sp>
      <p:pic>
        <p:nvPicPr>
          <p:cNvPr id="5122" name="Picture 2"/>
          <p:cNvPicPr>
            <a:picLocks noChangeAspect="1" noChangeArrowheads="1"/>
          </p:cNvPicPr>
          <p:nvPr/>
        </p:nvPicPr>
        <p:blipFill>
          <a:blip r:embed="rId3" cstate="print"/>
          <a:srcRect/>
          <a:stretch>
            <a:fillRect/>
          </a:stretch>
        </p:blipFill>
        <p:spPr bwMode="auto">
          <a:xfrm>
            <a:off x="762000" y="2057400"/>
            <a:ext cx="8126725" cy="2362200"/>
          </a:xfrm>
          <a:prstGeom prst="rect">
            <a:avLst/>
          </a:prstGeom>
          <a:noFill/>
          <a:ln w="9525">
            <a:noFill/>
            <a:miter lim="800000"/>
            <a:headEnd/>
            <a:tailEnd/>
          </a:ln>
          <a:effectLst/>
        </p:spPr>
      </p:pic>
      <p:sp>
        <p:nvSpPr>
          <p:cNvPr id="7" name="TextBox 6"/>
          <p:cNvSpPr txBox="1"/>
          <p:nvPr/>
        </p:nvSpPr>
        <p:spPr>
          <a:xfrm>
            <a:off x="381000" y="838200"/>
            <a:ext cx="8610600" cy="964816"/>
          </a:xfrm>
          <a:prstGeom prst="rect">
            <a:avLst/>
          </a:prstGeom>
          <a:noFill/>
        </p:spPr>
        <p:txBody>
          <a:bodyPr wrap="square" rtlCol="0">
            <a:spAutoFit/>
          </a:bodyPr>
          <a:lstStyle/>
          <a:p>
            <a:pPr algn="just">
              <a:lnSpc>
                <a:spcPct val="150000"/>
              </a:lnSpc>
            </a:pPr>
            <a:r>
              <a:rPr lang="en-US" sz="2000" dirty="0">
                <a:latin typeface="Tahoma" pitchFamily="34" charset="0"/>
                <a:ea typeface="Tahoma" pitchFamily="34" charset="0"/>
                <a:cs typeface="Tahoma" pitchFamily="34" charset="0"/>
              </a:rPr>
              <a:t>Consider LOTS1A relation which is in 3NF.  We add additional functional dependency </a:t>
            </a:r>
            <a:r>
              <a:rPr lang="en-US" sz="2000" b="1" dirty="0">
                <a:latin typeface="Calibri" pitchFamily="34" charset="0"/>
                <a:ea typeface="Tahoma" pitchFamily="34" charset="0"/>
                <a:cs typeface="Tahoma" pitchFamily="34" charset="0"/>
              </a:rPr>
              <a:t>FD5: </a:t>
            </a:r>
            <a:r>
              <a:rPr lang="en-US" sz="2000" dirty="0">
                <a:latin typeface="Calibri" pitchFamily="34" charset="0"/>
                <a:ea typeface="Tahoma" pitchFamily="34" charset="0"/>
                <a:cs typeface="Tahoma" pitchFamily="34" charset="0"/>
              </a:rPr>
              <a:t>AREA </a:t>
            </a:r>
            <a:r>
              <a:rPr lang="en-US" sz="2000" dirty="0">
                <a:latin typeface="Calibri" pitchFamily="34" charset="0"/>
                <a:ea typeface="Tahoma" pitchFamily="34" charset="0"/>
                <a:cs typeface="Tahoma" pitchFamily="34" charset="0"/>
                <a:sym typeface="Wingdings" pitchFamily="2" charset="2"/>
              </a:rPr>
              <a:t></a:t>
            </a:r>
            <a:r>
              <a:rPr lang="en-US" sz="2000" dirty="0">
                <a:latin typeface="Calibri" pitchFamily="34" charset="0"/>
                <a:ea typeface="Tahoma" pitchFamily="34" charset="0"/>
                <a:cs typeface="Tahoma" pitchFamily="34" charset="0"/>
              </a:rPr>
              <a:t>COUNTY_NAME</a:t>
            </a:r>
          </a:p>
        </p:txBody>
      </p:sp>
      <p:sp>
        <p:nvSpPr>
          <p:cNvPr id="8" name="TextBox 7"/>
          <p:cNvSpPr txBox="1"/>
          <p:nvPr/>
        </p:nvSpPr>
        <p:spPr>
          <a:xfrm>
            <a:off x="381000" y="5181600"/>
            <a:ext cx="8610600" cy="923330"/>
          </a:xfrm>
          <a:prstGeom prst="rect">
            <a:avLst/>
          </a:prstGeom>
          <a:solidFill>
            <a:schemeClr val="accent1"/>
          </a:solidFill>
          <a:ln w="19050">
            <a:solidFill>
              <a:schemeClr val="tx2"/>
            </a:solidFill>
          </a:ln>
        </p:spPr>
        <p:txBody>
          <a:bodyPr wrap="square" rtlCol="0">
            <a:spAutoFit/>
          </a:bodyPr>
          <a:lstStyle/>
          <a:p>
            <a:pPr algn="just">
              <a:lnSpc>
                <a:spcPct val="150000"/>
              </a:lnSpc>
            </a:pPr>
            <a:r>
              <a:rPr lang="en-US" dirty="0">
                <a:latin typeface="Times New Roman"/>
              </a:rPr>
              <a:t>The relation schema </a:t>
            </a:r>
            <a:r>
              <a:rPr lang="en-US" sz="1200" dirty="0"/>
              <a:t>LOTS1A   </a:t>
            </a:r>
            <a:r>
              <a:rPr lang="en-US" dirty="0">
                <a:latin typeface="Times New Roman"/>
              </a:rPr>
              <a:t>still is in 3NF because </a:t>
            </a:r>
            <a:r>
              <a:rPr lang="en-US" sz="1200" dirty="0"/>
              <a:t>COUNTY_NAME    </a:t>
            </a:r>
            <a:r>
              <a:rPr lang="en-US" i="1" dirty="0">
                <a:latin typeface="Times New Roman"/>
              </a:rPr>
              <a:t>is  </a:t>
            </a:r>
            <a:r>
              <a:rPr lang="en-US" dirty="0">
                <a:latin typeface="Times New Roman"/>
              </a:rPr>
              <a:t>a prime attribute. But FD5 violates BCNF in </a:t>
            </a:r>
            <a:r>
              <a:rPr lang="en-US" sz="1400" dirty="0"/>
              <a:t>LOTS1A</a:t>
            </a:r>
            <a:r>
              <a:rPr lang="en-US" sz="1000" dirty="0"/>
              <a:t> </a:t>
            </a:r>
            <a:r>
              <a:rPr lang="en-US" sz="800" dirty="0"/>
              <a:t> </a:t>
            </a:r>
            <a:r>
              <a:rPr lang="en-US" dirty="0">
                <a:latin typeface="Times New Roman"/>
              </a:rPr>
              <a:t>because </a:t>
            </a:r>
            <a:r>
              <a:rPr lang="en-US" sz="1400" dirty="0"/>
              <a:t>AREA</a:t>
            </a:r>
            <a:r>
              <a:rPr lang="en-US" sz="1200" dirty="0"/>
              <a:t> </a:t>
            </a:r>
            <a:r>
              <a:rPr lang="en-US" dirty="0">
                <a:latin typeface="Times New Roman"/>
              </a:rPr>
              <a:t>is not a </a:t>
            </a:r>
            <a:r>
              <a:rPr lang="en-US" dirty="0" err="1">
                <a:latin typeface="Times New Roman"/>
              </a:rPr>
              <a:t>superkey</a:t>
            </a:r>
            <a:r>
              <a:rPr lang="en-US" dirty="0">
                <a:latin typeface="Times New Roman"/>
              </a:rPr>
              <a:t> of </a:t>
            </a:r>
            <a:r>
              <a:rPr lang="en-US" sz="1200" dirty="0"/>
              <a:t>LOTS1A.</a:t>
            </a:r>
            <a:endParaRPr lang="en-US" dirty="0"/>
          </a:p>
        </p:txBody>
      </p:sp>
    </p:spTree>
  </p:cSld>
  <p:clrMapOvr>
    <a:masterClrMapping/>
  </p:clrMapOvr>
  <p:transition>
    <p:cut/>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1295400"/>
            <a:ext cx="8763000" cy="1200329"/>
          </a:xfrm>
          <a:prstGeom prst="rect">
            <a:avLst/>
          </a:prstGeom>
          <a:noFill/>
        </p:spPr>
        <p:txBody>
          <a:bodyPr wrap="square" rtlCol="0">
            <a:spAutoFit/>
          </a:bodyPr>
          <a:lstStyle/>
          <a:p>
            <a:pPr marL="342900" indent="-342900" algn="just">
              <a:lnSpc>
                <a:spcPct val="150000"/>
              </a:lnSpc>
              <a:buFont typeface="Arial" pitchFamily="34" charset="0"/>
              <a:buChar char="•"/>
            </a:pPr>
            <a:r>
              <a:rPr lang="en-US" dirty="0">
                <a:solidFill>
                  <a:srgbClr val="002060"/>
                </a:solidFill>
              </a:rPr>
              <a:t> </a:t>
            </a:r>
            <a:r>
              <a:rPr lang="en-US" sz="2400" dirty="0">
                <a:solidFill>
                  <a:srgbClr val="002060"/>
                </a:solidFill>
              </a:rPr>
              <a:t>When  the dependencies  in a  relation schema has the following pattern, the relation is </a:t>
            </a:r>
            <a:r>
              <a:rPr lang="en-US" sz="2400" b="1" dirty="0">
                <a:solidFill>
                  <a:srgbClr val="002060"/>
                </a:solidFill>
              </a:rPr>
              <a:t>in 3NF, but not in BCNF.</a:t>
            </a:r>
            <a:r>
              <a:rPr lang="en-US" sz="2400" dirty="0">
                <a:solidFill>
                  <a:srgbClr val="002060"/>
                </a:solidFill>
              </a:rPr>
              <a:t>  </a:t>
            </a:r>
            <a:endParaRPr lang="en-US" dirty="0">
              <a:solidFill>
                <a:srgbClr val="002060"/>
              </a:solidFill>
            </a:endParaRPr>
          </a:p>
        </p:txBody>
      </p:sp>
      <p:pic>
        <p:nvPicPr>
          <p:cNvPr id="2050" name="Picture 2"/>
          <p:cNvPicPr>
            <a:picLocks noChangeAspect="1" noChangeArrowheads="1"/>
          </p:cNvPicPr>
          <p:nvPr/>
        </p:nvPicPr>
        <p:blipFill>
          <a:blip r:embed="rId3" cstate="print"/>
          <a:srcRect/>
          <a:stretch>
            <a:fillRect/>
          </a:stretch>
        </p:blipFill>
        <p:spPr bwMode="auto">
          <a:xfrm>
            <a:off x="2590800" y="3124200"/>
            <a:ext cx="3657600" cy="2045547"/>
          </a:xfrm>
          <a:prstGeom prst="rect">
            <a:avLst/>
          </a:prstGeom>
          <a:noFill/>
          <a:ln w="9525">
            <a:noFill/>
            <a:miter lim="800000"/>
            <a:headEnd/>
            <a:tailEnd/>
          </a:ln>
          <a:effectLst/>
        </p:spPr>
      </p:pic>
      <p:sp>
        <p:nvSpPr>
          <p:cNvPr id="8" name="TextBox 7"/>
          <p:cNvSpPr txBox="1"/>
          <p:nvPr/>
        </p:nvSpPr>
        <p:spPr>
          <a:xfrm>
            <a:off x="152400" y="228600"/>
            <a:ext cx="83058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 BOYCE-CODD NORMAL FORM (</a:t>
            </a:r>
            <a:r>
              <a:rPr lang="en-US" sz="2400" dirty="0">
                <a:solidFill>
                  <a:srgbClr val="002060"/>
                </a:solidFill>
                <a:latin typeface="Tahoma" pitchFamily="34" charset="0"/>
                <a:ea typeface="Tahoma" pitchFamily="34" charset="0"/>
                <a:cs typeface="Tahoma" pitchFamily="34" charset="0"/>
              </a:rPr>
              <a:t>BCNF</a:t>
            </a:r>
            <a:r>
              <a:rPr lang="en-US" sz="2400" dirty="0">
                <a:solidFill>
                  <a:srgbClr val="002060"/>
                </a:solidFill>
              </a:rPr>
              <a:t>)</a:t>
            </a:r>
            <a:endParaRPr lang="en-US" sz="2400" b="1"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066801"/>
            <a:ext cx="8610600" cy="3877985"/>
          </a:xfrm>
          <a:prstGeom prst="rect">
            <a:avLst/>
          </a:prstGeom>
          <a:noFill/>
        </p:spPr>
        <p:txBody>
          <a:bodyPr wrap="square" rtlCol="0">
            <a:spAutoFit/>
          </a:bodyPr>
          <a:lstStyle/>
          <a:p>
            <a:pPr algn="just">
              <a:lnSpc>
                <a:spcPct val="150000"/>
              </a:lnSpc>
            </a:pPr>
            <a:r>
              <a:rPr lang="en-US" sz="2000" dirty="0">
                <a:latin typeface="Tahoma" pitchFamily="34" charset="0"/>
                <a:ea typeface="Tahoma" pitchFamily="34" charset="0"/>
                <a:cs typeface="Tahoma" pitchFamily="34" charset="0"/>
              </a:rPr>
              <a:t>Consider </a:t>
            </a:r>
            <a:r>
              <a:rPr lang="en-US" sz="2000" dirty="0"/>
              <a:t>another example, which shows a relation TEACH with the following dependencies:</a:t>
            </a:r>
            <a:endParaRPr lang="en-US" sz="2000" b="1" dirty="0">
              <a:latin typeface="Tahoma" pitchFamily="34" charset="0"/>
              <a:ea typeface="Tahoma" pitchFamily="34" charset="0"/>
              <a:cs typeface="Tahoma" pitchFamily="34" charset="0"/>
            </a:endParaRPr>
          </a:p>
          <a:p>
            <a:pPr lvl="1" algn="just">
              <a:lnSpc>
                <a:spcPct val="150000"/>
              </a:lnSpc>
            </a:pPr>
            <a:r>
              <a:rPr lang="en-US" sz="1600" b="1" dirty="0">
                <a:latin typeface="Tahoma" pitchFamily="34" charset="0"/>
                <a:ea typeface="Tahoma" pitchFamily="34" charset="0"/>
                <a:cs typeface="Tahoma" pitchFamily="34" charset="0"/>
              </a:rPr>
              <a:t>FD1: {STUDENT, COURSE} </a:t>
            </a:r>
            <a:r>
              <a:rPr lang="en-US" sz="1600" b="1" dirty="0">
                <a:latin typeface="Tahoma" pitchFamily="34" charset="0"/>
                <a:ea typeface="Tahoma" pitchFamily="34" charset="0"/>
                <a:cs typeface="Tahoma" pitchFamily="34" charset="0"/>
                <a:sym typeface="Wingdings" pitchFamily="2" charset="2"/>
              </a:rPr>
              <a:t></a:t>
            </a:r>
            <a:r>
              <a:rPr lang="en-US" sz="1600" b="1" dirty="0">
                <a:latin typeface="Tahoma" pitchFamily="34" charset="0"/>
                <a:ea typeface="Tahoma" pitchFamily="34" charset="0"/>
                <a:cs typeface="Tahoma" pitchFamily="34" charset="0"/>
              </a:rPr>
              <a:t> INSTRUCTOR</a:t>
            </a:r>
          </a:p>
          <a:p>
            <a:pPr lvl="1" algn="just">
              <a:lnSpc>
                <a:spcPct val="150000"/>
              </a:lnSpc>
            </a:pPr>
            <a:r>
              <a:rPr lang="en-US" sz="1600" b="1" dirty="0">
                <a:latin typeface="Tahoma" pitchFamily="34" charset="0"/>
                <a:ea typeface="Tahoma" pitchFamily="34" charset="0"/>
                <a:cs typeface="Tahoma" pitchFamily="34" charset="0"/>
              </a:rPr>
              <a:t>FD2:  INSTRUCTOR </a:t>
            </a:r>
            <a:r>
              <a:rPr lang="en-US" sz="1600" b="1" dirty="0">
                <a:latin typeface="Tahoma" pitchFamily="34" charset="0"/>
                <a:ea typeface="Tahoma" pitchFamily="34" charset="0"/>
                <a:cs typeface="Tahoma" pitchFamily="34" charset="0"/>
                <a:sym typeface="Wingdings" pitchFamily="2" charset="2"/>
              </a:rPr>
              <a:t></a:t>
            </a:r>
            <a:r>
              <a:rPr lang="en-US" sz="1600" b="1" dirty="0">
                <a:latin typeface="Tahoma" pitchFamily="34" charset="0"/>
                <a:ea typeface="Tahoma" pitchFamily="34" charset="0"/>
                <a:cs typeface="Tahoma" pitchFamily="34" charset="0"/>
              </a:rPr>
              <a:t>COURSE</a:t>
            </a:r>
          </a:p>
          <a:p>
            <a:pPr lvl="1" algn="just">
              <a:lnSpc>
                <a:spcPct val="150000"/>
              </a:lnSpc>
            </a:pPr>
            <a:endParaRPr lang="en-US" sz="1400" b="1" dirty="0">
              <a:latin typeface="Tahoma" pitchFamily="34" charset="0"/>
              <a:ea typeface="Tahoma" pitchFamily="34" charset="0"/>
              <a:cs typeface="Tahoma" pitchFamily="34" charset="0"/>
            </a:endParaRPr>
          </a:p>
          <a:p>
            <a:pPr algn="just">
              <a:lnSpc>
                <a:spcPct val="150000"/>
              </a:lnSpc>
            </a:pPr>
            <a:r>
              <a:rPr lang="en-US" sz="1400" b="1" dirty="0">
                <a:latin typeface="Tahoma" pitchFamily="34" charset="0"/>
                <a:ea typeface="Tahoma" pitchFamily="34" charset="0"/>
                <a:cs typeface="Tahoma" pitchFamily="34" charset="0"/>
              </a:rPr>
              <a:t>Note :</a:t>
            </a:r>
          </a:p>
          <a:p>
            <a:pPr marL="1257300" lvl="2" indent="-342900" algn="just">
              <a:lnSpc>
                <a:spcPct val="150000"/>
              </a:lnSpc>
              <a:buFont typeface="+mj-lt"/>
              <a:buAutoNum type="arabicPeriod"/>
            </a:pPr>
            <a:r>
              <a:rPr lang="en-US" sz="2000" dirty="0">
                <a:latin typeface="Times New Roman"/>
              </a:rPr>
              <a:t> </a:t>
            </a:r>
            <a:r>
              <a:rPr lang="en-US" sz="1400" dirty="0"/>
              <a:t>{</a:t>
            </a:r>
            <a:r>
              <a:rPr lang="en-US" sz="1600" dirty="0"/>
              <a:t>STUDENT, COURSE}  </a:t>
            </a:r>
            <a:r>
              <a:rPr lang="en-US" sz="1100" dirty="0"/>
              <a:t> </a:t>
            </a:r>
            <a:r>
              <a:rPr lang="en-US" sz="2000" dirty="0">
                <a:latin typeface="Times New Roman"/>
              </a:rPr>
              <a:t>is a candidate key for this relation</a:t>
            </a:r>
          </a:p>
          <a:p>
            <a:pPr marL="1257300" lvl="2" indent="-342900" algn="just">
              <a:lnSpc>
                <a:spcPct val="150000"/>
              </a:lnSpc>
              <a:buFont typeface="+mj-lt"/>
              <a:buAutoNum type="arabicPeriod"/>
            </a:pPr>
            <a:r>
              <a:rPr lang="en-US" sz="2000" dirty="0">
                <a:latin typeface="Times New Roman"/>
              </a:rPr>
              <a:t>The dependencies shown follow  the above  pattern </a:t>
            </a:r>
          </a:p>
          <a:p>
            <a:pPr marL="1257300" lvl="2" indent="-342900" algn="just">
              <a:lnSpc>
                <a:spcPct val="150000"/>
              </a:lnSpc>
            </a:pPr>
            <a:r>
              <a:rPr lang="en-US" b="1" dirty="0">
                <a:latin typeface="Times New Roman"/>
                <a:ea typeface="Tahoma" pitchFamily="34" charset="0"/>
                <a:cs typeface="Tahoma" pitchFamily="34" charset="0"/>
              </a:rPr>
              <a:t> </a:t>
            </a:r>
            <a:r>
              <a:rPr lang="en-US" b="1" dirty="0">
                <a:solidFill>
                  <a:srgbClr val="002060"/>
                </a:solidFill>
                <a:latin typeface="Times New Roman"/>
                <a:ea typeface="Tahoma" pitchFamily="34" charset="0"/>
                <a:cs typeface="Tahoma" pitchFamily="34" charset="0"/>
              </a:rPr>
              <a:t>      </a:t>
            </a:r>
            <a:r>
              <a:rPr lang="en-US" sz="2400" dirty="0">
                <a:solidFill>
                  <a:srgbClr val="002060"/>
                </a:solidFill>
                <a:latin typeface="Times New Roman"/>
              </a:rPr>
              <a:t>Hence this relation is in 3NF but not in BCNF</a:t>
            </a:r>
            <a:endParaRPr lang="en-US" b="1" dirty="0">
              <a:latin typeface="Tahoma" pitchFamily="34" charset="0"/>
              <a:ea typeface="Tahoma" pitchFamily="34" charset="0"/>
              <a:cs typeface="Tahoma" pitchFamily="34" charset="0"/>
            </a:endParaRPr>
          </a:p>
        </p:txBody>
      </p:sp>
      <p:sp>
        <p:nvSpPr>
          <p:cNvPr id="8" name="TextBox 7"/>
          <p:cNvSpPr txBox="1"/>
          <p:nvPr/>
        </p:nvSpPr>
        <p:spPr>
          <a:xfrm>
            <a:off x="152400" y="228600"/>
            <a:ext cx="83058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 BOYCE-CODD NORMAL FORM (</a:t>
            </a:r>
            <a:r>
              <a:rPr lang="en-US" sz="2400" dirty="0">
                <a:solidFill>
                  <a:srgbClr val="002060"/>
                </a:solidFill>
                <a:latin typeface="Tahoma" pitchFamily="34" charset="0"/>
                <a:ea typeface="Tahoma" pitchFamily="34" charset="0"/>
                <a:cs typeface="Tahoma" pitchFamily="34" charset="0"/>
              </a:rPr>
              <a:t>BCNF</a:t>
            </a:r>
            <a:r>
              <a:rPr lang="en-US" sz="2400" dirty="0">
                <a:solidFill>
                  <a:srgbClr val="002060"/>
                </a:solidFill>
              </a:rPr>
              <a:t>)</a:t>
            </a:r>
            <a:endParaRPr lang="en-US" sz="2400" b="1"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838200"/>
            <a:ext cx="8534400" cy="5216813"/>
          </a:xfrm>
          <a:prstGeom prst="rect">
            <a:avLst/>
          </a:prstGeom>
          <a:noFill/>
        </p:spPr>
        <p:txBody>
          <a:bodyPr wrap="square" rtlCol="0">
            <a:spAutoFit/>
          </a:bodyPr>
          <a:lstStyle/>
          <a:p>
            <a:r>
              <a:rPr lang="en-US" dirty="0">
                <a:latin typeface="Tahoma" pitchFamily="34" charset="0"/>
                <a:ea typeface="Tahoma" pitchFamily="34" charset="0"/>
                <a:cs typeface="Tahoma" pitchFamily="34" charset="0"/>
              </a:rPr>
              <a:t>The desirable  decomposition of above relation is  shown below:</a:t>
            </a:r>
          </a:p>
          <a:p>
            <a:endParaRPr lang="en-US" dirty="0">
              <a:latin typeface="Tahoma" pitchFamily="34" charset="0"/>
              <a:ea typeface="Tahoma" pitchFamily="34" charset="0"/>
              <a:cs typeface="Tahoma" pitchFamily="34" charset="0"/>
            </a:endParaRPr>
          </a:p>
          <a:p>
            <a:pPr marL="800100" lvl="1" indent="-342900">
              <a:lnSpc>
                <a:spcPct val="150000"/>
              </a:lnSpc>
            </a:pPr>
            <a:r>
              <a:rPr lang="en-US" dirty="0">
                <a:latin typeface="Calibri" pitchFamily="34" charset="0"/>
              </a:rPr>
              <a:t>  {</a:t>
            </a:r>
            <a:r>
              <a:rPr lang="en-US" u="sng" dirty="0">
                <a:latin typeface="Calibri" pitchFamily="34" charset="0"/>
              </a:rPr>
              <a:t>INSTRUCTOR, STUDENT}</a:t>
            </a:r>
            <a:r>
              <a:rPr lang="en-US" dirty="0">
                <a:latin typeface="Calibri" pitchFamily="34" charset="0"/>
              </a:rPr>
              <a:t>    </a:t>
            </a:r>
          </a:p>
          <a:p>
            <a:pPr marL="800100" lvl="1" indent="-342900">
              <a:lnSpc>
                <a:spcPct val="150000"/>
              </a:lnSpc>
            </a:pPr>
            <a:r>
              <a:rPr lang="en-US" dirty="0">
                <a:latin typeface="Calibri" pitchFamily="34" charset="0"/>
              </a:rPr>
              <a:t> {</a:t>
            </a:r>
            <a:r>
              <a:rPr lang="en-US" u="sng" dirty="0">
                <a:latin typeface="Calibri" pitchFamily="34" charset="0"/>
              </a:rPr>
              <a:t>INSTRUCTOR</a:t>
            </a:r>
            <a:r>
              <a:rPr lang="en-US" dirty="0">
                <a:latin typeface="Calibri" pitchFamily="34" charset="0"/>
              </a:rPr>
              <a:t> , COURSE}   </a:t>
            </a:r>
          </a:p>
          <a:p>
            <a:pPr marL="800100" lvl="1" indent="-342900">
              <a:lnSpc>
                <a:spcPct val="150000"/>
              </a:lnSpc>
            </a:pPr>
            <a:r>
              <a:rPr lang="en-US" dirty="0">
                <a:latin typeface="Calibri" pitchFamily="34" charset="0"/>
              </a:rPr>
              <a:t>     </a:t>
            </a:r>
            <a:endParaRPr lang="en-US" u="sng" dirty="0">
              <a:latin typeface="Calibri" pitchFamily="34" charset="0"/>
            </a:endParaRPr>
          </a:p>
          <a:p>
            <a:pPr marL="800100" lvl="1" indent="-342900">
              <a:lnSpc>
                <a:spcPct val="150000"/>
              </a:lnSpc>
            </a:pPr>
            <a:endParaRPr lang="en-US" u="sng" dirty="0">
              <a:latin typeface="Calibri" pitchFamily="34" charset="0"/>
              <a:ea typeface="Tahoma" pitchFamily="34" charset="0"/>
              <a:cs typeface="Tahoma" pitchFamily="34" charset="0"/>
            </a:endParaRPr>
          </a:p>
          <a:p>
            <a:pPr marL="342900" indent="-342900" algn="just">
              <a:lnSpc>
                <a:spcPct val="150000"/>
              </a:lnSpc>
            </a:pPr>
            <a:r>
              <a:rPr lang="en-US" dirty="0">
                <a:latin typeface="Tahoma" pitchFamily="34" charset="0"/>
                <a:ea typeface="Tahoma" pitchFamily="34" charset="0"/>
                <a:cs typeface="Tahoma" pitchFamily="34" charset="0"/>
              </a:rPr>
              <a:t>The other decompositions are also possible, but  they </a:t>
            </a:r>
            <a:r>
              <a:rPr lang="en-US" dirty="0"/>
              <a:t>generate spurious tuples after a join:</a:t>
            </a:r>
          </a:p>
          <a:p>
            <a:pPr marL="342900" indent="-342900" algn="just">
              <a:lnSpc>
                <a:spcPct val="150000"/>
              </a:lnSpc>
            </a:pPr>
            <a:endParaRPr lang="en-US" dirty="0">
              <a:latin typeface="Tahoma" pitchFamily="34" charset="0"/>
              <a:ea typeface="Tahoma" pitchFamily="34" charset="0"/>
              <a:cs typeface="Tahoma" pitchFamily="34" charset="0"/>
            </a:endParaRPr>
          </a:p>
          <a:p>
            <a:pPr lvl="1">
              <a:lnSpc>
                <a:spcPct val="150000"/>
              </a:lnSpc>
            </a:pPr>
            <a:r>
              <a:rPr lang="en-US" dirty="0">
                <a:latin typeface="Tahoma" pitchFamily="34" charset="0"/>
                <a:ea typeface="Tahoma" pitchFamily="34" charset="0"/>
                <a:cs typeface="Tahoma" pitchFamily="34" charset="0"/>
              </a:rPr>
              <a:t>   </a:t>
            </a:r>
            <a:r>
              <a:rPr lang="en-US" dirty="0">
                <a:latin typeface="Calibri" pitchFamily="34" charset="0"/>
              </a:rPr>
              <a:t>1. {</a:t>
            </a:r>
            <a:r>
              <a:rPr lang="en-US" u="sng" dirty="0">
                <a:latin typeface="Calibri" pitchFamily="34" charset="0"/>
              </a:rPr>
              <a:t>STUDENT,</a:t>
            </a:r>
            <a:r>
              <a:rPr lang="en-US" dirty="0">
                <a:latin typeface="Calibri" pitchFamily="34" charset="0"/>
              </a:rPr>
              <a:t>  </a:t>
            </a:r>
            <a:r>
              <a:rPr lang="en-US" u="sng" dirty="0">
                <a:latin typeface="Calibri" pitchFamily="34" charset="0"/>
              </a:rPr>
              <a:t>INSTRUCTOR</a:t>
            </a:r>
            <a:r>
              <a:rPr lang="en-US" dirty="0">
                <a:latin typeface="Calibri" pitchFamily="34" charset="0"/>
              </a:rPr>
              <a:t>} and {</a:t>
            </a:r>
            <a:r>
              <a:rPr lang="en-US" u="sng" dirty="0">
                <a:latin typeface="Calibri" pitchFamily="34" charset="0"/>
              </a:rPr>
              <a:t>STUDENT</a:t>
            </a:r>
            <a:r>
              <a:rPr lang="en-US" dirty="0">
                <a:latin typeface="Calibri" pitchFamily="34" charset="0"/>
              </a:rPr>
              <a:t> , </a:t>
            </a:r>
            <a:r>
              <a:rPr lang="en-US" u="sng" dirty="0">
                <a:latin typeface="Calibri" pitchFamily="34" charset="0"/>
              </a:rPr>
              <a:t>COURSE</a:t>
            </a:r>
            <a:r>
              <a:rPr lang="en-US" dirty="0">
                <a:latin typeface="Calibri" pitchFamily="34" charset="0"/>
              </a:rPr>
              <a:t>}.</a:t>
            </a:r>
          </a:p>
          <a:p>
            <a:pPr lvl="1">
              <a:lnSpc>
                <a:spcPct val="150000"/>
              </a:lnSpc>
            </a:pPr>
            <a:r>
              <a:rPr lang="en-US" dirty="0">
                <a:latin typeface="Calibri" pitchFamily="34" charset="0"/>
              </a:rPr>
              <a:t>    2. {COURSE  , </a:t>
            </a:r>
            <a:r>
              <a:rPr lang="en-US" u="sng" dirty="0">
                <a:latin typeface="Calibri" pitchFamily="34" charset="0"/>
              </a:rPr>
              <a:t>INSTRUCTOR</a:t>
            </a:r>
            <a:r>
              <a:rPr lang="en-US" dirty="0">
                <a:latin typeface="Calibri" pitchFamily="34" charset="0"/>
              </a:rPr>
              <a:t>} and {</a:t>
            </a:r>
            <a:r>
              <a:rPr lang="en-US" u="sng" dirty="0">
                <a:latin typeface="Calibri" pitchFamily="34" charset="0"/>
              </a:rPr>
              <a:t>COURSE</a:t>
            </a:r>
            <a:r>
              <a:rPr lang="en-US" dirty="0">
                <a:latin typeface="Calibri" pitchFamily="34" charset="0"/>
              </a:rPr>
              <a:t> , </a:t>
            </a:r>
            <a:r>
              <a:rPr lang="en-US" u="sng" dirty="0">
                <a:latin typeface="Calibri" pitchFamily="34" charset="0"/>
              </a:rPr>
              <a:t>STUDENT</a:t>
            </a:r>
            <a:r>
              <a:rPr lang="en-US" dirty="0">
                <a:latin typeface="Calibri" pitchFamily="34" charset="0"/>
              </a:rPr>
              <a:t>}.</a:t>
            </a:r>
            <a:endParaRPr lang="en-US" dirty="0">
              <a:latin typeface="Calibri" pitchFamily="34" charset="0"/>
              <a:ea typeface="Tahoma" pitchFamily="34" charset="0"/>
              <a:cs typeface="Tahoma" pitchFamily="34" charset="0"/>
            </a:endParaRPr>
          </a:p>
          <a:p>
            <a:pPr marL="342900" indent="-342900">
              <a:lnSpc>
                <a:spcPct val="150000"/>
              </a:lnSpc>
            </a:pPr>
            <a:endParaRPr lang="en-US" dirty="0">
              <a:latin typeface="Tahoma" pitchFamily="34" charset="0"/>
              <a:ea typeface="Tahoma" pitchFamily="34" charset="0"/>
              <a:cs typeface="Tahoma" pitchFamily="34" charset="0"/>
            </a:endParaRPr>
          </a:p>
          <a:p>
            <a:pPr marL="342900" indent="-342900">
              <a:lnSpc>
                <a:spcPct val="150000"/>
              </a:lnSpc>
            </a:pPr>
            <a:r>
              <a:rPr lang="en-US" dirty="0">
                <a:latin typeface="Tahoma" pitchFamily="34" charset="0"/>
                <a:ea typeface="Tahoma" pitchFamily="34" charset="0"/>
                <a:cs typeface="Tahoma" pitchFamily="34" charset="0"/>
              </a:rPr>
              <a:t>         </a:t>
            </a:r>
          </a:p>
        </p:txBody>
      </p:sp>
      <p:sp>
        <p:nvSpPr>
          <p:cNvPr id="9" name="TextBox 8"/>
          <p:cNvSpPr txBox="1"/>
          <p:nvPr/>
        </p:nvSpPr>
        <p:spPr>
          <a:xfrm>
            <a:off x="228600" y="5638800"/>
            <a:ext cx="7315200" cy="400110"/>
          </a:xfrm>
          <a:prstGeom prst="rect">
            <a:avLst/>
          </a:prstGeom>
          <a:noFill/>
          <a:ln>
            <a:solidFill>
              <a:schemeClr val="accent1"/>
            </a:solidFill>
          </a:ln>
        </p:spPr>
        <p:txBody>
          <a:bodyPr wrap="square" rtlCol="0">
            <a:spAutoFit/>
          </a:bodyPr>
          <a:lstStyle/>
          <a:p>
            <a:r>
              <a:rPr lang="en-US" sz="2000" dirty="0">
                <a:latin typeface="Times New Roman"/>
              </a:rPr>
              <a:t>All three decompositions "lose" the functional dependency </a:t>
            </a:r>
            <a:r>
              <a:rPr lang="en-US" sz="2000" dirty="0"/>
              <a:t>FD1.</a:t>
            </a:r>
          </a:p>
        </p:txBody>
      </p:sp>
      <p:sp>
        <p:nvSpPr>
          <p:cNvPr id="5" name="TextBox 4"/>
          <p:cNvSpPr txBox="1"/>
          <p:nvPr/>
        </p:nvSpPr>
        <p:spPr>
          <a:xfrm>
            <a:off x="152400" y="228600"/>
            <a:ext cx="8305800" cy="461665"/>
          </a:xfrm>
          <a:prstGeom prst="rect">
            <a:avLst/>
          </a:prstGeom>
          <a:noFill/>
        </p:spPr>
        <p:txBody>
          <a:bodyPr wrap="square" rtlCol="0">
            <a:spAutoFit/>
          </a:bodyPr>
          <a:lstStyle/>
          <a:p>
            <a:r>
              <a:rPr lang="en-US" sz="2400" b="1" dirty="0">
                <a:solidFill>
                  <a:srgbClr val="002060"/>
                </a:solidFill>
                <a:latin typeface="Tahoma" pitchFamily="34" charset="0"/>
                <a:ea typeface="Tahoma" pitchFamily="34" charset="0"/>
                <a:cs typeface="Tahoma" pitchFamily="34" charset="0"/>
              </a:rPr>
              <a:t> BOYCE-CODD NORMAL FORM (</a:t>
            </a:r>
            <a:r>
              <a:rPr lang="en-US" sz="2400" dirty="0">
                <a:solidFill>
                  <a:srgbClr val="002060"/>
                </a:solidFill>
                <a:latin typeface="Tahoma" pitchFamily="34" charset="0"/>
                <a:ea typeface="Tahoma" pitchFamily="34" charset="0"/>
                <a:cs typeface="Tahoma" pitchFamily="34" charset="0"/>
              </a:rPr>
              <a:t>BCNF</a:t>
            </a:r>
            <a:r>
              <a:rPr lang="en-US" sz="2400" dirty="0">
                <a:solidFill>
                  <a:srgbClr val="002060"/>
                </a:solidFill>
              </a:rPr>
              <a:t>)</a:t>
            </a:r>
            <a:endParaRPr lang="en-US" sz="2400" b="1" dirty="0">
              <a:solidFill>
                <a:srgbClr val="002060"/>
              </a:solidFill>
              <a:latin typeface="Tahoma" pitchFamily="34" charset="0"/>
              <a:ea typeface="Tahoma" pitchFamily="34" charset="0"/>
              <a:cs typeface="Tahoma" pitchFamily="34" charset="0"/>
            </a:endParaRPr>
          </a:p>
        </p:txBody>
      </p:sp>
    </p:spTree>
  </p:cSld>
  <p:clrMapOvr>
    <a:masterClrMapping/>
  </p:clrMapOvr>
  <p:transition>
    <p:cut/>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1905000"/>
            <a:ext cx="8839200" cy="1200329"/>
          </a:xfrm>
          <a:prstGeom prst="rect">
            <a:avLst/>
          </a:prstGeom>
          <a:noFill/>
        </p:spPr>
        <p:txBody>
          <a:bodyPr wrap="square" rtlCol="0">
            <a:spAutoFit/>
          </a:bodyPr>
          <a:lstStyle/>
          <a:p>
            <a:pPr algn="ctr"/>
            <a:r>
              <a:rPr lang="en-US" sz="2400" b="1" i="1" dirty="0">
                <a:solidFill>
                  <a:srgbClr val="0070C0"/>
                </a:solidFill>
              </a:rPr>
              <a:t>If S  is a SuperKey of R and  X</a:t>
            </a:r>
            <a:r>
              <a:rPr lang="en-US" sz="2400" b="1" i="1" dirty="0">
                <a:solidFill>
                  <a:srgbClr val="0070C0"/>
                </a:solidFill>
                <a:sym typeface="Wingdings" pitchFamily="2" charset="2"/>
              </a:rPr>
              <a:t>Y is a dependency </a:t>
            </a:r>
          </a:p>
          <a:p>
            <a:pPr algn="ctr"/>
            <a:r>
              <a:rPr lang="en-US" sz="2400" b="1" i="1" dirty="0">
                <a:solidFill>
                  <a:srgbClr val="0070C0"/>
                </a:solidFill>
                <a:sym typeface="Wingdings" pitchFamily="2" charset="2"/>
              </a:rPr>
              <a:t>    then ,</a:t>
            </a:r>
          </a:p>
          <a:p>
            <a:pPr algn="ctr"/>
            <a:r>
              <a:rPr lang="en-US" sz="2400" b="1" i="1" dirty="0">
                <a:solidFill>
                  <a:srgbClr val="0070C0"/>
                </a:solidFill>
                <a:sym typeface="Wingdings" pitchFamily="2" charset="2"/>
              </a:rPr>
              <a:t>          (S – Y) U X is also a SuperKey  of R</a:t>
            </a:r>
            <a:endParaRPr lang="en-IN" b="1" i="1" dirty="0">
              <a:solidFill>
                <a:srgbClr val="0070C0"/>
              </a:solidFill>
            </a:endParaRPr>
          </a:p>
        </p:txBody>
      </p:sp>
      <p:sp>
        <p:nvSpPr>
          <p:cNvPr id="7" name="TextBox 6"/>
          <p:cNvSpPr txBox="1"/>
          <p:nvPr/>
        </p:nvSpPr>
        <p:spPr>
          <a:xfrm>
            <a:off x="457200" y="1219200"/>
            <a:ext cx="8153400" cy="369332"/>
          </a:xfrm>
          <a:prstGeom prst="rect">
            <a:avLst/>
          </a:prstGeom>
          <a:noFill/>
        </p:spPr>
        <p:txBody>
          <a:bodyPr wrap="square" rtlCol="0">
            <a:spAutoFit/>
          </a:bodyPr>
          <a:lstStyle/>
          <a:p>
            <a:r>
              <a:rPr lang="en-US" b="1" dirty="0"/>
              <a:t>Given a Relation R and a set of functional dependency F</a:t>
            </a:r>
            <a:endParaRPr lang="en-IN" b="1" dirty="0"/>
          </a:p>
        </p:txBody>
      </p:sp>
    </p:spTree>
  </p:cSld>
  <p:clrMapOvr>
    <a:masterClrMapping/>
  </p:clrMapOvr>
  <p:transition>
    <p:cut/>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1905000"/>
            <a:ext cx="8839200" cy="1200329"/>
          </a:xfrm>
          <a:prstGeom prst="rect">
            <a:avLst/>
          </a:prstGeom>
          <a:noFill/>
        </p:spPr>
        <p:txBody>
          <a:bodyPr wrap="square" rtlCol="0">
            <a:spAutoFit/>
          </a:bodyPr>
          <a:lstStyle/>
          <a:p>
            <a:pPr algn="ctr"/>
            <a:r>
              <a:rPr lang="en-US" sz="2400" b="1" i="1" dirty="0">
                <a:solidFill>
                  <a:srgbClr val="0070C0"/>
                </a:solidFill>
              </a:rPr>
              <a:t>If S  is a SuperKey of R and  X</a:t>
            </a:r>
            <a:r>
              <a:rPr lang="en-US" sz="2400" b="1" i="1" dirty="0">
                <a:solidFill>
                  <a:srgbClr val="0070C0"/>
                </a:solidFill>
                <a:sym typeface="Wingdings" pitchFamily="2" charset="2"/>
              </a:rPr>
              <a:t>Y is a dependency </a:t>
            </a:r>
          </a:p>
          <a:p>
            <a:pPr algn="ctr"/>
            <a:r>
              <a:rPr lang="en-US" sz="2400" b="1" i="1" dirty="0">
                <a:solidFill>
                  <a:srgbClr val="0070C0"/>
                </a:solidFill>
                <a:sym typeface="Wingdings" pitchFamily="2" charset="2"/>
              </a:rPr>
              <a:t>    then ,</a:t>
            </a:r>
          </a:p>
          <a:p>
            <a:pPr algn="ctr"/>
            <a:r>
              <a:rPr lang="en-US" sz="2400" b="1" i="1" dirty="0">
                <a:solidFill>
                  <a:srgbClr val="0070C0"/>
                </a:solidFill>
                <a:sym typeface="Wingdings" pitchFamily="2" charset="2"/>
              </a:rPr>
              <a:t>          (S – Y) U X is also a SuperKey  of R</a:t>
            </a:r>
            <a:endParaRPr lang="en-IN" b="1" i="1" dirty="0">
              <a:solidFill>
                <a:srgbClr val="0070C0"/>
              </a:solidFill>
            </a:endParaRPr>
          </a:p>
        </p:txBody>
      </p:sp>
      <p:sp>
        <p:nvSpPr>
          <p:cNvPr id="7" name="TextBox 6"/>
          <p:cNvSpPr txBox="1"/>
          <p:nvPr/>
        </p:nvSpPr>
        <p:spPr>
          <a:xfrm>
            <a:off x="457200" y="1219200"/>
            <a:ext cx="8153400" cy="369332"/>
          </a:xfrm>
          <a:prstGeom prst="rect">
            <a:avLst/>
          </a:prstGeom>
          <a:noFill/>
        </p:spPr>
        <p:txBody>
          <a:bodyPr wrap="square" rtlCol="0">
            <a:spAutoFit/>
          </a:bodyPr>
          <a:lstStyle/>
          <a:p>
            <a:r>
              <a:rPr lang="en-US" b="1" dirty="0"/>
              <a:t>Given a Relation R and a set of functional dependency F</a:t>
            </a:r>
            <a:endParaRPr lang="en-IN" b="1" dirty="0"/>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5434</TotalTime>
  <Words>6202</Words>
  <Application>Microsoft Office PowerPoint</Application>
  <PresentationFormat>On-screen Show (4:3)</PresentationFormat>
  <Paragraphs>670</Paragraphs>
  <Slides>103</Slides>
  <Notes>103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103</vt:i4>
      </vt:variant>
    </vt:vector>
  </HeadingPairs>
  <TitlesOfParts>
    <vt:vector size="110" baseType="lpstr">
      <vt:lpstr>Arial</vt:lpstr>
      <vt:lpstr>Calibri</vt:lpstr>
      <vt:lpstr>Tahoma</vt:lpstr>
      <vt:lpstr>Times New Roman</vt:lpstr>
      <vt:lpstr>Wingdings</vt:lpstr>
      <vt:lpstr>Office Theme</vt:lpstr>
      <vt:lpstr>Default Design</vt:lpstr>
      <vt:lpstr>Database Design</vt:lpstr>
      <vt:lpstr>Database Design</vt:lpstr>
      <vt:lpstr>Topics to be discussed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Ravi</dc:creator>
  <cp:lastModifiedBy>Lenovo</cp:lastModifiedBy>
  <cp:revision>966</cp:revision>
  <dcterms:created xsi:type="dcterms:W3CDTF">2006-08-16T00:00:00Z</dcterms:created>
  <dcterms:modified xsi:type="dcterms:W3CDTF">2025-05-10T06:52:58Z</dcterms:modified>
</cp:coreProperties>
</file>