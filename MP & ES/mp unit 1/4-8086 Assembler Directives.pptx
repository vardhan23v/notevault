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3" r:id="rId2"/>
    <p:sldId id="281" r:id="rId3"/>
    <p:sldId id="284" r:id="rId4"/>
    <p:sldId id="285" r:id="rId5"/>
    <p:sldId id="286" r:id="rId6"/>
    <p:sldId id="28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564"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758524B-948B-4E25-90CD-02351AA2ED94}" type="datetimeFigureOut">
              <a:rPr lang="en-IN" smtClean="0"/>
              <a:pPr/>
              <a:t>17-05-2021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ACCBA6-9695-441A-B5D8-5D2767EB9A95}"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758524B-948B-4E25-90CD-02351AA2ED94}" type="datetimeFigureOut">
              <a:rPr lang="en-IN" smtClean="0"/>
              <a:pPr/>
              <a:t>17-05-2021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ACCBA6-9695-441A-B5D8-5D2767EB9A95}"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758524B-948B-4E25-90CD-02351AA2ED94}" type="datetimeFigureOut">
              <a:rPr lang="en-IN" smtClean="0"/>
              <a:pPr/>
              <a:t>17-05-2021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ACCBA6-9695-441A-B5D8-5D2767EB9A95}"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758524B-948B-4E25-90CD-02351AA2ED94}" type="datetimeFigureOut">
              <a:rPr lang="en-IN" smtClean="0"/>
              <a:pPr/>
              <a:t>17-05-2021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ACCBA6-9695-441A-B5D8-5D2767EB9A95}"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758524B-948B-4E25-90CD-02351AA2ED94}" type="datetimeFigureOut">
              <a:rPr lang="en-IN" smtClean="0"/>
              <a:pPr/>
              <a:t>17-05-2021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4ACCBA6-9695-441A-B5D8-5D2767EB9A95}"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758524B-948B-4E25-90CD-02351AA2ED94}" type="datetimeFigureOut">
              <a:rPr lang="en-IN" smtClean="0"/>
              <a:pPr/>
              <a:t>17-05-2021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4ACCBA6-9695-441A-B5D8-5D2767EB9A95}"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58524B-948B-4E25-90CD-02351AA2ED94}" type="datetimeFigureOut">
              <a:rPr lang="en-IN" smtClean="0"/>
              <a:pPr/>
              <a:t>17-05-2021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4ACCBA6-9695-441A-B5D8-5D2767EB9A95}"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758524B-948B-4E25-90CD-02351AA2ED94}" type="datetimeFigureOut">
              <a:rPr lang="en-IN" smtClean="0"/>
              <a:pPr/>
              <a:t>17-05-2021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ACCBA6-9695-441A-B5D8-5D2767EB9A95}"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758524B-948B-4E25-90CD-02351AA2ED94}" type="datetimeFigureOut">
              <a:rPr lang="en-IN" smtClean="0"/>
              <a:pPr/>
              <a:t>17-05-2021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ACCBA6-9695-441A-B5D8-5D2767EB9A95}"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758524B-948B-4E25-90CD-02351AA2ED94}" type="datetimeFigureOut">
              <a:rPr lang="en-IN" smtClean="0"/>
              <a:pPr/>
              <a:t>17-05-2021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ACCBA6-9695-441A-B5D8-5D2767EB9A95}"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758524B-948B-4E25-90CD-02351AA2ED94}" type="datetimeFigureOut">
              <a:rPr lang="en-IN" smtClean="0"/>
              <a:pPr/>
              <a:t>17-05-2021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ACCBA6-9695-441A-B5D8-5D2767EB9A95}"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58524B-948B-4E25-90CD-02351AA2ED94}" type="datetimeFigureOut">
              <a:rPr lang="en-IN" smtClean="0"/>
              <a:pPr/>
              <a:t>17-05-2021</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ACCBA6-9695-441A-B5D8-5D2767EB9A95}"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latin typeface="Garamond" pitchFamily="18" charset="0"/>
              </a:rPr>
              <a:t>8086 Assembler Directives</a:t>
            </a:r>
            <a:endParaRPr lang="en-IN" dirty="0">
              <a:latin typeface="Garamond" pitchFamily="18" charset="0"/>
            </a:endParaRPr>
          </a:p>
        </p:txBody>
      </p:sp>
      <p:sp>
        <p:nvSpPr>
          <p:cNvPr id="3" name="Content Placeholder 2"/>
          <p:cNvSpPr>
            <a:spLocks noGrp="1"/>
          </p:cNvSpPr>
          <p:nvPr>
            <p:ph idx="1"/>
          </p:nvPr>
        </p:nvSpPr>
        <p:spPr/>
        <p:txBody>
          <a:bodyPr/>
          <a:lstStyle/>
          <a:p>
            <a:r>
              <a:rPr lang="en-GB" dirty="0" smtClean="0"/>
              <a:t>ASSUME,DB, DW, DD</a:t>
            </a:r>
          </a:p>
          <a:p>
            <a:r>
              <a:rPr lang="en-GB" dirty="0" smtClean="0"/>
              <a:t> END, ENDP</a:t>
            </a:r>
            <a:r>
              <a:rPr lang="en-GB" dirty="0"/>
              <a:t>, ENDS, </a:t>
            </a:r>
            <a:r>
              <a:rPr lang="en-GB" dirty="0" smtClean="0"/>
              <a:t>EQU,</a:t>
            </a:r>
          </a:p>
          <a:p>
            <a:r>
              <a:rPr lang="en-GB" dirty="0" smtClean="0"/>
              <a:t>EVEN</a:t>
            </a:r>
            <a:r>
              <a:rPr lang="en-GB" dirty="0"/>
              <a:t>, EXTRN, </a:t>
            </a:r>
            <a:r>
              <a:rPr lang="en-GB" dirty="0" smtClean="0"/>
              <a:t>GLOBAL</a:t>
            </a:r>
          </a:p>
          <a:p>
            <a:r>
              <a:rPr lang="en-GB" dirty="0" smtClean="0"/>
              <a:t>GROUP</a:t>
            </a:r>
            <a:r>
              <a:rPr lang="en-GB" dirty="0"/>
              <a:t>, INCLUDE, </a:t>
            </a:r>
            <a:r>
              <a:rPr lang="en-GB" dirty="0" smtClean="0"/>
              <a:t>OFFSET</a:t>
            </a:r>
          </a:p>
          <a:p>
            <a:r>
              <a:rPr lang="en-GB" dirty="0" smtClean="0"/>
              <a:t> </a:t>
            </a:r>
            <a:r>
              <a:rPr lang="en-GB" dirty="0"/>
              <a:t>PROC, PUBLIC, SEGMENT, MACRO, </a:t>
            </a:r>
            <a:endParaRPr lang="en-I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5AFEA4E0-5BFF-45FE-8754-393E59891D64}"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C93C66CA-D245-423B-ACD0-5AA703A9214F}" type="slidenum">
              <a:rPr lang="en-US" altLang="en-US"/>
              <a:pPr>
                <a:defRPr/>
              </a:pPr>
              <a:t>2</a:t>
            </a:fld>
            <a:endParaRPr lang="en-US" altLang="en-US"/>
          </a:p>
        </p:txBody>
      </p:sp>
      <p:sp>
        <p:nvSpPr>
          <p:cNvPr id="200706" name="Rectangle 2"/>
          <p:cNvSpPr>
            <a:spLocks noGrp="1" noChangeArrowheads="1"/>
          </p:cNvSpPr>
          <p:nvPr>
            <p:ph type="body" idx="1"/>
          </p:nvPr>
        </p:nvSpPr>
        <p:spPr>
          <a:xfrm>
            <a:off x="457200" y="533400"/>
            <a:ext cx="8229600" cy="5597525"/>
          </a:xfrm>
        </p:spPr>
        <p:txBody>
          <a:bodyPr/>
          <a:lstStyle/>
          <a:p>
            <a:pPr eaLnBrk="1" hangingPunct="1">
              <a:buFont typeface="Wingdings" pitchFamily="2" charset="2"/>
              <a:buNone/>
              <a:defRPr/>
            </a:pPr>
            <a:endParaRPr lang="en-US" smtClean="0"/>
          </a:p>
          <a:p>
            <a:pPr eaLnBrk="1" hangingPunct="1">
              <a:buFont typeface="Wingdings" pitchFamily="2" charset="2"/>
              <a:buNone/>
              <a:defRPr/>
            </a:pPr>
            <a:endParaRPr lang="en-US" smtClean="0"/>
          </a:p>
          <a:p>
            <a:pPr eaLnBrk="1" hangingPunct="1">
              <a:buFont typeface="Wingdings" pitchFamily="2" charset="2"/>
              <a:buNone/>
              <a:defRPr/>
            </a:pPr>
            <a:endParaRPr lang="en-US" smtClean="0"/>
          </a:p>
          <a:p>
            <a:pPr algn="ctr" eaLnBrk="1" hangingPunct="1">
              <a:buFont typeface="Wingdings" pitchFamily="2" charset="2"/>
              <a:buNone/>
              <a:defRPr/>
            </a:pPr>
            <a:r>
              <a:rPr lang="en-US" sz="7200" b="1" i="1" smtClean="0">
                <a:solidFill>
                  <a:srgbClr val="990033"/>
                </a:solidFill>
                <a:effectLst>
                  <a:outerShdw blurRad="38100" dist="38100" dir="2700000" algn="tl">
                    <a:srgbClr val="C0C0C0"/>
                  </a:outerShdw>
                </a:effectLst>
                <a:latin typeface="Monotype Corsiva" pitchFamily="66" charset="0"/>
              </a:rPr>
              <a:t>Assembler Directives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ASSUME Directive-The</a:t>
            </a:r>
            <a:endParaRPr lang="en-IN" dirty="0"/>
          </a:p>
        </p:txBody>
      </p:sp>
      <p:sp>
        <p:nvSpPr>
          <p:cNvPr id="3" name="Content Placeholder 2"/>
          <p:cNvSpPr>
            <a:spLocks noGrp="1"/>
          </p:cNvSpPr>
          <p:nvPr>
            <p:ph idx="1"/>
          </p:nvPr>
        </p:nvSpPr>
        <p:spPr>
          <a:xfrm>
            <a:off x="457200" y="1196752"/>
            <a:ext cx="8229600" cy="5184576"/>
          </a:xfrm>
        </p:spPr>
        <p:txBody>
          <a:bodyPr>
            <a:normAutofit fontScale="85000" lnSpcReduction="20000"/>
          </a:bodyPr>
          <a:lstStyle/>
          <a:p>
            <a:r>
              <a:rPr lang="en-IN" dirty="0" smtClean="0"/>
              <a:t>ASSUME directive is used to tell the assembler that the name of the logical segment should be used for a specified segment. </a:t>
            </a:r>
          </a:p>
          <a:p>
            <a:r>
              <a:rPr lang="en-IN" dirty="0" smtClean="0"/>
              <a:t>The 8086 works directly with only 4 physical segments: a Code segment, a data segment, a stack segment, and an extra segment.</a:t>
            </a:r>
          </a:p>
          <a:p>
            <a:r>
              <a:rPr lang="en-IN" dirty="0" smtClean="0"/>
              <a:t>Example:</a:t>
            </a:r>
          </a:p>
          <a:p>
            <a:r>
              <a:rPr lang="en-IN" dirty="0" err="1" smtClean="0"/>
              <a:t>ASUMECS:CODE;This</a:t>
            </a:r>
            <a:r>
              <a:rPr lang="en-IN" dirty="0" smtClean="0"/>
              <a:t> tells the assembler that the logical segment named CODE contains the instruction statements for the program and should be treated as a code segment.</a:t>
            </a:r>
          </a:p>
          <a:p>
            <a:r>
              <a:rPr lang="en-IN" dirty="0" smtClean="0"/>
              <a:t>ASUME </a:t>
            </a:r>
            <a:r>
              <a:rPr lang="en-IN" dirty="0" err="1" smtClean="0"/>
              <a:t>DS:DATA;This</a:t>
            </a:r>
            <a:r>
              <a:rPr lang="en-IN" dirty="0" smtClean="0"/>
              <a:t> </a:t>
            </a:r>
            <a:r>
              <a:rPr lang="en-IN" dirty="0" smtClean="0"/>
              <a:t>tells the assembler that for any instruction which refers to a data in the data segment, data will found in the logical segment DATA</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DB</a:t>
            </a:r>
            <a:endParaRPr lang="en-IN" b="1" dirty="0"/>
          </a:p>
        </p:txBody>
      </p:sp>
      <p:sp>
        <p:nvSpPr>
          <p:cNvPr id="3" name="Content Placeholder 2"/>
          <p:cNvSpPr>
            <a:spLocks noGrp="1"/>
          </p:cNvSpPr>
          <p:nvPr>
            <p:ph idx="1"/>
          </p:nvPr>
        </p:nvSpPr>
        <p:spPr>
          <a:xfrm>
            <a:off x="457200" y="1340768"/>
            <a:ext cx="8229600" cy="4785395"/>
          </a:xfrm>
        </p:spPr>
        <p:txBody>
          <a:bodyPr>
            <a:normAutofit fontScale="92500" lnSpcReduction="20000"/>
          </a:bodyPr>
          <a:lstStyle/>
          <a:p>
            <a:r>
              <a:rPr lang="en-IN" dirty="0" smtClean="0"/>
              <a:t>DB directive is used to declare a byte-type variable or to store a byte in memory location.</a:t>
            </a:r>
          </a:p>
          <a:p>
            <a:pPr>
              <a:buNone/>
            </a:pPr>
            <a:r>
              <a:rPr lang="en-IN" dirty="0" smtClean="0"/>
              <a:t>Example:</a:t>
            </a:r>
          </a:p>
          <a:p>
            <a:pPr>
              <a:buNone/>
            </a:pPr>
            <a:r>
              <a:rPr lang="en-IN" dirty="0" smtClean="0"/>
              <a:t>1.PRICE DB 49h</a:t>
            </a:r>
            <a:r>
              <a:rPr lang="en-IN" dirty="0" smtClean="0"/>
              <a:t>, 98h, 29h;Declare an array of 3 bytes, named as PRICE and initialize.</a:t>
            </a:r>
          </a:p>
          <a:p>
            <a:pPr>
              <a:buNone/>
            </a:pPr>
            <a:r>
              <a:rPr lang="en-IN" dirty="0" smtClean="0"/>
              <a:t>2.NAMEDB‘ABCDEF’;Declare an array of 6 bytes and initialize with ASCII code for letters </a:t>
            </a:r>
          </a:p>
          <a:p>
            <a:pPr>
              <a:buNone/>
            </a:pPr>
            <a:r>
              <a:rPr lang="en-IN" dirty="0" smtClean="0"/>
              <a:t>3.TEMPDB100 DUP(?);Set 100 bytes of storage in memory and give it the name as TEMP, but leave the 100 bytes uninitialized. Program instructions will load values into these locations</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DW</a:t>
            </a:r>
            <a:endParaRPr lang="en-IN" b="1" dirty="0"/>
          </a:p>
        </p:txBody>
      </p:sp>
      <p:sp>
        <p:nvSpPr>
          <p:cNvPr id="3" name="Content Placeholder 2"/>
          <p:cNvSpPr>
            <a:spLocks noGrp="1"/>
          </p:cNvSpPr>
          <p:nvPr>
            <p:ph idx="1"/>
          </p:nvPr>
        </p:nvSpPr>
        <p:spPr/>
        <p:txBody>
          <a:bodyPr>
            <a:normAutofit fontScale="77500" lnSpcReduction="20000"/>
          </a:bodyPr>
          <a:lstStyle/>
          <a:p>
            <a:r>
              <a:rPr lang="en-IN" dirty="0" smtClean="0"/>
              <a:t>The DW directive is used to define a variable of type word or to reserve storage location of type word in memory.</a:t>
            </a:r>
          </a:p>
          <a:p>
            <a:r>
              <a:rPr lang="en-IN" dirty="0" smtClean="0"/>
              <a:t>Example:</a:t>
            </a:r>
          </a:p>
          <a:p>
            <a:pPr>
              <a:buNone/>
            </a:pPr>
            <a:r>
              <a:rPr lang="en-IN" dirty="0" smtClean="0"/>
              <a:t>1.MULTIPLIER DW 437Ah ; this declares a variable of type word and named it as MULTIPLIER. This variable is initialized with the value 437Ah when it is loaded into memory to run. </a:t>
            </a:r>
          </a:p>
          <a:p>
            <a:pPr>
              <a:buNone/>
            </a:pPr>
            <a:r>
              <a:rPr lang="en-IN" dirty="0" smtClean="0"/>
              <a:t>2.EXP1 </a:t>
            </a:r>
            <a:r>
              <a:rPr lang="en-IN" dirty="0" smtClean="0"/>
              <a:t>DW 1234h</a:t>
            </a:r>
            <a:r>
              <a:rPr lang="en-IN" dirty="0" smtClean="0"/>
              <a:t>, 3456h, 5678h ; this declares an array of 3 words and initialized with specified values.</a:t>
            </a:r>
          </a:p>
          <a:p>
            <a:pPr>
              <a:buNone/>
            </a:pPr>
            <a:r>
              <a:rPr lang="en-IN" dirty="0" smtClean="0"/>
              <a:t>STOR1 DW 100 DUP(0</a:t>
            </a:r>
            <a:r>
              <a:rPr lang="en-IN" dirty="0" smtClean="0"/>
              <a:t>); Reserve an array of 100 words of memory and initialize all words with 0000.Array is named as STOR</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END and ENDP</a:t>
            </a:r>
            <a:endParaRPr lang="en-IN" b="1" dirty="0"/>
          </a:p>
        </p:txBody>
      </p:sp>
      <p:sp>
        <p:nvSpPr>
          <p:cNvPr id="3" name="Content Placeholder 2"/>
          <p:cNvSpPr>
            <a:spLocks noGrp="1"/>
          </p:cNvSpPr>
          <p:nvPr>
            <p:ph idx="1"/>
          </p:nvPr>
        </p:nvSpPr>
        <p:spPr/>
        <p:txBody>
          <a:bodyPr>
            <a:normAutofit fontScale="77500" lnSpcReduction="20000"/>
          </a:bodyPr>
          <a:lstStyle/>
          <a:p>
            <a:r>
              <a:rPr lang="en-IN" b="1" dirty="0" smtClean="0"/>
              <a:t>END</a:t>
            </a:r>
            <a:r>
              <a:rPr lang="en-IN" dirty="0" smtClean="0"/>
              <a:t> directive is placed after the last statement of a program to tell the assembler that this is the end of the program module. The assembler will ignore any statement after an END directive. Carriage return is required after the END directive.</a:t>
            </a:r>
          </a:p>
          <a:p>
            <a:r>
              <a:rPr lang="en-IN" b="1" dirty="0" smtClean="0"/>
              <a:t>ENDP </a:t>
            </a:r>
            <a:r>
              <a:rPr lang="en-IN" dirty="0" smtClean="0"/>
              <a:t>directive is used along with the name of the procedure to indicate the end of a procedure to the assembler </a:t>
            </a:r>
          </a:p>
          <a:p>
            <a:r>
              <a:rPr lang="en-IN" dirty="0" err="1" smtClean="0"/>
              <a:t>Example:</a:t>
            </a:r>
            <a:r>
              <a:rPr lang="en-IN" b="1" dirty="0" err="1" smtClean="0"/>
              <a:t>SQUARE_NUM</a:t>
            </a:r>
            <a:r>
              <a:rPr lang="en-IN" b="1" dirty="0" smtClean="0"/>
              <a:t> PROC</a:t>
            </a:r>
            <a:r>
              <a:rPr lang="en-IN" dirty="0" smtClean="0"/>
              <a:t>; It start the </a:t>
            </a:r>
            <a:r>
              <a:rPr lang="en-IN" dirty="0" err="1" smtClean="0"/>
              <a:t>procedure;Some</a:t>
            </a:r>
            <a:r>
              <a:rPr lang="en-IN" dirty="0" smtClean="0"/>
              <a:t> steps to find the square root of a number </a:t>
            </a:r>
          </a:p>
          <a:p>
            <a:r>
              <a:rPr lang="en-IN" b="1" dirty="0" smtClean="0"/>
              <a:t>SQUARE_NUM </a:t>
            </a:r>
            <a:r>
              <a:rPr lang="en-IN" b="1" dirty="0" err="1" smtClean="0"/>
              <a:t>ENDP;</a:t>
            </a:r>
            <a:r>
              <a:rPr lang="en-IN" dirty="0" err="1" smtClean="0"/>
              <a:t>Hear</a:t>
            </a:r>
            <a:r>
              <a:rPr lang="en-IN" b="1" dirty="0" smtClean="0"/>
              <a:t> </a:t>
            </a:r>
            <a:r>
              <a:rPr lang="en-IN" dirty="0" smtClean="0"/>
              <a:t>it is the End for the procedure </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CE666578-F1E7-4EEB-A36C-487DF6B348E4}"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9388EBE1-567D-4A5B-A42D-6A164DAF1E53}" type="slidenum">
              <a:rPr lang="en-US" altLang="en-US"/>
              <a:pPr>
                <a:defRPr/>
              </a:pPr>
              <a:t>7</a:t>
            </a:fld>
            <a:endParaRPr lang="en-US" altLang="en-US"/>
          </a:p>
        </p:txBody>
      </p:sp>
      <p:sp>
        <p:nvSpPr>
          <p:cNvPr id="171013" name="Rectangle 3"/>
          <p:cNvSpPr>
            <a:spLocks noGrp="1" noChangeArrowheads="1"/>
          </p:cNvSpPr>
          <p:nvPr>
            <p:ph type="body" idx="1"/>
          </p:nvPr>
        </p:nvSpPr>
        <p:spPr>
          <a:xfrm>
            <a:off x="457200" y="1219200"/>
            <a:ext cx="8229600" cy="4911725"/>
          </a:xfrm>
        </p:spPr>
        <p:txBody>
          <a:bodyPr>
            <a:normAutofit fontScale="85000" lnSpcReduction="20000"/>
          </a:bodyPr>
          <a:lstStyle/>
          <a:p>
            <a:pPr algn="just"/>
            <a:r>
              <a:rPr lang="en-US" b="1" dirty="0" smtClean="0"/>
              <a:t>ASSUME:</a:t>
            </a:r>
            <a:r>
              <a:rPr lang="en-IN" b="1" dirty="0" err="1" smtClean="0"/>
              <a:t>irective</a:t>
            </a:r>
            <a:r>
              <a:rPr lang="en-IN" dirty="0" smtClean="0"/>
              <a:t> is used to tell the </a:t>
            </a:r>
            <a:r>
              <a:rPr lang="en-IN" b="1" dirty="0" smtClean="0"/>
              <a:t>assembler</a:t>
            </a:r>
            <a:r>
              <a:rPr lang="en-IN" dirty="0" smtClean="0"/>
              <a:t> that the name of the logical </a:t>
            </a:r>
            <a:r>
              <a:rPr lang="en-IN" b="1" dirty="0" smtClean="0"/>
              <a:t>segment</a:t>
            </a:r>
            <a:r>
              <a:rPr lang="en-IN" dirty="0" smtClean="0"/>
              <a:t> should be used for a specified </a:t>
            </a:r>
            <a:r>
              <a:rPr lang="en-IN" b="1" dirty="0" smtClean="0"/>
              <a:t>segment</a:t>
            </a:r>
            <a:r>
              <a:rPr lang="en-IN" dirty="0" smtClean="0"/>
              <a:t>. </a:t>
            </a:r>
          </a:p>
          <a:p>
            <a:pPr algn="just"/>
            <a:r>
              <a:rPr lang="en-IN" dirty="0" smtClean="0"/>
              <a:t>The </a:t>
            </a:r>
            <a:r>
              <a:rPr lang="en-IN" b="1" dirty="0" smtClean="0"/>
              <a:t>8086</a:t>
            </a:r>
            <a:r>
              <a:rPr lang="en-IN" dirty="0" smtClean="0"/>
              <a:t> works directly with only 4 physical segments: a Code </a:t>
            </a:r>
            <a:r>
              <a:rPr lang="en-IN" b="1" dirty="0" smtClean="0"/>
              <a:t>segment</a:t>
            </a:r>
            <a:r>
              <a:rPr lang="en-IN" dirty="0" smtClean="0"/>
              <a:t>, a data </a:t>
            </a:r>
            <a:r>
              <a:rPr lang="en-IN" b="1" dirty="0" smtClean="0"/>
              <a:t>segment</a:t>
            </a:r>
            <a:r>
              <a:rPr lang="en-IN" dirty="0" smtClean="0"/>
              <a:t>, a stack </a:t>
            </a:r>
            <a:r>
              <a:rPr lang="en-IN" b="1" dirty="0" smtClean="0"/>
              <a:t>segment</a:t>
            </a:r>
            <a:r>
              <a:rPr lang="en-IN" dirty="0" smtClean="0"/>
              <a:t>, and an extra </a:t>
            </a:r>
            <a:r>
              <a:rPr lang="en-IN" b="1" dirty="0" smtClean="0"/>
              <a:t>segment</a:t>
            </a:r>
            <a:endParaRPr lang="en-US" b="1" dirty="0" smtClean="0"/>
          </a:p>
          <a:p>
            <a:pPr algn="just" eaLnBrk="1" hangingPunct="1"/>
            <a:endParaRPr lang="en-US" b="1" dirty="0" smtClean="0"/>
          </a:p>
          <a:p>
            <a:pPr algn="just" eaLnBrk="1" hangingPunct="1"/>
            <a:r>
              <a:rPr lang="en-US" b="1" dirty="0" smtClean="0"/>
              <a:t>DB – Define Byte</a:t>
            </a:r>
          </a:p>
          <a:p>
            <a:pPr algn="just" eaLnBrk="1" hangingPunct="1"/>
            <a:endParaRPr lang="en-US" b="1" dirty="0" smtClean="0"/>
          </a:p>
          <a:p>
            <a:pPr algn="just" eaLnBrk="1" hangingPunct="1"/>
            <a:r>
              <a:rPr lang="en-US" b="1" dirty="0" smtClean="0"/>
              <a:t>DW – Define Word</a:t>
            </a:r>
          </a:p>
          <a:p>
            <a:pPr algn="just" eaLnBrk="1" hangingPunct="1"/>
            <a:endParaRPr lang="en-US" b="1" dirty="0" smtClean="0"/>
          </a:p>
          <a:p>
            <a:pPr algn="just" eaLnBrk="1" hangingPunct="1"/>
            <a:r>
              <a:rPr lang="en-US" b="1" dirty="0" smtClean="0"/>
              <a:t>DD – Define Double Word</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519BD54D-E374-4BB4-92D2-2A67F58AA889}"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C77560E6-8BCF-4432-A80D-612FB5B41D4F}" type="slidenum">
              <a:rPr lang="en-US" altLang="en-US"/>
              <a:pPr>
                <a:defRPr/>
              </a:pPr>
              <a:t>8</a:t>
            </a:fld>
            <a:endParaRPr lang="en-US" altLang="en-US"/>
          </a:p>
        </p:txBody>
      </p:sp>
      <p:sp>
        <p:nvSpPr>
          <p:cNvPr id="172037" name="Rectangle 3"/>
          <p:cNvSpPr>
            <a:spLocks noGrp="1" noChangeArrowheads="1"/>
          </p:cNvSpPr>
          <p:nvPr>
            <p:ph type="body" idx="1"/>
          </p:nvPr>
        </p:nvSpPr>
        <p:spPr>
          <a:xfrm>
            <a:off x="457200" y="838200"/>
            <a:ext cx="8229600" cy="5292725"/>
          </a:xfrm>
        </p:spPr>
        <p:txBody>
          <a:bodyPr/>
          <a:lstStyle/>
          <a:p>
            <a:pPr algn="just" eaLnBrk="1" hangingPunct="1">
              <a:buFont typeface="Wingdings" pitchFamily="2" charset="2"/>
              <a:buNone/>
            </a:pPr>
            <a:r>
              <a:rPr lang="en-US" sz="2800" b="1" smtClean="0"/>
              <a:t>DQ – Define Quadword</a:t>
            </a:r>
          </a:p>
          <a:p>
            <a:pPr algn="just" eaLnBrk="1" hangingPunct="1"/>
            <a:r>
              <a:rPr lang="en-US" sz="2800" smtClean="0"/>
              <a:t>Tell the assembler to declare a variable 4 words in length or to reserve 4 words of storage in memory</a:t>
            </a:r>
          </a:p>
          <a:p>
            <a:pPr algn="just" eaLnBrk="1" hangingPunct="1"/>
            <a:endParaRPr lang="en-US" sz="2800" smtClean="0"/>
          </a:p>
          <a:p>
            <a:pPr algn="just" eaLnBrk="1" hangingPunct="1">
              <a:buFont typeface="Wingdings" pitchFamily="2" charset="2"/>
              <a:buNone/>
            </a:pPr>
            <a:r>
              <a:rPr lang="en-US" sz="2800" smtClean="0"/>
              <a:t>Example:</a:t>
            </a:r>
          </a:p>
          <a:p>
            <a:pPr algn="just" eaLnBrk="1" hangingPunct="1">
              <a:buFont typeface="Wingdings" pitchFamily="2" charset="2"/>
              <a:buNone/>
            </a:pPr>
            <a:endParaRPr lang="en-US" sz="2800" smtClean="0"/>
          </a:p>
          <a:p>
            <a:pPr algn="just" eaLnBrk="1" hangingPunct="1">
              <a:buFont typeface="Wingdings" pitchFamily="2" charset="2"/>
              <a:buNone/>
            </a:pPr>
            <a:r>
              <a:rPr lang="en-US" sz="2800" smtClean="0"/>
              <a:t>BIG_NUMBER  DQ  243598740192A92BH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BB456730-0D60-4A2C-9C74-B4E7A568ED74}"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8317E22B-09C1-430F-935C-DCC93C21C937}" type="slidenum">
              <a:rPr lang="en-US" altLang="en-US"/>
              <a:pPr>
                <a:defRPr/>
              </a:pPr>
              <a:t>9</a:t>
            </a:fld>
            <a:endParaRPr lang="en-US" altLang="en-US"/>
          </a:p>
        </p:txBody>
      </p:sp>
      <p:sp>
        <p:nvSpPr>
          <p:cNvPr id="173061" name="Rectangle 3"/>
          <p:cNvSpPr>
            <a:spLocks noGrp="1" noChangeArrowheads="1"/>
          </p:cNvSpPr>
          <p:nvPr>
            <p:ph type="body" idx="1"/>
          </p:nvPr>
        </p:nvSpPr>
        <p:spPr>
          <a:xfrm>
            <a:off x="457200" y="838200"/>
            <a:ext cx="8229600" cy="5287963"/>
          </a:xfrm>
        </p:spPr>
        <p:txBody>
          <a:bodyPr/>
          <a:lstStyle/>
          <a:p>
            <a:pPr algn="just" eaLnBrk="1" hangingPunct="1">
              <a:buFont typeface="Wingdings" pitchFamily="2" charset="2"/>
              <a:buNone/>
            </a:pPr>
            <a:r>
              <a:rPr lang="en-US" sz="2800" smtClean="0"/>
              <a:t>	</a:t>
            </a:r>
            <a:r>
              <a:rPr lang="en-US" sz="2800" b="1" smtClean="0"/>
              <a:t>DT – Define Ten Bytes</a:t>
            </a:r>
          </a:p>
          <a:p>
            <a:pPr algn="just" eaLnBrk="1" hangingPunct="1">
              <a:buFont typeface="Wingdings" pitchFamily="2" charset="2"/>
              <a:buNone/>
            </a:pPr>
            <a:endParaRPr lang="en-US" sz="2800" b="1" smtClean="0"/>
          </a:p>
          <a:p>
            <a:pPr algn="just" eaLnBrk="1" hangingPunct="1"/>
            <a:r>
              <a:rPr lang="en-US" sz="2800" smtClean="0"/>
              <a:t>Tells the assembler to define a variable which is 10 bytes in length or to reserve 10 bytes of storage in memory</a:t>
            </a:r>
          </a:p>
          <a:p>
            <a:pPr algn="just" eaLnBrk="1" hangingPunct="1"/>
            <a:endParaRPr lang="en-US" sz="2800" smtClean="0"/>
          </a:p>
          <a:p>
            <a:pPr algn="just" eaLnBrk="1" hangingPunct="1">
              <a:buFont typeface="Wingdings" pitchFamily="2" charset="2"/>
              <a:buNone/>
            </a:pPr>
            <a:r>
              <a:rPr lang="en-US" sz="2800" smtClean="0"/>
              <a:t>Example:</a:t>
            </a:r>
          </a:p>
          <a:p>
            <a:pPr algn="just" eaLnBrk="1" hangingPunct="1">
              <a:buFont typeface="Wingdings" pitchFamily="2" charset="2"/>
              <a:buNone/>
            </a:pPr>
            <a:endParaRPr lang="en-US" sz="2800" smtClean="0"/>
          </a:p>
          <a:p>
            <a:pPr algn="just" eaLnBrk="1" hangingPunct="1">
              <a:buFont typeface="Wingdings" pitchFamily="2" charset="2"/>
              <a:buNone/>
            </a:pPr>
            <a:r>
              <a:rPr lang="en-US" sz="2800" smtClean="0"/>
              <a:t>BIG_NUMBER  DT  458733740192A92B8865H</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AF383CCB-630C-433D-A3E6-0B10FC636E97}"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B665CFCC-63A5-4598-8DD2-9C484C929503}" type="slidenum">
              <a:rPr lang="en-US" altLang="en-US"/>
              <a:pPr>
                <a:defRPr/>
              </a:pPr>
              <a:t>10</a:t>
            </a:fld>
            <a:endParaRPr lang="en-US" altLang="en-US"/>
          </a:p>
        </p:txBody>
      </p:sp>
      <p:sp>
        <p:nvSpPr>
          <p:cNvPr id="174085" name="Rectangle 3"/>
          <p:cNvSpPr>
            <a:spLocks noGrp="1" noChangeArrowheads="1"/>
          </p:cNvSpPr>
          <p:nvPr>
            <p:ph type="body" idx="1"/>
          </p:nvPr>
        </p:nvSpPr>
        <p:spPr>
          <a:xfrm>
            <a:off x="457200" y="838200"/>
            <a:ext cx="8229600" cy="5287963"/>
          </a:xfrm>
        </p:spPr>
        <p:txBody>
          <a:bodyPr/>
          <a:lstStyle/>
          <a:p>
            <a:pPr algn="just" eaLnBrk="1" hangingPunct="1">
              <a:buFont typeface="Wingdings" pitchFamily="2" charset="2"/>
              <a:buNone/>
            </a:pPr>
            <a:r>
              <a:rPr lang="en-US" sz="2800" smtClean="0"/>
              <a:t>		</a:t>
            </a:r>
            <a:r>
              <a:rPr lang="en-US" sz="2800" b="1" smtClean="0"/>
              <a:t>END – End Program</a:t>
            </a:r>
          </a:p>
          <a:p>
            <a:pPr algn="just" eaLnBrk="1" hangingPunct="1">
              <a:buFont typeface="Wingdings" pitchFamily="2" charset="2"/>
              <a:buNone/>
            </a:pPr>
            <a:endParaRPr lang="en-US" sz="2800" b="1" smtClean="0"/>
          </a:p>
          <a:p>
            <a:pPr algn="just" eaLnBrk="1" hangingPunct="1"/>
            <a:r>
              <a:rPr lang="en-US" sz="2800" smtClean="0"/>
              <a:t>Last statement of a program to tell the assembler that this is the end of the program module</a:t>
            </a:r>
          </a:p>
          <a:p>
            <a:pPr algn="just" eaLnBrk="1" hangingPunct="1"/>
            <a:endParaRPr lang="en-US" sz="2800" smtClean="0"/>
          </a:p>
          <a:p>
            <a:pPr algn="just" eaLnBrk="1" hangingPunct="1"/>
            <a:r>
              <a:rPr lang="en-US" sz="2800" smtClean="0"/>
              <a:t>The assembler will ignore any statements after an END directive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9868F3ED-986F-4369-B8B9-B7C9E8D17773}"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A7E38BE7-EA9D-4400-9EDD-9B4BD2F2D8A8}" type="slidenum">
              <a:rPr lang="en-US" altLang="en-US"/>
              <a:pPr>
                <a:defRPr/>
              </a:pPr>
              <a:t>11</a:t>
            </a:fld>
            <a:endParaRPr lang="en-US" altLang="en-US"/>
          </a:p>
        </p:txBody>
      </p:sp>
      <p:sp>
        <p:nvSpPr>
          <p:cNvPr id="175109" name="Rectangle 3"/>
          <p:cNvSpPr>
            <a:spLocks noGrp="1" noChangeArrowheads="1"/>
          </p:cNvSpPr>
          <p:nvPr>
            <p:ph type="body" idx="1"/>
          </p:nvPr>
        </p:nvSpPr>
        <p:spPr>
          <a:xfrm>
            <a:off x="457200" y="1295400"/>
            <a:ext cx="8229600" cy="4835525"/>
          </a:xfrm>
        </p:spPr>
        <p:txBody>
          <a:bodyPr/>
          <a:lstStyle/>
          <a:p>
            <a:pPr algn="just" eaLnBrk="1" hangingPunct="1">
              <a:buFont typeface="Wingdings" pitchFamily="2" charset="2"/>
              <a:buNone/>
            </a:pPr>
            <a:r>
              <a:rPr lang="en-US" sz="2800" smtClean="0"/>
              <a:t>		</a:t>
            </a:r>
            <a:r>
              <a:rPr lang="en-US" sz="2800" b="1" smtClean="0"/>
              <a:t>ENDP – End Procedure</a:t>
            </a:r>
          </a:p>
          <a:p>
            <a:pPr algn="just" eaLnBrk="1" hangingPunct="1"/>
            <a:endParaRPr lang="en-US" sz="2800" b="1" smtClean="0"/>
          </a:p>
          <a:p>
            <a:pPr algn="just" eaLnBrk="1" hangingPunct="1"/>
            <a:r>
              <a:rPr lang="en-US" sz="2800" smtClean="0"/>
              <a:t>This directive is used along with the name of the procedure to indicate the end of a procedure to the assembler</a:t>
            </a:r>
          </a:p>
          <a:p>
            <a:pPr algn="just" eaLnBrk="1" hangingPunct="1"/>
            <a:endParaRPr lang="en-US" sz="2800" smtClean="0"/>
          </a:p>
          <a:p>
            <a:pPr algn="just" eaLnBrk="1" hangingPunct="1">
              <a:buFont typeface="Wingdings" pitchFamily="2" charset="2"/>
              <a:buNone/>
            </a:pPr>
            <a:endParaRPr lang="en-US" sz="280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93F7138F-EA48-4083-BE0C-D65C08EA49CF}"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5E2BF434-7107-4CF7-8383-2B6C8DE6DA88}" type="slidenum">
              <a:rPr lang="en-US" altLang="en-US"/>
              <a:pPr>
                <a:defRPr/>
              </a:pPr>
              <a:t>12</a:t>
            </a:fld>
            <a:endParaRPr lang="en-US" altLang="en-US"/>
          </a:p>
        </p:txBody>
      </p:sp>
      <p:sp>
        <p:nvSpPr>
          <p:cNvPr id="176133" name="Rectangle 3"/>
          <p:cNvSpPr>
            <a:spLocks noGrp="1" noChangeArrowheads="1"/>
          </p:cNvSpPr>
          <p:nvPr>
            <p:ph type="body" idx="1"/>
          </p:nvPr>
        </p:nvSpPr>
        <p:spPr/>
        <p:txBody>
          <a:bodyPr/>
          <a:lstStyle/>
          <a:p>
            <a:pPr algn="just" eaLnBrk="1" hangingPunct="1">
              <a:buFont typeface="Wingdings" pitchFamily="2" charset="2"/>
              <a:buNone/>
            </a:pPr>
            <a:r>
              <a:rPr lang="en-US" sz="2800" smtClean="0"/>
              <a:t>	</a:t>
            </a:r>
            <a:r>
              <a:rPr lang="en-US" sz="2800" b="1" smtClean="0"/>
              <a:t>ENDS – End Segment</a:t>
            </a:r>
          </a:p>
          <a:p>
            <a:pPr algn="just" eaLnBrk="1" hangingPunct="1">
              <a:buFont typeface="Wingdings" pitchFamily="2" charset="2"/>
              <a:buNone/>
            </a:pPr>
            <a:endParaRPr lang="en-US" sz="2800" b="1" smtClean="0"/>
          </a:p>
          <a:p>
            <a:pPr algn="just" eaLnBrk="1" hangingPunct="1"/>
            <a:r>
              <a:rPr lang="en-US" sz="2800" smtClean="0"/>
              <a:t>This directive is used with the name of a segment to indicate the end of that logical segment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AB10300B-9483-4CF9-B83C-2DD6F09647E3}"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17B832CC-96E3-4BED-A794-0DDD95BBA3A8}" type="slidenum">
              <a:rPr lang="en-US" altLang="en-US"/>
              <a:pPr>
                <a:defRPr/>
              </a:pPr>
              <a:t>13</a:t>
            </a:fld>
            <a:endParaRPr lang="en-US" altLang="en-US"/>
          </a:p>
        </p:txBody>
      </p:sp>
      <p:sp>
        <p:nvSpPr>
          <p:cNvPr id="177157" name="Rectangle 3"/>
          <p:cNvSpPr>
            <a:spLocks noGrp="1" noChangeArrowheads="1"/>
          </p:cNvSpPr>
          <p:nvPr>
            <p:ph type="body" idx="1"/>
          </p:nvPr>
        </p:nvSpPr>
        <p:spPr>
          <a:xfrm>
            <a:off x="457200" y="990600"/>
            <a:ext cx="8229600" cy="5140325"/>
          </a:xfrm>
        </p:spPr>
        <p:txBody>
          <a:bodyPr/>
          <a:lstStyle/>
          <a:p>
            <a:pPr algn="just" eaLnBrk="1" hangingPunct="1">
              <a:buFont typeface="Wingdings" pitchFamily="2" charset="2"/>
              <a:buNone/>
            </a:pPr>
            <a:r>
              <a:rPr lang="en-US" sz="2800" dirty="0" smtClean="0"/>
              <a:t>	</a:t>
            </a:r>
            <a:r>
              <a:rPr lang="en-US" sz="2800" b="1" dirty="0" smtClean="0"/>
              <a:t>EQU – Equate</a:t>
            </a:r>
          </a:p>
          <a:p>
            <a:pPr algn="just" eaLnBrk="1" hangingPunct="1">
              <a:buFont typeface="Wingdings" pitchFamily="2" charset="2"/>
              <a:buNone/>
            </a:pPr>
            <a:endParaRPr lang="en-US" sz="2800" b="1" dirty="0" smtClean="0"/>
          </a:p>
          <a:p>
            <a:pPr algn="just" eaLnBrk="1" hangingPunct="1"/>
            <a:r>
              <a:rPr lang="en-US" sz="2800" dirty="0" smtClean="0"/>
              <a:t>Is used to give a name to some value or symbol</a:t>
            </a:r>
          </a:p>
          <a:p>
            <a:pPr algn="just" eaLnBrk="1" hangingPunct="1"/>
            <a:endParaRPr lang="en-US" sz="2800" dirty="0" smtClean="0"/>
          </a:p>
          <a:p>
            <a:pPr algn="just" eaLnBrk="1" hangingPunct="1"/>
            <a:r>
              <a:rPr lang="en-US" sz="2800" dirty="0" smtClean="0"/>
              <a:t>Each time the assembler finds the given name in the program, it will replace the name with the value or symbol you equated with that </a:t>
            </a:r>
            <a:r>
              <a:rPr lang="en-US" sz="2800" dirty="0" smtClean="0"/>
              <a:t>name</a:t>
            </a:r>
          </a:p>
          <a:p>
            <a:pPr algn="just" eaLnBrk="1" hangingPunct="1"/>
            <a:r>
              <a:rPr lang="en-US" sz="2800" dirty="0" smtClean="0"/>
              <a:t>Pi EQU 3.142</a:t>
            </a:r>
          </a:p>
          <a:p>
            <a:pPr algn="just" eaLnBrk="1" hangingPunct="1"/>
            <a:r>
              <a:rPr lang="en-US" sz="2800" smtClean="0"/>
              <a:t>AREA=3.142*R*R</a:t>
            </a:r>
            <a:endParaRPr lang="en-US" sz="28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9C0AC6DB-BB7C-41BD-8C98-252533645CA8}"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5A5FAA0C-4151-415A-9986-503794059FBE}" type="slidenum">
              <a:rPr lang="en-US" altLang="en-US"/>
              <a:pPr>
                <a:defRPr/>
              </a:pPr>
              <a:t>14</a:t>
            </a:fld>
            <a:endParaRPr lang="en-US" altLang="en-US"/>
          </a:p>
        </p:txBody>
      </p:sp>
      <p:sp>
        <p:nvSpPr>
          <p:cNvPr id="178181" name="Rectangle 3"/>
          <p:cNvSpPr>
            <a:spLocks noGrp="1" noChangeArrowheads="1"/>
          </p:cNvSpPr>
          <p:nvPr>
            <p:ph type="body" idx="1"/>
          </p:nvPr>
        </p:nvSpPr>
        <p:spPr>
          <a:xfrm>
            <a:off x="304800" y="685800"/>
            <a:ext cx="8382000" cy="4530725"/>
          </a:xfrm>
        </p:spPr>
        <p:txBody>
          <a:bodyPr/>
          <a:lstStyle/>
          <a:p>
            <a:pPr algn="just" eaLnBrk="1" hangingPunct="1">
              <a:buFont typeface="Wingdings" pitchFamily="2" charset="2"/>
              <a:buNone/>
            </a:pPr>
            <a:r>
              <a:rPr lang="en-US" sz="2800" smtClean="0"/>
              <a:t>	</a:t>
            </a:r>
            <a:r>
              <a:rPr lang="en-US" sz="2800" b="1" smtClean="0"/>
              <a:t>EVEN – Align on Even Memory Address</a:t>
            </a:r>
          </a:p>
          <a:p>
            <a:pPr algn="just" eaLnBrk="1" hangingPunct="1">
              <a:buFont typeface="Wingdings" pitchFamily="2" charset="2"/>
              <a:buNone/>
            </a:pPr>
            <a:endParaRPr lang="en-US" sz="2800" smtClean="0"/>
          </a:p>
          <a:p>
            <a:pPr algn="just" eaLnBrk="1" hangingPunct="1"/>
            <a:r>
              <a:rPr lang="en-US" sz="2800" smtClean="0"/>
              <a:t>The EVEN directive tells the assembler to increment the location counter to the next even address if it is not already at an even address</a:t>
            </a:r>
          </a:p>
          <a:p>
            <a:pPr algn="just" eaLnBrk="1" hangingPunct="1"/>
            <a:endParaRPr lang="en-US" sz="2800" smtClean="0"/>
          </a:p>
          <a:p>
            <a:pPr algn="just" eaLnBrk="1" hangingPunct="1"/>
            <a:r>
              <a:rPr lang="en-US" sz="2800" smtClean="0"/>
              <a:t>The 8086 can read a word from memory in one bus cycle if the word is at an even address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F15A5BFB-FD10-4607-B6FB-2C5A4BB279EA}"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BDE513A3-5DD8-45BD-A0AA-4C63F439F5D9}" type="slidenum">
              <a:rPr lang="en-US" altLang="en-US"/>
              <a:pPr>
                <a:defRPr/>
              </a:pPr>
              <a:t>15</a:t>
            </a:fld>
            <a:endParaRPr lang="en-US" altLang="en-US"/>
          </a:p>
        </p:txBody>
      </p:sp>
      <p:sp>
        <p:nvSpPr>
          <p:cNvPr id="179205" name="Rectangle 3"/>
          <p:cNvSpPr>
            <a:spLocks noGrp="1" noChangeArrowheads="1"/>
          </p:cNvSpPr>
          <p:nvPr>
            <p:ph type="body" idx="1"/>
          </p:nvPr>
        </p:nvSpPr>
        <p:spPr>
          <a:xfrm>
            <a:off x="457200" y="609600"/>
            <a:ext cx="8229600" cy="5715000"/>
          </a:xfrm>
        </p:spPr>
        <p:txBody>
          <a:bodyPr/>
          <a:lstStyle/>
          <a:p>
            <a:pPr algn="just" eaLnBrk="1" hangingPunct="1">
              <a:lnSpc>
                <a:spcPct val="90000"/>
              </a:lnSpc>
            </a:pPr>
            <a:r>
              <a:rPr lang="en-US" sz="2600" smtClean="0"/>
              <a:t>If the word starts at an odd address, the 8086 must do two bus cycles to get the 2 bytes of the word</a:t>
            </a:r>
          </a:p>
          <a:p>
            <a:pPr algn="just" eaLnBrk="1" hangingPunct="1">
              <a:lnSpc>
                <a:spcPct val="90000"/>
              </a:lnSpc>
            </a:pPr>
            <a:endParaRPr lang="en-US" sz="2600" smtClean="0"/>
          </a:p>
          <a:p>
            <a:pPr algn="just" eaLnBrk="1" hangingPunct="1">
              <a:lnSpc>
                <a:spcPct val="90000"/>
              </a:lnSpc>
            </a:pPr>
            <a:r>
              <a:rPr lang="en-US" sz="2600" smtClean="0"/>
              <a:t>Therefore, a series of words can be read much more quickly if they are at even addresses</a:t>
            </a:r>
          </a:p>
          <a:p>
            <a:pPr algn="just" eaLnBrk="1" hangingPunct="1">
              <a:lnSpc>
                <a:spcPct val="90000"/>
              </a:lnSpc>
            </a:pPr>
            <a:endParaRPr lang="en-US" sz="2600" smtClean="0"/>
          </a:p>
          <a:p>
            <a:pPr algn="just" eaLnBrk="1" hangingPunct="1">
              <a:lnSpc>
                <a:spcPct val="90000"/>
              </a:lnSpc>
            </a:pPr>
            <a:r>
              <a:rPr lang="en-US" sz="2600" smtClean="0"/>
              <a:t>When </a:t>
            </a:r>
            <a:r>
              <a:rPr lang="en-US" sz="2600" b="1" smtClean="0"/>
              <a:t>EVEN</a:t>
            </a:r>
            <a:r>
              <a:rPr lang="en-US" sz="2600" smtClean="0"/>
              <a:t> is used in a data segment, the location counter will simply be incremented to the next even address</a:t>
            </a:r>
          </a:p>
          <a:p>
            <a:pPr algn="just" eaLnBrk="1" hangingPunct="1">
              <a:lnSpc>
                <a:spcPct val="90000"/>
              </a:lnSpc>
            </a:pPr>
            <a:endParaRPr lang="en-US" sz="2600" smtClean="0"/>
          </a:p>
          <a:p>
            <a:pPr algn="just" eaLnBrk="1" hangingPunct="1">
              <a:lnSpc>
                <a:spcPct val="90000"/>
              </a:lnSpc>
            </a:pPr>
            <a:r>
              <a:rPr lang="en-US" sz="2600" smtClean="0"/>
              <a:t>A  </a:t>
            </a:r>
            <a:r>
              <a:rPr lang="en-US" sz="2600" b="1" smtClean="0"/>
              <a:t>NOP</a:t>
            </a:r>
            <a:r>
              <a:rPr lang="en-US" sz="2600" smtClean="0"/>
              <a:t> instruction will be inserted in the location incremented over</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BFC95E55-206D-41C1-9AC9-0511A11742E3}"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E5C2AC80-0C99-47FA-A31C-7F14676D01FC}" type="slidenum">
              <a:rPr lang="en-US" altLang="en-US"/>
              <a:pPr>
                <a:defRPr/>
              </a:pPr>
              <a:t>16</a:t>
            </a:fld>
            <a:endParaRPr lang="en-US" altLang="en-US"/>
          </a:p>
        </p:txBody>
      </p:sp>
      <p:sp>
        <p:nvSpPr>
          <p:cNvPr id="180229" name="Rectangle 3"/>
          <p:cNvSpPr>
            <a:spLocks noGrp="1" noChangeArrowheads="1"/>
          </p:cNvSpPr>
          <p:nvPr>
            <p:ph type="body" idx="1"/>
          </p:nvPr>
        </p:nvSpPr>
        <p:spPr>
          <a:xfrm>
            <a:off x="457200" y="838200"/>
            <a:ext cx="8229600" cy="5486400"/>
          </a:xfrm>
        </p:spPr>
        <p:txBody>
          <a:bodyPr/>
          <a:lstStyle/>
          <a:p>
            <a:pPr algn="just" eaLnBrk="1" hangingPunct="1">
              <a:buFont typeface="Wingdings" pitchFamily="2" charset="2"/>
              <a:buNone/>
            </a:pPr>
            <a:r>
              <a:rPr lang="en-US" sz="2800" smtClean="0"/>
              <a:t>Example:</a:t>
            </a:r>
          </a:p>
          <a:p>
            <a:pPr algn="just" eaLnBrk="1" hangingPunct="1">
              <a:buFont typeface="Wingdings" pitchFamily="2" charset="2"/>
              <a:buNone/>
            </a:pPr>
            <a:r>
              <a:rPr lang="en-US" sz="2800" smtClean="0"/>
              <a:t>	DATA  SEGMENT</a:t>
            </a:r>
          </a:p>
          <a:p>
            <a:pPr algn="just" eaLnBrk="1" hangingPunct="1">
              <a:buFont typeface="Wingdings" pitchFamily="2" charset="2"/>
              <a:buNone/>
            </a:pPr>
            <a:r>
              <a:rPr lang="en-US" sz="2800" smtClean="0"/>
              <a:t>	 	A1  DB 9 DUP(?)</a:t>
            </a:r>
          </a:p>
          <a:p>
            <a:pPr algn="just" eaLnBrk="1" hangingPunct="1">
              <a:buFont typeface="Wingdings" pitchFamily="2" charset="2"/>
              <a:buNone/>
            </a:pPr>
            <a:r>
              <a:rPr lang="en-US" sz="2800" smtClean="0"/>
              <a:t>		EVEN  	</a:t>
            </a:r>
          </a:p>
          <a:p>
            <a:pPr algn="just" eaLnBrk="1" hangingPunct="1">
              <a:buFont typeface="Wingdings" pitchFamily="2" charset="2"/>
              <a:buNone/>
            </a:pPr>
            <a:r>
              <a:rPr lang="en-US" sz="2800" smtClean="0"/>
              <a:t>; 	Increment Location counter to 000AH</a:t>
            </a:r>
          </a:p>
          <a:p>
            <a:pPr algn="just" eaLnBrk="1" hangingPunct="1">
              <a:buFont typeface="Wingdings" pitchFamily="2" charset="2"/>
              <a:buNone/>
            </a:pPr>
            <a:r>
              <a:rPr lang="en-US" sz="2800" smtClean="0"/>
              <a:t>		B1  DW 100 DUP (0)</a:t>
            </a:r>
          </a:p>
          <a:p>
            <a:pPr algn="just" eaLnBrk="1" hangingPunct="1">
              <a:buFont typeface="Wingdings" pitchFamily="2" charset="2"/>
              <a:buNone/>
            </a:pPr>
            <a:r>
              <a:rPr lang="en-US" sz="2800" smtClean="0"/>
              <a:t>		    ; 	Array of 100 words starting on even </a:t>
            </a:r>
          </a:p>
          <a:p>
            <a:pPr algn="just" eaLnBrk="1" hangingPunct="1">
              <a:buFont typeface="Wingdings" pitchFamily="2" charset="2"/>
              <a:buNone/>
            </a:pPr>
            <a:r>
              <a:rPr lang="en-US" sz="2800" smtClean="0"/>
              <a:t>			address for quicker read	</a:t>
            </a:r>
          </a:p>
          <a:p>
            <a:pPr algn="just" eaLnBrk="1" hangingPunct="1">
              <a:buFont typeface="Wingdings" pitchFamily="2" charset="2"/>
              <a:buNone/>
            </a:pPr>
            <a:r>
              <a:rPr lang="en-US" sz="2800" smtClean="0"/>
              <a:t>	DATA  ENDS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3E89BD57-ADEB-439E-97A1-7A82B7F9AB07}"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0E9B97EC-1708-4E81-AC6F-ADEDADF7325E}" type="slidenum">
              <a:rPr lang="en-US" altLang="en-US"/>
              <a:pPr>
                <a:defRPr/>
              </a:pPr>
              <a:t>17</a:t>
            </a:fld>
            <a:endParaRPr lang="en-US" altLang="en-US"/>
          </a:p>
        </p:txBody>
      </p:sp>
      <p:sp>
        <p:nvSpPr>
          <p:cNvPr id="181253" name="Rectangle 3"/>
          <p:cNvSpPr>
            <a:spLocks noGrp="1" noChangeArrowheads="1"/>
          </p:cNvSpPr>
          <p:nvPr>
            <p:ph type="body" idx="1"/>
          </p:nvPr>
        </p:nvSpPr>
        <p:spPr>
          <a:xfrm>
            <a:off x="457200" y="838200"/>
            <a:ext cx="8229600" cy="5292725"/>
          </a:xfrm>
        </p:spPr>
        <p:txBody>
          <a:bodyPr/>
          <a:lstStyle/>
          <a:p>
            <a:pPr algn="just" eaLnBrk="1" hangingPunct="1">
              <a:lnSpc>
                <a:spcPct val="90000"/>
              </a:lnSpc>
              <a:buFont typeface="Wingdings" pitchFamily="2" charset="2"/>
              <a:buNone/>
            </a:pPr>
            <a:r>
              <a:rPr lang="en-US" sz="2800" smtClean="0"/>
              <a:t>	</a:t>
            </a:r>
            <a:r>
              <a:rPr lang="en-US" sz="2800" b="1" smtClean="0"/>
              <a:t>EXTRN</a:t>
            </a:r>
          </a:p>
          <a:p>
            <a:pPr algn="just" eaLnBrk="1" hangingPunct="1">
              <a:lnSpc>
                <a:spcPct val="90000"/>
              </a:lnSpc>
              <a:buFont typeface="Wingdings" pitchFamily="2" charset="2"/>
              <a:buNone/>
            </a:pPr>
            <a:endParaRPr lang="en-US" sz="2800" smtClean="0"/>
          </a:p>
          <a:p>
            <a:pPr algn="just" eaLnBrk="1" hangingPunct="1">
              <a:lnSpc>
                <a:spcPct val="90000"/>
              </a:lnSpc>
            </a:pPr>
            <a:r>
              <a:rPr lang="en-US" sz="2800" smtClean="0"/>
              <a:t>The EXTRN directive is used to tell the assembler that the names or labels following the directive are in some other assembly module</a:t>
            </a:r>
          </a:p>
          <a:p>
            <a:pPr algn="just" eaLnBrk="1" hangingPunct="1">
              <a:lnSpc>
                <a:spcPct val="90000"/>
              </a:lnSpc>
            </a:pPr>
            <a:endParaRPr lang="en-US" sz="2800" smtClean="0"/>
          </a:p>
          <a:p>
            <a:pPr algn="just" eaLnBrk="1" hangingPunct="1">
              <a:lnSpc>
                <a:spcPct val="90000"/>
              </a:lnSpc>
            </a:pPr>
            <a:r>
              <a:rPr lang="en-US" sz="2800" smtClean="0"/>
              <a:t>The assembler will then put information in the object code file so that the linker can connect the two modules together</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EE3F8B63-FEAB-404D-A731-0A66B63C60B7}"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5D2401F2-2796-48B1-B7F3-475CFF2C1B74}" type="slidenum">
              <a:rPr lang="en-US" altLang="en-US"/>
              <a:pPr>
                <a:defRPr/>
              </a:pPr>
              <a:t>18</a:t>
            </a:fld>
            <a:endParaRPr lang="en-US" altLang="en-US"/>
          </a:p>
        </p:txBody>
      </p:sp>
      <p:sp>
        <p:nvSpPr>
          <p:cNvPr id="182277" name="Rectangle 3"/>
          <p:cNvSpPr>
            <a:spLocks noGrp="1" noChangeArrowheads="1"/>
          </p:cNvSpPr>
          <p:nvPr>
            <p:ph type="body" idx="1"/>
          </p:nvPr>
        </p:nvSpPr>
        <p:spPr>
          <a:xfrm>
            <a:off x="457200" y="762000"/>
            <a:ext cx="8229600" cy="5364163"/>
          </a:xfrm>
        </p:spPr>
        <p:txBody>
          <a:bodyPr/>
          <a:lstStyle/>
          <a:p>
            <a:pPr algn="just" eaLnBrk="1" hangingPunct="1">
              <a:lnSpc>
                <a:spcPct val="90000"/>
              </a:lnSpc>
              <a:buFont typeface="Wingdings" pitchFamily="2" charset="2"/>
              <a:buNone/>
            </a:pPr>
            <a:r>
              <a:rPr lang="en-US" sz="2800" b="1" smtClean="0"/>
              <a:t>	GLOBAL</a:t>
            </a:r>
            <a:r>
              <a:rPr lang="en-US" sz="2800" smtClean="0"/>
              <a:t> – Declare Symbols as PUBLIC or EXTRN</a:t>
            </a:r>
          </a:p>
          <a:p>
            <a:pPr algn="just" eaLnBrk="1" hangingPunct="1">
              <a:lnSpc>
                <a:spcPct val="90000"/>
              </a:lnSpc>
            </a:pPr>
            <a:endParaRPr lang="en-US" sz="2800" smtClean="0"/>
          </a:p>
          <a:p>
            <a:pPr algn="just" eaLnBrk="1" hangingPunct="1">
              <a:lnSpc>
                <a:spcPct val="90000"/>
              </a:lnSpc>
            </a:pPr>
            <a:r>
              <a:rPr lang="en-US" sz="2800" smtClean="0"/>
              <a:t>The GLOBAL directive can be used in place of a PUBLIC directive or in place of an EXTRN directive</a:t>
            </a:r>
          </a:p>
          <a:p>
            <a:pPr algn="just" eaLnBrk="1" hangingPunct="1">
              <a:lnSpc>
                <a:spcPct val="90000"/>
              </a:lnSpc>
            </a:pPr>
            <a:endParaRPr lang="en-US" sz="2800" smtClean="0"/>
          </a:p>
          <a:p>
            <a:pPr algn="just" eaLnBrk="1" hangingPunct="1">
              <a:lnSpc>
                <a:spcPct val="90000"/>
              </a:lnSpc>
            </a:pPr>
            <a:r>
              <a:rPr lang="en-US" sz="2800" smtClean="0"/>
              <a:t>GLOBAL directive is used to make the symbol available to other modules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05FEE7F6-E897-441D-90B2-2951485B6D31}"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DFF78B31-1BE1-4801-AB8A-6BD5D5018BEF}" type="slidenum">
              <a:rPr lang="en-US" altLang="en-US"/>
              <a:pPr>
                <a:defRPr/>
              </a:pPr>
              <a:t>19</a:t>
            </a:fld>
            <a:endParaRPr lang="en-US" altLang="en-US"/>
          </a:p>
        </p:txBody>
      </p:sp>
      <p:sp>
        <p:nvSpPr>
          <p:cNvPr id="183301" name="Rectangle 3"/>
          <p:cNvSpPr>
            <a:spLocks noGrp="1" noChangeArrowheads="1"/>
          </p:cNvSpPr>
          <p:nvPr>
            <p:ph type="body" idx="1"/>
          </p:nvPr>
        </p:nvSpPr>
        <p:spPr>
          <a:xfrm>
            <a:off x="457200" y="914400"/>
            <a:ext cx="8229600" cy="5216525"/>
          </a:xfrm>
        </p:spPr>
        <p:txBody>
          <a:bodyPr/>
          <a:lstStyle/>
          <a:p>
            <a:pPr algn="just" eaLnBrk="1" hangingPunct="1">
              <a:buFont typeface="Wingdings" pitchFamily="2" charset="2"/>
              <a:buNone/>
            </a:pPr>
            <a:r>
              <a:rPr lang="en-US" sz="2800" smtClean="0"/>
              <a:t>		</a:t>
            </a:r>
            <a:r>
              <a:rPr lang="en-US" sz="2800" b="1" smtClean="0"/>
              <a:t>GROUP – Group Related Segments</a:t>
            </a:r>
          </a:p>
          <a:p>
            <a:pPr algn="just" eaLnBrk="1" hangingPunct="1">
              <a:buFont typeface="Wingdings" pitchFamily="2" charset="2"/>
              <a:buNone/>
            </a:pPr>
            <a:endParaRPr lang="en-US" sz="2800" b="1" smtClean="0"/>
          </a:p>
          <a:p>
            <a:pPr algn="just" eaLnBrk="1" hangingPunct="1"/>
            <a:r>
              <a:rPr lang="en-US" sz="2800" smtClean="0"/>
              <a:t>Is used to tell the assembler to group the logical segments named after the directive into one logical group segment</a:t>
            </a:r>
          </a:p>
          <a:p>
            <a:pPr algn="just" eaLnBrk="1" hangingPunct="1"/>
            <a:endParaRPr lang="en-US" sz="2800" smtClean="0"/>
          </a:p>
          <a:p>
            <a:pPr algn="just" eaLnBrk="1" hangingPunct="1"/>
            <a:r>
              <a:rPr lang="en-US" sz="2800" smtClean="0"/>
              <a:t>This allows the contents of all the segments to be accessed from the same group segment base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22C0E693-D94A-4FE4-BC2E-E984906439E4}"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7B8541BD-9BA1-4278-AD8A-2498DE9241DA}" type="slidenum">
              <a:rPr lang="en-US" altLang="en-US"/>
              <a:pPr>
                <a:defRPr/>
              </a:pPr>
              <a:t>20</a:t>
            </a:fld>
            <a:endParaRPr lang="en-US" altLang="en-US"/>
          </a:p>
        </p:txBody>
      </p:sp>
      <p:sp>
        <p:nvSpPr>
          <p:cNvPr id="184325" name="Rectangle 3"/>
          <p:cNvSpPr>
            <a:spLocks noGrp="1" noChangeArrowheads="1"/>
          </p:cNvSpPr>
          <p:nvPr>
            <p:ph type="body" idx="1"/>
          </p:nvPr>
        </p:nvSpPr>
        <p:spPr>
          <a:xfrm>
            <a:off x="457200" y="762000"/>
            <a:ext cx="8229600" cy="5364163"/>
          </a:xfrm>
        </p:spPr>
        <p:txBody>
          <a:bodyPr/>
          <a:lstStyle/>
          <a:p>
            <a:pPr eaLnBrk="1" hangingPunct="1">
              <a:lnSpc>
                <a:spcPct val="90000"/>
              </a:lnSpc>
              <a:buFont typeface="Wingdings" pitchFamily="2" charset="2"/>
              <a:buNone/>
            </a:pPr>
            <a:r>
              <a:rPr lang="en-US" smtClean="0"/>
              <a:t>Example:</a:t>
            </a:r>
          </a:p>
          <a:p>
            <a:pPr eaLnBrk="1" hangingPunct="1">
              <a:lnSpc>
                <a:spcPct val="90000"/>
              </a:lnSpc>
              <a:buFont typeface="Wingdings" pitchFamily="2" charset="2"/>
              <a:buNone/>
            </a:pPr>
            <a:endParaRPr lang="en-US" smtClean="0"/>
          </a:p>
          <a:p>
            <a:pPr eaLnBrk="1" hangingPunct="1">
              <a:lnSpc>
                <a:spcPct val="90000"/>
              </a:lnSpc>
              <a:buFont typeface="Wingdings" pitchFamily="2" charset="2"/>
              <a:buNone/>
            </a:pPr>
            <a:r>
              <a:rPr lang="en-US" smtClean="0"/>
              <a:t>	SMALL_SYSTEM  GROUP  CODE, DATA, STACK_SEG</a:t>
            </a:r>
          </a:p>
          <a:p>
            <a:pPr eaLnBrk="1" hangingPunct="1">
              <a:lnSpc>
                <a:spcPct val="90000"/>
              </a:lnSpc>
              <a:buFont typeface="Wingdings" pitchFamily="2" charset="2"/>
              <a:buNone/>
            </a:pPr>
            <a:endParaRPr lang="en-US" smtClean="0"/>
          </a:p>
          <a:p>
            <a:pPr eaLnBrk="1" hangingPunct="1">
              <a:lnSpc>
                <a:spcPct val="90000"/>
              </a:lnSpc>
              <a:buFont typeface="Wingdings" pitchFamily="2" charset="2"/>
              <a:buNone/>
            </a:pPr>
            <a:r>
              <a:rPr lang="en-US" smtClean="0"/>
              <a:t>	An appropriate ASSUME statement to follow this would be:</a:t>
            </a:r>
          </a:p>
          <a:p>
            <a:pPr eaLnBrk="1" hangingPunct="1">
              <a:lnSpc>
                <a:spcPct val="90000"/>
              </a:lnSpc>
              <a:buFont typeface="Wingdings" pitchFamily="2" charset="2"/>
              <a:buNone/>
            </a:pPr>
            <a:r>
              <a:rPr lang="en-US" smtClean="0"/>
              <a:t>	ASSUME  CS:SMALL_SYSTEM, DS:SMALL_SYSTEM,  SS:SMALL_SYSTEM</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F74076EB-7D5E-43E6-9D7C-92D65A0F2147}"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97C0DA09-2C13-40B0-8A2B-A8AD15DFFCC5}" type="slidenum">
              <a:rPr lang="en-US" altLang="en-US"/>
              <a:pPr>
                <a:defRPr/>
              </a:pPr>
              <a:t>21</a:t>
            </a:fld>
            <a:endParaRPr lang="en-US" altLang="en-US"/>
          </a:p>
        </p:txBody>
      </p:sp>
      <p:sp>
        <p:nvSpPr>
          <p:cNvPr id="185349" name="Rectangle 3"/>
          <p:cNvSpPr>
            <a:spLocks noGrp="1" noChangeArrowheads="1"/>
          </p:cNvSpPr>
          <p:nvPr>
            <p:ph type="body" idx="1"/>
          </p:nvPr>
        </p:nvSpPr>
        <p:spPr>
          <a:xfrm>
            <a:off x="457200" y="1066800"/>
            <a:ext cx="8229600" cy="5064125"/>
          </a:xfrm>
        </p:spPr>
        <p:txBody>
          <a:bodyPr/>
          <a:lstStyle/>
          <a:p>
            <a:pPr eaLnBrk="1" hangingPunct="1">
              <a:buFont typeface="Wingdings" pitchFamily="2" charset="2"/>
              <a:buNone/>
            </a:pPr>
            <a:r>
              <a:rPr lang="en-US" sz="2800" smtClean="0"/>
              <a:t>	</a:t>
            </a:r>
            <a:r>
              <a:rPr lang="en-US" sz="2800" b="1" smtClean="0"/>
              <a:t>INCLUDE – Include source code from file</a:t>
            </a:r>
          </a:p>
          <a:p>
            <a:pPr eaLnBrk="1" hangingPunct="1">
              <a:buFont typeface="Wingdings" pitchFamily="2" charset="2"/>
              <a:buNone/>
            </a:pPr>
            <a:endParaRPr lang="en-US" sz="2800" b="1" smtClean="0"/>
          </a:p>
          <a:p>
            <a:pPr algn="just" eaLnBrk="1" hangingPunct="1"/>
            <a:r>
              <a:rPr lang="en-US" sz="2800" smtClean="0"/>
              <a:t>Is used to tell the assembler to insert a block of source code from the named file into the current source module</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ADABFC83-6B76-49E0-85F6-384F51A3E13B}"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CB05AA67-918B-4BF6-8DDB-1002E9CB897D}" type="slidenum">
              <a:rPr lang="en-US" altLang="en-US"/>
              <a:pPr>
                <a:defRPr/>
              </a:pPr>
              <a:t>22</a:t>
            </a:fld>
            <a:endParaRPr lang="en-US" altLang="en-US"/>
          </a:p>
        </p:txBody>
      </p:sp>
      <p:sp>
        <p:nvSpPr>
          <p:cNvPr id="186373" name="Rectangle 3"/>
          <p:cNvSpPr>
            <a:spLocks noGrp="1" noChangeArrowheads="1"/>
          </p:cNvSpPr>
          <p:nvPr>
            <p:ph type="body" idx="1"/>
          </p:nvPr>
        </p:nvSpPr>
        <p:spPr>
          <a:xfrm>
            <a:off x="457200" y="685800"/>
            <a:ext cx="8229600" cy="5440363"/>
          </a:xfrm>
        </p:spPr>
        <p:txBody>
          <a:bodyPr/>
          <a:lstStyle/>
          <a:p>
            <a:pPr eaLnBrk="1" hangingPunct="1">
              <a:buFont typeface="Wingdings" pitchFamily="2" charset="2"/>
              <a:buNone/>
            </a:pPr>
            <a:r>
              <a:rPr lang="en-US" sz="2800" smtClean="0"/>
              <a:t>		</a:t>
            </a:r>
            <a:r>
              <a:rPr lang="en-US" sz="2800" b="1" smtClean="0"/>
              <a:t>OFFSET </a:t>
            </a:r>
          </a:p>
          <a:p>
            <a:pPr eaLnBrk="1" hangingPunct="1">
              <a:buFont typeface="Wingdings" pitchFamily="2" charset="2"/>
              <a:buNone/>
            </a:pPr>
            <a:endParaRPr lang="en-US" sz="2800" b="1" smtClean="0"/>
          </a:p>
          <a:p>
            <a:pPr algn="just" eaLnBrk="1" hangingPunct="1"/>
            <a:r>
              <a:rPr lang="en-US" sz="2800" smtClean="0"/>
              <a:t>Tells the assembler to determine the offset or displacement of a named data item or procedure from the start of the segment which contains it</a:t>
            </a:r>
          </a:p>
          <a:p>
            <a:pPr eaLnBrk="1" hangingPunct="1"/>
            <a:endParaRPr lang="en-US" sz="2800" smtClean="0"/>
          </a:p>
          <a:p>
            <a:pPr eaLnBrk="1" hangingPunct="1">
              <a:buFont typeface="Wingdings" pitchFamily="2" charset="2"/>
              <a:buNone/>
            </a:pPr>
            <a:r>
              <a:rPr lang="en-US" sz="2800" smtClean="0"/>
              <a:t>Example:</a:t>
            </a:r>
          </a:p>
          <a:p>
            <a:pPr eaLnBrk="1" hangingPunct="1">
              <a:buFont typeface="Wingdings" pitchFamily="2" charset="2"/>
              <a:buNone/>
            </a:pPr>
            <a:endParaRPr lang="en-US" sz="2800" smtClean="0"/>
          </a:p>
          <a:p>
            <a:pPr eaLnBrk="1" hangingPunct="1">
              <a:buFont typeface="Wingdings" pitchFamily="2" charset="2"/>
              <a:buNone/>
            </a:pPr>
            <a:r>
              <a:rPr lang="en-US" sz="2800" smtClean="0"/>
              <a:t>	MOV   SI,  OFFSET PRICES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B2C5279A-2FBE-4B09-BD82-EB5DF109841F}"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FB14A661-E13A-4827-9A0B-7F4AA540B324}" type="slidenum">
              <a:rPr lang="en-US" altLang="en-US"/>
              <a:pPr>
                <a:defRPr/>
              </a:pPr>
              <a:t>23</a:t>
            </a:fld>
            <a:endParaRPr lang="en-US" altLang="en-US"/>
          </a:p>
        </p:txBody>
      </p:sp>
      <p:sp>
        <p:nvSpPr>
          <p:cNvPr id="187397" name="Rectangle 3"/>
          <p:cNvSpPr>
            <a:spLocks noGrp="1" noChangeArrowheads="1"/>
          </p:cNvSpPr>
          <p:nvPr>
            <p:ph type="body" idx="1"/>
          </p:nvPr>
        </p:nvSpPr>
        <p:spPr>
          <a:xfrm>
            <a:off x="457200" y="685800"/>
            <a:ext cx="8229600" cy="5440363"/>
          </a:xfrm>
        </p:spPr>
        <p:txBody>
          <a:bodyPr/>
          <a:lstStyle/>
          <a:p>
            <a:pPr algn="just" eaLnBrk="1" hangingPunct="1">
              <a:buFont typeface="Wingdings" pitchFamily="2" charset="2"/>
              <a:buNone/>
            </a:pPr>
            <a:r>
              <a:rPr lang="en-US" sz="2600" smtClean="0"/>
              <a:t>		</a:t>
            </a:r>
            <a:r>
              <a:rPr lang="en-US" sz="2600" b="1" smtClean="0"/>
              <a:t>ORG – Originate</a:t>
            </a:r>
            <a:r>
              <a:rPr lang="en-US" sz="2600" smtClean="0"/>
              <a:t> </a:t>
            </a:r>
          </a:p>
          <a:p>
            <a:pPr algn="just" eaLnBrk="1" hangingPunct="1">
              <a:buFont typeface="Wingdings" pitchFamily="2" charset="2"/>
              <a:buNone/>
            </a:pPr>
            <a:endParaRPr lang="en-US" sz="2600" smtClean="0"/>
          </a:p>
          <a:p>
            <a:pPr algn="just" eaLnBrk="1" hangingPunct="1"/>
            <a:r>
              <a:rPr lang="en-US" sz="2600" smtClean="0"/>
              <a:t>The location counter is automatically set to 0000 when the assembler starts reading a segment</a:t>
            </a:r>
          </a:p>
          <a:p>
            <a:pPr algn="just" eaLnBrk="1" hangingPunct="1"/>
            <a:endParaRPr lang="en-US" sz="2600" smtClean="0"/>
          </a:p>
          <a:p>
            <a:pPr algn="just" eaLnBrk="1" hangingPunct="1"/>
            <a:r>
              <a:rPr lang="en-US" sz="2600" smtClean="0"/>
              <a:t>The ORG directive allows us to set the location counter to a desired value at any point in the program</a:t>
            </a:r>
          </a:p>
          <a:p>
            <a:pPr algn="just" eaLnBrk="1" hangingPunct="1"/>
            <a:endParaRPr lang="en-US" sz="2600" smtClean="0"/>
          </a:p>
          <a:p>
            <a:pPr algn="just" eaLnBrk="1" hangingPunct="1"/>
            <a:r>
              <a:rPr lang="en-US" sz="2600" smtClean="0"/>
              <a:t>The statement ORG 2000H tells the assembler to set the location counter to 2000H</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F644FFAE-58E2-4CC7-A8F1-3F6F85DA2F44}"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F94F446B-0672-49EF-B796-033C31F23752}" type="slidenum">
              <a:rPr lang="en-US" altLang="en-US"/>
              <a:pPr>
                <a:defRPr/>
              </a:pPr>
              <a:t>24</a:t>
            </a:fld>
            <a:endParaRPr lang="en-US" altLang="en-US"/>
          </a:p>
        </p:txBody>
      </p:sp>
      <p:sp>
        <p:nvSpPr>
          <p:cNvPr id="188421" name="Rectangle 3"/>
          <p:cNvSpPr>
            <a:spLocks noGrp="1" noChangeArrowheads="1"/>
          </p:cNvSpPr>
          <p:nvPr>
            <p:ph type="body" idx="1"/>
          </p:nvPr>
        </p:nvSpPr>
        <p:spPr>
          <a:xfrm>
            <a:off x="457200" y="1066800"/>
            <a:ext cx="8229600" cy="4530725"/>
          </a:xfrm>
        </p:spPr>
        <p:txBody>
          <a:bodyPr/>
          <a:lstStyle/>
          <a:p>
            <a:pPr marL="609600" indent="-609600" algn="just" eaLnBrk="1" hangingPunct="1">
              <a:buFont typeface="Wingdings" pitchFamily="2" charset="2"/>
              <a:buNone/>
            </a:pPr>
            <a:r>
              <a:rPr lang="en-US" sz="2800" smtClean="0"/>
              <a:t>	</a:t>
            </a:r>
            <a:r>
              <a:rPr lang="en-US" sz="2800" b="1" smtClean="0"/>
              <a:t>PROC – Procedure</a:t>
            </a:r>
          </a:p>
          <a:p>
            <a:pPr marL="609600" indent="-609600" algn="just" eaLnBrk="1" hangingPunct="1"/>
            <a:endParaRPr lang="en-US" sz="2800" b="1" smtClean="0"/>
          </a:p>
          <a:p>
            <a:pPr marL="609600" indent="-609600" algn="just" eaLnBrk="1" hangingPunct="1"/>
            <a:r>
              <a:rPr lang="en-US" sz="2800" smtClean="0"/>
              <a:t>Is used to identify the start of a procedure</a:t>
            </a:r>
          </a:p>
          <a:p>
            <a:pPr marL="609600" indent="-609600" algn="just" eaLnBrk="1" hangingPunct="1"/>
            <a:endParaRPr lang="en-US" sz="2800" smtClean="0"/>
          </a:p>
          <a:p>
            <a:pPr marL="609600" indent="-609600" algn="just" eaLnBrk="1" hangingPunct="1"/>
            <a:r>
              <a:rPr lang="en-US" sz="2800" smtClean="0"/>
              <a:t>The PROC directive follows a name you give the procedure</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89E8E031-73A3-4794-AE90-C440B09C0214}"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EC6E9DEF-9878-45A1-BA8E-23B6E303BDCA}" type="slidenum">
              <a:rPr lang="en-US" altLang="en-US"/>
              <a:pPr>
                <a:defRPr/>
              </a:pPr>
              <a:t>25</a:t>
            </a:fld>
            <a:endParaRPr lang="en-US" altLang="en-US"/>
          </a:p>
        </p:txBody>
      </p:sp>
      <p:sp>
        <p:nvSpPr>
          <p:cNvPr id="189445" name="Rectangle 3"/>
          <p:cNvSpPr>
            <a:spLocks noGrp="1" noChangeArrowheads="1"/>
          </p:cNvSpPr>
          <p:nvPr>
            <p:ph type="body" idx="1"/>
          </p:nvPr>
        </p:nvSpPr>
        <p:spPr>
          <a:xfrm>
            <a:off x="457200" y="914400"/>
            <a:ext cx="8229600" cy="5211763"/>
          </a:xfrm>
        </p:spPr>
        <p:txBody>
          <a:bodyPr/>
          <a:lstStyle/>
          <a:p>
            <a:pPr algn="just" eaLnBrk="1" hangingPunct="1">
              <a:lnSpc>
                <a:spcPct val="90000"/>
              </a:lnSpc>
              <a:buFont typeface="Wingdings" pitchFamily="2" charset="2"/>
              <a:buNone/>
            </a:pPr>
            <a:r>
              <a:rPr lang="en-US" sz="2600" smtClean="0"/>
              <a:t>		</a:t>
            </a:r>
            <a:r>
              <a:rPr lang="en-US" sz="2600" b="1" smtClean="0"/>
              <a:t>PUBLIC </a:t>
            </a:r>
          </a:p>
          <a:p>
            <a:pPr algn="just" eaLnBrk="1" hangingPunct="1">
              <a:lnSpc>
                <a:spcPct val="90000"/>
              </a:lnSpc>
            </a:pPr>
            <a:endParaRPr lang="en-US" sz="2600" b="1" smtClean="0"/>
          </a:p>
          <a:p>
            <a:pPr algn="just" eaLnBrk="1" hangingPunct="1">
              <a:lnSpc>
                <a:spcPct val="90000"/>
              </a:lnSpc>
            </a:pPr>
            <a:r>
              <a:rPr lang="en-US" sz="2600" smtClean="0"/>
              <a:t>The PUBLIC directive is used to tell the assembler that a specified name or label will be accessed from other modules</a:t>
            </a:r>
          </a:p>
          <a:p>
            <a:pPr algn="just" eaLnBrk="1" hangingPunct="1">
              <a:lnSpc>
                <a:spcPct val="90000"/>
              </a:lnSpc>
            </a:pPr>
            <a:endParaRPr lang="en-US" sz="2600" smtClean="0"/>
          </a:p>
          <a:p>
            <a:pPr algn="just" eaLnBrk="1" hangingPunct="1">
              <a:lnSpc>
                <a:spcPct val="90000"/>
              </a:lnSpc>
              <a:buFont typeface="Wingdings" pitchFamily="2" charset="2"/>
              <a:buNone/>
            </a:pPr>
            <a:r>
              <a:rPr lang="en-US" sz="2600" smtClean="0"/>
              <a:t>Example:</a:t>
            </a:r>
          </a:p>
          <a:p>
            <a:pPr algn="just" eaLnBrk="1" hangingPunct="1">
              <a:lnSpc>
                <a:spcPct val="90000"/>
              </a:lnSpc>
              <a:buFont typeface="Wingdings" pitchFamily="2" charset="2"/>
              <a:buNone/>
            </a:pPr>
            <a:endParaRPr lang="en-US" sz="2600" smtClean="0"/>
          </a:p>
          <a:p>
            <a:pPr algn="just" eaLnBrk="1" hangingPunct="1">
              <a:lnSpc>
                <a:spcPct val="90000"/>
              </a:lnSpc>
              <a:buFont typeface="Wingdings" pitchFamily="2" charset="2"/>
              <a:buNone/>
            </a:pPr>
            <a:r>
              <a:rPr lang="en-US" sz="2600" smtClean="0"/>
              <a:t>	PUBLIC  A, B makes 2 variables A and B available to other assembly modules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1F9B74E2-886D-4D3F-9FAA-3638AA4F58D0}"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6A2B66D0-ECDE-4073-9933-B71ACAC05277}" type="slidenum">
              <a:rPr lang="en-US" altLang="en-US"/>
              <a:pPr>
                <a:defRPr/>
              </a:pPr>
              <a:t>26</a:t>
            </a:fld>
            <a:endParaRPr lang="en-US" altLang="en-US"/>
          </a:p>
        </p:txBody>
      </p:sp>
      <p:sp>
        <p:nvSpPr>
          <p:cNvPr id="190469" name="Rectangle 3"/>
          <p:cNvSpPr>
            <a:spLocks noGrp="1" noChangeArrowheads="1"/>
          </p:cNvSpPr>
          <p:nvPr>
            <p:ph type="body" idx="1"/>
          </p:nvPr>
        </p:nvSpPr>
        <p:spPr>
          <a:xfrm>
            <a:off x="457200" y="1143000"/>
            <a:ext cx="8229600" cy="4983163"/>
          </a:xfrm>
        </p:spPr>
        <p:txBody>
          <a:bodyPr/>
          <a:lstStyle/>
          <a:p>
            <a:pPr eaLnBrk="1" hangingPunct="1">
              <a:buFont typeface="Wingdings" pitchFamily="2" charset="2"/>
              <a:buNone/>
            </a:pPr>
            <a:r>
              <a:rPr lang="en-US" smtClean="0"/>
              <a:t>		SEGMENT </a:t>
            </a:r>
          </a:p>
          <a:p>
            <a:pPr eaLnBrk="1" hangingPunct="1">
              <a:buFont typeface="Wingdings" pitchFamily="2" charset="2"/>
              <a:buNone/>
            </a:pPr>
            <a:endParaRPr lang="en-US" smtClean="0"/>
          </a:p>
          <a:p>
            <a:pPr algn="just" eaLnBrk="1" hangingPunct="1"/>
            <a:r>
              <a:rPr lang="en-US" smtClean="0"/>
              <a:t>Is used to indicate the start of a logical segment</a:t>
            </a:r>
          </a:p>
          <a:p>
            <a:pPr algn="just" eaLnBrk="1" hangingPunct="1"/>
            <a:endParaRPr lang="en-US" smtClean="0"/>
          </a:p>
          <a:p>
            <a:pPr algn="just" eaLnBrk="1" hangingPunct="1"/>
            <a:r>
              <a:rPr lang="en-US" smtClean="0"/>
              <a:t>Preceding the SEGMENT directive is the name you want to give the segment</a:t>
            </a:r>
          </a:p>
          <a:p>
            <a:pPr algn="just" eaLnBrk="1" hangingPunct="1"/>
            <a:endParaRPr lang="en-US"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947346BB-5A69-4DE6-AA54-21AF6310C683}"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CFEDDA19-3375-421B-88BE-787C866A11A8}" type="slidenum">
              <a:rPr lang="en-US" altLang="en-US"/>
              <a:pPr>
                <a:defRPr/>
              </a:pPr>
              <a:t>27</a:t>
            </a:fld>
            <a:endParaRPr lang="en-US" altLang="en-US"/>
          </a:p>
        </p:txBody>
      </p:sp>
      <p:sp>
        <p:nvSpPr>
          <p:cNvPr id="191493" name="Rectangle 3"/>
          <p:cNvSpPr>
            <a:spLocks noGrp="1" noChangeArrowheads="1"/>
          </p:cNvSpPr>
          <p:nvPr>
            <p:ph type="body" idx="1"/>
          </p:nvPr>
        </p:nvSpPr>
        <p:spPr>
          <a:xfrm>
            <a:off x="457200" y="1371600"/>
            <a:ext cx="8229600" cy="4759325"/>
          </a:xfrm>
        </p:spPr>
        <p:txBody>
          <a:bodyPr/>
          <a:lstStyle/>
          <a:p>
            <a:pPr algn="just" eaLnBrk="1" hangingPunct="1"/>
            <a:r>
              <a:rPr lang="en-US" sz="2800" smtClean="0"/>
              <a:t>The statement, CODE  SEGMENT for example, indicates to the assembler the start of a logical segment called CODE</a:t>
            </a:r>
          </a:p>
          <a:p>
            <a:pPr algn="just" eaLnBrk="1" hangingPunct="1"/>
            <a:endParaRPr lang="en-US" sz="2800" smtClean="0"/>
          </a:p>
          <a:p>
            <a:pPr algn="just" eaLnBrk="1" hangingPunct="1"/>
            <a:r>
              <a:rPr lang="en-US" sz="2800" smtClean="0"/>
              <a:t>The SEGMENT and ENDS directives are used to “bracket” a logical segment containing code or data</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p:cNvSpPr>
            <a:spLocks noGrp="1"/>
          </p:cNvSpPr>
          <p:nvPr>
            <p:ph type="dt" sz="quarter" idx="10"/>
          </p:nvPr>
        </p:nvSpPr>
        <p:spPr/>
        <p:txBody>
          <a:bodyPr/>
          <a:lstStyle/>
          <a:p>
            <a:pPr>
              <a:defRPr/>
            </a:pPr>
            <a:fld id="{E185012C-B37D-4029-BE78-45AC080A31A8}" type="datetime1">
              <a:rPr lang="en-US"/>
              <a:pPr>
                <a:defRPr/>
              </a:pPr>
              <a:t>5/17/2021</a:t>
            </a:fld>
            <a:endParaRPr lang="en-US" altLang="en-US"/>
          </a:p>
        </p:txBody>
      </p:sp>
      <p:sp>
        <p:nvSpPr>
          <p:cNvPr id="4" name="Footer Placeholder 4"/>
          <p:cNvSpPr>
            <a:spLocks noGrp="1"/>
          </p:cNvSpPr>
          <p:nvPr>
            <p:ph type="ftr" sz="quarter" idx="11"/>
          </p:nvPr>
        </p:nvSpPr>
        <p:spPr/>
        <p:txBody>
          <a:bodyPr/>
          <a:lstStyle/>
          <a:p>
            <a:pPr>
              <a:defRPr/>
            </a:pPr>
            <a:r>
              <a:rPr lang="en-US" altLang="en-US"/>
              <a:t>Roshan Fernandes, Dept of CSE, NMAMIT, Nitte</a:t>
            </a:r>
          </a:p>
        </p:txBody>
      </p:sp>
      <p:sp>
        <p:nvSpPr>
          <p:cNvPr id="5" name="Slide Number Placeholder 5"/>
          <p:cNvSpPr>
            <a:spLocks noGrp="1"/>
          </p:cNvSpPr>
          <p:nvPr>
            <p:ph type="sldNum" sz="quarter" idx="12"/>
          </p:nvPr>
        </p:nvSpPr>
        <p:spPr/>
        <p:txBody>
          <a:bodyPr/>
          <a:lstStyle/>
          <a:p>
            <a:pPr>
              <a:defRPr/>
            </a:pPr>
            <a:fld id="{8F57C75F-A79D-4AA7-A20D-C63A36437165}" type="slidenum">
              <a:rPr lang="en-US" altLang="en-US"/>
              <a:pPr>
                <a:defRPr/>
              </a:pPr>
              <a:t>28</a:t>
            </a:fld>
            <a:endParaRPr lang="en-US" altLang="en-US"/>
          </a:p>
        </p:txBody>
      </p:sp>
      <p:sp>
        <p:nvSpPr>
          <p:cNvPr id="202754" name="Rectangle 2"/>
          <p:cNvSpPr>
            <a:spLocks noGrp="1" noChangeArrowheads="1"/>
          </p:cNvSpPr>
          <p:nvPr>
            <p:ph type="body" idx="1"/>
          </p:nvPr>
        </p:nvSpPr>
        <p:spPr>
          <a:xfrm>
            <a:off x="457200" y="533400"/>
            <a:ext cx="8229600" cy="5597525"/>
          </a:xfrm>
        </p:spPr>
        <p:txBody>
          <a:bodyPr/>
          <a:lstStyle/>
          <a:p>
            <a:pPr eaLnBrk="1" hangingPunct="1">
              <a:buFont typeface="Wingdings" pitchFamily="2" charset="2"/>
              <a:buNone/>
              <a:defRPr/>
            </a:pPr>
            <a:endParaRPr lang="en-US" smtClean="0"/>
          </a:p>
          <a:p>
            <a:pPr eaLnBrk="1" hangingPunct="1">
              <a:buFont typeface="Wingdings" pitchFamily="2" charset="2"/>
              <a:buNone/>
              <a:defRPr/>
            </a:pPr>
            <a:endParaRPr lang="en-US" smtClean="0"/>
          </a:p>
          <a:p>
            <a:pPr eaLnBrk="1" hangingPunct="1">
              <a:buFont typeface="Wingdings" pitchFamily="2" charset="2"/>
              <a:buNone/>
              <a:defRPr/>
            </a:pPr>
            <a:endParaRPr lang="en-US" smtClean="0"/>
          </a:p>
          <a:p>
            <a:pPr algn="ctr" eaLnBrk="1" hangingPunct="1">
              <a:buFont typeface="Wingdings" pitchFamily="2" charset="2"/>
              <a:buNone/>
              <a:defRPr/>
            </a:pPr>
            <a:r>
              <a:rPr lang="en-US" sz="7200" b="1" i="1" smtClean="0">
                <a:solidFill>
                  <a:srgbClr val="990033"/>
                </a:solidFill>
                <a:effectLst>
                  <a:outerShdw blurRad="38100" dist="38100" dir="2700000" algn="tl">
                    <a:srgbClr val="C0C0C0"/>
                  </a:outerShdw>
                </a:effectLst>
                <a:latin typeface="Monotype Corsiva" pitchFamily="66" charset="0"/>
              </a:rPr>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TotalTime>
  <Words>917</Words>
  <Application>Microsoft Office PowerPoint</Application>
  <PresentationFormat>On-screen Show (4:3)</PresentationFormat>
  <Paragraphs>224</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Garamond</vt:lpstr>
      <vt:lpstr>Monotype Corsiva</vt:lpstr>
      <vt:lpstr>Wingdings</vt:lpstr>
      <vt:lpstr>Office Theme</vt:lpstr>
      <vt:lpstr>8086 Assembler Directives</vt:lpstr>
      <vt:lpstr>PowerPoint Presentation</vt:lpstr>
      <vt:lpstr>ASSUME Directive-The</vt:lpstr>
      <vt:lpstr>DB</vt:lpstr>
      <vt:lpstr>DW</vt:lpstr>
      <vt:lpstr>END and ENDP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8086 Assembler Directives</dc:title>
  <dc:creator>shilpa m k</dc:creator>
  <cp:lastModifiedBy>Veeresh</cp:lastModifiedBy>
  <cp:revision>8</cp:revision>
  <dcterms:created xsi:type="dcterms:W3CDTF">2017-07-28T05:55:49Z</dcterms:created>
  <dcterms:modified xsi:type="dcterms:W3CDTF">2021-05-17T05:17:33Z</dcterms:modified>
</cp:coreProperties>
</file>