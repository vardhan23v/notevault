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58" r:id="rId5"/>
    <p:sldId id="259" r:id="rId6"/>
    <p:sldId id="261" r:id="rId7"/>
    <p:sldId id="262" r:id="rId8"/>
    <p:sldId id="263" r:id="rId9"/>
    <p:sldId id="264" r:id="rId10"/>
    <p:sldId id="265" r:id="rId11"/>
    <p:sldId id="267" r:id="rId12"/>
    <p:sldId id="266" r:id="rId13"/>
    <p:sldId id="269" r:id="rId14"/>
    <p:sldId id="270" r:id="rId15"/>
    <p:sldId id="271" r:id="rId16"/>
    <p:sldId id="272" r:id="rId17"/>
    <p:sldId id="273" r:id="rId18"/>
    <p:sldId id="274" r:id="rId19"/>
    <p:sldId id="275" r:id="rId20"/>
    <p:sldId id="276" r:id="rId21"/>
    <p:sldId id="277" r:id="rId22"/>
    <p:sldId id="278" r:id="rId23"/>
    <p:sldId id="279" r:id="rId24"/>
    <p:sldId id="281" r:id="rId25"/>
    <p:sldId id="282" r:id="rId26"/>
    <p:sldId id="283" r:id="rId27"/>
    <p:sldId id="284" r:id="rId28"/>
    <p:sldId id="285" r:id="rId29"/>
    <p:sldId id="286" r:id="rId30"/>
    <p:sldId id="287" r:id="rId31"/>
    <p:sldId id="288" r:id="rId32"/>
    <p:sldId id="28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67DDE-C4B2-C6F5-5F65-172B4D311A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2F1AB18-5153-1513-E1F3-A2AE48C69F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DF453F1-9F5E-5401-49DA-D09F210D083D}"/>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5" name="Footer Placeholder 4">
            <a:extLst>
              <a:ext uri="{FF2B5EF4-FFF2-40B4-BE49-F238E27FC236}">
                <a16:creationId xmlns:a16="http://schemas.microsoft.com/office/drawing/2014/main" id="{ADB44663-B5A4-B188-E868-13ECC7E88D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AFD1F1-BDD8-BF17-2FAC-86FD47B3C5A8}"/>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2288199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CB9B7-7416-C9BF-0963-12B51C3A6F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103709-1C6B-6D61-7366-0A9C96A426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C5CE25-AFF1-D374-19DF-671FF4AD8970}"/>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5" name="Footer Placeholder 4">
            <a:extLst>
              <a:ext uri="{FF2B5EF4-FFF2-40B4-BE49-F238E27FC236}">
                <a16:creationId xmlns:a16="http://schemas.microsoft.com/office/drawing/2014/main" id="{E64D8F9F-054A-9B13-46D9-0A4FDB3164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31A00C-2C2A-2859-E35A-F2E7A080B424}"/>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3421353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AF84D-FEAF-B368-2547-D8DFA4A40D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4EDF7B-4D14-F1E5-5A4A-C0988E7CBA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8EEE45-D2CF-A964-2093-4E773F085425}"/>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5" name="Footer Placeholder 4">
            <a:extLst>
              <a:ext uri="{FF2B5EF4-FFF2-40B4-BE49-F238E27FC236}">
                <a16:creationId xmlns:a16="http://schemas.microsoft.com/office/drawing/2014/main" id="{F1B8BF4F-053C-D84B-DBAC-7357FBDABB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FB53F5-8E8D-99D0-7F8B-F80092181563}"/>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2136159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A302A-ABF1-E0E3-DA16-EC454DC4C5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2FC27D-68E8-AAD2-FD72-A49D28E38F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24E71E-7096-4AE0-67DB-CB88922649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A45615-14BA-7DE3-A81E-BC1AC2E26163}"/>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6" name="Footer Placeholder 5">
            <a:extLst>
              <a:ext uri="{FF2B5EF4-FFF2-40B4-BE49-F238E27FC236}">
                <a16:creationId xmlns:a16="http://schemas.microsoft.com/office/drawing/2014/main" id="{01E9465B-BEF6-FA03-A165-4432794AEE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69923B-616C-53BC-19D0-C55C1B5FA994}"/>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1627763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71EEA-F774-61AD-B597-CBD0293932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3766EA-82B4-98EA-5181-B588F63260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17D83D-1B90-F8CC-F12A-9BEBED0CFD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E50BCB-60D0-8EF6-D176-11FDD1041F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F9218E-D081-2E03-DC7B-DD7B5A2414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C2508F-E9B6-647A-3667-2A08533157A5}"/>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8" name="Footer Placeholder 7">
            <a:extLst>
              <a:ext uri="{FF2B5EF4-FFF2-40B4-BE49-F238E27FC236}">
                <a16:creationId xmlns:a16="http://schemas.microsoft.com/office/drawing/2014/main" id="{8C6EA63D-CC90-112B-BCDA-13ED54091D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3341EEF-8017-3068-38C8-6723517EAF89}"/>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2127665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8B66E-B235-13FE-4D74-EEB898D2A9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A632FB-2A7A-5173-FB6C-070182A00075}"/>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4" name="Footer Placeholder 3">
            <a:extLst>
              <a:ext uri="{FF2B5EF4-FFF2-40B4-BE49-F238E27FC236}">
                <a16:creationId xmlns:a16="http://schemas.microsoft.com/office/drawing/2014/main" id="{0C992738-2646-B967-F71E-6B6CFFE7F2A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2ED4982-D094-7917-1510-839C27DB01DD}"/>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3201417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6BFC89-06FE-64D8-DC0B-A5FD4F0CAB5D}"/>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3" name="Footer Placeholder 2">
            <a:extLst>
              <a:ext uri="{FF2B5EF4-FFF2-40B4-BE49-F238E27FC236}">
                <a16:creationId xmlns:a16="http://schemas.microsoft.com/office/drawing/2014/main" id="{508922D9-9C5E-8FFE-CB04-595EECCD95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82AA00-F66E-6549-B042-48B950B591D2}"/>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2165335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8B30D-4916-B322-1948-9263BB873B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274C08-3762-C9EF-11A7-D41A90ECE4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64D445-0479-D615-2530-B8A6A67FBF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3100AF-A304-65E5-8CDA-E6ADCCD0B838}"/>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6" name="Footer Placeholder 5">
            <a:extLst>
              <a:ext uri="{FF2B5EF4-FFF2-40B4-BE49-F238E27FC236}">
                <a16:creationId xmlns:a16="http://schemas.microsoft.com/office/drawing/2014/main" id="{70488CFB-EEC5-F208-F0E9-DF608799EE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C0A604-4287-47A2-8823-53371CC1BEC1}"/>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2741834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EEFD6-8B70-8A65-DEF5-91CBA3ECBB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0A2F65-FD8C-5D6E-F765-B34B72B1AF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787F595-FB30-610D-58CB-796C871C4C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4A86AF-EC71-5C5F-6D2A-105D75A9F8D0}"/>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6" name="Footer Placeholder 5">
            <a:extLst>
              <a:ext uri="{FF2B5EF4-FFF2-40B4-BE49-F238E27FC236}">
                <a16:creationId xmlns:a16="http://schemas.microsoft.com/office/drawing/2014/main" id="{14AD999D-C8BC-718C-7244-CE115728CF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4F3B93-F222-D55E-3775-06FF450B9B06}"/>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2200450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B161D-65AB-E32D-7B79-164A470F25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012525-FFC9-FF00-C808-BE1BF73600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59B8BC-7256-714D-4335-F97FC912FE8F}"/>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5" name="Footer Placeholder 4">
            <a:extLst>
              <a:ext uri="{FF2B5EF4-FFF2-40B4-BE49-F238E27FC236}">
                <a16:creationId xmlns:a16="http://schemas.microsoft.com/office/drawing/2014/main" id="{11817B10-B873-3EE0-8348-7953BA0CE0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F9496E-B344-BA9A-1C99-A32AAD24593D}"/>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377602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CAF264-1C6D-79C5-19B4-5BFC581A8D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BA32D3-8A3E-45C1-C429-0782E5907C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10874F-B73E-FD81-5FFE-D8E06E85C53B}"/>
              </a:ext>
            </a:extLst>
          </p:cNvPr>
          <p:cNvSpPr>
            <a:spLocks noGrp="1"/>
          </p:cNvSpPr>
          <p:nvPr>
            <p:ph type="dt" sz="half" idx="10"/>
          </p:nvPr>
        </p:nvSpPr>
        <p:spPr/>
        <p:txBody>
          <a:bodyPr/>
          <a:lstStyle/>
          <a:p>
            <a:fld id="{797A7F0E-7FCE-4B3B-8F5C-C5435D782F77}" type="datetimeFigureOut">
              <a:rPr lang="en-IN" smtClean="0"/>
              <a:t>22-01-2025</a:t>
            </a:fld>
            <a:endParaRPr lang="en-IN"/>
          </a:p>
        </p:txBody>
      </p:sp>
      <p:sp>
        <p:nvSpPr>
          <p:cNvPr id="5" name="Footer Placeholder 4">
            <a:extLst>
              <a:ext uri="{FF2B5EF4-FFF2-40B4-BE49-F238E27FC236}">
                <a16:creationId xmlns:a16="http://schemas.microsoft.com/office/drawing/2014/main" id="{7F022104-FD37-5A45-7412-6933E980B1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8FD52B-C3D7-149C-8220-F076AF5DF7B7}"/>
              </a:ext>
            </a:extLst>
          </p:cNvPr>
          <p:cNvSpPr>
            <a:spLocks noGrp="1"/>
          </p:cNvSpPr>
          <p:nvPr>
            <p:ph type="sldNum" sz="quarter" idx="12"/>
          </p:nvPr>
        </p:nvSpPr>
        <p:spPr/>
        <p:txBody>
          <a:bodyPr/>
          <a:lstStyle/>
          <a:p>
            <a:fld id="{F632175D-2E2C-4182-8AEB-F3A0CCD01819}" type="slidenum">
              <a:rPr lang="en-IN" smtClean="0"/>
              <a:t>‹#›</a:t>
            </a:fld>
            <a:endParaRPr lang="en-IN"/>
          </a:p>
        </p:txBody>
      </p:sp>
    </p:spTree>
    <p:extLst>
      <p:ext uri="{BB962C8B-B14F-4D97-AF65-F5344CB8AC3E}">
        <p14:creationId xmlns:p14="http://schemas.microsoft.com/office/powerpoint/2010/main" val="3718211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7A470-FC9C-0A72-861D-2D1F97758C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0CE823-5115-E837-BD32-4FC486AD77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446B2-C044-2EA2-AD3C-D8B39EF078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7A7F0E-7FCE-4B3B-8F5C-C5435D782F77}" type="datetimeFigureOut">
              <a:rPr lang="en-IN" smtClean="0"/>
              <a:t>22-01-2025</a:t>
            </a:fld>
            <a:endParaRPr lang="en-IN"/>
          </a:p>
        </p:txBody>
      </p:sp>
      <p:sp>
        <p:nvSpPr>
          <p:cNvPr id="5" name="Footer Placeholder 4">
            <a:extLst>
              <a:ext uri="{FF2B5EF4-FFF2-40B4-BE49-F238E27FC236}">
                <a16:creationId xmlns:a16="http://schemas.microsoft.com/office/drawing/2014/main" id="{BEE3341B-8E89-F6AB-118F-6D42E6A572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9623556-63C4-907E-07CF-272B70C0FF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32175D-2E2C-4182-8AEB-F3A0CCD01819}" type="slidenum">
              <a:rPr lang="en-IN" smtClean="0"/>
              <a:t>‹#›</a:t>
            </a:fld>
            <a:endParaRPr lang="en-IN"/>
          </a:p>
        </p:txBody>
      </p:sp>
    </p:spTree>
    <p:extLst>
      <p:ext uri="{BB962C8B-B14F-4D97-AF65-F5344CB8AC3E}">
        <p14:creationId xmlns:p14="http://schemas.microsoft.com/office/powerpoint/2010/main" val="370517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975C7-5CDF-F4B4-F848-BD9C39FCF38F}"/>
              </a:ext>
            </a:extLst>
          </p:cNvPr>
          <p:cNvSpPr>
            <a:spLocks noGrp="1"/>
          </p:cNvSpPr>
          <p:nvPr>
            <p:ph type="ctrTitle"/>
          </p:nvPr>
        </p:nvSpPr>
        <p:spPr/>
        <p:txBody>
          <a:bodyPr/>
          <a:lstStyle/>
          <a:p>
            <a:r>
              <a:rPr lang="en-US" dirty="0">
                <a:solidFill>
                  <a:srgbClr val="FF0000"/>
                </a:solidFill>
                <a:latin typeface="Times New Roman" panose="02020603050405020304" pitchFamily="18" charset="0"/>
                <a:cs typeface="Times New Roman" panose="02020603050405020304" pitchFamily="18" charset="0"/>
              </a:rPr>
              <a:t>Addressing Modes</a:t>
            </a:r>
            <a:endParaRPr lang="en-IN"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8087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F0769-BC3E-4E36-DF38-D31FB8F88DF6}"/>
              </a:ext>
            </a:extLst>
          </p:cNvPr>
          <p:cNvSpPr>
            <a:spLocks noGrp="1"/>
          </p:cNvSpPr>
          <p:nvPr>
            <p:ph type="title"/>
          </p:nvPr>
        </p:nvSpPr>
        <p:spPr/>
        <p:txBody>
          <a:bodyPr/>
          <a:lstStyle/>
          <a:p>
            <a:r>
              <a:rPr lang="en-US" altLang="en-US" sz="4400" dirty="0">
                <a:solidFill>
                  <a:srgbClr val="000099"/>
                </a:solidFill>
                <a:latin typeface="Calibri" panose="020F0502020204030204" pitchFamily="34" charset="0"/>
                <a:cs typeface="Times New Roman" panose="02020603050405020304" pitchFamily="18" charset="0"/>
              </a:rPr>
              <a:t>Special Roles of Registers </a:t>
            </a:r>
            <a:endParaRPr lang="en-IN" dirty="0"/>
          </a:p>
        </p:txBody>
      </p:sp>
      <p:sp>
        <p:nvSpPr>
          <p:cNvPr id="5" name="Rectangle 3">
            <a:extLst>
              <a:ext uri="{FF2B5EF4-FFF2-40B4-BE49-F238E27FC236}">
                <a16:creationId xmlns:a16="http://schemas.microsoft.com/office/drawing/2014/main" id="{4DF8F4FC-1866-50EB-3979-1B5A487BF92F}"/>
              </a:ext>
            </a:extLst>
          </p:cNvPr>
          <p:cNvSpPr>
            <a:spLocks noGrp="1" noChangeArrowheads="1"/>
          </p:cNvSpPr>
          <p:nvPr>
            <p:ph idx="1"/>
          </p:nvPr>
        </p:nvSpPr>
        <p:spPr bwMode="auto">
          <a:xfrm>
            <a:off x="838200" y="1825625"/>
            <a:ext cx="10515600" cy="435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cs typeface="Noto Sans CJK SC" charset="0"/>
              </a:defRPr>
            </a:lvl1pPr>
            <a:lvl2pPr>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cs typeface="Noto Sans CJK SC" charset="0"/>
              </a:defRPr>
            </a:lvl2pPr>
            <a:lvl3pPr>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cs typeface="Noto Sans CJK SC" charset="0"/>
              </a:defRPr>
            </a:lvl3pPr>
            <a:lvl4pPr>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cs typeface="Noto Sans CJK SC" charset="0"/>
              </a:defRPr>
            </a:lvl4pPr>
            <a:lvl5pPr>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cs typeface="Noto Sans CJK SC"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cs typeface="Noto Sans CJK SC"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cs typeface="Noto Sans CJK SC"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cs typeface="Noto Sans CJK SC"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bg1"/>
                </a:solidFill>
                <a:latin typeface="Arial" panose="020B0604020202020204" pitchFamily="34" charset="0"/>
                <a:cs typeface="Noto Sans CJK SC" charset="0"/>
              </a:defRPr>
            </a:lvl9pPr>
          </a:lstStyle>
          <a:p>
            <a:pPr eaLnBrk="1" hangingPunct="1">
              <a:buFont typeface="Arial" panose="020B0604020202020204" pitchFamily="34" charset="0"/>
              <a:buChar char="•"/>
            </a:pPr>
            <a:r>
              <a:rPr lang="en-US" altLang="en-US" sz="3000" dirty="0">
                <a:solidFill>
                  <a:srgbClr val="000000"/>
                </a:solidFill>
                <a:cs typeface="Times New Roman" panose="02020603050405020304" pitchFamily="18" charset="0"/>
              </a:rPr>
              <a:t>BX can be used as Address register</a:t>
            </a:r>
          </a:p>
          <a:p>
            <a:pPr eaLnBrk="1" hangingPunct="1">
              <a:buFont typeface="Arial" panose="020B0604020202020204" pitchFamily="34" charset="0"/>
              <a:buChar char="•"/>
            </a:pPr>
            <a:r>
              <a:rPr lang="en-US" altLang="en-US" sz="3000" dirty="0">
                <a:solidFill>
                  <a:srgbClr val="000000"/>
                </a:solidFill>
                <a:cs typeface="Times New Roman" panose="02020603050405020304" pitchFamily="18" charset="0"/>
              </a:rPr>
              <a:t>CX is used as default down counter register </a:t>
            </a:r>
          </a:p>
          <a:p>
            <a:pPr eaLnBrk="1" hangingPunct="1">
              <a:buClrTx/>
              <a:buFontTx/>
              <a:buNone/>
            </a:pPr>
            <a:endParaRPr lang="en-US" altLang="en-US" sz="3000" dirty="0">
              <a:solidFill>
                <a:srgbClr val="000000"/>
              </a:solidFill>
              <a:cs typeface="Times New Roman" panose="02020603050405020304" pitchFamily="18" charset="0"/>
            </a:endParaRPr>
          </a:p>
          <a:p>
            <a:pPr eaLnBrk="1" hangingPunct="1">
              <a:buClrTx/>
              <a:buFontTx/>
              <a:buNone/>
            </a:pPr>
            <a:r>
              <a:rPr lang="en-US" altLang="en-US" sz="3000" dirty="0">
                <a:solidFill>
                  <a:srgbClr val="000000"/>
                </a:solidFill>
                <a:cs typeface="Times New Roman" panose="02020603050405020304" pitchFamily="18" charset="0"/>
              </a:rPr>
              <a:t>DX is used to hold</a:t>
            </a:r>
          </a:p>
          <a:p>
            <a:pPr eaLnBrk="1" hangingPunct="1">
              <a:buFont typeface="Arial" panose="020B0604020202020204" pitchFamily="34" charset="0"/>
              <a:buChar char="•"/>
            </a:pPr>
            <a:r>
              <a:rPr lang="en-US" altLang="en-US" sz="3000" dirty="0">
                <a:solidFill>
                  <a:srgbClr val="000000"/>
                </a:solidFill>
                <a:cs typeface="Times New Roman" panose="02020603050405020304" pitchFamily="18" charset="0"/>
              </a:rPr>
              <a:t>16-bit I/O port address in variable port addressing</a:t>
            </a:r>
          </a:p>
          <a:p>
            <a:pPr eaLnBrk="1" hangingPunct="1">
              <a:buFont typeface="Arial" panose="020B0604020202020204" pitchFamily="34" charset="0"/>
              <a:buChar char="•"/>
            </a:pPr>
            <a:r>
              <a:rPr lang="en-US" altLang="en-US" sz="3000" dirty="0">
                <a:solidFill>
                  <a:srgbClr val="000000"/>
                </a:solidFill>
                <a:cs typeface="Times New Roman" panose="02020603050405020304" pitchFamily="18" charset="0"/>
              </a:rPr>
              <a:t>MS 16 bits of 32 bit result after multiplication</a:t>
            </a:r>
          </a:p>
          <a:p>
            <a:pPr eaLnBrk="1" hangingPunct="1">
              <a:buFont typeface="Arial" panose="020B0604020202020204" pitchFamily="34" charset="0"/>
              <a:buChar char="•"/>
            </a:pPr>
            <a:r>
              <a:rPr lang="en-US" altLang="en-US" sz="3000" dirty="0">
                <a:solidFill>
                  <a:srgbClr val="000000"/>
                </a:solidFill>
                <a:cs typeface="Times New Roman" panose="02020603050405020304" pitchFamily="18" charset="0"/>
              </a:rPr>
              <a:t>MS 16 bits of 32 bit numerator before division</a:t>
            </a:r>
          </a:p>
          <a:p>
            <a:pPr eaLnBrk="1" hangingPunct="1">
              <a:buClrTx/>
              <a:buFontTx/>
              <a:buNone/>
            </a:pPr>
            <a:endParaRPr lang="en-US" altLang="en-US" sz="1600" dirty="0">
              <a:solidFill>
                <a:srgbClr val="000000"/>
              </a:solidFill>
              <a:cs typeface="Times New Roman" panose="02020603050405020304" pitchFamily="18" charset="0"/>
            </a:endParaRPr>
          </a:p>
          <a:p>
            <a:pPr eaLnBrk="1" hangingPunct="1">
              <a:buClrTx/>
              <a:buFontTx/>
              <a:buNone/>
            </a:pPr>
            <a:r>
              <a:rPr lang="en-US" altLang="en-US" sz="3000" dirty="0">
                <a:solidFill>
                  <a:srgbClr val="000000"/>
                </a:solidFill>
                <a:cs typeface="Times New Roman" panose="02020603050405020304" pitchFamily="18" charset="0"/>
              </a:rPr>
              <a:t>Accumulator : 8-bit AL, 16-bit AX, 32-bit DX AX</a:t>
            </a:r>
            <a:r>
              <a:rPr lang="en-US" altLang="en-US" sz="3000" dirty="0">
                <a:solidFill>
                  <a:srgbClr val="000000"/>
                </a:solidFill>
              </a:rPr>
              <a:t> </a:t>
            </a:r>
          </a:p>
        </p:txBody>
      </p:sp>
    </p:spTree>
    <p:extLst>
      <p:ext uri="{BB962C8B-B14F-4D97-AF65-F5344CB8AC3E}">
        <p14:creationId xmlns:p14="http://schemas.microsoft.com/office/powerpoint/2010/main" val="3277334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BF36DB-7F54-AE8C-4C8A-675FB841300D}"/>
              </a:ext>
            </a:extLst>
          </p:cNvPr>
          <p:cNvSpPr>
            <a:spLocks noGrp="1"/>
          </p:cNvSpPr>
          <p:nvPr>
            <p:ph idx="1"/>
          </p:nvPr>
        </p:nvSpPr>
        <p:spPr>
          <a:xfrm>
            <a:off x="277402" y="154112"/>
            <a:ext cx="11076398" cy="6022851"/>
          </a:xfrm>
        </p:spPr>
        <p:txBody>
          <a:bodyPr>
            <a:normAutofit/>
          </a:bodyPr>
          <a:lstStyle/>
          <a:p>
            <a:pPr marL="0" indent="0" algn="just" fontAlgn="base">
              <a:buNone/>
            </a:pPr>
            <a:r>
              <a:rPr lang="en-US" b="1" i="0" dirty="0">
                <a:solidFill>
                  <a:srgbClr val="273239"/>
                </a:solidFill>
                <a:effectLst/>
                <a:latin typeface="Times New Roman" panose="02020603050405020304" pitchFamily="18" charset="0"/>
                <a:cs typeface="Times New Roman" panose="02020603050405020304" pitchFamily="18" charset="0"/>
              </a:rPr>
              <a:t>Addressing Modes</a:t>
            </a:r>
            <a:r>
              <a:rPr lang="en-US" b="0" i="0" dirty="0">
                <a:solidFill>
                  <a:srgbClr val="273239"/>
                </a:solidFill>
                <a:effectLst/>
                <a:latin typeface="Times New Roman" panose="02020603050405020304" pitchFamily="18" charset="0"/>
                <a:cs typeface="Times New Roman" panose="02020603050405020304" pitchFamily="18" charset="0"/>
              </a:rPr>
              <a:t>– The term addressing modes refers to the way in which the operand of an instruction is specified. The addressing mode specifies a rule for interpreting or modifying the address field of the instruction before the operand is actually executed.</a:t>
            </a:r>
          </a:p>
          <a:p>
            <a:pPr marL="0" indent="0" algn="l" fontAlgn="base">
              <a:buNone/>
            </a:pPr>
            <a:r>
              <a:rPr lang="en-US" b="1" i="0" dirty="0">
                <a:solidFill>
                  <a:srgbClr val="273239"/>
                </a:solidFill>
                <a:effectLst/>
                <a:latin typeface="Times New Roman" panose="02020603050405020304" pitchFamily="18" charset="0"/>
                <a:cs typeface="Times New Roman" panose="02020603050405020304" pitchFamily="18" charset="0"/>
              </a:rPr>
              <a:t>Addressing modes for 8086 instructions are divided into two categories:</a:t>
            </a:r>
            <a:endParaRPr lang="en-US"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r>
              <a:rPr lang="en-US" b="0" i="0" dirty="0">
                <a:solidFill>
                  <a:srgbClr val="273239"/>
                </a:solidFill>
                <a:effectLst/>
                <a:latin typeface="Times New Roman" panose="02020603050405020304" pitchFamily="18" charset="0"/>
                <a:cs typeface="Times New Roman" panose="02020603050405020304" pitchFamily="18" charset="0"/>
              </a:rPr>
              <a:t>1) Addressing modes for data</a:t>
            </a:r>
          </a:p>
          <a:p>
            <a:pPr marL="0" indent="0" algn="l" fontAlgn="base">
              <a:buNone/>
            </a:pPr>
            <a:r>
              <a:rPr lang="en-US" b="0" i="0" dirty="0">
                <a:solidFill>
                  <a:srgbClr val="273239"/>
                </a:solidFill>
                <a:effectLst/>
                <a:latin typeface="Times New Roman" panose="02020603050405020304" pitchFamily="18" charset="0"/>
                <a:cs typeface="Times New Roman" panose="02020603050405020304" pitchFamily="18" charset="0"/>
              </a:rPr>
              <a:t>2) Addressing modes for branch</a:t>
            </a:r>
          </a:p>
          <a:p>
            <a:pPr marL="0" indent="0" algn="just" fontAlgn="base">
              <a:buNone/>
            </a:pPr>
            <a:r>
              <a:rPr lang="en-US" b="0" i="0" dirty="0">
                <a:solidFill>
                  <a:srgbClr val="273239"/>
                </a:solidFill>
                <a:effectLst/>
                <a:latin typeface="Times New Roman" panose="02020603050405020304" pitchFamily="18" charset="0"/>
                <a:cs typeface="Times New Roman" panose="02020603050405020304" pitchFamily="18" charset="0"/>
              </a:rPr>
              <a:t>The 8086 memory addressing modes provide flexible access to memory, allowing you to easily access variables, arrays, records, pointers, and other complex data types.  The key to good assembly language programming is the proper use of memory addressing modes.</a:t>
            </a:r>
          </a:p>
          <a:p>
            <a:pPr marL="0" indent="0" algn="l" fontAlgn="base">
              <a:buNone/>
            </a:pPr>
            <a:endParaRPr lang="en-US" b="0" i="0" dirty="0">
              <a:solidFill>
                <a:srgbClr val="273239"/>
              </a:solidFill>
              <a:effectLst/>
              <a:latin typeface="Times New Roman" panose="02020603050405020304" pitchFamily="18" charset="0"/>
              <a:cs typeface="Times New Roman" panose="02020603050405020304" pitchFamily="18" charset="0"/>
            </a:endParaRPr>
          </a:p>
          <a:p>
            <a:pPr marL="0" indent="0" algn="l" fontAlgn="base">
              <a:buNone/>
            </a:pPr>
            <a:endParaRPr lang="en-US" b="0" i="0" dirty="0">
              <a:solidFill>
                <a:srgbClr val="273239"/>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8220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B9CE2-28DC-4262-DA5E-24087646A747}"/>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IMPORTANT TERMS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23446C-AA7D-A9BD-6D92-83DF0E92FD47}"/>
              </a:ext>
            </a:extLst>
          </p:cNvPr>
          <p:cNvSpPr>
            <a:spLocks noGrp="1"/>
          </p:cNvSpPr>
          <p:nvPr>
            <p:ph idx="1"/>
          </p:nvPr>
        </p:nvSpPr>
        <p:spPr/>
        <p:txBody>
          <a:bodyPr>
            <a:normAutofit/>
          </a:bodyPr>
          <a:lstStyle/>
          <a:p>
            <a:pPr fontAlgn="base"/>
            <a:r>
              <a:rPr lang="en-US" b="1" i="0" dirty="0">
                <a:solidFill>
                  <a:srgbClr val="273239"/>
                </a:solidFill>
                <a:effectLst/>
                <a:latin typeface="Times New Roman" panose="02020603050405020304" pitchFamily="18" charset="0"/>
                <a:cs typeface="Times New Roman" panose="02020603050405020304" pitchFamily="18" charset="0"/>
              </a:rPr>
              <a:t>Starting address</a:t>
            </a:r>
            <a:r>
              <a:rPr lang="en-US" b="0" i="0" dirty="0">
                <a:solidFill>
                  <a:srgbClr val="273239"/>
                </a:solidFill>
                <a:effectLst/>
                <a:latin typeface="Times New Roman" panose="02020603050405020304" pitchFamily="18" charset="0"/>
                <a:cs typeface="Times New Roman" panose="02020603050405020304" pitchFamily="18" charset="0"/>
              </a:rPr>
              <a:t> of memory segment.</a:t>
            </a:r>
          </a:p>
          <a:p>
            <a:pPr fontAlgn="base"/>
            <a:r>
              <a:rPr lang="en-US" b="1" i="0" dirty="0">
                <a:solidFill>
                  <a:srgbClr val="273239"/>
                </a:solidFill>
                <a:effectLst/>
                <a:latin typeface="Times New Roman" panose="02020603050405020304" pitchFamily="18" charset="0"/>
                <a:cs typeface="Times New Roman" panose="02020603050405020304" pitchFamily="18" charset="0"/>
              </a:rPr>
              <a:t>Effective address or Offset</a:t>
            </a:r>
            <a:r>
              <a:rPr lang="en-US" b="0" i="0" dirty="0">
                <a:solidFill>
                  <a:srgbClr val="273239"/>
                </a:solidFill>
                <a:effectLst/>
                <a:latin typeface="Times New Roman" panose="02020603050405020304" pitchFamily="18" charset="0"/>
                <a:cs typeface="Times New Roman" panose="02020603050405020304" pitchFamily="18" charset="0"/>
              </a:rPr>
              <a:t>: An offset is determined by adding any combination of three address elements: </a:t>
            </a:r>
            <a:r>
              <a:rPr lang="en-US" b="1" i="0" dirty="0">
                <a:solidFill>
                  <a:srgbClr val="273239"/>
                </a:solidFill>
                <a:effectLst/>
                <a:latin typeface="Times New Roman" panose="02020603050405020304" pitchFamily="18" charset="0"/>
                <a:cs typeface="Times New Roman" panose="02020603050405020304" pitchFamily="18" charset="0"/>
              </a:rPr>
              <a:t>displacement, base and index.</a:t>
            </a:r>
            <a:endParaRPr lang="en-US" b="0" i="0" dirty="0">
              <a:solidFill>
                <a:srgbClr val="273239"/>
              </a:solidFill>
              <a:effectLst/>
              <a:latin typeface="Times New Roman" panose="02020603050405020304" pitchFamily="18" charset="0"/>
              <a:cs typeface="Times New Roman" panose="02020603050405020304" pitchFamily="18" charset="0"/>
            </a:endParaRPr>
          </a:p>
          <a:p>
            <a:pPr marL="742950" lvl="1" indent="-285750" algn="l"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Displacement: </a:t>
            </a:r>
            <a:r>
              <a:rPr lang="en-US" b="0" i="0" dirty="0">
                <a:solidFill>
                  <a:srgbClr val="273239"/>
                </a:solidFill>
                <a:effectLst/>
                <a:latin typeface="Times New Roman" panose="02020603050405020304" pitchFamily="18" charset="0"/>
                <a:cs typeface="Times New Roman" panose="02020603050405020304" pitchFamily="18" charset="0"/>
              </a:rPr>
              <a:t>It is an 8 bit or 16 bit immediate value given in the instruction.</a:t>
            </a:r>
          </a:p>
          <a:p>
            <a:pPr marL="742950" lvl="1" indent="-285750" algn="l"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Base</a:t>
            </a:r>
            <a:r>
              <a:rPr lang="en-US" b="0" i="0" dirty="0">
                <a:solidFill>
                  <a:srgbClr val="273239"/>
                </a:solidFill>
                <a:effectLst/>
                <a:latin typeface="Times New Roman" panose="02020603050405020304" pitchFamily="18" charset="0"/>
                <a:cs typeface="Times New Roman" panose="02020603050405020304" pitchFamily="18" charset="0"/>
              </a:rPr>
              <a:t>: Contents of base register, BX or BP.</a:t>
            </a:r>
          </a:p>
          <a:p>
            <a:pPr marL="742950" lvl="1" indent="-285750" algn="l"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Index</a:t>
            </a:r>
            <a:r>
              <a:rPr lang="en-US" b="0" i="0" dirty="0">
                <a:solidFill>
                  <a:srgbClr val="273239"/>
                </a:solidFill>
                <a:effectLst/>
                <a:latin typeface="Times New Roman" panose="02020603050405020304" pitchFamily="18" charset="0"/>
                <a:cs typeface="Times New Roman" panose="02020603050405020304" pitchFamily="18" charset="0"/>
              </a:rPr>
              <a:t>: Content of index register SI or DI.</a:t>
            </a:r>
          </a:p>
          <a:p>
            <a:pPr algn="l" fontAlgn="base"/>
            <a:r>
              <a:rPr lang="en-US" b="0" i="0" dirty="0">
                <a:solidFill>
                  <a:srgbClr val="273239"/>
                </a:solidFill>
                <a:effectLst/>
                <a:latin typeface="Times New Roman" panose="02020603050405020304" pitchFamily="18" charset="0"/>
                <a:cs typeface="Times New Roman" panose="02020603050405020304" pitchFamily="18" charset="0"/>
              </a:rPr>
              <a:t>According to different ways of specifying an operand by 8086 microprocessor, different addressing modes are used by 8086.</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545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62526-C28B-5F55-451A-77BDAFF68D67}"/>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Immediate addressing mode (symbol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1E8D9B3-32CB-C105-BBE0-3BC30A61778A}"/>
              </a:ext>
            </a:extLst>
          </p:cNvPr>
          <p:cNvSpPr>
            <a:spLocks noGrp="1"/>
          </p:cNvSpPr>
          <p:nvPr>
            <p:ph idx="1"/>
          </p:nvPr>
        </p:nvSpPr>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In this mode data is present in address field of instruction .Designed like one address instruction format.</a:t>
            </a:r>
            <a:br>
              <a:rPr lang="en-US" dirty="0">
                <a:latin typeface="Times New Roman" panose="02020603050405020304" pitchFamily="18" charset="0"/>
                <a:cs typeface="Times New Roman" panose="02020603050405020304" pitchFamily="18" charset="0"/>
              </a:rPr>
            </a:br>
            <a:r>
              <a:rPr lang="en-US" b="1" i="0" dirty="0">
                <a:solidFill>
                  <a:srgbClr val="273239"/>
                </a:solidFill>
                <a:effectLst/>
                <a:latin typeface="Times New Roman" panose="02020603050405020304" pitchFamily="18" charset="0"/>
                <a:cs typeface="Times New Roman" panose="02020603050405020304" pitchFamily="18" charset="0"/>
              </a:rPr>
              <a:t>Note: </a:t>
            </a:r>
            <a:r>
              <a:rPr lang="en-US" b="0" i="0" dirty="0">
                <a:solidFill>
                  <a:srgbClr val="273239"/>
                </a:solidFill>
                <a:effectLst/>
                <a:latin typeface="Times New Roman" panose="02020603050405020304" pitchFamily="18" charset="0"/>
                <a:cs typeface="Times New Roman" panose="02020603050405020304" pitchFamily="18" charset="0"/>
              </a:rPr>
              <a:t>Limitation in the immediate mode is that the range of constants are restricted by size of address field.</a:t>
            </a:r>
          </a:p>
          <a:p>
            <a:endParaRPr lang="en-US" b="0" i="0" dirty="0">
              <a:solidFill>
                <a:srgbClr val="273239"/>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026" name="Picture 2" descr="Lightbox">
            <a:extLst>
              <a:ext uri="{FF2B5EF4-FFF2-40B4-BE49-F238E27FC236}">
                <a16:creationId xmlns:a16="http://schemas.microsoft.com/office/drawing/2014/main" id="{2930A1CF-6CE6-93C6-C023-2710E140F9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4234" y="3596438"/>
            <a:ext cx="3791163" cy="238901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CF27C1D5-D28A-9191-5D7F-621873FEEA75}"/>
              </a:ext>
            </a:extLst>
          </p:cNvPr>
          <p:cNvSpPr>
            <a:spLocks noChangeArrowheads="1"/>
          </p:cNvSpPr>
          <p:nvPr/>
        </p:nvSpPr>
        <p:spPr bwMode="auto">
          <a:xfrm>
            <a:off x="1181528" y="4407185"/>
            <a:ext cx="5536965" cy="310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Example:  MOV AL, 35H (move the data 35H into AL register)</a:t>
            </a:r>
            <a:r>
              <a:rPr kumimoji="0" lang="en-US" altLang="en-US" sz="1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0962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E35C88-D487-1EC9-A5DB-58F845A24B17}"/>
              </a:ext>
            </a:extLst>
          </p:cNvPr>
          <p:cNvSpPr>
            <a:spLocks noGrp="1"/>
          </p:cNvSpPr>
          <p:nvPr>
            <p:ph idx="1"/>
          </p:nvPr>
        </p:nvSpPr>
        <p:spPr>
          <a:xfrm>
            <a:off x="256854" y="308225"/>
            <a:ext cx="11096946" cy="5868738"/>
          </a:xfrm>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Register mode: </a:t>
            </a:r>
            <a:r>
              <a:rPr lang="en-US" b="0" i="0" dirty="0">
                <a:solidFill>
                  <a:srgbClr val="273239"/>
                </a:solidFill>
                <a:effectLst/>
                <a:latin typeface="Times New Roman" panose="02020603050405020304" pitchFamily="18" charset="0"/>
                <a:cs typeface="Times New Roman" panose="02020603050405020304" pitchFamily="18" charset="0"/>
              </a:rPr>
              <a:t>In register addressing the operand is placed in one of 8 bit or 16 bit general purpose registers. The data is in the register that is specified by the instruction.</a:t>
            </a:r>
            <a:br>
              <a:rPr lang="en-US" dirty="0">
                <a:latin typeface="Times New Roman" panose="02020603050405020304" pitchFamily="18" charset="0"/>
                <a:cs typeface="Times New Roman" panose="02020603050405020304" pitchFamily="18" charset="0"/>
              </a:rPr>
            </a:br>
            <a:r>
              <a:rPr lang="en-US" b="0" i="1" dirty="0">
                <a:solidFill>
                  <a:srgbClr val="273239"/>
                </a:solidFill>
                <a:effectLst/>
                <a:latin typeface="Times New Roman" panose="02020603050405020304" pitchFamily="18" charset="0"/>
                <a:cs typeface="Times New Roman" panose="02020603050405020304" pitchFamily="18" charset="0"/>
              </a:rPr>
              <a:t>Here one register reference is required to access the data.</a:t>
            </a:r>
          </a:p>
          <a:p>
            <a:endParaRPr lang="en-US" i="1" dirty="0">
              <a:solidFill>
                <a:srgbClr val="273239"/>
              </a:solidFill>
              <a:latin typeface="Times New Roman" panose="02020603050405020304" pitchFamily="18" charset="0"/>
              <a:cs typeface="Times New Roman" panose="02020603050405020304" pitchFamily="18" charset="0"/>
            </a:endParaRPr>
          </a:p>
          <a:p>
            <a:endParaRPr lang="en-US" b="0" i="1" dirty="0">
              <a:solidFill>
                <a:srgbClr val="273239"/>
              </a:solidFill>
              <a:effectLst/>
              <a:latin typeface="Times New Roman" panose="02020603050405020304" pitchFamily="18" charset="0"/>
              <a:cs typeface="Times New Roman" panose="02020603050405020304" pitchFamily="18" charset="0"/>
            </a:endParaRPr>
          </a:p>
          <a:p>
            <a:endParaRPr lang="en-US" i="1" dirty="0">
              <a:solidFill>
                <a:srgbClr val="273239"/>
              </a:solidFill>
              <a:latin typeface="Times New Roman" panose="02020603050405020304" pitchFamily="18" charset="0"/>
              <a:cs typeface="Times New Roman" panose="02020603050405020304" pitchFamily="18" charset="0"/>
            </a:endParaRPr>
          </a:p>
          <a:p>
            <a:endParaRPr lang="en-US" b="0" i="1" dirty="0">
              <a:solidFill>
                <a:srgbClr val="273239"/>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3074" name="Picture 2" descr="Lightbox">
            <a:extLst>
              <a:ext uri="{FF2B5EF4-FFF2-40B4-BE49-F238E27FC236}">
                <a16:creationId xmlns:a16="http://schemas.microsoft.com/office/drawing/2014/main" id="{290E1888-671E-BF62-83EA-6B88C65E1B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6761" y="2203540"/>
            <a:ext cx="6101004" cy="71432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43B98B4-33D5-F454-40AB-48EAE067CD39}"/>
              </a:ext>
            </a:extLst>
          </p:cNvPr>
          <p:cNvSpPr>
            <a:spLocks noChangeArrowheads="1"/>
          </p:cNvSpPr>
          <p:nvPr/>
        </p:nvSpPr>
        <p:spPr bwMode="auto">
          <a:xfrm>
            <a:off x="838200" y="3768306"/>
            <a:ext cx="9014717"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Example: MOV AX,CX (move the contents of CX register to AX register)</a:t>
            </a:r>
            <a:r>
              <a:rPr kumimoji="0" lang="en-US" altLang="en-US" sz="10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9409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DA3AA442-F30E-F34E-3704-FAE71FFE167D}"/>
              </a:ext>
            </a:extLst>
          </p:cNvPr>
          <p:cNvGraphicFramePr>
            <a:graphicFrameLocks noGrp="1"/>
          </p:cNvGraphicFramePr>
          <p:nvPr>
            <p:extLst>
              <p:ext uri="{D42A27DB-BD31-4B8C-83A1-F6EECF244321}">
                <p14:modId xmlns:p14="http://schemas.microsoft.com/office/powerpoint/2010/main" val="1603202911"/>
              </p:ext>
            </p:extLst>
          </p:nvPr>
        </p:nvGraphicFramePr>
        <p:xfrm>
          <a:off x="672957" y="552235"/>
          <a:ext cx="8429946" cy="4862244"/>
        </p:xfrm>
        <a:graphic>
          <a:graphicData uri="http://schemas.openxmlformats.org/drawingml/2006/table">
            <a:tbl>
              <a:tblPr/>
              <a:tblGrid>
                <a:gridCol w="3882613">
                  <a:extLst>
                    <a:ext uri="{9D8B030D-6E8A-4147-A177-3AD203B41FA5}">
                      <a16:colId xmlns:a16="http://schemas.microsoft.com/office/drawing/2014/main" val="20000"/>
                    </a:ext>
                  </a:extLst>
                </a:gridCol>
                <a:gridCol w="1042769">
                  <a:extLst>
                    <a:ext uri="{9D8B030D-6E8A-4147-A177-3AD203B41FA5}">
                      <a16:colId xmlns:a16="http://schemas.microsoft.com/office/drawing/2014/main" val="20001"/>
                    </a:ext>
                  </a:extLst>
                </a:gridCol>
                <a:gridCol w="1610737">
                  <a:extLst>
                    <a:ext uri="{9D8B030D-6E8A-4147-A177-3AD203B41FA5}">
                      <a16:colId xmlns:a16="http://schemas.microsoft.com/office/drawing/2014/main" val="20002"/>
                    </a:ext>
                  </a:extLst>
                </a:gridCol>
                <a:gridCol w="378049">
                  <a:extLst>
                    <a:ext uri="{9D8B030D-6E8A-4147-A177-3AD203B41FA5}">
                      <a16:colId xmlns:a16="http://schemas.microsoft.com/office/drawing/2014/main" val="20003"/>
                    </a:ext>
                  </a:extLst>
                </a:gridCol>
                <a:gridCol w="1515778">
                  <a:extLst>
                    <a:ext uri="{9D8B030D-6E8A-4147-A177-3AD203B41FA5}">
                      <a16:colId xmlns:a16="http://schemas.microsoft.com/office/drawing/2014/main" val="20004"/>
                    </a:ext>
                  </a:extLst>
                </a:gridCol>
              </a:tblGrid>
              <a:tr h="97379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4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IN" altLang="en-US" sz="1800" b="0" i="0" u="none" strike="noStrike" cap="none" normalizeH="0" baseline="0">
                          <a:ln>
                            <a:noFill/>
                          </a:ln>
                          <a:solidFill>
                            <a:srgbClr val="000000"/>
                          </a:solidFill>
                          <a:effectLst/>
                          <a:latin typeface="Calibri" panose="020F0502020204030204" pitchFamily="34" charset="0"/>
                          <a:cs typeface="Noto Sans CJK SC" charset="0"/>
                        </a:rPr>
                        <a:t>It means that the register is the source of an operand for an instruction.</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anchor="b"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anchor="b"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anchor="b"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858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Ex.1: MOV CX, SI</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CX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1234H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5678H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58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58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SI</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dirty="0">
                          <a:ln>
                            <a:noFill/>
                          </a:ln>
                          <a:solidFill>
                            <a:srgbClr val="000000"/>
                          </a:solidFill>
                          <a:effectLst/>
                          <a:latin typeface="Calibri" panose="020F0502020204030204" pitchFamily="34" charset="0"/>
                          <a:cs typeface="Noto Sans CJK SC" charset="0"/>
                        </a:rPr>
                        <a:t>5678H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5678H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56949">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 </a:t>
                      </a:r>
                    </a:p>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Before</a:t>
                      </a:r>
                    </a:p>
                  </a:txBody>
                  <a:tcPr marL="90000" marR="90000" marT="46800" marB="46800" anchor="b"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anchor="b"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After</a:t>
                      </a:r>
                    </a:p>
                  </a:txBody>
                  <a:tcPr marL="90000" marR="90000" marT="46800" marB="46800" anchor="b"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58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Ex.2: MOV DL, AH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DL</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89H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BCH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858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858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AH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rPr>
                        <a:t>BCH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Calibri" panose="020F050202020403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8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dirty="0">
                          <a:ln>
                            <a:noFill/>
                          </a:ln>
                          <a:solidFill>
                            <a:srgbClr val="000000"/>
                          </a:solidFill>
                          <a:effectLst/>
                          <a:latin typeface="Calibri" panose="020F0502020204030204" pitchFamily="34" charset="0"/>
                          <a:cs typeface="Noto Sans CJK SC" charset="0"/>
                        </a:rPr>
                        <a:t>BCH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03186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71D54-953F-9013-EA44-A66FDC4FE0F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Memory addressing modes</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DC4C2A5-1C91-BC18-1763-BE29B4BBDEE1}"/>
              </a:ext>
            </a:extLst>
          </p:cNvPr>
          <p:cNvPicPr>
            <a:picLocks noGrp="1" noChangeAspect="1"/>
          </p:cNvPicPr>
          <p:nvPr>
            <p:ph idx="1"/>
          </p:nvPr>
        </p:nvPicPr>
        <p:blipFill>
          <a:blip r:embed="rId2"/>
          <a:stretch>
            <a:fillRect/>
          </a:stretch>
        </p:blipFill>
        <p:spPr>
          <a:xfrm>
            <a:off x="2672799" y="2696637"/>
            <a:ext cx="6846401" cy="2609314"/>
          </a:xfrm>
        </p:spPr>
      </p:pic>
      <p:cxnSp>
        <p:nvCxnSpPr>
          <p:cNvPr id="7" name="Straight Arrow Connector 6">
            <a:extLst>
              <a:ext uri="{FF2B5EF4-FFF2-40B4-BE49-F238E27FC236}">
                <a16:creationId xmlns:a16="http://schemas.microsoft.com/office/drawing/2014/main" id="{8C8732AD-BD1A-1E06-47F1-6D43394050A5}"/>
              </a:ext>
            </a:extLst>
          </p:cNvPr>
          <p:cNvCxnSpPr/>
          <p:nvPr/>
        </p:nvCxnSpPr>
        <p:spPr>
          <a:xfrm flipH="1">
            <a:off x="5250094" y="3215811"/>
            <a:ext cx="678095" cy="8219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2A299272-3B65-071D-4EE8-AF8C3A799DE5}"/>
              </a:ext>
            </a:extLst>
          </p:cNvPr>
          <p:cNvCxnSpPr/>
          <p:nvPr/>
        </p:nvCxnSpPr>
        <p:spPr>
          <a:xfrm>
            <a:off x="5959011" y="3246634"/>
            <a:ext cx="1304818" cy="729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26022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C922-B521-C18B-62F6-CCEE7DF3D1B7}"/>
              </a:ext>
            </a:extLst>
          </p:cNvPr>
          <p:cNvSpPr>
            <a:spLocks noGrp="1"/>
          </p:cNvSpPr>
          <p:nvPr>
            <p:ph type="title"/>
          </p:nvPr>
        </p:nvSpPr>
        <p:spPr/>
        <p:txBody>
          <a:bodyPr/>
          <a:lstStyle/>
          <a:p>
            <a:r>
              <a:rPr lang="en-US" b="1" i="0" dirty="0">
                <a:solidFill>
                  <a:srgbClr val="273239"/>
                </a:solidFill>
                <a:effectLst/>
                <a:latin typeface="Nunito" pitchFamily="2" charset="0"/>
              </a:rPr>
              <a:t>Direct addressing/ Absolute addressing Mode (symbol [ ]): </a:t>
            </a:r>
            <a:endParaRPr lang="en-IN" dirty="0"/>
          </a:p>
        </p:txBody>
      </p:sp>
      <p:sp>
        <p:nvSpPr>
          <p:cNvPr id="3" name="Content Placeholder 2">
            <a:extLst>
              <a:ext uri="{FF2B5EF4-FFF2-40B4-BE49-F238E27FC236}">
                <a16:creationId xmlns:a16="http://schemas.microsoft.com/office/drawing/2014/main" id="{332B6D78-4412-2507-04BB-FDF0F7BAC083}"/>
              </a:ext>
            </a:extLst>
          </p:cNvPr>
          <p:cNvSpPr>
            <a:spLocks noGrp="1"/>
          </p:cNvSpPr>
          <p:nvPr>
            <p:ph idx="1"/>
          </p:nvPr>
        </p:nvSpPr>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The operand’s offset is given in the instruction as an 8 bit or 16 bit displacement element. In this addressing mode the 16 bit effective address of the data is the part of the instruction.</a:t>
            </a:r>
            <a:br>
              <a:rPr lang="en-US" dirty="0">
                <a:latin typeface="Times New Roman" panose="02020603050405020304" pitchFamily="18" charset="0"/>
                <a:cs typeface="Times New Roman" panose="02020603050405020304" pitchFamily="18" charset="0"/>
              </a:rPr>
            </a:br>
            <a:r>
              <a:rPr lang="en-US" b="0" i="1" dirty="0">
                <a:solidFill>
                  <a:srgbClr val="273239"/>
                </a:solidFill>
                <a:effectLst/>
                <a:latin typeface="Times New Roman" panose="02020603050405020304" pitchFamily="18" charset="0"/>
                <a:cs typeface="Times New Roman" panose="02020603050405020304" pitchFamily="18" charset="0"/>
              </a:rPr>
              <a:t>Here only one memory reference operation is required to access the data.</a:t>
            </a:r>
          </a:p>
          <a:p>
            <a:endParaRPr lang="en-US" b="0" i="1" dirty="0">
              <a:solidFill>
                <a:srgbClr val="273239"/>
              </a:solidFill>
              <a:effectLst/>
              <a:latin typeface="Times New Roman" panose="02020603050405020304" pitchFamily="18" charset="0"/>
              <a:cs typeface="Times New Roman" panose="02020603050405020304" pitchFamily="18" charset="0"/>
            </a:endParaRPr>
          </a:p>
          <a:p>
            <a:endParaRPr lang="en-US" b="0" i="1" dirty="0">
              <a:solidFill>
                <a:srgbClr val="273239"/>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4098" name="Picture 2" descr="Lightbox">
            <a:extLst>
              <a:ext uri="{FF2B5EF4-FFF2-40B4-BE49-F238E27FC236}">
                <a16:creationId xmlns:a16="http://schemas.microsoft.com/office/drawing/2014/main" id="{ED3D173B-E992-C6C8-E67E-2C8B1AB9C9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6502" y="5104598"/>
            <a:ext cx="5908687" cy="85441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FE1D8A2-1C7C-78C7-2624-AE5D5B2ED460}"/>
              </a:ext>
            </a:extLst>
          </p:cNvPr>
          <p:cNvSpPr>
            <a:spLocks noChangeArrowheads="1"/>
          </p:cNvSpPr>
          <p:nvPr/>
        </p:nvSpPr>
        <p:spPr bwMode="auto">
          <a:xfrm>
            <a:off x="945222" y="4118935"/>
            <a:ext cx="10620054" cy="371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Example: ADD AL,[0301]   //add the contents of offset address 0301 to AL</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9384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
            <a:extLst>
              <a:ext uri="{FF2B5EF4-FFF2-40B4-BE49-F238E27FC236}">
                <a16:creationId xmlns:a16="http://schemas.microsoft.com/office/drawing/2014/main" id="{7EAC9E84-84EB-73FA-F843-D83B5D8C591C}"/>
              </a:ext>
            </a:extLst>
          </p:cNvPr>
          <p:cNvGraphicFramePr>
            <a:graphicFrameLocks noGrp="1"/>
          </p:cNvGraphicFramePr>
          <p:nvPr>
            <p:extLst>
              <p:ext uri="{D42A27DB-BD31-4B8C-83A1-F6EECF244321}">
                <p14:modId xmlns:p14="http://schemas.microsoft.com/office/powerpoint/2010/main" val="1230391600"/>
              </p:ext>
            </p:extLst>
          </p:nvPr>
        </p:nvGraphicFramePr>
        <p:xfrm>
          <a:off x="924673" y="1263721"/>
          <a:ext cx="9852917" cy="4089117"/>
        </p:xfrm>
        <a:graphic>
          <a:graphicData uri="http://schemas.openxmlformats.org/drawingml/2006/table">
            <a:tbl>
              <a:tblPr/>
              <a:tblGrid>
                <a:gridCol w="4730510">
                  <a:extLst>
                    <a:ext uri="{9D8B030D-6E8A-4147-A177-3AD203B41FA5}">
                      <a16:colId xmlns:a16="http://schemas.microsoft.com/office/drawing/2014/main" val="20000"/>
                    </a:ext>
                  </a:extLst>
                </a:gridCol>
                <a:gridCol w="1976826">
                  <a:extLst>
                    <a:ext uri="{9D8B030D-6E8A-4147-A177-3AD203B41FA5}">
                      <a16:colId xmlns:a16="http://schemas.microsoft.com/office/drawing/2014/main" val="20001"/>
                    </a:ext>
                  </a:extLst>
                </a:gridCol>
                <a:gridCol w="199417">
                  <a:extLst>
                    <a:ext uri="{9D8B030D-6E8A-4147-A177-3AD203B41FA5}">
                      <a16:colId xmlns:a16="http://schemas.microsoft.com/office/drawing/2014/main" val="20002"/>
                    </a:ext>
                  </a:extLst>
                </a:gridCol>
                <a:gridCol w="1251990">
                  <a:extLst>
                    <a:ext uri="{9D8B030D-6E8A-4147-A177-3AD203B41FA5}">
                      <a16:colId xmlns:a16="http://schemas.microsoft.com/office/drawing/2014/main" val="20003"/>
                    </a:ext>
                  </a:extLst>
                </a:gridCol>
                <a:gridCol w="235832">
                  <a:extLst>
                    <a:ext uri="{9D8B030D-6E8A-4147-A177-3AD203B41FA5}">
                      <a16:colId xmlns:a16="http://schemas.microsoft.com/office/drawing/2014/main" val="20004"/>
                    </a:ext>
                  </a:extLst>
                </a:gridCol>
                <a:gridCol w="1458342">
                  <a:extLst>
                    <a:ext uri="{9D8B030D-6E8A-4147-A177-3AD203B41FA5}">
                      <a16:colId xmlns:a16="http://schemas.microsoft.com/office/drawing/2014/main" val="20005"/>
                    </a:ext>
                  </a:extLst>
                </a:gridCol>
              </a:tblGrid>
              <a:tr h="91500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dirty="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1500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dirty="0">
                          <a:ln>
                            <a:noFill/>
                          </a:ln>
                          <a:solidFill>
                            <a:srgbClr val="000000"/>
                          </a:solidFill>
                          <a:effectLst/>
                          <a:latin typeface="Arial" panose="020B0604020202020204" pitchFamily="34" charset="0"/>
                          <a:cs typeface="Noto Sans CJK SC" charset="0"/>
                        </a:rPr>
                        <a:t>Ex.1: MOV BX, DS:5634H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BX</a:t>
                      </a:r>
                    </a:p>
                  </a:txBody>
                  <a:tcPr marL="90000" marR="90000" marT="46800" marB="46800" horzOverflow="overflow">
                    <a:lnL>
                      <a:noFill/>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ABCDH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8645H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9105">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91500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DS:5634H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dirty="0">
                          <a:ln>
                            <a:noFill/>
                          </a:ln>
                          <a:solidFill>
                            <a:srgbClr val="000000"/>
                          </a:solidFill>
                          <a:effectLst/>
                          <a:latin typeface="Arial" panose="020B0604020202020204" pitchFamily="34" charset="0"/>
                          <a:cs typeface="Noto Sans CJK SC" charset="0"/>
                        </a:rPr>
                        <a:t>45H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LS byte</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91500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DS:5635H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86H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dirty="0">
                          <a:ln>
                            <a:noFill/>
                          </a:ln>
                          <a:solidFill>
                            <a:srgbClr val="000000"/>
                          </a:solidFill>
                          <a:effectLst/>
                          <a:latin typeface="Arial" panose="020B0604020202020204" pitchFamily="34" charset="0"/>
                          <a:cs typeface="Noto Sans CJK SC" charset="0"/>
                        </a:rPr>
                        <a:t>MS byte</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30707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
            <a:extLst>
              <a:ext uri="{FF2B5EF4-FFF2-40B4-BE49-F238E27FC236}">
                <a16:creationId xmlns:a16="http://schemas.microsoft.com/office/drawing/2014/main" id="{0906895A-4BAB-83F4-19F6-625E227C67A9}"/>
              </a:ext>
            </a:extLst>
          </p:cNvPr>
          <p:cNvGraphicFramePr>
            <a:graphicFrameLocks noGrp="1"/>
          </p:cNvGraphicFramePr>
          <p:nvPr>
            <p:extLst>
              <p:ext uri="{D42A27DB-BD31-4B8C-83A1-F6EECF244321}">
                <p14:modId xmlns:p14="http://schemas.microsoft.com/office/powerpoint/2010/main" val="686151789"/>
              </p:ext>
            </p:extLst>
          </p:nvPr>
        </p:nvGraphicFramePr>
        <p:xfrm>
          <a:off x="873303" y="1823663"/>
          <a:ext cx="8840788" cy="2498725"/>
        </p:xfrm>
        <a:graphic>
          <a:graphicData uri="http://schemas.openxmlformats.org/drawingml/2006/table">
            <a:tbl>
              <a:tblPr/>
              <a:tblGrid>
                <a:gridCol w="4491038">
                  <a:extLst>
                    <a:ext uri="{9D8B030D-6E8A-4147-A177-3AD203B41FA5}">
                      <a16:colId xmlns:a16="http://schemas.microsoft.com/office/drawing/2014/main" val="20000"/>
                    </a:ext>
                  </a:extLst>
                </a:gridCol>
                <a:gridCol w="1873250">
                  <a:extLst>
                    <a:ext uri="{9D8B030D-6E8A-4147-A177-3AD203B41FA5}">
                      <a16:colId xmlns:a16="http://schemas.microsoft.com/office/drawing/2014/main" val="20001"/>
                    </a:ext>
                  </a:extLst>
                </a:gridCol>
                <a:gridCol w="1181100">
                  <a:extLst>
                    <a:ext uri="{9D8B030D-6E8A-4147-A177-3AD203B41FA5}">
                      <a16:colId xmlns:a16="http://schemas.microsoft.com/office/drawing/2014/main" val="20002"/>
                    </a:ext>
                  </a:extLst>
                </a:gridCol>
                <a:gridCol w="384175">
                  <a:extLst>
                    <a:ext uri="{9D8B030D-6E8A-4147-A177-3AD203B41FA5}">
                      <a16:colId xmlns:a16="http://schemas.microsoft.com/office/drawing/2014/main" val="20003"/>
                    </a:ext>
                  </a:extLst>
                </a:gridCol>
                <a:gridCol w="911225">
                  <a:extLst>
                    <a:ext uri="{9D8B030D-6E8A-4147-A177-3AD203B41FA5}">
                      <a16:colId xmlns:a16="http://schemas.microsoft.com/office/drawing/2014/main" val="20004"/>
                    </a:ext>
                  </a:extLst>
                </a:gridCol>
              </a:tblGrid>
              <a:tr h="901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dirty="0">
                          <a:ln>
                            <a:noFill/>
                          </a:ln>
                          <a:solidFill>
                            <a:srgbClr val="000000"/>
                          </a:solidFill>
                          <a:effectLst/>
                          <a:latin typeface="Arial" panose="020B0604020202020204" pitchFamily="34" charset="0"/>
                          <a:cs typeface="Noto Sans CJK SC" charset="0"/>
                        </a:rPr>
                        <a:t>Ex.2: MOV CL, DS:5634H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CL</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F2H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45H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59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60375">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DS:5634H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45H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60375">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DS:5635H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86H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dirty="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07794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96A9-E870-D316-0E07-C0168ECCF16F}"/>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Indirect addressing Mode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AE993A6-7986-060D-E18F-53A9C89C889D}"/>
              </a:ext>
            </a:extLst>
          </p:cNvPr>
          <p:cNvSpPr>
            <a:spLocks noGrp="1"/>
          </p:cNvSpPr>
          <p:nvPr>
            <p:ph idx="1"/>
          </p:nvPr>
        </p:nvSpPr>
        <p:spPr>
          <a:xfrm>
            <a:off x="462337" y="1376737"/>
            <a:ext cx="10891463" cy="4800226"/>
          </a:xfrm>
        </p:spPr>
        <p:txBody>
          <a:bodyPr>
            <a:normAutofit lnSpcReduction="10000"/>
          </a:bodyPr>
          <a:lstStyle/>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In this mode address field of instruction contains the address of effective address. Here two references are required.</a:t>
            </a:r>
            <a:br>
              <a:rPr lang="en-US" b="0" i="0" dirty="0">
                <a:solidFill>
                  <a:srgbClr val="273239"/>
                </a:solidFill>
                <a:effectLst/>
                <a:latin typeface="Times New Roman" panose="02020603050405020304" pitchFamily="18" charset="0"/>
                <a:cs typeface="Times New Roman" panose="02020603050405020304" pitchFamily="18" charset="0"/>
              </a:rPr>
            </a:br>
            <a:r>
              <a:rPr lang="en-US" b="0" i="0" dirty="0">
                <a:solidFill>
                  <a:srgbClr val="273239"/>
                </a:solidFill>
                <a:effectLst/>
                <a:latin typeface="Times New Roman" panose="02020603050405020304" pitchFamily="18" charset="0"/>
                <a:cs typeface="Times New Roman" panose="02020603050405020304" pitchFamily="18" charset="0"/>
              </a:rPr>
              <a:t>1st reference to get effective address.</a:t>
            </a:r>
            <a:br>
              <a:rPr lang="en-US" b="0" i="0" dirty="0">
                <a:solidFill>
                  <a:srgbClr val="273239"/>
                </a:solidFill>
                <a:effectLst/>
                <a:latin typeface="Times New Roman" panose="02020603050405020304" pitchFamily="18" charset="0"/>
                <a:cs typeface="Times New Roman" panose="02020603050405020304" pitchFamily="18" charset="0"/>
              </a:rPr>
            </a:br>
            <a:r>
              <a:rPr lang="en-US" b="0" i="0" dirty="0">
                <a:solidFill>
                  <a:srgbClr val="273239"/>
                </a:solidFill>
                <a:effectLst/>
                <a:latin typeface="Times New Roman" panose="02020603050405020304" pitchFamily="18" charset="0"/>
                <a:cs typeface="Times New Roman" panose="02020603050405020304" pitchFamily="18" charset="0"/>
              </a:rPr>
              <a:t>2nd reference to access the data. Based on the availability of Effective address, </a:t>
            </a:r>
          </a:p>
          <a:p>
            <a:pPr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Indirect mode is of two kind:</a:t>
            </a:r>
          </a:p>
          <a:p>
            <a:pPr marL="742950" lvl="1" indent="-285750"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Register Indirect: In this mode effective address is in the register, and corresponding register name will be maintained in the address field of an instruction.</a:t>
            </a:r>
            <a:br>
              <a:rPr lang="en-US" b="0" i="0" dirty="0">
                <a:solidFill>
                  <a:srgbClr val="273239"/>
                </a:solidFill>
                <a:effectLst/>
                <a:latin typeface="Times New Roman" panose="02020603050405020304" pitchFamily="18" charset="0"/>
                <a:cs typeface="Times New Roman" panose="02020603050405020304" pitchFamily="18" charset="0"/>
              </a:rPr>
            </a:br>
            <a:r>
              <a:rPr lang="en-US" b="0" i="1" dirty="0">
                <a:solidFill>
                  <a:srgbClr val="273239"/>
                </a:solidFill>
                <a:effectLst/>
                <a:latin typeface="Times New Roman" panose="02020603050405020304" pitchFamily="18" charset="0"/>
                <a:cs typeface="Times New Roman" panose="02020603050405020304" pitchFamily="18" charset="0"/>
              </a:rPr>
              <a:t>Here one register reference, one memory reference is required to access the data.</a:t>
            </a:r>
            <a:endParaRPr lang="en-US" b="0" i="0" dirty="0">
              <a:solidFill>
                <a:srgbClr val="273239"/>
              </a:solidFill>
              <a:effectLst/>
              <a:latin typeface="Times New Roman" panose="02020603050405020304" pitchFamily="18" charset="0"/>
              <a:cs typeface="Times New Roman" panose="02020603050405020304" pitchFamily="18" charset="0"/>
            </a:endParaRPr>
          </a:p>
          <a:p>
            <a:pPr marL="742950" lvl="1" indent="-285750" algn="l" fontAlgn="base">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Memory Indirect: In this mode effective address is in the memory, and corresponding memory address will be maintained in the address field of an instruction.</a:t>
            </a:r>
            <a:br>
              <a:rPr lang="en-US" b="0" i="0" dirty="0">
                <a:solidFill>
                  <a:srgbClr val="273239"/>
                </a:solidFill>
                <a:effectLst/>
                <a:latin typeface="Times New Roman" panose="02020603050405020304" pitchFamily="18" charset="0"/>
                <a:cs typeface="Times New Roman" panose="02020603050405020304" pitchFamily="18" charset="0"/>
              </a:rPr>
            </a:br>
            <a:r>
              <a:rPr lang="en-US" b="0" i="1" dirty="0">
                <a:solidFill>
                  <a:srgbClr val="273239"/>
                </a:solidFill>
                <a:effectLst/>
                <a:latin typeface="Times New Roman" panose="02020603050405020304" pitchFamily="18" charset="0"/>
                <a:cs typeface="Times New Roman" panose="02020603050405020304" pitchFamily="18" charset="0"/>
              </a:rPr>
              <a:t>Here two memory reference is required to access the data.</a:t>
            </a:r>
            <a:endParaRPr lang="en-US" b="0" i="0" dirty="0">
              <a:solidFill>
                <a:srgbClr val="273239"/>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7217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628F8-D5DD-59AD-E60C-FCB239511875}"/>
              </a:ext>
            </a:extLst>
          </p:cNvPr>
          <p:cNvSpPr>
            <a:spLocks noGrp="1"/>
          </p:cNvSpPr>
          <p:nvPr>
            <p:ph type="title"/>
          </p:nvPr>
        </p:nvSpPr>
        <p:spPr/>
        <p:txBody>
          <a:bodyPr/>
          <a:lstStyle/>
          <a:p>
            <a:r>
              <a:rPr lang="en-US" dirty="0"/>
              <a:t>Memory Indirect addressing</a:t>
            </a:r>
            <a:endParaRPr lang="en-IN" dirty="0"/>
          </a:p>
        </p:txBody>
      </p:sp>
      <p:pic>
        <p:nvPicPr>
          <p:cNvPr id="5" name="Picture 4">
            <a:extLst>
              <a:ext uri="{FF2B5EF4-FFF2-40B4-BE49-F238E27FC236}">
                <a16:creationId xmlns:a16="http://schemas.microsoft.com/office/drawing/2014/main" id="{E2E3DEB4-D14B-8CBB-A073-5378C2DB0FBA}"/>
              </a:ext>
            </a:extLst>
          </p:cNvPr>
          <p:cNvPicPr>
            <a:picLocks noChangeAspect="1"/>
          </p:cNvPicPr>
          <p:nvPr/>
        </p:nvPicPr>
        <p:blipFill rotWithShape="1">
          <a:blip r:embed="rId2"/>
          <a:srcRect l="1080" t="2971" r="2450" b="8169"/>
          <a:stretch/>
        </p:blipFill>
        <p:spPr>
          <a:xfrm>
            <a:off x="1345915" y="2116476"/>
            <a:ext cx="8147406" cy="3910320"/>
          </a:xfrm>
          <a:prstGeom prst="rect">
            <a:avLst/>
          </a:prstGeom>
        </p:spPr>
      </p:pic>
    </p:spTree>
    <p:extLst>
      <p:ext uri="{BB962C8B-B14F-4D97-AF65-F5344CB8AC3E}">
        <p14:creationId xmlns:p14="http://schemas.microsoft.com/office/powerpoint/2010/main" val="1726490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D748-159E-5114-9C78-A1D3E2732FF8}"/>
              </a:ext>
            </a:extLst>
          </p:cNvPr>
          <p:cNvSpPr>
            <a:spLocks noGrp="1"/>
          </p:cNvSpPr>
          <p:nvPr>
            <p:ph type="title"/>
          </p:nvPr>
        </p:nvSpPr>
        <p:spPr/>
        <p:txBody>
          <a:bodyPr/>
          <a:lstStyle/>
          <a:p>
            <a:r>
              <a:rPr lang="en-US" dirty="0"/>
              <a:t>Memory Indirect addressing</a:t>
            </a:r>
            <a:endParaRPr lang="en-IN" dirty="0"/>
          </a:p>
        </p:txBody>
      </p:sp>
      <p:sp>
        <p:nvSpPr>
          <p:cNvPr id="3" name="Content Placeholder 2">
            <a:extLst>
              <a:ext uri="{FF2B5EF4-FFF2-40B4-BE49-F238E27FC236}">
                <a16:creationId xmlns:a16="http://schemas.microsoft.com/office/drawing/2014/main" id="{523BAE71-14E0-EACA-0DAF-60F18E18956F}"/>
              </a:ext>
            </a:extLst>
          </p:cNvPr>
          <p:cNvSpPr>
            <a:spLocks noGrp="1"/>
          </p:cNvSpPr>
          <p:nvPr>
            <p:ph idx="1"/>
          </p:nvPr>
        </p:nvSpPr>
        <p:spPr/>
        <p:txBody>
          <a:bodyPr/>
          <a:lstStyle/>
          <a:p>
            <a:r>
              <a:rPr lang="en-US" altLang="en-US" sz="2800" dirty="0">
                <a:solidFill>
                  <a:schemeClr val="tx1"/>
                </a:solidFill>
              </a:rPr>
              <a:t>This addressing mode allows data to be addressed at any memory location through an offset address held in any of the following registers: BP, BX, DI &amp; SI.</a:t>
            </a:r>
            <a:endParaRPr lang="en-IN" altLang="en-US" sz="2800" dirty="0">
              <a:solidFill>
                <a:schemeClr val="tx1"/>
              </a:solidFill>
            </a:endParaRPr>
          </a:p>
          <a:p>
            <a:endParaRPr lang="en-IN" dirty="0"/>
          </a:p>
        </p:txBody>
      </p:sp>
    </p:spTree>
    <p:extLst>
      <p:ext uri="{BB962C8B-B14F-4D97-AF65-F5344CB8AC3E}">
        <p14:creationId xmlns:p14="http://schemas.microsoft.com/office/powerpoint/2010/main" val="1509491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48291-3D2B-64FF-0327-32EB4AC93367}"/>
              </a:ext>
            </a:extLst>
          </p:cNvPr>
          <p:cNvSpPr>
            <a:spLocks noGrp="1"/>
          </p:cNvSpPr>
          <p:nvPr>
            <p:ph type="title"/>
          </p:nvPr>
        </p:nvSpPr>
        <p:spPr/>
        <p:txBody>
          <a:bodyPr/>
          <a:lstStyle/>
          <a:p>
            <a:r>
              <a:rPr lang="en-US" altLang="en-US" sz="4400">
                <a:solidFill>
                  <a:srgbClr val="C0504D"/>
                </a:solidFill>
                <a:cs typeface="Times New Roman" panose="02020603050405020304" pitchFamily="18" charset="0"/>
              </a:rPr>
              <a:t>Register Indirect Addressing</a:t>
            </a:r>
            <a:br>
              <a:rPr lang="en-US" altLang="en-US" sz="4400">
                <a:solidFill>
                  <a:srgbClr val="C0504D"/>
                </a:solidFill>
                <a:cs typeface="Times New Roman" panose="02020603050405020304" pitchFamily="18" charset="0"/>
              </a:rPr>
            </a:br>
            <a:endParaRPr lang="en-IN"/>
          </a:p>
        </p:txBody>
      </p:sp>
      <p:sp>
        <p:nvSpPr>
          <p:cNvPr id="3" name="Content Placeholder 2">
            <a:extLst>
              <a:ext uri="{FF2B5EF4-FFF2-40B4-BE49-F238E27FC236}">
                <a16:creationId xmlns:a16="http://schemas.microsoft.com/office/drawing/2014/main" id="{0139D13F-8A0F-69EF-A4F1-58D68C9E5862}"/>
              </a:ext>
            </a:extLst>
          </p:cNvPr>
          <p:cNvSpPr>
            <a:spLocks noGrp="1"/>
          </p:cNvSpPr>
          <p:nvPr>
            <p:ph idx="1"/>
          </p:nvPr>
        </p:nvSpPr>
        <p:spPr/>
        <p:txBody>
          <a:bodyPr/>
          <a:lstStyle/>
          <a:p>
            <a:r>
              <a:rPr lang="en-US" altLang="en-US" sz="2800" dirty="0">
                <a:solidFill>
                  <a:schemeClr val="tx1"/>
                </a:solidFill>
              </a:rPr>
              <a:t>This addressing mode allows data to be addressed at any memory location through an offset address held in any of the following registers: BP, BX, DI &amp; SI.</a:t>
            </a:r>
            <a:endParaRPr lang="en-IN" altLang="en-US" sz="2800" dirty="0">
              <a:solidFill>
                <a:schemeClr val="tx1"/>
              </a:solidFill>
            </a:endParaRPr>
          </a:p>
          <a:p>
            <a:endParaRPr lang="en-IN" dirty="0"/>
          </a:p>
        </p:txBody>
      </p:sp>
      <p:sp>
        <p:nvSpPr>
          <p:cNvPr id="4" name="Rectangle 51">
            <a:extLst>
              <a:ext uri="{FF2B5EF4-FFF2-40B4-BE49-F238E27FC236}">
                <a16:creationId xmlns:a16="http://schemas.microsoft.com/office/drawing/2014/main" id="{D30442BD-82B5-1EF1-BFE3-F09FACB4D227}"/>
              </a:ext>
            </a:extLst>
          </p:cNvPr>
          <p:cNvSpPr>
            <a:spLocks noChangeArrowheads="1"/>
          </p:cNvSpPr>
          <p:nvPr/>
        </p:nvSpPr>
        <p:spPr bwMode="auto">
          <a:xfrm>
            <a:off x="1008544" y="3184865"/>
            <a:ext cx="9144000" cy="1014412"/>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1" hangingPunct="1">
              <a:buClr>
                <a:srgbClr val="000000"/>
              </a:buClr>
              <a:buSzPct val="100000"/>
              <a:buFont typeface="Times New Roman" panose="02020603050405020304" pitchFamily="18" charset="0"/>
              <a:buNone/>
            </a:pPr>
            <a:r>
              <a:rPr lang="en-GB" altLang="en-US" sz="2000" dirty="0">
                <a:solidFill>
                  <a:srgbClr val="000000"/>
                </a:solidFill>
                <a:latin typeface="Arial Unicode MS"/>
              </a:rPr>
              <a:t>Example: MOV AX, [BX] ; Suppose the register BX contains 4895H, then the              contents of 4895H are moved to AX </a:t>
            </a:r>
          </a:p>
          <a:p>
            <a:pPr eaLnBrk="1" hangingPunct="1">
              <a:buClr>
                <a:srgbClr val="000000"/>
              </a:buClr>
              <a:buSzPct val="100000"/>
              <a:buFont typeface="Times New Roman" panose="02020603050405020304" pitchFamily="18" charset="0"/>
              <a:buNone/>
            </a:pPr>
            <a:r>
              <a:rPr lang="en-GB" altLang="en-US" sz="2000" dirty="0">
                <a:solidFill>
                  <a:srgbClr val="000000"/>
                </a:solidFill>
                <a:latin typeface="Arial Unicode MS"/>
              </a:rPr>
              <a:t>ADD CX, {BX} </a:t>
            </a:r>
            <a:endParaRPr lang="en-GB" altLang="en-US" sz="4400" dirty="0">
              <a:solidFill>
                <a:srgbClr val="000000"/>
              </a:solidFill>
            </a:endParaRPr>
          </a:p>
        </p:txBody>
      </p:sp>
      <p:graphicFrame>
        <p:nvGraphicFramePr>
          <p:cNvPr id="5" name="Group 2">
            <a:extLst>
              <a:ext uri="{FF2B5EF4-FFF2-40B4-BE49-F238E27FC236}">
                <a16:creationId xmlns:a16="http://schemas.microsoft.com/office/drawing/2014/main" id="{B65EA0CE-CB98-2987-B97E-EA0F3FDD97DB}"/>
              </a:ext>
            </a:extLst>
          </p:cNvPr>
          <p:cNvGraphicFramePr>
            <a:graphicFrameLocks noGrp="1"/>
          </p:cNvGraphicFramePr>
          <p:nvPr>
            <p:extLst>
              <p:ext uri="{D42A27DB-BD31-4B8C-83A1-F6EECF244321}">
                <p14:modId xmlns:p14="http://schemas.microsoft.com/office/powerpoint/2010/main" val="3807269393"/>
              </p:ext>
            </p:extLst>
          </p:nvPr>
        </p:nvGraphicFramePr>
        <p:xfrm>
          <a:off x="1051317" y="4079874"/>
          <a:ext cx="8612188" cy="2232026"/>
        </p:xfrm>
        <a:graphic>
          <a:graphicData uri="http://schemas.openxmlformats.org/drawingml/2006/table">
            <a:tbl>
              <a:tblPr/>
              <a:tblGrid>
                <a:gridCol w="3581400">
                  <a:extLst>
                    <a:ext uri="{9D8B030D-6E8A-4147-A177-3AD203B41FA5}">
                      <a16:colId xmlns:a16="http://schemas.microsoft.com/office/drawing/2014/main" val="20000"/>
                    </a:ext>
                  </a:extLst>
                </a:gridCol>
                <a:gridCol w="2516188">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tblGrid>
              <a:tr h="460375">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375">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Ex.1: MOV CL, [SI]</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CL</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20H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78H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431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60375">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SI</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3456H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7621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60375">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DS:3456H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78H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dirty="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81015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DC4273D4-EBE7-DBE8-0BD6-240AFE65337C}"/>
              </a:ext>
            </a:extLst>
          </p:cNvPr>
          <p:cNvGraphicFramePr>
            <a:graphicFrameLocks noGrp="1"/>
          </p:cNvGraphicFramePr>
          <p:nvPr>
            <p:extLst>
              <p:ext uri="{D42A27DB-BD31-4B8C-83A1-F6EECF244321}">
                <p14:modId xmlns:p14="http://schemas.microsoft.com/office/powerpoint/2010/main" val="3770291797"/>
              </p:ext>
            </p:extLst>
          </p:nvPr>
        </p:nvGraphicFramePr>
        <p:xfrm>
          <a:off x="1031696" y="1002159"/>
          <a:ext cx="9129445" cy="2687329"/>
        </p:xfrm>
        <a:graphic>
          <a:graphicData uri="http://schemas.openxmlformats.org/drawingml/2006/table">
            <a:tbl>
              <a:tblPr/>
              <a:tblGrid>
                <a:gridCol w="3635663">
                  <a:extLst>
                    <a:ext uri="{9D8B030D-6E8A-4147-A177-3AD203B41FA5}">
                      <a16:colId xmlns:a16="http://schemas.microsoft.com/office/drawing/2014/main" val="20000"/>
                    </a:ext>
                  </a:extLst>
                </a:gridCol>
                <a:gridCol w="2554311">
                  <a:extLst>
                    <a:ext uri="{9D8B030D-6E8A-4147-A177-3AD203B41FA5}">
                      <a16:colId xmlns:a16="http://schemas.microsoft.com/office/drawing/2014/main" val="20001"/>
                    </a:ext>
                  </a:extLst>
                </a:gridCol>
                <a:gridCol w="1237672">
                  <a:extLst>
                    <a:ext uri="{9D8B030D-6E8A-4147-A177-3AD203B41FA5}">
                      <a16:colId xmlns:a16="http://schemas.microsoft.com/office/drawing/2014/main" val="20002"/>
                    </a:ext>
                  </a:extLst>
                </a:gridCol>
                <a:gridCol w="464127">
                  <a:extLst>
                    <a:ext uri="{9D8B030D-6E8A-4147-A177-3AD203B41FA5}">
                      <a16:colId xmlns:a16="http://schemas.microsoft.com/office/drawing/2014/main" val="20003"/>
                    </a:ext>
                  </a:extLst>
                </a:gridCol>
                <a:gridCol w="1237672">
                  <a:extLst>
                    <a:ext uri="{9D8B030D-6E8A-4147-A177-3AD203B41FA5}">
                      <a16:colId xmlns:a16="http://schemas.microsoft.com/office/drawing/2014/main" val="20004"/>
                    </a:ext>
                  </a:extLst>
                </a:gridCol>
              </a:tblGrid>
              <a:tr h="60567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426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dirty="0">
                          <a:ln>
                            <a:noFill/>
                          </a:ln>
                          <a:solidFill>
                            <a:srgbClr val="000000"/>
                          </a:solidFill>
                          <a:effectLst/>
                          <a:latin typeface="Arial" panose="020B0604020202020204" pitchFamily="34" charset="0"/>
                          <a:cs typeface="Noto Sans CJK SC" charset="0"/>
                        </a:rPr>
                        <a:t>Ex.2: MOV DX, [BX]</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DX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F232H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3567H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8965">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2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2426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dirty="0">
                          <a:ln>
                            <a:noFill/>
                          </a:ln>
                          <a:solidFill>
                            <a:srgbClr val="000000"/>
                          </a:solidFill>
                          <a:effectLst/>
                          <a:latin typeface="Arial" panose="020B0604020202020204" pitchFamily="34" charset="0"/>
                          <a:cs typeface="Noto Sans CJK SC" charset="0"/>
                        </a:rPr>
                        <a:t>BX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A2B2H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71169">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9500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2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200" b="0" i="0" u="none" strike="noStrike" cap="none" normalizeH="0" baseline="0">
                          <a:ln>
                            <a:noFill/>
                          </a:ln>
                          <a:solidFill>
                            <a:srgbClr val="000000"/>
                          </a:solidFill>
                          <a:effectLst/>
                          <a:latin typeface="Arial" panose="020B0604020202020204" pitchFamily="34" charset="0"/>
                          <a:cs typeface="Noto Sans CJK SC" charset="0"/>
                        </a:rPr>
                        <a:t>DS:A2B2H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200" b="0" i="0" u="none" strike="noStrike" cap="none" normalizeH="0" baseline="0">
                          <a:ln>
                            <a:noFill/>
                          </a:ln>
                          <a:solidFill>
                            <a:srgbClr val="000000"/>
                          </a:solidFill>
                          <a:effectLst/>
                          <a:latin typeface="Arial" panose="020B0604020202020204" pitchFamily="34" charset="0"/>
                          <a:cs typeface="Noto Sans CJK SC" charset="0"/>
                        </a:rPr>
                        <a:t>67H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2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200" b="0" i="0" u="none" strike="noStrike" cap="none" normalizeH="0" baseline="0">
                          <a:ln>
                            <a:noFill/>
                          </a:ln>
                          <a:solidFill>
                            <a:srgbClr val="000000"/>
                          </a:solidFill>
                          <a:effectLst/>
                          <a:latin typeface="Arial" panose="020B0604020202020204" pitchFamily="34" charset="0"/>
                          <a:cs typeface="Noto Sans CJK SC" charset="0"/>
                        </a:rPr>
                        <a:t>LS byte</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39500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2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200" b="0" i="0" u="none" strike="noStrike" cap="none" normalizeH="0" baseline="0">
                          <a:ln>
                            <a:noFill/>
                          </a:ln>
                          <a:solidFill>
                            <a:srgbClr val="000000"/>
                          </a:solidFill>
                          <a:effectLst/>
                          <a:latin typeface="Arial" panose="020B0604020202020204" pitchFamily="34" charset="0"/>
                          <a:cs typeface="Noto Sans CJK SC" charset="0"/>
                        </a:rPr>
                        <a:t>DS:A2B3H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200" b="0" i="0" u="none" strike="noStrike" cap="none" normalizeH="0" baseline="0">
                          <a:ln>
                            <a:noFill/>
                          </a:ln>
                          <a:solidFill>
                            <a:srgbClr val="000000"/>
                          </a:solidFill>
                          <a:effectLst/>
                          <a:latin typeface="Arial" panose="020B0604020202020204" pitchFamily="34" charset="0"/>
                          <a:cs typeface="Noto Sans CJK SC" charset="0"/>
                        </a:rPr>
                        <a:t>35H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2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200" b="0" i="0" u="none" strike="noStrike" cap="none" normalizeH="0" baseline="0" dirty="0">
                          <a:ln>
                            <a:noFill/>
                          </a:ln>
                          <a:solidFill>
                            <a:srgbClr val="000000"/>
                          </a:solidFill>
                          <a:effectLst/>
                          <a:latin typeface="Arial" panose="020B0604020202020204" pitchFamily="34" charset="0"/>
                          <a:cs typeface="Noto Sans CJK SC" charset="0"/>
                        </a:rPr>
                        <a:t>MS byte</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7C32605E-8FA4-8693-C6C9-D0C888364A6E}"/>
              </a:ext>
            </a:extLst>
          </p:cNvPr>
          <p:cNvSpPr txBox="1"/>
          <p:nvPr/>
        </p:nvSpPr>
        <p:spPr>
          <a:xfrm>
            <a:off x="644702" y="4284994"/>
            <a:ext cx="11129481" cy="1384995"/>
          </a:xfrm>
          <a:prstGeom prst="rect">
            <a:avLst/>
          </a:prstGeom>
          <a:noFill/>
        </p:spPr>
        <p:txBody>
          <a:bodyPr wrap="square">
            <a:spAutoFit/>
          </a:bodyPr>
          <a:lstStyle/>
          <a:p>
            <a:r>
              <a:rPr lang="en-US" altLang="en-US" sz="2800" dirty="0">
                <a:solidFill>
                  <a:srgbClr val="000000"/>
                </a:solidFill>
                <a:latin typeface="Times New Roman" panose="02020603050405020304" pitchFamily="18" charset="0"/>
                <a:cs typeface="Times New Roman" panose="02020603050405020304" pitchFamily="18" charset="0"/>
              </a:rPr>
              <a:t>Only SI, DI , and BX can be used inside [] from memory addressing point of view. From user point of view [BP] is also possible. Provides 3 ways of addressing a memory operand. </a:t>
            </a:r>
            <a:endParaRPr lang="en-IN" sz="2800" dirty="0"/>
          </a:p>
        </p:txBody>
      </p:sp>
    </p:spTree>
    <p:extLst>
      <p:ext uri="{BB962C8B-B14F-4D97-AF65-F5344CB8AC3E}">
        <p14:creationId xmlns:p14="http://schemas.microsoft.com/office/powerpoint/2010/main" val="961286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93DF0-F461-4949-72A7-8789858ED0AB}"/>
              </a:ext>
            </a:extLst>
          </p:cNvPr>
          <p:cNvSpPr>
            <a:spLocks noGrp="1"/>
          </p:cNvSpPr>
          <p:nvPr>
            <p:ph type="title"/>
          </p:nvPr>
        </p:nvSpPr>
        <p:spPr/>
        <p:txBody>
          <a:bodyPr/>
          <a:lstStyle/>
          <a:p>
            <a:r>
              <a:rPr lang="en-US" altLang="en-US" sz="4400" dirty="0">
                <a:solidFill>
                  <a:srgbClr val="C0504D"/>
                </a:solidFill>
                <a:cs typeface="Times New Roman" panose="02020603050405020304" pitchFamily="18" charset="0"/>
              </a:rPr>
              <a:t>Based Addressing with displacement</a:t>
            </a:r>
            <a:endParaRPr lang="en-IN" dirty="0"/>
          </a:p>
        </p:txBody>
      </p:sp>
      <p:sp>
        <p:nvSpPr>
          <p:cNvPr id="4" name="TextBox 2">
            <a:extLst>
              <a:ext uri="{FF2B5EF4-FFF2-40B4-BE49-F238E27FC236}">
                <a16:creationId xmlns:a16="http://schemas.microsoft.com/office/drawing/2014/main" id="{17EFD77F-7371-2B02-D6E2-31480847591D}"/>
              </a:ext>
            </a:extLst>
          </p:cNvPr>
          <p:cNvSpPr txBox="1">
            <a:spLocks noChangeArrowheads="1"/>
          </p:cNvSpPr>
          <p:nvPr/>
        </p:nvSpPr>
        <p:spPr bwMode="auto">
          <a:xfrm>
            <a:off x="838200" y="1972639"/>
            <a:ext cx="1067912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Clr>
                <a:srgbClr val="000000"/>
              </a:buClr>
              <a:buSzPct val="100000"/>
              <a:buFont typeface="Times New Roman" panose="02020603050405020304" pitchFamily="18" charset="0"/>
              <a:buNone/>
            </a:pPr>
            <a:r>
              <a:rPr lang="en-US" altLang="en-US" sz="2400" dirty="0">
                <a:solidFill>
                  <a:schemeClr val="tx1"/>
                </a:solidFill>
              </a:rPr>
              <a:t>In this addressing mode, the offset address of the operand is given by the sum of contents of the BX/BP registers and 8-bit/16-bit displacement.</a:t>
            </a:r>
            <a:endParaRPr lang="en-IN" altLang="en-US" sz="2400" dirty="0">
              <a:solidFill>
                <a:schemeClr val="tx1"/>
              </a:solidFill>
            </a:endParaRPr>
          </a:p>
        </p:txBody>
      </p:sp>
      <p:graphicFrame>
        <p:nvGraphicFramePr>
          <p:cNvPr id="5" name="Group 2">
            <a:extLst>
              <a:ext uri="{FF2B5EF4-FFF2-40B4-BE49-F238E27FC236}">
                <a16:creationId xmlns:a16="http://schemas.microsoft.com/office/drawing/2014/main" id="{C7AF166D-28C6-70C6-39F4-6E884A7778D6}"/>
              </a:ext>
            </a:extLst>
          </p:cNvPr>
          <p:cNvGraphicFramePr>
            <a:graphicFrameLocks noGrp="1"/>
          </p:cNvGraphicFramePr>
          <p:nvPr>
            <p:extLst>
              <p:ext uri="{D42A27DB-BD31-4B8C-83A1-F6EECF244321}">
                <p14:modId xmlns:p14="http://schemas.microsoft.com/office/powerpoint/2010/main" val="2404550909"/>
              </p:ext>
            </p:extLst>
          </p:nvPr>
        </p:nvGraphicFramePr>
        <p:xfrm>
          <a:off x="1587500" y="2939255"/>
          <a:ext cx="9766300" cy="3235512"/>
        </p:xfrm>
        <a:graphic>
          <a:graphicData uri="http://schemas.openxmlformats.org/drawingml/2006/table">
            <a:tbl>
              <a:tblPr/>
              <a:tblGrid>
                <a:gridCol w="4994913">
                  <a:extLst>
                    <a:ext uri="{9D8B030D-6E8A-4147-A177-3AD203B41FA5}">
                      <a16:colId xmlns:a16="http://schemas.microsoft.com/office/drawing/2014/main" val="20000"/>
                    </a:ext>
                  </a:extLst>
                </a:gridCol>
                <a:gridCol w="1980771">
                  <a:extLst>
                    <a:ext uri="{9D8B030D-6E8A-4147-A177-3AD203B41FA5}">
                      <a16:colId xmlns:a16="http://schemas.microsoft.com/office/drawing/2014/main" val="20001"/>
                    </a:ext>
                  </a:extLst>
                </a:gridCol>
                <a:gridCol w="1463225">
                  <a:extLst>
                    <a:ext uri="{9D8B030D-6E8A-4147-A177-3AD203B41FA5}">
                      <a16:colId xmlns:a16="http://schemas.microsoft.com/office/drawing/2014/main" val="20002"/>
                    </a:ext>
                  </a:extLst>
                </a:gridCol>
                <a:gridCol w="233841">
                  <a:extLst>
                    <a:ext uri="{9D8B030D-6E8A-4147-A177-3AD203B41FA5}">
                      <a16:colId xmlns:a16="http://schemas.microsoft.com/office/drawing/2014/main" val="20003"/>
                    </a:ext>
                  </a:extLst>
                </a:gridCol>
                <a:gridCol w="1093550">
                  <a:extLst>
                    <a:ext uri="{9D8B030D-6E8A-4147-A177-3AD203B41FA5}">
                      <a16:colId xmlns:a16="http://schemas.microsoft.com/office/drawing/2014/main" val="20004"/>
                    </a:ext>
                  </a:extLst>
                </a:gridCol>
              </a:tblGrid>
              <a:tr h="584709">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4709">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Arial" panose="020B0604020202020204" pitchFamily="34" charset="0"/>
                          <a:cs typeface="Noto Sans CJK SC" charset="0"/>
                        </a:rPr>
                        <a:t>Ex.1: MOV DH, 2345H[BX]</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DH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45H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67H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8571">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106424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2345H is 16 bit displacement</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4000H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08571">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84709">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Arial" panose="020B0604020202020204" pitchFamily="34" charset="0"/>
                          <a:cs typeface="Noto Sans CJK SC" charset="0"/>
                        </a:rPr>
                        <a:t>4000H+2345H = 6345H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DS:6345H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67H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dirty="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00229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192B3229-A9B7-1475-3F5F-72EAF47ACB2A}"/>
              </a:ext>
            </a:extLst>
          </p:cNvPr>
          <p:cNvGraphicFramePr>
            <a:graphicFrameLocks noGrp="1"/>
          </p:cNvGraphicFramePr>
          <p:nvPr>
            <p:extLst>
              <p:ext uri="{D42A27DB-BD31-4B8C-83A1-F6EECF244321}">
                <p14:modId xmlns:p14="http://schemas.microsoft.com/office/powerpoint/2010/main" val="2892916368"/>
              </p:ext>
            </p:extLst>
          </p:nvPr>
        </p:nvGraphicFramePr>
        <p:xfrm>
          <a:off x="1027414" y="917825"/>
          <a:ext cx="9585789" cy="3643901"/>
        </p:xfrm>
        <a:graphic>
          <a:graphicData uri="http://schemas.openxmlformats.org/drawingml/2006/table">
            <a:tbl>
              <a:tblPr/>
              <a:tblGrid>
                <a:gridCol w="4234574">
                  <a:extLst>
                    <a:ext uri="{9D8B030D-6E8A-4147-A177-3AD203B41FA5}">
                      <a16:colId xmlns:a16="http://schemas.microsoft.com/office/drawing/2014/main" val="20000"/>
                    </a:ext>
                  </a:extLst>
                </a:gridCol>
                <a:gridCol w="2110363">
                  <a:extLst>
                    <a:ext uri="{9D8B030D-6E8A-4147-A177-3AD203B41FA5}">
                      <a16:colId xmlns:a16="http://schemas.microsoft.com/office/drawing/2014/main" val="20001"/>
                    </a:ext>
                  </a:extLst>
                </a:gridCol>
                <a:gridCol w="1544252">
                  <a:extLst>
                    <a:ext uri="{9D8B030D-6E8A-4147-A177-3AD203B41FA5}">
                      <a16:colId xmlns:a16="http://schemas.microsoft.com/office/drawing/2014/main" val="20002"/>
                    </a:ext>
                  </a:extLst>
                </a:gridCol>
                <a:gridCol w="235446">
                  <a:extLst>
                    <a:ext uri="{9D8B030D-6E8A-4147-A177-3AD203B41FA5}">
                      <a16:colId xmlns:a16="http://schemas.microsoft.com/office/drawing/2014/main" val="20003"/>
                    </a:ext>
                  </a:extLst>
                </a:gridCol>
                <a:gridCol w="398182">
                  <a:extLst>
                    <a:ext uri="{9D8B030D-6E8A-4147-A177-3AD203B41FA5}">
                      <a16:colId xmlns:a16="http://schemas.microsoft.com/office/drawing/2014/main" val="20004"/>
                    </a:ext>
                  </a:extLst>
                </a:gridCol>
                <a:gridCol w="398182">
                  <a:extLst>
                    <a:ext uri="{9D8B030D-6E8A-4147-A177-3AD203B41FA5}">
                      <a16:colId xmlns:a16="http://schemas.microsoft.com/office/drawing/2014/main" val="20005"/>
                    </a:ext>
                  </a:extLst>
                </a:gridCol>
                <a:gridCol w="664790">
                  <a:extLst>
                    <a:ext uri="{9D8B030D-6E8A-4147-A177-3AD203B41FA5}">
                      <a16:colId xmlns:a16="http://schemas.microsoft.com/office/drawing/2014/main" val="20006"/>
                    </a:ext>
                  </a:extLst>
                </a:gridCol>
              </a:tblGrid>
              <a:tr h="540032">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Times New Roman" panose="02020603050405020304" pitchFamily="18"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gridSpan="3">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Times New Roman" panose="02020603050405020304" pitchFamily="18"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975202">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Times New Roman" panose="02020603050405020304" pitchFamily="18" charset="0"/>
                          <a:cs typeface="Noto Sans CJK SC" charset="0"/>
                        </a:rPr>
                        <a:t>Ex.2: MOV AX, 45H[BP]</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Times New Roman" panose="02020603050405020304" pitchFamily="18" charset="0"/>
                          <a:cs typeface="Noto Sans CJK SC" charset="0"/>
                        </a:rPr>
                        <a:t>AX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Times New Roman" panose="02020603050405020304" pitchFamily="18" charset="0"/>
                          <a:cs typeface="Noto Sans CJK SC" charset="0"/>
                        </a:rPr>
                        <a:t>1000H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w="576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Times New Roman" panose="02020603050405020304" pitchFamily="18" charset="0"/>
                          <a:cs typeface="Noto Sans CJK SC" charset="0"/>
                        </a:rPr>
                        <a:t>CDABH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1"/>
                  </a:ext>
                </a:extLst>
              </a:tr>
              <a:tr h="20447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n-IN"/>
                    </a:p>
                  </a:txBody>
                  <a:tcPr/>
                </a:tc>
                <a:extLst>
                  <a:ext uri="{0D108BD9-81ED-4DB2-BD59-A6C34878D82A}">
                    <a16:rowId xmlns:a16="http://schemas.microsoft.com/office/drawing/2014/main" val="10002"/>
                  </a:ext>
                </a:extLst>
              </a:tr>
              <a:tr h="57323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45H is 8 bit displacement</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BP</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3000H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gridSpan="3">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3"/>
                  </a:ext>
                </a:extLst>
              </a:tr>
              <a:tr h="20447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hMerge="1">
                  <a:txBody>
                    <a:bodyPr/>
                    <a:lstStyle/>
                    <a:p>
                      <a:endParaRPr lang="en-IN"/>
                    </a:p>
                  </a:txBody>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7323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3000H + 45H = 3045H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SS:3045H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ABH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gridSpan="3">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LS byte</a:t>
                      </a:r>
                    </a:p>
                  </a:txBody>
                  <a:tcPr marL="90000" marR="90000" marT="46800" marB="46800" horzOverflow="overflow">
                    <a:lnL>
                      <a:noFill/>
                    </a:lnL>
                    <a:lnR>
                      <a:noFill/>
                    </a:lnR>
                    <a:lnT>
                      <a:noFill/>
                    </a:lnT>
                    <a:lnB>
                      <a:noFill/>
                    </a:lnB>
                    <a:lnTlToBr>
                      <a:noFill/>
                    </a:lnTlToBr>
                    <a:lnBlToTr>
                      <a:noFill/>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5"/>
                  </a:ext>
                </a:extLst>
              </a:tr>
              <a:tr h="57323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It is SS when BP is used</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SS:3046H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CDH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gridSpan="3">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dirty="0">
                          <a:ln>
                            <a:noFill/>
                          </a:ln>
                          <a:solidFill>
                            <a:srgbClr val="000000"/>
                          </a:solidFill>
                          <a:effectLst/>
                          <a:latin typeface="Times New Roman" panose="02020603050405020304" pitchFamily="18" charset="0"/>
                          <a:cs typeface="Noto Sans CJK SC" charset="0"/>
                        </a:rPr>
                        <a:t>MS byte</a:t>
                      </a:r>
                    </a:p>
                  </a:txBody>
                  <a:tcPr marL="90000" marR="90000" marT="46800" marB="46800" horzOverflow="overflow">
                    <a:lnL>
                      <a:noFill/>
                    </a:lnL>
                    <a:lnR>
                      <a:noFill/>
                    </a:lnR>
                    <a:lnT>
                      <a:noFill/>
                    </a:lnT>
                    <a:lnB>
                      <a:noFill/>
                    </a:lnB>
                    <a:lnTlToBr>
                      <a:noFill/>
                    </a:lnTlToBr>
                    <a:lnBlToTr>
                      <a:noFill/>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33504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5BFC69A-A8C8-5706-E84B-6A89C2939227}"/>
              </a:ext>
            </a:extLst>
          </p:cNvPr>
          <p:cNvSpPr>
            <a:spLocks noChangeArrowheads="1"/>
          </p:cNvSpPr>
          <p:nvPr/>
        </p:nvSpPr>
        <p:spPr bwMode="auto">
          <a:xfrm>
            <a:off x="630148" y="669533"/>
            <a:ext cx="11020746" cy="2505182"/>
          </a:xfrm>
          <a:prstGeom prst="rect">
            <a:avLst/>
          </a:prstGeom>
          <a:noFill/>
          <a:ln>
            <a:noFill/>
          </a:ln>
          <a:effectLst/>
        </p:spPr>
        <p:txBody>
          <a:bodyPr lIns="90000" tIns="46800" rIns="90000" bIns="46800"/>
          <a:lstStyle>
            <a:lvl1pPr marL="341313" indent="-341313">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panose="020B0604020202020204" pitchFamily="34" charset="0"/>
                <a:cs typeface="Noto Sans CJK SC" charset="0"/>
              </a:defRPr>
            </a:lvl9pPr>
          </a:lstStyle>
          <a:p>
            <a:pPr eaLnBrk="1" hangingPunct="1">
              <a:spcBef>
                <a:spcPts val="800"/>
              </a:spcBef>
              <a:buClr>
                <a:srgbClr val="000000"/>
              </a:buClr>
              <a:buSzPct val="100000"/>
              <a:buFont typeface="Arial" panose="020B0604020202020204" pitchFamily="34" charset="0"/>
              <a:buChar char="•"/>
              <a:defRPr/>
            </a:pPr>
            <a:r>
              <a:rPr lang="en-US" altLang="en-US" sz="3200" dirty="0">
                <a:cs typeface="Times New Roman" panose="02020603050405020304" pitchFamily="18" charset="0"/>
              </a:rPr>
              <a:t>Base register can only be BX or BP</a:t>
            </a:r>
          </a:p>
          <a:p>
            <a:pPr eaLnBrk="1" hangingPunct="1">
              <a:spcBef>
                <a:spcPts val="800"/>
              </a:spcBef>
              <a:buClr>
                <a:srgbClr val="000000"/>
              </a:buClr>
              <a:buSzPct val="100000"/>
              <a:buFont typeface="Arial" panose="020B0604020202020204" pitchFamily="34" charset="0"/>
              <a:buChar char="•"/>
              <a:defRPr/>
            </a:pPr>
            <a:r>
              <a:rPr lang="en-US" altLang="en-US" sz="3200" dirty="0">
                <a:cs typeface="Times New Roman" panose="02020603050405020304" pitchFamily="18" charset="0"/>
              </a:rPr>
              <a:t>Base Addressing with displacement provides 4 ways of addressing an operand in memory</a:t>
            </a:r>
          </a:p>
          <a:p>
            <a:pPr eaLnBrk="1" hangingPunct="1">
              <a:spcBef>
                <a:spcPts val="800"/>
              </a:spcBef>
              <a:buClr>
                <a:srgbClr val="000000"/>
              </a:buClr>
              <a:buSzPct val="100000"/>
              <a:buFont typeface="Arial" panose="020B0604020202020204" pitchFamily="34" charset="0"/>
              <a:buNone/>
              <a:defRPr/>
            </a:pPr>
            <a:endParaRPr lang="en-US" altLang="en-US" sz="3200" dirty="0">
              <a:cs typeface="Times New Roman" panose="02020603050405020304" pitchFamily="18" charset="0"/>
            </a:endParaRPr>
          </a:p>
        </p:txBody>
      </p:sp>
    </p:spTree>
    <p:extLst>
      <p:ext uri="{BB962C8B-B14F-4D97-AF65-F5344CB8AC3E}">
        <p14:creationId xmlns:p14="http://schemas.microsoft.com/office/powerpoint/2010/main" val="2147045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CFDAF-7D9A-5567-3878-103CD0DBA8F7}"/>
              </a:ext>
            </a:extLst>
          </p:cNvPr>
          <p:cNvSpPr>
            <a:spLocks noGrp="1"/>
          </p:cNvSpPr>
          <p:nvPr>
            <p:ph type="title"/>
          </p:nvPr>
        </p:nvSpPr>
        <p:spPr/>
        <p:txBody>
          <a:bodyPr/>
          <a:lstStyle/>
          <a:p>
            <a:r>
              <a:rPr lang="en-US" altLang="en-US" sz="4400" dirty="0">
                <a:solidFill>
                  <a:srgbClr val="C0504D"/>
                </a:solidFill>
                <a:cs typeface="Times New Roman" panose="02020603050405020304" pitchFamily="18" charset="0"/>
              </a:rPr>
              <a:t>Indexed addressing with displacement</a:t>
            </a:r>
            <a:endParaRPr lang="en-IN" dirty="0"/>
          </a:p>
        </p:txBody>
      </p:sp>
      <p:sp>
        <p:nvSpPr>
          <p:cNvPr id="3" name="Content Placeholder 2">
            <a:extLst>
              <a:ext uri="{FF2B5EF4-FFF2-40B4-BE49-F238E27FC236}">
                <a16:creationId xmlns:a16="http://schemas.microsoft.com/office/drawing/2014/main" id="{64F81B2A-43A2-5809-2332-D92E2CB32E82}"/>
              </a:ext>
            </a:extLst>
          </p:cNvPr>
          <p:cNvSpPr>
            <a:spLocks noGrp="1"/>
          </p:cNvSpPr>
          <p:nvPr>
            <p:ph idx="1"/>
          </p:nvPr>
        </p:nvSpPr>
        <p:spPr/>
        <p:txBody>
          <a:bodyPr/>
          <a:lstStyle/>
          <a:p>
            <a:r>
              <a:rPr lang="en-US" altLang="en-US" sz="2800" dirty="0">
                <a:solidFill>
                  <a:schemeClr val="tx1"/>
                </a:solidFill>
              </a:rPr>
              <a:t>In this addressing mode, the offset address of the operand is given by the sum of contents of the SI/DI registers and 8-bit/16-bit displacement.</a:t>
            </a:r>
            <a:endParaRPr lang="en-IN" altLang="en-US" sz="2800" dirty="0">
              <a:solidFill>
                <a:schemeClr val="tx1"/>
              </a:solidFill>
            </a:endParaRPr>
          </a:p>
          <a:p>
            <a:endParaRPr lang="en-IN" dirty="0"/>
          </a:p>
        </p:txBody>
      </p:sp>
      <p:graphicFrame>
        <p:nvGraphicFramePr>
          <p:cNvPr id="4" name="Group 2">
            <a:extLst>
              <a:ext uri="{FF2B5EF4-FFF2-40B4-BE49-F238E27FC236}">
                <a16:creationId xmlns:a16="http://schemas.microsoft.com/office/drawing/2014/main" id="{509A98BD-CD9A-4D5E-2736-13DFC3A40A0F}"/>
              </a:ext>
            </a:extLst>
          </p:cNvPr>
          <p:cNvGraphicFramePr>
            <a:graphicFrameLocks noGrp="1"/>
          </p:cNvGraphicFramePr>
          <p:nvPr>
            <p:extLst>
              <p:ext uri="{D42A27DB-BD31-4B8C-83A1-F6EECF244321}">
                <p14:modId xmlns:p14="http://schemas.microsoft.com/office/powerpoint/2010/main" val="3797916349"/>
              </p:ext>
            </p:extLst>
          </p:nvPr>
        </p:nvGraphicFramePr>
        <p:xfrm>
          <a:off x="1284269" y="3133743"/>
          <a:ext cx="8916988" cy="2439989"/>
        </p:xfrm>
        <a:graphic>
          <a:graphicData uri="http://schemas.openxmlformats.org/drawingml/2006/table">
            <a:tbl>
              <a:tblPr/>
              <a:tblGrid>
                <a:gridCol w="4537075">
                  <a:extLst>
                    <a:ext uri="{9D8B030D-6E8A-4147-A177-3AD203B41FA5}">
                      <a16:colId xmlns:a16="http://schemas.microsoft.com/office/drawing/2014/main" val="20000"/>
                    </a:ext>
                  </a:extLst>
                </a:gridCol>
                <a:gridCol w="1798638">
                  <a:extLst>
                    <a:ext uri="{9D8B030D-6E8A-4147-A177-3AD203B41FA5}">
                      <a16:colId xmlns:a16="http://schemas.microsoft.com/office/drawing/2014/main" val="20001"/>
                    </a:ext>
                  </a:extLst>
                </a:gridCol>
                <a:gridCol w="1252537">
                  <a:extLst>
                    <a:ext uri="{9D8B030D-6E8A-4147-A177-3AD203B41FA5}">
                      <a16:colId xmlns:a16="http://schemas.microsoft.com/office/drawing/2014/main" val="20002"/>
                    </a:ext>
                  </a:extLst>
                </a:gridCol>
                <a:gridCol w="312738">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tblGrid>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Ex.1: MOV CL, 2345H[SI]</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CL</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60H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85H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2345H is 16 bit displacement</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SI</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6000H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0641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6000H+2345H = 8345H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DS:8345H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85H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dirty="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80636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AE8865C7-55D2-FCDB-E1E9-B74011C40416}"/>
              </a:ext>
            </a:extLst>
          </p:cNvPr>
          <p:cNvGraphicFramePr>
            <a:graphicFrameLocks noGrp="1"/>
          </p:cNvGraphicFramePr>
          <p:nvPr>
            <p:extLst>
              <p:ext uri="{D42A27DB-BD31-4B8C-83A1-F6EECF244321}">
                <p14:modId xmlns:p14="http://schemas.microsoft.com/office/powerpoint/2010/main" val="2106411684"/>
              </p:ext>
            </p:extLst>
          </p:nvPr>
        </p:nvGraphicFramePr>
        <p:xfrm>
          <a:off x="945223" y="633573"/>
          <a:ext cx="10644027" cy="3763768"/>
        </p:xfrm>
        <a:graphic>
          <a:graphicData uri="http://schemas.openxmlformats.org/drawingml/2006/table">
            <a:tbl>
              <a:tblPr/>
              <a:tblGrid>
                <a:gridCol w="4779947">
                  <a:extLst>
                    <a:ext uri="{9D8B030D-6E8A-4147-A177-3AD203B41FA5}">
                      <a16:colId xmlns:a16="http://schemas.microsoft.com/office/drawing/2014/main" val="20000"/>
                    </a:ext>
                  </a:extLst>
                </a:gridCol>
                <a:gridCol w="2256572">
                  <a:extLst>
                    <a:ext uri="{9D8B030D-6E8A-4147-A177-3AD203B41FA5}">
                      <a16:colId xmlns:a16="http://schemas.microsoft.com/office/drawing/2014/main" val="20001"/>
                    </a:ext>
                  </a:extLst>
                </a:gridCol>
                <a:gridCol w="1533191">
                  <a:extLst>
                    <a:ext uri="{9D8B030D-6E8A-4147-A177-3AD203B41FA5}">
                      <a16:colId xmlns:a16="http://schemas.microsoft.com/office/drawing/2014/main" val="20002"/>
                    </a:ext>
                  </a:extLst>
                </a:gridCol>
                <a:gridCol w="360751">
                  <a:extLst>
                    <a:ext uri="{9D8B030D-6E8A-4147-A177-3AD203B41FA5}">
                      <a16:colId xmlns:a16="http://schemas.microsoft.com/office/drawing/2014/main" val="20003"/>
                    </a:ext>
                  </a:extLst>
                </a:gridCol>
                <a:gridCol w="1713566">
                  <a:extLst>
                    <a:ext uri="{9D8B030D-6E8A-4147-A177-3AD203B41FA5}">
                      <a16:colId xmlns:a16="http://schemas.microsoft.com/office/drawing/2014/main" val="20004"/>
                    </a:ext>
                  </a:extLst>
                </a:gridCol>
              </a:tblGrid>
              <a:tr h="66550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550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Arial" panose="020B0604020202020204" pitchFamily="34" charset="0"/>
                          <a:cs typeface="Noto Sans CJK SC" charset="0"/>
                        </a:rPr>
                        <a:t>Ex.2: MOV DX, 37H[DI]</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DX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7000H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B2A2H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7392">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66550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37H is 8 bit displacement</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DI</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5000H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37392">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66550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5000H + 37H = 5037H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DS:5037H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A2H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LS byte</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626956">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DS:5038H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B2H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dirty="0">
                          <a:ln>
                            <a:noFill/>
                          </a:ln>
                          <a:solidFill>
                            <a:srgbClr val="000000"/>
                          </a:solidFill>
                          <a:effectLst/>
                          <a:latin typeface="Arial" panose="020B0604020202020204" pitchFamily="34" charset="0"/>
                          <a:cs typeface="Noto Sans CJK SC" charset="0"/>
                        </a:rPr>
                        <a:t>MS byte</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F049FB38-EB6C-04FA-01D4-D06FBDADCECF}"/>
              </a:ext>
            </a:extLst>
          </p:cNvPr>
          <p:cNvSpPr txBox="1"/>
          <p:nvPr/>
        </p:nvSpPr>
        <p:spPr>
          <a:xfrm>
            <a:off x="1107039" y="4696035"/>
            <a:ext cx="10644027" cy="1672253"/>
          </a:xfrm>
          <a:prstGeom prst="rect">
            <a:avLst/>
          </a:prstGeom>
          <a:noFill/>
        </p:spPr>
        <p:txBody>
          <a:bodyPr wrap="square">
            <a:spAutoFit/>
          </a:bodyPr>
          <a:lstStyle/>
          <a:p>
            <a:pPr eaLnBrk="1" hangingPunct="1">
              <a:spcBef>
                <a:spcPts val="800"/>
              </a:spcBef>
              <a:buFont typeface="Arial" panose="020B0604020202020204" pitchFamily="34" charset="0"/>
              <a:buChar char="•"/>
            </a:pPr>
            <a:r>
              <a:rPr lang="en-US" altLang="en-US" sz="3200" dirty="0">
                <a:solidFill>
                  <a:srgbClr val="000000"/>
                </a:solidFill>
                <a:latin typeface="Calibri" panose="020F0502020204030204" pitchFamily="34" charset="0"/>
              </a:rPr>
              <a:t>Index register can only be SI or DI</a:t>
            </a:r>
          </a:p>
          <a:p>
            <a:pPr eaLnBrk="1" hangingPunct="1">
              <a:spcBef>
                <a:spcPts val="800"/>
              </a:spcBef>
              <a:buFont typeface="Arial" panose="020B0604020202020204" pitchFamily="34" charset="0"/>
              <a:buChar char="•"/>
            </a:pPr>
            <a:r>
              <a:rPr lang="en-US" altLang="en-US" sz="3200" dirty="0">
                <a:solidFill>
                  <a:srgbClr val="000000"/>
                </a:solidFill>
                <a:latin typeface="Calibri" panose="020F0502020204030204" pitchFamily="34" charset="0"/>
              </a:rPr>
              <a:t>Indexed Addressing with displacement provides 4 ways of addressing an operand in memory</a:t>
            </a:r>
          </a:p>
        </p:txBody>
      </p:sp>
    </p:spTree>
    <p:extLst>
      <p:ext uri="{BB962C8B-B14F-4D97-AF65-F5344CB8AC3E}">
        <p14:creationId xmlns:p14="http://schemas.microsoft.com/office/powerpoint/2010/main" val="2474692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B278E-B6CD-8288-1206-23DF92A3BE4B}"/>
              </a:ext>
            </a:extLst>
          </p:cNvPr>
          <p:cNvSpPr>
            <a:spLocks noGrp="1"/>
          </p:cNvSpPr>
          <p:nvPr>
            <p:ph type="title"/>
          </p:nvPr>
        </p:nvSpPr>
        <p:spPr/>
        <p:txBody>
          <a:bodyPr/>
          <a:lstStyle/>
          <a:p>
            <a:r>
              <a:rPr lang="en-US" altLang="en-US" sz="4400" dirty="0">
                <a:solidFill>
                  <a:srgbClr val="000099"/>
                </a:solidFill>
                <a:latin typeface="Calibri" panose="020F0502020204030204" pitchFamily="34" charset="0"/>
              </a:rPr>
              <a:t>Based Indexed Addressing</a:t>
            </a:r>
            <a:endParaRPr lang="en-IN" dirty="0"/>
          </a:p>
        </p:txBody>
      </p:sp>
      <p:sp>
        <p:nvSpPr>
          <p:cNvPr id="3" name="Content Placeholder 2">
            <a:extLst>
              <a:ext uri="{FF2B5EF4-FFF2-40B4-BE49-F238E27FC236}">
                <a16:creationId xmlns:a16="http://schemas.microsoft.com/office/drawing/2014/main" id="{C36D2C1D-C9C5-3313-51A3-A91D3AB6C8A9}"/>
              </a:ext>
            </a:extLst>
          </p:cNvPr>
          <p:cNvSpPr>
            <a:spLocks noGrp="1"/>
          </p:cNvSpPr>
          <p:nvPr>
            <p:ph idx="1"/>
          </p:nvPr>
        </p:nvSpPr>
        <p:spPr/>
        <p:txBody>
          <a:bodyPr/>
          <a:lstStyle/>
          <a:p>
            <a:r>
              <a:rPr lang="en-US" altLang="en-US" sz="2800" dirty="0">
                <a:solidFill>
                  <a:schemeClr val="tx1"/>
                </a:solidFill>
              </a:rPr>
              <a:t>In this addressing mode, the offset address of the operand is computed by summing the base register to the contents of an Index register.</a:t>
            </a:r>
            <a:endParaRPr lang="en-IN" altLang="en-US" sz="2800" dirty="0">
              <a:solidFill>
                <a:schemeClr val="tx1"/>
              </a:solidFill>
            </a:endParaRPr>
          </a:p>
          <a:p>
            <a:endParaRPr lang="en-IN" dirty="0"/>
          </a:p>
        </p:txBody>
      </p:sp>
      <p:graphicFrame>
        <p:nvGraphicFramePr>
          <p:cNvPr id="4" name="Group 2">
            <a:extLst>
              <a:ext uri="{FF2B5EF4-FFF2-40B4-BE49-F238E27FC236}">
                <a16:creationId xmlns:a16="http://schemas.microsoft.com/office/drawing/2014/main" id="{3F34C639-878C-53AE-CA25-A60F3D9C717D}"/>
              </a:ext>
            </a:extLst>
          </p:cNvPr>
          <p:cNvGraphicFramePr>
            <a:graphicFrameLocks noGrp="1"/>
          </p:cNvGraphicFramePr>
          <p:nvPr>
            <p:extLst>
              <p:ext uri="{D42A27DB-BD31-4B8C-83A1-F6EECF244321}">
                <p14:modId xmlns:p14="http://schemas.microsoft.com/office/powerpoint/2010/main" val="1011092390"/>
              </p:ext>
            </p:extLst>
          </p:nvPr>
        </p:nvGraphicFramePr>
        <p:xfrm>
          <a:off x="1433370" y="2976295"/>
          <a:ext cx="8537575" cy="3100390"/>
        </p:xfrm>
        <a:graphic>
          <a:graphicData uri="http://schemas.openxmlformats.org/drawingml/2006/table">
            <a:tbl>
              <a:tblPr/>
              <a:tblGrid>
                <a:gridCol w="4191779">
                  <a:extLst>
                    <a:ext uri="{9D8B030D-6E8A-4147-A177-3AD203B41FA5}">
                      <a16:colId xmlns:a16="http://schemas.microsoft.com/office/drawing/2014/main" val="20000"/>
                    </a:ext>
                  </a:extLst>
                </a:gridCol>
                <a:gridCol w="1906942">
                  <a:extLst>
                    <a:ext uri="{9D8B030D-6E8A-4147-A177-3AD203B41FA5}">
                      <a16:colId xmlns:a16="http://schemas.microsoft.com/office/drawing/2014/main" val="20001"/>
                    </a:ext>
                  </a:extLst>
                </a:gridCol>
                <a:gridCol w="1219427">
                  <a:extLst>
                    <a:ext uri="{9D8B030D-6E8A-4147-A177-3AD203B41FA5}">
                      <a16:colId xmlns:a16="http://schemas.microsoft.com/office/drawing/2014/main" val="20002"/>
                    </a:ext>
                  </a:extLst>
                </a:gridCol>
                <a:gridCol w="231818">
                  <a:extLst>
                    <a:ext uri="{9D8B030D-6E8A-4147-A177-3AD203B41FA5}">
                      <a16:colId xmlns:a16="http://schemas.microsoft.com/office/drawing/2014/main" val="20003"/>
                    </a:ext>
                  </a:extLst>
                </a:gridCol>
                <a:gridCol w="987609">
                  <a:extLst>
                    <a:ext uri="{9D8B030D-6E8A-4147-A177-3AD203B41FA5}">
                      <a16:colId xmlns:a16="http://schemas.microsoft.com/office/drawing/2014/main" val="20004"/>
                    </a:ext>
                  </a:extLst>
                </a:gridCol>
              </a:tblGrid>
              <a:tr h="4905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dirty="0">
                        <a:ln>
                          <a:noFill/>
                        </a:ln>
                        <a:solidFill>
                          <a:srgbClr val="000000"/>
                        </a:solidFill>
                        <a:effectLst/>
                        <a:latin typeface="Arial" panose="020B0604020202020204" pitchFamily="34"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17" marR="90017"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After</a:t>
                      </a:r>
                    </a:p>
                  </a:txBody>
                  <a:tcPr marL="90017" marR="90017"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05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Ex1:MOV CL,[SI][BX]</a:t>
                      </a: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CL</a:t>
                      </a:r>
                    </a:p>
                  </a:txBody>
                  <a:tcPr marL="90017" marR="90017"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40H</a:t>
                      </a:r>
                    </a:p>
                  </a:txBody>
                  <a:tcPr marL="90017" marR="90017"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17" marR="90017"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67H</a:t>
                      </a:r>
                    </a:p>
                  </a:txBody>
                  <a:tcPr marL="90017" marR="90017"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SI </a:t>
                      </a:r>
                    </a:p>
                  </a:txBody>
                  <a:tcPr marL="90017" marR="90017"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2000H</a:t>
                      </a:r>
                    </a:p>
                  </a:txBody>
                  <a:tcPr marL="90017" marR="90017"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BX</a:t>
                      </a:r>
                    </a:p>
                  </a:txBody>
                  <a:tcPr marL="90017" marR="90017"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0300H</a:t>
                      </a:r>
                    </a:p>
                  </a:txBody>
                  <a:tcPr marL="90017" marR="90017"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2000H+0300H=2300H</a:t>
                      </a:r>
                    </a:p>
                  </a:txBody>
                  <a:tcPr marL="90017" marR="90017"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DS:2300H</a:t>
                      </a:r>
                    </a:p>
                  </a:txBody>
                  <a:tcPr marL="90017" marR="90017"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67H</a:t>
                      </a:r>
                    </a:p>
                  </a:txBody>
                  <a:tcPr marL="90017" marR="90017"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17" marR="90017"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dirty="0">
                        <a:ln>
                          <a:noFill/>
                        </a:ln>
                        <a:solidFill>
                          <a:srgbClr val="000000"/>
                        </a:solidFill>
                        <a:effectLst/>
                        <a:latin typeface="Arial" panose="020B0604020202020204" pitchFamily="34" charset="0"/>
                        <a:cs typeface="Noto Sans CJK SC" charset="0"/>
                      </a:endParaRPr>
                    </a:p>
                  </a:txBody>
                  <a:tcPr marL="90017" marR="90017"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46962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80F63431-6565-03F1-85CD-0F5502864D4F}"/>
              </a:ext>
            </a:extLst>
          </p:cNvPr>
          <p:cNvGraphicFramePr>
            <a:graphicFrameLocks noGrp="1"/>
          </p:cNvGraphicFramePr>
          <p:nvPr>
            <p:extLst>
              <p:ext uri="{D42A27DB-BD31-4B8C-83A1-F6EECF244321}">
                <p14:modId xmlns:p14="http://schemas.microsoft.com/office/powerpoint/2010/main" val="222353269"/>
              </p:ext>
            </p:extLst>
          </p:nvPr>
        </p:nvGraphicFramePr>
        <p:xfrm>
          <a:off x="845050" y="821932"/>
          <a:ext cx="9675687" cy="3497825"/>
        </p:xfrm>
        <a:graphic>
          <a:graphicData uri="http://schemas.openxmlformats.org/drawingml/2006/table">
            <a:tbl>
              <a:tblPr/>
              <a:tblGrid>
                <a:gridCol w="4371598">
                  <a:extLst>
                    <a:ext uri="{9D8B030D-6E8A-4147-A177-3AD203B41FA5}">
                      <a16:colId xmlns:a16="http://schemas.microsoft.com/office/drawing/2014/main" val="20000"/>
                    </a:ext>
                  </a:extLst>
                </a:gridCol>
                <a:gridCol w="2224580">
                  <a:extLst>
                    <a:ext uri="{9D8B030D-6E8A-4147-A177-3AD203B41FA5}">
                      <a16:colId xmlns:a16="http://schemas.microsoft.com/office/drawing/2014/main" val="20001"/>
                    </a:ext>
                  </a:extLst>
                </a:gridCol>
                <a:gridCol w="1404905">
                  <a:extLst>
                    <a:ext uri="{9D8B030D-6E8A-4147-A177-3AD203B41FA5}">
                      <a16:colId xmlns:a16="http://schemas.microsoft.com/office/drawing/2014/main" val="20002"/>
                    </a:ext>
                  </a:extLst>
                </a:gridCol>
                <a:gridCol w="239733">
                  <a:extLst>
                    <a:ext uri="{9D8B030D-6E8A-4147-A177-3AD203B41FA5}">
                      <a16:colId xmlns:a16="http://schemas.microsoft.com/office/drawing/2014/main" val="20003"/>
                    </a:ext>
                  </a:extLst>
                </a:gridCol>
                <a:gridCol w="1434871">
                  <a:extLst>
                    <a:ext uri="{9D8B030D-6E8A-4147-A177-3AD203B41FA5}">
                      <a16:colId xmlns:a16="http://schemas.microsoft.com/office/drawing/2014/main" val="20004"/>
                    </a:ext>
                  </a:extLst>
                </a:gridCol>
              </a:tblGrid>
              <a:tr h="3982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2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Ex2:MOV CX,[BP][DI]</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CX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6000H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6385H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817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dirty="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3982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BP </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3000H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42042">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982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DI</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0020H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18817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3982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3000H+0020H=3020H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SS:3020H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85H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LS byte</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3982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dirty="0">
                          <a:ln>
                            <a:noFill/>
                          </a:ln>
                          <a:solidFill>
                            <a:srgbClr val="000000"/>
                          </a:solidFill>
                          <a:effectLst/>
                          <a:latin typeface="Arial" panose="020B0604020202020204" pitchFamily="34" charset="0"/>
                          <a:cs typeface="Noto Sans CJK SC" charset="0"/>
                        </a:rPr>
                        <a:t>It is SS when BP is used</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SS:3021H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63H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57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300" b="0" i="0" u="none" strike="noStrike" cap="none" normalizeH="0" baseline="0" dirty="0">
                          <a:ln>
                            <a:noFill/>
                          </a:ln>
                          <a:solidFill>
                            <a:srgbClr val="000000"/>
                          </a:solidFill>
                          <a:effectLst/>
                          <a:latin typeface="Arial" panose="020B0604020202020204" pitchFamily="34" charset="0"/>
                          <a:cs typeface="Noto Sans CJK SC" charset="0"/>
                        </a:rPr>
                        <a:t>MS byte</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 name="TextBox 5">
            <a:extLst>
              <a:ext uri="{FF2B5EF4-FFF2-40B4-BE49-F238E27FC236}">
                <a16:creationId xmlns:a16="http://schemas.microsoft.com/office/drawing/2014/main" id="{4E72DD74-847E-32F4-8B7E-53C18C770189}"/>
              </a:ext>
            </a:extLst>
          </p:cNvPr>
          <p:cNvSpPr txBox="1"/>
          <p:nvPr/>
        </p:nvSpPr>
        <p:spPr>
          <a:xfrm>
            <a:off x="845049" y="4624595"/>
            <a:ext cx="10590087" cy="1405513"/>
          </a:xfrm>
          <a:prstGeom prst="rect">
            <a:avLst/>
          </a:prstGeom>
          <a:noFill/>
        </p:spPr>
        <p:txBody>
          <a:bodyPr wrap="square">
            <a:spAutoFit/>
          </a:bodyPr>
          <a:lstStyle/>
          <a:p>
            <a:pPr eaLnBrk="1" hangingPunct="1">
              <a:spcBef>
                <a:spcPts val="800"/>
              </a:spcBef>
              <a:buFont typeface="Arial" panose="020B0604020202020204" pitchFamily="34" charset="0"/>
              <a:buChar char="•"/>
            </a:pPr>
            <a:r>
              <a:rPr lang="en-US" altLang="en-US" sz="2400" dirty="0">
                <a:solidFill>
                  <a:srgbClr val="000000"/>
                </a:solidFill>
                <a:latin typeface="Calibri" panose="020F0502020204030204" pitchFamily="34" charset="0"/>
              </a:rPr>
              <a:t>Based Index Addressing Provides 4 ways of addressing an operand in memory</a:t>
            </a:r>
          </a:p>
          <a:p>
            <a:pPr eaLnBrk="1" hangingPunct="1">
              <a:spcBef>
                <a:spcPts val="800"/>
              </a:spcBef>
              <a:buFont typeface="Arial" panose="020B0604020202020204" pitchFamily="34" charset="0"/>
              <a:buChar char="•"/>
            </a:pPr>
            <a:r>
              <a:rPr lang="en-US" altLang="en-US" sz="2400" dirty="0">
                <a:solidFill>
                  <a:srgbClr val="000000"/>
                </a:solidFill>
                <a:latin typeface="Calibri" panose="020F0502020204030204" pitchFamily="34" charset="0"/>
              </a:rPr>
              <a:t>One Register must be a Base register and the other must be an Index register</a:t>
            </a:r>
          </a:p>
          <a:p>
            <a:pPr eaLnBrk="1" hangingPunct="1">
              <a:spcBef>
                <a:spcPts val="800"/>
              </a:spcBef>
              <a:buFont typeface="Arial" panose="020B0604020202020204" pitchFamily="34" charset="0"/>
              <a:buChar char="•"/>
            </a:pPr>
            <a:r>
              <a:rPr lang="en-US" altLang="en-US" sz="2400" dirty="0">
                <a:solidFill>
                  <a:srgbClr val="000000"/>
                </a:solidFill>
                <a:latin typeface="Calibri" panose="020F0502020204030204" pitchFamily="34" charset="0"/>
              </a:rPr>
              <a:t>For ex. MOV CX, [BX][BP] is an invalid instruction</a:t>
            </a:r>
          </a:p>
        </p:txBody>
      </p:sp>
    </p:spTree>
    <p:extLst>
      <p:ext uri="{BB962C8B-B14F-4D97-AF65-F5344CB8AC3E}">
        <p14:creationId xmlns:p14="http://schemas.microsoft.com/office/powerpoint/2010/main" val="2158872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6D46D-EB32-12B3-58B4-EBB6D229D7C4}"/>
              </a:ext>
            </a:extLst>
          </p:cNvPr>
          <p:cNvSpPr>
            <a:spLocks noGrp="1"/>
          </p:cNvSpPr>
          <p:nvPr>
            <p:ph type="title"/>
          </p:nvPr>
        </p:nvSpPr>
        <p:spPr/>
        <p:txBody>
          <a:bodyPr/>
          <a:lstStyle/>
          <a:p>
            <a:r>
              <a:rPr lang="en-US" altLang="en-US" sz="4400" dirty="0">
                <a:solidFill>
                  <a:srgbClr val="000099"/>
                </a:solidFill>
                <a:latin typeface="Calibri" panose="020F0502020204030204" pitchFamily="34" charset="0"/>
              </a:rPr>
              <a:t>Based Indexed Addressing with Displacement</a:t>
            </a:r>
            <a:endParaRPr lang="en-IN" dirty="0"/>
          </a:p>
        </p:txBody>
      </p:sp>
      <p:sp>
        <p:nvSpPr>
          <p:cNvPr id="3" name="Content Placeholder 2">
            <a:extLst>
              <a:ext uri="{FF2B5EF4-FFF2-40B4-BE49-F238E27FC236}">
                <a16:creationId xmlns:a16="http://schemas.microsoft.com/office/drawing/2014/main" id="{59BF1AF4-D25C-AC9A-5DF9-69F5EE111593}"/>
              </a:ext>
            </a:extLst>
          </p:cNvPr>
          <p:cNvSpPr>
            <a:spLocks noGrp="1"/>
          </p:cNvSpPr>
          <p:nvPr>
            <p:ph idx="1"/>
          </p:nvPr>
        </p:nvSpPr>
        <p:spPr/>
        <p:txBody>
          <a:bodyPr/>
          <a:lstStyle/>
          <a:p>
            <a:r>
              <a:rPr lang="en-US" altLang="en-US" sz="2800" dirty="0">
                <a:solidFill>
                  <a:schemeClr val="tx1"/>
                </a:solidFill>
              </a:rPr>
              <a:t>In this addressing mode, the operands offset is computed by adding the base register contents. An Index registers contents and 8 or 16-bit displacement</a:t>
            </a:r>
            <a:endParaRPr lang="en-IN" dirty="0"/>
          </a:p>
        </p:txBody>
      </p:sp>
      <p:graphicFrame>
        <p:nvGraphicFramePr>
          <p:cNvPr id="4" name="Group 2">
            <a:extLst>
              <a:ext uri="{FF2B5EF4-FFF2-40B4-BE49-F238E27FC236}">
                <a16:creationId xmlns:a16="http://schemas.microsoft.com/office/drawing/2014/main" id="{D209C011-64E9-1B45-9891-341435381C77}"/>
              </a:ext>
            </a:extLst>
          </p:cNvPr>
          <p:cNvGraphicFramePr>
            <a:graphicFrameLocks noGrp="1"/>
          </p:cNvGraphicFramePr>
          <p:nvPr>
            <p:extLst>
              <p:ext uri="{D42A27DB-BD31-4B8C-83A1-F6EECF244321}">
                <p14:modId xmlns:p14="http://schemas.microsoft.com/office/powerpoint/2010/main" val="312787071"/>
              </p:ext>
            </p:extLst>
          </p:nvPr>
        </p:nvGraphicFramePr>
        <p:xfrm>
          <a:off x="1539286" y="2867488"/>
          <a:ext cx="8531225" cy="3813945"/>
        </p:xfrm>
        <a:graphic>
          <a:graphicData uri="http://schemas.openxmlformats.org/drawingml/2006/table">
            <a:tbl>
              <a:tblPr/>
              <a:tblGrid>
                <a:gridCol w="4377642">
                  <a:extLst>
                    <a:ext uri="{9D8B030D-6E8A-4147-A177-3AD203B41FA5}">
                      <a16:colId xmlns:a16="http://schemas.microsoft.com/office/drawing/2014/main" val="20000"/>
                    </a:ext>
                  </a:extLst>
                </a:gridCol>
                <a:gridCol w="1705936">
                  <a:extLst>
                    <a:ext uri="{9D8B030D-6E8A-4147-A177-3AD203B41FA5}">
                      <a16:colId xmlns:a16="http://schemas.microsoft.com/office/drawing/2014/main" val="20001"/>
                    </a:ext>
                  </a:extLst>
                </a:gridCol>
                <a:gridCol w="1260909">
                  <a:extLst>
                    <a:ext uri="{9D8B030D-6E8A-4147-A177-3AD203B41FA5}">
                      <a16:colId xmlns:a16="http://schemas.microsoft.com/office/drawing/2014/main" val="20002"/>
                    </a:ext>
                  </a:extLst>
                </a:gridCol>
                <a:gridCol w="222513">
                  <a:extLst>
                    <a:ext uri="{9D8B030D-6E8A-4147-A177-3AD203B41FA5}">
                      <a16:colId xmlns:a16="http://schemas.microsoft.com/office/drawing/2014/main" val="20003"/>
                    </a:ext>
                  </a:extLst>
                </a:gridCol>
                <a:gridCol w="964225">
                  <a:extLst>
                    <a:ext uri="{9D8B030D-6E8A-4147-A177-3AD203B41FA5}">
                      <a16:colId xmlns:a16="http://schemas.microsoft.com/office/drawing/2014/main" val="20004"/>
                    </a:ext>
                  </a:extLst>
                </a:gridCol>
              </a:tblGrid>
              <a:tr h="490351">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Before</a:t>
                      </a:r>
                    </a:p>
                  </a:txBody>
                  <a:tcPr marL="89987" marR="89987" marT="46788" marB="46788"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After</a:t>
                      </a:r>
                    </a:p>
                  </a:txBody>
                  <a:tcPr marL="89987" marR="89987" marT="46788" marB="46788"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87126">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Ex1: MOV DL, 37H[BX+DI]</a:t>
                      </a: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DL</a:t>
                      </a:r>
                    </a:p>
                  </a:txBody>
                  <a:tcPr marL="89987" marR="89987" marT="46788" marB="46788"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40H</a:t>
                      </a:r>
                    </a:p>
                  </a:txBody>
                  <a:tcPr marL="89987" marR="89987" marT="46788" marB="46788"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dirty="0">
                        <a:ln>
                          <a:noFill/>
                        </a:ln>
                        <a:solidFill>
                          <a:srgbClr val="000000"/>
                        </a:solidFill>
                        <a:effectLst/>
                        <a:latin typeface="Arial" panose="020B0604020202020204" pitchFamily="34" charset="0"/>
                        <a:cs typeface="Noto Sans CJK SC" charset="0"/>
                      </a:endParaRPr>
                    </a:p>
                  </a:txBody>
                  <a:tcPr marL="89987" marR="89987" marT="46788" marB="46788"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Arial" panose="020B0604020202020204" pitchFamily="34" charset="0"/>
                          <a:cs typeface="Noto Sans CJK SC" charset="0"/>
                        </a:rPr>
                        <a:t>12H</a:t>
                      </a:r>
                    </a:p>
                  </a:txBody>
                  <a:tcPr marL="89987" marR="89987" marT="46788" marB="46788"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8582">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90351">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Arial" panose="020B0604020202020204" pitchFamily="34" charset="0"/>
                          <a:cs typeface="Noto Sans CJK SC" charset="0"/>
                        </a:rPr>
                        <a:t>37H is 8-bit Displacement</a:t>
                      </a: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BX</a:t>
                      </a:r>
                    </a:p>
                  </a:txBody>
                  <a:tcPr marL="89987" marR="89987" marT="46788" marB="46788"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2000H</a:t>
                      </a:r>
                    </a:p>
                  </a:txBody>
                  <a:tcPr marL="89987" marR="89987" marT="46788" marB="46788"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89987" marR="89987" marT="46788" marB="46788"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78582">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90351">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DI</a:t>
                      </a:r>
                    </a:p>
                  </a:txBody>
                  <a:tcPr marL="89987" marR="89987" marT="46788" marB="46788"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0050H</a:t>
                      </a:r>
                    </a:p>
                  </a:txBody>
                  <a:tcPr marL="89987" marR="89987" marT="46788" marB="46788"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89987" marR="89987" marT="46788" marB="46788"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178582">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919249">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2000H+0050H+37H=2087H</a:t>
                      </a:r>
                    </a:p>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Mov 37H[BX+DI],DL</a:t>
                      </a:r>
                    </a:p>
                  </a:txBody>
                  <a:tcPr marL="89987" marR="89987" marT="46788" marB="46788"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DS:2087H</a:t>
                      </a:r>
                    </a:p>
                  </a:txBody>
                  <a:tcPr marL="89987" marR="89987" marT="46788" marB="46788"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12H</a:t>
                      </a:r>
                    </a:p>
                  </a:txBody>
                  <a:tcPr marL="89987" marR="89987" marT="46788" marB="46788"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89987" marR="89987" marT="46788" marB="46788"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dirty="0">
                        <a:ln>
                          <a:noFill/>
                        </a:ln>
                        <a:solidFill>
                          <a:srgbClr val="000000"/>
                        </a:solidFill>
                        <a:effectLst/>
                        <a:latin typeface="Arial" panose="020B0604020202020204" pitchFamily="34" charset="0"/>
                        <a:cs typeface="Noto Sans CJK SC" charset="0"/>
                      </a:endParaRPr>
                    </a:p>
                  </a:txBody>
                  <a:tcPr marL="89987" marR="89987" marT="46788" marB="46788"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407635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BA741870-89E9-4A66-8D11-115EC801791B}"/>
              </a:ext>
            </a:extLst>
          </p:cNvPr>
          <p:cNvGraphicFramePr>
            <a:graphicFrameLocks noGrp="1"/>
          </p:cNvGraphicFramePr>
          <p:nvPr>
            <p:extLst>
              <p:ext uri="{D42A27DB-BD31-4B8C-83A1-F6EECF244321}">
                <p14:modId xmlns:p14="http://schemas.microsoft.com/office/powerpoint/2010/main" val="898832854"/>
              </p:ext>
            </p:extLst>
          </p:nvPr>
        </p:nvGraphicFramePr>
        <p:xfrm>
          <a:off x="863029" y="659062"/>
          <a:ext cx="8916988" cy="3657598"/>
        </p:xfrm>
        <a:graphic>
          <a:graphicData uri="http://schemas.openxmlformats.org/drawingml/2006/table">
            <a:tbl>
              <a:tblPr/>
              <a:tblGrid>
                <a:gridCol w="4114800">
                  <a:extLst>
                    <a:ext uri="{9D8B030D-6E8A-4147-A177-3AD203B41FA5}">
                      <a16:colId xmlns:a16="http://schemas.microsoft.com/office/drawing/2014/main" val="20000"/>
                    </a:ext>
                  </a:extLst>
                </a:gridCol>
                <a:gridCol w="1906588">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228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9053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0537">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dirty="0">
                          <a:ln>
                            <a:noFill/>
                          </a:ln>
                          <a:solidFill>
                            <a:srgbClr val="000000"/>
                          </a:solidFill>
                          <a:effectLst/>
                          <a:latin typeface="Arial" panose="020B0604020202020204" pitchFamily="34" charset="0"/>
                          <a:cs typeface="Noto Sans CJK SC" charset="0"/>
                        </a:rPr>
                        <a:t>Ex2: MOV BX,1234H[SI+BP]          BX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3000H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3665H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9053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Arial" panose="020B0604020202020204" pitchFamily="34" charset="0"/>
                          <a:cs typeface="Noto Sans CJK SC" charset="0"/>
                        </a:rPr>
                        <a:t>1234 is 16bit Displacement</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SI</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4000H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20699">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BP</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0020H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55403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2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500" b="0" i="0" u="none" strike="noStrike" cap="none" normalizeH="0" baseline="0">
                          <a:ln>
                            <a:noFill/>
                          </a:ln>
                          <a:solidFill>
                            <a:srgbClr val="000000"/>
                          </a:solidFill>
                          <a:effectLst/>
                          <a:latin typeface="Arial" panose="020B0604020202020204" pitchFamily="34" charset="0"/>
                          <a:cs typeface="Noto Sans CJK SC" charset="0"/>
                        </a:rPr>
                        <a:t>4000+0020+1234=5254H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2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500" b="0" i="0" u="none" strike="noStrike" cap="none" normalizeH="0" baseline="0">
                          <a:ln>
                            <a:noFill/>
                          </a:ln>
                          <a:solidFill>
                            <a:srgbClr val="000000"/>
                          </a:solidFill>
                          <a:effectLst/>
                          <a:latin typeface="Arial" panose="020B0604020202020204" pitchFamily="34" charset="0"/>
                          <a:cs typeface="Noto Sans CJK SC" charset="0"/>
                        </a:rPr>
                        <a:t>SS:5254H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2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500" b="0" i="0" u="none" strike="noStrike" cap="none" normalizeH="0" baseline="0">
                          <a:ln>
                            <a:noFill/>
                          </a:ln>
                          <a:solidFill>
                            <a:srgbClr val="000000"/>
                          </a:solidFill>
                          <a:effectLst/>
                          <a:latin typeface="Arial" panose="020B0604020202020204" pitchFamily="34" charset="0"/>
                          <a:cs typeface="Noto Sans CJK SC" charset="0"/>
                        </a:rPr>
                        <a:t>65H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2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5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2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500" b="0" i="0" u="none" strike="noStrike" cap="none" normalizeH="0" baseline="0">
                          <a:ln>
                            <a:noFill/>
                          </a:ln>
                          <a:solidFill>
                            <a:srgbClr val="000000"/>
                          </a:solidFill>
                          <a:effectLst/>
                          <a:latin typeface="Arial" panose="020B0604020202020204" pitchFamily="34" charset="0"/>
                          <a:cs typeface="Noto Sans CJK SC" charset="0"/>
                        </a:rPr>
                        <a:t>LS byte</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554037">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2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500" b="0" i="0" u="none" strike="noStrike" cap="none" normalizeH="0" baseline="0">
                          <a:ln>
                            <a:noFill/>
                          </a:ln>
                          <a:solidFill>
                            <a:srgbClr val="000000"/>
                          </a:solidFill>
                          <a:effectLst/>
                          <a:latin typeface="Arial" panose="020B0604020202020204" pitchFamily="34" charset="0"/>
                          <a:cs typeface="Noto Sans CJK SC" charset="0"/>
                        </a:rPr>
                        <a:t>It is SS when BP is used</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2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500" b="0" i="0" u="none" strike="noStrike" cap="none" normalizeH="0" baseline="0">
                          <a:ln>
                            <a:noFill/>
                          </a:ln>
                          <a:solidFill>
                            <a:srgbClr val="000000"/>
                          </a:solidFill>
                          <a:effectLst/>
                          <a:latin typeface="Arial" panose="020B0604020202020204" pitchFamily="34" charset="0"/>
                          <a:cs typeface="Noto Sans CJK SC" charset="0"/>
                        </a:rPr>
                        <a:t>SS:5255H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2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500" b="0" i="0" u="none" strike="noStrike" cap="none" normalizeH="0" baseline="0">
                          <a:ln>
                            <a:noFill/>
                          </a:ln>
                          <a:solidFill>
                            <a:srgbClr val="000000"/>
                          </a:solidFill>
                          <a:effectLst/>
                          <a:latin typeface="Arial" panose="020B0604020202020204" pitchFamily="34" charset="0"/>
                          <a:cs typeface="Noto Sans CJK SC" charset="0"/>
                        </a:rPr>
                        <a:t>36H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2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5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2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500" b="0" i="0" u="none" strike="noStrike" cap="none" normalizeH="0" baseline="0" dirty="0">
                          <a:ln>
                            <a:noFill/>
                          </a:ln>
                          <a:solidFill>
                            <a:srgbClr val="000000"/>
                          </a:solidFill>
                          <a:effectLst/>
                          <a:latin typeface="Arial" panose="020B0604020202020204" pitchFamily="34" charset="0"/>
                          <a:cs typeface="Noto Sans CJK SC" charset="0"/>
                        </a:rPr>
                        <a:t>MS byte</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 name="TextBox 5">
            <a:extLst>
              <a:ext uri="{FF2B5EF4-FFF2-40B4-BE49-F238E27FC236}">
                <a16:creationId xmlns:a16="http://schemas.microsoft.com/office/drawing/2014/main" id="{C9890F78-5E85-39F5-EB0B-35A6189A0667}"/>
              </a:ext>
            </a:extLst>
          </p:cNvPr>
          <p:cNvSpPr txBox="1"/>
          <p:nvPr/>
        </p:nvSpPr>
        <p:spPr>
          <a:xfrm>
            <a:off x="1107040" y="4921590"/>
            <a:ext cx="10903449" cy="646331"/>
          </a:xfrm>
          <a:prstGeom prst="rect">
            <a:avLst/>
          </a:prstGeom>
          <a:noFill/>
        </p:spPr>
        <p:txBody>
          <a:bodyPr wrap="square">
            <a:spAutoFit/>
          </a:bodyPr>
          <a:lstStyle/>
          <a:p>
            <a:pPr eaLnBrk="1" hangingPunct="1">
              <a:spcBef>
                <a:spcPts val="800"/>
              </a:spcBef>
              <a:buFont typeface="Arial" panose="020B0604020202020204" pitchFamily="34" charset="0"/>
              <a:buChar char="•"/>
            </a:pPr>
            <a:r>
              <a:rPr lang="en-US" altLang="en-US" sz="3600" dirty="0">
                <a:solidFill>
                  <a:srgbClr val="000000"/>
                </a:solidFill>
                <a:latin typeface="Calibri" panose="020F0502020204030204" pitchFamily="34" charset="0"/>
              </a:rPr>
              <a:t>Provides 8 ways of addressing an operand in memory</a:t>
            </a:r>
          </a:p>
        </p:txBody>
      </p:sp>
    </p:spTree>
    <p:extLst>
      <p:ext uri="{BB962C8B-B14F-4D97-AF65-F5344CB8AC3E}">
        <p14:creationId xmlns:p14="http://schemas.microsoft.com/office/powerpoint/2010/main" val="743676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3D2DAA18-1F5D-F4BD-47FF-082686E58940}"/>
              </a:ext>
            </a:extLst>
          </p:cNvPr>
          <p:cNvGraphicFramePr>
            <a:graphicFrameLocks noGrp="1"/>
          </p:cNvGraphicFramePr>
          <p:nvPr>
            <p:extLst>
              <p:ext uri="{D42A27DB-BD31-4B8C-83A1-F6EECF244321}">
                <p14:modId xmlns:p14="http://schemas.microsoft.com/office/powerpoint/2010/main" val="3417371310"/>
              </p:ext>
            </p:extLst>
          </p:nvPr>
        </p:nvGraphicFramePr>
        <p:xfrm>
          <a:off x="1241461" y="2361345"/>
          <a:ext cx="9709078" cy="4337409"/>
        </p:xfrm>
        <a:graphic>
          <a:graphicData uri="http://schemas.openxmlformats.org/drawingml/2006/table">
            <a:tbl>
              <a:tblPr/>
              <a:tblGrid>
                <a:gridCol w="3478483">
                  <a:extLst>
                    <a:ext uri="{9D8B030D-6E8A-4147-A177-3AD203B41FA5}">
                      <a16:colId xmlns:a16="http://schemas.microsoft.com/office/drawing/2014/main" val="20000"/>
                    </a:ext>
                  </a:extLst>
                </a:gridCol>
                <a:gridCol w="889844">
                  <a:extLst>
                    <a:ext uri="{9D8B030D-6E8A-4147-A177-3AD203B41FA5}">
                      <a16:colId xmlns:a16="http://schemas.microsoft.com/office/drawing/2014/main" val="20001"/>
                    </a:ext>
                  </a:extLst>
                </a:gridCol>
                <a:gridCol w="972425">
                  <a:extLst>
                    <a:ext uri="{9D8B030D-6E8A-4147-A177-3AD203B41FA5}">
                      <a16:colId xmlns:a16="http://schemas.microsoft.com/office/drawing/2014/main" val="20002"/>
                    </a:ext>
                  </a:extLst>
                </a:gridCol>
                <a:gridCol w="808949">
                  <a:extLst>
                    <a:ext uri="{9D8B030D-6E8A-4147-A177-3AD203B41FA5}">
                      <a16:colId xmlns:a16="http://schemas.microsoft.com/office/drawing/2014/main" val="20003"/>
                    </a:ext>
                  </a:extLst>
                </a:gridCol>
                <a:gridCol w="3559377">
                  <a:extLst>
                    <a:ext uri="{9D8B030D-6E8A-4147-A177-3AD203B41FA5}">
                      <a16:colId xmlns:a16="http://schemas.microsoft.com/office/drawing/2014/main" val="20004"/>
                    </a:ext>
                  </a:extLst>
                </a:gridCol>
              </a:tblGrid>
              <a:tr h="884491">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dirty="0">
                          <a:ln>
                            <a:noFill/>
                          </a:ln>
                          <a:solidFill>
                            <a:srgbClr val="000000"/>
                          </a:solidFill>
                          <a:effectLst/>
                          <a:latin typeface="Times New Roman" panose="02020603050405020304" pitchFamily="18" charset="0"/>
                          <a:cs typeface="Noto Sans CJK SC" charset="0"/>
                        </a:rPr>
                        <a:t>Instruction</a:t>
                      </a:r>
                    </a:p>
                  </a:txBody>
                  <a:tcPr marL="90000" marR="90000" marT="46800" marB="46800" horzOverflow="overflow">
                    <a:lnL w="1368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1368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Base Reg. </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1368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Index Reg.</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1368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Disp</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1368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Addressing Mode</a:t>
                      </a:r>
                    </a:p>
                  </a:txBody>
                  <a:tcPr marL="90000" marR="90000" marT="46800" marB="46800" horzOverflow="overflow">
                    <a:lnL w="5760" cap="flat" cmpd="sng" algn="ctr">
                      <a:solidFill>
                        <a:srgbClr val="000000"/>
                      </a:solidFill>
                      <a:prstDash val="solid"/>
                      <a:round/>
                      <a:headEnd type="none" w="med" len="med"/>
                      <a:tailEnd type="none" w="med" len="med"/>
                    </a:lnL>
                    <a:lnR w="13680" cap="flat" cmpd="sng" algn="ctr">
                      <a:solidFill>
                        <a:srgbClr val="000000"/>
                      </a:solidFill>
                      <a:prstDash val="solid"/>
                      <a:round/>
                      <a:headEnd type="none" w="med" len="med"/>
                      <a:tailEnd type="none" w="med" len="med"/>
                    </a:lnR>
                    <a:lnT w="1368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327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MOV BX, DS:5634H</a:t>
                      </a:r>
                    </a:p>
                  </a:txBody>
                  <a:tcPr marL="90000" marR="90000" marT="46800" marB="46800" horzOverflow="overflow">
                    <a:lnL w="1368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No</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No</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Direct Addressing</a:t>
                      </a:r>
                    </a:p>
                  </a:txBody>
                  <a:tcPr marL="90000" marR="90000" marT="46800" marB="46800" horzOverflow="overflow">
                    <a:lnL w="5760" cap="flat" cmpd="sng" algn="ctr">
                      <a:solidFill>
                        <a:srgbClr val="000000"/>
                      </a:solidFill>
                      <a:prstDash val="solid"/>
                      <a:round/>
                      <a:headEnd type="none" w="med" len="med"/>
                      <a:tailEnd type="none" w="med" len="med"/>
                    </a:lnL>
                    <a:lnR w="1368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327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MOV CL,[SI]</a:t>
                      </a:r>
                    </a:p>
                  </a:txBody>
                  <a:tcPr marL="90000" marR="90000" marT="46800" marB="46800" horzOverflow="overflow">
                    <a:lnL w="1368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No</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 </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No</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Register Indirect</a:t>
                      </a:r>
                    </a:p>
                  </a:txBody>
                  <a:tcPr marL="90000" marR="90000" marT="46800" marB="46800" horzOverflow="overflow">
                    <a:lnL w="5760" cap="flat" cmpd="sng" algn="ctr">
                      <a:solidFill>
                        <a:srgbClr val="000000"/>
                      </a:solidFill>
                      <a:prstDash val="solid"/>
                      <a:round/>
                      <a:headEnd type="none" w="med" len="med"/>
                      <a:tailEnd type="none" w="med" len="med"/>
                    </a:lnL>
                    <a:lnR w="1368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327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MOV DX,[BX]</a:t>
                      </a:r>
                    </a:p>
                  </a:txBody>
                  <a:tcPr marL="90000" marR="90000" marT="46800" marB="46800" horzOverflow="overflow">
                    <a:lnL w="1368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No </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No</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IN"/>
                    </a:p>
                  </a:txBody>
                  <a:tcPr/>
                </a:tc>
                <a:extLst>
                  <a:ext uri="{0D108BD9-81ED-4DB2-BD59-A6C34878D82A}">
                    <a16:rowId xmlns:a16="http://schemas.microsoft.com/office/drawing/2014/main" val="10003"/>
                  </a:ext>
                </a:extLst>
              </a:tr>
              <a:tr h="49327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200" b="0" i="0" u="none" strike="noStrike" cap="none" normalizeH="0" baseline="0">
                          <a:ln>
                            <a:noFill/>
                          </a:ln>
                          <a:solidFill>
                            <a:srgbClr val="000000"/>
                          </a:solidFill>
                          <a:effectLst/>
                          <a:latin typeface="Times New Roman" panose="02020603050405020304" pitchFamily="18" charset="0"/>
                          <a:cs typeface="Noto Sans CJK SC" charset="0"/>
                        </a:rPr>
                        <a:t>MOV DH, 2345H[BX]</a:t>
                      </a:r>
                    </a:p>
                  </a:txBody>
                  <a:tcPr marL="90000" marR="90000" marT="46800" marB="46800" horzOverflow="overflow">
                    <a:lnL w="1368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No </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Base addr. with Disp.</a:t>
                      </a:r>
                    </a:p>
                  </a:txBody>
                  <a:tcPr marL="90000" marR="90000" marT="46800" marB="46800" horzOverflow="overflow">
                    <a:lnL w="5760" cap="flat" cmpd="sng" algn="ctr">
                      <a:solidFill>
                        <a:srgbClr val="000000"/>
                      </a:solidFill>
                      <a:prstDash val="solid"/>
                      <a:round/>
                      <a:headEnd type="none" w="med" len="med"/>
                      <a:tailEnd type="none" w="med" len="med"/>
                    </a:lnL>
                    <a:lnR w="1368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327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MOV DX, 35H[DI]</a:t>
                      </a:r>
                    </a:p>
                  </a:txBody>
                  <a:tcPr marL="90000" marR="90000" marT="46800" marB="46800" horzOverflow="overflow">
                    <a:lnL w="1368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No</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 </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Index addr. with Disp. </a:t>
                      </a:r>
                    </a:p>
                  </a:txBody>
                  <a:tcPr marL="90000" marR="90000" marT="46800" marB="46800" horzOverflow="overflow">
                    <a:lnL w="5760" cap="flat" cmpd="sng" algn="ctr">
                      <a:solidFill>
                        <a:srgbClr val="000000"/>
                      </a:solidFill>
                      <a:prstDash val="solid"/>
                      <a:round/>
                      <a:headEnd type="none" w="med" len="med"/>
                      <a:tailEnd type="none" w="med" len="med"/>
                    </a:lnL>
                    <a:lnR w="1368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9327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5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200" b="0" i="0" u="none" strike="noStrike" cap="none" normalizeH="0" baseline="0">
                          <a:ln>
                            <a:noFill/>
                          </a:ln>
                          <a:solidFill>
                            <a:srgbClr val="000000"/>
                          </a:solidFill>
                          <a:effectLst/>
                          <a:latin typeface="Times New Roman" panose="02020603050405020304" pitchFamily="18" charset="0"/>
                          <a:cs typeface="Noto Sans CJK SC" charset="0"/>
                        </a:rPr>
                        <a:t>MOV CL, [SI+BX]</a:t>
                      </a:r>
                    </a:p>
                  </a:txBody>
                  <a:tcPr marL="90000" marR="90000" marT="46800" marB="46800" horzOverflow="overflow">
                    <a:lnL w="1368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 </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No</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Based Index Addr.</a:t>
                      </a:r>
                    </a:p>
                  </a:txBody>
                  <a:tcPr marL="90000" marR="90000" marT="46800" marB="46800" horzOverflow="overflow">
                    <a:lnL w="5760" cap="flat" cmpd="sng" algn="ctr">
                      <a:solidFill>
                        <a:srgbClr val="000000"/>
                      </a:solidFill>
                      <a:prstDash val="solid"/>
                      <a:round/>
                      <a:headEnd type="none" w="med" len="med"/>
                      <a:tailEnd type="none" w="med" len="med"/>
                    </a:lnL>
                    <a:lnR w="1368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3274">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MOV DL, 37H[BX+DI]</a:t>
                      </a:r>
                    </a:p>
                  </a:txBody>
                  <a:tcPr marL="90000" marR="90000" marT="46800" marB="46800" horzOverflow="overflow">
                    <a:lnL w="1368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1368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1368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 </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1368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400" b="0" i="0" u="none" strike="noStrike" cap="none" normalizeH="0" baseline="0">
                          <a:ln>
                            <a:noFill/>
                          </a:ln>
                          <a:solidFill>
                            <a:srgbClr val="000000"/>
                          </a:solidFill>
                          <a:effectLst/>
                          <a:latin typeface="Times New Roman" panose="02020603050405020304" pitchFamily="18" charset="0"/>
                          <a:cs typeface="Noto Sans CJK SC" charset="0"/>
                        </a:rPr>
                        <a:t>Yes</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1368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575"/>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300" b="0" i="0" u="none" strike="noStrike" cap="none" normalizeH="0" baseline="0" dirty="0">
                          <a:ln>
                            <a:noFill/>
                          </a:ln>
                          <a:solidFill>
                            <a:srgbClr val="000000"/>
                          </a:solidFill>
                          <a:effectLst/>
                          <a:latin typeface="Times New Roman" panose="02020603050405020304" pitchFamily="18" charset="0"/>
                          <a:cs typeface="Noto Sans CJK SC" charset="0"/>
                        </a:rPr>
                        <a:t>Base Index </a:t>
                      </a:r>
                      <a:r>
                        <a:rPr kumimoji="0" lang="en-US" altLang="en-US" sz="2300" b="0" i="0" u="none" strike="noStrike" cap="none" normalizeH="0" baseline="0" dirty="0" err="1">
                          <a:ln>
                            <a:noFill/>
                          </a:ln>
                          <a:solidFill>
                            <a:srgbClr val="000000"/>
                          </a:solidFill>
                          <a:effectLst/>
                          <a:latin typeface="Times New Roman" panose="02020603050405020304" pitchFamily="18" charset="0"/>
                          <a:cs typeface="Noto Sans CJK SC" charset="0"/>
                        </a:rPr>
                        <a:t>Addr</a:t>
                      </a:r>
                      <a:r>
                        <a:rPr kumimoji="0" lang="en-US" altLang="en-US" sz="2300" b="0" i="0" u="none" strike="noStrike" cap="none" normalizeH="0" baseline="0" dirty="0">
                          <a:ln>
                            <a:noFill/>
                          </a:ln>
                          <a:solidFill>
                            <a:srgbClr val="000000"/>
                          </a:solidFill>
                          <a:effectLst/>
                          <a:latin typeface="Times New Roman" panose="02020603050405020304" pitchFamily="18" charset="0"/>
                          <a:cs typeface="Noto Sans CJK SC" charset="0"/>
                        </a:rPr>
                        <a:t> with </a:t>
                      </a:r>
                      <a:r>
                        <a:rPr kumimoji="0" lang="en-US" altLang="en-US" sz="2300" b="0" i="0" u="none" strike="noStrike" cap="none" normalizeH="0" baseline="0" dirty="0" err="1">
                          <a:ln>
                            <a:noFill/>
                          </a:ln>
                          <a:solidFill>
                            <a:srgbClr val="000000"/>
                          </a:solidFill>
                          <a:effectLst/>
                          <a:latin typeface="Times New Roman" panose="02020603050405020304" pitchFamily="18" charset="0"/>
                          <a:cs typeface="Noto Sans CJK SC" charset="0"/>
                        </a:rPr>
                        <a:t>disp</a:t>
                      </a:r>
                      <a:endParaRPr kumimoji="0" lang="en-US" altLang="en-US" sz="2300" b="0" i="0" u="none" strike="noStrike" cap="none" normalizeH="0" baseline="0" dirty="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1368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1368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8E750607-D2B1-01FF-C7BF-130797856876}"/>
              </a:ext>
            </a:extLst>
          </p:cNvPr>
          <p:cNvSpPr txBox="1"/>
          <p:nvPr/>
        </p:nvSpPr>
        <p:spPr>
          <a:xfrm>
            <a:off x="1241461" y="858362"/>
            <a:ext cx="10121757" cy="1077218"/>
          </a:xfrm>
          <a:prstGeom prst="rect">
            <a:avLst/>
          </a:prstGeom>
          <a:noFill/>
        </p:spPr>
        <p:txBody>
          <a:bodyPr wrap="square">
            <a:spAutoFit/>
          </a:bodyPr>
          <a:lstStyle/>
          <a:p>
            <a:pPr eaLnBrk="1" hangingPunct="1">
              <a:buClrTx/>
              <a:buFontTx/>
              <a:buNone/>
            </a:pPr>
            <a:r>
              <a:rPr lang="en-US" altLang="en-US" sz="3200" b="1" dirty="0">
                <a:solidFill>
                  <a:srgbClr val="000099"/>
                </a:solidFill>
                <a:latin typeface="Calibri" panose="020F0502020204030204" pitchFamily="34" charset="0"/>
              </a:rPr>
              <a:t>Memory modes as derivatives of Base Index addressing with disp.</a:t>
            </a:r>
          </a:p>
        </p:txBody>
      </p:sp>
    </p:spTree>
    <p:extLst>
      <p:ext uri="{BB962C8B-B14F-4D97-AF65-F5344CB8AC3E}">
        <p14:creationId xmlns:p14="http://schemas.microsoft.com/office/powerpoint/2010/main" val="1098425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D08EA-5FFF-9D1F-C0F9-B485E27C9FEA}"/>
              </a:ext>
            </a:extLst>
          </p:cNvPr>
          <p:cNvSpPr>
            <a:spLocks noGrp="1"/>
          </p:cNvSpPr>
          <p:nvPr>
            <p:ph type="title"/>
          </p:nvPr>
        </p:nvSpPr>
        <p:spPr/>
        <p:txBody>
          <a:bodyPr/>
          <a:lstStyle/>
          <a:p>
            <a:r>
              <a:rPr lang="en-US" altLang="en-US" sz="4400" dirty="0">
                <a:solidFill>
                  <a:srgbClr val="000099"/>
                </a:solidFill>
              </a:rPr>
              <a:t>Input/Output port Addressing</a:t>
            </a:r>
            <a:endParaRPr lang="en-IN" dirty="0"/>
          </a:p>
        </p:txBody>
      </p:sp>
      <p:pic>
        <p:nvPicPr>
          <p:cNvPr id="5" name="Content Placeholder 4">
            <a:extLst>
              <a:ext uri="{FF2B5EF4-FFF2-40B4-BE49-F238E27FC236}">
                <a16:creationId xmlns:a16="http://schemas.microsoft.com/office/drawing/2014/main" id="{B2CB1C0F-46A7-F967-EDF3-BF4AB629E775}"/>
              </a:ext>
            </a:extLst>
          </p:cNvPr>
          <p:cNvPicPr>
            <a:picLocks noGrp="1" noChangeAspect="1"/>
          </p:cNvPicPr>
          <p:nvPr>
            <p:ph idx="1"/>
          </p:nvPr>
        </p:nvPicPr>
        <p:blipFill>
          <a:blip r:embed="rId2"/>
          <a:stretch>
            <a:fillRect/>
          </a:stretch>
        </p:blipFill>
        <p:spPr>
          <a:xfrm>
            <a:off x="2960178" y="2188396"/>
            <a:ext cx="4964716" cy="2870227"/>
          </a:xfrm>
        </p:spPr>
      </p:pic>
    </p:spTree>
    <p:extLst>
      <p:ext uri="{BB962C8B-B14F-4D97-AF65-F5344CB8AC3E}">
        <p14:creationId xmlns:p14="http://schemas.microsoft.com/office/powerpoint/2010/main" val="4173031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A9A4E-1514-A2BF-9BA8-3BCCB49DDE58}"/>
              </a:ext>
            </a:extLst>
          </p:cNvPr>
          <p:cNvSpPr>
            <a:spLocks noGrp="1"/>
          </p:cNvSpPr>
          <p:nvPr>
            <p:ph type="title"/>
          </p:nvPr>
        </p:nvSpPr>
        <p:spPr/>
        <p:txBody>
          <a:bodyPr/>
          <a:lstStyle/>
          <a:p>
            <a:r>
              <a:rPr lang="en-US" altLang="en-US" sz="4400" dirty="0">
                <a:solidFill>
                  <a:srgbClr val="000099"/>
                </a:solidFill>
              </a:rPr>
              <a:t>Fixed port Addressing</a:t>
            </a:r>
            <a:endParaRPr lang="en-IN" dirty="0"/>
          </a:p>
        </p:txBody>
      </p:sp>
      <p:graphicFrame>
        <p:nvGraphicFramePr>
          <p:cNvPr id="4" name="Group 2">
            <a:extLst>
              <a:ext uri="{FF2B5EF4-FFF2-40B4-BE49-F238E27FC236}">
                <a16:creationId xmlns:a16="http://schemas.microsoft.com/office/drawing/2014/main" id="{BE6A5937-7DDE-E350-75FE-4752E340EA2E}"/>
              </a:ext>
            </a:extLst>
          </p:cNvPr>
          <p:cNvGraphicFramePr>
            <a:graphicFrameLocks noGrp="1"/>
          </p:cNvGraphicFramePr>
          <p:nvPr>
            <p:extLst>
              <p:ext uri="{D42A27DB-BD31-4B8C-83A1-F6EECF244321}">
                <p14:modId xmlns:p14="http://schemas.microsoft.com/office/powerpoint/2010/main" val="1343101062"/>
              </p:ext>
            </p:extLst>
          </p:nvPr>
        </p:nvGraphicFramePr>
        <p:xfrm>
          <a:off x="1046252" y="1506706"/>
          <a:ext cx="8612188" cy="1724026"/>
        </p:xfrm>
        <a:graphic>
          <a:graphicData uri="http://schemas.openxmlformats.org/drawingml/2006/table">
            <a:tbl>
              <a:tblPr/>
              <a:tblGrid>
                <a:gridCol w="3071813">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82562">
                  <a:extLst>
                    <a:ext uri="{9D8B030D-6E8A-4147-A177-3AD203B41FA5}">
                      <a16:colId xmlns:a16="http://schemas.microsoft.com/office/drawing/2014/main" val="20003"/>
                    </a:ext>
                  </a:extLst>
                </a:gridCol>
                <a:gridCol w="296863">
                  <a:extLst>
                    <a:ext uri="{9D8B030D-6E8A-4147-A177-3AD203B41FA5}">
                      <a16:colId xmlns:a16="http://schemas.microsoft.com/office/drawing/2014/main" val="20004"/>
                    </a:ext>
                  </a:extLst>
                </a:gridCol>
                <a:gridCol w="1044575">
                  <a:extLst>
                    <a:ext uri="{9D8B030D-6E8A-4147-A177-3AD203B41FA5}">
                      <a16:colId xmlns:a16="http://schemas.microsoft.com/office/drawing/2014/main" val="20005"/>
                    </a:ext>
                  </a:extLst>
                </a:gridCol>
              </a:tblGrid>
              <a:tr h="52705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Ex.1: IN AL, 83H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AL</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34H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Arial" panose="020B0604020202020204" pitchFamily="34" charset="0"/>
                          <a:cs typeface="Noto Sans CJK SC" charset="0"/>
                        </a:rPr>
                        <a:t>78H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dirty="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905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dirty="0">
                          <a:ln>
                            <a:noFill/>
                          </a:ln>
                          <a:solidFill>
                            <a:srgbClr val="000000"/>
                          </a:solidFill>
                          <a:effectLst/>
                          <a:latin typeface="Arial" panose="020B0604020202020204" pitchFamily="34" charset="0"/>
                          <a:cs typeface="Noto Sans CJK SC" charset="0"/>
                        </a:rPr>
                        <a:t>Input port no. 83H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600" b="0" i="0" u="none" strike="noStrike" cap="none" normalizeH="0" baseline="0">
                          <a:ln>
                            <a:noFill/>
                          </a:ln>
                          <a:solidFill>
                            <a:srgbClr val="000000"/>
                          </a:solidFill>
                          <a:effectLst/>
                          <a:latin typeface="Arial" panose="020B0604020202020204" pitchFamily="34" charset="0"/>
                          <a:cs typeface="Noto Sans CJK SC" charset="0"/>
                        </a:rPr>
                        <a:t>78H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a:ln>
                          <a:noFill/>
                        </a:ln>
                        <a:solidFill>
                          <a:srgbClr val="000000"/>
                        </a:solidFill>
                        <a:effectLst/>
                        <a:latin typeface="Arial" panose="020B0604020202020204" pitchFamily="34"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6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600" b="0" i="0" u="none" strike="noStrike" cap="none" normalizeH="0" baseline="0" dirty="0">
                        <a:ln>
                          <a:noFill/>
                        </a:ln>
                        <a:solidFill>
                          <a:srgbClr val="000000"/>
                        </a:solidFill>
                        <a:effectLst/>
                        <a:latin typeface="Arial" panose="020B0604020202020204" pitchFamily="34"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2">
            <a:extLst>
              <a:ext uri="{FF2B5EF4-FFF2-40B4-BE49-F238E27FC236}">
                <a16:creationId xmlns:a16="http://schemas.microsoft.com/office/drawing/2014/main" id="{FBC9E8E0-C131-9843-3EBD-BD69D1D517A8}"/>
              </a:ext>
            </a:extLst>
          </p:cNvPr>
          <p:cNvGraphicFramePr>
            <a:graphicFrameLocks noGrp="1"/>
          </p:cNvGraphicFramePr>
          <p:nvPr>
            <p:extLst>
              <p:ext uri="{D42A27DB-BD31-4B8C-83A1-F6EECF244321}">
                <p14:modId xmlns:p14="http://schemas.microsoft.com/office/powerpoint/2010/main" val="3445823087"/>
              </p:ext>
            </p:extLst>
          </p:nvPr>
        </p:nvGraphicFramePr>
        <p:xfrm>
          <a:off x="1272282" y="3627269"/>
          <a:ext cx="8840788" cy="2389188"/>
        </p:xfrm>
        <a:graphic>
          <a:graphicData uri="http://schemas.openxmlformats.org/drawingml/2006/table">
            <a:tbl>
              <a:tblPr/>
              <a:tblGrid>
                <a:gridCol w="3071813">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1198562">
                  <a:extLst>
                    <a:ext uri="{9D8B030D-6E8A-4147-A177-3AD203B41FA5}">
                      <a16:colId xmlns:a16="http://schemas.microsoft.com/office/drawing/2014/main" val="20002"/>
                    </a:ext>
                  </a:extLst>
                </a:gridCol>
                <a:gridCol w="449263">
                  <a:extLst>
                    <a:ext uri="{9D8B030D-6E8A-4147-A177-3AD203B41FA5}">
                      <a16:colId xmlns:a16="http://schemas.microsoft.com/office/drawing/2014/main" val="20003"/>
                    </a:ext>
                  </a:extLst>
                </a:gridCol>
                <a:gridCol w="1273175">
                  <a:extLst>
                    <a:ext uri="{9D8B030D-6E8A-4147-A177-3AD203B41FA5}">
                      <a16:colId xmlns:a16="http://schemas.microsoft.com/office/drawing/2014/main" val="20004"/>
                    </a:ext>
                  </a:extLst>
                </a:gridCol>
              </a:tblGrid>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Before </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Ex.2: IN AX, 83H</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AX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5634H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F278H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638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dirty="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3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14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Input port no. 83H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78H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Input port no. 84H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F2H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88343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B0509152-54C4-8D98-4A33-23014BAD2B08}"/>
              </a:ext>
            </a:extLst>
          </p:cNvPr>
          <p:cNvGraphicFramePr>
            <a:graphicFrameLocks noGrp="1"/>
          </p:cNvGraphicFramePr>
          <p:nvPr>
            <p:extLst>
              <p:ext uri="{D42A27DB-BD31-4B8C-83A1-F6EECF244321}">
                <p14:modId xmlns:p14="http://schemas.microsoft.com/office/powerpoint/2010/main" val="4291923097"/>
              </p:ext>
            </p:extLst>
          </p:nvPr>
        </p:nvGraphicFramePr>
        <p:xfrm>
          <a:off x="1364750" y="687512"/>
          <a:ext cx="8712200" cy="2087563"/>
        </p:xfrm>
        <a:graphic>
          <a:graphicData uri="http://schemas.openxmlformats.org/drawingml/2006/table">
            <a:tbl>
              <a:tblPr/>
              <a:tblGrid>
                <a:gridCol w="3425825">
                  <a:extLst>
                    <a:ext uri="{9D8B030D-6E8A-4147-A177-3AD203B41FA5}">
                      <a16:colId xmlns:a16="http://schemas.microsoft.com/office/drawing/2014/main" val="20000"/>
                    </a:ext>
                  </a:extLst>
                </a:gridCol>
                <a:gridCol w="2741613">
                  <a:extLst>
                    <a:ext uri="{9D8B030D-6E8A-4147-A177-3AD203B41FA5}">
                      <a16:colId xmlns:a16="http://schemas.microsoft.com/office/drawing/2014/main" val="20001"/>
                    </a:ext>
                  </a:extLst>
                </a:gridCol>
                <a:gridCol w="1212850">
                  <a:extLst>
                    <a:ext uri="{9D8B030D-6E8A-4147-A177-3AD203B41FA5}">
                      <a16:colId xmlns:a16="http://schemas.microsoft.com/office/drawing/2014/main" val="20002"/>
                    </a:ext>
                  </a:extLst>
                </a:gridCol>
                <a:gridCol w="215900">
                  <a:extLst>
                    <a:ext uri="{9D8B030D-6E8A-4147-A177-3AD203B41FA5}">
                      <a16:colId xmlns:a16="http://schemas.microsoft.com/office/drawing/2014/main" val="20003"/>
                    </a:ext>
                  </a:extLst>
                </a:gridCol>
                <a:gridCol w="1116012">
                  <a:extLst>
                    <a:ext uri="{9D8B030D-6E8A-4147-A177-3AD203B41FA5}">
                      <a16:colId xmlns:a16="http://schemas.microsoft.com/office/drawing/2014/main" val="20004"/>
                    </a:ext>
                  </a:extLst>
                </a:gridCol>
              </a:tblGrid>
              <a:tr h="52546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After</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Ex.3: OUT 83H, AL</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AL</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50H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3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12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0700">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Output port no. 83H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65H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50H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2">
            <a:extLst>
              <a:ext uri="{FF2B5EF4-FFF2-40B4-BE49-F238E27FC236}">
                <a16:creationId xmlns:a16="http://schemas.microsoft.com/office/drawing/2014/main" id="{27AB9577-5CBB-BCA4-3548-1B27C0BC39C2}"/>
              </a:ext>
            </a:extLst>
          </p:cNvPr>
          <p:cNvGraphicFramePr>
            <a:graphicFrameLocks noGrp="1"/>
          </p:cNvGraphicFramePr>
          <p:nvPr>
            <p:extLst>
              <p:ext uri="{D42A27DB-BD31-4B8C-83A1-F6EECF244321}">
                <p14:modId xmlns:p14="http://schemas.microsoft.com/office/powerpoint/2010/main" val="3375416113"/>
              </p:ext>
            </p:extLst>
          </p:nvPr>
        </p:nvGraphicFramePr>
        <p:xfrm>
          <a:off x="1439362" y="3429000"/>
          <a:ext cx="8637588" cy="2603500"/>
        </p:xfrm>
        <a:graphic>
          <a:graphicData uri="http://schemas.openxmlformats.org/drawingml/2006/table">
            <a:tbl>
              <a:tblPr/>
              <a:tblGrid>
                <a:gridCol w="3730625">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1211263">
                  <a:extLst>
                    <a:ext uri="{9D8B030D-6E8A-4147-A177-3AD203B41FA5}">
                      <a16:colId xmlns:a16="http://schemas.microsoft.com/office/drawing/2014/main" val="20002"/>
                    </a:ext>
                  </a:extLst>
                </a:gridCol>
                <a:gridCol w="215900">
                  <a:extLst>
                    <a:ext uri="{9D8B030D-6E8A-4147-A177-3AD203B41FA5}">
                      <a16:colId xmlns:a16="http://schemas.microsoft.com/office/drawing/2014/main" val="20003"/>
                    </a:ext>
                  </a:extLst>
                </a:gridCol>
                <a:gridCol w="1041400">
                  <a:extLst>
                    <a:ext uri="{9D8B030D-6E8A-4147-A177-3AD203B41FA5}">
                      <a16:colId xmlns:a16="http://schemas.microsoft.com/office/drawing/2014/main" val="20004"/>
                    </a:ext>
                  </a:extLst>
                </a:gridCol>
              </a:tblGrid>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Before </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After</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Ex.4: OUT 83H, AX</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6050H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0700">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Output port no. 83H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65H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50H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0700">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Output port no. 84H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40H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60H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75545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5341D-B31D-2A39-84A2-18AA83A8A98A}"/>
              </a:ext>
            </a:extLst>
          </p:cNvPr>
          <p:cNvSpPr>
            <a:spLocks noGrp="1"/>
          </p:cNvSpPr>
          <p:nvPr>
            <p:ph type="title"/>
          </p:nvPr>
        </p:nvSpPr>
        <p:spPr/>
        <p:txBody>
          <a:bodyPr/>
          <a:lstStyle/>
          <a:p>
            <a:r>
              <a:rPr lang="en-US" altLang="en-US" sz="4400" dirty="0">
                <a:solidFill>
                  <a:srgbClr val="000099"/>
                </a:solidFill>
              </a:rPr>
              <a:t>Variable port Addressing</a:t>
            </a:r>
            <a:endParaRPr lang="en-IN" dirty="0"/>
          </a:p>
        </p:txBody>
      </p:sp>
      <p:sp>
        <p:nvSpPr>
          <p:cNvPr id="3" name="Content Placeholder 2">
            <a:extLst>
              <a:ext uri="{FF2B5EF4-FFF2-40B4-BE49-F238E27FC236}">
                <a16:creationId xmlns:a16="http://schemas.microsoft.com/office/drawing/2014/main" id="{90DF8795-DCD6-529C-CFD5-C875FD5B2857}"/>
              </a:ext>
            </a:extLst>
          </p:cNvPr>
          <p:cNvSpPr>
            <a:spLocks noGrp="1"/>
          </p:cNvSpPr>
          <p:nvPr>
            <p:ph idx="1"/>
          </p:nvPr>
        </p:nvSpPr>
        <p:spPr/>
        <p:txBody>
          <a:bodyPr/>
          <a:lstStyle/>
          <a:p>
            <a:pPr eaLnBrk="1" hangingPunct="1">
              <a:spcBef>
                <a:spcPts val="800"/>
              </a:spcBef>
              <a:buFont typeface="Arial" panose="020B0604020202020204" pitchFamily="34" charset="0"/>
              <a:buChar char="•"/>
            </a:pPr>
            <a:r>
              <a:rPr lang="en-US" altLang="en-US" sz="2800" dirty="0">
                <a:solidFill>
                  <a:srgbClr val="000000"/>
                </a:solidFill>
              </a:rPr>
              <a:t>IN and OUT instructions are allowed to use only AL or AX registers</a:t>
            </a:r>
          </a:p>
          <a:p>
            <a:pPr eaLnBrk="1" hangingPunct="1">
              <a:spcBef>
                <a:spcPts val="800"/>
              </a:spcBef>
              <a:buFont typeface="Arial" panose="020B0604020202020204" pitchFamily="34" charset="0"/>
              <a:buChar char="•"/>
            </a:pPr>
            <a:r>
              <a:rPr lang="en-US" altLang="en-US" sz="2800" dirty="0">
                <a:solidFill>
                  <a:srgbClr val="000000"/>
                </a:solidFill>
              </a:rPr>
              <a:t>Port address in the range 00 to FFH is provided in the instruction directly</a:t>
            </a:r>
          </a:p>
          <a:p>
            <a:pPr eaLnBrk="1" hangingPunct="1">
              <a:spcBef>
                <a:spcPts val="800"/>
              </a:spcBef>
              <a:buClr>
                <a:srgbClr val="000000"/>
              </a:buClr>
              <a:buSzPct val="100000"/>
              <a:buFont typeface="Arial" panose="020B0604020202020204" pitchFamily="34" charset="0"/>
              <a:buChar char="•"/>
              <a:defRPr/>
            </a:pPr>
            <a:r>
              <a:rPr lang="en-US" altLang="en-US" sz="2800" dirty="0"/>
              <a:t>I/O port address provided in DX register only</a:t>
            </a:r>
          </a:p>
          <a:p>
            <a:pPr marL="342900" eaLnBrk="1" hangingPunct="1">
              <a:spcBef>
                <a:spcPts val="800"/>
              </a:spcBef>
              <a:buSzPct val="100000"/>
              <a:defRPr/>
            </a:pPr>
            <a:endParaRPr lang="en-US" altLang="en-US" sz="2800" dirty="0"/>
          </a:p>
          <a:p>
            <a:pPr eaLnBrk="1" hangingPunct="1">
              <a:spcBef>
                <a:spcPts val="800"/>
              </a:spcBef>
              <a:buClr>
                <a:srgbClr val="000000"/>
              </a:buClr>
              <a:buSzPct val="100000"/>
              <a:buFont typeface="Arial" panose="020B0604020202020204" pitchFamily="34" charset="0"/>
              <a:buChar char="•"/>
              <a:defRPr/>
            </a:pPr>
            <a:r>
              <a:rPr lang="en-US" altLang="en-US" sz="2800" dirty="0"/>
              <a:t>Port addresses range from 0000H to FFFFH</a:t>
            </a:r>
          </a:p>
          <a:p>
            <a:pPr marL="342900" eaLnBrk="1" hangingPunct="1">
              <a:spcBef>
                <a:spcPts val="800"/>
              </a:spcBef>
              <a:buSzPct val="100000"/>
              <a:defRPr/>
            </a:pPr>
            <a:endParaRPr lang="en-US" altLang="en-US" sz="2800" dirty="0"/>
          </a:p>
          <a:p>
            <a:pPr eaLnBrk="1" hangingPunct="1">
              <a:spcBef>
                <a:spcPts val="800"/>
              </a:spcBef>
              <a:buClr>
                <a:srgbClr val="000000"/>
              </a:buClr>
              <a:buSzPct val="100000"/>
              <a:buFont typeface="Arial" panose="020B0604020202020204" pitchFamily="34" charset="0"/>
              <a:buChar char="•"/>
              <a:defRPr/>
            </a:pPr>
            <a:r>
              <a:rPr lang="en-US" altLang="en-US" sz="2800" dirty="0"/>
              <a:t>Data transfer with AL or AX only</a:t>
            </a:r>
          </a:p>
          <a:p>
            <a:endParaRPr lang="en-IN" dirty="0"/>
          </a:p>
        </p:txBody>
      </p:sp>
    </p:spTree>
    <p:extLst>
      <p:ext uri="{BB962C8B-B14F-4D97-AF65-F5344CB8AC3E}">
        <p14:creationId xmlns:p14="http://schemas.microsoft.com/office/powerpoint/2010/main" val="1129173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151DCCCF-160E-5210-7A03-D77FBAC70648}"/>
              </a:ext>
            </a:extLst>
          </p:cNvPr>
          <p:cNvGraphicFramePr>
            <a:graphicFrameLocks noGrp="1"/>
          </p:cNvGraphicFramePr>
          <p:nvPr>
            <p:extLst>
              <p:ext uri="{D42A27DB-BD31-4B8C-83A1-F6EECF244321}">
                <p14:modId xmlns:p14="http://schemas.microsoft.com/office/powerpoint/2010/main" val="1343325013"/>
              </p:ext>
            </p:extLst>
          </p:nvPr>
        </p:nvGraphicFramePr>
        <p:xfrm>
          <a:off x="937517" y="785973"/>
          <a:ext cx="8612188" cy="2540002"/>
        </p:xfrm>
        <a:graphic>
          <a:graphicData uri="http://schemas.openxmlformats.org/drawingml/2006/table">
            <a:tbl>
              <a:tblPr/>
              <a:tblGrid>
                <a:gridCol w="2774950">
                  <a:extLst>
                    <a:ext uri="{9D8B030D-6E8A-4147-A177-3AD203B41FA5}">
                      <a16:colId xmlns:a16="http://schemas.microsoft.com/office/drawing/2014/main" val="20000"/>
                    </a:ext>
                  </a:extLst>
                </a:gridCol>
                <a:gridCol w="3322638">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3048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tblGrid>
              <a:tr h="56356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Ex. 1: IN AL, DX</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AL</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30H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60H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DX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1234H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6356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Input port no. 1234H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60H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5" name="Group 2">
            <a:extLst>
              <a:ext uri="{FF2B5EF4-FFF2-40B4-BE49-F238E27FC236}">
                <a16:creationId xmlns:a16="http://schemas.microsoft.com/office/drawing/2014/main" id="{398ACBC0-9C72-54EA-22C1-B9AC7CE3B2A0}"/>
              </a:ext>
            </a:extLst>
          </p:cNvPr>
          <p:cNvGraphicFramePr>
            <a:graphicFrameLocks noGrp="1"/>
          </p:cNvGraphicFramePr>
          <p:nvPr>
            <p:extLst>
              <p:ext uri="{D42A27DB-BD31-4B8C-83A1-F6EECF244321}">
                <p14:modId xmlns:p14="http://schemas.microsoft.com/office/powerpoint/2010/main" val="873179492"/>
              </p:ext>
            </p:extLst>
          </p:nvPr>
        </p:nvGraphicFramePr>
        <p:xfrm>
          <a:off x="1190090" y="3684142"/>
          <a:ext cx="8840788" cy="3011490"/>
        </p:xfrm>
        <a:graphic>
          <a:graphicData uri="http://schemas.openxmlformats.org/drawingml/2006/table">
            <a:tbl>
              <a:tblPr/>
              <a:tblGrid>
                <a:gridCol w="2971800">
                  <a:extLst>
                    <a:ext uri="{9D8B030D-6E8A-4147-A177-3AD203B41FA5}">
                      <a16:colId xmlns:a16="http://schemas.microsoft.com/office/drawing/2014/main" val="20000"/>
                    </a:ext>
                  </a:extLst>
                </a:gridCol>
                <a:gridCol w="3201988">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2286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5286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After</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705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Ex. 2: IN AX, DX</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3040H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7060H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5286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DX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4000H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2705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Input port no. 4000H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60H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5286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Input port no. 4001H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70H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43316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1ECDBBD8-64F2-1B4A-A8D4-82E49B74BD20}"/>
              </a:ext>
            </a:extLst>
          </p:cNvPr>
          <p:cNvGraphicFramePr>
            <a:graphicFrameLocks noGrp="1"/>
          </p:cNvGraphicFramePr>
          <p:nvPr>
            <p:extLst>
              <p:ext uri="{D42A27DB-BD31-4B8C-83A1-F6EECF244321}">
                <p14:modId xmlns:p14="http://schemas.microsoft.com/office/powerpoint/2010/main" val="3050962641"/>
              </p:ext>
            </p:extLst>
          </p:nvPr>
        </p:nvGraphicFramePr>
        <p:xfrm>
          <a:off x="1101903" y="775699"/>
          <a:ext cx="8788400" cy="2540002"/>
        </p:xfrm>
        <a:graphic>
          <a:graphicData uri="http://schemas.openxmlformats.org/drawingml/2006/table">
            <a:tbl>
              <a:tblPr/>
              <a:tblGrid>
                <a:gridCol w="3273425">
                  <a:extLst>
                    <a:ext uri="{9D8B030D-6E8A-4147-A177-3AD203B41FA5}">
                      <a16:colId xmlns:a16="http://schemas.microsoft.com/office/drawing/2014/main" val="20000"/>
                    </a:ext>
                  </a:extLst>
                </a:gridCol>
                <a:gridCol w="3046413">
                  <a:extLst>
                    <a:ext uri="{9D8B030D-6E8A-4147-A177-3AD203B41FA5}">
                      <a16:colId xmlns:a16="http://schemas.microsoft.com/office/drawing/2014/main" val="20001"/>
                    </a:ext>
                  </a:extLst>
                </a:gridCol>
                <a:gridCol w="1268412">
                  <a:extLst>
                    <a:ext uri="{9D8B030D-6E8A-4147-A177-3AD203B41FA5}">
                      <a16:colId xmlns:a16="http://schemas.microsoft.com/office/drawing/2014/main" val="20002"/>
                    </a:ext>
                  </a:extLst>
                </a:gridCol>
                <a:gridCol w="215900">
                  <a:extLst>
                    <a:ext uri="{9D8B030D-6E8A-4147-A177-3AD203B41FA5}">
                      <a16:colId xmlns:a16="http://schemas.microsoft.com/office/drawing/2014/main" val="20003"/>
                    </a:ext>
                  </a:extLst>
                </a:gridCol>
                <a:gridCol w="984250">
                  <a:extLst>
                    <a:ext uri="{9D8B030D-6E8A-4147-A177-3AD203B41FA5}">
                      <a16:colId xmlns:a16="http://schemas.microsoft.com/office/drawing/2014/main" val="20004"/>
                    </a:ext>
                  </a:extLst>
                </a:gridCol>
              </a:tblGrid>
              <a:tr h="563563">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After</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Ex. 3: OUT DX, AL</a:t>
                      </a: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AL</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65H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DX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5000H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3563">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Output port no. 5000H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80H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65H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5" name="Group 2">
            <a:extLst>
              <a:ext uri="{FF2B5EF4-FFF2-40B4-BE49-F238E27FC236}">
                <a16:creationId xmlns:a16="http://schemas.microsoft.com/office/drawing/2014/main" id="{73A412FC-79C9-7E3A-8531-554FFC49A8A8}"/>
              </a:ext>
            </a:extLst>
          </p:cNvPr>
          <p:cNvGraphicFramePr>
            <a:graphicFrameLocks noGrp="1"/>
          </p:cNvGraphicFramePr>
          <p:nvPr>
            <p:extLst>
              <p:ext uri="{D42A27DB-BD31-4B8C-83A1-F6EECF244321}">
                <p14:modId xmlns:p14="http://schemas.microsoft.com/office/powerpoint/2010/main" val="3086915266"/>
              </p:ext>
            </p:extLst>
          </p:nvPr>
        </p:nvGraphicFramePr>
        <p:xfrm>
          <a:off x="1904206" y="3237216"/>
          <a:ext cx="8383588" cy="2974976"/>
        </p:xfrm>
        <a:graphic>
          <a:graphicData uri="http://schemas.openxmlformats.org/drawingml/2006/table">
            <a:tbl>
              <a:tblPr/>
              <a:tblGrid>
                <a:gridCol w="2817813">
                  <a:extLst>
                    <a:ext uri="{9D8B030D-6E8A-4147-A177-3AD203B41FA5}">
                      <a16:colId xmlns:a16="http://schemas.microsoft.com/office/drawing/2014/main" val="20000"/>
                    </a:ext>
                  </a:extLst>
                </a:gridCol>
                <a:gridCol w="361950">
                  <a:extLst>
                    <a:ext uri="{9D8B030D-6E8A-4147-A177-3AD203B41FA5}">
                      <a16:colId xmlns:a16="http://schemas.microsoft.com/office/drawing/2014/main" val="20001"/>
                    </a:ext>
                  </a:extLst>
                </a:gridCol>
                <a:gridCol w="2674937">
                  <a:extLst>
                    <a:ext uri="{9D8B030D-6E8A-4147-A177-3AD203B41FA5}">
                      <a16:colId xmlns:a16="http://schemas.microsoft.com/office/drawing/2014/main" val="20002"/>
                    </a:ext>
                  </a:extLst>
                </a:gridCol>
                <a:gridCol w="1155700">
                  <a:extLst>
                    <a:ext uri="{9D8B030D-6E8A-4147-A177-3AD203B41FA5}">
                      <a16:colId xmlns:a16="http://schemas.microsoft.com/office/drawing/2014/main" val="20003"/>
                    </a:ext>
                  </a:extLst>
                </a:gridCol>
                <a:gridCol w="217488">
                  <a:extLst>
                    <a:ext uri="{9D8B030D-6E8A-4147-A177-3AD203B41FA5}">
                      <a16:colId xmlns:a16="http://schemas.microsoft.com/office/drawing/2014/main" val="20004"/>
                    </a:ext>
                  </a:extLst>
                </a:gridCol>
                <a:gridCol w="1155700">
                  <a:extLst>
                    <a:ext uri="{9D8B030D-6E8A-4147-A177-3AD203B41FA5}">
                      <a16:colId xmlns:a16="http://schemas.microsoft.com/office/drawing/2014/main" val="20005"/>
                    </a:ext>
                  </a:extLst>
                </a:gridCol>
              </a:tblGrid>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Before</a:t>
                      </a: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After</a:t>
                      </a: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520700">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Ex. 4: OUT DX, AX</a:t>
                      </a:r>
                    </a:p>
                  </a:txBody>
                  <a:tcPr marL="90000" marR="90000" marT="46800" marB="46800" horzOverflow="overflow">
                    <a:lnL>
                      <a:noFill/>
                    </a:lnL>
                    <a:lnR>
                      <a:noFill/>
                    </a:lnR>
                    <a:lnT>
                      <a:noFill/>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AX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4567H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520700">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DX</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5000H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85738">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gridSpan="2">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15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6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a:noFill/>
                    </a:lnL>
                    <a:lnR>
                      <a:noFill/>
                    </a:lnR>
                    <a:lnT>
                      <a:noFill/>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20700">
                <a:tc gridSpan="3">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Output port no. 5000H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IN"/>
                    </a:p>
                  </a:txBody>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25H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67H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0700">
                <a:tc gridSpan="3">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Output port no. 5001H</a:t>
                      </a:r>
                    </a:p>
                  </a:txBody>
                  <a:tcPr marL="90000" marR="90000" marT="46800" marB="46800" horzOverflow="overflow">
                    <a:lnL>
                      <a:noFill/>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IN"/>
                    </a:p>
                  </a:txBody>
                  <a:tcPr/>
                </a:tc>
                <a:tc hMerge="1">
                  <a:txBody>
                    <a:bodyPr/>
                    <a:lstStyle/>
                    <a:p>
                      <a:endParaRPr lang="en-IN"/>
                    </a:p>
                  </a:txBody>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rPr>
                        <a:t>36H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l"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en-US" sz="2800" b="0" i="0" u="none" strike="noStrike" cap="none" normalizeH="0" baseline="0">
                        <a:ln>
                          <a:noFill/>
                        </a:ln>
                        <a:solidFill>
                          <a:srgbClr val="000000"/>
                        </a:solidFill>
                        <a:effectLst/>
                        <a:latin typeface="Times New Roman" panose="02020603050405020304" pitchFamily="18" charset="0"/>
                        <a:cs typeface="Noto Sans CJK SC" charset="0"/>
                      </a:endParaRP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cs typeface="Noto Sans CJK SC" charset="0"/>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cs typeface="Noto Sans CJK SC" charset="0"/>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cs typeface="Noto Sans CJK SC" charset="0"/>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Noto Sans CJK SC" charset="0"/>
                        </a:defRPr>
                      </a:lvl9pPr>
                    </a:lstStyle>
                    <a:p>
                      <a:pPr marL="0" marR="0" lvl="0" indent="0" algn="ctr" defTabSz="449263" rtl="0" eaLnBrk="1" fontAlgn="base" latinLnBrk="0" hangingPunct="1">
                        <a:lnSpc>
                          <a:spcPct val="93000"/>
                        </a:lnSpc>
                        <a:spcBef>
                          <a:spcPts val="70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en-US" sz="2800" b="0" i="0" u="none" strike="noStrike" cap="none" normalizeH="0" baseline="0" dirty="0">
                          <a:ln>
                            <a:noFill/>
                          </a:ln>
                          <a:solidFill>
                            <a:srgbClr val="000000"/>
                          </a:solidFill>
                          <a:effectLst/>
                          <a:latin typeface="Times New Roman" panose="02020603050405020304" pitchFamily="18" charset="0"/>
                          <a:cs typeface="Noto Sans CJK SC" charset="0"/>
                        </a:rPr>
                        <a:t>45H</a:t>
                      </a:r>
                    </a:p>
                  </a:txBody>
                  <a:tcPr marL="90000" marR="90000" marT="46800" marB="46800" horzOverflow="overflow">
                    <a:lnL w="5760" cap="flat" cmpd="sng" algn="ctr">
                      <a:solidFill>
                        <a:srgbClr val="000000"/>
                      </a:solidFill>
                      <a:prstDash val="solid"/>
                      <a:round/>
                      <a:headEnd type="none" w="med" len="med"/>
                      <a:tailEnd type="none" w="med" len="med"/>
                    </a:lnL>
                    <a:lnR w="5760" cap="flat" cmpd="sng" algn="ctr">
                      <a:solidFill>
                        <a:srgbClr val="000000"/>
                      </a:solidFill>
                      <a:prstDash val="solid"/>
                      <a:round/>
                      <a:headEnd type="none" w="med" len="med"/>
                      <a:tailEnd type="none" w="med" len="med"/>
                    </a:lnR>
                    <a:lnT w="5760" cap="flat" cmpd="sng" algn="ctr">
                      <a:solidFill>
                        <a:srgbClr val="000000"/>
                      </a:solidFill>
                      <a:prstDash val="solid"/>
                      <a:round/>
                      <a:headEnd type="none" w="med" len="med"/>
                      <a:tailEnd type="none" w="med" len="med"/>
                    </a:lnT>
                    <a:lnB w="576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95290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1796</Words>
  <Application>Microsoft Office PowerPoint</Application>
  <PresentationFormat>Widescreen</PresentationFormat>
  <Paragraphs>389</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Arial Unicode MS</vt:lpstr>
      <vt:lpstr>Calibri</vt:lpstr>
      <vt:lpstr>Calibri Light</vt:lpstr>
      <vt:lpstr>Nunito</vt:lpstr>
      <vt:lpstr>Times New Roman</vt:lpstr>
      <vt:lpstr>Office Theme</vt:lpstr>
      <vt:lpstr>Addressing Modes</vt:lpstr>
      <vt:lpstr>Special Roles of Registers </vt:lpstr>
      <vt:lpstr>PowerPoint Presentation</vt:lpstr>
      <vt:lpstr>IMPORTANT TERMS</vt:lpstr>
      <vt:lpstr>Immediate addressing mode (symbol #):</vt:lpstr>
      <vt:lpstr>PowerPoint Presentation</vt:lpstr>
      <vt:lpstr>PowerPoint Presentation</vt:lpstr>
      <vt:lpstr>Memory addressing modes</vt:lpstr>
      <vt:lpstr>Direct addressing/ Absolute addressing Mode (symbol [ ]): </vt:lpstr>
      <vt:lpstr>PowerPoint Presentation</vt:lpstr>
      <vt:lpstr>PowerPoint Presentation</vt:lpstr>
      <vt:lpstr>Indirect addressing Mode </vt:lpstr>
      <vt:lpstr>Memory Indirect addressing</vt:lpstr>
      <vt:lpstr>Memory Indirect addressing</vt:lpstr>
      <vt:lpstr>Register Indirect Addressing </vt:lpstr>
      <vt:lpstr>PowerPoint Presentation</vt:lpstr>
      <vt:lpstr>Based Addressing with displacement</vt:lpstr>
      <vt:lpstr>PowerPoint Presentation</vt:lpstr>
      <vt:lpstr>PowerPoint Presentation</vt:lpstr>
      <vt:lpstr>Indexed addressing with displacement</vt:lpstr>
      <vt:lpstr>PowerPoint Presentation</vt:lpstr>
      <vt:lpstr>Based Indexed Addressing</vt:lpstr>
      <vt:lpstr>PowerPoint Presentation</vt:lpstr>
      <vt:lpstr>Based Indexed Addressing with Displacement</vt:lpstr>
      <vt:lpstr>PowerPoint Presentation</vt:lpstr>
      <vt:lpstr>PowerPoint Presentation</vt:lpstr>
      <vt:lpstr>Input/Output port Addressing</vt:lpstr>
      <vt:lpstr>Fixed port Addressing</vt:lpstr>
      <vt:lpstr>PowerPoint Presentation</vt:lpstr>
      <vt:lpstr>Variable port Addressing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Modes</dc:title>
  <dc:creator>ShilpaMK</dc:creator>
  <cp:lastModifiedBy>ShilpaMK</cp:lastModifiedBy>
  <cp:revision>7</cp:revision>
  <dcterms:created xsi:type="dcterms:W3CDTF">2024-01-23T04:27:11Z</dcterms:created>
  <dcterms:modified xsi:type="dcterms:W3CDTF">2025-01-22T05:23:23Z</dcterms:modified>
</cp:coreProperties>
</file>