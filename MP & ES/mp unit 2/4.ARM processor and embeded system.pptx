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95" r:id="rId1"/>
  </p:sldMasterIdLst>
  <p:notesMasterIdLst>
    <p:notesMasterId r:id="rId145"/>
  </p:notesMasterIdLst>
  <p:sldIdLst>
    <p:sldId id="350" r:id="rId2"/>
    <p:sldId id="390" r:id="rId3"/>
    <p:sldId id="507" r:id="rId4"/>
    <p:sldId id="391" r:id="rId5"/>
    <p:sldId id="508" r:id="rId6"/>
    <p:sldId id="392" r:id="rId7"/>
    <p:sldId id="393" r:id="rId8"/>
    <p:sldId id="394" r:id="rId9"/>
    <p:sldId id="395" r:id="rId10"/>
    <p:sldId id="396" r:id="rId11"/>
    <p:sldId id="509" r:id="rId12"/>
    <p:sldId id="397" r:id="rId13"/>
    <p:sldId id="510" r:id="rId14"/>
    <p:sldId id="398" r:id="rId15"/>
    <p:sldId id="511" r:id="rId16"/>
    <p:sldId id="399" r:id="rId17"/>
    <p:sldId id="512" r:id="rId18"/>
    <p:sldId id="400" r:id="rId19"/>
    <p:sldId id="401" r:id="rId20"/>
    <p:sldId id="402" r:id="rId21"/>
    <p:sldId id="403" r:id="rId22"/>
    <p:sldId id="404" r:id="rId23"/>
    <p:sldId id="405" r:id="rId24"/>
    <p:sldId id="513" r:id="rId25"/>
    <p:sldId id="514" r:id="rId26"/>
    <p:sldId id="406" r:id="rId27"/>
    <p:sldId id="534" r:id="rId28"/>
    <p:sldId id="535" r:id="rId29"/>
    <p:sldId id="407" r:id="rId30"/>
    <p:sldId id="408" r:id="rId31"/>
    <p:sldId id="515" r:id="rId32"/>
    <p:sldId id="409" r:id="rId33"/>
    <p:sldId id="410" r:id="rId34"/>
    <p:sldId id="411" r:id="rId35"/>
    <p:sldId id="412" r:id="rId36"/>
    <p:sldId id="516" r:id="rId37"/>
    <p:sldId id="517" r:id="rId38"/>
    <p:sldId id="413" r:id="rId39"/>
    <p:sldId id="414" r:id="rId40"/>
    <p:sldId id="518" r:id="rId41"/>
    <p:sldId id="415" r:id="rId42"/>
    <p:sldId id="416" r:id="rId43"/>
    <p:sldId id="417" r:id="rId44"/>
    <p:sldId id="418" r:id="rId45"/>
    <p:sldId id="419" r:id="rId46"/>
    <p:sldId id="420" r:id="rId47"/>
    <p:sldId id="421" r:id="rId48"/>
    <p:sldId id="422" r:id="rId49"/>
    <p:sldId id="423" r:id="rId50"/>
    <p:sldId id="424" r:id="rId51"/>
    <p:sldId id="425" r:id="rId52"/>
    <p:sldId id="426" r:id="rId53"/>
    <p:sldId id="427" r:id="rId54"/>
    <p:sldId id="428" r:id="rId55"/>
    <p:sldId id="429" r:id="rId56"/>
    <p:sldId id="430" r:id="rId57"/>
    <p:sldId id="431" r:id="rId58"/>
    <p:sldId id="432" r:id="rId59"/>
    <p:sldId id="433" r:id="rId60"/>
    <p:sldId id="434" r:id="rId61"/>
    <p:sldId id="519" r:id="rId62"/>
    <p:sldId id="435" r:id="rId63"/>
    <p:sldId id="436" r:id="rId64"/>
    <p:sldId id="437" r:id="rId65"/>
    <p:sldId id="438" r:id="rId66"/>
    <p:sldId id="520" r:id="rId67"/>
    <p:sldId id="439" r:id="rId68"/>
    <p:sldId id="440" r:id="rId69"/>
    <p:sldId id="442" r:id="rId70"/>
    <p:sldId id="443" r:id="rId71"/>
    <p:sldId id="444" r:id="rId72"/>
    <p:sldId id="445" r:id="rId73"/>
    <p:sldId id="446" r:id="rId74"/>
    <p:sldId id="447" r:id="rId75"/>
    <p:sldId id="448" r:id="rId76"/>
    <p:sldId id="449" r:id="rId77"/>
    <p:sldId id="450" r:id="rId78"/>
    <p:sldId id="521" r:id="rId79"/>
    <p:sldId id="451" r:id="rId80"/>
    <p:sldId id="522" r:id="rId81"/>
    <p:sldId id="452" r:id="rId82"/>
    <p:sldId id="453" r:id="rId83"/>
    <p:sldId id="454" r:id="rId84"/>
    <p:sldId id="523" r:id="rId85"/>
    <p:sldId id="455" r:id="rId86"/>
    <p:sldId id="456" r:id="rId87"/>
    <p:sldId id="457" r:id="rId88"/>
    <p:sldId id="458" r:id="rId89"/>
    <p:sldId id="459" r:id="rId90"/>
    <p:sldId id="461" r:id="rId91"/>
    <p:sldId id="462" r:id="rId92"/>
    <p:sldId id="463" r:id="rId93"/>
    <p:sldId id="464" r:id="rId94"/>
    <p:sldId id="524" r:id="rId95"/>
    <p:sldId id="465" r:id="rId96"/>
    <p:sldId id="525" r:id="rId97"/>
    <p:sldId id="466" r:id="rId98"/>
    <p:sldId id="467" r:id="rId99"/>
    <p:sldId id="468" r:id="rId100"/>
    <p:sldId id="469" r:id="rId101"/>
    <p:sldId id="470" r:id="rId102"/>
    <p:sldId id="526" r:id="rId103"/>
    <p:sldId id="471" r:id="rId104"/>
    <p:sldId id="472" r:id="rId105"/>
    <p:sldId id="527" r:id="rId106"/>
    <p:sldId id="474" r:id="rId107"/>
    <p:sldId id="475" r:id="rId108"/>
    <p:sldId id="476" r:id="rId109"/>
    <p:sldId id="477" r:id="rId110"/>
    <p:sldId id="529" r:id="rId111"/>
    <p:sldId id="478" r:id="rId112"/>
    <p:sldId id="479" r:id="rId113"/>
    <p:sldId id="480" r:id="rId114"/>
    <p:sldId id="481" r:id="rId115"/>
    <p:sldId id="482" r:id="rId116"/>
    <p:sldId id="530" r:id="rId117"/>
    <p:sldId id="483" r:id="rId118"/>
    <p:sldId id="484" r:id="rId119"/>
    <p:sldId id="485" r:id="rId120"/>
    <p:sldId id="531" r:id="rId121"/>
    <p:sldId id="486" r:id="rId122"/>
    <p:sldId id="487" r:id="rId123"/>
    <p:sldId id="488" r:id="rId124"/>
    <p:sldId id="532" r:id="rId125"/>
    <p:sldId id="490" r:id="rId126"/>
    <p:sldId id="491" r:id="rId127"/>
    <p:sldId id="492" r:id="rId128"/>
    <p:sldId id="493" r:id="rId129"/>
    <p:sldId id="494" r:id="rId130"/>
    <p:sldId id="495" r:id="rId131"/>
    <p:sldId id="496" r:id="rId132"/>
    <p:sldId id="497" r:id="rId133"/>
    <p:sldId id="498" r:id="rId134"/>
    <p:sldId id="499" r:id="rId135"/>
    <p:sldId id="500" r:id="rId136"/>
    <p:sldId id="501" r:id="rId137"/>
    <p:sldId id="502" r:id="rId138"/>
    <p:sldId id="503" r:id="rId139"/>
    <p:sldId id="504" r:id="rId140"/>
    <p:sldId id="505" r:id="rId141"/>
    <p:sldId id="506" r:id="rId142"/>
    <p:sldId id="533" r:id="rId143"/>
    <p:sldId id="389" r:id="rId1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FEE"/>
    <a:srgbClr val="FF0066"/>
    <a:srgbClr val="008000"/>
    <a:srgbClr val="85F5FB"/>
    <a:srgbClr val="E775CF"/>
    <a:srgbClr val="D927B3"/>
    <a:srgbClr val="FFCE33"/>
    <a:srgbClr val="BCA604"/>
    <a:srgbClr val="FFDA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76" autoAdjust="0"/>
    <p:restoredTop sz="94660"/>
  </p:normalViewPr>
  <p:slideViewPr>
    <p:cSldViewPr>
      <p:cViewPr varScale="1">
        <p:scale>
          <a:sx n="62" d="100"/>
          <a:sy n="62" d="100"/>
        </p:scale>
        <p:origin x="1472" y="5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ableStyles" Target="tableStyle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84145C-2CA1-4B43-84EF-E3A64CF15305}" type="datetimeFigureOut">
              <a:rPr lang="en-IN" smtClean="0"/>
              <a:pPr/>
              <a:t>12-03-2026</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AF1B2B-4E5B-40EE-BD44-8C5FC9CB99C5}" type="slidenum">
              <a:rPr lang="en-IN" smtClean="0"/>
              <a:pPr/>
              <a:t>‹#›</a:t>
            </a:fld>
            <a:endParaRPr lang="en-IN" dirty="0"/>
          </a:p>
        </p:txBody>
      </p:sp>
    </p:spTree>
    <p:extLst>
      <p:ext uri="{BB962C8B-B14F-4D97-AF65-F5344CB8AC3E}">
        <p14:creationId xmlns:p14="http://schemas.microsoft.com/office/powerpoint/2010/main" val="4042567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92138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Tree>
    <p:extLst>
      <p:ext uri="{BB962C8B-B14F-4D97-AF65-F5344CB8AC3E}">
        <p14:creationId xmlns:p14="http://schemas.microsoft.com/office/powerpoint/2010/main" val="2999370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45604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7184" y="0"/>
            <a:ext cx="2906815" cy="503675"/>
          </a:xfrm>
          <a:blipFill>
            <a:blip r:embed="rId2"/>
            <a:stretch>
              <a:fillRect/>
            </a:stretch>
          </a:blipFill>
        </p:spPr>
        <p:txBody>
          <a:bodyPr anchor="t"/>
          <a:lstStyle>
            <a:lvl1pPr algn="l">
              <a:defRPr sz="4000" b="1" cap="all"/>
            </a:lvl1pPr>
          </a:lstStyle>
          <a:p>
            <a:r>
              <a:rPr lang="en-US" dirty="0"/>
              <a:t>Click to edit Master title style</a:t>
            </a:r>
            <a:endParaRPr lang="en-IN" dirty="0"/>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36866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26126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10684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551797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795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85351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6"/>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23373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52755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38197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5000">
              <a:schemeClr val="bg1"/>
            </a:gs>
            <a:gs pos="0">
              <a:srgbClr val="99CCFF"/>
            </a:gs>
            <a:gs pos="85000">
              <a:schemeClr val="bg1"/>
            </a:gs>
            <a:gs pos="100000">
              <a:srgbClr val="99CCF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55" y="219935"/>
            <a:ext cx="7534115" cy="360919"/>
          </a:xfrm>
          <a:prstGeom prst="rect">
            <a:avLst/>
          </a:prstGeom>
        </p:spPr>
        <p:txBody>
          <a:bodyPr vert="horz" lIns="72000" tIns="45720" rIns="72000" bIns="45720" rtlCol="0" anchor="ctr">
            <a:noAutofit/>
          </a:bodyPr>
          <a:lstStyle/>
          <a:p>
            <a:r>
              <a:rPr lang="en-US"/>
              <a:t>Click to edit Master title style</a:t>
            </a:r>
            <a:endParaRPr lang="en-IN" dirty="0"/>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6" name="Picture 3" descr="C:\Users\admin\Desktop\nitteimg-footer.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689342" y="152200"/>
            <a:ext cx="1238758" cy="432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drawing&#10;&#10;Description automatically generated">
            <a:extLst>
              <a:ext uri="{FF2B5EF4-FFF2-40B4-BE49-F238E27FC236}">
                <a16:creationId xmlns:a16="http://schemas.microsoft.com/office/drawing/2014/main" id="{52215600-C711-4B15-A239-16D284AA39D0}"/>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413502" y="141238"/>
            <a:ext cx="2575343" cy="36091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2775734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sldNum="0" hdr="0" ftr="0"/>
  <p:txStyles>
    <p:titleStyle>
      <a:lvl1pPr algn="l" defTabSz="914400" rtl="0" eaLnBrk="1" latinLnBrk="0" hangingPunct="1">
        <a:spcBef>
          <a:spcPct val="0"/>
        </a:spcBef>
        <a:buNone/>
        <a:defRPr lang="en-IN" sz="2800" b="1" kern="1200" dirty="0">
          <a:solidFill>
            <a:srgbClr val="C00000"/>
          </a:solidFill>
          <a:effectLst/>
          <a:latin typeface="Trebuchet MS"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99E32E43-15D9-4D74-9BAD-6B13AB34AC2A}"/>
              </a:ext>
            </a:extLst>
          </p:cNvPr>
          <p:cNvSpPr txBox="1">
            <a:spLocks/>
          </p:cNvSpPr>
          <p:nvPr/>
        </p:nvSpPr>
        <p:spPr>
          <a:xfrm>
            <a:off x="19905" y="1251234"/>
            <a:ext cx="9143999" cy="1592701"/>
          </a:xfrm>
          <a:prstGeom prst="rect">
            <a:avLst/>
          </a:prstGeom>
          <a:gradFill>
            <a:gsLst>
              <a:gs pos="15000">
                <a:schemeClr val="bg1"/>
              </a:gs>
              <a:gs pos="0">
                <a:schemeClr val="accent6"/>
              </a:gs>
              <a:gs pos="85000">
                <a:schemeClr val="bg1"/>
              </a:gs>
              <a:gs pos="100000">
                <a:schemeClr val="accent6">
                  <a:lumMod val="60000"/>
                  <a:lumOff val="40000"/>
                </a:schemeClr>
              </a:gs>
            </a:gsLst>
            <a:lin ang="5400000" scaled="0"/>
          </a:gradFill>
        </p:spPr>
        <p:txBody>
          <a:bodyPr vert="horz" lIns="91440" tIns="45720" rIns="91440" bIns="45720"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600"/>
              </a:spcBef>
              <a:spcAft>
                <a:spcPts val="600"/>
              </a:spcAft>
            </a:pPr>
            <a:r>
              <a:rPr lang="en-US" sz="2800" b="1" spc="50" dirty="0">
                <a:solidFill>
                  <a:srgbClr val="FF0000"/>
                </a:solidFill>
                <a:effectLst>
                  <a:outerShdw blurRad="38100" dist="38100" dir="2700000" algn="tl">
                    <a:srgbClr val="000000">
                      <a:alpha val="43137"/>
                    </a:srgbClr>
                  </a:outerShdw>
                </a:effectLst>
                <a:latin typeface="Trebuchet MS" panose="020B0603020202020204" pitchFamily="34" charset="0"/>
                <a:cs typeface="Arial" pitchFamily="34" charset="0"/>
              </a:rPr>
              <a:t>ARM PROCESSOR FUNDAMENTALS</a:t>
            </a:r>
          </a:p>
        </p:txBody>
      </p:sp>
    </p:spTree>
    <p:extLst>
      <p:ext uri="{BB962C8B-B14F-4D97-AF65-F5344CB8AC3E}">
        <p14:creationId xmlns:p14="http://schemas.microsoft.com/office/powerpoint/2010/main" val="55441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FBA32E-3077-40A5-84C6-C2AF05F19461}"/>
              </a:ext>
            </a:extLst>
          </p:cNvPr>
          <p:cNvSpPr>
            <a:spLocks noGrp="1"/>
          </p:cNvSpPr>
          <p:nvPr>
            <p:ph idx="1"/>
          </p:nvPr>
        </p:nvSpPr>
        <p:spPr>
          <a:xfrm>
            <a:off x="457200" y="1583795"/>
            <a:ext cx="8229600" cy="4542369"/>
          </a:xfrm>
        </p:spPr>
        <p:txBody>
          <a:bodyPr>
            <a:normAutofit/>
          </a:bodyPr>
          <a:lstStyle/>
          <a:p>
            <a:pPr algn="just"/>
            <a:r>
              <a:rPr lang="en-US" sz="2800" dirty="0"/>
              <a:t>The ARM processor core is a key component of many successful 32-bit embedded systems</a:t>
            </a:r>
          </a:p>
          <a:p>
            <a:pPr algn="just"/>
            <a:endParaRPr lang="en-US" sz="2800" dirty="0"/>
          </a:p>
          <a:p>
            <a:pPr algn="just"/>
            <a:r>
              <a:rPr lang="en-US" sz="2800" dirty="0"/>
              <a:t>ARM cores are widely used in mobile phones, handheld organizers, and a multitude of other everyday portable consumer devices</a:t>
            </a:r>
          </a:p>
        </p:txBody>
      </p:sp>
    </p:spTree>
    <p:extLst>
      <p:ext uri="{BB962C8B-B14F-4D97-AF65-F5344CB8AC3E}">
        <p14:creationId xmlns:p14="http://schemas.microsoft.com/office/powerpoint/2010/main" val="256638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7D85A8-0E16-4E6F-A129-4BF84733B8B9}"/>
              </a:ext>
            </a:extLst>
          </p:cNvPr>
          <p:cNvSpPr>
            <a:spLocks noGrp="1"/>
          </p:cNvSpPr>
          <p:nvPr>
            <p:ph idx="1"/>
          </p:nvPr>
        </p:nvSpPr>
        <p:spPr>
          <a:xfrm>
            <a:off x="457200" y="1178750"/>
            <a:ext cx="8229600" cy="4812399"/>
          </a:xfrm>
        </p:spPr>
        <p:txBody>
          <a:bodyPr>
            <a:normAutofit/>
          </a:bodyPr>
          <a:lstStyle/>
          <a:p>
            <a:pPr algn="just"/>
            <a:r>
              <a:rPr lang="en-US" sz="2800" dirty="0"/>
              <a:t>The first ARM1 prototype was designed in 1985</a:t>
            </a:r>
          </a:p>
          <a:p>
            <a:pPr algn="just"/>
            <a:endParaRPr lang="en-US" sz="2800" dirty="0"/>
          </a:p>
          <a:p>
            <a:pPr algn="just"/>
            <a:r>
              <a:rPr lang="en-US" sz="2800" dirty="0"/>
              <a:t>Over one billion ARM processors had been shipped worldwide by the end of 2001</a:t>
            </a:r>
          </a:p>
          <a:p>
            <a:pPr algn="just"/>
            <a:endParaRPr lang="en-US" sz="2800" dirty="0"/>
          </a:p>
          <a:p>
            <a:pPr algn="just"/>
            <a:r>
              <a:rPr lang="en-US" sz="2800" dirty="0"/>
              <a:t>The ARM Company bases their success on a simple and powerful original design, which continues to improve today through constant technical innovation</a:t>
            </a:r>
            <a:endParaRPr lang="en-IN" sz="2800" dirty="0"/>
          </a:p>
          <a:p>
            <a:pPr algn="just"/>
            <a:endParaRPr lang="en-IN" sz="2800" dirty="0"/>
          </a:p>
        </p:txBody>
      </p:sp>
    </p:spTree>
    <p:extLst>
      <p:ext uri="{BB962C8B-B14F-4D97-AF65-F5344CB8AC3E}">
        <p14:creationId xmlns:p14="http://schemas.microsoft.com/office/powerpoint/2010/main" val="2671559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9C222D-AFEE-4359-B474-727A9EBB6E77}"/>
              </a:ext>
            </a:extLst>
          </p:cNvPr>
          <p:cNvSpPr>
            <a:spLocks noGrp="1"/>
          </p:cNvSpPr>
          <p:nvPr>
            <p:ph idx="1"/>
          </p:nvPr>
        </p:nvSpPr>
        <p:spPr>
          <a:xfrm>
            <a:off x="457200" y="1628800"/>
            <a:ext cx="8229600" cy="4497364"/>
          </a:xfrm>
        </p:spPr>
        <p:txBody>
          <a:bodyPr>
            <a:normAutofit/>
          </a:bodyPr>
          <a:lstStyle/>
          <a:p>
            <a:pPr algn="just"/>
            <a:r>
              <a:rPr lang="en-US" dirty="0"/>
              <a:t>The ARM core uses </a:t>
            </a:r>
            <a:r>
              <a:rPr lang="en-US" i="1" dirty="0"/>
              <a:t>reduced instruction set computer (RISC)</a:t>
            </a:r>
            <a:r>
              <a:rPr lang="en-US" dirty="0"/>
              <a:t> architecture</a:t>
            </a:r>
          </a:p>
          <a:p>
            <a:pPr algn="just"/>
            <a:endParaRPr lang="en-US" dirty="0"/>
          </a:p>
          <a:p>
            <a:pPr algn="just"/>
            <a:r>
              <a:rPr lang="en-US" dirty="0"/>
              <a:t>RISC is a design philosophy aimed at delivering simple but powerful instructions that execute within a single cycle at a high clock speed</a:t>
            </a:r>
          </a:p>
          <a:p>
            <a:pPr algn="just"/>
            <a:endParaRPr lang="en-US" dirty="0"/>
          </a:p>
        </p:txBody>
      </p:sp>
      <p:sp>
        <p:nvSpPr>
          <p:cNvPr id="3" name="Rectangle 2">
            <a:extLst>
              <a:ext uri="{FF2B5EF4-FFF2-40B4-BE49-F238E27FC236}">
                <a16:creationId xmlns:a16="http://schemas.microsoft.com/office/drawing/2014/main" id="{339DBEEB-F95B-40D3-B469-285DFD2AF8C2}"/>
              </a:ext>
            </a:extLst>
          </p:cNvPr>
          <p:cNvSpPr/>
          <p:nvPr/>
        </p:nvSpPr>
        <p:spPr>
          <a:xfrm>
            <a:off x="0" y="143635"/>
            <a:ext cx="5220580" cy="430887"/>
          </a:xfrm>
          <a:prstGeom prst="rect">
            <a:avLst/>
          </a:prstGeom>
        </p:spPr>
        <p:txBody>
          <a:bodyPr wrap="square">
            <a:spAutoFit/>
          </a:bodyPr>
          <a:lstStyle/>
          <a:p>
            <a:r>
              <a:rPr lang="en-US" sz="22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THE RISC DESIGN PHYLOSOPHY:</a:t>
            </a:r>
            <a:endParaRPr lang="en-IN" sz="2200" dirty="0">
              <a:solidFill>
                <a:srgbClr val="FF0000"/>
              </a:solidFill>
            </a:endParaRPr>
          </a:p>
        </p:txBody>
      </p:sp>
    </p:spTree>
    <p:extLst>
      <p:ext uri="{BB962C8B-B14F-4D97-AF65-F5344CB8AC3E}">
        <p14:creationId xmlns:p14="http://schemas.microsoft.com/office/powerpoint/2010/main" val="3108159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A868D8-6B77-474E-B6D2-2B906BBD90E0}"/>
              </a:ext>
            </a:extLst>
          </p:cNvPr>
          <p:cNvSpPr>
            <a:spLocks noGrp="1"/>
          </p:cNvSpPr>
          <p:nvPr>
            <p:ph idx="1"/>
          </p:nvPr>
        </p:nvSpPr>
        <p:spPr>
          <a:xfrm>
            <a:off x="457200" y="1268761"/>
            <a:ext cx="8229600" cy="4857404"/>
          </a:xfrm>
        </p:spPr>
        <p:txBody>
          <a:bodyPr>
            <a:normAutofit/>
          </a:bodyPr>
          <a:lstStyle/>
          <a:p>
            <a:pPr algn="just"/>
            <a:r>
              <a:rPr lang="en-US" sz="3000" dirty="0"/>
              <a:t>The RISC philosophy concentrates on reducing the complexity of instructions performed by the hardware because it is easier to provide greater flexibility and intelligence in software rather than hardware</a:t>
            </a:r>
          </a:p>
          <a:p>
            <a:pPr algn="just"/>
            <a:endParaRPr lang="en-US" sz="3000" dirty="0"/>
          </a:p>
          <a:p>
            <a:pPr algn="just"/>
            <a:r>
              <a:rPr lang="en-US" sz="3000" dirty="0"/>
              <a:t>As a result, a RISC design places greater demands on the compiler</a:t>
            </a:r>
            <a:endParaRPr lang="en-IN" sz="3000" dirty="0"/>
          </a:p>
          <a:p>
            <a:pPr algn="just"/>
            <a:endParaRPr lang="en-IN" sz="3000" dirty="0"/>
          </a:p>
        </p:txBody>
      </p:sp>
    </p:spTree>
    <p:extLst>
      <p:ext uri="{BB962C8B-B14F-4D97-AF65-F5344CB8AC3E}">
        <p14:creationId xmlns:p14="http://schemas.microsoft.com/office/powerpoint/2010/main" val="2559343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309629-99BA-4E40-B194-01C894382240}"/>
              </a:ext>
            </a:extLst>
          </p:cNvPr>
          <p:cNvSpPr>
            <a:spLocks noGrp="1"/>
          </p:cNvSpPr>
          <p:nvPr>
            <p:ph idx="1"/>
          </p:nvPr>
        </p:nvSpPr>
        <p:spPr>
          <a:xfrm>
            <a:off x="457200" y="2078850"/>
            <a:ext cx="8229600" cy="4047314"/>
          </a:xfrm>
        </p:spPr>
        <p:txBody>
          <a:bodyPr>
            <a:normAutofit/>
          </a:bodyPr>
          <a:lstStyle/>
          <a:p>
            <a:pPr marL="0" indent="0" algn="just">
              <a:buNone/>
            </a:pPr>
            <a:r>
              <a:rPr lang="en-US" sz="3000" dirty="0"/>
              <a:t>In contrast, the traditional </a:t>
            </a:r>
            <a:r>
              <a:rPr lang="en-US" sz="3000" i="1" dirty="0"/>
              <a:t>complex instruction set computer (CISC)</a:t>
            </a:r>
            <a:r>
              <a:rPr lang="en-US" sz="3000" dirty="0"/>
              <a:t> relies more on the hardware for instruction functionality, and consequently the CISC instructions are more complicated</a:t>
            </a:r>
          </a:p>
          <a:p>
            <a:pPr algn="just"/>
            <a:endParaRPr lang="en-US" sz="3000" dirty="0"/>
          </a:p>
        </p:txBody>
      </p:sp>
    </p:spTree>
    <p:extLst>
      <p:ext uri="{BB962C8B-B14F-4D97-AF65-F5344CB8AC3E}">
        <p14:creationId xmlns:p14="http://schemas.microsoft.com/office/powerpoint/2010/main" val="1373806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446C4E6-B00B-4772-806B-E125CDD2C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8" y="1268760"/>
            <a:ext cx="8957157" cy="3915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861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52478072-8DAF-4A23-9240-9F0093E64D6D}"/>
              </a:ext>
            </a:extLst>
          </p:cNvPr>
          <p:cNvGraphicFramePr>
            <a:graphicFrameLocks noGrp="1"/>
          </p:cNvGraphicFramePr>
          <p:nvPr>
            <p:ph idx="1"/>
            <p:extLst>
              <p:ext uri="{D42A27DB-BD31-4B8C-83A1-F6EECF244321}">
                <p14:modId xmlns:p14="http://schemas.microsoft.com/office/powerpoint/2010/main" val="3880313157"/>
              </p:ext>
            </p:extLst>
          </p:nvPr>
        </p:nvGraphicFramePr>
        <p:xfrm>
          <a:off x="0" y="638690"/>
          <a:ext cx="9144000" cy="6219309"/>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505313490"/>
                    </a:ext>
                  </a:extLst>
                </a:gridCol>
                <a:gridCol w="4572000">
                  <a:extLst>
                    <a:ext uri="{9D8B030D-6E8A-4147-A177-3AD203B41FA5}">
                      <a16:colId xmlns:a16="http://schemas.microsoft.com/office/drawing/2014/main" val="3932157418"/>
                    </a:ext>
                  </a:extLst>
                </a:gridCol>
              </a:tblGrid>
              <a:tr h="475403">
                <a:tc>
                  <a:txBody>
                    <a:bodyPr/>
                    <a:lstStyle/>
                    <a:p>
                      <a:pPr algn="ctr"/>
                      <a:r>
                        <a:rPr lang="en-US" b="1" dirty="0"/>
                        <a:t>CISC</a:t>
                      </a:r>
                      <a:endParaRPr lang="en-IN" b="1" dirty="0"/>
                    </a:p>
                  </a:txBody>
                  <a:tcPr/>
                </a:tc>
                <a:tc>
                  <a:txBody>
                    <a:bodyPr/>
                    <a:lstStyle/>
                    <a:p>
                      <a:pPr algn="ctr"/>
                      <a:r>
                        <a:rPr lang="en-US" b="1" dirty="0"/>
                        <a:t>RISC</a:t>
                      </a:r>
                      <a:endParaRPr lang="en-IN" b="1" dirty="0"/>
                    </a:p>
                  </a:txBody>
                  <a:tcPr/>
                </a:tc>
                <a:extLst>
                  <a:ext uri="{0D108BD9-81ED-4DB2-BD59-A6C34878D82A}">
                    <a16:rowId xmlns:a16="http://schemas.microsoft.com/office/drawing/2014/main" val="984494589"/>
                  </a:ext>
                </a:extLst>
              </a:tr>
              <a:tr h="820558">
                <a:tc>
                  <a:txBody>
                    <a:bodyPr/>
                    <a:lstStyle/>
                    <a:p>
                      <a:pPr algn="ctr"/>
                      <a:r>
                        <a:rPr lang="en-US" sz="1800" kern="1200" dirty="0">
                          <a:solidFill>
                            <a:schemeClr val="dk1"/>
                          </a:solidFill>
                          <a:effectLst/>
                          <a:latin typeface="+mn-lt"/>
                          <a:ea typeface="+mn-ea"/>
                          <a:cs typeface="+mn-cs"/>
                        </a:rPr>
                        <a:t>Complex instructions, taking multiple clock</a:t>
                      </a:r>
                      <a:endParaRPr lang="en-IN" dirty="0"/>
                    </a:p>
                  </a:txBody>
                  <a:tcPr/>
                </a:tc>
                <a:tc>
                  <a:txBody>
                    <a:bodyPr/>
                    <a:lstStyle/>
                    <a:p>
                      <a:pPr algn="ctr"/>
                      <a:r>
                        <a:rPr lang="en-US" sz="1800" kern="1200" dirty="0">
                          <a:solidFill>
                            <a:schemeClr val="dk1"/>
                          </a:solidFill>
                          <a:effectLst/>
                          <a:latin typeface="+mn-lt"/>
                          <a:ea typeface="+mn-ea"/>
                          <a:cs typeface="+mn-cs"/>
                        </a:rPr>
                        <a:t>Simple instructions, taking single clock</a:t>
                      </a:r>
                      <a:endParaRPr lang="en-IN" dirty="0"/>
                    </a:p>
                  </a:txBody>
                  <a:tcPr/>
                </a:tc>
                <a:extLst>
                  <a:ext uri="{0D108BD9-81ED-4DB2-BD59-A6C34878D82A}">
                    <a16:rowId xmlns:a16="http://schemas.microsoft.com/office/drawing/2014/main" val="244320662"/>
                  </a:ext>
                </a:extLst>
              </a:tr>
              <a:tr h="820558">
                <a:tc>
                  <a:txBody>
                    <a:bodyPr/>
                    <a:lstStyle/>
                    <a:p>
                      <a:pPr algn="ctr"/>
                      <a:r>
                        <a:rPr lang="en-US" sz="1800" kern="1200" dirty="0">
                          <a:solidFill>
                            <a:schemeClr val="dk1"/>
                          </a:solidFill>
                          <a:effectLst/>
                          <a:latin typeface="+mn-lt"/>
                          <a:ea typeface="+mn-ea"/>
                          <a:cs typeface="+mn-cs"/>
                        </a:rPr>
                        <a:t>Emphasis on hardware, complexity is in the micro-program/processor</a:t>
                      </a:r>
                      <a:endParaRPr lang="en-IN" dirty="0"/>
                    </a:p>
                  </a:txBody>
                  <a:tcPr/>
                </a:tc>
                <a:tc>
                  <a:txBody>
                    <a:bodyPr/>
                    <a:lstStyle/>
                    <a:p>
                      <a:pPr algn="ctr"/>
                      <a:r>
                        <a:rPr lang="en-US" sz="1800" kern="1200" dirty="0">
                          <a:solidFill>
                            <a:schemeClr val="dk1"/>
                          </a:solidFill>
                          <a:effectLst/>
                          <a:latin typeface="+mn-lt"/>
                          <a:ea typeface="+mn-ea"/>
                          <a:cs typeface="+mn-cs"/>
                        </a:rPr>
                        <a:t>Emphasis on software, complexity is in the Complier</a:t>
                      </a:r>
                      <a:endParaRPr lang="en-IN" dirty="0"/>
                    </a:p>
                  </a:txBody>
                  <a:tcPr/>
                </a:tc>
                <a:extLst>
                  <a:ext uri="{0D108BD9-81ED-4DB2-BD59-A6C34878D82A}">
                    <a16:rowId xmlns:a16="http://schemas.microsoft.com/office/drawing/2014/main" val="4160382295"/>
                  </a:ext>
                </a:extLst>
              </a:tr>
              <a:tr h="820558">
                <a:tc>
                  <a:txBody>
                    <a:bodyPr/>
                    <a:lstStyle/>
                    <a:p>
                      <a:pPr algn="ctr"/>
                      <a:r>
                        <a:rPr lang="en-US" sz="1800" kern="1200" dirty="0">
                          <a:solidFill>
                            <a:schemeClr val="dk1"/>
                          </a:solidFill>
                          <a:effectLst/>
                          <a:latin typeface="+mn-lt"/>
                          <a:ea typeface="+mn-ea"/>
                          <a:cs typeface="+mn-cs"/>
                        </a:rPr>
                        <a:t>Complex instructions, instructions executed by micro-program/processor</a:t>
                      </a:r>
                      <a:endParaRPr lang="en-IN" dirty="0"/>
                    </a:p>
                  </a:txBody>
                  <a:tcPr/>
                </a:tc>
                <a:tc>
                  <a:txBody>
                    <a:bodyPr/>
                    <a:lstStyle/>
                    <a:p>
                      <a:pPr algn="ctr"/>
                      <a:r>
                        <a:rPr lang="en-US" sz="1800" kern="1200" dirty="0">
                          <a:solidFill>
                            <a:schemeClr val="dk1"/>
                          </a:solidFill>
                          <a:effectLst/>
                          <a:latin typeface="+mn-lt"/>
                          <a:ea typeface="+mn-ea"/>
                          <a:cs typeface="+mn-cs"/>
                        </a:rPr>
                        <a:t>Reduced instructions, instructions executed by Hardware</a:t>
                      </a:r>
                      <a:endParaRPr lang="en-IN" dirty="0"/>
                    </a:p>
                  </a:txBody>
                  <a:tcPr/>
                </a:tc>
                <a:extLst>
                  <a:ext uri="{0D108BD9-81ED-4DB2-BD59-A6C34878D82A}">
                    <a16:rowId xmlns:a16="http://schemas.microsoft.com/office/drawing/2014/main" val="1123694283"/>
                  </a:ext>
                </a:extLst>
              </a:tr>
              <a:tr h="820558">
                <a:tc>
                  <a:txBody>
                    <a:bodyPr/>
                    <a:lstStyle/>
                    <a:p>
                      <a:pPr algn="ctr"/>
                      <a:r>
                        <a:rPr lang="en-US" sz="1800" kern="1200" dirty="0">
                          <a:solidFill>
                            <a:schemeClr val="dk1"/>
                          </a:solidFill>
                          <a:effectLst/>
                          <a:latin typeface="+mn-lt"/>
                          <a:ea typeface="+mn-ea"/>
                          <a:cs typeface="+mn-cs"/>
                        </a:rPr>
                        <a:t>Variable format instructions, single register set and many instructions</a:t>
                      </a:r>
                      <a:endParaRPr lang="en-IN" dirty="0"/>
                    </a:p>
                  </a:txBody>
                  <a:tcPr/>
                </a:tc>
                <a:tc>
                  <a:txBody>
                    <a:bodyPr/>
                    <a:lstStyle/>
                    <a:p>
                      <a:pPr algn="ctr"/>
                      <a:r>
                        <a:rPr lang="en-US" sz="1800" kern="1200" dirty="0">
                          <a:solidFill>
                            <a:schemeClr val="dk1"/>
                          </a:solidFill>
                          <a:effectLst/>
                          <a:latin typeface="+mn-lt"/>
                          <a:ea typeface="+mn-ea"/>
                          <a:cs typeface="+mn-cs"/>
                        </a:rPr>
                        <a:t>Fixed format instructions, multiple register sets and few instructions</a:t>
                      </a:r>
                      <a:endParaRPr lang="en-IN" dirty="0"/>
                    </a:p>
                  </a:txBody>
                  <a:tcPr/>
                </a:tc>
                <a:extLst>
                  <a:ext uri="{0D108BD9-81ED-4DB2-BD59-A6C34878D82A}">
                    <a16:rowId xmlns:a16="http://schemas.microsoft.com/office/drawing/2014/main" val="2616678586"/>
                  </a:ext>
                </a:extLst>
              </a:tr>
              <a:tr h="820558">
                <a:tc>
                  <a:txBody>
                    <a:bodyPr/>
                    <a:lstStyle/>
                    <a:p>
                      <a:pPr algn="ctr"/>
                      <a:r>
                        <a:rPr lang="en-US" sz="1800" kern="1200" dirty="0">
                          <a:solidFill>
                            <a:schemeClr val="dk1"/>
                          </a:solidFill>
                          <a:effectLst/>
                          <a:latin typeface="+mn-lt"/>
                          <a:ea typeface="+mn-ea"/>
                          <a:cs typeface="+mn-cs"/>
                        </a:rPr>
                        <a:t>Many instructions and many addressing modes</a:t>
                      </a:r>
                      <a:endParaRPr lang="en-IN" dirty="0"/>
                    </a:p>
                  </a:txBody>
                  <a:tcPr/>
                </a:tc>
                <a:tc>
                  <a:txBody>
                    <a:bodyPr/>
                    <a:lstStyle/>
                    <a:p>
                      <a:pPr algn="ctr"/>
                      <a:r>
                        <a:rPr lang="en-US" sz="1800" kern="1200" dirty="0">
                          <a:solidFill>
                            <a:schemeClr val="dk1"/>
                          </a:solidFill>
                          <a:effectLst/>
                          <a:latin typeface="+mn-lt"/>
                          <a:ea typeface="+mn-ea"/>
                          <a:cs typeface="+mn-cs"/>
                        </a:rPr>
                        <a:t>Fixed instructions and few addressing modes</a:t>
                      </a:r>
                      <a:endParaRPr lang="en-IN" dirty="0"/>
                    </a:p>
                  </a:txBody>
                  <a:tcPr/>
                </a:tc>
                <a:extLst>
                  <a:ext uri="{0D108BD9-81ED-4DB2-BD59-A6C34878D82A}">
                    <a16:rowId xmlns:a16="http://schemas.microsoft.com/office/drawing/2014/main" val="1351011540"/>
                  </a:ext>
                </a:extLst>
              </a:tr>
              <a:tr h="820558">
                <a:tc>
                  <a:txBody>
                    <a:bodyPr/>
                    <a:lstStyle/>
                    <a:p>
                      <a:pPr algn="ctr"/>
                      <a:r>
                        <a:rPr lang="en-US" sz="1800" kern="1200" dirty="0">
                          <a:solidFill>
                            <a:schemeClr val="dk1"/>
                          </a:solidFill>
                          <a:effectLst/>
                          <a:latin typeface="+mn-lt"/>
                          <a:ea typeface="+mn-ea"/>
                          <a:cs typeface="+mn-cs"/>
                        </a:rPr>
                        <a:t>Conditional jump is usually based on status register bit</a:t>
                      </a:r>
                      <a:endParaRPr lang="en-IN" dirty="0"/>
                    </a:p>
                  </a:txBody>
                  <a:tcPr/>
                </a:tc>
                <a:tc>
                  <a:txBody>
                    <a:bodyPr/>
                    <a:lstStyle/>
                    <a:p>
                      <a:pPr algn="ctr"/>
                      <a:r>
                        <a:rPr lang="en-US" sz="1800" kern="1200" dirty="0">
                          <a:solidFill>
                            <a:schemeClr val="dk1"/>
                          </a:solidFill>
                          <a:effectLst/>
                          <a:latin typeface="+mn-lt"/>
                          <a:ea typeface="+mn-ea"/>
                          <a:cs typeface="+mn-cs"/>
                        </a:rPr>
                        <a:t>Conditional  jump  can  be  based  on  a  bit anywhere in memory</a:t>
                      </a:r>
                      <a:endParaRPr lang="en-IN" dirty="0"/>
                    </a:p>
                  </a:txBody>
                  <a:tcPr/>
                </a:tc>
                <a:extLst>
                  <a:ext uri="{0D108BD9-81ED-4DB2-BD59-A6C34878D82A}">
                    <a16:rowId xmlns:a16="http://schemas.microsoft.com/office/drawing/2014/main" val="4286636224"/>
                  </a:ext>
                </a:extLst>
              </a:tr>
              <a:tr h="820558">
                <a:tc>
                  <a:txBody>
                    <a:bodyPr/>
                    <a:lstStyle/>
                    <a:p>
                      <a:pPr algn="ctr"/>
                      <a:r>
                        <a:rPr lang="en-US" sz="1800" kern="1200" dirty="0">
                          <a:solidFill>
                            <a:schemeClr val="dk1"/>
                          </a:solidFill>
                          <a:effectLst/>
                          <a:latin typeface="+mn-lt"/>
                          <a:ea typeface="+mn-ea"/>
                          <a:cs typeface="+mn-cs"/>
                        </a:rPr>
                        <a:t>Memory  reference  is  embedded  in  many instructions</a:t>
                      </a:r>
                      <a:endParaRPr lang="en-IN" dirty="0"/>
                    </a:p>
                  </a:txBody>
                  <a:tcPr/>
                </a:tc>
                <a:tc>
                  <a:txBody>
                    <a:bodyPr/>
                    <a:lstStyle/>
                    <a:p>
                      <a:pPr algn="ctr"/>
                      <a:r>
                        <a:rPr lang="en-US" sz="1800" kern="1200" dirty="0">
                          <a:solidFill>
                            <a:schemeClr val="dk1"/>
                          </a:solidFill>
                          <a:effectLst/>
                          <a:latin typeface="+mn-lt"/>
                          <a:ea typeface="+mn-ea"/>
                          <a:cs typeface="+mn-cs"/>
                        </a:rPr>
                        <a:t>Memory   reference   is   embedded   in LOAD/STORE instructions</a:t>
                      </a:r>
                      <a:endParaRPr lang="en-IN" dirty="0"/>
                    </a:p>
                  </a:txBody>
                  <a:tcPr/>
                </a:tc>
                <a:extLst>
                  <a:ext uri="{0D108BD9-81ED-4DB2-BD59-A6C34878D82A}">
                    <a16:rowId xmlns:a16="http://schemas.microsoft.com/office/drawing/2014/main" val="1596533708"/>
                  </a:ext>
                </a:extLst>
              </a:tr>
            </a:tbl>
          </a:graphicData>
        </a:graphic>
      </p:graphicFrame>
    </p:spTree>
    <p:extLst>
      <p:ext uri="{BB962C8B-B14F-4D97-AF65-F5344CB8AC3E}">
        <p14:creationId xmlns:p14="http://schemas.microsoft.com/office/powerpoint/2010/main" val="254611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D15E0E-C469-41C9-A8DC-F1B8060605AA}"/>
              </a:ext>
            </a:extLst>
          </p:cNvPr>
          <p:cNvSpPr>
            <a:spLocks noGrp="1"/>
          </p:cNvSpPr>
          <p:nvPr>
            <p:ph idx="1"/>
          </p:nvPr>
        </p:nvSpPr>
        <p:spPr>
          <a:xfrm>
            <a:off x="457200" y="1133745"/>
            <a:ext cx="8229600" cy="4992419"/>
          </a:xfrm>
        </p:spPr>
        <p:txBody>
          <a:bodyPr>
            <a:normAutofit/>
          </a:bodyPr>
          <a:lstStyle/>
          <a:p>
            <a:pPr marL="0" indent="0">
              <a:buNone/>
            </a:pPr>
            <a:r>
              <a:rPr lang="en-US" sz="2800" dirty="0"/>
              <a:t>The RISC philosophy is implemented with four major </a:t>
            </a:r>
            <a:r>
              <a:rPr lang="en-US" sz="2800" b="1" dirty="0"/>
              <a:t>design rules</a:t>
            </a:r>
            <a:r>
              <a:rPr lang="en-US" sz="2800" dirty="0"/>
              <a:t>:</a:t>
            </a:r>
            <a:endParaRPr lang="en-IN" sz="2800" dirty="0"/>
          </a:p>
          <a:p>
            <a:endParaRPr lang="en-US" sz="2800" dirty="0"/>
          </a:p>
          <a:p>
            <a:r>
              <a:rPr lang="en-IN" sz="2800" dirty="0">
                <a:solidFill>
                  <a:srgbClr val="FF0000"/>
                </a:solidFill>
              </a:rPr>
              <a:t>Instructions</a:t>
            </a:r>
          </a:p>
          <a:p>
            <a:r>
              <a:rPr lang="en-US" sz="2800" i="1" dirty="0">
                <a:solidFill>
                  <a:srgbClr val="FF0000"/>
                </a:solidFill>
              </a:rPr>
              <a:t>Pipelines</a:t>
            </a:r>
          </a:p>
          <a:p>
            <a:r>
              <a:rPr lang="en-US" sz="2800" i="1" dirty="0">
                <a:solidFill>
                  <a:srgbClr val="FF0000"/>
                </a:solidFill>
              </a:rPr>
              <a:t>Registers</a:t>
            </a:r>
          </a:p>
          <a:p>
            <a:r>
              <a:rPr lang="en-US" sz="2800" i="1" dirty="0">
                <a:solidFill>
                  <a:srgbClr val="FF0000"/>
                </a:solidFill>
              </a:rPr>
              <a:t>Load-store architecture</a:t>
            </a:r>
            <a:endParaRPr lang="en-IN" sz="2800" dirty="0">
              <a:solidFill>
                <a:srgbClr val="FF0000"/>
              </a:solidFill>
            </a:endParaRPr>
          </a:p>
          <a:p>
            <a:endParaRPr lang="en-IN" sz="2800" dirty="0"/>
          </a:p>
        </p:txBody>
      </p:sp>
    </p:spTree>
    <p:extLst>
      <p:ext uri="{BB962C8B-B14F-4D97-AF65-F5344CB8AC3E}">
        <p14:creationId xmlns:p14="http://schemas.microsoft.com/office/powerpoint/2010/main" val="3927375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C2AC7F-D17D-4E04-BE87-082F1EAEAC9A}"/>
              </a:ext>
            </a:extLst>
          </p:cNvPr>
          <p:cNvSpPr>
            <a:spLocks noGrp="1"/>
          </p:cNvSpPr>
          <p:nvPr>
            <p:ph idx="1"/>
          </p:nvPr>
        </p:nvSpPr>
        <p:spPr>
          <a:xfrm>
            <a:off x="457200" y="1313765"/>
            <a:ext cx="8229600" cy="4812399"/>
          </a:xfrm>
        </p:spPr>
        <p:txBody>
          <a:bodyPr>
            <a:normAutofit/>
          </a:bodyPr>
          <a:lstStyle/>
          <a:p>
            <a:pPr lvl="0" algn="just"/>
            <a:r>
              <a:rPr lang="en-US" sz="2800" dirty="0"/>
              <a:t>RISC processors have a reduced number of instruction classes</a:t>
            </a:r>
          </a:p>
          <a:p>
            <a:pPr lvl="0" algn="just"/>
            <a:endParaRPr lang="en-US" sz="2800" dirty="0"/>
          </a:p>
          <a:p>
            <a:pPr lvl="0" algn="just"/>
            <a:r>
              <a:rPr lang="en-US" sz="2800" dirty="0"/>
              <a:t>These classes</a:t>
            </a:r>
            <a:r>
              <a:rPr lang="en-US" sz="2800" i="1" dirty="0"/>
              <a:t> </a:t>
            </a:r>
            <a:r>
              <a:rPr lang="en-US" sz="2800" dirty="0"/>
              <a:t>provide simple operations that can each execute in a single cycle</a:t>
            </a:r>
          </a:p>
          <a:p>
            <a:pPr lvl="0" algn="just"/>
            <a:endParaRPr lang="en-US" sz="2800" dirty="0"/>
          </a:p>
          <a:p>
            <a:pPr lvl="0" algn="just"/>
            <a:r>
              <a:rPr lang="en-US" sz="2800" dirty="0"/>
              <a:t>The compiler or programmer synthesizes complicated operations (for example, a divide operation) by combining several simple instructions</a:t>
            </a:r>
            <a:endParaRPr lang="en-IN" sz="2800" dirty="0"/>
          </a:p>
        </p:txBody>
      </p:sp>
      <p:sp>
        <p:nvSpPr>
          <p:cNvPr id="3" name="Rectangle 2">
            <a:extLst>
              <a:ext uri="{FF2B5EF4-FFF2-40B4-BE49-F238E27FC236}">
                <a16:creationId xmlns:a16="http://schemas.microsoft.com/office/drawing/2014/main" id="{31608341-6262-4582-AFFB-A6FDBF0EF3AD}"/>
              </a:ext>
            </a:extLst>
          </p:cNvPr>
          <p:cNvSpPr/>
          <p:nvPr/>
        </p:nvSpPr>
        <p:spPr>
          <a:xfrm>
            <a:off x="296525" y="270171"/>
            <a:ext cx="2070230" cy="523220"/>
          </a:xfrm>
          <a:prstGeom prst="rect">
            <a:avLst/>
          </a:prstGeom>
        </p:spPr>
        <p:txBody>
          <a:bodyPr wrap="square">
            <a:spAutoFit/>
          </a:bodyPr>
          <a:lstStyle/>
          <a:p>
            <a:r>
              <a:rPr lang="en-IN" sz="2800" b="1" dirty="0">
                <a:solidFill>
                  <a:srgbClr val="FF0000"/>
                </a:solidFill>
              </a:rPr>
              <a:t>Instructions</a:t>
            </a:r>
          </a:p>
        </p:txBody>
      </p:sp>
    </p:spTree>
    <p:extLst>
      <p:ext uri="{BB962C8B-B14F-4D97-AF65-F5344CB8AC3E}">
        <p14:creationId xmlns:p14="http://schemas.microsoft.com/office/powerpoint/2010/main" val="494892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2974F4-DA80-4617-9C77-BCA3DEE70319}"/>
              </a:ext>
            </a:extLst>
          </p:cNvPr>
          <p:cNvSpPr>
            <a:spLocks noGrp="1"/>
          </p:cNvSpPr>
          <p:nvPr>
            <p:ph idx="1"/>
          </p:nvPr>
        </p:nvSpPr>
        <p:spPr/>
        <p:txBody>
          <a:bodyPr>
            <a:normAutofit/>
          </a:bodyPr>
          <a:lstStyle/>
          <a:p>
            <a:pPr lvl="0" algn="just"/>
            <a:r>
              <a:rPr lang="en-US" sz="2800" dirty="0"/>
              <a:t>Each instruction is having fixed length to allow the pipeline to fetch future instructions before decoding the current instruction</a:t>
            </a:r>
            <a:endParaRPr lang="en-IN" sz="2800" dirty="0"/>
          </a:p>
          <a:p>
            <a:pPr algn="just"/>
            <a:endParaRPr lang="en-IN" sz="2800" dirty="0"/>
          </a:p>
          <a:p>
            <a:pPr algn="just"/>
            <a:r>
              <a:rPr lang="en-US" sz="2800" dirty="0"/>
              <a:t>In contrast, in CISC processors the instructions are often of variable size and take many cycles to execute</a:t>
            </a:r>
            <a:endParaRPr lang="en-IN" sz="2800" dirty="0"/>
          </a:p>
          <a:p>
            <a:pPr algn="just"/>
            <a:endParaRPr lang="en-IN" sz="2800" dirty="0"/>
          </a:p>
        </p:txBody>
      </p:sp>
    </p:spTree>
    <p:extLst>
      <p:ext uri="{BB962C8B-B14F-4D97-AF65-F5344CB8AC3E}">
        <p14:creationId xmlns:p14="http://schemas.microsoft.com/office/powerpoint/2010/main" val="2820146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2A57E-3E97-4DD7-9350-1176B691E257}"/>
              </a:ext>
            </a:extLst>
          </p:cNvPr>
          <p:cNvSpPr>
            <a:spLocks noGrp="1"/>
          </p:cNvSpPr>
          <p:nvPr>
            <p:ph idx="1"/>
          </p:nvPr>
        </p:nvSpPr>
        <p:spPr/>
        <p:txBody>
          <a:bodyPr>
            <a:normAutofit/>
          </a:bodyPr>
          <a:lstStyle/>
          <a:p>
            <a:pPr algn="just"/>
            <a:r>
              <a:rPr lang="en-US" dirty="0"/>
              <a:t>The processing of instructions is broken down into smaller units that can be executed</a:t>
            </a:r>
            <a:r>
              <a:rPr lang="en-US" i="1" dirty="0"/>
              <a:t> </a:t>
            </a:r>
            <a:r>
              <a:rPr lang="en-US" dirty="0"/>
              <a:t>in parallel by pipelines</a:t>
            </a:r>
          </a:p>
          <a:p>
            <a:pPr marL="0" lvl="0" indent="0" algn="just">
              <a:buNone/>
            </a:pPr>
            <a:endParaRPr lang="en-US" dirty="0"/>
          </a:p>
          <a:p>
            <a:pPr algn="just"/>
            <a:r>
              <a:rPr lang="en-US" dirty="0"/>
              <a:t>Ideally the pipeline advances by one step on each cycle for maximum throughput</a:t>
            </a:r>
            <a:endParaRPr lang="en-IN" dirty="0"/>
          </a:p>
        </p:txBody>
      </p:sp>
      <p:sp>
        <p:nvSpPr>
          <p:cNvPr id="3" name="Rectangle 2">
            <a:extLst>
              <a:ext uri="{FF2B5EF4-FFF2-40B4-BE49-F238E27FC236}">
                <a16:creationId xmlns:a16="http://schemas.microsoft.com/office/drawing/2014/main" id="{A7F2015A-C16A-48D6-B168-12F26EF24EB8}"/>
              </a:ext>
            </a:extLst>
          </p:cNvPr>
          <p:cNvSpPr/>
          <p:nvPr/>
        </p:nvSpPr>
        <p:spPr>
          <a:xfrm>
            <a:off x="206515" y="191844"/>
            <a:ext cx="1529586" cy="523220"/>
          </a:xfrm>
          <a:prstGeom prst="rect">
            <a:avLst/>
          </a:prstGeom>
        </p:spPr>
        <p:txBody>
          <a:bodyPr wrap="none">
            <a:spAutoFit/>
          </a:bodyPr>
          <a:lstStyle/>
          <a:p>
            <a:r>
              <a:rPr lang="en-US" sz="2800" b="1" dirty="0">
                <a:solidFill>
                  <a:srgbClr val="FF0000"/>
                </a:solidFill>
              </a:rPr>
              <a:t>Pipelines</a:t>
            </a:r>
            <a:endParaRPr lang="en-IN" sz="2800" b="1" dirty="0">
              <a:solidFill>
                <a:srgbClr val="FF0000"/>
              </a:solidFill>
            </a:endParaRPr>
          </a:p>
        </p:txBody>
      </p:sp>
    </p:spTree>
    <p:extLst>
      <p:ext uri="{BB962C8B-B14F-4D97-AF65-F5344CB8AC3E}">
        <p14:creationId xmlns:p14="http://schemas.microsoft.com/office/powerpoint/2010/main" val="419255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6035ED-2959-4F3D-BA5E-D8A2E07C0097}"/>
              </a:ext>
            </a:extLst>
          </p:cNvPr>
          <p:cNvSpPr>
            <a:spLocks noGrp="1"/>
          </p:cNvSpPr>
          <p:nvPr>
            <p:ph idx="1"/>
          </p:nvPr>
        </p:nvSpPr>
        <p:spPr>
          <a:xfrm>
            <a:off x="457200" y="1538789"/>
            <a:ext cx="8229600" cy="4587375"/>
          </a:xfrm>
        </p:spPr>
        <p:txBody>
          <a:bodyPr>
            <a:normAutofit/>
          </a:bodyPr>
          <a:lstStyle/>
          <a:p>
            <a:pPr algn="just"/>
            <a:r>
              <a:rPr lang="en-US" sz="3000" dirty="0"/>
              <a:t>Instructions can be decoded in one pipeline stage</a:t>
            </a:r>
            <a:endParaRPr lang="en-IN" sz="3000" dirty="0"/>
          </a:p>
          <a:p>
            <a:pPr marL="0" indent="0" algn="just">
              <a:buNone/>
            </a:pPr>
            <a:endParaRPr lang="en-IN" sz="3000" dirty="0"/>
          </a:p>
          <a:p>
            <a:pPr algn="just"/>
            <a:r>
              <a:rPr lang="en-US" sz="3000" dirty="0"/>
              <a:t>There is no need for an instruction to be executed by a mini-program called microcode as on CISC processors</a:t>
            </a:r>
            <a:endParaRPr lang="en-IN" sz="3000" dirty="0"/>
          </a:p>
          <a:p>
            <a:pPr algn="just"/>
            <a:endParaRPr lang="en-IN" sz="3000" dirty="0"/>
          </a:p>
        </p:txBody>
      </p:sp>
    </p:spTree>
    <p:extLst>
      <p:ext uri="{BB962C8B-B14F-4D97-AF65-F5344CB8AC3E}">
        <p14:creationId xmlns:p14="http://schemas.microsoft.com/office/powerpoint/2010/main" val="3112923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5CDAA2-5FEA-4244-8DD4-18CBFB814A27}"/>
              </a:ext>
            </a:extLst>
          </p:cNvPr>
          <p:cNvSpPr>
            <a:spLocks noGrp="1"/>
          </p:cNvSpPr>
          <p:nvPr>
            <p:ph idx="1"/>
          </p:nvPr>
        </p:nvSpPr>
        <p:spPr/>
        <p:txBody>
          <a:bodyPr>
            <a:normAutofit/>
          </a:bodyPr>
          <a:lstStyle/>
          <a:p>
            <a:pPr algn="just"/>
            <a:r>
              <a:rPr lang="en-US" dirty="0"/>
              <a:t>RISC machines have a large general-purpose register set</a:t>
            </a:r>
          </a:p>
          <a:p>
            <a:pPr marL="0" lvl="0" indent="0" algn="just">
              <a:buNone/>
            </a:pPr>
            <a:endParaRPr lang="en-US" dirty="0"/>
          </a:p>
          <a:p>
            <a:pPr algn="just"/>
            <a:r>
              <a:rPr lang="en-US" dirty="0"/>
              <a:t>Any register can contain</a:t>
            </a:r>
            <a:r>
              <a:rPr lang="en-US" i="1" dirty="0"/>
              <a:t> </a:t>
            </a:r>
            <a:r>
              <a:rPr lang="en-US" dirty="0"/>
              <a:t>either data or an address</a:t>
            </a:r>
            <a:endParaRPr lang="en-IN" dirty="0"/>
          </a:p>
        </p:txBody>
      </p:sp>
      <p:sp>
        <p:nvSpPr>
          <p:cNvPr id="3" name="Rectangle 2">
            <a:extLst>
              <a:ext uri="{FF2B5EF4-FFF2-40B4-BE49-F238E27FC236}">
                <a16:creationId xmlns:a16="http://schemas.microsoft.com/office/drawing/2014/main" id="{1C5C8CCB-9E68-4B6A-B451-1790068BF659}"/>
              </a:ext>
            </a:extLst>
          </p:cNvPr>
          <p:cNvSpPr/>
          <p:nvPr/>
        </p:nvSpPr>
        <p:spPr>
          <a:xfrm>
            <a:off x="206515" y="208616"/>
            <a:ext cx="1527598" cy="523220"/>
          </a:xfrm>
          <a:prstGeom prst="rect">
            <a:avLst/>
          </a:prstGeom>
        </p:spPr>
        <p:txBody>
          <a:bodyPr wrap="none">
            <a:spAutoFit/>
          </a:bodyPr>
          <a:lstStyle/>
          <a:p>
            <a:r>
              <a:rPr lang="en-US" sz="2800" b="1" dirty="0">
                <a:solidFill>
                  <a:srgbClr val="FF0000"/>
                </a:solidFill>
              </a:rPr>
              <a:t>Registers</a:t>
            </a:r>
            <a:endParaRPr lang="en-IN" sz="2800" b="1" dirty="0">
              <a:solidFill>
                <a:srgbClr val="FF0000"/>
              </a:solidFill>
            </a:endParaRPr>
          </a:p>
        </p:txBody>
      </p:sp>
    </p:spTree>
    <p:extLst>
      <p:ext uri="{BB962C8B-B14F-4D97-AF65-F5344CB8AC3E}">
        <p14:creationId xmlns:p14="http://schemas.microsoft.com/office/powerpoint/2010/main" val="2940028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14223B-CEAC-4B5D-9A4E-F35E1AA27047}"/>
              </a:ext>
            </a:extLst>
          </p:cNvPr>
          <p:cNvSpPr>
            <a:spLocks noGrp="1"/>
          </p:cNvSpPr>
          <p:nvPr>
            <p:ph idx="1"/>
          </p:nvPr>
        </p:nvSpPr>
        <p:spPr/>
        <p:txBody>
          <a:bodyPr>
            <a:normAutofit/>
          </a:bodyPr>
          <a:lstStyle/>
          <a:p>
            <a:pPr algn="just"/>
            <a:r>
              <a:rPr lang="en-US" sz="3000" dirty="0"/>
              <a:t>Registers act as the fast local memory store for all data processing operations</a:t>
            </a:r>
            <a:endParaRPr lang="en-IN" sz="3000" dirty="0"/>
          </a:p>
          <a:p>
            <a:pPr marL="0" indent="0" algn="just">
              <a:buNone/>
            </a:pPr>
            <a:endParaRPr lang="en-IN" sz="3000" dirty="0"/>
          </a:p>
          <a:p>
            <a:pPr algn="just"/>
            <a:r>
              <a:rPr lang="en-US" sz="3000" dirty="0"/>
              <a:t>In contrast, CISC processors have dedicated registers for specific purposes</a:t>
            </a:r>
            <a:endParaRPr lang="en-IN" sz="3000" dirty="0"/>
          </a:p>
          <a:p>
            <a:pPr algn="just"/>
            <a:endParaRPr lang="en-IN" sz="3000" dirty="0"/>
          </a:p>
        </p:txBody>
      </p:sp>
    </p:spTree>
    <p:extLst>
      <p:ext uri="{BB962C8B-B14F-4D97-AF65-F5344CB8AC3E}">
        <p14:creationId xmlns:p14="http://schemas.microsoft.com/office/powerpoint/2010/main" val="2107902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07F71D-774C-4E1B-BBA7-839687AF2A6A}"/>
              </a:ext>
            </a:extLst>
          </p:cNvPr>
          <p:cNvSpPr>
            <a:spLocks noGrp="1"/>
          </p:cNvSpPr>
          <p:nvPr>
            <p:ph idx="1"/>
          </p:nvPr>
        </p:nvSpPr>
        <p:spPr>
          <a:xfrm>
            <a:off x="457200" y="1600202"/>
            <a:ext cx="8229600" cy="3674004"/>
          </a:xfrm>
        </p:spPr>
        <p:txBody>
          <a:bodyPr>
            <a:normAutofit/>
          </a:bodyPr>
          <a:lstStyle/>
          <a:p>
            <a:pPr algn="just"/>
            <a:r>
              <a:rPr lang="en-US" sz="3000" dirty="0"/>
              <a:t>The processor operates on data held in registers</a:t>
            </a:r>
          </a:p>
          <a:p>
            <a:pPr algn="just"/>
            <a:endParaRPr lang="en-US" sz="3000" dirty="0"/>
          </a:p>
          <a:p>
            <a:pPr algn="just"/>
            <a:r>
              <a:rPr lang="en-US" sz="3000" dirty="0"/>
              <a:t>Separate load and</a:t>
            </a:r>
            <a:r>
              <a:rPr lang="en-US" sz="3000" i="1" dirty="0"/>
              <a:t> </a:t>
            </a:r>
            <a:r>
              <a:rPr lang="en-US" sz="3000" dirty="0"/>
              <a:t>store instructions transfer data between the register bank and external memory</a:t>
            </a:r>
            <a:endParaRPr lang="en-IN" sz="3000" dirty="0"/>
          </a:p>
        </p:txBody>
      </p:sp>
      <p:sp>
        <p:nvSpPr>
          <p:cNvPr id="3" name="Rectangle 2">
            <a:extLst>
              <a:ext uri="{FF2B5EF4-FFF2-40B4-BE49-F238E27FC236}">
                <a16:creationId xmlns:a16="http://schemas.microsoft.com/office/drawing/2014/main" id="{FB8536AE-6E09-4898-836B-862894F4B971}"/>
              </a:ext>
            </a:extLst>
          </p:cNvPr>
          <p:cNvSpPr/>
          <p:nvPr/>
        </p:nvSpPr>
        <p:spPr>
          <a:xfrm>
            <a:off x="0" y="197448"/>
            <a:ext cx="3657348" cy="523220"/>
          </a:xfrm>
          <a:prstGeom prst="rect">
            <a:avLst/>
          </a:prstGeom>
        </p:spPr>
        <p:txBody>
          <a:bodyPr wrap="none">
            <a:spAutoFit/>
          </a:bodyPr>
          <a:lstStyle/>
          <a:p>
            <a:r>
              <a:rPr lang="en-US" sz="2800" b="1" dirty="0">
                <a:solidFill>
                  <a:srgbClr val="FF0000"/>
                </a:solidFill>
              </a:rPr>
              <a:t>Load-store architecture</a:t>
            </a:r>
            <a:endParaRPr lang="en-IN" sz="2800" b="1" dirty="0">
              <a:solidFill>
                <a:srgbClr val="FF0000"/>
              </a:solidFill>
            </a:endParaRPr>
          </a:p>
        </p:txBody>
      </p:sp>
    </p:spTree>
    <p:extLst>
      <p:ext uri="{BB962C8B-B14F-4D97-AF65-F5344CB8AC3E}">
        <p14:creationId xmlns:p14="http://schemas.microsoft.com/office/powerpoint/2010/main" val="2980177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DF9AA6-3103-432B-A708-C4532B85CF30}"/>
              </a:ext>
            </a:extLst>
          </p:cNvPr>
          <p:cNvSpPr>
            <a:spLocks noGrp="1"/>
          </p:cNvSpPr>
          <p:nvPr>
            <p:ph idx="1"/>
          </p:nvPr>
        </p:nvSpPr>
        <p:spPr>
          <a:xfrm>
            <a:off x="457200" y="1313765"/>
            <a:ext cx="8229600" cy="4812399"/>
          </a:xfrm>
        </p:spPr>
        <p:txBody>
          <a:bodyPr>
            <a:normAutofit/>
          </a:bodyPr>
          <a:lstStyle/>
          <a:p>
            <a:pPr algn="just"/>
            <a:r>
              <a:rPr lang="en-US" sz="2800" dirty="0"/>
              <a:t>Memory accesses are costly, so separating memory accesses from data processing provides an advantage because you can use data items held in the register bank multiple times without needing multiple memory accesses</a:t>
            </a:r>
            <a:endParaRPr lang="en-IN" sz="2800" dirty="0"/>
          </a:p>
          <a:p>
            <a:pPr algn="just"/>
            <a:endParaRPr lang="en-IN" sz="2800" dirty="0"/>
          </a:p>
          <a:p>
            <a:pPr algn="just"/>
            <a:r>
              <a:rPr lang="en-US" sz="2800" dirty="0"/>
              <a:t>In contrast, with a CISC design the data processing operations can act on memory directly</a:t>
            </a:r>
            <a:endParaRPr lang="en-IN" sz="2800" dirty="0"/>
          </a:p>
          <a:p>
            <a:pPr algn="just"/>
            <a:endParaRPr lang="en-IN" sz="2800" dirty="0"/>
          </a:p>
        </p:txBody>
      </p:sp>
    </p:spTree>
    <p:extLst>
      <p:ext uri="{BB962C8B-B14F-4D97-AF65-F5344CB8AC3E}">
        <p14:creationId xmlns:p14="http://schemas.microsoft.com/office/powerpoint/2010/main" val="727818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EEFF22-9BC6-4106-AA24-BD0956F9920A}"/>
              </a:ext>
            </a:extLst>
          </p:cNvPr>
          <p:cNvSpPr>
            <a:spLocks noGrp="1"/>
          </p:cNvSpPr>
          <p:nvPr>
            <p:ph idx="1"/>
          </p:nvPr>
        </p:nvSpPr>
        <p:spPr>
          <a:xfrm>
            <a:off x="457200" y="1538791"/>
            <a:ext cx="8229600" cy="4587374"/>
          </a:xfrm>
        </p:spPr>
        <p:txBody>
          <a:bodyPr>
            <a:normAutofit/>
          </a:bodyPr>
          <a:lstStyle/>
          <a:p>
            <a:pPr lvl="0" algn="just"/>
            <a:r>
              <a:rPr lang="en-US" sz="3000" dirty="0"/>
              <a:t>These design rules allow a RISC processor to be simpler, and thus the core can operate at higher clock frequencies</a:t>
            </a:r>
            <a:endParaRPr lang="en-IN" sz="3000" dirty="0"/>
          </a:p>
          <a:p>
            <a:pPr marL="0" indent="0" algn="just">
              <a:buNone/>
            </a:pPr>
            <a:endParaRPr lang="en-IN" sz="3000" dirty="0"/>
          </a:p>
          <a:p>
            <a:pPr algn="just"/>
            <a:r>
              <a:rPr lang="en-US" sz="3000" dirty="0"/>
              <a:t>In contrast, traditional CISC processors are more complex and operate at lower clock frequencies</a:t>
            </a:r>
            <a:endParaRPr lang="en-IN" sz="3000" dirty="0"/>
          </a:p>
        </p:txBody>
      </p:sp>
    </p:spTree>
    <p:extLst>
      <p:ext uri="{BB962C8B-B14F-4D97-AF65-F5344CB8AC3E}">
        <p14:creationId xmlns:p14="http://schemas.microsoft.com/office/powerpoint/2010/main" val="1940648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B9FB86-C490-41DC-829C-F764C9FBC9A7}"/>
              </a:ext>
            </a:extLst>
          </p:cNvPr>
          <p:cNvSpPr>
            <a:spLocks noGrp="1"/>
          </p:cNvSpPr>
          <p:nvPr>
            <p:ph idx="1"/>
          </p:nvPr>
        </p:nvSpPr>
        <p:spPr>
          <a:xfrm>
            <a:off x="457200" y="1313765"/>
            <a:ext cx="8229600" cy="4812399"/>
          </a:xfrm>
        </p:spPr>
        <p:txBody>
          <a:bodyPr>
            <a:normAutofit/>
          </a:bodyPr>
          <a:lstStyle/>
          <a:p>
            <a:pPr algn="just"/>
            <a:r>
              <a:rPr lang="en-US" sz="2800" dirty="0"/>
              <a:t>There are a number of physical features that have driven the ARM processor design</a:t>
            </a:r>
            <a:endParaRPr lang="en-IN" sz="2800" dirty="0"/>
          </a:p>
          <a:p>
            <a:pPr algn="just"/>
            <a:endParaRPr lang="en-IN" sz="2800" dirty="0"/>
          </a:p>
          <a:p>
            <a:pPr algn="just"/>
            <a:r>
              <a:rPr lang="en-US" sz="2800" dirty="0"/>
              <a:t>Portable embedded systems require </a:t>
            </a:r>
            <a:r>
              <a:rPr lang="en-US" sz="2800" b="1" i="1" dirty="0">
                <a:solidFill>
                  <a:srgbClr val="FF0000"/>
                </a:solidFill>
              </a:rPr>
              <a:t>battery power</a:t>
            </a:r>
          </a:p>
          <a:p>
            <a:pPr algn="just"/>
            <a:endParaRPr lang="en-US" sz="2800" b="1" i="1" dirty="0"/>
          </a:p>
          <a:p>
            <a:pPr algn="just"/>
            <a:r>
              <a:rPr lang="en-US" sz="2800" dirty="0"/>
              <a:t>The ARM processor has been specially designed to be small to reduce power consumption and extend battery operation—essential for applications such as mobile phones and personal digital assistants (PDAs)</a:t>
            </a:r>
            <a:endParaRPr lang="en-IN" sz="2800" dirty="0"/>
          </a:p>
        </p:txBody>
      </p:sp>
      <p:sp>
        <p:nvSpPr>
          <p:cNvPr id="3" name="Rectangle 2">
            <a:extLst>
              <a:ext uri="{FF2B5EF4-FFF2-40B4-BE49-F238E27FC236}">
                <a16:creationId xmlns:a16="http://schemas.microsoft.com/office/drawing/2014/main" id="{41D83BE0-9611-44FC-9785-995163EF25C5}"/>
              </a:ext>
            </a:extLst>
          </p:cNvPr>
          <p:cNvSpPr/>
          <p:nvPr/>
        </p:nvSpPr>
        <p:spPr>
          <a:xfrm>
            <a:off x="0" y="233645"/>
            <a:ext cx="6026137" cy="523220"/>
          </a:xfrm>
          <a:prstGeom prst="rect">
            <a:avLst/>
          </a:prstGeom>
        </p:spPr>
        <p:txBody>
          <a:bodyPr wrap="none">
            <a:spAutoFit/>
          </a:bodyPr>
          <a:lstStyle/>
          <a:p>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THE ARM DESIGN PHYLOSOPHY</a:t>
            </a:r>
            <a:endParaRPr lang="en-IN" sz="2800" dirty="0">
              <a:solidFill>
                <a:srgbClr val="FF0000"/>
              </a:solidFill>
            </a:endParaRPr>
          </a:p>
        </p:txBody>
      </p:sp>
    </p:spTree>
    <p:extLst>
      <p:ext uri="{BB962C8B-B14F-4D97-AF65-F5344CB8AC3E}">
        <p14:creationId xmlns:p14="http://schemas.microsoft.com/office/powerpoint/2010/main" val="308626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114C08-DABA-49F8-BE28-227ED977E7BA}"/>
              </a:ext>
            </a:extLst>
          </p:cNvPr>
          <p:cNvSpPr>
            <a:spLocks noGrp="1"/>
          </p:cNvSpPr>
          <p:nvPr>
            <p:ph idx="1"/>
          </p:nvPr>
        </p:nvSpPr>
        <p:spPr/>
        <p:txBody>
          <a:bodyPr>
            <a:normAutofit/>
          </a:bodyPr>
          <a:lstStyle/>
          <a:p>
            <a:pPr marL="0" indent="0" algn="just">
              <a:buNone/>
            </a:pPr>
            <a:r>
              <a:rPr lang="en-US" sz="2800" b="1" i="1" dirty="0">
                <a:solidFill>
                  <a:srgbClr val="FF0000"/>
                </a:solidFill>
              </a:rPr>
              <a:t>High code density </a:t>
            </a:r>
            <a:r>
              <a:rPr lang="en-US" sz="2800" dirty="0"/>
              <a:t>is another major requirement since embedded systems have limited memory</a:t>
            </a:r>
            <a:r>
              <a:rPr lang="en-US" sz="2800" b="1" i="1" dirty="0"/>
              <a:t> </a:t>
            </a:r>
            <a:r>
              <a:rPr lang="en-US" sz="2800" dirty="0"/>
              <a:t>due to cost and/or physical size restrictions—useful for applications that have limited on-board memory, such as mobile phones and mass storage devices</a:t>
            </a:r>
            <a:endParaRPr lang="en-IN" sz="2800" dirty="0"/>
          </a:p>
        </p:txBody>
      </p:sp>
    </p:spTree>
    <p:extLst>
      <p:ext uri="{BB962C8B-B14F-4D97-AF65-F5344CB8AC3E}">
        <p14:creationId xmlns:p14="http://schemas.microsoft.com/office/powerpoint/2010/main" val="103069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4C649B-038D-4735-B7ED-C2CF4BB9A382}"/>
              </a:ext>
            </a:extLst>
          </p:cNvPr>
          <p:cNvSpPr>
            <a:spLocks noGrp="1"/>
          </p:cNvSpPr>
          <p:nvPr>
            <p:ph idx="1"/>
          </p:nvPr>
        </p:nvSpPr>
        <p:spPr>
          <a:xfrm>
            <a:off x="457200" y="970671"/>
            <a:ext cx="8229600" cy="5155494"/>
          </a:xfrm>
        </p:spPr>
        <p:txBody>
          <a:bodyPr>
            <a:normAutofit/>
          </a:bodyPr>
          <a:lstStyle/>
          <a:p>
            <a:pPr lvl="0" algn="just"/>
            <a:r>
              <a:rPr lang="en-US" sz="2800" dirty="0"/>
              <a:t>Embedded systems are </a:t>
            </a:r>
            <a:r>
              <a:rPr lang="en-US" sz="2800" b="1" i="1" dirty="0">
                <a:solidFill>
                  <a:srgbClr val="FF0000"/>
                </a:solidFill>
              </a:rPr>
              <a:t>price sensitive</a:t>
            </a:r>
            <a:endParaRPr lang="en-IN" sz="2800" dirty="0">
              <a:solidFill>
                <a:srgbClr val="FF0000"/>
              </a:solidFill>
            </a:endParaRPr>
          </a:p>
          <a:p>
            <a:pPr algn="just"/>
            <a:endParaRPr lang="en-IN" sz="2800" dirty="0"/>
          </a:p>
          <a:p>
            <a:pPr lvl="0" algn="just"/>
            <a:r>
              <a:rPr lang="en-US" sz="2800" dirty="0"/>
              <a:t>Hence, </a:t>
            </a:r>
            <a:r>
              <a:rPr lang="en-US" sz="2800" i="1" dirty="0"/>
              <a:t>use slow and low-cost memory devices</a:t>
            </a:r>
            <a:r>
              <a:rPr lang="en-US" sz="2800" dirty="0"/>
              <a:t> to get substantial savings—essential for high-volume applications like digital cameras</a:t>
            </a:r>
          </a:p>
          <a:p>
            <a:pPr lvl="0" algn="just"/>
            <a:endParaRPr lang="en-IN" sz="2800" dirty="0"/>
          </a:p>
          <a:p>
            <a:pPr lvl="0" algn="just"/>
            <a:r>
              <a:rPr lang="en-US" sz="2800" dirty="0"/>
              <a:t>Also, </a:t>
            </a:r>
            <a:r>
              <a:rPr lang="en-US" sz="2800" i="1" dirty="0"/>
              <a:t>reduce the area of the die</a:t>
            </a:r>
            <a:r>
              <a:rPr lang="en-US" sz="2800" dirty="0"/>
              <a:t> taken up by the embedded processor; smaller the area used by the embedded processor, reduced cost of the design and manufacturing for the end product</a:t>
            </a:r>
            <a:endParaRPr lang="en-IN" sz="2800" dirty="0"/>
          </a:p>
          <a:p>
            <a:pPr algn="just"/>
            <a:endParaRPr lang="en-IN" sz="2800" dirty="0"/>
          </a:p>
        </p:txBody>
      </p:sp>
    </p:spTree>
    <p:extLst>
      <p:ext uri="{BB962C8B-B14F-4D97-AF65-F5344CB8AC3E}">
        <p14:creationId xmlns:p14="http://schemas.microsoft.com/office/powerpoint/2010/main" val="2583586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456BFC-733F-44C6-9743-A716BC901CC0}"/>
              </a:ext>
            </a:extLst>
          </p:cNvPr>
          <p:cNvSpPr>
            <a:spLocks noGrp="1"/>
          </p:cNvSpPr>
          <p:nvPr>
            <p:ph idx="1"/>
          </p:nvPr>
        </p:nvSpPr>
        <p:spPr>
          <a:xfrm>
            <a:off x="354359" y="908720"/>
            <a:ext cx="8435281" cy="5265585"/>
          </a:xfrm>
        </p:spPr>
        <p:txBody>
          <a:bodyPr>
            <a:normAutofit fontScale="85000" lnSpcReduction="20000"/>
          </a:bodyPr>
          <a:lstStyle/>
          <a:p>
            <a:pPr lvl="0" algn="just"/>
            <a:r>
              <a:rPr lang="en-US" dirty="0"/>
              <a:t>ARM has incorporated </a:t>
            </a:r>
            <a:r>
              <a:rPr lang="en-US" b="1" i="1" dirty="0">
                <a:solidFill>
                  <a:srgbClr val="FF0000"/>
                </a:solidFill>
              </a:rPr>
              <a:t>hardware debug technology</a:t>
            </a:r>
            <a:r>
              <a:rPr lang="en-US" dirty="0">
                <a:solidFill>
                  <a:srgbClr val="FF0000"/>
                </a:solidFill>
              </a:rPr>
              <a:t> </a:t>
            </a:r>
            <a:r>
              <a:rPr lang="en-US" dirty="0"/>
              <a:t>within the processor so that software engineers can view what is happening while the processor is executing code</a:t>
            </a:r>
          </a:p>
          <a:p>
            <a:pPr lvl="0" algn="just"/>
            <a:endParaRPr lang="en-US" dirty="0"/>
          </a:p>
          <a:p>
            <a:pPr lvl="0" algn="just"/>
            <a:r>
              <a:rPr lang="en-US" dirty="0"/>
              <a:t>With greater visibility, software engineers can resolve issues faster</a:t>
            </a:r>
            <a:endParaRPr lang="en-IN" dirty="0"/>
          </a:p>
          <a:p>
            <a:pPr algn="just"/>
            <a:endParaRPr lang="en-IN" dirty="0"/>
          </a:p>
          <a:p>
            <a:pPr lvl="0" algn="just"/>
            <a:r>
              <a:rPr lang="en-US" dirty="0"/>
              <a:t>The ARM core is </a:t>
            </a:r>
            <a:r>
              <a:rPr lang="en-US" b="1" i="1" dirty="0"/>
              <a:t>not a pure RISC architecture</a:t>
            </a:r>
            <a:r>
              <a:rPr lang="en-US" dirty="0"/>
              <a:t> because of the constraints of its primary application—the embedded system</a:t>
            </a:r>
          </a:p>
          <a:p>
            <a:pPr lvl="0" algn="just"/>
            <a:endParaRPr lang="en-US" dirty="0"/>
          </a:p>
          <a:p>
            <a:pPr lvl="0" algn="just"/>
            <a:r>
              <a:rPr lang="en-US" dirty="0"/>
              <a:t>In some sense, the strength of the ARM core is that it does not take the RISC concept too far</a:t>
            </a:r>
            <a:endParaRPr lang="en-IN" dirty="0"/>
          </a:p>
          <a:p>
            <a:pPr algn="just"/>
            <a:endParaRPr lang="en-IN" dirty="0"/>
          </a:p>
        </p:txBody>
      </p:sp>
    </p:spTree>
    <p:extLst>
      <p:ext uri="{BB962C8B-B14F-4D97-AF65-F5344CB8AC3E}">
        <p14:creationId xmlns:p14="http://schemas.microsoft.com/office/powerpoint/2010/main" val="4195494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91DA6B-6271-4669-9005-A8D822DCF895}"/>
              </a:ext>
            </a:extLst>
          </p:cNvPr>
          <p:cNvSpPr>
            <a:spLocks noGrp="1"/>
          </p:cNvSpPr>
          <p:nvPr>
            <p:ph idx="1"/>
          </p:nvPr>
        </p:nvSpPr>
        <p:spPr>
          <a:xfrm>
            <a:off x="457200" y="2258870"/>
            <a:ext cx="8229600" cy="1935215"/>
          </a:xfrm>
        </p:spPr>
        <p:txBody>
          <a:bodyPr>
            <a:normAutofit/>
          </a:bodyPr>
          <a:lstStyle/>
          <a:p>
            <a:pPr marL="0" indent="0" algn="just">
              <a:buNone/>
            </a:pPr>
            <a:r>
              <a:rPr lang="en-US" sz="2800" dirty="0"/>
              <a:t>The ARM instruction set differs from the pure RISC definition in several ways that make the ARM instruction set suitable for embedded applications</a:t>
            </a:r>
            <a:endParaRPr lang="en-IN" sz="2800" dirty="0"/>
          </a:p>
        </p:txBody>
      </p:sp>
      <p:sp>
        <p:nvSpPr>
          <p:cNvPr id="3" name="Rectangle 2">
            <a:extLst>
              <a:ext uri="{FF2B5EF4-FFF2-40B4-BE49-F238E27FC236}">
                <a16:creationId xmlns:a16="http://schemas.microsoft.com/office/drawing/2014/main" id="{087DD2B6-9747-4949-947B-C4C7330C4F3C}"/>
              </a:ext>
            </a:extLst>
          </p:cNvPr>
          <p:cNvSpPr/>
          <p:nvPr/>
        </p:nvSpPr>
        <p:spPr>
          <a:xfrm>
            <a:off x="19730" y="197506"/>
            <a:ext cx="6207084" cy="523220"/>
          </a:xfrm>
          <a:prstGeom prst="rect">
            <a:avLst/>
          </a:prstGeom>
        </p:spPr>
        <p:txBody>
          <a:bodyPr wrap="none">
            <a:spAutoFit/>
          </a:bodyPr>
          <a:lstStyle/>
          <a:p>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Instruction Set for Embedded Systems</a:t>
            </a:r>
            <a:endParaRPr lang="en-IN" sz="2800" dirty="0">
              <a:solidFill>
                <a:srgbClr val="FF0000"/>
              </a:solidFill>
            </a:endParaRPr>
          </a:p>
        </p:txBody>
      </p:sp>
    </p:spTree>
    <p:extLst>
      <p:ext uri="{BB962C8B-B14F-4D97-AF65-F5344CB8AC3E}">
        <p14:creationId xmlns:p14="http://schemas.microsoft.com/office/powerpoint/2010/main" val="1038441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9D51E5-CEEA-4042-87C5-465C71619EC1}"/>
              </a:ext>
            </a:extLst>
          </p:cNvPr>
          <p:cNvSpPr>
            <a:spLocks noGrp="1"/>
          </p:cNvSpPr>
          <p:nvPr>
            <p:ph idx="1"/>
          </p:nvPr>
        </p:nvSpPr>
        <p:spPr>
          <a:xfrm>
            <a:off x="457200" y="863715"/>
            <a:ext cx="8345270" cy="5262449"/>
          </a:xfrm>
        </p:spPr>
        <p:txBody>
          <a:bodyPr>
            <a:normAutofit/>
          </a:bodyPr>
          <a:lstStyle/>
          <a:p>
            <a:pPr marL="0" indent="0" algn="just">
              <a:buNone/>
            </a:pPr>
            <a:r>
              <a:rPr lang="en-US" i="1" dirty="0">
                <a:solidFill>
                  <a:srgbClr val="FF0000"/>
                </a:solidFill>
              </a:rPr>
              <a:t>Variable cycle execution for certain instructions</a:t>
            </a:r>
          </a:p>
          <a:p>
            <a:pPr marL="0" indent="0" algn="just">
              <a:buNone/>
            </a:pPr>
            <a:endParaRPr lang="en-US" i="1" dirty="0"/>
          </a:p>
          <a:p>
            <a:pPr algn="just"/>
            <a:r>
              <a:rPr lang="en-US" dirty="0"/>
              <a:t>Not every ARM instruction executes in a</a:t>
            </a:r>
            <a:r>
              <a:rPr lang="en-US" i="1" dirty="0"/>
              <a:t> </a:t>
            </a:r>
            <a:r>
              <a:rPr lang="en-US" dirty="0"/>
              <a:t>single cycle</a:t>
            </a:r>
          </a:p>
          <a:p>
            <a:pPr algn="just"/>
            <a:endParaRPr lang="en-US" dirty="0"/>
          </a:p>
          <a:p>
            <a:pPr algn="just"/>
            <a:r>
              <a:rPr lang="en-US" dirty="0"/>
              <a:t>For example, load-store-multiple instructions vary in the number of execution cycles depending upon the number of registers being transferred</a:t>
            </a:r>
            <a:endParaRPr lang="en-IN" dirty="0"/>
          </a:p>
        </p:txBody>
      </p:sp>
    </p:spTree>
    <p:extLst>
      <p:ext uri="{BB962C8B-B14F-4D97-AF65-F5344CB8AC3E}">
        <p14:creationId xmlns:p14="http://schemas.microsoft.com/office/powerpoint/2010/main" val="2588485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64460-01EA-449F-8B92-47DE805228D5}"/>
              </a:ext>
            </a:extLst>
          </p:cNvPr>
          <p:cNvSpPr>
            <a:spLocks noGrp="1"/>
          </p:cNvSpPr>
          <p:nvPr>
            <p:ph idx="1"/>
          </p:nvPr>
        </p:nvSpPr>
        <p:spPr/>
        <p:txBody>
          <a:bodyPr>
            <a:normAutofit/>
          </a:bodyPr>
          <a:lstStyle/>
          <a:p>
            <a:pPr algn="just"/>
            <a:r>
              <a:rPr lang="en-US" sz="3000" dirty="0"/>
              <a:t>The transfer can occur on sequential memory addresses</a:t>
            </a:r>
          </a:p>
          <a:p>
            <a:pPr algn="just"/>
            <a:endParaRPr lang="en-US" sz="3000" dirty="0"/>
          </a:p>
          <a:p>
            <a:pPr algn="just"/>
            <a:r>
              <a:rPr lang="en-US" sz="3000" dirty="0"/>
              <a:t>Code density is also improved since multiple register transfers are common operations at the start and end of functions</a:t>
            </a:r>
            <a:endParaRPr lang="en-IN" sz="3000" dirty="0"/>
          </a:p>
          <a:p>
            <a:pPr algn="just"/>
            <a:endParaRPr lang="en-IN" sz="3000" dirty="0"/>
          </a:p>
        </p:txBody>
      </p:sp>
    </p:spTree>
    <p:extLst>
      <p:ext uri="{BB962C8B-B14F-4D97-AF65-F5344CB8AC3E}">
        <p14:creationId xmlns:p14="http://schemas.microsoft.com/office/powerpoint/2010/main" val="2475052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843120-ACD4-42AE-954C-D3D4A2389E48}"/>
              </a:ext>
            </a:extLst>
          </p:cNvPr>
          <p:cNvSpPr>
            <a:spLocks noGrp="1"/>
          </p:cNvSpPr>
          <p:nvPr>
            <p:ph idx="1"/>
          </p:nvPr>
        </p:nvSpPr>
        <p:spPr>
          <a:xfrm>
            <a:off x="457200" y="998730"/>
            <a:ext cx="8229600" cy="5127435"/>
          </a:xfrm>
        </p:spPr>
        <p:txBody>
          <a:bodyPr>
            <a:normAutofit/>
          </a:bodyPr>
          <a:lstStyle/>
          <a:p>
            <a:pPr marL="0" indent="0" algn="just">
              <a:buNone/>
            </a:pPr>
            <a:r>
              <a:rPr lang="en-US" sz="2800" i="1" dirty="0">
                <a:solidFill>
                  <a:srgbClr val="FF0000"/>
                </a:solidFill>
              </a:rPr>
              <a:t>Inline barrel shifter leading to more complex instructions</a:t>
            </a:r>
          </a:p>
          <a:p>
            <a:pPr algn="just"/>
            <a:endParaRPr lang="en-US" sz="2800" i="1" dirty="0"/>
          </a:p>
          <a:p>
            <a:pPr algn="just"/>
            <a:r>
              <a:rPr lang="en-US" sz="2800" dirty="0"/>
              <a:t>The inline barrel shifter is a hardware</a:t>
            </a:r>
            <a:r>
              <a:rPr lang="en-US" sz="2800" i="1" dirty="0"/>
              <a:t> </a:t>
            </a:r>
            <a:r>
              <a:rPr lang="en-US" sz="2800" dirty="0"/>
              <a:t>component that preprocesses one of the input registers before it is used by an instruction</a:t>
            </a:r>
          </a:p>
          <a:p>
            <a:pPr algn="just"/>
            <a:endParaRPr lang="en-US" sz="2800" dirty="0"/>
          </a:p>
          <a:p>
            <a:pPr algn="just"/>
            <a:r>
              <a:rPr lang="en-US" sz="2800" dirty="0"/>
              <a:t>This expands the capability of many instructions to improve core performance and code density</a:t>
            </a:r>
            <a:endParaRPr lang="en-IN" sz="2800" dirty="0"/>
          </a:p>
        </p:txBody>
      </p:sp>
    </p:spTree>
    <p:extLst>
      <p:ext uri="{BB962C8B-B14F-4D97-AF65-F5344CB8AC3E}">
        <p14:creationId xmlns:p14="http://schemas.microsoft.com/office/powerpoint/2010/main" val="2642991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350BAB-4442-61AF-F90B-F698BBB5E3C6}"/>
              </a:ext>
            </a:extLst>
          </p:cNvPr>
          <p:cNvSpPr>
            <a:spLocks noGrp="1"/>
          </p:cNvSpPr>
          <p:nvPr>
            <p:ph idx="1"/>
          </p:nvPr>
        </p:nvSpPr>
        <p:spPr>
          <a:xfrm>
            <a:off x="521550" y="953725"/>
            <a:ext cx="8165250" cy="5172439"/>
          </a:xfrm>
        </p:spPr>
        <p:txBody>
          <a:bodyPr/>
          <a:lstStyle/>
          <a:p>
            <a:pPr algn="just"/>
            <a:r>
              <a:rPr lang="en-US" dirty="0"/>
              <a:t>In many processors, shifting requires </a:t>
            </a:r>
            <a:r>
              <a:rPr lang="en-US" b="1" dirty="0"/>
              <a:t>a separate instruction</a:t>
            </a:r>
            <a:r>
              <a:rPr lang="en-US" dirty="0"/>
              <a:t>. But in </a:t>
            </a:r>
            <a:r>
              <a:rPr lang="en-US" b="1" dirty="0"/>
              <a:t>ARM processors</a:t>
            </a:r>
            <a:r>
              <a:rPr lang="en-US" dirty="0"/>
              <a:t>, the </a:t>
            </a:r>
            <a:r>
              <a:rPr lang="en-US" b="1" dirty="0"/>
              <a:t>barrel shifter is built directly into the data processing path of the ALU</a:t>
            </a:r>
            <a:r>
              <a:rPr lang="en-US" dirty="0"/>
              <a:t>.</a:t>
            </a:r>
          </a:p>
          <a:p>
            <a:pPr algn="just"/>
            <a:r>
              <a:rPr lang="en-IN" dirty="0"/>
              <a:t>Register Rn ---------&gt; ALU</a:t>
            </a:r>
          </a:p>
          <a:p>
            <a:pPr algn="just"/>
            <a:r>
              <a:rPr lang="en-IN" dirty="0"/>
              <a:t>Register Rm -&gt; Barrel Shifter -&gt; ALU                                 					|                    </a:t>
            </a:r>
          </a:p>
          <a:p>
            <a:pPr lvl="8" algn="just"/>
            <a:r>
              <a:rPr lang="en-IN" dirty="0"/>
              <a:t>Shift Operation</a:t>
            </a:r>
          </a:p>
          <a:p>
            <a:pPr marL="3657600" lvl="8" indent="0">
              <a:buNone/>
            </a:pPr>
            <a:endParaRPr lang="en-IN" dirty="0"/>
          </a:p>
        </p:txBody>
      </p:sp>
    </p:spTree>
    <p:extLst>
      <p:ext uri="{BB962C8B-B14F-4D97-AF65-F5344CB8AC3E}">
        <p14:creationId xmlns:p14="http://schemas.microsoft.com/office/powerpoint/2010/main" val="3851504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7B257-80CF-9307-1748-85738A16F87E}"/>
              </a:ext>
            </a:extLst>
          </p:cNvPr>
          <p:cNvSpPr>
            <a:spLocks noGrp="1"/>
          </p:cNvSpPr>
          <p:nvPr>
            <p:ph idx="1"/>
          </p:nvPr>
        </p:nvSpPr>
        <p:spPr>
          <a:xfrm>
            <a:off x="431540" y="908721"/>
            <a:ext cx="8255260" cy="5217444"/>
          </a:xfrm>
        </p:spPr>
        <p:txBody>
          <a:bodyPr>
            <a:normAutofit fontScale="85000" lnSpcReduction="20000"/>
          </a:bodyPr>
          <a:lstStyle/>
          <a:p>
            <a:pPr marL="0" indent="0">
              <a:buNone/>
            </a:pPr>
            <a:r>
              <a:rPr lang="pt-BR" dirty="0"/>
              <a:t>Example ARM instruction:</a:t>
            </a:r>
          </a:p>
          <a:p>
            <a:pPr marL="0" indent="0">
              <a:buNone/>
            </a:pPr>
            <a:r>
              <a:rPr lang="pt-BR" dirty="0"/>
              <a:t>ADD R0, R1, R2, LSL #2</a:t>
            </a:r>
          </a:p>
          <a:p>
            <a:r>
              <a:rPr lang="pt-BR" dirty="0"/>
              <a:t>Meaning:</a:t>
            </a:r>
          </a:p>
          <a:p>
            <a:pPr marL="0" indent="0">
              <a:buNone/>
            </a:pPr>
            <a:r>
              <a:rPr lang="pt-BR" dirty="0"/>
              <a:t>R0 = R1 + (R2 &lt;&lt; 2)</a:t>
            </a:r>
          </a:p>
          <a:p>
            <a:pPr marL="0" indent="0">
              <a:buNone/>
            </a:pPr>
            <a:endParaRPr lang="pt-BR" dirty="0"/>
          </a:p>
          <a:p>
            <a:pPr marL="0" indent="0">
              <a:buNone/>
            </a:pPr>
            <a:r>
              <a:rPr lang="en-US" dirty="0"/>
              <a:t>Steps happening internally:</a:t>
            </a:r>
          </a:p>
          <a:p>
            <a:r>
              <a:rPr lang="en-US" dirty="0"/>
              <a:t>R2 goes to the </a:t>
            </a:r>
            <a:r>
              <a:rPr lang="en-US" b="1" dirty="0"/>
              <a:t>barrel shifter</a:t>
            </a:r>
            <a:endParaRPr lang="en-US" dirty="0"/>
          </a:p>
          <a:p>
            <a:r>
              <a:rPr lang="en-US" dirty="0"/>
              <a:t>It performs </a:t>
            </a:r>
            <a:r>
              <a:rPr lang="en-US" b="1" dirty="0"/>
              <a:t>LSL #2</a:t>
            </a:r>
            <a:endParaRPr lang="en-US" dirty="0"/>
          </a:p>
          <a:p>
            <a:r>
              <a:rPr lang="en-US" dirty="0"/>
              <a:t>The shifted value is sent to the </a:t>
            </a:r>
            <a:r>
              <a:rPr lang="en-US" b="1" dirty="0"/>
              <a:t>ALU</a:t>
            </a:r>
            <a:endParaRPr lang="en-US" dirty="0"/>
          </a:p>
          <a:p>
            <a:r>
              <a:rPr lang="en-US" dirty="0"/>
              <a:t>ALU performs </a:t>
            </a:r>
            <a:r>
              <a:rPr lang="en-US" b="1" dirty="0"/>
              <a:t>addition with R1</a:t>
            </a:r>
            <a:endParaRPr lang="en-US" dirty="0"/>
          </a:p>
          <a:p>
            <a:r>
              <a:rPr lang="en-US" dirty="0"/>
              <a:t>Result stored in R0</a:t>
            </a:r>
          </a:p>
          <a:p>
            <a:r>
              <a:rPr lang="en-US" dirty="0"/>
              <a:t>All done </a:t>
            </a:r>
            <a:r>
              <a:rPr lang="en-US" b="1" dirty="0"/>
              <a:t>in one instruction cycle</a:t>
            </a:r>
            <a:r>
              <a:rPr lang="en-US" dirty="0"/>
              <a:t>.</a:t>
            </a:r>
          </a:p>
          <a:p>
            <a:pPr marL="0" indent="0">
              <a:buNone/>
            </a:pPr>
            <a:endParaRPr lang="pt-BR" dirty="0"/>
          </a:p>
          <a:p>
            <a:endParaRPr lang="en-IN" dirty="0"/>
          </a:p>
        </p:txBody>
      </p:sp>
    </p:spTree>
    <p:extLst>
      <p:ext uri="{BB962C8B-B14F-4D97-AF65-F5344CB8AC3E}">
        <p14:creationId xmlns:p14="http://schemas.microsoft.com/office/powerpoint/2010/main" val="1174748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C90824-7486-4779-BB81-A8A2F88D43EE}"/>
              </a:ext>
            </a:extLst>
          </p:cNvPr>
          <p:cNvSpPr>
            <a:spLocks noGrp="1"/>
          </p:cNvSpPr>
          <p:nvPr>
            <p:ph idx="1"/>
          </p:nvPr>
        </p:nvSpPr>
        <p:spPr>
          <a:xfrm>
            <a:off x="457200" y="1043735"/>
            <a:ext cx="8229600" cy="5082429"/>
          </a:xfrm>
        </p:spPr>
        <p:txBody>
          <a:bodyPr>
            <a:normAutofit/>
          </a:bodyPr>
          <a:lstStyle/>
          <a:p>
            <a:pPr marL="0" indent="0" algn="just">
              <a:buNone/>
            </a:pPr>
            <a:r>
              <a:rPr lang="en-US" sz="3000" i="1" dirty="0">
                <a:solidFill>
                  <a:srgbClr val="FF0000"/>
                </a:solidFill>
              </a:rPr>
              <a:t>Thumb 16-bit instruction set</a:t>
            </a:r>
            <a:endParaRPr lang="en-US" sz="3000" i="1" dirty="0"/>
          </a:p>
          <a:p>
            <a:pPr algn="just"/>
            <a:r>
              <a:rPr lang="en-US" sz="3000" dirty="0"/>
              <a:t>ARM enhanced the processor core by adding a second 16-bit</a:t>
            </a:r>
            <a:r>
              <a:rPr lang="en-US" sz="3000" i="1" dirty="0"/>
              <a:t> </a:t>
            </a:r>
            <a:r>
              <a:rPr lang="en-US" sz="3000" dirty="0"/>
              <a:t>instruction set called Thumb that permits the ARM core to execute either 16- or 32-bit instructions</a:t>
            </a:r>
          </a:p>
          <a:p>
            <a:pPr algn="just"/>
            <a:r>
              <a:rPr lang="en-US" sz="3000" dirty="0"/>
              <a:t>The 16-bit instructions improve code density by about 30% over 32-bit fixed-length instructions</a:t>
            </a:r>
          </a:p>
          <a:p>
            <a:pPr algn="just"/>
            <a:r>
              <a:rPr lang="en-US" sz="2800" dirty="0"/>
              <a:t>Thumb instruction set = 16-bit compressed instruction set of ARM used to improve code density in embedded systems.</a:t>
            </a:r>
            <a:endParaRPr lang="en-IN" sz="3000" dirty="0"/>
          </a:p>
        </p:txBody>
      </p:sp>
    </p:spTree>
    <p:extLst>
      <p:ext uri="{BB962C8B-B14F-4D97-AF65-F5344CB8AC3E}">
        <p14:creationId xmlns:p14="http://schemas.microsoft.com/office/powerpoint/2010/main" val="2674714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FD1AF2-6B2C-4138-B65F-1D7EA5EA0C6E}"/>
              </a:ext>
            </a:extLst>
          </p:cNvPr>
          <p:cNvSpPr>
            <a:spLocks noGrp="1"/>
          </p:cNvSpPr>
          <p:nvPr>
            <p:ph idx="1"/>
          </p:nvPr>
        </p:nvSpPr>
        <p:spPr>
          <a:xfrm>
            <a:off x="457200" y="1133745"/>
            <a:ext cx="8229600" cy="4992419"/>
          </a:xfrm>
        </p:spPr>
        <p:txBody>
          <a:bodyPr>
            <a:normAutofit/>
          </a:bodyPr>
          <a:lstStyle/>
          <a:p>
            <a:pPr marL="0" lvl="0" indent="0" algn="just">
              <a:buNone/>
            </a:pPr>
            <a:r>
              <a:rPr lang="en-US" sz="3000" i="1" dirty="0">
                <a:solidFill>
                  <a:srgbClr val="FF0000"/>
                </a:solidFill>
              </a:rPr>
              <a:t>Conditional execution</a:t>
            </a:r>
          </a:p>
          <a:p>
            <a:pPr lvl="0" algn="just"/>
            <a:endParaRPr lang="en-US" sz="3000" i="1" dirty="0"/>
          </a:p>
          <a:p>
            <a:pPr lvl="0" algn="just"/>
            <a:r>
              <a:rPr lang="en-US" sz="3000" dirty="0"/>
              <a:t>An instruction is only executed when a specific condition has been</a:t>
            </a:r>
            <a:r>
              <a:rPr lang="en-US" sz="3000" i="1" dirty="0"/>
              <a:t> </a:t>
            </a:r>
            <a:r>
              <a:rPr lang="en-US" sz="3000" dirty="0"/>
              <a:t>satisfied</a:t>
            </a:r>
          </a:p>
          <a:p>
            <a:pPr lvl="0" algn="just"/>
            <a:endParaRPr lang="en-US" sz="3000" dirty="0"/>
          </a:p>
          <a:p>
            <a:pPr lvl="0" algn="just"/>
            <a:r>
              <a:rPr lang="en-US" sz="3000" dirty="0"/>
              <a:t>This feature improves performance and code density by reducing branch instructions</a:t>
            </a:r>
            <a:r>
              <a:rPr lang="en-US" sz="3000" b="1" dirty="0"/>
              <a:t> </a:t>
            </a:r>
            <a:endParaRPr lang="en-IN" sz="3000" dirty="0"/>
          </a:p>
        </p:txBody>
      </p:sp>
    </p:spTree>
    <p:extLst>
      <p:ext uri="{BB962C8B-B14F-4D97-AF65-F5344CB8AC3E}">
        <p14:creationId xmlns:p14="http://schemas.microsoft.com/office/powerpoint/2010/main" val="130146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806988-17C1-4ED3-9858-A0A87A39B31C}"/>
              </a:ext>
            </a:extLst>
          </p:cNvPr>
          <p:cNvSpPr>
            <a:spLocks noGrp="1"/>
          </p:cNvSpPr>
          <p:nvPr>
            <p:ph idx="1"/>
          </p:nvPr>
        </p:nvSpPr>
        <p:spPr>
          <a:xfrm>
            <a:off x="457200" y="1088741"/>
            <a:ext cx="8229600" cy="5037424"/>
          </a:xfrm>
        </p:spPr>
        <p:txBody>
          <a:bodyPr>
            <a:normAutofit/>
          </a:bodyPr>
          <a:lstStyle/>
          <a:p>
            <a:pPr marL="0" indent="0" algn="just">
              <a:buNone/>
            </a:pPr>
            <a:r>
              <a:rPr lang="en-US" sz="3000" i="1" dirty="0">
                <a:solidFill>
                  <a:srgbClr val="FF0000"/>
                </a:solidFill>
              </a:rPr>
              <a:t>Enhanced instructions</a:t>
            </a:r>
          </a:p>
          <a:p>
            <a:pPr algn="just"/>
            <a:endParaRPr lang="en-US" sz="3000" i="1" dirty="0"/>
          </a:p>
          <a:p>
            <a:pPr algn="just"/>
            <a:r>
              <a:rPr lang="en-US" sz="3000" dirty="0"/>
              <a:t>The enhanced digital signal processor (DSP) instructions were added to</a:t>
            </a:r>
            <a:r>
              <a:rPr lang="en-US" sz="3000" i="1" dirty="0"/>
              <a:t> </a:t>
            </a:r>
            <a:r>
              <a:rPr lang="en-US" sz="3000" dirty="0"/>
              <a:t>the standard ARM instruction set to support fast 16×16-bit multiplier operations</a:t>
            </a:r>
          </a:p>
          <a:p>
            <a:pPr algn="just"/>
            <a:endParaRPr lang="en-US" sz="3000" dirty="0"/>
          </a:p>
          <a:p>
            <a:pPr algn="just"/>
            <a:r>
              <a:rPr lang="en-US" sz="3000" dirty="0"/>
              <a:t>These instructions allow a faster-performing ARM processor</a:t>
            </a:r>
            <a:endParaRPr lang="en-IN" sz="3000" dirty="0"/>
          </a:p>
          <a:p>
            <a:pPr algn="just"/>
            <a:endParaRPr lang="en-IN" sz="3000" dirty="0"/>
          </a:p>
        </p:txBody>
      </p:sp>
    </p:spTree>
    <p:extLst>
      <p:ext uri="{BB962C8B-B14F-4D97-AF65-F5344CB8AC3E}">
        <p14:creationId xmlns:p14="http://schemas.microsoft.com/office/powerpoint/2010/main" val="760957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D86673-C376-42BE-AC06-35CB43DF93A2}"/>
              </a:ext>
            </a:extLst>
          </p:cNvPr>
          <p:cNvSpPr>
            <a:spLocks noGrp="1"/>
          </p:cNvSpPr>
          <p:nvPr>
            <p:ph idx="1"/>
          </p:nvPr>
        </p:nvSpPr>
        <p:spPr>
          <a:xfrm>
            <a:off x="457200" y="1403775"/>
            <a:ext cx="8229600" cy="4722389"/>
          </a:xfrm>
        </p:spPr>
        <p:txBody>
          <a:bodyPr/>
          <a:lstStyle/>
          <a:p>
            <a:pPr marL="0" indent="0">
              <a:buNone/>
            </a:pPr>
            <a:endParaRPr lang="en-US" dirty="0"/>
          </a:p>
          <a:p>
            <a:pPr marL="0" indent="0">
              <a:buNone/>
            </a:pPr>
            <a:endParaRPr lang="en-US" dirty="0"/>
          </a:p>
          <a:p>
            <a:pPr marL="0" indent="0" algn="just">
              <a:buNone/>
            </a:pPr>
            <a:r>
              <a:rPr lang="en-US" dirty="0"/>
              <a:t>These </a:t>
            </a:r>
            <a:r>
              <a:rPr lang="en-US" i="1" dirty="0"/>
              <a:t>additional features</a:t>
            </a:r>
            <a:r>
              <a:rPr lang="en-US" dirty="0"/>
              <a:t> have made the ARM processor one of the most commonly used 32-bit embedded processor cores</a:t>
            </a:r>
            <a:endParaRPr lang="en-IN" dirty="0"/>
          </a:p>
        </p:txBody>
      </p:sp>
    </p:spTree>
    <p:extLst>
      <p:ext uri="{BB962C8B-B14F-4D97-AF65-F5344CB8AC3E}">
        <p14:creationId xmlns:p14="http://schemas.microsoft.com/office/powerpoint/2010/main" val="3303672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351A30-3850-4965-B577-F66172746C79}"/>
              </a:ext>
            </a:extLst>
          </p:cNvPr>
          <p:cNvSpPr>
            <a:spLocks noGrp="1"/>
          </p:cNvSpPr>
          <p:nvPr>
            <p:ph idx="1"/>
          </p:nvPr>
        </p:nvSpPr>
        <p:spPr/>
        <p:txBody>
          <a:bodyPr>
            <a:normAutofit/>
          </a:bodyPr>
          <a:lstStyle/>
          <a:p>
            <a:pPr algn="just"/>
            <a:r>
              <a:rPr lang="en-US" sz="3000" dirty="0"/>
              <a:t>The following Figure shows a typical embedded device based on an ARM core</a:t>
            </a:r>
          </a:p>
          <a:p>
            <a:pPr algn="just"/>
            <a:endParaRPr lang="en-US" sz="3000" dirty="0"/>
          </a:p>
          <a:p>
            <a:pPr algn="just"/>
            <a:r>
              <a:rPr lang="en-US" sz="3000" dirty="0"/>
              <a:t>Each box represents a feature or function</a:t>
            </a:r>
          </a:p>
          <a:p>
            <a:pPr algn="just"/>
            <a:endParaRPr lang="en-US" sz="3000" dirty="0"/>
          </a:p>
          <a:p>
            <a:pPr algn="just"/>
            <a:r>
              <a:rPr lang="en-US" sz="3000" dirty="0"/>
              <a:t>The lines connecting the boxes are the buses carrying data</a:t>
            </a:r>
            <a:endParaRPr lang="en-IN" sz="3000" dirty="0"/>
          </a:p>
        </p:txBody>
      </p:sp>
      <p:sp>
        <p:nvSpPr>
          <p:cNvPr id="3" name="Rectangle 2">
            <a:extLst>
              <a:ext uri="{FF2B5EF4-FFF2-40B4-BE49-F238E27FC236}">
                <a16:creationId xmlns:a16="http://schemas.microsoft.com/office/drawing/2014/main" id="{237D5486-650E-4EBD-9837-2ADFE231AEAA}"/>
              </a:ext>
            </a:extLst>
          </p:cNvPr>
          <p:cNvSpPr/>
          <p:nvPr/>
        </p:nvSpPr>
        <p:spPr>
          <a:xfrm>
            <a:off x="116505" y="205480"/>
            <a:ext cx="6048707" cy="523220"/>
          </a:xfrm>
          <a:prstGeom prst="rect">
            <a:avLst/>
          </a:prstGeom>
        </p:spPr>
        <p:txBody>
          <a:bodyPr wrap="none">
            <a:spAutoFit/>
          </a:bodyPr>
          <a:lstStyle/>
          <a:p>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EMBEDDED SYSTEM HARDWARE</a:t>
            </a:r>
            <a:endParaRPr lang="en-IN" sz="2800" dirty="0">
              <a:solidFill>
                <a:srgbClr val="FF0000"/>
              </a:solidFill>
            </a:endParaRPr>
          </a:p>
        </p:txBody>
      </p:sp>
    </p:spTree>
    <p:extLst>
      <p:ext uri="{BB962C8B-B14F-4D97-AF65-F5344CB8AC3E}">
        <p14:creationId xmlns:p14="http://schemas.microsoft.com/office/powerpoint/2010/main" val="3249811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E218D6B-F5D2-48CE-A55C-F8DA9E1E8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885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DA8E86-F782-4096-83B5-4C8CA0E7B582}"/>
              </a:ext>
            </a:extLst>
          </p:cNvPr>
          <p:cNvSpPr>
            <a:spLocks noGrp="1"/>
          </p:cNvSpPr>
          <p:nvPr>
            <p:ph idx="1"/>
          </p:nvPr>
        </p:nvSpPr>
        <p:spPr/>
        <p:txBody>
          <a:bodyPr>
            <a:normAutofit/>
          </a:bodyPr>
          <a:lstStyle/>
          <a:p>
            <a:pPr algn="just"/>
            <a:r>
              <a:rPr lang="en-US" sz="3000" dirty="0"/>
              <a:t>We can separate the device into </a:t>
            </a:r>
            <a:r>
              <a:rPr lang="en-US" sz="3000" b="1" i="1" dirty="0"/>
              <a:t>four main hardware components</a:t>
            </a:r>
            <a:r>
              <a:rPr lang="en-US" sz="3000" dirty="0"/>
              <a:t>:</a:t>
            </a:r>
          </a:p>
          <a:p>
            <a:pPr lvl="1" algn="just"/>
            <a:r>
              <a:rPr lang="en-US" sz="2600" dirty="0"/>
              <a:t>The ARM processor</a:t>
            </a:r>
          </a:p>
          <a:p>
            <a:pPr lvl="1" algn="just"/>
            <a:r>
              <a:rPr lang="en-US" sz="2600" dirty="0"/>
              <a:t>The Controllers</a:t>
            </a:r>
          </a:p>
          <a:p>
            <a:pPr lvl="1" algn="just"/>
            <a:r>
              <a:rPr lang="en-US" sz="2600" dirty="0"/>
              <a:t>The peripherals</a:t>
            </a:r>
          </a:p>
          <a:p>
            <a:pPr lvl="1" algn="just"/>
            <a:r>
              <a:rPr lang="en-US" sz="2600" dirty="0"/>
              <a:t>The Bus</a:t>
            </a:r>
          </a:p>
          <a:p>
            <a:pPr algn="just"/>
            <a:endParaRPr lang="en-IN" sz="3000" dirty="0"/>
          </a:p>
          <a:p>
            <a:pPr marL="0" indent="0" algn="just">
              <a:buNone/>
            </a:pPr>
            <a:endParaRPr lang="en-IN" sz="3000" dirty="0"/>
          </a:p>
          <a:p>
            <a:pPr algn="just"/>
            <a:endParaRPr lang="en-IN" sz="3000" dirty="0"/>
          </a:p>
        </p:txBody>
      </p:sp>
    </p:spTree>
    <p:extLst>
      <p:ext uri="{BB962C8B-B14F-4D97-AF65-F5344CB8AC3E}">
        <p14:creationId xmlns:p14="http://schemas.microsoft.com/office/powerpoint/2010/main" val="1873748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3E4F62-9D87-4A5D-AC2F-8302915A4CE1}"/>
              </a:ext>
            </a:extLst>
          </p:cNvPr>
          <p:cNvSpPr>
            <a:spLocks noGrp="1"/>
          </p:cNvSpPr>
          <p:nvPr>
            <p:ph idx="1"/>
          </p:nvPr>
        </p:nvSpPr>
        <p:spPr>
          <a:xfrm>
            <a:off x="457200" y="1043735"/>
            <a:ext cx="8229600" cy="5082430"/>
          </a:xfrm>
        </p:spPr>
        <p:txBody>
          <a:bodyPr>
            <a:normAutofit/>
          </a:bodyPr>
          <a:lstStyle/>
          <a:p>
            <a:pPr lvl="0" algn="just"/>
            <a:r>
              <a:rPr lang="en-US" sz="2800" dirty="0"/>
              <a:t>The </a:t>
            </a:r>
            <a:r>
              <a:rPr lang="en-US" sz="2800" i="1" dirty="0">
                <a:solidFill>
                  <a:srgbClr val="FF0000"/>
                </a:solidFill>
              </a:rPr>
              <a:t>ARM processor</a:t>
            </a:r>
            <a:r>
              <a:rPr lang="en-US" sz="2800" dirty="0">
                <a:solidFill>
                  <a:srgbClr val="FF0000"/>
                </a:solidFill>
              </a:rPr>
              <a:t> </a:t>
            </a:r>
            <a:r>
              <a:rPr lang="en-US" sz="2800" dirty="0"/>
              <a:t>controls the embedded device</a:t>
            </a:r>
          </a:p>
          <a:p>
            <a:pPr lvl="0" algn="just"/>
            <a:endParaRPr lang="en-US" sz="2800" dirty="0"/>
          </a:p>
          <a:p>
            <a:pPr lvl="0" algn="just"/>
            <a:r>
              <a:rPr lang="en-US" sz="2800" dirty="0"/>
              <a:t>Different versions of the ARM processor are available to suit the desired operating characteristics</a:t>
            </a:r>
          </a:p>
          <a:p>
            <a:pPr lvl="0" algn="just"/>
            <a:endParaRPr lang="en-US" sz="2800" dirty="0"/>
          </a:p>
          <a:p>
            <a:pPr lvl="0" algn="just"/>
            <a:r>
              <a:rPr lang="en-US" sz="2800" dirty="0"/>
              <a:t>An ARM processor comprises a core (the execution engine that processes instructions and manipulates data) plus the surrounding components (memory and cache) that interface it with a bus</a:t>
            </a:r>
            <a:endParaRPr lang="en-IN" sz="2800" dirty="0"/>
          </a:p>
          <a:p>
            <a:pPr algn="just"/>
            <a:endParaRPr lang="en-IN" sz="2800" dirty="0"/>
          </a:p>
          <a:p>
            <a:pPr algn="just"/>
            <a:endParaRPr lang="en-IN" sz="2800" dirty="0"/>
          </a:p>
        </p:txBody>
      </p:sp>
    </p:spTree>
    <p:extLst>
      <p:ext uri="{BB962C8B-B14F-4D97-AF65-F5344CB8AC3E}">
        <p14:creationId xmlns:p14="http://schemas.microsoft.com/office/powerpoint/2010/main" val="2895910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1E9CB9-C0EE-4CBB-84FD-9FEA0C85CDEF}"/>
              </a:ext>
            </a:extLst>
          </p:cNvPr>
          <p:cNvSpPr>
            <a:spLocks noGrp="1"/>
          </p:cNvSpPr>
          <p:nvPr>
            <p:ph idx="1"/>
          </p:nvPr>
        </p:nvSpPr>
        <p:spPr/>
        <p:txBody>
          <a:bodyPr>
            <a:normAutofit/>
          </a:bodyPr>
          <a:lstStyle/>
          <a:p>
            <a:pPr algn="just"/>
            <a:r>
              <a:rPr lang="en-US" sz="3000" i="1" dirty="0">
                <a:solidFill>
                  <a:srgbClr val="FF0000"/>
                </a:solidFill>
              </a:rPr>
              <a:t>Controllers</a:t>
            </a:r>
            <a:r>
              <a:rPr lang="en-US" sz="3000" i="1" dirty="0"/>
              <a:t> </a:t>
            </a:r>
            <a:r>
              <a:rPr lang="en-US" sz="3000" dirty="0"/>
              <a:t>coordinate important functional blocks of the system</a:t>
            </a:r>
          </a:p>
          <a:p>
            <a:pPr algn="just"/>
            <a:endParaRPr lang="en-US" sz="3000" dirty="0"/>
          </a:p>
          <a:p>
            <a:pPr algn="just"/>
            <a:r>
              <a:rPr lang="en-US" sz="3000" dirty="0"/>
              <a:t>Two commonly found</a:t>
            </a:r>
            <a:r>
              <a:rPr lang="en-US" sz="3000" i="1" dirty="0"/>
              <a:t> </a:t>
            </a:r>
            <a:r>
              <a:rPr lang="en-US" sz="3000" dirty="0"/>
              <a:t>controllers are interrupt and memory controllers</a:t>
            </a:r>
            <a:endParaRPr lang="en-IN" sz="3000" dirty="0"/>
          </a:p>
          <a:p>
            <a:pPr algn="just"/>
            <a:endParaRPr lang="en-IN" sz="3000" dirty="0"/>
          </a:p>
        </p:txBody>
      </p:sp>
    </p:spTree>
    <p:extLst>
      <p:ext uri="{BB962C8B-B14F-4D97-AF65-F5344CB8AC3E}">
        <p14:creationId xmlns:p14="http://schemas.microsoft.com/office/powerpoint/2010/main" val="859569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2367CF-994A-4424-83F0-8D0F33D2BEE9}"/>
              </a:ext>
            </a:extLst>
          </p:cNvPr>
          <p:cNvSpPr>
            <a:spLocks noGrp="1"/>
          </p:cNvSpPr>
          <p:nvPr>
            <p:ph idx="1"/>
          </p:nvPr>
        </p:nvSpPr>
        <p:spPr>
          <a:xfrm>
            <a:off x="457200" y="1403775"/>
            <a:ext cx="8229600" cy="4722389"/>
          </a:xfrm>
        </p:spPr>
        <p:txBody>
          <a:bodyPr>
            <a:normAutofit/>
          </a:bodyPr>
          <a:lstStyle/>
          <a:p>
            <a:pPr lvl="0" algn="just"/>
            <a:r>
              <a:rPr lang="en-US" sz="3000" dirty="0"/>
              <a:t>The </a:t>
            </a:r>
            <a:r>
              <a:rPr lang="en-US" sz="3000" i="1" dirty="0">
                <a:solidFill>
                  <a:srgbClr val="FF0000"/>
                </a:solidFill>
              </a:rPr>
              <a:t>peripherals</a:t>
            </a:r>
            <a:r>
              <a:rPr lang="en-US" sz="3000" dirty="0"/>
              <a:t> provide all the input-output capability external to the chip and are responsible for the uniqueness of the embedded device</a:t>
            </a:r>
            <a:endParaRPr lang="en-IN" sz="3000" dirty="0"/>
          </a:p>
          <a:p>
            <a:pPr algn="just"/>
            <a:endParaRPr lang="en-IN" sz="3000" dirty="0"/>
          </a:p>
          <a:p>
            <a:pPr algn="just"/>
            <a:r>
              <a:rPr lang="en-US" sz="3000" dirty="0"/>
              <a:t>A </a:t>
            </a:r>
            <a:r>
              <a:rPr lang="en-US" sz="3000" i="1" dirty="0">
                <a:solidFill>
                  <a:srgbClr val="FF0000"/>
                </a:solidFill>
              </a:rPr>
              <a:t>bus</a:t>
            </a:r>
            <a:r>
              <a:rPr lang="en-US" sz="3000" dirty="0"/>
              <a:t> is used to communicate between different parts of the device</a:t>
            </a:r>
            <a:endParaRPr lang="en-IN" sz="3000" dirty="0"/>
          </a:p>
        </p:txBody>
      </p:sp>
    </p:spTree>
    <p:extLst>
      <p:ext uri="{BB962C8B-B14F-4D97-AF65-F5344CB8AC3E}">
        <p14:creationId xmlns:p14="http://schemas.microsoft.com/office/powerpoint/2010/main" val="140209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80281F-339F-47A0-9417-5332D5E958F2}"/>
              </a:ext>
            </a:extLst>
          </p:cNvPr>
          <p:cNvSpPr>
            <a:spLocks noGrp="1"/>
          </p:cNvSpPr>
          <p:nvPr>
            <p:ph idx="1"/>
          </p:nvPr>
        </p:nvSpPr>
        <p:spPr/>
        <p:txBody>
          <a:bodyPr>
            <a:normAutofit/>
          </a:bodyPr>
          <a:lstStyle/>
          <a:p>
            <a:pPr algn="just"/>
            <a:r>
              <a:rPr lang="en-US" sz="2800" dirty="0"/>
              <a:t>Embedded devices use an on-chip bus that is internal to the chip and that allows different peripheral devices to be interconnected with an ARM core</a:t>
            </a:r>
          </a:p>
          <a:p>
            <a:pPr algn="just"/>
            <a:endParaRPr lang="en-IN" sz="2800" dirty="0"/>
          </a:p>
          <a:p>
            <a:pPr algn="just"/>
            <a:r>
              <a:rPr lang="en-US" sz="2800" dirty="0"/>
              <a:t>There are </a:t>
            </a:r>
            <a:r>
              <a:rPr lang="en-US" sz="2800" b="1" i="1" dirty="0"/>
              <a:t>two different classes of devices</a:t>
            </a:r>
            <a:r>
              <a:rPr lang="en-US" sz="2800" dirty="0"/>
              <a:t> attached to the bus</a:t>
            </a:r>
            <a:endParaRPr lang="en-IN" sz="2800" dirty="0"/>
          </a:p>
          <a:p>
            <a:pPr algn="just"/>
            <a:endParaRPr lang="en-IN" sz="2800" dirty="0"/>
          </a:p>
        </p:txBody>
      </p:sp>
      <p:sp>
        <p:nvSpPr>
          <p:cNvPr id="3" name="Rectangle 2">
            <a:extLst>
              <a:ext uri="{FF2B5EF4-FFF2-40B4-BE49-F238E27FC236}">
                <a16:creationId xmlns:a16="http://schemas.microsoft.com/office/drawing/2014/main" id="{1CF5E117-84D1-4EAF-A425-D7432A2CCA56}"/>
              </a:ext>
            </a:extLst>
          </p:cNvPr>
          <p:cNvSpPr/>
          <p:nvPr/>
        </p:nvSpPr>
        <p:spPr>
          <a:xfrm>
            <a:off x="116505" y="143635"/>
            <a:ext cx="3408562"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ARM Bus Technology</a:t>
            </a:r>
            <a:endParaRPr lang="en-IN" sz="2600" dirty="0">
              <a:solidFill>
                <a:srgbClr val="FF0000"/>
              </a:solidFill>
            </a:endParaRPr>
          </a:p>
        </p:txBody>
      </p:sp>
    </p:spTree>
    <p:extLst>
      <p:ext uri="{BB962C8B-B14F-4D97-AF65-F5344CB8AC3E}">
        <p14:creationId xmlns:p14="http://schemas.microsoft.com/office/powerpoint/2010/main" val="4200837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4AC5B6-E7E8-4EEE-ABC6-E1109FB29DDA}"/>
              </a:ext>
            </a:extLst>
          </p:cNvPr>
          <p:cNvSpPr>
            <a:spLocks noGrp="1"/>
          </p:cNvSpPr>
          <p:nvPr>
            <p:ph idx="1"/>
          </p:nvPr>
        </p:nvSpPr>
        <p:spPr>
          <a:xfrm>
            <a:off x="457200" y="1268759"/>
            <a:ext cx="8229600" cy="4857405"/>
          </a:xfrm>
        </p:spPr>
        <p:txBody>
          <a:bodyPr>
            <a:normAutofit/>
          </a:bodyPr>
          <a:lstStyle/>
          <a:p>
            <a:pPr lvl="0" algn="just"/>
            <a:r>
              <a:rPr lang="en-US" sz="3000" dirty="0"/>
              <a:t>The </a:t>
            </a:r>
            <a:r>
              <a:rPr lang="en-US" sz="3000" i="1" dirty="0">
                <a:solidFill>
                  <a:srgbClr val="FF0000"/>
                </a:solidFill>
              </a:rPr>
              <a:t>ARM processor core</a:t>
            </a:r>
            <a:r>
              <a:rPr lang="en-US" sz="3000" dirty="0">
                <a:solidFill>
                  <a:srgbClr val="FF0000"/>
                </a:solidFill>
              </a:rPr>
              <a:t> is a bus master </a:t>
            </a:r>
            <a:r>
              <a:rPr lang="en-US" sz="3000" dirty="0"/>
              <a:t>-</a:t>
            </a:r>
            <a:r>
              <a:rPr lang="en-US" sz="3000" dirty="0">
                <a:solidFill>
                  <a:srgbClr val="FF0000"/>
                </a:solidFill>
              </a:rPr>
              <a:t> </a:t>
            </a:r>
            <a:r>
              <a:rPr lang="en-US" sz="3000" dirty="0"/>
              <a:t>a logical device capable of initiating a data transfer with another device across the same bus</a:t>
            </a:r>
            <a:endParaRPr lang="en-IN" sz="3000" dirty="0"/>
          </a:p>
          <a:p>
            <a:pPr algn="just"/>
            <a:endParaRPr lang="en-IN" sz="3000" dirty="0"/>
          </a:p>
          <a:p>
            <a:pPr lvl="0" algn="just"/>
            <a:r>
              <a:rPr lang="en-US" sz="3000" i="1" dirty="0">
                <a:solidFill>
                  <a:srgbClr val="FF0000"/>
                </a:solidFill>
              </a:rPr>
              <a:t>Peripherals </a:t>
            </a:r>
            <a:r>
              <a:rPr lang="en-US" sz="3000" dirty="0">
                <a:solidFill>
                  <a:srgbClr val="FF0000"/>
                </a:solidFill>
              </a:rPr>
              <a:t>tend to be bus slaves </a:t>
            </a:r>
            <a:r>
              <a:rPr lang="en-US" sz="3000" dirty="0"/>
              <a:t>-</a:t>
            </a:r>
            <a:r>
              <a:rPr lang="en-US" sz="3000" dirty="0">
                <a:solidFill>
                  <a:srgbClr val="FF0000"/>
                </a:solidFill>
              </a:rPr>
              <a:t> </a:t>
            </a:r>
            <a:r>
              <a:rPr lang="en-US" sz="3000" dirty="0"/>
              <a:t>logical devices capable only of responding to a transfer</a:t>
            </a:r>
            <a:r>
              <a:rPr lang="en-US" sz="3000" i="1" dirty="0"/>
              <a:t> </a:t>
            </a:r>
            <a:r>
              <a:rPr lang="en-US" sz="3000" dirty="0"/>
              <a:t>request from a bus master device</a:t>
            </a:r>
            <a:endParaRPr lang="en-IN" sz="3000" dirty="0"/>
          </a:p>
          <a:p>
            <a:pPr algn="just"/>
            <a:endParaRPr lang="en-IN" sz="3000" dirty="0"/>
          </a:p>
        </p:txBody>
      </p:sp>
    </p:spTree>
    <p:extLst>
      <p:ext uri="{BB962C8B-B14F-4D97-AF65-F5344CB8AC3E}">
        <p14:creationId xmlns:p14="http://schemas.microsoft.com/office/powerpoint/2010/main" val="29242231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FA6937-2C6F-4204-9F8F-EC42351AE4A8}"/>
              </a:ext>
            </a:extLst>
          </p:cNvPr>
          <p:cNvSpPr>
            <a:spLocks noGrp="1"/>
          </p:cNvSpPr>
          <p:nvPr>
            <p:ph idx="1"/>
          </p:nvPr>
        </p:nvSpPr>
        <p:spPr>
          <a:xfrm>
            <a:off x="457200" y="908721"/>
            <a:ext cx="8229600" cy="5217444"/>
          </a:xfrm>
        </p:spPr>
        <p:txBody>
          <a:bodyPr>
            <a:normAutofit/>
          </a:bodyPr>
          <a:lstStyle/>
          <a:p>
            <a:pPr marL="0" indent="0" algn="just">
              <a:buNone/>
            </a:pPr>
            <a:r>
              <a:rPr lang="en-US" sz="3000" dirty="0"/>
              <a:t>A bus has </a:t>
            </a:r>
            <a:r>
              <a:rPr lang="en-US" sz="3000" i="1" dirty="0">
                <a:solidFill>
                  <a:srgbClr val="FF0000"/>
                </a:solidFill>
              </a:rPr>
              <a:t>two architecture</a:t>
            </a:r>
            <a:r>
              <a:rPr lang="en-US" sz="3000" dirty="0">
                <a:solidFill>
                  <a:srgbClr val="FF0000"/>
                </a:solidFill>
              </a:rPr>
              <a:t> </a:t>
            </a:r>
            <a:r>
              <a:rPr lang="en-US" sz="3000" dirty="0"/>
              <a:t>levels:</a:t>
            </a:r>
            <a:endParaRPr lang="en-IN" sz="3000" dirty="0"/>
          </a:p>
          <a:p>
            <a:pPr algn="just"/>
            <a:endParaRPr lang="en-IN" sz="3000" dirty="0"/>
          </a:p>
          <a:p>
            <a:pPr algn="just"/>
            <a:r>
              <a:rPr lang="en-US" sz="3000" dirty="0"/>
              <a:t>A </a:t>
            </a:r>
            <a:r>
              <a:rPr lang="en-US" sz="3000" i="1" dirty="0">
                <a:solidFill>
                  <a:srgbClr val="FF0000"/>
                </a:solidFill>
              </a:rPr>
              <a:t>physical level</a:t>
            </a:r>
            <a:r>
              <a:rPr lang="en-US" sz="3000" i="1" dirty="0"/>
              <a:t> - </a:t>
            </a:r>
            <a:r>
              <a:rPr lang="en-US" sz="3000" dirty="0"/>
              <a:t>covers the electrical characteristics and bus width (16, 32, or 64 bits)</a:t>
            </a:r>
            <a:endParaRPr lang="en-IN" sz="3000" dirty="0"/>
          </a:p>
          <a:p>
            <a:pPr algn="just"/>
            <a:endParaRPr lang="en-IN" sz="3000" dirty="0"/>
          </a:p>
          <a:p>
            <a:pPr algn="just"/>
            <a:r>
              <a:rPr lang="en-US" sz="3000" dirty="0"/>
              <a:t>The </a:t>
            </a:r>
            <a:r>
              <a:rPr lang="en-US" sz="3000" i="1" dirty="0">
                <a:solidFill>
                  <a:srgbClr val="FF0000"/>
                </a:solidFill>
              </a:rPr>
              <a:t>protocol</a:t>
            </a:r>
            <a:r>
              <a:rPr lang="en-US" sz="3000" i="1" dirty="0"/>
              <a:t> - </a:t>
            </a:r>
            <a:r>
              <a:rPr lang="en-US" sz="3000" dirty="0"/>
              <a:t>the logical rules that govern the communication between the processor and a peripheral</a:t>
            </a:r>
            <a:endParaRPr lang="en-IN" sz="3000" dirty="0"/>
          </a:p>
          <a:p>
            <a:pPr algn="just"/>
            <a:endParaRPr lang="en-IN" sz="3000" dirty="0"/>
          </a:p>
        </p:txBody>
      </p:sp>
    </p:spTree>
    <p:extLst>
      <p:ext uri="{BB962C8B-B14F-4D97-AF65-F5344CB8AC3E}">
        <p14:creationId xmlns:p14="http://schemas.microsoft.com/office/powerpoint/2010/main" val="2039105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AC609E-0C4A-471D-B233-E446B9975FE1}"/>
              </a:ext>
            </a:extLst>
          </p:cNvPr>
          <p:cNvSpPr>
            <a:spLocks noGrp="1"/>
          </p:cNvSpPr>
          <p:nvPr>
            <p:ph idx="1"/>
          </p:nvPr>
        </p:nvSpPr>
        <p:spPr>
          <a:xfrm>
            <a:off x="457200" y="1313765"/>
            <a:ext cx="8229600" cy="4812400"/>
          </a:xfrm>
        </p:spPr>
        <p:txBody>
          <a:bodyPr>
            <a:normAutofit/>
          </a:bodyPr>
          <a:lstStyle/>
          <a:p>
            <a:pPr lvl="0" algn="just"/>
            <a:r>
              <a:rPr lang="en-US" sz="2800" dirty="0"/>
              <a:t>The </a:t>
            </a:r>
            <a:r>
              <a:rPr lang="en-US" sz="2800" i="1" dirty="0"/>
              <a:t>Advanced Microcontroller Bus Architecture (AMBA)</a:t>
            </a:r>
            <a:r>
              <a:rPr lang="en-US" sz="2800" dirty="0"/>
              <a:t> was introduced in 1996 and has been widely adopted as the on-chip bus architecture used for ARM processors</a:t>
            </a:r>
            <a:endParaRPr lang="en-IN" sz="2800" dirty="0"/>
          </a:p>
          <a:p>
            <a:pPr algn="just"/>
            <a:endParaRPr lang="en-IN" sz="2800" dirty="0"/>
          </a:p>
          <a:p>
            <a:pPr algn="just"/>
            <a:r>
              <a:rPr lang="en-US" sz="2800" dirty="0"/>
              <a:t>The first AMBA buses introduced were the </a:t>
            </a:r>
            <a:r>
              <a:rPr lang="en-US" sz="2800" i="1" dirty="0"/>
              <a:t>ARM System Bus (ASB)</a:t>
            </a:r>
            <a:r>
              <a:rPr lang="en-US" sz="2800" dirty="0"/>
              <a:t> and the </a:t>
            </a:r>
            <a:r>
              <a:rPr lang="en-US" sz="2800" i="1" dirty="0"/>
              <a:t>ARM Peripheral Bus</a:t>
            </a:r>
            <a:r>
              <a:rPr lang="en-US" sz="2800" dirty="0"/>
              <a:t> </a:t>
            </a:r>
            <a:r>
              <a:rPr lang="en-US" sz="2800" i="1" dirty="0"/>
              <a:t>(APB)</a:t>
            </a:r>
          </a:p>
          <a:p>
            <a:pPr algn="just"/>
            <a:endParaRPr lang="en-US" sz="2800" i="1" dirty="0"/>
          </a:p>
          <a:p>
            <a:pPr algn="just"/>
            <a:r>
              <a:rPr lang="en-US" sz="2800" dirty="0"/>
              <a:t>Later ARM introduced another bus design, called the</a:t>
            </a:r>
            <a:r>
              <a:rPr lang="en-US" sz="2800" i="1" dirty="0"/>
              <a:t> ARM High Performance Bus </a:t>
            </a:r>
            <a:r>
              <a:rPr lang="en-US" sz="2800" dirty="0"/>
              <a:t>(AHB)</a:t>
            </a:r>
            <a:endParaRPr lang="en-IN" sz="2800" dirty="0"/>
          </a:p>
        </p:txBody>
      </p:sp>
      <p:sp>
        <p:nvSpPr>
          <p:cNvPr id="3" name="Rectangle 2">
            <a:extLst>
              <a:ext uri="{FF2B5EF4-FFF2-40B4-BE49-F238E27FC236}">
                <a16:creationId xmlns:a16="http://schemas.microsoft.com/office/drawing/2014/main" id="{10A40973-DCF8-482B-ACAD-2BD7F34BC436}"/>
              </a:ext>
            </a:extLst>
          </p:cNvPr>
          <p:cNvSpPr/>
          <p:nvPr/>
        </p:nvSpPr>
        <p:spPr>
          <a:xfrm>
            <a:off x="-198530" y="239393"/>
            <a:ext cx="3606693" cy="492443"/>
          </a:xfrm>
          <a:prstGeom prst="rect">
            <a:avLst/>
          </a:prstGeom>
        </p:spPr>
        <p:txBody>
          <a:bodyPr wrap="none">
            <a:spAutoFit/>
          </a:bodyPr>
          <a:lstStyle/>
          <a:p>
            <a:pPr marL="406400">
              <a:spcAft>
                <a:spcPts val="0"/>
              </a:spcAft>
            </a:pPr>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AMBA Bus Protocol</a:t>
            </a:r>
            <a:endParaRPr lang="en-IN" sz="26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69106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FB32FA-5DE4-4D69-8AD8-2945C03C686F}"/>
              </a:ext>
            </a:extLst>
          </p:cNvPr>
          <p:cNvSpPr>
            <a:spLocks noGrp="1"/>
          </p:cNvSpPr>
          <p:nvPr>
            <p:ph idx="1"/>
          </p:nvPr>
        </p:nvSpPr>
        <p:spPr>
          <a:xfrm>
            <a:off x="457200" y="1043735"/>
            <a:ext cx="8229600" cy="5172439"/>
          </a:xfrm>
        </p:spPr>
        <p:txBody>
          <a:bodyPr>
            <a:normAutofit/>
          </a:bodyPr>
          <a:lstStyle/>
          <a:p>
            <a:pPr algn="just"/>
            <a:r>
              <a:rPr lang="en-US" sz="2800" dirty="0"/>
              <a:t>Using AMBA, peripheral designers can reuse the same design on multiple projects</a:t>
            </a:r>
          </a:p>
          <a:p>
            <a:pPr algn="just"/>
            <a:endParaRPr lang="en-US" sz="2800" dirty="0"/>
          </a:p>
          <a:p>
            <a:pPr algn="just"/>
            <a:r>
              <a:rPr lang="en-US" sz="2800" dirty="0"/>
              <a:t>A peripheral can simply be bolted onto the on-chip bus without having to redesign an interface for each different processor architecture</a:t>
            </a:r>
          </a:p>
          <a:p>
            <a:pPr algn="just"/>
            <a:endParaRPr lang="en-US" sz="2800" dirty="0"/>
          </a:p>
          <a:p>
            <a:pPr algn="just"/>
            <a:r>
              <a:rPr lang="en-US" sz="2800" dirty="0"/>
              <a:t>This plug-and-play interface for hardware developers improves availability and time to market</a:t>
            </a:r>
            <a:endParaRPr lang="en-IN" sz="2800" dirty="0"/>
          </a:p>
        </p:txBody>
      </p:sp>
    </p:spTree>
    <p:extLst>
      <p:ext uri="{BB962C8B-B14F-4D97-AF65-F5344CB8AC3E}">
        <p14:creationId xmlns:p14="http://schemas.microsoft.com/office/powerpoint/2010/main" val="15560091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2C0889-D0A0-4EC3-A169-8F5BF0305E88}"/>
              </a:ext>
            </a:extLst>
          </p:cNvPr>
          <p:cNvSpPr>
            <a:spLocks noGrp="1"/>
          </p:cNvSpPr>
          <p:nvPr>
            <p:ph idx="1"/>
          </p:nvPr>
        </p:nvSpPr>
        <p:spPr/>
        <p:txBody>
          <a:bodyPr>
            <a:normAutofit/>
          </a:bodyPr>
          <a:lstStyle/>
          <a:p>
            <a:pPr lvl="0" algn="just"/>
            <a:r>
              <a:rPr lang="en-US" sz="3000" dirty="0"/>
              <a:t>AHB provides higher data throughput than ASB because it is based on a centralized multiplexed bus scheme rather than the ASB bidirectional bus design</a:t>
            </a:r>
          </a:p>
          <a:p>
            <a:pPr lvl="0" algn="just"/>
            <a:endParaRPr lang="en-US" sz="3000" dirty="0"/>
          </a:p>
          <a:p>
            <a:pPr lvl="0" algn="just"/>
            <a:r>
              <a:rPr lang="en-US" sz="3000" dirty="0"/>
              <a:t>This change allows the AHB bus to run</a:t>
            </a:r>
            <a:r>
              <a:rPr lang="en-IN" sz="3000" dirty="0"/>
              <a:t> </a:t>
            </a:r>
            <a:r>
              <a:rPr lang="en-US" sz="3000" dirty="0"/>
              <a:t>at higher clock speeds.</a:t>
            </a:r>
            <a:endParaRPr lang="en-IN" sz="3000" dirty="0"/>
          </a:p>
        </p:txBody>
      </p:sp>
    </p:spTree>
    <p:extLst>
      <p:ext uri="{BB962C8B-B14F-4D97-AF65-F5344CB8AC3E}">
        <p14:creationId xmlns:p14="http://schemas.microsoft.com/office/powerpoint/2010/main" val="3880414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02FF0F-3880-4177-BEDC-C744082F5263}"/>
              </a:ext>
            </a:extLst>
          </p:cNvPr>
          <p:cNvSpPr>
            <a:spLocks noGrp="1"/>
          </p:cNvSpPr>
          <p:nvPr>
            <p:ph idx="1"/>
          </p:nvPr>
        </p:nvSpPr>
        <p:spPr>
          <a:xfrm>
            <a:off x="457200" y="1133745"/>
            <a:ext cx="8229600" cy="4992419"/>
          </a:xfrm>
        </p:spPr>
        <p:txBody>
          <a:bodyPr>
            <a:normAutofit/>
          </a:bodyPr>
          <a:lstStyle/>
          <a:p>
            <a:pPr lvl="0" algn="just"/>
            <a:r>
              <a:rPr lang="en-US" sz="3000" dirty="0"/>
              <a:t>ARM has introduced </a:t>
            </a:r>
            <a:r>
              <a:rPr lang="en-US" sz="3000" i="1" dirty="0"/>
              <a:t>two variations</a:t>
            </a:r>
            <a:r>
              <a:rPr lang="en-US" sz="3000" dirty="0"/>
              <a:t> on the AHB bus: </a:t>
            </a:r>
            <a:r>
              <a:rPr lang="en-US" sz="3000" i="1" dirty="0">
                <a:solidFill>
                  <a:srgbClr val="FF0000"/>
                </a:solidFill>
              </a:rPr>
              <a:t>Multi-layer AHB</a:t>
            </a:r>
            <a:r>
              <a:rPr lang="en-US" sz="3000" dirty="0">
                <a:solidFill>
                  <a:srgbClr val="FF0000"/>
                </a:solidFill>
              </a:rPr>
              <a:t> </a:t>
            </a:r>
            <a:r>
              <a:rPr lang="en-US" sz="3000" dirty="0"/>
              <a:t>and </a:t>
            </a:r>
            <a:r>
              <a:rPr lang="en-US" sz="3000" i="1" dirty="0">
                <a:solidFill>
                  <a:srgbClr val="FF0000"/>
                </a:solidFill>
              </a:rPr>
              <a:t>AHB-Lite</a:t>
            </a:r>
            <a:endParaRPr lang="en-IN" sz="3000" dirty="0">
              <a:solidFill>
                <a:srgbClr val="FF0000"/>
              </a:solidFill>
            </a:endParaRPr>
          </a:p>
          <a:p>
            <a:pPr algn="just"/>
            <a:endParaRPr lang="en-IN" sz="3000" dirty="0"/>
          </a:p>
          <a:p>
            <a:pPr algn="just"/>
            <a:r>
              <a:rPr lang="en-US" sz="3000" dirty="0"/>
              <a:t>The Multi-layer AHB bus allows multiple active bus masters</a:t>
            </a:r>
            <a:endParaRPr lang="en-IN" sz="3000" dirty="0"/>
          </a:p>
          <a:p>
            <a:pPr algn="just"/>
            <a:endParaRPr lang="en-IN" sz="3000" dirty="0"/>
          </a:p>
          <a:p>
            <a:pPr algn="just"/>
            <a:r>
              <a:rPr lang="en-US" sz="3000" dirty="0"/>
              <a:t>AHB-Lite is a subset of the AHB bus and it is limited to a single bus master</a:t>
            </a:r>
            <a:endParaRPr lang="en-IN" sz="3000" dirty="0"/>
          </a:p>
          <a:p>
            <a:pPr algn="just"/>
            <a:endParaRPr lang="en-IN" sz="3000" dirty="0"/>
          </a:p>
          <a:p>
            <a:pPr algn="just"/>
            <a:endParaRPr lang="en-IN" sz="3000" dirty="0"/>
          </a:p>
        </p:txBody>
      </p:sp>
    </p:spTree>
    <p:extLst>
      <p:ext uri="{BB962C8B-B14F-4D97-AF65-F5344CB8AC3E}">
        <p14:creationId xmlns:p14="http://schemas.microsoft.com/office/powerpoint/2010/main" val="2760578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BCCA33-4E05-40AD-B48C-1C7D20E2AB3F}"/>
              </a:ext>
            </a:extLst>
          </p:cNvPr>
          <p:cNvSpPr>
            <a:spLocks noGrp="1"/>
          </p:cNvSpPr>
          <p:nvPr>
            <p:ph idx="1"/>
          </p:nvPr>
        </p:nvSpPr>
        <p:spPr>
          <a:xfrm>
            <a:off x="457200" y="1088741"/>
            <a:ext cx="8229600" cy="5037424"/>
          </a:xfrm>
        </p:spPr>
        <p:txBody>
          <a:bodyPr>
            <a:normAutofit/>
          </a:bodyPr>
          <a:lstStyle/>
          <a:p>
            <a:pPr lvl="0" algn="just"/>
            <a:r>
              <a:rPr lang="en-US" sz="2800" dirty="0"/>
              <a:t>The example device shown in the above Figure has three buses:</a:t>
            </a:r>
            <a:endParaRPr lang="en-IN" sz="2800" dirty="0"/>
          </a:p>
          <a:p>
            <a:pPr algn="just"/>
            <a:endParaRPr lang="en-IN" sz="2800" dirty="0"/>
          </a:p>
          <a:p>
            <a:pPr algn="just"/>
            <a:r>
              <a:rPr lang="en-US" sz="2800" dirty="0"/>
              <a:t>An </a:t>
            </a:r>
            <a:r>
              <a:rPr lang="en-US" sz="2800" i="1" dirty="0"/>
              <a:t>AHB bus</a:t>
            </a:r>
            <a:r>
              <a:rPr lang="en-US" sz="2800" dirty="0"/>
              <a:t> for the high performance peripherals </a:t>
            </a:r>
          </a:p>
          <a:p>
            <a:pPr algn="just"/>
            <a:endParaRPr lang="en-US" sz="2800" dirty="0"/>
          </a:p>
          <a:p>
            <a:pPr algn="just"/>
            <a:r>
              <a:rPr lang="en-US" sz="2800" dirty="0"/>
              <a:t>An </a:t>
            </a:r>
            <a:r>
              <a:rPr lang="en-US" sz="2800" i="1" dirty="0"/>
              <a:t>APB bus</a:t>
            </a:r>
            <a:r>
              <a:rPr lang="en-US" sz="2800" dirty="0"/>
              <a:t> for the slower peripherals</a:t>
            </a:r>
            <a:endParaRPr lang="en-IN" sz="2800" dirty="0"/>
          </a:p>
          <a:p>
            <a:pPr marL="0" indent="0" algn="just">
              <a:buNone/>
            </a:pPr>
            <a:endParaRPr lang="en-IN" sz="2800" dirty="0"/>
          </a:p>
          <a:p>
            <a:pPr algn="just"/>
            <a:r>
              <a:rPr lang="en-US" sz="2800" dirty="0"/>
              <a:t>A third </a:t>
            </a:r>
            <a:r>
              <a:rPr lang="en-US" sz="2800" i="1" dirty="0"/>
              <a:t>bus for external peripherals</a:t>
            </a:r>
            <a:r>
              <a:rPr lang="en-US" sz="2800" dirty="0"/>
              <a:t>, proprietary to this device</a:t>
            </a:r>
            <a:endParaRPr lang="en-IN" sz="2800" dirty="0"/>
          </a:p>
        </p:txBody>
      </p:sp>
    </p:spTree>
    <p:extLst>
      <p:ext uri="{BB962C8B-B14F-4D97-AF65-F5344CB8AC3E}">
        <p14:creationId xmlns:p14="http://schemas.microsoft.com/office/powerpoint/2010/main" val="2528061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A298C5-0886-4AAC-8DD0-4E46B9057A8E}"/>
              </a:ext>
            </a:extLst>
          </p:cNvPr>
          <p:cNvSpPr>
            <a:spLocks noGrp="1"/>
          </p:cNvSpPr>
          <p:nvPr>
            <p:ph idx="1"/>
          </p:nvPr>
        </p:nvSpPr>
        <p:spPr/>
        <p:txBody>
          <a:bodyPr>
            <a:normAutofit/>
          </a:bodyPr>
          <a:lstStyle/>
          <a:p>
            <a:pPr algn="just"/>
            <a:r>
              <a:rPr lang="en-US" sz="3000" dirty="0"/>
              <a:t>An embedded system has to have some form of memory to store and execute code</a:t>
            </a:r>
          </a:p>
          <a:p>
            <a:pPr algn="just"/>
            <a:endParaRPr lang="en-US" sz="3000" dirty="0"/>
          </a:p>
          <a:p>
            <a:pPr algn="just"/>
            <a:r>
              <a:rPr lang="en-US" sz="3000" dirty="0"/>
              <a:t>You have to compare price, performance, and power consumption when deciding upon specific memory characteristics, such as hierarchy, width, and type</a:t>
            </a:r>
            <a:endParaRPr lang="en-IN" sz="3000" dirty="0"/>
          </a:p>
        </p:txBody>
      </p:sp>
      <p:sp>
        <p:nvSpPr>
          <p:cNvPr id="3" name="Rectangle 2">
            <a:extLst>
              <a:ext uri="{FF2B5EF4-FFF2-40B4-BE49-F238E27FC236}">
                <a16:creationId xmlns:a16="http://schemas.microsoft.com/office/drawing/2014/main" id="{33E5ACCE-D89A-4396-918B-4B26B5C61823}"/>
              </a:ext>
            </a:extLst>
          </p:cNvPr>
          <p:cNvSpPr/>
          <p:nvPr/>
        </p:nvSpPr>
        <p:spPr>
          <a:xfrm>
            <a:off x="56779" y="98630"/>
            <a:ext cx="1949935" cy="492443"/>
          </a:xfrm>
          <a:prstGeom prst="rect">
            <a:avLst/>
          </a:prstGeom>
        </p:spPr>
        <p:txBody>
          <a:bodyPr wrap="square">
            <a:spAutoFit/>
          </a:bodyPr>
          <a:lstStyle/>
          <a:p>
            <a:pPr marL="406400">
              <a:spcAft>
                <a:spcPts val="0"/>
              </a:spcAft>
            </a:pPr>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Memory</a:t>
            </a:r>
            <a:endParaRPr lang="en-IN" sz="26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754522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69066D-6933-49CA-B215-B03CCC5235FF}"/>
              </a:ext>
            </a:extLst>
          </p:cNvPr>
          <p:cNvSpPr>
            <a:spLocks noGrp="1"/>
          </p:cNvSpPr>
          <p:nvPr>
            <p:ph idx="1"/>
          </p:nvPr>
        </p:nvSpPr>
        <p:spPr>
          <a:xfrm>
            <a:off x="457200" y="818711"/>
            <a:ext cx="8229600" cy="5307454"/>
          </a:xfrm>
        </p:spPr>
        <p:txBody>
          <a:bodyPr>
            <a:normAutofit fontScale="85000" lnSpcReduction="10000"/>
          </a:bodyPr>
          <a:lstStyle/>
          <a:p>
            <a:pPr marL="0" indent="0" algn="just">
              <a:buNone/>
            </a:pPr>
            <a:r>
              <a:rPr lang="en-US" b="1" dirty="0"/>
              <a:t>Hierarchy:</a:t>
            </a:r>
          </a:p>
          <a:p>
            <a:pPr marL="0" indent="0" algn="just">
              <a:buNone/>
            </a:pPr>
            <a:endParaRPr lang="en-US" b="1" dirty="0"/>
          </a:p>
          <a:p>
            <a:pPr algn="just"/>
            <a:r>
              <a:rPr lang="en-US" dirty="0"/>
              <a:t>All computer systems have memory arranged in some form of hierarchy</a:t>
            </a:r>
          </a:p>
          <a:p>
            <a:pPr algn="just"/>
            <a:endParaRPr lang="en-US" dirty="0"/>
          </a:p>
          <a:p>
            <a:pPr algn="just"/>
            <a:r>
              <a:rPr lang="en-US" dirty="0"/>
              <a:t>The following</a:t>
            </a:r>
            <a:r>
              <a:rPr lang="en-US" b="1" dirty="0"/>
              <a:t> </a:t>
            </a:r>
            <a:r>
              <a:rPr lang="en-US" dirty="0"/>
              <a:t>Figure shows the memory trade-offs: the fastest memory cache is physically located nearer the ARM processor core and the slowest secondary memory is set further away</a:t>
            </a:r>
          </a:p>
          <a:p>
            <a:pPr algn="just"/>
            <a:endParaRPr lang="en-US" dirty="0"/>
          </a:p>
          <a:p>
            <a:pPr algn="just"/>
            <a:r>
              <a:rPr lang="en-US" dirty="0"/>
              <a:t>Generally the closer memory is to the processor core, the more it costs and the smaller its capacity</a:t>
            </a:r>
            <a:endParaRPr lang="en-IN" dirty="0"/>
          </a:p>
          <a:p>
            <a:pPr algn="just"/>
            <a:endParaRPr lang="en-IN" dirty="0"/>
          </a:p>
        </p:txBody>
      </p:sp>
    </p:spTree>
    <p:extLst>
      <p:ext uri="{BB962C8B-B14F-4D97-AF65-F5344CB8AC3E}">
        <p14:creationId xmlns:p14="http://schemas.microsoft.com/office/powerpoint/2010/main" val="35914768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CD859F3-266E-46BF-AE2E-02757F1CD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78750"/>
            <a:ext cx="8505945" cy="51755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2C6E3AC-53DB-448D-B52D-1C7101243D2E}"/>
              </a:ext>
            </a:extLst>
          </p:cNvPr>
          <p:cNvSpPr/>
          <p:nvPr/>
        </p:nvSpPr>
        <p:spPr>
          <a:xfrm>
            <a:off x="-2178750" y="323655"/>
            <a:ext cx="6300700" cy="461665"/>
          </a:xfrm>
          <a:prstGeom prst="rect">
            <a:avLst/>
          </a:prstGeom>
        </p:spPr>
        <p:txBody>
          <a:bodyPr wrap="square">
            <a:spAutoFit/>
          </a:bodyPr>
          <a:lstStyle/>
          <a:p>
            <a:pPr marL="2311400">
              <a:spcAft>
                <a:spcPts val="0"/>
              </a:spcAft>
            </a:pPr>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Memory Storage Trade-offs</a:t>
            </a:r>
            <a:endParaRPr lang="en-IN" sz="24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141222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0647F2-EEED-42CA-B881-2CCC14CECD82}"/>
              </a:ext>
            </a:extLst>
          </p:cNvPr>
          <p:cNvSpPr>
            <a:spLocks noGrp="1"/>
          </p:cNvSpPr>
          <p:nvPr>
            <p:ph idx="1"/>
          </p:nvPr>
        </p:nvSpPr>
        <p:spPr>
          <a:xfrm>
            <a:off x="457200" y="1043736"/>
            <a:ext cx="8229600" cy="5082430"/>
          </a:xfrm>
        </p:spPr>
        <p:txBody>
          <a:bodyPr>
            <a:normAutofit fontScale="85000" lnSpcReduction="10000"/>
          </a:bodyPr>
          <a:lstStyle/>
          <a:p>
            <a:pPr algn="just"/>
            <a:r>
              <a:rPr lang="en-US" dirty="0"/>
              <a:t>The </a:t>
            </a:r>
            <a:r>
              <a:rPr lang="en-US" i="1" dirty="0"/>
              <a:t>cache</a:t>
            </a:r>
            <a:r>
              <a:rPr lang="en-US" dirty="0"/>
              <a:t> is placed between main memory and the core</a:t>
            </a:r>
          </a:p>
          <a:p>
            <a:pPr algn="just"/>
            <a:endParaRPr lang="en-US" dirty="0"/>
          </a:p>
          <a:p>
            <a:pPr algn="just"/>
            <a:r>
              <a:rPr lang="en-US" dirty="0"/>
              <a:t>It is used to speed up data transfer between the processor and main memory</a:t>
            </a:r>
          </a:p>
          <a:p>
            <a:pPr algn="just"/>
            <a:endParaRPr lang="en-US" dirty="0"/>
          </a:p>
          <a:p>
            <a:pPr algn="just"/>
            <a:r>
              <a:rPr lang="en-US" dirty="0"/>
              <a:t>A cache provides an overall increase in performance but with a loss of predictable execution time</a:t>
            </a:r>
          </a:p>
          <a:p>
            <a:pPr algn="just"/>
            <a:endParaRPr lang="en-US" dirty="0"/>
          </a:p>
          <a:p>
            <a:pPr algn="just"/>
            <a:r>
              <a:rPr lang="en-US" dirty="0"/>
              <a:t>Although the cache increases the general performance of the system, it does not help real-time system response</a:t>
            </a:r>
            <a:endParaRPr lang="en-IN" dirty="0"/>
          </a:p>
        </p:txBody>
      </p:sp>
    </p:spTree>
    <p:extLst>
      <p:ext uri="{BB962C8B-B14F-4D97-AF65-F5344CB8AC3E}">
        <p14:creationId xmlns:p14="http://schemas.microsoft.com/office/powerpoint/2010/main" val="18917155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4D29DB-043B-4CBB-BE92-7A2F687D869E}"/>
              </a:ext>
            </a:extLst>
          </p:cNvPr>
          <p:cNvSpPr>
            <a:spLocks noGrp="1"/>
          </p:cNvSpPr>
          <p:nvPr>
            <p:ph idx="1"/>
          </p:nvPr>
        </p:nvSpPr>
        <p:spPr>
          <a:xfrm>
            <a:off x="457200" y="1358770"/>
            <a:ext cx="8229600" cy="4767394"/>
          </a:xfrm>
        </p:spPr>
        <p:txBody>
          <a:bodyPr>
            <a:normAutofit/>
          </a:bodyPr>
          <a:lstStyle/>
          <a:p>
            <a:pPr algn="just"/>
            <a:r>
              <a:rPr lang="en-US" sz="3000" dirty="0"/>
              <a:t>The </a:t>
            </a:r>
            <a:r>
              <a:rPr lang="en-US" sz="3000" i="1" dirty="0"/>
              <a:t>main memory</a:t>
            </a:r>
            <a:r>
              <a:rPr lang="en-US" sz="3000" dirty="0"/>
              <a:t> is large—around 256 KB to 256 MB (or even greater), depending on the application—and is generally stored in separate chips</a:t>
            </a:r>
          </a:p>
          <a:p>
            <a:pPr algn="just"/>
            <a:endParaRPr lang="en-US" sz="3000" dirty="0"/>
          </a:p>
          <a:p>
            <a:pPr algn="just"/>
            <a:r>
              <a:rPr lang="en-US" sz="3000" dirty="0"/>
              <a:t>Load and store instructions access the main memory unless the values have been stored in the cache for fast access</a:t>
            </a:r>
            <a:endParaRPr lang="en-IN" sz="3000" dirty="0"/>
          </a:p>
        </p:txBody>
      </p:sp>
    </p:spTree>
    <p:extLst>
      <p:ext uri="{BB962C8B-B14F-4D97-AF65-F5344CB8AC3E}">
        <p14:creationId xmlns:p14="http://schemas.microsoft.com/office/powerpoint/2010/main" val="207506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F0F1C7-22AD-4F9F-8CA0-E105BAB66850}"/>
              </a:ext>
            </a:extLst>
          </p:cNvPr>
          <p:cNvSpPr>
            <a:spLocks noGrp="1"/>
          </p:cNvSpPr>
          <p:nvPr>
            <p:ph idx="1"/>
          </p:nvPr>
        </p:nvSpPr>
        <p:spPr/>
        <p:txBody>
          <a:bodyPr/>
          <a:lstStyle/>
          <a:p>
            <a:pPr algn="just"/>
            <a:r>
              <a:rPr lang="en-US" i="1" dirty="0"/>
              <a:t>Secondary storage </a:t>
            </a:r>
            <a:r>
              <a:rPr lang="en-US" dirty="0"/>
              <a:t>is the largest and slowest form of memory</a:t>
            </a:r>
          </a:p>
          <a:p>
            <a:pPr algn="just"/>
            <a:endParaRPr lang="en-US" dirty="0"/>
          </a:p>
          <a:p>
            <a:pPr algn="just"/>
            <a:r>
              <a:rPr lang="en-US" dirty="0"/>
              <a:t>Hard disk drives and CD-ROM</a:t>
            </a:r>
            <a:r>
              <a:rPr lang="en-US" i="1" dirty="0"/>
              <a:t> </a:t>
            </a:r>
            <a:r>
              <a:rPr lang="en-US" dirty="0"/>
              <a:t>drives are examples of secondary storage</a:t>
            </a:r>
            <a:endParaRPr lang="en-IN" dirty="0"/>
          </a:p>
        </p:txBody>
      </p:sp>
    </p:spTree>
    <p:extLst>
      <p:ext uri="{BB962C8B-B14F-4D97-AF65-F5344CB8AC3E}">
        <p14:creationId xmlns:p14="http://schemas.microsoft.com/office/powerpoint/2010/main" val="22172071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718600-38EF-474F-97C0-650C056FBAA5}"/>
              </a:ext>
            </a:extLst>
          </p:cNvPr>
          <p:cNvSpPr>
            <a:spLocks noGrp="1"/>
          </p:cNvSpPr>
          <p:nvPr>
            <p:ph idx="1"/>
          </p:nvPr>
        </p:nvSpPr>
        <p:spPr>
          <a:xfrm>
            <a:off x="457200" y="1313765"/>
            <a:ext cx="8229600" cy="4812399"/>
          </a:xfrm>
        </p:spPr>
        <p:txBody>
          <a:bodyPr>
            <a:normAutofit fontScale="92500"/>
          </a:bodyPr>
          <a:lstStyle/>
          <a:p>
            <a:pPr algn="just"/>
            <a:r>
              <a:rPr lang="en-US" sz="2600" dirty="0"/>
              <a:t>The memory width is the number of bits the memory returns on each access—typically 8, 16, 32,</a:t>
            </a:r>
            <a:r>
              <a:rPr lang="en-US" sz="2600" b="1" dirty="0"/>
              <a:t> </a:t>
            </a:r>
            <a:r>
              <a:rPr lang="en-US" sz="2600" dirty="0"/>
              <a:t>or 64 bits</a:t>
            </a:r>
            <a:endParaRPr lang="en-IN" sz="2600" dirty="0"/>
          </a:p>
          <a:p>
            <a:pPr marL="0" indent="0" algn="just">
              <a:buNone/>
            </a:pPr>
            <a:r>
              <a:rPr lang="en-US" sz="2600" dirty="0"/>
              <a:t> </a:t>
            </a:r>
            <a:endParaRPr lang="en-IN" sz="2600" dirty="0"/>
          </a:p>
          <a:p>
            <a:pPr algn="just"/>
            <a:r>
              <a:rPr lang="en-US" sz="2600" dirty="0"/>
              <a:t>The memory width has a direct effect on the overall performance and cost ratio</a:t>
            </a:r>
          </a:p>
          <a:p>
            <a:pPr algn="just"/>
            <a:endParaRPr lang="en-US" sz="2600" dirty="0"/>
          </a:p>
          <a:p>
            <a:pPr algn="just"/>
            <a:r>
              <a:rPr lang="en-US" sz="2600" dirty="0"/>
              <a:t>Lower bit memories are less expensive, but reduce the system performance</a:t>
            </a:r>
            <a:endParaRPr lang="en-IN" sz="2600" dirty="0"/>
          </a:p>
          <a:p>
            <a:pPr algn="just"/>
            <a:endParaRPr lang="en-IN" sz="2600" dirty="0"/>
          </a:p>
          <a:p>
            <a:pPr algn="just"/>
            <a:r>
              <a:rPr lang="en-US" sz="2600" dirty="0"/>
              <a:t>The following Table summarizes theoretical cycle times on an ARM processor using different memory width devices</a:t>
            </a:r>
            <a:endParaRPr lang="en-IN" sz="2600" dirty="0"/>
          </a:p>
        </p:txBody>
      </p:sp>
      <p:sp>
        <p:nvSpPr>
          <p:cNvPr id="3" name="Rectangle 2">
            <a:extLst>
              <a:ext uri="{FF2B5EF4-FFF2-40B4-BE49-F238E27FC236}">
                <a16:creationId xmlns:a16="http://schemas.microsoft.com/office/drawing/2014/main" id="{3A00F2AD-3BBB-4E46-AF37-2E976706EFFC}"/>
              </a:ext>
            </a:extLst>
          </p:cNvPr>
          <p:cNvSpPr/>
          <p:nvPr/>
        </p:nvSpPr>
        <p:spPr>
          <a:xfrm>
            <a:off x="161510" y="239393"/>
            <a:ext cx="1087542"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Width</a:t>
            </a:r>
            <a:endParaRPr lang="en-IN" sz="2600" dirty="0">
              <a:solidFill>
                <a:srgbClr val="FF0000"/>
              </a:solidFill>
            </a:endParaRPr>
          </a:p>
        </p:txBody>
      </p:sp>
    </p:spTree>
    <p:extLst>
      <p:ext uri="{BB962C8B-B14F-4D97-AF65-F5344CB8AC3E}">
        <p14:creationId xmlns:p14="http://schemas.microsoft.com/office/powerpoint/2010/main" val="1331069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52F6E6-9579-4D4A-9D00-A5A90D637556}"/>
              </a:ext>
            </a:extLst>
          </p:cNvPr>
          <p:cNvSpPr/>
          <p:nvPr/>
        </p:nvSpPr>
        <p:spPr>
          <a:xfrm>
            <a:off x="1826695" y="1916204"/>
            <a:ext cx="4327147" cy="369332"/>
          </a:xfrm>
          <a:prstGeom prst="rect">
            <a:avLst/>
          </a:prstGeom>
        </p:spPr>
        <p:txBody>
          <a:bodyPr wrap="none">
            <a:spAutoFit/>
          </a:bodyPr>
          <a:lstStyle/>
          <a:p>
            <a:r>
              <a:rPr lang="en-US"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Table: Fetching Instruction from Memory</a:t>
            </a:r>
            <a:endParaRPr lang="en-IN" dirty="0">
              <a:solidFill>
                <a:srgbClr val="FF0000"/>
              </a:solidFill>
            </a:endParaRPr>
          </a:p>
        </p:txBody>
      </p:sp>
      <p:graphicFrame>
        <p:nvGraphicFramePr>
          <p:cNvPr id="9" name="Content Placeholder 8">
            <a:extLst>
              <a:ext uri="{FF2B5EF4-FFF2-40B4-BE49-F238E27FC236}">
                <a16:creationId xmlns:a16="http://schemas.microsoft.com/office/drawing/2014/main" id="{51A5F7B3-F261-4518-8ABF-7CC340CB6632}"/>
              </a:ext>
            </a:extLst>
          </p:cNvPr>
          <p:cNvGraphicFramePr>
            <a:graphicFrameLocks noGrp="1"/>
          </p:cNvGraphicFramePr>
          <p:nvPr>
            <p:ph idx="1"/>
            <p:extLst>
              <p:ext uri="{D42A27DB-BD31-4B8C-83A1-F6EECF244321}">
                <p14:modId xmlns:p14="http://schemas.microsoft.com/office/powerpoint/2010/main" val="1946186910"/>
              </p:ext>
            </p:extLst>
          </p:nvPr>
        </p:nvGraphicFramePr>
        <p:xfrm>
          <a:off x="701571" y="2393884"/>
          <a:ext cx="7515836" cy="1755196"/>
        </p:xfrm>
        <a:graphic>
          <a:graphicData uri="http://schemas.openxmlformats.org/drawingml/2006/table">
            <a:tbl>
              <a:tblPr>
                <a:tableStyleId>{5C22544A-7EE6-4342-B048-85BDC9FD1C3A}</a:tableStyleId>
              </a:tblPr>
              <a:tblGrid>
                <a:gridCol w="1988622">
                  <a:extLst>
                    <a:ext uri="{9D8B030D-6E8A-4147-A177-3AD203B41FA5}">
                      <a16:colId xmlns:a16="http://schemas.microsoft.com/office/drawing/2014/main" val="3355791410"/>
                    </a:ext>
                  </a:extLst>
                </a:gridCol>
                <a:gridCol w="1757991">
                  <a:extLst>
                    <a:ext uri="{9D8B030D-6E8A-4147-A177-3AD203B41FA5}">
                      <a16:colId xmlns:a16="http://schemas.microsoft.com/office/drawing/2014/main" val="3182321524"/>
                    </a:ext>
                  </a:extLst>
                </a:gridCol>
                <a:gridCol w="1873307">
                  <a:extLst>
                    <a:ext uri="{9D8B030D-6E8A-4147-A177-3AD203B41FA5}">
                      <a16:colId xmlns:a16="http://schemas.microsoft.com/office/drawing/2014/main" val="3114212194"/>
                    </a:ext>
                  </a:extLst>
                </a:gridCol>
                <a:gridCol w="1895916">
                  <a:extLst>
                    <a:ext uri="{9D8B030D-6E8A-4147-A177-3AD203B41FA5}">
                      <a16:colId xmlns:a16="http://schemas.microsoft.com/office/drawing/2014/main" val="3140820546"/>
                    </a:ext>
                  </a:extLst>
                </a:gridCol>
              </a:tblGrid>
              <a:tr h="664494">
                <a:tc>
                  <a:txBody>
                    <a:bodyPr/>
                    <a:lstStyle/>
                    <a:p>
                      <a:pPr algn="ctr">
                        <a:spcAft>
                          <a:spcPts val="0"/>
                        </a:spcAft>
                      </a:pPr>
                      <a:r>
                        <a:rPr lang="en-US" sz="2000" b="1" dirty="0">
                          <a:effectLst/>
                        </a:rPr>
                        <a:t>Instruction Size</a:t>
                      </a:r>
                      <a:endParaRPr lang="en-IN" sz="20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8-bit Memory</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16-bit Memory</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32-bit Memory</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8968234"/>
                  </a:ext>
                </a:extLst>
              </a:tr>
              <a:tr h="590663">
                <a:tc>
                  <a:txBody>
                    <a:bodyPr/>
                    <a:lstStyle/>
                    <a:p>
                      <a:pPr algn="ctr">
                        <a:spcAft>
                          <a:spcPts val="0"/>
                        </a:spcAft>
                      </a:pPr>
                      <a:r>
                        <a:rPr lang="en-US" sz="2000" b="1" dirty="0">
                          <a:effectLst/>
                        </a:rPr>
                        <a:t>ARM 32-bit</a:t>
                      </a:r>
                      <a:endParaRPr lang="en-IN" sz="20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4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2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1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201738"/>
                  </a:ext>
                </a:extLst>
              </a:tr>
              <a:tr h="500039">
                <a:tc>
                  <a:txBody>
                    <a:bodyPr/>
                    <a:lstStyle/>
                    <a:p>
                      <a:pPr algn="ctr">
                        <a:spcAft>
                          <a:spcPts val="0"/>
                        </a:spcAft>
                      </a:pPr>
                      <a:r>
                        <a:rPr lang="en-US" sz="2000" b="1" dirty="0">
                          <a:effectLst/>
                        </a:rPr>
                        <a:t>Thumb 16-bit</a:t>
                      </a:r>
                      <a:endParaRPr lang="en-IN" sz="20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2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1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rPr>
                        <a:t>1 cycles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0844424"/>
                  </a:ext>
                </a:extLst>
              </a:tr>
            </a:tbl>
          </a:graphicData>
        </a:graphic>
      </p:graphicFrame>
    </p:spTree>
    <p:extLst>
      <p:ext uri="{BB962C8B-B14F-4D97-AF65-F5344CB8AC3E}">
        <p14:creationId xmlns:p14="http://schemas.microsoft.com/office/powerpoint/2010/main" val="34850322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F2E45D-C69E-4B7B-B230-113206FD8506}"/>
              </a:ext>
            </a:extLst>
          </p:cNvPr>
          <p:cNvSpPr>
            <a:spLocks noGrp="1"/>
          </p:cNvSpPr>
          <p:nvPr>
            <p:ph idx="1"/>
          </p:nvPr>
        </p:nvSpPr>
        <p:spPr>
          <a:xfrm>
            <a:off x="457200" y="1493785"/>
            <a:ext cx="8229600" cy="4632379"/>
          </a:xfrm>
        </p:spPr>
        <p:txBody>
          <a:bodyPr>
            <a:normAutofit/>
          </a:bodyPr>
          <a:lstStyle/>
          <a:p>
            <a:pPr lvl="0" algn="just"/>
            <a:r>
              <a:rPr lang="en-US" sz="2800" i="1" dirty="0"/>
              <a:t>Read-only memory (ROM) </a:t>
            </a:r>
            <a:r>
              <a:rPr lang="en-US" sz="2800" dirty="0"/>
              <a:t>is the least flexible of all memory types because it contains an image</a:t>
            </a:r>
            <a:r>
              <a:rPr lang="en-US" sz="2800" i="1" dirty="0"/>
              <a:t> </a:t>
            </a:r>
            <a:r>
              <a:rPr lang="en-US" sz="2800" dirty="0"/>
              <a:t>that is permanently set at production time and cannot be reprogrammed</a:t>
            </a:r>
          </a:p>
          <a:p>
            <a:pPr lvl="0" algn="just"/>
            <a:endParaRPr lang="en-IN" sz="2800" dirty="0"/>
          </a:p>
          <a:p>
            <a:pPr algn="just"/>
            <a:r>
              <a:rPr lang="en-US" sz="2800" dirty="0"/>
              <a:t>ROMs are used in high-volume devices that require no updates or corrections</a:t>
            </a:r>
          </a:p>
          <a:p>
            <a:pPr algn="just"/>
            <a:endParaRPr lang="en-US" sz="2800" dirty="0"/>
          </a:p>
          <a:p>
            <a:pPr algn="just"/>
            <a:r>
              <a:rPr lang="en-US" sz="2800" dirty="0"/>
              <a:t>Many devices also use a ROM to hold boot code</a:t>
            </a:r>
            <a:endParaRPr lang="en-IN" sz="2800" dirty="0"/>
          </a:p>
          <a:p>
            <a:pPr algn="just"/>
            <a:endParaRPr lang="en-IN" sz="2800" dirty="0"/>
          </a:p>
        </p:txBody>
      </p:sp>
      <p:sp>
        <p:nvSpPr>
          <p:cNvPr id="3" name="Rectangle 2">
            <a:extLst>
              <a:ext uri="{FF2B5EF4-FFF2-40B4-BE49-F238E27FC236}">
                <a16:creationId xmlns:a16="http://schemas.microsoft.com/office/drawing/2014/main" id="{4E94C277-8906-48CD-BD77-7FE5A9EDC714}"/>
              </a:ext>
            </a:extLst>
          </p:cNvPr>
          <p:cNvSpPr/>
          <p:nvPr/>
        </p:nvSpPr>
        <p:spPr>
          <a:xfrm>
            <a:off x="5662" y="239393"/>
            <a:ext cx="5834098" cy="492443"/>
          </a:xfrm>
          <a:prstGeom prst="rect">
            <a:avLst/>
          </a:prstGeom>
        </p:spPr>
        <p:txBody>
          <a:bodyPr wrap="none">
            <a:spAutoFit/>
          </a:bodyPr>
          <a:lstStyle/>
          <a:p>
            <a:r>
              <a:rPr lang="en-US" sz="2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There are many</a:t>
            </a:r>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 </a:t>
            </a:r>
            <a:r>
              <a:rPr lang="en-US" sz="2600" i="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different types of memory</a:t>
            </a:r>
            <a:r>
              <a:rPr lang="en-US" sz="2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a:t>
            </a:r>
            <a:endParaRPr lang="en-IN" sz="2600" dirty="0">
              <a:solidFill>
                <a:srgbClr val="FF0000"/>
              </a:solidFill>
            </a:endParaRPr>
          </a:p>
        </p:txBody>
      </p:sp>
    </p:spTree>
    <p:extLst>
      <p:ext uri="{BB962C8B-B14F-4D97-AF65-F5344CB8AC3E}">
        <p14:creationId xmlns:p14="http://schemas.microsoft.com/office/powerpoint/2010/main" val="36048049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607921-8E5C-4C3E-B6C7-AE7CDEA04F77}"/>
              </a:ext>
            </a:extLst>
          </p:cNvPr>
          <p:cNvSpPr>
            <a:spLocks noGrp="1"/>
          </p:cNvSpPr>
          <p:nvPr>
            <p:ph idx="1"/>
          </p:nvPr>
        </p:nvSpPr>
        <p:spPr>
          <a:xfrm>
            <a:off x="457200" y="866851"/>
            <a:ext cx="8345270" cy="5172439"/>
          </a:xfrm>
        </p:spPr>
        <p:txBody>
          <a:bodyPr>
            <a:noAutofit/>
          </a:bodyPr>
          <a:lstStyle/>
          <a:p>
            <a:pPr lvl="0" algn="just"/>
            <a:r>
              <a:rPr lang="en-US" sz="2800" i="1" dirty="0"/>
              <a:t>Flash ROM </a:t>
            </a:r>
            <a:r>
              <a:rPr lang="en-US" sz="2800" dirty="0"/>
              <a:t>can be written to as well as read, but it is slow to write so you shouldn’t use it for</a:t>
            </a:r>
            <a:r>
              <a:rPr lang="en-US" sz="2800" i="1" dirty="0"/>
              <a:t> </a:t>
            </a:r>
            <a:r>
              <a:rPr lang="en-US" sz="2800" dirty="0"/>
              <a:t>holding dynamic data</a:t>
            </a:r>
          </a:p>
          <a:p>
            <a:pPr lvl="0" algn="just"/>
            <a:endParaRPr lang="en-IN" sz="2800" dirty="0"/>
          </a:p>
          <a:p>
            <a:pPr algn="just"/>
            <a:r>
              <a:rPr lang="en-US" sz="2800" dirty="0"/>
              <a:t>Its main use is for holding the device firmware or storing long-term data that needs to be preserved after power is off</a:t>
            </a:r>
          </a:p>
          <a:p>
            <a:pPr algn="just"/>
            <a:endParaRPr lang="en-US" sz="2800" dirty="0"/>
          </a:p>
          <a:p>
            <a:pPr algn="just"/>
            <a:r>
              <a:rPr lang="en-US" sz="2800" dirty="0"/>
              <a:t>The erasing and writing of flash ROM are completely software controlled with no additional hardware circuitry required, which reduces the manufacturing costs</a:t>
            </a:r>
            <a:endParaRPr lang="en-IN" sz="2800" dirty="0"/>
          </a:p>
        </p:txBody>
      </p:sp>
    </p:spTree>
    <p:extLst>
      <p:ext uri="{BB962C8B-B14F-4D97-AF65-F5344CB8AC3E}">
        <p14:creationId xmlns:p14="http://schemas.microsoft.com/office/powerpoint/2010/main" val="23388426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9553EB-0D57-4154-BCEE-4205523B491F}"/>
              </a:ext>
            </a:extLst>
          </p:cNvPr>
          <p:cNvSpPr>
            <a:spLocks noGrp="1"/>
          </p:cNvSpPr>
          <p:nvPr>
            <p:ph idx="1"/>
          </p:nvPr>
        </p:nvSpPr>
        <p:spPr>
          <a:xfrm>
            <a:off x="457200" y="1088741"/>
            <a:ext cx="8229600" cy="5037424"/>
          </a:xfrm>
        </p:spPr>
        <p:txBody>
          <a:bodyPr>
            <a:normAutofit/>
          </a:bodyPr>
          <a:lstStyle/>
          <a:p>
            <a:pPr algn="just"/>
            <a:r>
              <a:rPr lang="en-US" sz="2800" i="1" dirty="0"/>
              <a:t>Dynamic random access memory (DRAM) </a:t>
            </a:r>
            <a:r>
              <a:rPr lang="en-US" sz="2800" dirty="0"/>
              <a:t>is the most commonly used RAM for devices</a:t>
            </a:r>
          </a:p>
          <a:p>
            <a:pPr algn="just"/>
            <a:endParaRPr lang="en-US" sz="2800" dirty="0"/>
          </a:p>
          <a:p>
            <a:pPr algn="just"/>
            <a:r>
              <a:rPr lang="en-US" sz="2800" dirty="0"/>
              <a:t>It has</a:t>
            </a:r>
            <a:r>
              <a:rPr lang="en-US" sz="2800" i="1" dirty="0"/>
              <a:t> </a:t>
            </a:r>
            <a:r>
              <a:rPr lang="en-US" sz="2800" dirty="0"/>
              <a:t>the lowest cost per megabyte compared with other types of RAM</a:t>
            </a:r>
          </a:p>
          <a:p>
            <a:pPr algn="just"/>
            <a:endParaRPr lang="en-US" sz="2800" dirty="0"/>
          </a:p>
          <a:p>
            <a:pPr algn="just"/>
            <a:r>
              <a:rPr lang="en-US" sz="2800" dirty="0"/>
              <a:t>DRAM is dynamic - it needs to have its storage cells refreshed and given a new electronic charge every few milliseconds, so you need to set up a DRAM controller before using the memory</a:t>
            </a:r>
            <a:endParaRPr lang="en-IN" sz="2800" dirty="0"/>
          </a:p>
        </p:txBody>
      </p:sp>
    </p:spTree>
    <p:extLst>
      <p:ext uri="{BB962C8B-B14F-4D97-AF65-F5344CB8AC3E}">
        <p14:creationId xmlns:p14="http://schemas.microsoft.com/office/powerpoint/2010/main" val="29685992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9242E8-4BAC-4B1B-9705-E18EBC996732}"/>
              </a:ext>
            </a:extLst>
          </p:cNvPr>
          <p:cNvSpPr>
            <a:spLocks noGrp="1"/>
          </p:cNvSpPr>
          <p:nvPr>
            <p:ph idx="1"/>
          </p:nvPr>
        </p:nvSpPr>
        <p:spPr>
          <a:xfrm>
            <a:off x="457200" y="1001865"/>
            <a:ext cx="8229600" cy="5217445"/>
          </a:xfrm>
        </p:spPr>
        <p:txBody>
          <a:bodyPr>
            <a:normAutofit lnSpcReduction="10000"/>
          </a:bodyPr>
          <a:lstStyle/>
          <a:p>
            <a:pPr algn="just"/>
            <a:r>
              <a:rPr lang="en-US" sz="2800" i="1" dirty="0"/>
              <a:t>Static random access memory (SRAM) </a:t>
            </a:r>
            <a:r>
              <a:rPr lang="en-US" sz="2800" dirty="0"/>
              <a:t>is faster than the more traditional DRAM, but requires</a:t>
            </a:r>
            <a:r>
              <a:rPr lang="en-US" sz="2800" i="1" dirty="0"/>
              <a:t> </a:t>
            </a:r>
            <a:r>
              <a:rPr lang="en-US" sz="2800" dirty="0"/>
              <a:t>more silicon area</a:t>
            </a:r>
          </a:p>
          <a:p>
            <a:pPr algn="just"/>
            <a:endParaRPr lang="en-US" sz="2800" dirty="0"/>
          </a:p>
          <a:p>
            <a:pPr algn="just"/>
            <a:r>
              <a:rPr lang="en-US" sz="2800" dirty="0"/>
              <a:t>SRAM is static - the RAM does not require refreshing</a:t>
            </a:r>
          </a:p>
          <a:p>
            <a:pPr algn="just"/>
            <a:endParaRPr lang="en-US" sz="2800" dirty="0"/>
          </a:p>
          <a:p>
            <a:pPr algn="just"/>
            <a:r>
              <a:rPr lang="en-US" sz="2800" dirty="0"/>
              <a:t>The access time for SRAM is considerably shorter than the equivalent DRAM because SRAM does not require a pause between data accesses</a:t>
            </a:r>
          </a:p>
          <a:p>
            <a:pPr algn="just"/>
            <a:endParaRPr lang="en-US" sz="2800" dirty="0"/>
          </a:p>
          <a:p>
            <a:pPr algn="just"/>
            <a:r>
              <a:rPr lang="en-US" sz="2800" dirty="0"/>
              <a:t>But cost of SRAM is high</a:t>
            </a:r>
            <a:endParaRPr lang="en-IN" sz="2800" dirty="0"/>
          </a:p>
        </p:txBody>
      </p:sp>
    </p:spTree>
    <p:extLst>
      <p:ext uri="{BB962C8B-B14F-4D97-AF65-F5344CB8AC3E}">
        <p14:creationId xmlns:p14="http://schemas.microsoft.com/office/powerpoint/2010/main" val="30945883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639B6D-13B1-4E08-8346-7A151E9D7F6F}"/>
              </a:ext>
            </a:extLst>
          </p:cNvPr>
          <p:cNvSpPr>
            <a:spLocks noGrp="1"/>
          </p:cNvSpPr>
          <p:nvPr>
            <p:ph idx="1"/>
          </p:nvPr>
        </p:nvSpPr>
        <p:spPr>
          <a:xfrm>
            <a:off x="457200" y="1043735"/>
            <a:ext cx="8229600" cy="5082429"/>
          </a:xfrm>
        </p:spPr>
        <p:txBody>
          <a:bodyPr>
            <a:normAutofit/>
          </a:bodyPr>
          <a:lstStyle/>
          <a:p>
            <a:pPr algn="just"/>
            <a:r>
              <a:rPr lang="en-US" sz="2600" i="1" dirty="0"/>
              <a:t>Synchronous dynamic random access memory (SDRAM) </a:t>
            </a:r>
            <a:r>
              <a:rPr lang="en-US" sz="2600" dirty="0"/>
              <a:t>is one of many subcategories of DRAM</a:t>
            </a:r>
          </a:p>
          <a:p>
            <a:pPr algn="just"/>
            <a:endParaRPr lang="en-US" sz="2600" dirty="0"/>
          </a:p>
          <a:p>
            <a:pPr algn="just"/>
            <a:r>
              <a:rPr lang="en-US" sz="2600" dirty="0"/>
              <a:t>It can run at much higher clock speeds than conventional memory</a:t>
            </a:r>
          </a:p>
          <a:p>
            <a:pPr algn="just"/>
            <a:endParaRPr lang="en-US" sz="2600" dirty="0"/>
          </a:p>
          <a:p>
            <a:pPr algn="just"/>
            <a:r>
              <a:rPr lang="en-US" sz="2600" dirty="0"/>
              <a:t>SDRAM synchronizes itself with the processor bus, because it is clocked</a:t>
            </a:r>
          </a:p>
          <a:p>
            <a:pPr algn="just"/>
            <a:endParaRPr lang="en-US" sz="2600" dirty="0"/>
          </a:p>
          <a:p>
            <a:pPr algn="just"/>
            <a:r>
              <a:rPr lang="en-US" sz="2600" dirty="0"/>
              <a:t>Internally the data is fetched from memory cells, pipelined, and finally brought out on the bus in a burst</a:t>
            </a:r>
            <a:endParaRPr lang="en-IN" sz="2600" dirty="0"/>
          </a:p>
        </p:txBody>
      </p:sp>
    </p:spTree>
    <p:extLst>
      <p:ext uri="{BB962C8B-B14F-4D97-AF65-F5344CB8AC3E}">
        <p14:creationId xmlns:p14="http://schemas.microsoft.com/office/powerpoint/2010/main" val="14363152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F57B30-E2EE-4CAF-BD73-F8938ABD04FB}"/>
              </a:ext>
            </a:extLst>
          </p:cNvPr>
          <p:cNvSpPr>
            <a:spLocks noGrp="1"/>
          </p:cNvSpPr>
          <p:nvPr>
            <p:ph idx="1"/>
          </p:nvPr>
        </p:nvSpPr>
        <p:spPr>
          <a:xfrm>
            <a:off x="457200" y="1448780"/>
            <a:ext cx="8229600" cy="4677384"/>
          </a:xfrm>
        </p:spPr>
        <p:txBody>
          <a:bodyPr>
            <a:noAutofit/>
          </a:bodyPr>
          <a:lstStyle/>
          <a:p>
            <a:pPr algn="just"/>
            <a:r>
              <a:rPr lang="en-US" sz="2800" dirty="0"/>
              <a:t>Embedded systems that interact with the outside world need some form of peripheral device</a:t>
            </a:r>
          </a:p>
          <a:p>
            <a:pPr algn="just"/>
            <a:endParaRPr lang="en-US" sz="2800" dirty="0"/>
          </a:p>
          <a:p>
            <a:pPr algn="just"/>
            <a:r>
              <a:rPr lang="en-US" sz="2800" dirty="0"/>
              <a:t>A </a:t>
            </a:r>
            <a:r>
              <a:rPr lang="en-US" sz="2800" b="1" i="1" dirty="0"/>
              <a:t>peripheral device </a:t>
            </a:r>
            <a:r>
              <a:rPr lang="en-US" sz="2800" dirty="0"/>
              <a:t>performs input and output functions for the chip by connecting to other devices or</a:t>
            </a:r>
            <a:r>
              <a:rPr lang="en-US" sz="2800" b="1" i="1" dirty="0"/>
              <a:t> </a:t>
            </a:r>
            <a:r>
              <a:rPr lang="en-US" sz="2800" dirty="0"/>
              <a:t>sensors that are off-chip</a:t>
            </a:r>
            <a:endParaRPr lang="en-IN" sz="2800" dirty="0"/>
          </a:p>
          <a:p>
            <a:pPr algn="just"/>
            <a:endParaRPr lang="en-IN" sz="2800" dirty="0"/>
          </a:p>
        </p:txBody>
      </p:sp>
      <p:sp>
        <p:nvSpPr>
          <p:cNvPr id="3" name="Rectangle 2">
            <a:extLst>
              <a:ext uri="{FF2B5EF4-FFF2-40B4-BE49-F238E27FC236}">
                <a16:creationId xmlns:a16="http://schemas.microsoft.com/office/drawing/2014/main" id="{8E91878E-7205-44EB-8574-8E7E6BEB505C}"/>
              </a:ext>
            </a:extLst>
          </p:cNvPr>
          <p:cNvSpPr/>
          <p:nvPr/>
        </p:nvSpPr>
        <p:spPr>
          <a:xfrm>
            <a:off x="116505" y="239393"/>
            <a:ext cx="1832553"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Peripherals</a:t>
            </a:r>
            <a:endParaRPr lang="en-IN" sz="2600" dirty="0">
              <a:solidFill>
                <a:srgbClr val="FF0000"/>
              </a:solidFill>
            </a:endParaRPr>
          </a:p>
        </p:txBody>
      </p:sp>
    </p:spTree>
    <p:extLst>
      <p:ext uri="{BB962C8B-B14F-4D97-AF65-F5344CB8AC3E}">
        <p14:creationId xmlns:p14="http://schemas.microsoft.com/office/powerpoint/2010/main" val="11619958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16A8A4-BAB8-433C-864D-E5561E322C41}"/>
              </a:ext>
            </a:extLst>
          </p:cNvPr>
          <p:cNvSpPr>
            <a:spLocks noGrp="1"/>
          </p:cNvSpPr>
          <p:nvPr>
            <p:ph idx="1"/>
          </p:nvPr>
        </p:nvSpPr>
        <p:spPr/>
        <p:txBody>
          <a:bodyPr>
            <a:normAutofit/>
          </a:bodyPr>
          <a:lstStyle/>
          <a:p>
            <a:pPr algn="just"/>
            <a:r>
              <a:rPr lang="en-US" sz="3000" dirty="0"/>
              <a:t>Each peripheral device usually performs a single function and may reside on-chip</a:t>
            </a:r>
            <a:endParaRPr lang="en-IN" sz="3000" dirty="0"/>
          </a:p>
          <a:p>
            <a:pPr algn="just"/>
            <a:endParaRPr lang="en-IN" sz="3000" dirty="0"/>
          </a:p>
          <a:p>
            <a:pPr algn="just"/>
            <a:r>
              <a:rPr lang="en-US" sz="3000" dirty="0"/>
              <a:t>Peripherals range from a simple serial communication device to a more complex 802.11 wireless device</a:t>
            </a:r>
            <a:endParaRPr lang="en-IN" sz="3000" dirty="0"/>
          </a:p>
          <a:p>
            <a:endParaRPr lang="en-IN" sz="3000" dirty="0"/>
          </a:p>
        </p:txBody>
      </p:sp>
    </p:spTree>
    <p:extLst>
      <p:ext uri="{BB962C8B-B14F-4D97-AF65-F5344CB8AC3E}">
        <p14:creationId xmlns:p14="http://schemas.microsoft.com/office/powerpoint/2010/main" val="2847490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0DC103-01C9-436C-AFAF-6E430B3DCC13}"/>
              </a:ext>
            </a:extLst>
          </p:cNvPr>
          <p:cNvSpPr>
            <a:spLocks noGrp="1"/>
          </p:cNvSpPr>
          <p:nvPr>
            <p:ph idx="1"/>
          </p:nvPr>
        </p:nvSpPr>
        <p:spPr>
          <a:xfrm>
            <a:off x="457199" y="818710"/>
            <a:ext cx="8300265" cy="5307455"/>
          </a:xfrm>
        </p:spPr>
        <p:txBody>
          <a:bodyPr>
            <a:noAutofit/>
          </a:bodyPr>
          <a:lstStyle/>
          <a:p>
            <a:pPr lvl="0" algn="just"/>
            <a:r>
              <a:rPr lang="en-US" sz="2600" dirty="0"/>
              <a:t>All ARM peripherals are </a:t>
            </a:r>
            <a:r>
              <a:rPr lang="en-US" sz="2600" i="1" dirty="0">
                <a:solidFill>
                  <a:srgbClr val="FF0000"/>
                </a:solidFill>
              </a:rPr>
              <a:t>memory mapped </a:t>
            </a:r>
            <a:r>
              <a:rPr lang="en-US" sz="2600" i="1" dirty="0"/>
              <a:t>- </a:t>
            </a:r>
            <a:r>
              <a:rPr lang="en-US" sz="2600" dirty="0"/>
              <a:t>the programming interface is a set of memory-addressed registers</a:t>
            </a:r>
          </a:p>
          <a:p>
            <a:pPr lvl="0" algn="just"/>
            <a:endParaRPr lang="en-US" sz="2600" dirty="0"/>
          </a:p>
          <a:p>
            <a:pPr lvl="0" algn="just"/>
            <a:r>
              <a:rPr lang="en-US" sz="2600" dirty="0"/>
              <a:t>The address of these registers is an offset from a specific peripheral base address</a:t>
            </a:r>
            <a:endParaRPr lang="en-IN" sz="2600" dirty="0"/>
          </a:p>
          <a:p>
            <a:pPr algn="just"/>
            <a:endParaRPr lang="en-IN" sz="2600" dirty="0"/>
          </a:p>
          <a:p>
            <a:pPr lvl="0" algn="just"/>
            <a:r>
              <a:rPr lang="en-US" sz="2600" i="1" dirty="0">
                <a:solidFill>
                  <a:srgbClr val="FF0000"/>
                </a:solidFill>
              </a:rPr>
              <a:t>Controllers</a:t>
            </a:r>
            <a:r>
              <a:rPr lang="en-US" sz="2600" i="1" dirty="0"/>
              <a:t> </a:t>
            </a:r>
            <a:r>
              <a:rPr lang="en-US" sz="2600" dirty="0"/>
              <a:t>are specialized peripherals that implement higher levels of functionality within an</a:t>
            </a:r>
            <a:r>
              <a:rPr lang="en-US" sz="2600" i="1" dirty="0"/>
              <a:t> </a:t>
            </a:r>
            <a:r>
              <a:rPr lang="en-US" sz="2600" dirty="0"/>
              <a:t>embedded system</a:t>
            </a:r>
            <a:endParaRPr lang="en-IN" sz="2600" dirty="0"/>
          </a:p>
          <a:p>
            <a:pPr lvl="0" algn="just"/>
            <a:endParaRPr lang="en-IN" sz="2600" dirty="0"/>
          </a:p>
          <a:p>
            <a:pPr lvl="0" algn="just"/>
            <a:r>
              <a:rPr lang="en-US" sz="2600" dirty="0"/>
              <a:t>Two important types of controllers are </a:t>
            </a:r>
            <a:r>
              <a:rPr lang="en-US" sz="2600" dirty="0">
                <a:solidFill>
                  <a:srgbClr val="FF0000"/>
                </a:solidFill>
              </a:rPr>
              <a:t>memory controllers</a:t>
            </a:r>
            <a:r>
              <a:rPr lang="en-US" sz="2600" dirty="0"/>
              <a:t> and </a:t>
            </a:r>
            <a:r>
              <a:rPr lang="en-US" sz="2600" dirty="0">
                <a:solidFill>
                  <a:srgbClr val="FF0000"/>
                </a:solidFill>
              </a:rPr>
              <a:t>interrupt controllers</a:t>
            </a:r>
            <a:endParaRPr lang="en-IN" sz="2600" dirty="0">
              <a:solidFill>
                <a:srgbClr val="FF0000"/>
              </a:solidFill>
            </a:endParaRPr>
          </a:p>
          <a:p>
            <a:pPr algn="just"/>
            <a:endParaRPr lang="en-IN" sz="2600" dirty="0"/>
          </a:p>
        </p:txBody>
      </p:sp>
    </p:spTree>
    <p:extLst>
      <p:ext uri="{BB962C8B-B14F-4D97-AF65-F5344CB8AC3E}">
        <p14:creationId xmlns:p14="http://schemas.microsoft.com/office/powerpoint/2010/main" val="26076225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99CF21-E20B-4816-B382-DFB75A838A8D}"/>
              </a:ext>
            </a:extLst>
          </p:cNvPr>
          <p:cNvSpPr>
            <a:spLocks noGrp="1"/>
          </p:cNvSpPr>
          <p:nvPr>
            <p:ph idx="1"/>
          </p:nvPr>
        </p:nvSpPr>
        <p:spPr>
          <a:xfrm>
            <a:off x="457200" y="1178751"/>
            <a:ext cx="8229600" cy="4947414"/>
          </a:xfrm>
        </p:spPr>
        <p:txBody>
          <a:bodyPr>
            <a:normAutofit fontScale="85000" lnSpcReduction="20000"/>
          </a:bodyPr>
          <a:lstStyle/>
          <a:p>
            <a:pPr algn="just"/>
            <a:r>
              <a:rPr lang="en-US" dirty="0"/>
              <a:t>Memory controllers connect different types of memory to the processor bus</a:t>
            </a:r>
            <a:endParaRPr lang="en-IN" dirty="0"/>
          </a:p>
          <a:p>
            <a:pPr algn="just"/>
            <a:endParaRPr lang="en-IN" dirty="0"/>
          </a:p>
          <a:p>
            <a:pPr lvl="0" algn="just"/>
            <a:r>
              <a:rPr lang="en-US" dirty="0"/>
              <a:t>On power-up a memory controller is configured in hardware to allow certain memory devices to be active</a:t>
            </a:r>
          </a:p>
          <a:p>
            <a:pPr lvl="0" algn="just"/>
            <a:endParaRPr lang="en-US" dirty="0"/>
          </a:p>
          <a:p>
            <a:pPr lvl="0" algn="just"/>
            <a:r>
              <a:rPr lang="en-US" dirty="0"/>
              <a:t>These memory devices allow the initialization code to be executed</a:t>
            </a:r>
            <a:endParaRPr lang="en-IN" dirty="0"/>
          </a:p>
          <a:p>
            <a:pPr algn="just"/>
            <a:endParaRPr lang="en-IN" dirty="0"/>
          </a:p>
          <a:p>
            <a:pPr algn="just"/>
            <a:r>
              <a:rPr lang="en-US" dirty="0"/>
              <a:t>Some memory devices must be set up by software; for example, when using DRAM, you first have to set up the memory timings and refresh rate before it can be accessed</a:t>
            </a:r>
            <a:endParaRPr lang="en-IN" dirty="0"/>
          </a:p>
        </p:txBody>
      </p:sp>
      <p:sp>
        <p:nvSpPr>
          <p:cNvPr id="3" name="Rectangle 2">
            <a:extLst>
              <a:ext uri="{FF2B5EF4-FFF2-40B4-BE49-F238E27FC236}">
                <a16:creationId xmlns:a16="http://schemas.microsoft.com/office/drawing/2014/main" id="{0809ACE3-424E-407B-BCEA-676CF21A1B0C}"/>
              </a:ext>
            </a:extLst>
          </p:cNvPr>
          <p:cNvSpPr/>
          <p:nvPr/>
        </p:nvSpPr>
        <p:spPr>
          <a:xfrm>
            <a:off x="0" y="143635"/>
            <a:ext cx="3110532"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Memory Controllers</a:t>
            </a:r>
            <a:endParaRPr lang="en-IN" sz="2600" dirty="0">
              <a:solidFill>
                <a:srgbClr val="FF0000"/>
              </a:solidFill>
            </a:endParaRPr>
          </a:p>
        </p:txBody>
      </p:sp>
    </p:spTree>
    <p:extLst>
      <p:ext uri="{BB962C8B-B14F-4D97-AF65-F5344CB8AC3E}">
        <p14:creationId xmlns:p14="http://schemas.microsoft.com/office/powerpoint/2010/main" val="13583601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6E6D77-1BB4-4C7A-85F2-BCD7A264FC7E}"/>
              </a:ext>
            </a:extLst>
          </p:cNvPr>
          <p:cNvSpPr>
            <a:spLocks noGrp="1"/>
          </p:cNvSpPr>
          <p:nvPr>
            <p:ph idx="1"/>
          </p:nvPr>
        </p:nvSpPr>
        <p:spPr>
          <a:xfrm>
            <a:off x="457200" y="1583795"/>
            <a:ext cx="8229600" cy="4542369"/>
          </a:xfrm>
        </p:spPr>
        <p:txBody>
          <a:bodyPr>
            <a:normAutofit/>
          </a:bodyPr>
          <a:lstStyle/>
          <a:p>
            <a:pPr algn="just"/>
            <a:r>
              <a:rPr lang="en-US" sz="2800" dirty="0"/>
              <a:t>When a peripheral or device requires attention, it raises an</a:t>
            </a:r>
            <a:r>
              <a:rPr lang="en-US" sz="2800" b="1" dirty="0"/>
              <a:t> </a:t>
            </a:r>
            <a:r>
              <a:rPr lang="en-US" sz="2800" i="1" dirty="0"/>
              <a:t>interrupt</a:t>
            </a:r>
            <a:r>
              <a:rPr lang="en-US" sz="2800" b="1" dirty="0"/>
              <a:t> </a:t>
            </a:r>
            <a:r>
              <a:rPr lang="en-US" sz="2800" dirty="0"/>
              <a:t>to the</a:t>
            </a:r>
            <a:r>
              <a:rPr lang="en-US" sz="2800" b="1" dirty="0"/>
              <a:t> </a:t>
            </a:r>
            <a:r>
              <a:rPr lang="en-US" sz="2800" dirty="0"/>
              <a:t>processor</a:t>
            </a:r>
          </a:p>
          <a:p>
            <a:pPr algn="just"/>
            <a:endParaRPr lang="en-US" sz="2800" dirty="0"/>
          </a:p>
          <a:p>
            <a:pPr algn="just"/>
            <a:r>
              <a:rPr lang="en-US" sz="2800" dirty="0"/>
              <a:t>An </a:t>
            </a:r>
            <a:r>
              <a:rPr lang="en-US" sz="2800" i="1" dirty="0"/>
              <a:t>interrupt controller</a:t>
            </a:r>
            <a:r>
              <a:rPr lang="en-US" sz="2800" dirty="0"/>
              <a:t> provides a programmable governing policy that allows software to determine which peripheral or device can interrupt the processor at any specific time by setting the appropriate bits in the interrupt controller registers</a:t>
            </a:r>
            <a:endParaRPr lang="en-IN" sz="2800" dirty="0"/>
          </a:p>
        </p:txBody>
      </p:sp>
      <p:sp>
        <p:nvSpPr>
          <p:cNvPr id="3" name="Rectangle 2">
            <a:extLst>
              <a:ext uri="{FF2B5EF4-FFF2-40B4-BE49-F238E27FC236}">
                <a16:creationId xmlns:a16="http://schemas.microsoft.com/office/drawing/2014/main" id="{DC73892D-0F92-44BC-B2BE-1056506DB28E}"/>
              </a:ext>
            </a:extLst>
          </p:cNvPr>
          <p:cNvSpPr/>
          <p:nvPr/>
        </p:nvSpPr>
        <p:spPr>
          <a:xfrm>
            <a:off x="14939" y="217018"/>
            <a:ext cx="3241978"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Interrupt Controllers</a:t>
            </a:r>
            <a:endParaRPr lang="en-IN" sz="2600" dirty="0">
              <a:solidFill>
                <a:srgbClr val="FF0000"/>
              </a:solidFill>
            </a:endParaRPr>
          </a:p>
        </p:txBody>
      </p:sp>
    </p:spTree>
    <p:extLst>
      <p:ext uri="{BB962C8B-B14F-4D97-AF65-F5344CB8AC3E}">
        <p14:creationId xmlns:p14="http://schemas.microsoft.com/office/powerpoint/2010/main" val="6829134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3E9BA9-D142-467F-A99C-F744859C5D37}"/>
              </a:ext>
            </a:extLst>
          </p:cNvPr>
          <p:cNvSpPr>
            <a:spLocks noGrp="1"/>
          </p:cNvSpPr>
          <p:nvPr>
            <p:ph idx="1"/>
          </p:nvPr>
        </p:nvSpPr>
        <p:spPr>
          <a:xfrm>
            <a:off x="457200" y="1043735"/>
            <a:ext cx="8229600" cy="5082430"/>
          </a:xfrm>
        </p:spPr>
        <p:txBody>
          <a:bodyPr>
            <a:normAutofit/>
          </a:bodyPr>
          <a:lstStyle/>
          <a:p>
            <a:pPr algn="just"/>
            <a:r>
              <a:rPr lang="en-US" sz="3000" dirty="0"/>
              <a:t>There are </a:t>
            </a:r>
            <a:r>
              <a:rPr lang="en-US" sz="3000" i="1" dirty="0"/>
              <a:t>two types of interrupt controller</a:t>
            </a:r>
            <a:r>
              <a:rPr lang="en-US" sz="3000" dirty="0"/>
              <a:t> available for the ARM processor: the </a:t>
            </a:r>
            <a:r>
              <a:rPr lang="en-US" sz="3000" dirty="0">
                <a:solidFill>
                  <a:srgbClr val="FF0000"/>
                </a:solidFill>
              </a:rPr>
              <a:t>standard interrupt controller</a:t>
            </a:r>
            <a:r>
              <a:rPr lang="en-US" sz="3000" dirty="0"/>
              <a:t> and the </a:t>
            </a:r>
            <a:r>
              <a:rPr lang="en-US" sz="3000" dirty="0">
                <a:solidFill>
                  <a:srgbClr val="FF0000"/>
                </a:solidFill>
              </a:rPr>
              <a:t>vector interrupt controller</a:t>
            </a:r>
            <a:endParaRPr lang="en-IN" sz="3000" dirty="0">
              <a:solidFill>
                <a:srgbClr val="FF0000"/>
              </a:solidFill>
            </a:endParaRPr>
          </a:p>
          <a:p>
            <a:pPr algn="just"/>
            <a:endParaRPr lang="en-IN" sz="3000" dirty="0"/>
          </a:p>
          <a:p>
            <a:pPr lvl="0" algn="just"/>
            <a:r>
              <a:rPr lang="en-US" sz="3000" dirty="0"/>
              <a:t>The </a:t>
            </a:r>
            <a:r>
              <a:rPr lang="en-US" sz="3000" i="1" dirty="0"/>
              <a:t>standard interrupt controller</a:t>
            </a:r>
            <a:r>
              <a:rPr lang="en-US" sz="3000" dirty="0"/>
              <a:t> sends an interrupt signal to the processor core when an external device requests servicing</a:t>
            </a:r>
          </a:p>
          <a:p>
            <a:pPr lvl="0" algn="just"/>
            <a:endParaRPr lang="en-US" sz="3000" dirty="0"/>
          </a:p>
          <a:p>
            <a:pPr algn="just"/>
            <a:endParaRPr lang="en-IN" sz="3000" dirty="0"/>
          </a:p>
        </p:txBody>
      </p:sp>
    </p:spTree>
    <p:extLst>
      <p:ext uri="{BB962C8B-B14F-4D97-AF65-F5344CB8AC3E}">
        <p14:creationId xmlns:p14="http://schemas.microsoft.com/office/powerpoint/2010/main" val="35979382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D0B165-4BAB-4EAE-953A-07D6A07922AB}"/>
              </a:ext>
            </a:extLst>
          </p:cNvPr>
          <p:cNvSpPr>
            <a:spLocks noGrp="1"/>
          </p:cNvSpPr>
          <p:nvPr>
            <p:ph idx="1"/>
          </p:nvPr>
        </p:nvSpPr>
        <p:spPr/>
        <p:txBody>
          <a:bodyPr>
            <a:normAutofit/>
          </a:bodyPr>
          <a:lstStyle/>
          <a:p>
            <a:pPr algn="just"/>
            <a:r>
              <a:rPr lang="en-US" sz="3000" dirty="0"/>
              <a:t>It can be programmed to ignore or mask an individual device or set of devices</a:t>
            </a:r>
            <a:endParaRPr lang="en-IN" sz="3000" dirty="0"/>
          </a:p>
          <a:p>
            <a:pPr algn="just"/>
            <a:endParaRPr lang="en-US" sz="3000" dirty="0"/>
          </a:p>
          <a:p>
            <a:pPr algn="just"/>
            <a:r>
              <a:rPr lang="en-US" sz="3000" dirty="0"/>
              <a:t>The </a:t>
            </a:r>
            <a:r>
              <a:rPr lang="en-US" sz="3000" i="1" dirty="0"/>
              <a:t>interrupt handler</a:t>
            </a:r>
            <a:r>
              <a:rPr lang="en-US" sz="3000" dirty="0"/>
              <a:t> determines which device requires servicing by reading a device bitmap register in the interrupt controller</a:t>
            </a:r>
            <a:endParaRPr lang="en-IN" sz="3000" dirty="0"/>
          </a:p>
          <a:p>
            <a:pPr algn="just"/>
            <a:endParaRPr lang="en-IN" sz="3000" dirty="0"/>
          </a:p>
        </p:txBody>
      </p:sp>
    </p:spTree>
    <p:extLst>
      <p:ext uri="{BB962C8B-B14F-4D97-AF65-F5344CB8AC3E}">
        <p14:creationId xmlns:p14="http://schemas.microsoft.com/office/powerpoint/2010/main" val="36474073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E8E8F8-1BDE-4A89-8C50-C55E8DA2D70F}"/>
              </a:ext>
            </a:extLst>
          </p:cNvPr>
          <p:cNvSpPr>
            <a:spLocks noGrp="1"/>
          </p:cNvSpPr>
          <p:nvPr>
            <p:ph idx="1"/>
          </p:nvPr>
        </p:nvSpPr>
        <p:spPr>
          <a:xfrm>
            <a:off x="457200" y="1358770"/>
            <a:ext cx="8229600" cy="4767394"/>
          </a:xfrm>
        </p:spPr>
        <p:txBody>
          <a:bodyPr>
            <a:normAutofit/>
          </a:bodyPr>
          <a:lstStyle/>
          <a:p>
            <a:pPr lvl="0" algn="just"/>
            <a:r>
              <a:rPr lang="en-US" sz="2800" dirty="0"/>
              <a:t>The </a:t>
            </a:r>
            <a:r>
              <a:rPr lang="en-US" sz="2800" i="1" dirty="0"/>
              <a:t>vector interrupt controller (VIC)</a:t>
            </a:r>
            <a:r>
              <a:rPr lang="en-US" sz="2800" dirty="0"/>
              <a:t> is more powerful than the standard interrupt controller, because it prioritizes interrupts and simplifies the determination of which device caused the interrupt</a:t>
            </a:r>
            <a:endParaRPr lang="en-IN" sz="2800" dirty="0"/>
          </a:p>
          <a:p>
            <a:pPr algn="just"/>
            <a:endParaRPr lang="en-IN" sz="2800" dirty="0"/>
          </a:p>
          <a:p>
            <a:pPr algn="just"/>
            <a:r>
              <a:rPr lang="en-US" sz="2800" dirty="0"/>
              <a:t>Depending on the type, the VIC will either call the standard interrupt exception handler, which can load the address of the handler</a:t>
            </a:r>
            <a:endParaRPr lang="en-IN" sz="2800" dirty="0"/>
          </a:p>
        </p:txBody>
      </p:sp>
    </p:spTree>
    <p:extLst>
      <p:ext uri="{BB962C8B-B14F-4D97-AF65-F5344CB8AC3E}">
        <p14:creationId xmlns:p14="http://schemas.microsoft.com/office/powerpoint/2010/main" val="24193492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2ED619-594C-4493-9350-9969DF1F62AA}"/>
              </a:ext>
            </a:extLst>
          </p:cNvPr>
          <p:cNvSpPr>
            <a:spLocks noGrp="1"/>
          </p:cNvSpPr>
          <p:nvPr>
            <p:ph idx="1"/>
          </p:nvPr>
        </p:nvSpPr>
        <p:spPr>
          <a:xfrm>
            <a:off x="457200" y="1181893"/>
            <a:ext cx="8229600" cy="4944271"/>
          </a:xfrm>
        </p:spPr>
        <p:txBody>
          <a:bodyPr>
            <a:normAutofit/>
          </a:bodyPr>
          <a:lstStyle/>
          <a:p>
            <a:pPr algn="just"/>
            <a:r>
              <a:rPr lang="en-US" sz="3000" dirty="0"/>
              <a:t>An embedded system needs software to drive it</a:t>
            </a:r>
          </a:p>
          <a:p>
            <a:pPr algn="just"/>
            <a:endParaRPr lang="en-US" sz="3000" dirty="0"/>
          </a:p>
          <a:p>
            <a:pPr algn="just"/>
            <a:r>
              <a:rPr lang="en-US" sz="3000" dirty="0"/>
              <a:t>The following Figure shows four typical software components required to control an embedded device</a:t>
            </a:r>
            <a:endParaRPr lang="en-IN" sz="3000" dirty="0"/>
          </a:p>
        </p:txBody>
      </p:sp>
      <p:sp>
        <p:nvSpPr>
          <p:cNvPr id="3" name="Rectangle 2">
            <a:extLst>
              <a:ext uri="{FF2B5EF4-FFF2-40B4-BE49-F238E27FC236}">
                <a16:creationId xmlns:a16="http://schemas.microsoft.com/office/drawing/2014/main" id="{56A74CC6-4BF0-4B61-8148-BAB0199B944A}"/>
              </a:ext>
            </a:extLst>
          </p:cNvPr>
          <p:cNvSpPr/>
          <p:nvPr/>
        </p:nvSpPr>
        <p:spPr>
          <a:xfrm>
            <a:off x="0" y="188640"/>
            <a:ext cx="5928482" cy="523220"/>
          </a:xfrm>
          <a:prstGeom prst="rect">
            <a:avLst/>
          </a:prstGeom>
        </p:spPr>
        <p:txBody>
          <a:bodyPr wrap="none">
            <a:spAutoFit/>
          </a:bodyPr>
          <a:lstStyle/>
          <a:p>
            <a:r>
              <a:rPr lang="en-US" sz="28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EMBEDDED SYSTEM SOFTWARE</a:t>
            </a:r>
            <a:endParaRPr lang="en-IN" sz="2800" dirty="0">
              <a:solidFill>
                <a:srgbClr val="FF0000"/>
              </a:solidFill>
            </a:endParaRPr>
          </a:p>
        </p:txBody>
      </p:sp>
      <p:pic>
        <p:nvPicPr>
          <p:cNvPr id="4" name="Picture 2">
            <a:extLst>
              <a:ext uri="{FF2B5EF4-FFF2-40B4-BE49-F238E27FC236}">
                <a16:creationId xmlns:a16="http://schemas.microsoft.com/office/drawing/2014/main" id="{C8E51C59-961C-4D77-88BA-D4B4F0635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429000"/>
            <a:ext cx="6372199" cy="3429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42E5725-3BC2-405B-98F1-1525C22685AF}"/>
              </a:ext>
            </a:extLst>
          </p:cNvPr>
          <p:cNvSpPr/>
          <p:nvPr/>
        </p:nvSpPr>
        <p:spPr>
          <a:xfrm>
            <a:off x="-2047" y="5727923"/>
            <a:ext cx="2646134" cy="923330"/>
          </a:xfrm>
          <a:prstGeom prst="rect">
            <a:avLst/>
          </a:prstGeom>
        </p:spPr>
        <p:txBody>
          <a:bodyPr wrap="square">
            <a:spAutoFit/>
          </a:bodyPr>
          <a:lstStyle/>
          <a:p>
            <a:pPr algn="just"/>
            <a:r>
              <a:rPr lang="en-US" b="1" dirty="0">
                <a:latin typeface="Times New Roman" panose="02020603050405020304" pitchFamily="18" charset="0"/>
                <a:ea typeface="Times New Roman" panose="02020603050405020304" pitchFamily="18" charset="0"/>
                <a:cs typeface="Arial" panose="020B0604020202020204" pitchFamily="34" charset="0"/>
              </a:rPr>
              <a:t>Software Abstraction Layers Executing on Hardware</a:t>
            </a:r>
            <a:endParaRPr lang="en-IN" dirty="0"/>
          </a:p>
        </p:txBody>
      </p:sp>
    </p:spTree>
    <p:extLst>
      <p:ext uri="{BB962C8B-B14F-4D97-AF65-F5344CB8AC3E}">
        <p14:creationId xmlns:p14="http://schemas.microsoft.com/office/powerpoint/2010/main" val="36685753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6AC5EE-F7B0-456A-93C5-86BC95AE7CD3}"/>
              </a:ext>
            </a:extLst>
          </p:cNvPr>
          <p:cNvSpPr>
            <a:spLocks noGrp="1"/>
          </p:cNvSpPr>
          <p:nvPr>
            <p:ph idx="1"/>
          </p:nvPr>
        </p:nvSpPr>
        <p:spPr>
          <a:xfrm>
            <a:off x="457200" y="1043735"/>
            <a:ext cx="8229600" cy="5082429"/>
          </a:xfrm>
        </p:spPr>
        <p:txBody>
          <a:bodyPr>
            <a:normAutofit/>
          </a:bodyPr>
          <a:lstStyle/>
          <a:p>
            <a:pPr lvl="0" algn="just"/>
            <a:r>
              <a:rPr lang="en-US" sz="2800" dirty="0"/>
              <a:t>The </a:t>
            </a:r>
            <a:r>
              <a:rPr lang="en-US" sz="2800" i="1" dirty="0">
                <a:solidFill>
                  <a:srgbClr val="FF0000"/>
                </a:solidFill>
              </a:rPr>
              <a:t>initialization code</a:t>
            </a:r>
            <a:r>
              <a:rPr lang="en-US" sz="2800" dirty="0">
                <a:solidFill>
                  <a:srgbClr val="FF0000"/>
                </a:solidFill>
              </a:rPr>
              <a:t> </a:t>
            </a:r>
            <a:r>
              <a:rPr lang="en-US" sz="2800" dirty="0"/>
              <a:t>is the first code executed on the board and is specific to a particular target or group of targets</a:t>
            </a:r>
          </a:p>
          <a:p>
            <a:pPr lvl="0" algn="just"/>
            <a:endParaRPr lang="en-US" sz="2800" dirty="0"/>
          </a:p>
          <a:p>
            <a:pPr lvl="0" algn="just"/>
            <a:r>
              <a:rPr lang="en-US" sz="2800" dirty="0"/>
              <a:t>It sets up the minimum parts of the board before handing control over to the operating system</a:t>
            </a:r>
            <a:endParaRPr lang="en-IN" sz="2800" dirty="0"/>
          </a:p>
          <a:p>
            <a:pPr algn="just"/>
            <a:endParaRPr lang="en-IN" sz="2800" dirty="0"/>
          </a:p>
          <a:p>
            <a:pPr algn="just"/>
            <a:r>
              <a:rPr lang="en-US" sz="2800" dirty="0"/>
              <a:t>The </a:t>
            </a:r>
            <a:r>
              <a:rPr lang="en-US" sz="2800" i="1" dirty="0">
                <a:solidFill>
                  <a:srgbClr val="FF0000"/>
                </a:solidFill>
              </a:rPr>
              <a:t>operating system</a:t>
            </a:r>
            <a:r>
              <a:rPr lang="en-US" sz="2800" dirty="0">
                <a:solidFill>
                  <a:srgbClr val="FF0000"/>
                </a:solidFill>
              </a:rPr>
              <a:t> </a:t>
            </a:r>
            <a:r>
              <a:rPr lang="en-US" sz="2800" dirty="0"/>
              <a:t>provides an infrastructure to control applications and manage hardware system resources</a:t>
            </a:r>
            <a:endParaRPr lang="en-IN" sz="2800" dirty="0"/>
          </a:p>
        </p:txBody>
      </p:sp>
    </p:spTree>
    <p:extLst>
      <p:ext uri="{BB962C8B-B14F-4D97-AF65-F5344CB8AC3E}">
        <p14:creationId xmlns:p14="http://schemas.microsoft.com/office/powerpoint/2010/main" val="13579681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CD6303-7BFA-4FB9-B9DF-C5D52EB75BF7}"/>
              </a:ext>
            </a:extLst>
          </p:cNvPr>
          <p:cNvSpPr>
            <a:spLocks noGrp="1"/>
          </p:cNvSpPr>
          <p:nvPr>
            <p:ph idx="1"/>
          </p:nvPr>
        </p:nvSpPr>
        <p:spPr>
          <a:xfrm>
            <a:off x="457200" y="998730"/>
            <a:ext cx="8229600" cy="5127435"/>
          </a:xfrm>
        </p:spPr>
        <p:txBody>
          <a:bodyPr>
            <a:noAutofit/>
          </a:bodyPr>
          <a:lstStyle/>
          <a:p>
            <a:pPr lvl="0" algn="just"/>
            <a:r>
              <a:rPr lang="en-US" sz="2800" dirty="0"/>
              <a:t>The </a:t>
            </a:r>
            <a:r>
              <a:rPr lang="en-US" sz="2800" i="1" dirty="0">
                <a:solidFill>
                  <a:srgbClr val="FF0000"/>
                </a:solidFill>
              </a:rPr>
              <a:t>device drivers</a:t>
            </a:r>
            <a:r>
              <a:rPr lang="en-US" sz="2800" dirty="0">
                <a:solidFill>
                  <a:srgbClr val="FF0000"/>
                </a:solidFill>
              </a:rPr>
              <a:t> </a:t>
            </a:r>
            <a:r>
              <a:rPr lang="en-US" sz="2800" dirty="0"/>
              <a:t>provide a consistent software interface to the peripherals on the hardware device</a:t>
            </a:r>
            <a:endParaRPr lang="en-IN" sz="2800" dirty="0"/>
          </a:p>
          <a:p>
            <a:pPr algn="just"/>
            <a:endParaRPr lang="en-IN" sz="2800" dirty="0"/>
          </a:p>
          <a:p>
            <a:pPr lvl="0" algn="just"/>
            <a:r>
              <a:rPr lang="en-US" sz="2800" dirty="0"/>
              <a:t>An </a:t>
            </a:r>
            <a:r>
              <a:rPr lang="en-US" sz="2800" i="1" dirty="0">
                <a:solidFill>
                  <a:srgbClr val="FF0000"/>
                </a:solidFill>
              </a:rPr>
              <a:t>application</a:t>
            </a:r>
            <a:r>
              <a:rPr lang="en-US" sz="2800" dirty="0"/>
              <a:t> performs one of the tasks required for a device ; For example, a mobile phone might have a diary application</a:t>
            </a:r>
            <a:endParaRPr lang="en-IN" sz="2800" dirty="0"/>
          </a:p>
          <a:p>
            <a:pPr marL="0" indent="0" algn="just">
              <a:buNone/>
            </a:pPr>
            <a:endParaRPr lang="en-IN" sz="2800" dirty="0"/>
          </a:p>
          <a:p>
            <a:pPr algn="just"/>
            <a:r>
              <a:rPr lang="en-US" sz="2800" dirty="0"/>
              <a:t>There may be multiple applications running on the same device, controlled by the operating system</a:t>
            </a:r>
            <a:endParaRPr lang="en-IN" sz="2800" dirty="0"/>
          </a:p>
        </p:txBody>
      </p:sp>
    </p:spTree>
    <p:extLst>
      <p:ext uri="{BB962C8B-B14F-4D97-AF65-F5344CB8AC3E}">
        <p14:creationId xmlns:p14="http://schemas.microsoft.com/office/powerpoint/2010/main" val="31215434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2D3ED0-DA06-4212-AB17-2C222B15BA7C}"/>
              </a:ext>
            </a:extLst>
          </p:cNvPr>
          <p:cNvSpPr>
            <a:spLocks noGrp="1"/>
          </p:cNvSpPr>
          <p:nvPr>
            <p:ph idx="1"/>
          </p:nvPr>
        </p:nvSpPr>
        <p:spPr>
          <a:xfrm>
            <a:off x="457200" y="1313765"/>
            <a:ext cx="8229600" cy="4812399"/>
          </a:xfrm>
        </p:spPr>
        <p:txBody>
          <a:bodyPr>
            <a:normAutofit fontScale="77500" lnSpcReduction="20000"/>
          </a:bodyPr>
          <a:lstStyle/>
          <a:p>
            <a:pPr lvl="0" algn="just"/>
            <a:r>
              <a:rPr lang="en-US" dirty="0"/>
              <a:t>Initialization code (or boot code) takes the processor from the reset state to a state where the operating system can run</a:t>
            </a:r>
          </a:p>
          <a:p>
            <a:pPr lvl="0" algn="just"/>
            <a:endParaRPr lang="en-US" dirty="0"/>
          </a:p>
          <a:p>
            <a:pPr lvl="0" algn="just"/>
            <a:r>
              <a:rPr lang="en-US" dirty="0"/>
              <a:t>It usually configures the memory controller and processor caches and initializes some devices</a:t>
            </a:r>
            <a:endParaRPr lang="en-IN" dirty="0"/>
          </a:p>
          <a:p>
            <a:pPr algn="just"/>
            <a:endParaRPr lang="en-IN" dirty="0"/>
          </a:p>
          <a:p>
            <a:pPr lvl="0" algn="just"/>
            <a:r>
              <a:rPr lang="en-US" dirty="0"/>
              <a:t>The initialization code handles a number of administrative tasks prior to handing control over to an operating system image</a:t>
            </a:r>
            <a:endParaRPr lang="en-IN" dirty="0"/>
          </a:p>
          <a:p>
            <a:pPr algn="just"/>
            <a:endParaRPr lang="en-IN" dirty="0"/>
          </a:p>
          <a:p>
            <a:pPr algn="just"/>
            <a:r>
              <a:rPr lang="en-US" dirty="0"/>
              <a:t>We can group these different tasks into </a:t>
            </a:r>
            <a:r>
              <a:rPr lang="en-US" i="1" dirty="0"/>
              <a:t>three phases</a:t>
            </a:r>
            <a:r>
              <a:rPr lang="en-US" dirty="0"/>
              <a:t>: initial hardware configuration, diagnostics, and booting</a:t>
            </a:r>
            <a:endParaRPr lang="en-IN" dirty="0"/>
          </a:p>
        </p:txBody>
      </p:sp>
      <p:sp>
        <p:nvSpPr>
          <p:cNvPr id="3" name="Rectangle 2">
            <a:extLst>
              <a:ext uri="{FF2B5EF4-FFF2-40B4-BE49-F238E27FC236}">
                <a16:creationId xmlns:a16="http://schemas.microsoft.com/office/drawing/2014/main" id="{D76689ED-8164-4A20-B7B9-361BBA00013C}"/>
              </a:ext>
            </a:extLst>
          </p:cNvPr>
          <p:cNvSpPr/>
          <p:nvPr/>
        </p:nvSpPr>
        <p:spPr>
          <a:xfrm>
            <a:off x="0" y="188640"/>
            <a:ext cx="3534942"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Initialization (Boot) Code</a:t>
            </a:r>
            <a:endParaRPr lang="en-IN" sz="2400" dirty="0">
              <a:solidFill>
                <a:srgbClr val="FF0000"/>
              </a:solidFill>
            </a:endParaRPr>
          </a:p>
        </p:txBody>
      </p:sp>
    </p:spTree>
    <p:extLst>
      <p:ext uri="{BB962C8B-B14F-4D97-AF65-F5344CB8AC3E}">
        <p14:creationId xmlns:p14="http://schemas.microsoft.com/office/powerpoint/2010/main" val="41232454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D82346-7B7B-4F8E-BAD7-CEB9F8FE5510}"/>
              </a:ext>
            </a:extLst>
          </p:cNvPr>
          <p:cNvSpPr>
            <a:spLocks noGrp="1"/>
          </p:cNvSpPr>
          <p:nvPr>
            <p:ph idx="1"/>
          </p:nvPr>
        </p:nvSpPr>
        <p:spPr>
          <a:xfrm>
            <a:off x="457200" y="1448780"/>
            <a:ext cx="8229600" cy="4677384"/>
          </a:xfrm>
        </p:spPr>
        <p:txBody>
          <a:bodyPr>
            <a:normAutofit/>
          </a:bodyPr>
          <a:lstStyle/>
          <a:p>
            <a:pPr algn="just"/>
            <a:r>
              <a:rPr lang="en-US" sz="2800" i="1" dirty="0">
                <a:solidFill>
                  <a:srgbClr val="FF0000"/>
                </a:solidFill>
              </a:rPr>
              <a:t>Initial hardware configuration </a:t>
            </a:r>
            <a:r>
              <a:rPr lang="en-US" sz="2800" dirty="0"/>
              <a:t>involves setting up the target platform, so that it can boot an</a:t>
            </a:r>
            <a:r>
              <a:rPr lang="en-US" sz="2800" b="1" i="1" dirty="0"/>
              <a:t> </a:t>
            </a:r>
            <a:r>
              <a:rPr lang="en-US" sz="2800" dirty="0"/>
              <a:t>image</a:t>
            </a:r>
          </a:p>
          <a:p>
            <a:pPr algn="just"/>
            <a:endParaRPr lang="en-US" sz="2800" dirty="0"/>
          </a:p>
          <a:p>
            <a:pPr algn="just"/>
            <a:r>
              <a:rPr lang="en-US" sz="2800" dirty="0"/>
              <a:t>The target platform comes up in a standard configuration; but, this configuration normally requires modification to satisfy the requirements of the booted image</a:t>
            </a:r>
            <a:endParaRPr lang="en-IN" sz="2800" dirty="0"/>
          </a:p>
        </p:txBody>
      </p:sp>
    </p:spTree>
    <p:extLst>
      <p:ext uri="{BB962C8B-B14F-4D97-AF65-F5344CB8AC3E}">
        <p14:creationId xmlns:p14="http://schemas.microsoft.com/office/powerpoint/2010/main" val="39501887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C11F53-6DEC-475E-B9A0-11A85D583FA2}"/>
              </a:ext>
            </a:extLst>
          </p:cNvPr>
          <p:cNvSpPr>
            <a:spLocks noGrp="1"/>
          </p:cNvSpPr>
          <p:nvPr>
            <p:ph idx="1"/>
          </p:nvPr>
        </p:nvSpPr>
        <p:spPr/>
        <p:txBody>
          <a:bodyPr>
            <a:normAutofit/>
          </a:bodyPr>
          <a:lstStyle/>
          <a:p>
            <a:pPr lvl="0" algn="just"/>
            <a:r>
              <a:rPr lang="en-US" sz="2800" dirty="0"/>
              <a:t>For example, the memory system normally requires reorganization of the memory map</a:t>
            </a:r>
            <a:endParaRPr lang="en-IN" sz="2800" dirty="0"/>
          </a:p>
          <a:p>
            <a:pPr algn="just"/>
            <a:endParaRPr lang="en-IN" sz="2800" dirty="0"/>
          </a:p>
          <a:p>
            <a:pPr marL="0" indent="0" algn="just">
              <a:buNone/>
            </a:pPr>
            <a:r>
              <a:rPr lang="en-US" sz="2800" dirty="0"/>
              <a:t>Example: </a:t>
            </a:r>
          </a:p>
          <a:p>
            <a:pPr algn="just"/>
            <a:r>
              <a:rPr lang="en-US" sz="2800" dirty="0"/>
              <a:t>Initializing or organizing memory is an important part of the initialization code, because many operating systems expect a known memory layout before they can start</a:t>
            </a:r>
            <a:endParaRPr lang="en-IN" sz="2800" dirty="0"/>
          </a:p>
        </p:txBody>
      </p:sp>
    </p:spTree>
    <p:extLst>
      <p:ext uri="{BB962C8B-B14F-4D97-AF65-F5344CB8AC3E}">
        <p14:creationId xmlns:p14="http://schemas.microsoft.com/office/powerpoint/2010/main" val="32516475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4C5B964-8821-4DCB-87C5-64D288D38C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630" y="953725"/>
            <a:ext cx="7110791" cy="504056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16661FE-09A8-41CE-B85F-92056A0CA2D1}"/>
              </a:ext>
            </a:extLst>
          </p:cNvPr>
          <p:cNvSpPr/>
          <p:nvPr/>
        </p:nvSpPr>
        <p:spPr>
          <a:xfrm>
            <a:off x="0" y="143635"/>
            <a:ext cx="2230098"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Memory Remapping</a:t>
            </a:r>
            <a:endParaRPr lang="en-IN" dirty="0"/>
          </a:p>
        </p:txBody>
      </p:sp>
      <p:sp>
        <p:nvSpPr>
          <p:cNvPr id="4" name="Rectangle 3">
            <a:extLst>
              <a:ext uri="{FF2B5EF4-FFF2-40B4-BE49-F238E27FC236}">
                <a16:creationId xmlns:a16="http://schemas.microsoft.com/office/drawing/2014/main" id="{189CB7BE-5040-435F-A6CA-46CD75D13834}"/>
              </a:ext>
            </a:extLst>
          </p:cNvPr>
          <p:cNvSpPr/>
          <p:nvPr/>
        </p:nvSpPr>
        <p:spPr>
          <a:xfrm>
            <a:off x="1511660" y="6283478"/>
            <a:ext cx="7110790" cy="430887"/>
          </a:xfrm>
          <a:prstGeom prst="rect">
            <a:avLst/>
          </a:prstGeom>
        </p:spPr>
        <p:txBody>
          <a:bodyPr wrap="square">
            <a:spAutoFit/>
          </a:bodyPr>
          <a:lstStyle/>
          <a:p>
            <a:r>
              <a:rPr lang="en-US" sz="2200" dirty="0"/>
              <a:t>Figure shows memory before and after reorganization</a:t>
            </a:r>
            <a:endParaRPr lang="en-IN" sz="2200" dirty="0"/>
          </a:p>
        </p:txBody>
      </p:sp>
    </p:spTree>
    <p:extLst>
      <p:ext uri="{BB962C8B-B14F-4D97-AF65-F5344CB8AC3E}">
        <p14:creationId xmlns:p14="http://schemas.microsoft.com/office/powerpoint/2010/main" val="41773242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6314DA-1C7E-423B-85BC-B1617896CDDF}"/>
              </a:ext>
            </a:extLst>
          </p:cNvPr>
          <p:cNvSpPr>
            <a:spLocks noGrp="1"/>
          </p:cNvSpPr>
          <p:nvPr>
            <p:ph idx="1"/>
          </p:nvPr>
        </p:nvSpPr>
        <p:spPr>
          <a:xfrm>
            <a:off x="457200" y="1133745"/>
            <a:ext cx="8229600" cy="4992419"/>
          </a:xfrm>
        </p:spPr>
        <p:txBody>
          <a:bodyPr>
            <a:normAutofit/>
          </a:bodyPr>
          <a:lstStyle/>
          <a:p>
            <a:pPr algn="just"/>
            <a:r>
              <a:rPr lang="en-US" sz="2800" dirty="0"/>
              <a:t>It is common for ARM-based embedded systems to provide for memory remapping because it allows the system to start the initialization code from ROM at power-up</a:t>
            </a:r>
          </a:p>
          <a:p>
            <a:pPr algn="just"/>
            <a:endParaRPr lang="en-US" sz="2800" dirty="0"/>
          </a:p>
          <a:p>
            <a:pPr algn="just"/>
            <a:r>
              <a:rPr lang="en-US" sz="2800" dirty="0"/>
              <a:t>The initialization code then redefines or remaps the memory map to place RAM at address 0x00000000 - an important step because then the exception vector table can be in RAM and thus can be reprogrammed</a:t>
            </a:r>
            <a:endParaRPr lang="en-IN" sz="2800" dirty="0"/>
          </a:p>
        </p:txBody>
      </p:sp>
    </p:spTree>
    <p:extLst>
      <p:ext uri="{BB962C8B-B14F-4D97-AF65-F5344CB8AC3E}">
        <p14:creationId xmlns:p14="http://schemas.microsoft.com/office/powerpoint/2010/main" val="34337370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721E4F-AC0B-40E5-BC4E-8F97F045111B}"/>
              </a:ext>
            </a:extLst>
          </p:cNvPr>
          <p:cNvSpPr>
            <a:spLocks noGrp="1"/>
          </p:cNvSpPr>
          <p:nvPr>
            <p:ph idx="1"/>
          </p:nvPr>
        </p:nvSpPr>
        <p:spPr>
          <a:xfrm>
            <a:off x="457200" y="908720"/>
            <a:ext cx="8229600" cy="5217445"/>
          </a:xfrm>
        </p:spPr>
        <p:txBody>
          <a:bodyPr>
            <a:noAutofit/>
          </a:bodyPr>
          <a:lstStyle/>
          <a:p>
            <a:pPr algn="just"/>
            <a:r>
              <a:rPr lang="en-US" sz="2800" i="1" dirty="0">
                <a:solidFill>
                  <a:srgbClr val="FF0000"/>
                </a:solidFill>
              </a:rPr>
              <a:t>Diagnostics</a:t>
            </a:r>
            <a:r>
              <a:rPr lang="en-US" sz="2800" dirty="0"/>
              <a:t> are often embedded in the initialization code</a:t>
            </a:r>
          </a:p>
          <a:p>
            <a:pPr algn="just"/>
            <a:endParaRPr lang="en-US" sz="2800" dirty="0"/>
          </a:p>
          <a:p>
            <a:pPr algn="just"/>
            <a:r>
              <a:rPr lang="en-US" sz="2800" dirty="0"/>
              <a:t>Diagnostic code tests the system by</a:t>
            </a:r>
            <a:r>
              <a:rPr lang="en-US" sz="2800" b="1" i="1" dirty="0"/>
              <a:t> </a:t>
            </a:r>
            <a:r>
              <a:rPr lang="en-US" sz="2800" dirty="0"/>
              <a:t>exercising the hardware target to check if the target is in working order</a:t>
            </a:r>
          </a:p>
          <a:p>
            <a:pPr algn="just"/>
            <a:endParaRPr lang="en-US" sz="2800" dirty="0"/>
          </a:p>
          <a:p>
            <a:pPr algn="just"/>
            <a:r>
              <a:rPr lang="en-US" sz="2800" dirty="0"/>
              <a:t>It also tracks down standard system-related issues</a:t>
            </a:r>
          </a:p>
          <a:p>
            <a:pPr algn="just"/>
            <a:endParaRPr lang="en-US" sz="2800" dirty="0"/>
          </a:p>
          <a:p>
            <a:pPr algn="just"/>
            <a:r>
              <a:rPr lang="en-US" sz="2800" dirty="0"/>
              <a:t>The primary purpose of diagnostic code is fault identification and isolation</a:t>
            </a:r>
            <a:endParaRPr lang="en-IN" sz="2800" dirty="0"/>
          </a:p>
          <a:p>
            <a:pPr algn="just"/>
            <a:endParaRPr lang="en-IN" sz="2800" dirty="0"/>
          </a:p>
        </p:txBody>
      </p:sp>
    </p:spTree>
    <p:extLst>
      <p:ext uri="{BB962C8B-B14F-4D97-AF65-F5344CB8AC3E}">
        <p14:creationId xmlns:p14="http://schemas.microsoft.com/office/powerpoint/2010/main" val="7004120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C84974-4FE9-405E-AAF1-8B0BEF41DE4E}"/>
              </a:ext>
            </a:extLst>
          </p:cNvPr>
          <p:cNvSpPr>
            <a:spLocks noGrp="1"/>
          </p:cNvSpPr>
          <p:nvPr>
            <p:ph idx="1"/>
          </p:nvPr>
        </p:nvSpPr>
        <p:spPr>
          <a:xfrm>
            <a:off x="457200" y="1088741"/>
            <a:ext cx="8229600" cy="5037424"/>
          </a:xfrm>
        </p:spPr>
        <p:txBody>
          <a:bodyPr>
            <a:noAutofit/>
          </a:bodyPr>
          <a:lstStyle/>
          <a:p>
            <a:pPr lvl="0" algn="just"/>
            <a:r>
              <a:rPr lang="en-US" sz="2800" i="1" dirty="0">
                <a:solidFill>
                  <a:srgbClr val="FF0000"/>
                </a:solidFill>
              </a:rPr>
              <a:t>Booting</a:t>
            </a:r>
            <a:r>
              <a:rPr lang="en-US" sz="2800" b="1" i="1" dirty="0"/>
              <a:t> </a:t>
            </a:r>
            <a:r>
              <a:rPr lang="en-US" sz="2800" dirty="0"/>
              <a:t>involves loading an image and handing control over to that image</a:t>
            </a:r>
          </a:p>
          <a:p>
            <a:pPr lvl="0" algn="just"/>
            <a:endParaRPr lang="en-US" sz="2800" dirty="0"/>
          </a:p>
          <a:p>
            <a:pPr lvl="0" algn="just"/>
            <a:r>
              <a:rPr lang="en-US" sz="2800" dirty="0"/>
              <a:t>The boot process</a:t>
            </a:r>
            <a:r>
              <a:rPr lang="en-US" sz="2800" b="1" i="1" dirty="0"/>
              <a:t> </a:t>
            </a:r>
            <a:r>
              <a:rPr lang="en-US" sz="2800" dirty="0"/>
              <a:t>itself can be complicated if the system must boot different operating systems or different versions of the same operating system</a:t>
            </a:r>
            <a:endParaRPr lang="en-IN" sz="2800" dirty="0"/>
          </a:p>
          <a:p>
            <a:pPr algn="just"/>
            <a:endParaRPr lang="en-IN" sz="2800" dirty="0"/>
          </a:p>
          <a:p>
            <a:pPr algn="just"/>
            <a:r>
              <a:rPr lang="en-US" sz="2800" dirty="0"/>
              <a:t>Booting an image is the final phase, but first you must load the image</a:t>
            </a:r>
          </a:p>
          <a:p>
            <a:pPr algn="just"/>
            <a:endParaRPr lang="en-US" sz="2800" dirty="0"/>
          </a:p>
        </p:txBody>
      </p:sp>
    </p:spTree>
    <p:extLst>
      <p:ext uri="{BB962C8B-B14F-4D97-AF65-F5344CB8AC3E}">
        <p14:creationId xmlns:p14="http://schemas.microsoft.com/office/powerpoint/2010/main" val="3344684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D6F723-F2D1-4069-B352-DFAA2C65708D}"/>
              </a:ext>
            </a:extLst>
          </p:cNvPr>
          <p:cNvSpPr>
            <a:spLocks noGrp="1"/>
          </p:cNvSpPr>
          <p:nvPr>
            <p:ph idx="1"/>
          </p:nvPr>
        </p:nvSpPr>
        <p:spPr>
          <a:xfrm>
            <a:off x="457200" y="1358770"/>
            <a:ext cx="8229600" cy="4767394"/>
          </a:xfrm>
        </p:spPr>
        <p:txBody>
          <a:bodyPr>
            <a:normAutofit/>
          </a:bodyPr>
          <a:lstStyle/>
          <a:p>
            <a:pPr algn="just"/>
            <a:r>
              <a:rPr lang="en-US" sz="2800" dirty="0"/>
              <a:t>Loading an image involves anything from copying an entire program including code and data into RAM, to just copying a data area containing volatile variables into RAM</a:t>
            </a:r>
          </a:p>
          <a:p>
            <a:pPr algn="just"/>
            <a:endParaRPr lang="en-US" sz="2800" dirty="0"/>
          </a:p>
          <a:p>
            <a:pPr algn="just"/>
            <a:r>
              <a:rPr lang="en-US" sz="2800" dirty="0"/>
              <a:t>Once booted, the system hands over control by modifying the program counter to point into the start of the image</a:t>
            </a:r>
            <a:endParaRPr lang="en-IN" sz="2800" dirty="0"/>
          </a:p>
        </p:txBody>
      </p:sp>
    </p:spTree>
    <p:extLst>
      <p:ext uri="{BB962C8B-B14F-4D97-AF65-F5344CB8AC3E}">
        <p14:creationId xmlns:p14="http://schemas.microsoft.com/office/powerpoint/2010/main" val="12611103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91833C-1C91-47DA-B5A8-268DEC068EDF}"/>
              </a:ext>
            </a:extLst>
          </p:cNvPr>
          <p:cNvSpPr>
            <a:spLocks noGrp="1"/>
          </p:cNvSpPr>
          <p:nvPr>
            <p:ph idx="1"/>
          </p:nvPr>
        </p:nvSpPr>
        <p:spPr>
          <a:xfrm>
            <a:off x="457200" y="1943835"/>
            <a:ext cx="8229600" cy="4182329"/>
          </a:xfrm>
        </p:spPr>
        <p:txBody>
          <a:bodyPr>
            <a:normAutofit/>
          </a:bodyPr>
          <a:lstStyle/>
          <a:p>
            <a:pPr lvl="0" algn="just"/>
            <a:r>
              <a:rPr lang="en-US" sz="3000" dirty="0"/>
              <a:t>The initialization process prepares the hardware for an operating system to take control</a:t>
            </a:r>
          </a:p>
          <a:p>
            <a:pPr lvl="0" algn="just"/>
            <a:endParaRPr lang="en-US" sz="3000" dirty="0"/>
          </a:p>
          <a:p>
            <a:pPr lvl="0" algn="just"/>
            <a:r>
              <a:rPr lang="en-US" sz="3000" dirty="0"/>
              <a:t>An operating system organizes the system resources: the peripherals, memory, and processing time</a:t>
            </a:r>
            <a:endParaRPr lang="en-IN" sz="3000" dirty="0"/>
          </a:p>
          <a:p>
            <a:pPr algn="just"/>
            <a:endParaRPr lang="en-IN" sz="3000" dirty="0"/>
          </a:p>
        </p:txBody>
      </p:sp>
      <p:sp>
        <p:nvSpPr>
          <p:cNvPr id="3" name="Rectangle 2">
            <a:extLst>
              <a:ext uri="{FF2B5EF4-FFF2-40B4-BE49-F238E27FC236}">
                <a16:creationId xmlns:a16="http://schemas.microsoft.com/office/drawing/2014/main" id="{8A335F69-CF55-4031-A522-1B79E8A51207}"/>
              </a:ext>
            </a:extLst>
          </p:cNvPr>
          <p:cNvSpPr/>
          <p:nvPr/>
        </p:nvSpPr>
        <p:spPr>
          <a:xfrm>
            <a:off x="39478" y="98630"/>
            <a:ext cx="2552302"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Operating System</a:t>
            </a:r>
            <a:endParaRPr lang="en-IN" sz="2400" dirty="0">
              <a:solidFill>
                <a:srgbClr val="FF0000"/>
              </a:solidFill>
            </a:endParaRPr>
          </a:p>
        </p:txBody>
      </p:sp>
    </p:spTree>
    <p:extLst>
      <p:ext uri="{BB962C8B-B14F-4D97-AF65-F5344CB8AC3E}">
        <p14:creationId xmlns:p14="http://schemas.microsoft.com/office/powerpoint/2010/main" val="23734288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5F57B3-45F4-4348-B5DE-F975EB032FD4}"/>
              </a:ext>
            </a:extLst>
          </p:cNvPr>
          <p:cNvSpPr>
            <a:spLocks noGrp="1"/>
          </p:cNvSpPr>
          <p:nvPr>
            <p:ph idx="1"/>
          </p:nvPr>
        </p:nvSpPr>
        <p:spPr/>
        <p:txBody>
          <a:bodyPr>
            <a:normAutofit/>
          </a:bodyPr>
          <a:lstStyle/>
          <a:p>
            <a:pPr algn="just"/>
            <a:r>
              <a:rPr lang="en-US" sz="3000" dirty="0"/>
              <a:t>ARM processors support over 50 operating systems</a:t>
            </a:r>
          </a:p>
          <a:p>
            <a:pPr algn="just"/>
            <a:endParaRPr lang="en-US" sz="3000" dirty="0"/>
          </a:p>
          <a:p>
            <a:pPr algn="just"/>
            <a:r>
              <a:rPr lang="en-US" sz="3000" dirty="0"/>
              <a:t>We can divide operating systems into </a:t>
            </a:r>
            <a:r>
              <a:rPr lang="en-US" sz="3000" i="1" dirty="0"/>
              <a:t>two</a:t>
            </a:r>
            <a:r>
              <a:rPr lang="en-US" sz="3000" dirty="0"/>
              <a:t> </a:t>
            </a:r>
            <a:r>
              <a:rPr lang="en-US" sz="3000" i="1" dirty="0"/>
              <a:t>main categories</a:t>
            </a:r>
            <a:r>
              <a:rPr lang="en-US" sz="3000" dirty="0"/>
              <a:t>: real-time operating systems (RTOSs) and platform operating systems</a:t>
            </a:r>
            <a:endParaRPr lang="en-IN" sz="3000" dirty="0"/>
          </a:p>
          <a:p>
            <a:pPr algn="just"/>
            <a:endParaRPr lang="en-IN" sz="3000" dirty="0"/>
          </a:p>
        </p:txBody>
      </p:sp>
    </p:spTree>
    <p:extLst>
      <p:ext uri="{BB962C8B-B14F-4D97-AF65-F5344CB8AC3E}">
        <p14:creationId xmlns:p14="http://schemas.microsoft.com/office/powerpoint/2010/main" val="35021858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0C077A-A909-4F90-A316-19B24CD6CC4E}"/>
              </a:ext>
            </a:extLst>
          </p:cNvPr>
          <p:cNvSpPr>
            <a:spLocks noGrp="1"/>
          </p:cNvSpPr>
          <p:nvPr>
            <p:ph idx="1"/>
          </p:nvPr>
        </p:nvSpPr>
        <p:spPr>
          <a:xfrm>
            <a:off x="457200" y="1043735"/>
            <a:ext cx="8229600" cy="4992419"/>
          </a:xfrm>
        </p:spPr>
        <p:txBody>
          <a:bodyPr>
            <a:normAutofit lnSpcReduction="10000"/>
          </a:bodyPr>
          <a:lstStyle/>
          <a:p>
            <a:pPr lvl="0" algn="just"/>
            <a:r>
              <a:rPr lang="en-US" sz="2800" i="1" dirty="0">
                <a:solidFill>
                  <a:srgbClr val="FF0000"/>
                </a:solidFill>
              </a:rPr>
              <a:t>RTOSs</a:t>
            </a:r>
            <a:r>
              <a:rPr lang="en-US" sz="2800" b="1" i="1" dirty="0"/>
              <a:t> </a:t>
            </a:r>
            <a:r>
              <a:rPr lang="en-US" sz="2800" dirty="0"/>
              <a:t>provide guaranteed response times to events</a:t>
            </a:r>
          </a:p>
          <a:p>
            <a:pPr lvl="0" algn="just"/>
            <a:endParaRPr lang="en-US" sz="2800" dirty="0"/>
          </a:p>
          <a:p>
            <a:pPr lvl="0" algn="just"/>
            <a:r>
              <a:rPr lang="en-US" sz="2800" dirty="0"/>
              <a:t>Different operating systems have different</a:t>
            </a:r>
            <a:r>
              <a:rPr lang="en-US" sz="2800" b="1" i="1" dirty="0"/>
              <a:t> </a:t>
            </a:r>
            <a:r>
              <a:rPr lang="en-US" sz="2800" dirty="0"/>
              <a:t>amounts of control over the system response time</a:t>
            </a:r>
            <a:endParaRPr lang="en-IN" sz="2800" dirty="0"/>
          </a:p>
          <a:p>
            <a:pPr algn="just"/>
            <a:endParaRPr lang="en-IN" sz="2800" dirty="0"/>
          </a:p>
          <a:p>
            <a:pPr algn="just"/>
            <a:r>
              <a:rPr lang="en-US" sz="2800" dirty="0"/>
              <a:t>A </a:t>
            </a:r>
            <a:r>
              <a:rPr lang="en-US" sz="2800" i="1" dirty="0"/>
              <a:t>hard real-time</a:t>
            </a:r>
            <a:r>
              <a:rPr lang="en-US" sz="2800" dirty="0"/>
              <a:t> application requires a guaranteed response to work at all</a:t>
            </a:r>
            <a:endParaRPr lang="en-IN" sz="2800" dirty="0"/>
          </a:p>
          <a:p>
            <a:pPr marL="0" indent="0" algn="just">
              <a:buNone/>
            </a:pPr>
            <a:r>
              <a:rPr lang="en-US" sz="2800" dirty="0"/>
              <a:t> </a:t>
            </a:r>
            <a:endParaRPr lang="en-IN" sz="2800" dirty="0"/>
          </a:p>
          <a:p>
            <a:pPr algn="just"/>
            <a:r>
              <a:rPr lang="en-US" sz="2800" dirty="0"/>
              <a:t>In contrast, a </a:t>
            </a:r>
            <a:r>
              <a:rPr lang="en-US" sz="2800" i="1" dirty="0"/>
              <a:t>soft real-time</a:t>
            </a:r>
            <a:r>
              <a:rPr lang="en-US" sz="2800" dirty="0"/>
              <a:t> application requires a good response time, but the performance degrades more gracefully if the response time overruns</a:t>
            </a:r>
            <a:endParaRPr lang="en-IN" sz="2800" dirty="0"/>
          </a:p>
        </p:txBody>
      </p:sp>
    </p:spTree>
    <p:extLst>
      <p:ext uri="{BB962C8B-B14F-4D97-AF65-F5344CB8AC3E}">
        <p14:creationId xmlns:p14="http://schemas.microsoft.com/office/powerpoint/2010/main" val="23538403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310D12-31CE-42C4-89CE-A82A7DB4D9AC}"/>
              </a:ext>
            </a:extLst>
          </p:cNvPr>
          <p:cNvSpPr>
            <a:spLocks noGrp="1"/>
          </p:cNvSpPr>
          <p:nvPr>
            <p:ph idx="1"/>
          </p:nvPr>
        </p:nvSpPr>
        <p:spPr>
          <a:xfrm>
            <a:off x="457200" y="1583795"/>
            <a:ext cx="8229600" cy="4542369"/>
          </a:xfrm>
        </p:spPr>
        <p:txBody>
          <a:bodyPr>
            <a:normAutofit/>
          </a:bodyPr>
          <a:lstStyle/>
          <a:p>
            <a:pPr lvl="0" algn="just"/>
            <a:r>
              <a:rPr lang="en-US" sz="3000" i="1" dirty="0">
                <a:solidFill>
                  <a:srgbClr val="FF0000"/>
                </a:solidFill>
              </a:rPr>
              <a:t>Platform operating systems </a:t>
            </a:r>
            <a:r>
              <a:rPr lang="en-US" sz="3000" dirty="0"/>
              <a:t>require a memory management unit to manage large, non-real-time</a:t>
            </a:r>
            <a:r>
              <a:rPr lang="en-US" sz="3000" b="1" i="1" dirty="0"/>
              <a:t> </a:t>
            </a:r>
            <a:r>
              <a:rPr lang="en-US" sz="3000" dirty="0"/>
              <a:t>applications and tend to have secondary storage</a:t>
            </a:r>
            <a:endParaRPr lang="en-IN" sz="3000" dirty="0"/>
          </a:p>
          <a:p>
            <a:pPr algn="just"/>
            <a:endParaRPr lang="en-IN" sz="3000" dirty="0"/>
          </a:p>
          <a:p>
            <a:pPr algn="just"/>
            <a:r>
              <a:rPr lang="en-US" sz="3000" dirty="0"/>
              <a:t>The Linux operating system is a typical example of a platform operating system</a:t>
            </a:r>
            <a:endParaRPr lang="en-IN" sz="3000" dirty="0"/>
          </a:p>
        </p:txBody>
      </p:sp>
    </p:spTree>
    <p:extLst>
      <p:ext uri="{BB962C8B-B14F-4D97-AF65-F5344CB8AC3E}">
        <p14:creationId xmlns:p14="http://schemas.microsoft.com/office/powerpoint/2010/main" val="38082872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E6DB23-DC91-4119-8000-DB6FCC51125E}"/>
              </a:ext>
            </a:extLst>
          </p:cNvPr>
          <p:cNvSpPr>
            <a:spLocks noGrp="1"/>
          </p:cNvSpPr>
          <p:nvPr>
            <p:ph idx="1"/>
          </p:nvPr>
        </p:nvSpPr>
        <p:spPr>
          <a:xfrm>
            <a:off x="457200" y="1628799"/>
            <a:ext cx="8229600" cy="4497365"/>
          </a:xfrm>
        </p:spPr>
        <p:txBody>
          <a:bodyPr>
            <a:normAutofit/>
          </a:bodyPr>
          <a:lstStyle/>
          <a:p>
            <a:pPr lvl="0" algn="just"/>
            <a:r>
              <a:rPr lang="en-US" sz="3000" dirty="0"/>
              <a:t>The operating system schedules </a:t>
            </a:r>
            <a:r>
              <a:rPr lang="en-US" sz="3000" i="1" dirty="0"/>
              <a:t>applications - </a:t>
            </a:r>
            <a:r>
              <a:rPr lang="en-US" sz="3000" dirty="0"/>
              <a:t>code dedicated to handle a particular task</a:t>
            </a:r>
          </a:p>
          <a:p>
            <a:pPr lvl="0" algn="just"/>
            <a:endParaRPr lang="en-US" sz="3000" dirty="0"/>
          </a:p>
          <a:p>
            <a:pPr lvl="0" algn="just"/>
            <a:r>
              <a:rPr lang="en-US" sz="3000" dirty="0"/>
              <a:t>An application implements a processing task; the operating system controls the environment</a:t>
            </a:r>
            <a:endParaRPr lang="en-IN" sz="3000" dirty="0"/>
          </a:p>
        </p:txBody>
      </p:sp>
      <p:sp>
        <p:nvSpPr>
          <p:cNvPr id="3" name="Rectangle 2">
            <a:extLst>
              <a:ext uri="{FF2B5EF4-FFF2-40B4-BE49-F238E27FC236}">
                <a16:creationId xmlns:a16="http://schemas.microsoft.com/office/drawing/2014/main" id="{14B46D38-B860-462A-A493-568BF7124D9A}"/>
              </a:ext>
            </a:extLst>
          </p:cNvPr>
          <p:cNvSpPr/>
          <p:nvPr/>
        </p:nvSpPr>
        <p:spPr>
          <a:xfrm>
            <a:off x="161510" y="143635"/>
            <a:ext cx="1983235"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Applications</a:t>
            </a:r>
            <a:endParaRPr lang="en-IN" sz="2600" dirty="0">
              <a:solidFill>
                <a:srgbClr val="FF0000"/>
              </a:solidFill>
            </a:endParaRPr>
          </a:p>
        </p:txBody>
      </p:sp>
    </p:spTree>
    <p:extLst>
      <p:ext uri="{BB962C8B-B14F-4D97-AF65-F5344CB8AC3E}">
        <p14:creationId xmlns:p14="http://schemas.microsoft.com/office/powerpoint/2010/main" val="40106066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F8EF8A-BFA4-498D-810C-81E6B6738ECA}"/>
              </a:ext>
            </a:extLst>
          </p:cNvPr>
          <p:cNvSpPr>
            <a:spLocks noGrp="1"/>
          </p:cNvSpPr>
          <p:nvPr>
            <p:ph idx="1"/>
          </p:nvPr>
        </p:nvSpPr>
        <p:spPr>
          <a:xfrm>
            <a:off x="457200" y="1358771"/>
            <a:ext cx="8229600" cy="4767394"/>
          </a:xfrm>
        </p:spPr>
        <p:txBody>
          <a:bodyPr>
            <a:normAutofit/>
          </a:bodyPr>
          <a:lstStyle/>
          <a:p>
            <a:pPr algn="just"/>
            <a:r>
              <a:rPr lang="en-US" sz="3000" dirty="0"/>
              <a:t>An embedded system can have one active application or several applications running simultaneously</a:t>
            </a:r>
            <a:endParaRPr lang="en-IN" sz="3000" dirty="0"/>
          </a:p>
          <a:p>
            <a:pPr marL="0" indent="0" algn="just">
              <a:buNone/>
            </a:pPr>
            <a:r>
              <a:rPr lang="en-US" sz="3000" b="1" dirty="0"/>
              <a:t> </a:t>
            </a:r>
            <a:endParaRPr lang="en-IN" sz="3000" dirty="0"/>
          </a:p>
          <a:p>
            <a:pPr algn="just"/>
            <a:r>
              <a:rPr lang="en-US" sz="3000" dirty="0"/>
              <a:t>ARM processors are found in numerous market segments, including networking, auto-motive, mobile and consumer devices, mass storage, and imaging</a:t>
            </a:r>
            <a:endParaRPr lang="en-IN" sz="3000" dirty="0"/>
          </a:p>
          <a:p>
            <a:pPr algn="just"/>
            <a:endParaRPr lang="en-IN" sz="3000" dirty="0"/>
          </a:p>
        </p:txBody>
      </p:sp>
    </p:spTree>
    <p:extLst>
      <p:ext uri="{BB962C8B-B14F-4D97-AF65-F5344CB8AC3E}">
        <p14:creationId xmlns:p14="http://schemas.microsoft.com/office/powerpoint/2010/main" val="4598620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1657BC-AB34-461B-8C3C-F057CF350A3A}"/>
              </a:ext>
            </a:extLst>
          </p:cNvPr>
          <p:cNvSpPr>
            <a:spLocks noGrp="1"/>
          </p:cNvSpPr>
          <p:nvPr>
            <p:ph idx="1"/>
          </p:nvPr>
        </p:nvSpPr>
        <p:spPr>
          <a:xfrm>
            <a:off x="457200" y="1268759"/>
            <a:ext cx="8229600" cy="4857405"/>
          </a:xfrm>
        </p:spPr>
        <p:txBody>
          <a:bodyPr>
            <a:normAutofit/>
          </a:bodyPr>
          <a:lstStyle/>
          <a:p>
            <a:pPr lvl="0" algn="just"/>
            <a:r>
              <a:rPr lang="en-US" sz="3000" dirty="0"/>
              <a:t>ARM processor is found in networking applications like home gateways, DSL modems for high-speed Internet communication, and 802.11 wireless communications</a:t>
            </a:r>
            <a:endParaRPr lang="en-IN" sz="3000" dirty="0"/>
          </a:p>
          <a:p>
            <a:pPr algn="just"/>
            <a:endParaRPr lang="en-IN" sz="3000" dirty="0"/>
          </a:p>
          <a:p>
            <a:pPr algn="just"/>
            <a:r>
              <a:rPr lang="en-US" sz="3000" dirty="0"/>
              <a:t>The mobile device segment is the largest application area for ARM processors, because of mobile phones</a:t>
            </a:r>
            <a:endParaRPr lang="en-IN" sz="3000" dirty="0"/>
          </a:p>
        </p:txBody>
      </p:sp>
    </p:spTree>
    <p:extLst>
      <p:ext uri="{BB962C8B-B14F-4D97-AF65-F5344CB8AC3E}">
        <p14:creationId xmlns:p14="http://schemas.microsoft.com/office/powerpoint/2010/main" val="31218487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F494B9-7395-45E7-8C4A-51D435EBD23E}"/>
              </a:ext>
            </a:extLst>
          </p:cNvPr>
          <p:cNvSpPr>
            <a:spLocks noGrp="1"/>
          </p:cNvSpPr>
          <p:nvPr>
            <p:ph idx="1"/>
          </p:nvPr>
        </p:nvSpPr>
        <p:spPr>
          <a:xfrm>
            <a:off x="457200" y="1600202"/>
            <a:ext cx="8229600" cy="2863914"/>
          </a:xfrm>
        </p:spPr>
        <p:txBody>
          <a:bodyPr/>
          <a:lstStyle/>
          <a:p>
            <a:pPr marL="0" indent="0" algn="just">
              <a:buNone/>
            </a:pPr>
            <a:r>
              <a:rPr lang="en-US" dirty="0"/>
              <a:t>ARM processors are also found in mass storage devices such as hard drives and imaging products such as inkjet printer - applications that are cost sensitive and high volume</a:t>
            </a:r>
            <a:endParaRPr lang="en-IN" dirty="0"/>
          </a:p>
        </p:txBody>
      </p:sp>
    </p:spTree>
    <p:extLst>
      <p:ext uri="{BB962C8B-B14F-4D97-AF65-F5344CB8AC3E}">
        <p14:creationId xmlns:p14="http://schemas.microsoft.com/office/powerpoint/2010/main" val="29567991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71CAE8-CB09-494F-8178-71A3B4A1DBD9}"/>
              </a:ext>
            </a:extLst>
          </p:cNvPr>
          <p:cNvSpPr>
            <a:spLocks noGrp="1"/>
          </p:cNvSpPr>
          <p:nvPr>
            <p:ph idx="1"/>
          </p:nvPr>
        </p:nvSpPr>
        <p:spPr>
          <a:xfrm>
            <a:off x="457200" y="1493785"/>
            <a:ext cx="8229600" cy="4525963"/>
          </a:xfrm>
        </p:spPr>
        <p:txBody>
          <a:bodyPr>
            <a:normAutofit/>
          </a:bodyPr>
          <a:lstStyle/>
          <a:p>
            <a:pPr algn="just"/>
            <a:r>
              <a:rPr lang="en-US" sz="3000" dirty="0"/>
              <a:t>In contrast, ARM processors are not found in applications that require leading-edge high performance</a:t>
            </a:r>
          </a:p>
          <a:p>
            <a:pPr algn="just"/>
            <a:endParaRPr lang="en-US" sz="3000" dirty="0"/>
          </a:p>
          <a:p>
            <a:pPr algn="just"/>
            <a:r>
              <a:rPr lang="en-US" sz="3000" dirty="0"/>
              <a:t>Because these applications tend to be low volume and high cost, ARM has decided not to focus designs on these types of applications</a:t>
            </a:r>
            <a:endParaRPr lang="en-IN" sz="3000" dirty="0"/>
          </a:p>
        </p:txBody>
      </p:sp>
    </p:spTree>
    <p:extLst>
      <p:ext uri="{BB962C8B-B14F-4D97-AF65-F5344CB8AC3E}">
        <p14:creationId xmlns:p14="http://schemas.microsoft.com/office/powerpoint/2010/main" val="2524409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6D777-6232-42C8-A3F1-3902E4277D21}"/>
              </a:ext>
            </a:extLst>
          </p:cNvPr>
          <p:cNvSpPr>
            <a:spLocks noGrp="1"/>
          </p:cNvSpPr>
          <p:nvPr>
            <p:ph idx="1"/>
          </p:nvPr>
        </p:nvSpPr>
        <p:spPr/>
        <p:txBody>
          <a:bodyPr/>
          <a:lstStyle/>
          <a:p>
            <a:pPr marL="0" indent="0">
              <a:buNone/>
            </a:pPr>
            <a:endParaRPr lang="en-US" b="1" dirty="0"/>
          </a:p>
          <a:p>
            <a:pPr marL="0" indent="0">
              <a:buNone/>
            </a:pPr>
            <a:endParaRPr lang="en-US" b="1" dirty="0"/>
          </a:p>
          <a:p>
            <a:pPr marL="0" indent="0" algn="ctr">
              <a:buNone/>
            </a:pPr>
            <a:r>
              <a:rPr lang="en-US" sz="3600" b="1" dirty="0">
                <a:solidFill>
                  <a:srgbClr val="FF0000"/>
                </a:solidFill>
              </a:rPr>
              <a:t>ARM PROCESSOR FUNDAMENTALS</a:t>
            </a:r>
            <a:endParaRPr lang="en-IN" sz="3600" dirty="0">
              <a:solidFill>
                <a:srgbClr val="FF0000"/>
              </a:solidFill>
            </a:endParaRPr>
          </a:p>
        </p:txBody>
      </p:sp>
    </p:spTree>
    <p:extLst>
      <p:ext uri="{BB962C8B-B14F-4D97-AF65-F5344CB8AC3E}">
        <p14:creationId xmlns:p14="http://schemas.microsoft.com/office/powerpoint/2010/main" val="3551331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480467-3AEE-4396-8AD2-30A5BABA009C}"/>
              </a:ext>
            </a:extLst>
          </p:cNvPr>
          <p:cNvSpPr>
            <a:spLocks noGrp="1"/>
          </p:cNvSpPr>
          <p:nvPr>
            <p:ph idx="1"/>
          </p:nvPr>
        </p:nvSpPr>
        <p:spPr>
          <a:xfrm>
            <a:off x="6732240" y="1313765"/>
            <a:ext cx="2268175" cy="4005445"/>
          </a:xfrm>
        </p:spPr>
        <p:txBody>
          <a:bodyPr>
            <a:normAutofit/>
          </a:bodyPr>
          <a:lstStyle/>
          <a:p>
            <a:pPr marL="0" indent="0" algn="just">
              <a:buNone/>
            </a:pPr>
            <a:r>
              <a:rPr lang="en-US" sz="2600" dirty="0"/>
              <a:t>A programmer can think of an ARM core as functional units connected by data buses, as shown in the Figure</a:t>
            </a:r>
            <a:endParaRPr lang="en-IN" sz="2600" dirty="0"/>
          </a:p>
        </p:txBody>
      </p:sp>
      <p:pic>
        <p:nvPicPr>
          <p:cNvPr id="3" name="Picture 2">
            <a:extLst>
              <a:ext uri="{FF2B5EF4-FFF2-40B4-BE49-F238E27FC236}">
                <a16:creationId xmlns:a16="http://schemas.microsoft.com/office/drawing/2014/main" id="{C2162E08-B5BB-4688-A602-FA50AC535E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6282189"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BB86E63-BC30-4F89-8818-6810458A3531}"/>
              </a:ext>
            </a:extLst>
          </p:cNvPr>
          <p:cNvSpPr/>
          <p:nvPr/>
        </p:nvSpPr>
        <p:spPr>
          <a:xfrm>
            <a:off x="3414139" y="6488766"/>
            <a:ext cx="2879956"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ARM Core dataflow Model</a:t>
            </a:r>
            <a:endParaRPr lang="en-IN" dirty="0"/>
          </a:p>
        </p:txBody>
      </p:sp>
    </p:spTree>
    <p:extLst>
      <p:ext uri="{BB962C8B-B14F-4D97-AF65-F5344CB8AC3E}">
        <p14:creationId xmlns:p14="http://schemas.microsoft.com/office/powerpoint/2010/main" val="10965221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F555A1-4183-4A81-8322-2F9D2FE986A4}"/>
              </a:ext>
            </a:extLst>
          </p:cNvPr>
          <p:cNvSpPr>
            <a:spLocks noGrp="1"/>
          </p:cNvSpPr>
          <p:nvPr>
            <p:ph idx="1"/>
          </p:nvPr>
        </p:nvSpPr>
        <p:spPr>
          <a:xfrm>
            <a:off x="296525" y="1268760"/>
            <a:ext cx="8460940" cy="5085564"/>
          </a:xfrm>
        </p:spPr>
        <p:txBody>
          <a:bodyPr>
            <a:normAutofit/>
          </a:bodyPr>
          <a:lstStyle/>
          <a:p>
            <a:pPr algn="just"/>
            <a:r>
              <a:rPr lang="en-US" sz="2800" dirty="0"/>
              <a:t>The arrows represent the flow of data, the lines represent the buses, and the boxes represent either an operation unit or a storage area</a:t>
            </a:r>
          </a:p>
          <a:p>
            <a:pPr marL="0" indent="0" algn="just">
              <a:buNone/>
            </a:pPr>
            <a:endParaRPr lang="en-US" sz="2800" dirty="0"/>
          </a:p>
          <a:p>
            <a:pPr lvl="0" algn="just"/>
            <a:r>
              <a:rPr lang="en-US" sz="2800" dirty="0"/>
              <a:t>Data enters the processor core through the Data bus</a:t>
            </a:r>
          </a:p>
          <a:p>
            <a:pPr lvl="0" algn="just"/>
            <a:endParaRPr lang="en-US" sz="2800" dirty="0"/>
          </a:p>
          <a:p>
            <a:pPr lvl="0" algn="just"/>
            <a:r>
              <a:rPr lang="en-US" sz="2800" dirty="0"/>
              <a:t>The data may be an instruction to execute or a data item</a:t>
            </a:r>
          </a:p>
          <a:p>
            <a:pPr marL="0" indent="0" algn="just">
              <a:buNone/>
            </a:pPr>
            <a:endParaRPr lang="en-IN" sz="2800" dirty="0"/>
          </a:p>
          <a:p>
            <a:pPr algn="just"/>
            <a:endParaRPr lang="en-IN" sz="2800" dirty="0"/>
          </a:p>
        </p:txBody>
      </p:sp>
    </p:spTree>
    <p:extLst>
      <p:ext uri="{BB962C8B-B14F-4D97-AF65-F5344CB8AC3E}">
        <p14:creationId xmlns:p14="http://schemas.microsoft.com/office/powerpoint/2010/main" val="7156206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3B75E0-9886-4DB6-B129-001927721306}"/>
              </a:ext>
            </a:extLst>
          </p:cNvPr>
          <p:cNvSpPr>
            <a:spLocks noGrp="1"/>
          </p:cNvSpPr>
          <p:nvPr>
            <p:ph idx="1"/>
          </p:nvPr>
        </p:nvSpPr>
        <p:spPr>
          <a:xfrm>
            <a:off x="457200" y="998729"/>
            <a:ext cx="8229600" cy="5127435"/>
          </a:xfrm>
        </p:spPr>
        <p:txBody>
          <a:bodyPr>
            <a:normAutofit/>
          </a:bodyPr>
          <a:lstStyle/>
          <a:p>
            <a:pPr algn="just"/>
            <a:r>
              <a:rPr lang="en-US" sz="2800" dirty="0"/>
              <a:t>Figure shows a Von Neumann implementation of the ARM - data items and instructions share the same bus. (In contrast, Harvard implementations of the ARM use two different buses)</a:t>
            </a:r>
            <a:endParaRPr lang="en-IN" sz="2800" dirty="0"/>
          </a:p>
          <a:p>
            <a:pPr marL="0" indent="0" algn="just">
              <a:buNone/>
            </a:pPr>
            <a:endParaRPr lang="en-IN" sz="2800" dirty="0"/>
          </a:p>
          <a:p>
            <a:pPr algn="just"/>
            <a:r>
              <a:rPr lang="en-US" sz="2800" dirty="0"/>
              <a:t>The instruction decoder translates instructions before they are executed</a:t>
            </a:r>
          </a:p>
          <a:p>
            <a:pPr algn="just"/>
            <a:endParaRPr lang="en-US" sz="2800" dirty="0"/>
          </a:p>
          <a:p>
            <a:pPr algn="just"/>
            <a:r>
              <a:rPr lang="en-US" sz="2800" dirty="0"/>
              <a:t>Each instruction executed belongs to a particular instruction set</a:t>
            </a:r>
            <a:endParaRPr lang="en-IN" sz="2800" dirty="0"/>
          </a:p>
        </p:txBody>
      </p:sp>
    </p:spTree>
    <p:extLst>
      <p:ext uri="{BB962C8B-B14F-4D97-AF65-F5344CB8AC3E}">
        <p14:creationId xmlns:p14="http://schemas.microsoft.com/office/powerpoint/2010/main" val="33065725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CABDA4-A3AD-415C-A8DC-27DD07D78E93}"/>
              </a:ext>
            </a:extLst>
          </p:cNvPr>
          <p:cNvSpPr>
            <a:spLocks noGrp="1"/>
          </p:cNvSpPr>
          <p:nvPr>
            <p:ph idx="1"/>
          </p:nvPr>
        </p:nvSpPr>
        <p:spPr>
          <a:xfrm>
            <a:off x="457200" y="1133745"/>
            <a:ext cx="8229600" cy="4992419"/>
          </a:xfrm>
        </p:spPr>
        <p:txBody>
          <a:bodyPr>
            <a:normAutofit/>
          </a:bodyPr>
          <a:lstStyle/>
          <a:p>
            <a:pPr lvl="0" algn="just"/>
            <a:r>
              <a:rPr lang="en-US" sz="2800" dirty="0"/>
              <a:t>The ARM processor, like all RISC processors, uses </a:t>
            </a:r>
            <a:r>
              <a:rPr lang="en-US" sz="2800" i="1" dirty="0">
                <a:solidFill>
                  <a:srgbClr val="FF0000"/>
                </a:solidFill>
              </a:rPr>
              <a:t>load-store architecture</a:t>
            </a:r>
            <a:r>
              <a:rPr lang="en-US" sz="2800" b="1" i="1" dirty="0"/>
              <a:t> - </a:t>
            </a:r>
            <a:r>
              <a:rPr lang="en-US" sz="2800" dirty="0"/>
              <a:t>means it has two instruction types for transferring data in and out of the processor:</a:t>
            </a:r>
          </a:p>
          <a:p>
            <a:pPr lvl="0" algn="just"/>
            <a:endParaRPr lang="en-US" sz="2800" dirty="0"/>
          </a:p>
          <a:p>
            <a:pPr lvl="1" algn="just"/>
            <a:r>
              <a:rPr lang="en-US" sz="2600" dirty="0"/>
              <a:t>load instructions copy data from memory to registers in the core</a:t>
            </a:r>
          </a:p>
          <a:p>
            <a:pPr lvl="1" algn="just"/>
            <a:endParaRPr lang="en-US" sz="2600" dirty="0"/>
          </a:p>
          <a:p>
            <a:pPr lvl="1" algn="just"/>
            <a:r>
              <a:rPr lang="en-US" sz="2600" dirty="0"/>
              <a:t>store instructions copy data from registers to memory</a:t>
            </a:r>
            <a:endParaRPr lang="en-IN" sz="2600" dirty="0"/>
          </a:p>
        </p:txBody>
      </p:sp>
    </p:spTree>
    <p:extLst>
      <p:ext uri="{BB962C8B-B14F-4D97-AF65-F5344CB8AC3E}">
        <p14:creationId xmlns:p14="http://schemas.microsoft.com/office/powerpoint/2010/main" val="24114441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BDFBFF-2E67-4DEF-A47D-2EEDC88CA77F}"/>
              </a:ext>
            </a:extLst>
          </p:cNvPr>
          <p:cNvSpPr>
            <a:spLocks noGrp="1"/>
          </p:cNvSpPr>
          <p:nvPr>
            <p:ph idx="1"/>
          </p:nvPr>
        </p:nvSpPr>
        <p:spPr>
          <a:xfrm>
            <a:off x="457200" y="1403775"/>
            <a:ext cx="8229600" cy="4722389"/>
          </a:xfrm>
        </p:spPr>
        <p:txBody>
          <a:bodyPr>
            <a:normAutofit/>
          </a:bodyPr>
          <a:lstStyle/>
          <a:p>
            <a:pPr lvl="0" algn="just"/>
            <a:r>
              <a:rPr lang="en-US" sz="3000" dirty="0"/>
              <a:t>There are no data processing instructions that directly manipulate data in memory</a:t>
            </a:r>
          </a:p>
          <a:p>
            <a:pPr lvl="0" algn="just"/>
            <a:endParaRPr lang="en-US" sz="3000" dirty="0"/>
          </a:p>
          <a:p>
            <a:pPr lvl="0" algn="just"/>
            <a:r>
              <a:rPr lang="en-US" sz="3000" dirty="0"/>
              <a:t>Thus, data processing is carried out in registers</a:t>
            </a:r>
            <a:endParaRPr lang="en-IN" sz="3000" dirty="0"/>
          </a:p>
          <a:p>
            <a:pPr marL="0" indent="0" algn="just">
              <a:buNone/>
            </a:pPr>
            <a:r>
              <a:rPr lang="en-US" sz="3000" b="1" dirty="0"/>
              <a:t> </a:t>
            </a:r>
            <a:endParaRPr lang="en-IN" sz="3000" dirty="0"/>
          </a:p>
          <a:p>
            <a:pPr lvl="0" algn="just"/>
            <a:r>
              <a:rPr lang="en-US" sz="3000" dirty="0"/>
              <a:t>Data items are placed in the register file - a storage bank made up of 32-bit registers</a:t>
            </a:r>
            <a:endParaRPr lang="en-IN" sz="3000" dirty="0"/>
          </a:p>
          <a:p>
            <a:pPr marL="0" indent="0" algn="just">
              <a:buNone/>
            </a:pPr>
            <a:r>
              <a:rPr lang="en-US" sz="3000" b="1" dirty="0"/>
              <a:t> </a:t>
            </a:r>
            <a:endParaRPr lang="en-IN" sz="3000" dirty="0"/>
          </a:p>
        </p:txBody>
      </p:sp>
    </p:spTree>
    <p:extLst>
      <p:ext uri="{BB962C8B-B14F-4D97-AF65-F5344CB8AC3E}">
        <p14:creationId xmlns:p14="http://schemas.microsoft.com/office/powerpoint/2010/main" val="4203123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19E273-6A21-407E-B343-D5394DFB315A}"/>
              </a:ext>
            </a:extLst>
          </p:cNvPr>
          <p:cNvSpPr>
            <a:spLocks noGrp="1"/>
          </p:cNvSpPr>
          <p:nvPr>
            <p:ph idx="1"/>
          </p:nvPr>
        </p:nvSpPr>
        <p:spPr>
          <a:xfrm>
            <a:off x="457200" y="1538789"/>
            <a:ext cx="8229600" cy="4587375"/>
          </a:xfrm>
        </p:spPr>
        <p:txBody>
          <a:bodyPr>
            <a:normAutofit/>
          </a:bodyPr>
          <a:lstStyle/>
          <a:p>
            <a:pPr algn="just"/>
            <a:r>
              <a:rPr lang="en-US" sz="3000" dirty="0"/>
              <a:t>Since the ARM core is a 32-bit processor, most instructions treat the registers as holding signed or unsigned 32-bit values</a:t>
            </a:r>
          </a:p>
          <a:p>
            <a:pPr algn="just"/>
            <a:endParaRPr lang="en-US" sz="3000" dirty="0"/>
          </a:p>
          <a:p>
            <a:pPr algn="just"/>
            <a:r>
              <a:rPr lang="en-US" sz="3000" dirty="0"/>
              <a:t>The sign extend hardware converts signed 8-bit and 16-bit numbers to 32-bit values as they are read from memory and placed in a register</a:t>
            </a:r>
            <a:endParaRPr lang="en-IN" sz="3000" dirty="0"/>
          </a:p>
          <a:p>
            <a:pPr algn="just"/>
            <a:endParaRPr lang="en-IN" sz="3000" dirty="0"/>
          </a:p>
        </p:txBody>
      </p:sp>
    </p:spTree>
    <p:extLst>
      <p:ext uri="{BB962C8B-B14F-4D97-AF65-F5344CB8AC3E}">
        <p14:creationId xmlns:p14="http://schemas.microsoft.com/office/powerpoint/2010/main" val="4343767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C7F10B-9957-42D3-B936-C65DFC0CB689}"/>
              </a:ext>
            </a:extLst>
          </p:cNvPr>
          <p:cNvSpPr>
            <a:spLocks noGrp="1"/>
          </p:cNvSpPr>
          <p:nvPr>
            <p:ph idx="1"/>
          </p:nvPr>
        </p:nvSpPr>
        <p:spPr/>
        <p:txBody>
          <a:bodyPr>
            <a:normAutofit/>
          </a:bodyPr>
          <a:lstStyle/>
          <a:p>
            <a:pPr lvl="0" algn="just"/>
            <a:r>
              <a:rPr lang="en-US" sz="3000" dirty="0"/>
              <a:t>ARM instructions typically have two </a:t>
            </a:r>
            <a:r>
              <a:rPr lang="en-US" sz="3000" i="1" dirty="0"/>
              <a:t>source registers</a:t>
            </a:r>
            <a:r>
              <a:rPr lang="en-US" sz="3000" dirty="0"/>
              <a:t>, </a:t>
            </a:r>
            <a:r>
              <a:rPr lang="en-US" sz="3000" i="1" dirty="0"/>
              <a:t>Rn</a:t>
            </a:r>
            <a:r>
              <a:rPr lang="en-US" sz="3000" dirty="0"/>
              <a:t> and </a:t>
            </a:r>
            <a:r>
              <a:rPr lang="en-US" sz="3000" i="1" dirty="0"/>
              <a:t>Rm</a:t>
            </a:r>
            <a:r>
              <a:rPr lang="en-US" sz="3000" dirty="0"/>
              <a:t>, and a single result or </a:t>
            </a:r>
            <a:r>
              <a:rPr lang="en-US" sz="3000" i="1" dirty="0"/>
              <a:t>destination register</a:t>
            </a:r>
            <a:r>
              <a:rPr lang="en-US" sz="3000" dirty="0"/>
              <a:t>,</a:t>
            </a:r>
            <a:r>
              <a:rPr lang="en-US" sz="3000" i="1" dirty="0"/>
              <a:t> Rd</a:t>
            </a:r>
          </a:p>
          <a:p>
            <a:pPr lvl="0" algn="just"/>
            <a:endParaRPr lang="en-US" sz="3000" i="1" dirty="0"/>
          </a:p>
          <a:p>
            <a:pPr lvl="0" algn="just"/>
            <a:r>
              <a:rPr lang="en-US" sz="3000" dirty="0"/>
              <a:t>Source operands are read from the register file using the internal buses</a:t>
            </a:r>
            <a:r>
              <a:rPr lang="en-US" sz="3000" i="1" dirty="0"/>
              <a:t> </a:t>
            </a:r>
            <a:r>
              <a:rPr lang="en-US" sz="3000" dirty="0"/>
              <a:t>A and B, respectively</a:t>
            </a:r>
            <a:endParaRPr lang="en-IN" sz="3000" dirty="0"/>
          </a:p>
          <a:p>
            <a:pPr algn="just"/>
            <a:endParaRPr lang="en-IN" sz="3000" dirty="0"/>
          </a:p>
        </p:txBody>
      </p:sp>
    </p:spTree>
    <p:extLst>
      <p:ext uri="{BB962C8B-B14F-4D97-AF65-F5344CB8AC3E}">
        <p14:creationId xmlns:p14="http://schemas.microsoft.com/office/powerpoint/2010/main" val="2216816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B3D674-7ACC-440D-9117-05D84FB40C9B}"/>
              </a:ext>
            </a:extLst>
          </p:cNvPr>
          <p:cNvSpPr>
            <a:spLocks noGrp="1"/>
          </p:cNvSpPr>
          <p:nvPr>
            <p:ph idx="1"/>
          </p:nvPr>
        </p:nvSpPr>
        <p:spPr>
          <a:xfrm>
            <a:off x="457200" y="1763815"/>
            <a:ext cx="8229600" cy="4362349"/>
          </a:xfrm>
        </p:spPr>
        <p:txBody>
          <a:bodyPr>
            <a:normAutofit/>
          </a:bodyPr>
          <a:lstStyle/>
          <a:p>
            <a:pPr algn="just"/>
            <a:r>
              <a:rPr lang="en-US" sz="3000" dirty="0"/>
              <a:t>The </a:t>
            </a:r>
            <a:r>
              <a:rPr lang="en-US" sz="3000" i="1" dirty="0"/>
              <a:t>ALU (arithmetic logic unit)</a:t>
            </a:r>
            <a:r>
              <a:rPr lang="en-US" sz="3000" dirty="0"/>
              <a:t> or </a:t>
            </a:r>
            <a:r>
              <a:rPr lang="en-US" sz="3000" i="1" dirty="0"/>
              <a:t>MAC (multiply-accumulate unit)</a:t>
            </a:r>
            <a:r>
              <a:rPr lang="en-US" sz="3000" dirty="0"/>
              <a:t> takes the register values </a:t>
            </a:r>
            <a:r>
              <a:rPr lang="en-US" sz="3000" i="1" dirty="0"/>
              <a:t>Rn</a:t>
            </a:r>
            <a:r>
              <a:rPr lang="en-US" sz="3000" dirty="0"/>
              <a:t> and </a:t>
            </a:r>
            <a:r>
              <a:rPr lang="en-US" sz="3000" i="1" dirty="0"/>
              <a:t>Rm</a:t>
            </a:r>
            <a:r>
              <a:rPr lang="en-US" sz="3000" dirty="0"/>
              <a:t> from the A and B buses and computes a result</a:t>
            </a:r>
          </a:p>
          <a:p>
            <a:pPr algn="just"/>
            <a:endParaRPr lang="en-US" sz="3000" dirty="0"/>
          </a:p>
          <a:p>
            <a:pPr algn="just"/>
            <a:r>
              <a:rPr lang="en-US" sz="3000" dirty="0"/>
              <a:t>Data processing instructions write the result in </a:t>
            </a:r>
            <a:r>
              <a:rPr lang="en-US" sz="3000" i="1" dirty="0"/>
              <a:t>Rd</a:t>
            </a:r>
            <a:r>
              <a:rPr lang="en-US" sz="3000" dirty="0"/>
              <a:t> directly to the register file</a:t>
            </a:r>
            <a:endParaRPr lang="en-IN" sz="3000" dirty="0"/>
          </a:p>
          <a:p>
            <a:pPr algn="just"/>
            <a:endParaRPr lang="en-IN" sz="3000" dirty="0"/>
          </a:p>
        </p:txBody>
      </p:sp>
    </p:spTree>
    <p:extLst>
      <p:ext uri="{BB962C8B-B14F-4D97-AF65-F5344CB8AC3E}">
        <p14:creationId xmlns:p14="http://schemas.microsoft.com/office/powerpoint/2010/main" val="28142781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8115A2-69A2-44E2-97B6-E517721B83C0}"/>
              </a:ext>
            </a:extLst>
          </p:cNvPr>
          <p:cNvSpPr>
            <a:spLocks noGrp="1"/>
          </p:cNvSpPr>
          <p:nvPr>
            <p:ph idx="1"/>
          </p:nvPr>
        </p:nvSpPr>
        <p:spPr>
          <a:xfrm>
            <a:off x="457200" y="1043735"/>
            <a:ext cx="8229600" cy="5082430"/>
          </a:xfrm>
        </p:spPr>
        <p:txBody>
          <a:bodyPr>
            <a:normAutofit/>
          </a:bodyPr>
          <a:lstStyle/>
          <a:p>
            <a:pPr lvl="0" algn="just"/>
            <a:r>
              <a:rPr lang="en-US" sz="2800" dirty="0"/>
              <a:t>Load and store instructions use the ALU to generate an address to be held in the address register and broadcast on the Address bus</a:t>
            </a:r>
          </a:p>
          <a:p>
            <a:pPr lvl="0" algn="just"/>
            <a:endParaRPr lang="en-IN" sz="2800" dirty="0"/>
          </a:p>
          <a:p>
            <a:pPr algn="just"/>
            <a:r>
              <a:rPr lang="en-US" sz="2800" dirty="0"/>
              <a:t>One important feature of the ARM is that register </a:t>
            </a:r>
            <a:r>
              <a:rPr lang="en-US" sz="2800" i="1" dirty="0"/>
              <a:t>Rm</a:t>
            </a:r>
            <a:r>
              <a:rPr lang="en-US" sz="2800" dirty="0"/>
              <a:t> alternatively can be preprocessed in the barrel shifter before it enters the ALU</a:t>
            </a:r>
          </a:p>
          <a:p>
            <a:pPr algn="just"/>
            <a:endParaRPr lang="en-US" sz="2800" dirty="0"/>
          </a:p>
          <a:p>
            <a:pPr algn="just"/>
            <a:r>
              <a:rPr lang="en-US" sz="2800" dirty="0"/>
              <a:t>Together the barrel shifter and ALU can calculate a wide range of expressions and addresses</a:t>
            </a:r>
            <a:endParaRPr lang="en-IN" sz="2800" dirty="0"/>
          </a:p>
        </p:txBody>
      </p:sp>
    </p:spTree>
    <p:extLst>
      <p:ext uri="{BB962C8B-B14F-4D97-AF65-F5344CB8AC3E}">
        <p14:creationId xmlns:p14="http://schemas.microsoft.com/office/powerpoint/2010/main" val="25356479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B03BBD-1FA5-444A-9EC6-E28429E1444F}"/>
              </a:ext>
            </a:extLst>
          </p:cNvPr>
          <p:cNvSpPr>
            <a:spLocks noGrp="1"/>
          </p:cNvSpPr>
          <p:nvPr>
            <p:ph idx="1"/>
          </p:nvPr>
        </p:nvSpPr>
        <p:spPr>
          <a:xfrm>
            <a:off x="457200" y="1133745"/>
            <a:ext cx="8229600" cy="4992419"/>
          </a:xfrm>
        </p:spPr>
        <p:txBody>
          <a:bodyPr>
            <a:normAutofit/>
          </a:bodyPr>
          <a:lstStyle/>
          <a:p>
            <a:pPr lvl="0" algn="just"/>
            <a:r>
              <a:rPr lang="en-US" sz="2600" dirty="0"/>
              <a:t>After passing through the functional units, the result in </a:t>
            </a:r>
            <a:r>
              <a:rPr lang="en-US" sz="2600" i="1" dirty="0"/>
              <a:t>Rd</a:t>
            </a:r>
            <a:r>
              <a:rPr lang="en-US" sz="2600" dirty="0"/>
              <a:t> is written back to the register file using the </a:t>
            </a:r>
            <a:r>
              <a:rPr lang="en-US" sz="2600" i="1" dirty="0"/>
              <a:t>Result bus</a:t>
            </a:r>
            <a:endParaRPr lang="en-IN" sz="2600" dirty="0"/>
          </a:p>
          <a:p>
            <a:pPr algn="just"/>
            <a:endParaRPr lang="en-IN" sz="2600" dirty="0"/>
          </a:p>
          <a:p>
            <a:pPr lvl="0" algn="just"/>
            <a:r>
              <a:rPr lang="en-US" sz="2600" dirty="0"/>
              <a:t>For load and store instructions the </a:t>
            </a:r>
            <a:r>
              <a:rPr lang="en-US" sz="2600" i="1" dirty="0" err="1"/>
              <a:t>Incrementer</a:t>
            </a:r>
            <a:r>
              <a:rPr lang="en-US" sz="2600" dirty="0"/>
              <a:t> updates the address register before the core reads or writes the next register value from or to the next sequential memory location</a:t>
            </a:r>
          </a:p>
          <a:p>
            <a:pPr lvl="0" algn="just"/>
            <a:endParaRPr lang="en-IN" sz="2600" dirty="0"/>
          </a:p>
          <a:p>
            <a:pPr algn="just"/>
            <a:r>
              <a:rPr lang="en-US" sz="2600" dirty="0"/>
              <a:t>The processor continues executing instructions until an exception or interrupt changes the normal execution flow</a:t>
            </a:r>
            <a:endParaRPr lang="en-IN" sz="2600" dirty="0"/>
          </a:p>
        </p:txBody>
      </p:sp>
    </p:spTree>
    <p:extLst>
      <p:ext uri="{BB962C8B-B14F-4D97-AF65-F5344CB8AC3E}">
        <p14:creationId xmlns:p14="http://schemas.microsoft.com/office/powerpoint/2010/main" val="6238877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5AAE29-11D4-4CA8-A4B6-F92F77BDFE58}"/>
              </a:ext>
            </a:extLst>
          </p:cNvPr>
          <p:cNvSpPr>
            <a:spLocks noGrp="1"/>
          </p:cNvSpPr>
          <p:nvPr>
            <p:ph idx="1"/>
          </p:nvPr>
        </p:nvSpPr>
        <p:spPr>
          <a:xfrm>
            <a:off x="206514" y="998730"/>
            <a:ext cx="6075675" cy="5310590"/>
          </a:xfrm>
        </p:spPr>
        <p:txBody>
          <a:bodyPr>
            <a:normAutofit lnSpcReduction="10000"/>
          </a:bodyPr>
          <a:lstStyle/>
          <a:p>
            <a:pPr algn="just"/>
            <a:r>
              <a:rPr lang="en-US" sz="2600" dirty="0"/>
              <a:t>General-purpose registers hold either data or an address</a:t>
            </a:r>
          </a:p>
          <a:p>
            <a:pPr algn="just"/>
            <a:endParaRPr lang="en-US" sz="2600" dirty="0"/>
          </a:p>
          <a:p>
            <a:pPr algn="just"/>
            <a:r>
              <a:rPr lang="en-US" sz="2600" dirty="0"/>
              <a:t>They are identified with the letter </a:t>
            </a:r>
            <a:r>
              <a:rPr lang="en-US" sz="2600" i="1" dirty="0"/>
              <a:t>r</a:t>
            </a:r>
            <a:r>
              <a:rPr lang="en-US" sz="2600" dirty="0"/>
              <a:t> prefixed to the register number</a:t>
            </a:r>
          </a:p>
          <a:p>
            <a:pPr algn="just"/>
            <a:endParaRPr lang="en-US" sz="2600" dirty="0"/>
          </a:p>
          <a:p>
            <a:pPr algn="just"/>
            <a:r>
              <a:rPr lang="en-US" sz="2600" dirty="0"/>
              <a:t>For example, register 4 is given the label </a:t>
            </a:r>
            <a:r>
              <a:rPr lang="en-US" sz="2600" i="1" dirty="0"/>
              <a:t>r4</a:t>
            </a:r>
          </a:p>
          <a:p>
            <a:pPr algn="just"/>
            <a:endParaRPr lang="en-US" sz="2600" i="1" dirty="0"/>
          </a:p>
          <a:p>
            <a:pPr algn="just"/>
            <a:r>
              <a:rPr lang="en-US" sz="2600" dirty="0"/>
              <a:t>The Figure shows the active registers available in user mode. (A protected mode is normally used when executing applications).</a:t>
            </a:r>
            <a:endParaRPr lang="en-IN" sz="2600" dirty="0"/>
          </a:p>
        </p:txBody>
      </p:sp>
      <p:sp>
        <p:nvSpPr>
          <p:cNvPr id="3" name="Rectangle 2">
            <a:extLst>
              <a:ext uri="{FF2B5EF4-FFF2-40B4-BE49-F238E27FC236}">
                <a16:creationId xmlns:a16="http://schemas.microsoft.com/office/drawing/2014/main" id="{BAA3520D-31E4-4325-82F3-8C3AC4E7049D}"/>
              </a:ext>
            </a:extLst>
          </p:cNvPr>
          <p:cNvSpPr/>
          <p:nvPr/>
        </p:nvSpPr>
        <p:spPr>
          <a:xfrm>
            <a:off x="161510" y="188640"/>
            <a:ext cx="1947969"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REGISTERS</a:t>
            </a:r>
            <a:endParaRPr lang="en-IN" sz="2400" dirty="0">
              <a:solidFill>
                <a:srgbClr val="FF0000"/>
              </a:solidFill>
            </a:endParaRPr>
          </a:p>
        </p:txBody>
      </p:sp>
      <p:pic>
        <p:nvPicPr>
          <p:cNvPr id="3074" name="Picture 2">
            <a:extLst>
              <a:ext uri="{FF2B5EF4-FFF2-40B4-BE49-F238E27FC236}">
                <a16:creationId xmlns:a16="http://schemas.microsoft.com/office/drawing/2014/main" id="{7A73507A-BC13-4294-B6D0-6F91CAC412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431" r="1150" b="15869"/>
          <a:stretch/>
        </p:blipFill>
        <p:spPr bwMode="auto">
          <a:xfrm>
            <a:off x="7034019" y="863715"/>
            <a:ext cx="1903467" cy="5805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9117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5537B6-25FB-4844-AB80-05914338C085}"/>
              </a:ext>
            </a:extLst>
          </p:cNvPr>
          <p:cNvSpPr>
            <a:spLocks noGrp="1"/>
          </p:cNvSpPr>
          <p:nvPr>
            <p:ph idx="1"/>
          </p:nvPr>
        </p:nvSpPr>
        <p:spPr>
          <a:xfrm>
            <a:off x="457200" y="1043735"/>
            <a:ext cx="8229600" cy="5082430"/>
          </a:xfrm>
        </p:spPr>
        <p:txBody>
          <a:bodyPr>
            <a:normAutofit fontScale="92500" lnSpcReduction="20000"/>
          </a:bodyPr>
          <a:lstStyle/>
          <a:p>
            <a:pPr lvl="0" algn="just"/>
            <a:r>
              <a:rPr lang="en-US" dirty="0"/>
              <a:t>The processor can operate in seven different modes</a:t>
            </a:r>
            <a:endParaRPr lang="en-IN" dirty="0"/>
          </a:p>
          <a:p>
            <a:pPr algn="just"/>
            <a:endParaRPr lang="en-IN" dirty="0"/>
          </a:p>
          <a:p>
            <a:pPr lvl="0" algn="just"/>
            <a:r>
              <a:rPr lang="en-US" dirty="0"/>
              <a:t>All the registers shown are 32 bits in size</a:t>
            </a:r>
            <a:endParaRPr lang="en-IN" dirty="0"/>
          </a:p>
          <a:p>
            <a:pPr algn="just"/>
            <a:endParaRPr lang="en-IN" dirty="0"/>
          </a:p>
          <a:p>
            <a:pPr lvl="0" algn="just"/>
            <a:r>
              <a:rPr lang="en-US" dirty="0"/>
              <a:t>There are up to 18 active registers:</a:t>
            </a:r>
            <a:endParaRPr lang="en-IN" dirty="0"/>
          </a:p>
          <a:p>
            <a:pPr algn="just"/>
            <a:endParaRPr lang="en-IN" dirty="0"/>
          </a:p>
          <a:p>
            <a:pPr lvl="1" algn="just"/>
            <a:r>
              <a:rPr lang="en-US" dirty="0"/>
              <a:t>16 data registers and 2 processor status registers</a:t>
            </a:r>
            <a:endParaRPr lang="en-IN" dirty="0"/>
          </a:p>
          <a:p>
            <a:pPr marL="0" indent="0" algn="just">
              <a:buNone/>
            </a:pPr>
            <a:endParaRPr lang="en-IN" dirty="0"/>
          </a:p>
          <a:p>
            <a:pPr lvl="1" algn="just"/>
            <a:r>
              <a:rPr lang="en-US" dirty="0"/>
              <a:t>The data registers visible to the programmer are </a:t>
            </a:r>
            <a:r>
              <a:rPr lang="en-US" i="1" dirty="0"/>
              <a:t>r0</a:t>
            </a:r>
            <a:r>
              <a:rPr lang="en-US" dirty="0"/>
              <a:t> to </a:t>
            </a:r>
            <a:r>
              <a:rPr lang="en-US" i="1" dirty="0"/>
              <a:t>r15</a:t>
            </a:r>
            <a:endParaRPr lang="en-IN" dirty="0"/>
          </a:p>
        </p:txBody>
      </p:sp>
    </p:spTree>
    <p:extLst>
      <p:ext uri="{BB962C8B-B14F-4D97-AF65-F5344CB8AC3E}">
        <p14:creationId xmlns:p14="http://schemas.microsoft.com/office/powerpoint/2010/main" val="28710915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5E9851-6C43-4D38-9461-018EFB911563}"/>
              </a:ext>
            </a:extLst>
          </p:cNvPr>
          <p:cNvSpPr>
            <a:spLocks noGrp="1"/>
          </p:cNvSpPr>
          <p:nvPr>
            <p:ph idx="1"/>
          </p:nvPr>
        </p:nvSpPr>
        <p:spPr>
          <a:xfrm>
            <a:off x="457200" y="1808820"/>
            <a:ext cx="8229600" cy="4317344"/>
          </a:xfrm>
        </p:spPr>
        <p:txBody>
          <a:bodyPr>
            <a:normAutofit/>
          </a:bodyPr>
          <a:lstStyle/>
          <a:p>
            <a:pPr lvl="0" algn="just"/>
            <a:r>
              <a:rPr lang="en-US" sz="3000" dirty="0"/>
              <a:t>The ARM processor has three registers assigned to a particular task or special function: </a:t>
            </a:r>
            <a:r>
              <a:rPr lang="en-US" sz="3000" i="1" dirty="0"/>
              <a:t>r13</a:t>
            </a:r>
            <a:r>
              <a:rPr lang="en-US" sz="3000" dirty="0"/>
              <a:t>, </a:t>
            </a:r>
            <a:r>
              <a:rPr lang="en-US" sz="3000" i="1" dirty="0"/>
              <a:t>r14</a:t>
            </a:r>
            <a:r>
              <a:rPr lang="en-US" sz="3000" dirty="0"/>
              <a:t>, and </a:t>
            </a:r>
            <a:r>
              <a:rPr lang="en-US" sz="3000" i="1" dirty="0"/>
              <a:t>r15</a:t>
            </a:r>
          </a:p>
          <a:p>
            <a:pPr lvl="0" algn="just"/>
            <a:endParaRPr lang="en-US" sz="3000" i="1" dirty="0"/>
          </a:p>
          <a:p>
            <a:pPr lvl="0" algn="just"/>
            <a:r>
              <a:rPr lang="en-US" sz="3000" dirty="0"/>
              <a:t>They are given with different labels to differentiate them from the other registers</a:t>
            </a:r>
            <a:endParaRPr lang="en-IN" sz="3000" dirty="0"/>
          </a:p>
          <a:p>
            <a:pPr algn="just"/>
            <a:endParaRPr lang="en-IN" sz="3000" dirty="0"/>
          </a:p>
        </p:txBody>
      </p:sp>
    </p:spTree>
    <p:extLst>
      <p:ext uri="{BB962C8B-B14F-4D97-AF65-F5344CB8AC3E}">
        <p14:creationId xmlns:p14="http://schemas.microsoft.com/office/powerpoint/2010/main" val="4815196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7D1C01-0C3A-43E1-A141-B152CE72060E}"/>
              </a:ext>
            </a:extLst>
          </p:cNvPr>
          <p:cNvSpPr>
            <a:spLocks noGrp="1"/>
          </p:cNvSpPr>
          <p:nvPr>
            <p:ph idx="1"/>
          </p:nvPr>
        </p:nvSpPr>
        <p:spPr>
          <a:xfrm>
            <a:off x="457200" y="998730"/>
            <a:ext cx="8229600" cy="5127435"/>
          </a:xfrm>
        </p:spPr>
        <p:txBody>
          <a:bodyPr>
            <a:noAutofit/>
          </a:bodyPr>
          <a:lstStyle/>
          <a:p>
            <a:pPr algn="just"/>
            <a:r>
              <a:rPr lang="en-US" sz="2800" i="1" dirty="0"/>
              <a:t>Register r13</a:t>
            </a:r>
            <a:r>
              <a:rPr lang="en-US" sz="2800" dirty="0"/>
              <a:t> is traditionally used as the </a:t>
            </a:r>
            <a:r>
              <a:rPr lang="en-US" sz="2800" b="1" i="1" dirty="0"/>
              <a:t>stack pointer (</a:t>
            </a:r>
            <a:r>
              <a:rPr lang="en-US" sz="2800" b="1" i="1" dirty="0" err="1"/>
              <a:t>sp</a:t>
            </a:r>
            <a:r>
              <a:rPr lang="en-US" sz="2800" b="1" i="1" dirty="0"/>
              <a:t>)</a:t>
            </a:r>
            <a:r>
              <a:rPr lang="en-US" sz="2800" dirty="0"/>
              <a:t> and stores the head of the stack in the current processor mode</a:t>
            </a:r>
          </a:p>
          <a:p>
            <a:pPr algn="just"/>
            <a:endParaRPr lang="en-IN" sz="2800" dirty="0"/>
          </a:p>
          <a:p>
            <a:pPr algn="just"/>
            <a:r>
              <a:rPr lang="en-US" sz="2800" i="1" dirty="0"/>
              <a:t>Register r14</a:t>
            </a:r>
            <a:r>
              <a:rPr lang="en-US" sz="2800" dirty="0"/>
              <a:t> is called the </a:t>
            </a:r>
            <a:r>
              <a:rPr lang="en-US" sz="2800" b="1" i="1" dirty="0"/>
              <a:t>link register (</a:t>
            </a:r>
            <a:r>
              <a:rPr lang="en-US" sz="2800" b="1" i="1" dirty="0" err="1"/>
              <a:t>lr</a:t>
            </a:r>
            <a:r>
              <a:rPr lang="en-US" sz="2800" b="1" i="1" dirty="0"/>
              <a:t>)</a:t>
            </a:r>
            <a:r>
              <a:rPr lang="en-US" sz="2800" dirty="0"/>
              <a:t> and is where the core puts the return address whenever it calls a subroutine</a:t>
            </a:r>
          </a:p>
          <a:p>
            <a:pPr algn="just"/>
            <a:endParaRPr lang="en-IN" sz="2800" dirty="0"/>
          </a:p>
          <a:p>
            <a:pPr algn="just"/>
            <a:r>
              <a:rPr lang="en-US" sz="2800" i="1" dirty="0"/>
              <a:t>Register r15</a:t>
            </a:r>
            <a:r>
              <a:rPr lang="en-US" sz="2800" dirty="0"/>
              <a:t> is the </a:t>
            </a:r>
            <a:r>
              <a:rPr lang="en-US" sz="2800" b="1" i="1" dirty="0"/>
              <a:t>program counter (pc)</a:t>
            </a:r>
            <a:r>
              <a:rPr lang="en-US" sz="2800" dirty="0"/>
              <a:t> and contains the address of the next instruction to be fetched by the processor</a:t>
            </a:r>
            <a:endParaRPr lang="en-IN" sz="2800" dirty="0"/>
          </a:p>
          <a:p>
            <a:pPr algn="just"/>
            <a:endParaRPr lang="en-IN" sz="2800" dirty="0"/>
          </a:p>
        </p:txBody>
      </p:sp>
    </p:spTree>
    <p:extLst>
      <p:ext uri="{BB962C8B-B14F-4D97-AF65-F5344CB8AC3E}">
        <p14:creationId xmlns:p14="http://schemas.microsoft.com/office/powerpoint/2010/main" val="25629433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7DA108-826B-40E0-B864-7024EEE87781}"/>
              </a:ext>
            </a:extLst>
          </p:cNvPr>
          <p:cNvSpPr>
            <a:spLocks noGrp="1"/>
          </p:cNvSpPr>
          <p:nvPr>
            <p:ph idx="1"/>
          </p:nvPr>
        </p:nvSpPr>
        <p:spPr>
          <a:xfrm>
            <a:off x="457200" y="1538790"/>
            <a:ext cx="8229600" cy="4587374"/>
          </a:xfrm>
        </p:spPr>
        <p:txBody>
          <a:bodyPr>
            <a:normAutofit/>
          </a:bodyPr>
          <a:lstStyle/>
          <a:p>
            <a:pPr lvl="0" algn="just"/>
            <a:r>
              <a:rPr lang="en-US" sz="2800" dirty="0"/>
              <a:t>In ARM state the registers </a:t>
            </a:r>
            <a:r>
              <a:rPr lang="en-US" sz="2800" i="1" dirty="0"/>
              <a:t>r0</a:t>
            </a:r>
            <a:r>
              <a:rPr lang="en-US" sz="2800" dirty="0"/>
              <a:t> to </a:t>
            </a:r>
            <a:r>
              <a:rPr lang="en-US" sz="2800" i="1" dirty="0"/>
              <a:t>r13</a:t>
            </a:r>
            <a:r>
              <a:rPr lang="en-US" sz="2800" dirty="0"/>
              <a:t> are orthogonal - any instruction that you can apply to </a:t>
            </a:r>
            <a:r>
              <a:rPr lang="en-US" sz="2800" i="1" dirty="0"/>
              <a:t>r0</a:t>
            </a:r>
            <a:r>
              <a:rPr lang="en-US" sz="2800" dirty="0"/>
              <a:t> you can equally well apply to any of the other registers</a:t>
            </a:r>
            <a:endParaRPr lang="en-IN" sz="2800" dirty="0"/>
          </a:p>
          <a:p>
            <a:pPr algn="just"/>
            <a:endParaRPr lang="en-IN" sz="2800" dirty="0"/>
          </a:p>
          <a:p>
            <a:pPr algn="just"/>
            <a:r>
              <a:rPr lang="en-US" sz="2800" dirty="0"/>
              <a:t>In addition to the 16 data registers, there are two program status registers: </a:t>
            </a:r>
            <a:r>
              <a:rPr lang="en-US" sz="2800" b="1" i="1" dirty="0"/>
              <a:t>cpsr (current program</a:t>
            </a:r>
            <a:r>
              <a:rPr lang="en-US" sz="2800" dirty="0"/>
              <a:t> </a:t>
            </a:r>
            <a:r>
              <a:rPr lang="en-US" sz="2800" b="1" i="1" dirty="0"/>
              <a:t>status register) </a:t>
            </a:r>
            <a:r>
              <a:rPr lang="en-US" sz="2800" dirty="0"/>
              <a:t>and</a:t>
            </a:r>
            <a:r>
              <a:rPr lang="en-US" sz="2800" b="1" i="1" dirty="0"/>
              <a:t> </a:t>
            </a:r>
            <a:r>
              <a:rPr lang="en-US" sz="2800" b="1" i="1" dirty="0" err="1"/>
              <a:t>spsr</a:t>
            </a:r>
            <a:r>
              <a:rPr lang="en-US" sz="2800" b="1" i="1" dirty="0"/>
              <a:t> (saved program status register)</a:t>
            </a:r>
            <a:endParaRPr lang="en-IN" sz="2800" dirty="0"/>
          </a:p>
        </p:txBody>
      </p:sp>
    </p:spTree>
    <p:extLst>
      <p:ext uri="{BB962C8B-B14F-4D97-AF65-F5344CB8AC3E}">
        <p14:creationId xmlns:p14="http://schemas.microsoft.com/office/powerpoint/2010/main" val="4178947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15614E-852D-40BE-A392-98B73DDFCF3B}"/>
              </a:ext>
            </a:extLst>
          </p:cNvPr>
          <p:cNvSpPr>
            <a:spLocks noGrp="1"/>
          </p:cNvSpPr>
          <p:nvPr>
            <p:ph idx="1"/>
          </p:nvPr>
        </p:nvSpPr>
        <p:spPr>
          <a:xfrm>
            <a:off x="457200" y="1808820"/>
            <a:ext cx="8229600" cy="4317344"/>
          </a:xfrm>
        </p:spPr>
        <p:txBody>
          <a:bodyPr>
            <a:normAutofit/>
          </a:bodyPr>
          <a:lstStyle/>
          <a:p>
            <a:pPr algn="just"/>
            <a:r>
              <a:rPr lang="en-US" sz="3000" dirty="0"/>
              <a:t>The ARM core uses the </a:t>
            </a:r>
            <a:r>
              <a:rPr lang="en-US" sz="3000" i="1" dirty="0"/>
              <a:t>cpsr</a:t>
            </a:r>
            <a:r>
              <a:rPr lang="en-US" sz="3000" dirty="0"/>
              <a:t> to monitor and control internal operations</a:t>
            </a:r>
          </a:p>
          <a:p>
            <a:pPr algn="just"/>
            <a:endParaRPr lang="en-US" sz="3000" dirty="0"/>
          </a:p>
          <a:p>
            <a:pPr algn="just"/>
            <a:r>
              <a:rPr lang="en-US" sz="3000" dirty="0"/>
              <a:t>The </a:t>
            </a:r>
            <a:r>
              <a:rPr lang="en-US" sz="3000" i="1" dirty="0"/>
              <a:t>cpsr</a:t>
            </a:r>
            <a:r>
              <a:rPr lang="en-US" sz="3000" dirty="0"/>
              <a:t> is a dedicated 32-bit register and resides in the register file</a:t>
            </a:r>
            <a:endParaRPr lang="en-IN" sz="3000" dirty="0"/>
          </a:p>
        </p:txBody>
      </p:sp>
      <p:sp>
        <p:nvSpPr>
          <p:cNvPr id="3" name="Rectangle 2">
            <a:extLst>
              <a:ext uri="{FF2B5EF4-FFF2-40B4-BE49-F238E27FC236}">
                <a16:creationId xmlns:a16="http://schemas.microsoft.com/office/drawing/2014/main" id="{1F453DCA-2A56-4E62-8B0B-C56DC3426321}"/>
              </a:ext>
            </a:extLst>
          </p:cNvPr>
          <p:cNvSpPr/>
          <p:nvPr/>
        </p:nvSpPr>
        <p:spPr>
          <a:xfrm>
            <a:off x="-288540" y="348592"/>
            <a:ext cx="6120680" cy="369332"/>
          </a:xfrm>
          <a:prstGeom prst="rect">
            <a:avLst/>
          </a:prstGeom>
        </p:spPr>
        <p:txBody>
          <a:bodyPr wrap="square">
            <a:spAutoFit/>
          </a:bodyPr>
          <a:lstStyle/>
          <a:p>
            <a:pPr marL="406400">
              <a:spcAft>
                <a:spcPts val="0"/>
              </a:spcAft>
            </a:pPr>
            <a:r>
              <a:rPr lang="en-US"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CURRENT PROGRAM STATUS REGISTER</a:t>
            </a:r>
            <a:endParaRPr lang="en-IN" sz="14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1604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04265F-8B2E-4120-895B-5C0E3B92CAAB}"/>
              </a:ext>
            </a:extLst>
          </p:cNvPr>
          <p:cNvSpPr>
            <a:spLocks noGrp="1"/>
          </p:cNvSpPr>
          <p:nvPr>
            <p:ph idx="1"/>
          </p:nvPr>
        </p:nvSpPr>
        <p:spPr>
          <a:xfrm>
            <a:off x="206515" y="683695"/>
            <a:ext cx="8640959" cy="5442469"/>
          </a:xfrm>
        </p:spPr>
        <p:txBody>
          <a:bodyPr>
            <a:normAutofit/>
          </a:bodyPr>
          <a:lstStyle/>
          <a:p>
            <a:pPr algn="just"/>
            <a:r>
              <a:rPr lang="en-US" sz="2600" dirty="0"/>
              <a:t>The following Figure shows the basic layout of a generic program status register</a:t>
            </a:r>
          </a:p>
          <a:p>
            <a:pPr algn="just"/>
            <a:endParaRPr lang="en-US" sz="2600" dirty="0"/>
          </a:p>
          <a:p>
            <a:pPr algn="just"/>
            <a:r>
              <a:rPr lang="en-US" sz="2600" dirty="0"/>
              <a:t>Note that the shaded parts are reserved for future expansion</a:t>
            </a:r>
            <a:endParaRPr lang="en-IN" sz="2600" dirty="0"/>
          </a:p>
        </p:txBody>
      </p:sp>
      <p:pic>
        <p:nvPicPr>
          <p:cNvPr id="3" name="Picture 2">
            <a:extLst>
              <a:ext uri="{FF2B5EF4-FFF2-40B4-BE49-F238E27FC236}">
                <a16:creationId xmlns:a16="http://schemas.microsoft.com/office/drawing/2014/main" id="{2056E51A-4849-4EC4-92B1-5CAF8B653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23956"/>
            <a:ext cx="9144000" cy="38340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424691F-371D-439C-825D-59FC6C275D50}"/>
              </a:ext>
            </a:extLst>
          </p:cNvPr>
          <p:cNvSpPr/>
          <p:nvPr/>
        </p:nvSpPr>
        <p:spPr>
          <a:xfrm>
            <a:off x="2276745" y="6321800"/>
            <a:ext cx="4196726"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A Generic Program Status Register (</a:t>
            </a:r>
            <a:r>
              <a:rPr lang="en-US" b="1" dirty="0" err="1">
                <a:latin typeface="Times New Roman" panose="02020603050405020304" pitchFamily="18" charset="0"/>
                <a:ea typeface="Times New Roman" panose="02020603050405020304" pitchFamily="18" charset="0"/>
                <a:cs typeface="Arial" panose="020B0604020202020204" pitchFamily="34" charset="0"/>
              </a:rPr>
              <a:t>psr</a:t>
            </a:r>
            <a:r>
              <a:rPr lang="en-US" b="1" dirty="0">
                <a:latin typeface="Times New Roman" panose="020206030504050203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17058533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45E9A5-16B7-4A8F-BD3F-ED2AA6CF54E9}"/>
              </a:ext>
            </a:extLst>
          </p:cNvPr>
          <p:cNvSpPr>
            <a:spLocks noGrp="1"/>
          </p:cNvSpPr>
          <p:nvPr>
            <p:ph idx="1"/>
          </p:nvPr>
        </p:nvSpPr>
        <p:spPr>
          <a:xfrm>
            <a:off x="457200" y="1043735"/>
            <a:ext cx="8229600" cy="5082429"/>
          </a:xfrm>
        </p:spPr>
        <p:txBody>
          <a:bodyPr>
            <a:normAutofit/>
          </a:bodyPr>
          <a:lstStyle/>
          <a:p>
            <a:pPr algn="just"/>
            <a:r>
              <a:rPr lang="en-US" sz="2800" dirty="0"/>
              <a:t>The </a:t>
            </a:r>
            <a:r>
              <a:rPr lang="en-US" sz="2800" i="1" dirty="0"/>
              <a:t>cpsr</a:t>
            </a:r>
            <a:r>
              <a:rPr lang="en-US" sz="2800" dirty="0"/>
              <a:t> is divided into four fields, each 8 bits wide: </a:t>
            </a:r>
            <a:r>
              <a:rPr lang="en-US" sz="2800" i="1" dirty="0"/>
              <a:t>flags</a:t>
            </a:r>
            <a:r>
              <a:rPr lang="en-US" sz="2800" dirty="0"/>
              <a:t>, </a:t>
            </a:r>
            <a:r>
              <a:rPr lang="en-US" sz="2800" i="1" dirty="0"/>
              <a:t>status</a:t>
            </a:r>
            <a:r>
              <a:rPr lang="en-US" sz="2800" dirty="0"/>
              <a:t>, </a:t>
            </a:r>
            <a:r>
              <a:rPr lang="en-US" sz="2800" i="1" dirty="0"/>
              <a:t>extension</a:t>
            </a:r>
            <a:r>
              <a:rPr lang="en-US" sz="2800" dirty="0"/>
              <a:t>, and </a:t>
            </a:r>
            <a:r>
              <a:rPr lang="en-US" sz="2800" i="1" dirty="0"/>
              <a:t>control</a:t>
            </a:r>
          </a:p>
          <a:p>
            <a:pPr algn="just"/>
            <a:endParaRPr lang="en-US" sz="2800" i="1" dirty="0"/>
          </a:p>
          <a:p>
            <a:pPr algn="just"/>
            <a:r>
              <a:rPr lang="en-US" sz="2800" dirty="0"/>
              <a:t>In current designs the extension and status fields are reserved for future use</a:t>
            </a:r>
            <a:endParaRPr lang="en-IN" sz="2800" dirty="0"/>
          </a:p>
          <a:p>
            <a:pPr marL="0" indent="0" algn="just">
              <a:buNone/>
            </a:pPr>
            <a:r>
              <a:rPr lang="en-US" sz="2800" dirty="0"/>
              <a:t> </a:t>
            </a:r>
            <a:endParaRPr lang="en-IN" sz="2800" dirty="0"/>
          </a:p>
          <a:p>
            <a:pPr lvl="0" algn="just"/>
            <a:r>
              <a:rPr lang="en-US" sz="2800" dirty="0"/>
              <a:t>The </a:t>
            </a:r>
            <a:r>
              <a:rPr lang="en-US" sz="2800" b="1" i="1" dirty="0"/>
              <a:t>control field</a:t>
            </a:r>
            <a:r>
              <a:rPr lang="en-US" sz="2800" dirty="0"/>
              <a:t> contains the </a:t>
            </a:r>
            <a:r>
              <a:rPr lang="en-US" sz="2800" i="1" dirty="0"/>
              <a:t>processor mode</a:t>
            </a:r>
            <a:r>
              <a:rPr lang="en-US" sz="2800" dirty="0"/>
              <a:t>, </a:t>
            </a:r>
            <a:r>
              <a:rPr lang="en-US" sz="2800" i="1" dirty="0"/>
              <a:t>state</a:t>
            </a:r>
            <a:r>
              <a:rPr lang="en-US" sz="2800" dirty="0"/>
              <a:t>, and </a:t>
            </a:r>
            <a:r>
              <a:rPr lang="en-US" sz="2800" i="1" dirty="0"/>
              <a:t>interrupt mask</a:t>
            </a:r>
            <a:r>
              <a:rPr lang="en-US" sz="2800" dirty="0"/>
              <a:t> bits</a:t>
            </a:r>
            <a:endParaRPr lang="en-IN" sz="2800" dirty="0"/>
          </a:p>
          <a:p>
            <a:pPr algn="just"/>
            <a:endParaRPr lang="en-IN" sz="2800" dirty="0"/>
          </a:p>
          <a:p>
            <a:pPr lvl="0" algn="just"/>
            <a:r>
              <a:rPr lang="en-US" sz="2800" dirty="0"/>
              <a:t>The </a:t>
            </a:r>
            <a:r>
              <a:rPr lang="en-US" sz="2800" b="1" i="1" dirty="0"/>
              <a:t>flags field</a:t>
            </a:r>
            <a:r>
              <a:rPr lang="en-US" sz="2800" dirty="0"/>
              <a:t> contains the </a:t>
            </a:r>
            <a:r>
              <a:rPr lang="en-US" sz="2800" i="1" dirty="0"/>
              <a:t>condition flags</a:t>
            </a:r>
            <a:endParaRPr lang="en-IN" sz="2800" dirty="0"/>
          </a:p>
          <a:p>
            <a:pPr algn="just"/>
            <a:endParaRPr lang="en-IN" sz="2800" dirty="0"/>
          </a:p>
        </p:txBody>
      </p:sp>
    </p:spTree>
    <p:extLst>
      <p:ext uri="{BB962C8B-B14F-4D97-AF65-F5344CB8AC3E}">
        <p14:creationId xmlns:p14="http://schemas.microsoft.com/office/powerpoint/2010/main" val="9058039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9E831-2B30-484A-9860-F3AB57950627}"/>
              </a:ext>
            </a:extLst>
          </p:cNvPr>
          <p:cNvSpPr>
            <a:spLocks noGrp="1"/>
          </p:cNvSpPr>
          <p:nvPr>
            <p:ph idx="1"/>
          </p:nvPr>
        </p:nvSpPr>
        <p:spPr>
          <a:xfrm>
            <a:off x="457200" y="1268760"/>
            <a:ext cx="8229600" cy="4857404"/>
          </a:xfrm>
        </p:spPr>
        <p:txBody>
          <a:bodyPr>
            <a:normAutofit/>
          </a:bodyPr>
          <a:lstStyle/>
          <a:p>
            <a:pPr algn="just"/>
            <a:r>
              <a:rPr lang="en-US" sz="2800" dirty="0"/>
              <a:t>Some ARM processor cores have extra bits allocated</a:t>
            </a:r>
          </a:p>
          <a:p>
            <a:pPr algn="just"/>
            <a:endParaRPr lang="en-US" sz="2800" dirty="0"/>
          </a:p>
          <a:p>
            <a:pPr algn="just"/>
            <a:r>
              <a:rPr lang="en-US" sz="2800" dirty="0"/>
              <a:t>For example, the </a:t>
            </a:r>
            <a:r>
              <a:rPr lang="en-US" sz="2800" i="1" dirty="0"/>
              <a:t>J bit</a:t>
            </a:r>
            <a:r>
              <a:rPr lang="en-US" sz="2800" dirty="0"/>
              <a:t>, which can be found in the flags field, is only available on </a:t>
            </a:r>
            <a:r>
              <a:rPr lang="en-US" sz="2800" i="1" dirty="0"/>
              <a:t>Jazelle-enabled processors</a:t>
            </a:r>
            <a:r>
              <a:rPr lang="en-US" sz="2800" dirty="0"/>
              <a:t>, which execute 8-bit instructions</a:t>
            </a:r>
            <a:endParaRPr lang="en-IN" sz="2800" dirty="0"/>
          </a:p>
          <a:p>
            <a:pPr algn="just"/>
            <a:endParaRPr lang="en-IN" sz="2800" dirty="0"/>
          </a:p>
          <a:p>
            <a:pPr algn="just"/>
            <a:r>
              <a:rPr lang="en-US" sz="2800" dirty="0"/>
              <a:t>It is highly probable that future designs will assign extra bits for the monitoring and control of new features</a:t>
            </a:r>
            <a:endParaRPr lang="en-IN" sz="2800" dirty="0"/>
          </a:p>
        </p:txBody>
      </p:sp>
    </p:spTree>
    <p:extLst>
      <p:ext uri="{BB962C8B-B14F-4D97-AF65-F5344CB8AC3E}">
        <p14:creationId xmlns:p14="http://schemas.microsoft.com/office/powerpoint/2010/main" val="23309307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CD7B93-EEFF-47C5-A603-D61A1906DFFF}"/>
              </a:ext>
            </a:extLst>
          </p:cNvPr>
          <p:cNvSpPr>
            <a:spLocks noGrp="1"/>
          </p:cNvSpPr>
          <p:nvPr>
            <p:ph idx="1"/>
          </p:nvPr>
        </p:nvSpPr>
        <p:spPr>
          <a:xfrm>
            <a:off x="457200" y="1178751"/>
            <a:ext cx="8229600" cy="4947414"/>
          </a:xfrm>
        </p:spPr>
        <p:txBody>
          <a:bodyPr>
            <a:normAutofit fontScale="85000" lnSpcReduction="10000"/>
          </a:bodyPr>
          <a:lstStyle/>
          <a:p>
            <a:pPr lvl="0" algn="just"/>
            <a:r>
              <a:rPr lang="en-US" dirty="0"/>
              <a:t>The processor mode determines which registers are active and the access rights to the </a:t>
            </a:r>
            <a:r>
              <a:rPr lang="en-US" i="1" dirty="0"/>
              <a:t>cpsr</a:t>
            </a:r>
            <a:r>
              <a:rPr lang="en-US" dirty="0"/>
              <a:t> register itself</a:t>
            </a:r>
          </a:p>
          <a:p>
            <a:pPr lvl="0" algn="just"/>
            <a:endParaRPr lang="en-US" dirty="0"/>
          </a:p>
          <a:p>
            <a:pPr lvl="0" algn="just"/>
            <a:r>
              <a:rPr lang="en-US" dirty="0"/>
              <a:t>Each processor mode is either privileged or non-privileged:</a:t>
            </a:r>
            <a:endParaRPr lang="en-IN" dirty="0"/>
          </a:p>
          <a:p>
            <a:pPr marL="0" indent="0" algn="just">
              <a:buNone/>
            </a:pPr>
            <a:r>
              <a:rPr lang="en-US" b="1" dirty="0"/>
              <a:t> </a:t>
            </a:r>
            <a:endParaRPr lang="en-IN" dirty="0"/>
          </a:p>
          <a:p>
            <a:pPr lvl="1" algn="just"/>
            <a:r>
              <a:rPr lang="en-US" dirty="0"/>
              <a:t>A </a:t>
            </a:r>
            <a:r>
              <a:rPr lang="en-US" i="1" dirty="0"/>
              <a:t>privileged mode</a:t>
            </a:r>
            <a:r>
              <a:rPr lang="en-US" dirty="0"/>
              <a:t> allows full read-write access to the </a:t>
            </a:r>
            <a:r>
              <a:rPr lang="en-US" i="1" dirty="0"/>
              <a:t>cpsr</a:t>
            </a:r>
            <a:endParaRPr lang="en-IN" dirty="0"/>
          </a:p>
          <a:p>
            <a:pPr algn="just"/>
            <a:endParaRPr lang="en-IN" dirty="0"/>
          </a:p>
          <a:p>
            <a:pPr lvl="1" algn="just"/>
            <a:r>
              <a:rPr lang="en-US" dirty="0"/>
              <a:t>A </a:t>
            </a:r>
            <a:r>
              <a:rPr lang="en-US" i="1" dirty="0"/>
              <a:t>non-privileged mode</a:t>
            </a:r>
            <a:r>
              <a:rPr lang="en-US" dirty="0"/>
              <a:t> only allows read access to the control field in the </a:t>
            </a:r>
            <a:r>
              <a:rPr lang="en-US" i="1" dirty="0"/>
              <a:t>cpsr</a:t>
            </a:r>
            <a:r>
              <a:rPr lang="en-US" dirty="0"/>
              <a:t>, but still allows read-write access to the condition flags</a:t>
            </a:r>
            <a:endParaRPr lang="en-IN" dirty="0"/>
          </a:p>
        </p:txBody>
      </p:sp>
      <p:sp>
        <p:nvSpPr>
          <p:cNvPr id="3" name="Rectangle 2">
            <a:extLst>
              <a:ext uri="{FF2B5EF4-FFF2-40B4-BE49-F238E27FC236}">
                <a16:creationId xmlns:a16="http://schemas.microsoft.com/office/drawing/2014/main" id="{A68C445E-CAAF-4E17-8C64-289CCDEF5988}"/>
              </a:ext>
            </a:extLst>
          </p:cNvPr>
          <p:cNvSpPr/>
          <p:nvPr/>
        </p:nvSpPr>
        <p:spPr>
          <a:xfrm>
            <a:off x="9103" y="222621"/>
            <a:ext cx="2586734" cy="492443"/>
          </a:xfrm>
          <a:prstGeom prst="rect">
            <a:avLst/>
          </a:prstGeom>
        </p:spPr>
        <p:txBody>
          <a:bodyPr wrap="none">
            <a:spAutoFit/>
          </a:bodyPr>
          <a:lstStyle/>
          <a:p>
            <a:r>
              <a:rPr lang="en-US" sz="2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Processor Modes</a:t>
            </a:r>
            <a:endParaRPr lang="en-IN" sz="2600" dirty="0">
              <a:solidFill>
                <a:srgbClr val="FF0000"/>
              </a:solidFill>
            </a:endParaRPr>
          </a:p>
        </p:txBody>
      </p:sp>
    </p:spTree>
    <p:extLst>
      <p:ext uri="{BB962C8B-B14F-4D97-AF65-F5344CB8AC3E}">
        <p14:creationId xmlns:p14="http://schemas.microsoft.com/office/powerpoint/2010/main" val="28994627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8B6184-1CCD-415A-B3F1-6DCAFE88B96E}"/>
              </a:ext>
            </a:extLst>
          </p:cNvPr>
          <p:cNvSpPr>
            <a:spLocks noGrp="1"/>
          </p:cNvSpPr>
          <p:nvPr>
            <p:ph idx="1"/>
          </p:nvPr>
        </p:nvSpPr>
        <p:spPr>
          <a:xfrm>
            <a:off x="457200" y="1133745"/>
            <a:ext cx="8229600" cy="4992419"/>
          </a:xfrm>
        </p:spPr>
        <p:txBody>
          <a:bodyPr>
            <a:normAutofit/>
          </a:bodyPr>
          <a:lstStyle/>
          <a:p>
            <a:pPr lvl="0" algn="just"/>
            <a:r>
              <a:rPr lang="en-US" sz="2600" dirty="0"/>
              <a:t>There are </a:t>
            </a:r>
            <a:r>
              <a:rPr lang="en-US" sz="2600" i="1" dirty="0"/>
              <a:t>seven processor modes</a:t>
            </a:r>
            <a:r>
              <a:rPr lang="en-US" sz="2600" dirty="0"/>
              <a:t> in total: </a:t>
            </a:r>
            <a:r>
              <a:rPr lang="en-US" sz="2600" i="1" dirty="0"/>
              <a:t>six privileged modes </a:t>
            </a:r>
            <a:r>
              <a:rPr lang="en-US" sz="2600" dirty="0"/>
              <a:t>(abort, fast interrupt request, interrupt request, supervisor, system,</a:t>
            </a:r>
            <a:r>
              <a:rPr lang="en-US" sz="2600" i="1" dirty="0"/>
              <a:t> </a:t>
            </a:r>
            <a:r>
              <a:rPr lang="en-US" sz="2600" dirty="0"/>
              <a:t>and undefined)</a:t>
            </a:r>
          </a:p>
          <a:p>
            <a:pPr lvl="0" algn="just"/>
            <a:endParaRPr lang="en-IN" sz="2600" dirty="0"/>
          </a:p>
          <a:p>
            <a:pPr lvl="0" algn="just"/>
            <a:r>
              <a:rPr lang="en-US" sz="2600" dirty="0"/>
              <a:t>The processor enters </a:t>
            </a:r>
            <a:r>
              <a:rPr lang="en-US" sz="2600" i="1" dirty="0">
                <a:solidFill>
                  <a:srgbClr val="FF0000"/>
                </a:solidFill>
              </a:rPr>
              <a:t>abort mode</a:t>
            </a:r>
            <a:r>
              <a:rPr lang="en-US" sz="2600" dirty="0">
                <a:solidFill>
                  <a:srgbClr val="FF0000"/>
                </a:solidFill>
              </a:rPr>
              <a:t> </a:t>
            </a:r>
            <a:r>
              <a:rPr lang="en-US" sz="2600" dirty="0"/>
              <a:t>when there is a failed attempt to access memory</a:t>
            </a:r>
          </a:p>
          <a:p>
            <a:pPr lvl="0" algn="just"/>
            <a:endParaRPr lang="en-US" sz="2600" dirty="0"/>
          </a:p>
          <a:p>
            <a:pPr lvl="0" algn="just"/>
            <a:r>
              <a:rPr lang="en-US" sz="2600" i="1" dirty="0">
                <a:solidFill>
                  <a:srgbClr val="FF0000"/>
                </a:solidFill>
              </a:rPr>
              <a:t>Fast interrupt request </a:t>
            </a:r>
            <a:r>
              <a:rPr lang="en-US" sz="2600" dirty="0"/>
              <a:t>and</a:t>
            </a:r>
            <a:r>
              <a:rPr lang="en-US" sz="2600" b="1" i="1" dirty="0"/>
              <a:t> </a:t>
            </a:r>
            <a:r>
              <a:rPr lang="en-US" sz="2600" i="1" dirty="0">
                <a:solidFill>
                  <a:srgbClr val="FF0000"/>
                </a:solidFill>
              </a:rPr>
              <a:t>interrupt request modes </a:t>
            </a:r>
            <a:r>
              <a:rPr lang="en-US" sz="2600" dirty="0"/>
              <a:t>correspond to the two</a:t>
            </a:r>
            <a:r>
              <a:rPr lang="en-US" sz="2600" b="1" i="1" dirty="0"/>
              <a:t> </a:t>
            </a:r>
            <a:r>
              <a:rPr lang="en-US" sz="2600" dirty="0"/>
              <a:t>interrupt levels available on the ARM processor </a:t>
            </a:r>
            <a:endParaRPr lang="en-IN" sz="2600" dirty="0"/>
          </a:p>
        </p:txBody>
      </p:sp>
    </p:spTree>
    <p:extLst>
      <p:ext uri="{BB962C8B-B14F-4D97-AF65-F5344CB8AC3E}">
        <p14:creationId xmlns:p14="http://schemas.microsoft.com/office/powerpoint/2010/main" val="19201579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0CD0E6-3D6B-45E0-B946-FABB542E8E57}"/>
              </a:ext>
            </a:extLst>
          </p:cNvPr>
          <p:cNvSpPr>
            <a:spLocks noGrp="1"/>
          </p:cNvSpPr>
          <p:nvPr>
            <p:ph idx="1"/>
          </p:nvPr>
        </p:nvSpPr>
        <p:spPr>
          <a:xfrm>
            <a:off x="457200" y="1268759"/>
            <a:ext cx="8229600" cy="4857405"/>
          </a:xfrm>
        </p:spPr>
        <p:txBody>
          <a:bodyPr>
            <a:normAutofit/>
          </a:bodyPr>
          <a:lstStyle/>
          <a:p>
            <a:pPr algn="just"/>
            <a:r>
              <a:rPr lang="en-US" sz="2600" i="1" dirty="0">
                <a:solidFill>
                  <a:srgbClr val="FF0000"/>
                </a:solidFill>
              </a:rPr>
              <a:t>Supervisor mode </a:t>
            </a:r>
            <a:r>
              <a:rPr lang="en-US" sz="2600" dirty="0"/>
              <a:t>is the mode that the processor is in after reset and is generally</a:t>
            </a:r>
            <a:r>
              <a:rPr lang="en-US" sz="2600" b="1" i="1" dirty="0"/>
              <a:t> </a:t>
            </a:r>
            <a:r>
              <a:rPr lang="en-US" sz="2600" dirty="0"/>
              <a:t>the mode that an operating system kernel operates in</a:t>
            </a:r>
          </a:p>
          <a:p>
            <a:pPr algn="just"/>
            <a:endParaRPr lang="en-US" sz="2600" dirty="0"/>
          </a:p>
          <a:p>
            <a:pPr algn="just"/>
            <a:r>
              <a:rPr lang="en-US" sz="2600" i="1" dirty="0">
                <a:solidFill>
                  <a:srgbClr val="FF0000"/>
                </a:solidFill>
              </a:rPr>
              <a:t>System mode </a:t>
            </a:r>
            <a:r>
              <a:rPr lang="en-US" sz="2600" dirty="0"/>
              <a:t>is a special version of user mode that allows full read-write access</a:t>
            </a:r>
            <a:r>
              <a:rPr lang="en-US" sz="2600" b="1" i="1" dirty="0"/>
              <a:t> </a:t>
            </a:r>
            <a:r>
              <a:rPr lang="en-US" sz="2600" dirty="0"/>
              <a:t>to the </a:t>
            </a:r>
            <a:r>
              <a:rPr lang="en-US" sz="2600" i="1" dirty="0"/>
              <a:t>cpsr</a:t>
            </a:r>
          </a:p>
          <a:p>
            <a:pPr algn="just"/>
            <a:endParaRPr lang="en-US" sz="2600" b="1" i="1" dirty="0"/>
          </a:p>
          <a:p>
            <a:pPr algn="just"/>
            <a:r>
              <a:rPr lang="en-US" sz="2600" i="1" dirty="0">
                <a:solidFill>
                  <a:srgbClr val="FF0000"/>
                </a:solidFill>
              </a:rPr>
              <a:t>Undefined mode </a:t>
            </a:r>
            <a:r>
              <a:rPr lang="en-US" sz="2600" dirty="0"/>
              <a:t>is used when the processor encounters an instruction that is undefined or not supported by the implementation</a:t>
            </a:r>
            <a:endParaRPr lang="en-US" sz="2600" i="1" dirty="0"/>
          </a:p>
          <a:p>
            <a:pPr algn="just"/>
            <a:endParaRPr lang="en-US" sz="2600" i="1" dirty="0"/>
          </a:p>
          <a:p>
            <a:pPr algn="just"/>
            <a:endParaRPr lang="en-IN" sz="2600" dirty="0"/>
          </a:p>
          <a:p>
            <a:pPr algn="just"/>
            <a:endParaRPr lang="en-IN" sz="2600" dirty="0"/>
          </a:p>
        </p:txBody>
      </p:sp>
    </p:spTree>
    <p:extLst>
      <p:ext uri="{BB962C8B-B14F-4D97-AF65-F5344CB8AC3E}">
        <p14:creationId xmlns:p14="http://schemas.microsoft.com/office/powerpoint/2010/main" val="19834669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0A1654-DFAA-4262-8C9C-B91B599761A0}"/>
              </a:ext>
            </a:extLst>
          </p:cNvPr>
          <p:cNvSpPr>
            <a:spLocks noGrp="1"/>
          </p:cNvSpPr>
          <p:nvPr>
            <p:ph idx="1"/>
          </p:nvPr>
        </p:nvSpPr>
        <p:spPr/>
        <p:txBody>
          <a:bodyPr/>
          <a:lstStyle/>
          <a:p>
            <a:pPr lvl="0"/>
            <a:endParaRPr lang="en-US" i="1" dirty="0"/>
          </a:p>
          <a:p>
            <a:pPr marL="0" lvl="0" indent="0">
              <a:buNone/>
            </a:pPr>
            <a:r>
              <a:rPr lang="en-US" i="1" dirty="0"/>
              <a:t>One non-privileged mode </a:t>
            </a:r>
            <a:r>
              <a:rPr lang="en-US" dirty="0"/>
              <a:t>(user) </a:t>
            </a:r>
          </a:p>
          <a:p>
            <a:pPr marL="0" lvl="0" indent="0">
              <a:buNone/>
            </a:pPr>
            <a:endParaRPr lang="en-IN" sz="2400" dirty="0"/>
          </a:p>
          <a:p>
            <a:pPr lvl="1"/>
            <a:r>
              <a:rPr lang="en-US" i="1" dirty="0">
                <a:solidFill>
                  <a:srgbClr val="FF0000"/>
                </a:solidFill>
              </a:rPr>
              <a:t>User mode </a:t>
            </a:r>
            <a:r>
              <a:rPr lang="en-US" dirty="0"/>
              <a:t>is used for programs and applications</a:t>
            </a:r>
            <a:endParaRPr lang="en-IN" sz="2000" dirty="0"/>
          </a:p>
          <a:p>
            <a:endParaRPr lang="en-IN" dirty="0"/>
          </a:p>
        </p:txBody>
      </p:sp>
    </p:spTree>
    <p:extLst>
      <p:ext uri="{BB962C8B-B14F-4D97-AF65-F5344CB8AC3E}">
        <p14:creationId xmlns:p14="http://schemas.microsoft.com/office/powerpoint/2010/main" val="41808392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9E8D81-5EBB-4335-BD18-FB4E4395DECE}"/>
              </a:ext>
            </a:extLst>
          </p:cNvPr>
          <p:cNvSpPr/>
          <p:nvPr/>
        </p:nvSpPr>
        <p:spPr>
          <a:xfrm>
            <a:off x="0" y="233645"/>
            <a:ext cx="2291012" cy="430887"/>
          </a:xfrm>
          <a:prstGeom prst="rect">
            <a:avLst/>
          </a:prstGeom>
        </p:spPr>
        <p:txBody>
          <a:bodyPr wrap="none">
            <a:spAutoFit/>
          </a:bodyPr>
          <a:lstStyle/>
          <a:p>
            <a:r>
              <a:rPr lang="en-US" sz="2200" b="1" dirty="0">
                <a:latin typeface="Times New Roman" panose="02020603050405020304" pitchFamily="18" charset="0"/>
                <a:ea typeface="Times New Roman" panose="02020603050405020304" pitchFamily="18" charset="0"/>
                <a:cs typeface="Arial" panose="020B0604020202020204" pitchFamily="34" charset="0"/>
              </a:rPr>
              <a:t>Banked Registers</a:t>
            </a:r>
            <a:endParaRPr lang="en-IN" sz="2200" dirty="0"/>
          </a:p>
        </p:txBody>
      </p:sp>
      <p:pic>
        <p:nvPicPr>
          <p:cNvPr id="5122" name="Picture 2">
            <a:extLst>
              <a:ext uri="{FF2B5EF4-FFF2-40B4-BE49-F238E27FC236}">
                <a16:creationId xmlns:a16="http://schemas.microsoft.com/office/drawing/2014/main" id="{01EC5F84-8643-47A0-9F91-4BDD57F83C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3724"/>
            <a:ext cx="9144000" cy="59042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31AF329-0179-42F6-8667-A40E0C815869}"/>
              </a:ext>
            </a:extLst>
          </p:cNvPr>
          <p:cNvSpPr/>
          <p:nvPr/>
        </p:nvSpPr>
        <p:spPr>
          <a:xfrm>
            <a:off x="4977045" y="2123855"/>
            <a:ext cx="2969787" cy="369332"/>
          </a:xfrm>
          <a:prstGeom prst="rect">
            <a:avLst/>
          </a:prstGeom>
        </p:spPr>
        <p:txBody>
          <a:bodyPr wrap="none">
            <a:spAutoFit/>
          </a:bodyPr>
          <a:lstStyle/>
          <a:p>
            <a:r>
              <a:rPr lang="en-US"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Complete ARM Register Set</a:t>
            </a:r>
            <a:endParaRPr lang="en-IN" dirty="0">
              <a:solidFill>
                <a:srgbClr val="FF0000"/>
              </a:solidFill>
            </a:endParaRPr>
          </a:p>
        </p:txBody>
      </p:sp>
    </p:spTree>
    <p:extLst>
      <p:ext uri="{BB962C8B-B14F-4D97-AF65-F5344CB8AC3E}">
        <p14:creationId xmlns:p14="http://schemas.microsoft.com/office/powerpoint/2010/main" val="42281797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3683B6-4088-4B77-BEBF-CD46233D018F}"/>
              </a:ext>
            </a:extLst>
          </p:cNvPr>
          <p:cNvSpPr>
            <a:spLocks noGrp="1"/>
          </p:cNvSpPr>
          <p:nvPr>
            <p:ph idx="1"/>
          </p:nvPr>
        </p:nvSpPr>
        <p:spPr>
          <a:xfrm>
            <a:off x="431540" y="863715"/>
            <a:ext cx="8229600" cy="5037424"/>
          </a:xfrm>
        </p:spPr>
        <p:txBody>
          <a:bodyPr>
            <a:noAutofit/>
          </a:bodyPr>
          <a:lstStyle/>
          <a:p>
            <a:pPr algn="just"/>
            <a:r>
              <a:rPr lang="en-US" sz="2800" dirty="0"/>
              <a:t>The figure shows all 37 registers in the register file</a:t>
            </a:r>
            <a:endParaRPr lang="en-IN" sz="2800" dirty="0"/>
          </a:p>
          <a:p>
            <a:pPr algn="just"/>
            <a:endParaRPr lang="en-IN" sz="2800" dirty="0"/>
          </a:p>
          <a:p>
            <a:pPr lvl="0" algn="just"/>
            <a:r>
              <a:rPr lang="en-US" sz="2800" dirty="0"/>
              <a:t>Of these, 20 registers are hidden from a program at different times</a:t>
            </a:r>
            <a:endParaRPr lang="en-IN" sz="2800" dirty="0"/>
          </a:p>
          <a:p>
            <a:pPr algn="just"/>
            <a:endParaRPr lang="en-IN" sz="2800" dirty="0"/>
          </a:p>
          <a:p>
            <a:pPr lvl="0" algn="just"/>
            <a:r>
              <a:rPr lang="en-US" sz="2800" dirty="0"/>
              <a:t>These registers are called </a:t>
            </a:r>
            <a:r>
              <a:rPr lang="en-US" sz="2800" i="1" dirty="0"/>
              <a:t>banked registers</a:t>
            </a:r>
            <a:r>
              <a:rPr lang="en-US" sz="2800" dirty="0"/>
              <a:t> and are identified by the shading in the diagram</a:t>
            </a:r>
            <a:endParaRPr lang="en-IN" sz="2800" dirty="0"/>
          </a:p>
          <a:p>
            <a:pPr algn="just"/>
            <a:endParaRPr lang="en-IN" sz="2800" dirty="0"/>
          </a:p>
          <a:p>
            <a:pPr algn="just"/>
            <a:r>
              <a:rPr lang="en-US" sz="2800" dirty="0"/>
              <a:t>They are available only when the processor is in a particular mode; for example, abort mode has banked registers </a:t>
            </a:r>
            <a:r>
              <a:rPr lang="en-US" sz="2800" i="1" dirty="0"/>
              <a:t>r13_abt</a:t>
            </a:r>
            <a:r>
              <a:rPr lang="en-US" sz="2800" dirty="0"/>
              <a:t>, </a:t>
            </a:r>
            <a:r>
              <a:rPr lang="en-US" sz="2800" i="1" dirty="0"/>
              <a:t>r14_abt</a:t>
            </a:r>
            <a:r>
              <a:rPr lang="en-US" sz="2800" dirty="0"/>
              <a:t> and </a:t>
            </a:r>
            <a:r>
              <a:rPr lang="en-US" sz="2800" i="1" dirty="0" err="1"/>
              <a:t>spsr_abt</a:t>
            </a:r>
            <a:endParaRPr lang="en-IN" sz="2800" dirty="0"/>
          </a:p>
        </p:txBody>
      </p:sp>
    </p:spTree>
    <p:extLst>
      <p:ext uri="{BB962C8B-B14F-4D97-AF65-F5344CB8AC3E}">
        <p14:creationId xmlns:p14="http://schemas.microsoft.com/office/powerpoint/2010/main" val="11587917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4B7ECC-0126-4BA2-83BA-5665E38F96D0}"/>
              </a:ext>
            </a:extLst>
          </p:cNvPr>
          <p:cNvSpPr>
            <a:spLocks noGrp="1"/>
          </p:cNvSpPr>
          <p:nvPr>
            <p:ph idx="1"/>
          </p:nvPr>
        </p:nvSpPr>
        <p:spPr>
          <a:xfrm>
            <a:off x="457200" y="998730"/>
            <a:ext cx="8229600" cy="5172439"/>
          </a:xfrm>
        </p:spPr>
        <p:txBody>
          <a:bodyPr>
            <a:normAutofit fontScale="85000" lnSpcReduction="20000"/>
          </a:bodyPr>
          <a:lstStyle/>
          <a:p>
            <a:pPr lvl="0" algn="just"/>
            <a:r>
              <a:rPr lang="en-US" dirty="0"/>
              <a:t>Banked registers of a particular mode are denoted by an underline character post-fixed to the mode mnemonic or _mode</a:t>
            </a:r>
            <a:endParaRPr lang="en-IN" dirty="0"/>
          </a:p>
          <a:p>
            <a:pPr algn="just"/>
            <a:endParaRPr lang="en-IN" dirty="0"/>
          </a:p>
          <a:p>
            <a:pPr lvl="0" algn="just"/>
            <a:r>
              <a:rPr lang="en-US" dirty="0"/>
              <a:t>Every processor mode except user mode can change mode by writing directly to the mode bits of the </a:t>
            </a:r>
            <a:r>
              <a:rPr lang="en-US" i="1" dirty="0"/>
              <a:t>cpsr</a:t>
            </a:r>
            <a:endParaRPr lang="en-IN" dirty="0"/>
          </a:p>
          <a:p>
            <a:pPr algn="just"/>
            <a:endParaRPr lang="en-IN" dirty="0"/>
          </a:p>
          <a:p>
            <a:pPr lvl="0" algn="just"/>
            <a:r>
              <a:rPr lang="en-US" dirty="0"/>
              <a:t>All processor modes except system mode have a set of associated banked registers that are a subset of the main 16 registers</a:t>
            </a:r>
            <a:endParaRPr lang="en-IN" dirty="0"/>
          </a:p>
          <a:p>
            <a:pPr algn="just"/>
            <a:endParaRPr lang="en-IN" dirty="0"/>
          </a:p>
          <a:p>
            <a:pPr algn="just"/>
            <a:r>
              <a:rPr lang="en-US" dirty="0"/>
              <a:t>A banked register maps one-to-one onto a user mode register</a:t>
            </a:r>
            <a:endParaRPr lang="en-IN" dirty="0"/>
          </a:p>
        </p:txBody>
      </p:sp>
    </p:spTree>
    <p:extLst>
      <p:ext uri="{BB962C8B-B14F-4D97-AF65-F5344CB8AC3E}">
        <p14:creationId xmlns:p14="http://schemas.microsoft.com/office/powerpoint/2010/main" val="328756713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2100F0-ABCB-43B3-A215-96F9D576082C}"/>
              </a:ext>
            </a:extLst>
          </p:cNvPr>
          <p:cNvSpPr>
            <a:spLocks noGrp="1"/>
          </p:cNvSpPr>
          <p:nvPr>
            <p:ph idx="1"/>
          </p:nvPr>
        </p:nvSpPr>
        <p:spPr>
          <a:xfrm>
            <a:off x="457200" y="1268761"/>
            <a:ext cx="8229600" cy="4857404"/>
          </a:xfrm>
        </p:spPr>
        <p:txBody>
          <a:bodyPr>
            <a:normAutofit/>
          </a:bodyPr>
          <a:lstStyle/>
          <a:p>
            <a:pPr lvl="0" algn="just"/>
            <a:r>
              <a:rPr lang="en-US" sz="2800" dirty="0"/>
              <a:t>If you change processor mode, a banked register from the new mode will replace an existing register</a:t>
            </a:r>
          </a:p>
          <a:p>
            <a:pPr lvl="0" algn="just"/>
            <a:endParaRPr lang="en-IN" sz="2800" dirty="0"/>
          </a:p>
          <a:p>
            <a:pPr algn="just"/>
            <a:r>
              <a:rPr lang="en-US" sz="2800" dirty="0"/>
              <a:t>For example, when the processor is in the interrupt request mode, the instructions you execute still access registers named </a:t>
            </a:r>
            <a:r>
              <a:rPr lang="en-US" sz="2800" i="1" dirty="0"/>
              <a:t>r13</a:t>
            </a:r>
            <a:r>
              <a:rPr lang="en-US" sz="2800" dirty="0"/>
              <a:t> and </a:t>
            </a:r>
            <a:r>
              <a:rPr lang="en-US" sz="2800" i="1" dirty="0"/>
              <a:t>r14</a:t>
            </a:r>
          </a:p>
          <a:p>
            <a:pPr algn="just"/>
            <a:endParaRPr lang="en-US" sz="2800" i="1" dirty="0"/>
          </a:p>
          <a:p>
            <a:pPr algn="just"/>
            <a:r>
              <a:rPr lang="en-US" sz="2800" dirty="0"/>
              <a:t>However, these registers are the banked registers </a:t>
            </a:r>
            <a:r>
              <a:rPr lang="en-US" sz="2800" i="1" dirty="0"/>
              <a:t>r13_irq</a:t>
            </a:r>
            <a:r>
              <a:rPr lang="en-US" sz="2800" dirty="0"/>
              <a:t> and </a:t>
            </a:r>
            <a:r>
              <a:rPr lang="en-US" sz="2800" i="1" dirty="0"/>
              <a:t>r14_irq</a:t>
            </a:r>
          </a:p>
          <a:p>
            <a:pPr algn="just"/>
            <a:endParaRPr lang="en-US" sz="2800" i="1" dirty="0"/>
          </a:p>
        </p:txBody>
      </p:sp>
    </p:spTree>
    <p:extLst>
      <p:ext uri="{BB962C8B-B14F-4D97-AF65-F5344CB8AC3E}">
        <p14:creationId xmlns:p14="http://schemas.microsoft.com/office/powerpoint/2010/main" val="155705596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F20CBD-AB6C-4F61-A23A-F3DA30C2C499}"/>
              </a:ext>
            </a:extLst>
          </p:cNvPr>
          <p:cNvSpPr>
            <a:spLocks noGrp="1"/>
          </p:cNvSpPr>
          <p:nvPr>
            <p:ph idx="1"/>
          </p:nvPr>
        </p:nvSpPr>
        <p:spPr/>
        <p:txBody>
          <a:bodyPr>
            <a:normAutofit/>
          </a:bodyPr>
          <a:lstStyle/>
          <a:p>
            <a:pPr algn="just"/>
            <a:r>
              <a:rPr lang="en-US" sz="2800" dirty="0"/>
              <a:t>The user mode registers </a:t>
            </a:r>
            <a:r>
              <a:rPr lang="en-US" sz="2800" i="1" dirty="0"/>
              <a:t>r13_usr</a:t>
            </a:r>
            <a:r>
              <a:rPr lang="en-US" sz="2800" dirty="0"/>
              <a:t> and </a:t>
            </a:r>
            <a:r>
              <a:rPr lang="en-US" sz="2800" i="1" dirty="0"/>
              <a:t>r14_usr</a:t>
            </a:r>
            <a:r>
              <a:rPr lang="en-US" sz="2800" dirty="0"/>
              <a:t> are not affected by the instruction referencing these registers</a:t>
            </a:r>
          </a:p>
          <a:p>
            <a:pPr algn="just"/>
            <a:endParaRPr lang="en-US" sz="2800" dirty="0"/>
          </a:p>
          <a:p>
            <a:pPr algn="just"/>
            <a:r>
              <a:rPr lang="en-US" sz="2800" dirty="0"/>
              <a:t>A program still has normal access to the other registers </a:t>
            </a:r>
            <a:r>
              <a:rPr lang="en-US" sz="2800" i="1" dirty="0"/>
              <a:t>r0</a:t>
            </a:r>
            <a:r>
              <a:rPr lang="en-US" sz="2800" dirty="0"/>
              <a:t> to </a:t>
            </a:r>
            <a:r>
              <a:rPr lang="en-US" sz="2800" i="1" dirty="0"/>
              <a:t>r12</a:t>
            </a:r>
            <a:endParaRPr lang="en-IN" sz="2800" dirty="0"/>
          </a:p>
          <a:p>
            <a:pPr algn="just"/>
            <a:endParaRPr lang="en-IN" sz="2800" dirty="0"/>
          </a:p>
        </p:txBody>
      </p:sp>
    </p:spTree>
    <p:extLst>
      <p:ext uri="{BB962C8B-B14F-4D97-AF65-F5344CB8AC3E}">
        <p14:creationId xmlns:p14="http://schemas.microsoft.com/office/powerpoint/2010/main" val="42527467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BF0128-ABF8-4065-B83E-35DD42D7152F}"/>
              </a:ext>
            </a:extLst>
          </p:cNvPr>
          <p:cNvSpPr>
            <a:spLocks noGrp="1"/>
          </p:cNvSpPr>
          <p:nvPr>
            <p:ph idx="1"/>
          </p:nvPr>
        </p:nvSpPr>
        <p:spPr>
          <a:xfrm>
            <a:off x="296525" y="932790"/>
            <a:ext cx="8460940" cy="4992419"/>
          </a:xfrm>
        </p:spPr>
        <p:txBody>
          <a:bodyPr>
            <a:noAutofit/>
          </a:bodyPr>
          <a:lstStyle/>
          <a:p>
            <a:pPr lvl="0" algn="just"/>
            <a:r>
              <a:rPr lang="en-US" sz="2600" dirty="0"/>
              <a:t>The processor mode can be changed by a program that writes directly to the </a:t>
            </a:r>
            <a:r>
              <a:rPr lang="en-US" sz="2600" i="1" dirty="0"/>
              <a:t>cpsr</a:t>
            </a:r>
            <a:r>
              <a:rPr lang="en-US" sz="2600" dirty="0"/>
              <a:t> (the processor core has to be in privileged mode) or by hardware when the core responds to an exception or interrupt</a:t>
            </a:r>
            <a:endParaRPr lang="en-IN" sz="2600" dirty="0"/>
          </a:p>
          <a:p>
            <a:pPr algn="just"/>
            <a:endParaRPr lang="en-IN" sz="2600" dirty="0"/>
          </a:p>
          <a:p>
            <a:pPr lvl="0" algn="just"/>
            <a:r>
              <a:rPr lang="en-US" sz="2600" dirty="0"/>
              <a:t>The following exceptions and interrupts cause a mode change: </a:t>
            </a:r>
            <a:r>
              <a:rPr lang="en-US" sz="2600" i="1" dirty="0"/>
              <a:t>reset</a:t>
            </a:r>
            <a:r>
              <a:rPr lang="en-US" sz="2600" dirty="0"/>
              <a:t>, </a:t>
            </a:r>
            <a:r>
              <a:rPr lang="en-US" sz="2600" i="1" dirty="0"/>
              <a:t>interrupt request</a:t>
            </a:r>
            <a:r>
              <a:rPr lang="en-US" sz="2600" dirty="0"/>
              <a:t>, </a:t>
            </a:r>
            <a:r>
              <a:rPr lang="en-US" sz="2600" i="1" dirty="0"/>
              <a:t>fast</a:t>
            </a:r>
            <a:r>
              <a:rPr lang="en-US" sz="2600" dirty="0"/>
              <a:t> </a:t>
            </a:r>
            <a:r>
              <a:rPr lang="en-US" sz="2600" i="1" dirty="0"/>
              <a:t>interrupt request</a:t>
            </a:r>
            <a:r>
              <a:rPr lang="en-US" sz="2600" dirty="0"/>
              <a:t>,</a:t>
            </a:r>
            <a:r>
              <a:rPr lang="en-US" sz="2600" i="1" dirty="0"/>
              <a:t> software interrupt</a:t>
            </a:r>
            <a:r>
              <a:rPr lang="en-US" sz="2600" dirty="0"/>
              <a:t>,</a:t>
            </a:r>
            <a:r>
              <a:rPr lang="en-US" sz="2600" i="1" dirty="0"/>
              <a:t> data abort</a:t>
            </a:r>
            <a:r>
              <a:rPr lang="en-US" sz="2600" dirty="0"/>
              <a:t>,</a:t>
            </a:r>
            <a:r>
              <a:rPr lang="en-US" sz="2600" i="1" dirty="0"/>
              <a:t> prefetch abort</a:t>
            </a:r>
            <a:r>
              <a:rPr lang="en-US" sz="2600" dirty="0"/>
              <a:t>, and</a:t>
            </a:r>
            <a:r>
              <a:rPr lang="en-US" sz="2600" i="1" dirty="0"/>
              <a:t> undefined instruction</a:t>
            </a:r>
            <a:endParaRPr lang="en-US" sz="2600" dirty="0"/>
          </a:p>
          <a:p>
            <a:pPr lvl="0" algn="just"/>
            <a:endParaRPr lang="en-IN" sz="2600" dirty="0"/>
          </a:p>
          <a:p>
            <a:pPr lvl="0" algn="just"/>
            <a:r>
              <a:rPr lang="en-US" sz="2600" dirty="0"/>
              <a:t>Exceptions and interrupts suspend the normal execution of sequential instructions and jump to a specific location</a:t>
            </a:r>
            <a:endParaRPr lang="en-IN" sz="2600" dirty="0"/>
          </a:p>
        </p:txBody>
      </p:sp>
    </p:spTree>
    <p:extLst>
      <p:ext uri="{BB962C8B-B14F-4D97-AF65-F5344CB8AC3E}">
        <p14:creationId xmlns:p14="http://schemas.microsoft.com/office/powerpoint/2010/main" val="22764260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D3270B-646F-4373-A8B2-4D9C7BD1B53A}"/>
              </a:ext>
            </a:extLst>
          </p:cNvPr>
          <p:cNvSpPr>
            <a:spLocks noGrp="1"/>
          </p:cNvSpPr>
          <p:nvPr>
            <p:ph idx="1"/>
          </p:nvPr>
        </p:nvSpPr>
        <p:spPr>
          <a:xfrm>
            <a:off x="27295" y="750551"/>
            <a:ext cx="8229600" cy="4525963"/>
          </a:xfrm>
        </p:spPr>
        <p:txBody>
          <a:bodyPr/>
          <a:lstStyle/>
          <a:p>
            <a:r>
              <a:rPr lang="en-US" dirty="0"/>
              <a:t>The following Figure illustrates what happens when an interrupt forces a mode change.</a:t>
            </a:r>
            <a:endParaRPr lang="en-IN" dirty="0"/>
          </a:p>
        </p:txBody>
      </p:sp>
      <p:pic>
        <p:nvPicPr>
          <p:cNvPr id="6146" name="Picture 2">
            <a:extLst>
              <a:ext uri="{FF2B5EF4-FFF2-40B4-BE49-F238E27FC236}">
                <a16:creationId xmlns:a16="http://schemas.microsoft.com/office/drawing/2014/main" id="{1785C8E6-0423-4890-BB19-D567CF01CCC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5610" t="17093"/>
          <a:stretch>
            <a:fillRect/>
          </a:stretch>
        </p:blipFill>
        <p:spPr bwMode="auto">
          <a:xfrm>
            <a:off x="1871700" y="1673805"/>
            <a:ext cx="3824288"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1793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97558C-893A-40D7-9F53-4E329357FA7F}"/>
              </a:ext>
            </a:extLst>
          </p:cNvPr>
          <p:cNvSpPr>
            <a:spLocks noGrp="1"/>
          </p:cNvSpPr>
          <p:nvPr>
            <p:ph idx="1"/>
          </p:nvPr>
        </p:nvSpPr>
        <p:spPr>
          <a:xfrm>
            <a:off x="701570" y="1583795"/>
            <a:ext cx="3420380" cy="4095530"/>
          </a:xfrm>
        </p:spPr>
        <p:txBody>
          <a:bodyPr>
            <a:normAutofit/>
          </a:bodyPr>
          <a:lstStyle/>
          <a:p>
            <a:pPr marL="0" lvl="0" indent="0" algn="just">
              <a:buNone/>
            </a:pPr>
            <a:r>
              <a:rPr lang="en-US" sz="2600" dirty="0"/>
              <a:t>The Figure shows the core changing from user mode to interrupt request mode, which happens when an interrupt request occurs due to an external device raising an interrupt to the processor core</a:t>
            </a:r>
            <a:endParaRPr lang="en-IN" sz="2600" dirty="0"/>
          </a:p>
        </p:txBody>
      </p:sp>
      <p:pic>
        <p:nvPicPr>
          <p:cNvPr id="3" name="Picture 2">
            <a:extLst>
              <a:ext uri="{FF2B5EF4-FFF2-40B4-BE49-F238E27FC236}">
                <a16:creationId xmlns:a16="http://schemas.microsoft.com/office/drawing/2014/main" id="{17D9B44F-C4DB-4655-8A9A-14EDA196D0F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5610" t="17093"/>
          <a:stretch>
            <a:fillRect/>
          </a:stretch>
        </p:blipFill>
        <p:spPr bwMode="auto">
          <a:xfrm>
            <a:off x="4256965" y="728700"/>
            <a:ext cx="4545505" cy="599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88373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4D706A-FFA1-43C7-97E4-40108A01F307}"/>
              </a:ext>
            </a:extLst>
          </p:cNvPr>
          <p:cNvSpPr>
            <a:spLocks noGrp="1"/>
          </p:cNvSpPr>
          <p:nvPr>
            <p:ph idx="1"/>
          </p:nvPr>
        </p:nvSpPr>
        <p:spPr>
          <a:xfrm>
            <a:off x="457200" y="1223755"/>
            <a:ext cx="8229600" cy="4902409"/>
          </a:xfrm>
        </p:spPr>
        <p:txBody>
          <a:bodyPr>
            <a:normAutofit/>
          </a:bodyPr>
          <a:lstStyle/>
          <a:p>
            <a:pPr lvl="0" algn="just"/>
            <a:r>
              <a:rPr lang="en-US" sz="3000" dirty="0"/>
              <a:t>This change causes user registers </a:t>
            </a:r>
            <a:r>
              <a:rPr lang="en-US" sz="3000" i="1" dirty="0"/>
              <a:t>r13</a:t>
            </a:r>
            <a:r>
              <a:rPr lang="en-US" sz="3000" dirty="0"/>
              <a:t> and </a:t>
            </a:r>
            <a:r>
              <a:rPr lang="en-US" sz="3000" i="1" dirty="0"/>
              <a:t>r14</a:t>
            </a:r>
            <a:r>
              <a:rPr lang="en-US" sz="3000" dirty="0"/>
              <a:t> to be banked</a:t>
            </a:r>
          </a:p>
          <a:p>
            <a:pPr lvl="0" algn="just"/>
            <a:endParaRPr lang="en-US" sz="3000" dirty="0"/>
          </a:p>
          <a:p>
            <a:pPr lvl="0" algn="just"/>
            <a:r>
              <a:rPr lang="en-US" sz="3000" dirty="0"/>
              <a:t>The user registers are replaced with registers </a:t>
            </a:r>
            <a:r>
              <a:rPr lang="en-US" sz="3000" i="1" dirty="0"/>
              <a:t>r13_irq</a:t>
            </a:r>
            <a:r>
              <a:rPr lang="en-US" sz="3000" dirty="0"/>
              <a:t> and </a:t>
            </a:r>
            <a:r>
              <a:rPr lang="en-US" sz="3000" i="1" dirty="0"/>
              <a:t>r14_irq</a:t>
            </a:r>
            <a:r>
              <a:rPr lang="en-US" sz="3000" dirty="0"/>
              <a:t>, respectively</a:t>
            </a:r>
            <a:endParaRPr lang="en-IN" sz="3000" dirty="0"/>
          </a:p>
          <a:p>
            <a:pPr algn="just"/>
            <a:endParaRPr lang="en-IN" sz="3000" dirty="0"/>
          </a:p>
          <a:p>
            <a:pPr algn="just"/>
            <a:r>
              <a:rPr lang="en-US" sz="3000" dirty="0"/>
              <a:t>Note </a:t>
            </a:r>
            <a:r>
              <a:rPr lang="en-US" sz="3000" i="1" dirty="0"/>
              <a:t>r14_irq</a:t>
            </a:r>
            <a:r>
              <a:rPr lang="en-US" sz="3000" dirty="0"/>
              <a:t> contains the return address and </a:t>
            </a:r>
            <a:r>
              <a:rPr lang="en-US" sz="3000" i="1" dirty="0"/>
              <a:t>r13_irq</a:t>
            </a:r>
            <a:r>
              <a:rPr lang="en-US" sz="3000" dirty="0"/>
              <a:t> contains the stack pointer for interrupt request mode</a:t>
            </a:r>
            <a:endParaRPr lang="en-IN" sz="3000" dirty="0"/>
          </a:p>
          <a:p>
            <a:pPr algn="just"/>
            <a:endParaRPr lang="en-IN" sz="3000" dirty="0"/>
          </a:p>
        </p:txBody>
      </p:sp>
    </p:spTree>
    <p:extLst>
      <p:ext uri="{BB962C8B-B14F-4D97-AF65-F5344CB8AC3E}">
        <p14:creationId xmlns:p14="http://schemas.microsoft.com/office/powerpoint/2010/main" val="38330443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C0C753-50F0-43EB-985F-89931044156A}"/>
              </a:ext>
            </a:extLst>
          </p:cNvPr>
          <p:cNvSpPr>
            <a:spLocks noGrp="1"/>
          </p:cNvSpPr>
          <p:nvPr>
            <p:ph idx="1"/>
          </p:nvPr>
        </p:nvSpPr>
        <p:spPr>
          <a:xfrm>
            <a:off x="457200" y="1223755"/>
            <a:ext cx="8229600" cy="4902409"/>
          </a:xfrm>
        </p:spPr>
        <p:txBody>
          <a:bodyPr>
            <a:normAutofit/>
          </a:bodyPr>
          <a:lstStyle/>
          <a:p>
            <a:pPr lvl="0" algn="just"/>
            <a:r>
              <a:rPr lang="en-US" sz="2800" dirty="0"/>
              <a:t>The Figure also shows a new register appearing in interrupt request mode: the </a:t>
            </a:r>
            <a:r>
              <a:rPr lang="en-US" sz="2800" i="1" dirty="0"/>
              <a:t>saved</a:t>
            </a:r>
            <a:r>
              <a:rPr lang="en-US" sz="2800" dirty="0"/>
              <a:t> </a:t>
            </a:r>
            <a:r>
              <a:rPr lang="en-US" sz="2800" i="1" dirty="0"/>
              <a:t>program status register (</a:t>
            </a:r>
            <a:r>
              <a:rPr lang="en-US" sz="2800" i="1" dirty="0" err="1"/>
              <a:t>spsr</a:t>
            </a:r>
            <a:r>
              <a:rPr lang="en-US" sz="2800" i="1" dirty="0"/>
              <a:t>)</a:t>
            </a:r>
            <a:r>
              <a:rPr lang="en-US" sz="2800" dirty="0"/>
              <a:t>, which stores the previous mode’s</a:t>
            </a:r>
            <a:r>
              <a:rPr lang="en-US" sz="2800" i="1" dirty="0"/>
              <a:t> cpsr</a:t>
            </a:r>
          </a:p>
          <a:p>
            <a:pPr lvl="0" algn="just"/>
            <a:endParaRPr lang="en-US" sz="2800" i="1" dirty="0"/>
          </a:p>
          <a:p>
            <a:pPr lvl="0" algn="just"/>
            <a:r>
              <a:rPr lang="en-US" sz="2800" dirty="0"/>
              <a:t>The</a:t>
            </a:r>
            <a:r>
              <a:rPr lang="en-US" sz="2800" i="1" dirty="0"/>
              <a:t> cpsr </a:t>
            </a:r>
            <a:r>
              <a:rPr lang="en-US" sz="2800" dirty="0"/>
              <a:t>being copied into</a:t>
            </a:r>
            <a:r>
              <a:rPr lang="en-US" sz="2800" i="1" dirty="0"/>
              <a:t> </a:t>
            </a:r>
            <a:r>
              <a:rPr lang="en-US" sz="2800" i="1" dirty="0" err="1"/>
              <a:t>spsr_irq</a:t>
            </a:r>
            <a:endParaRPr lang="en-IN" sz="2800" dirty="0"/>
          </a:p>
          <a:p>
            <a:pPr marL="0" indent="0" algn="just">
              <a:buNone/>
            </a:pPr>
            <a:r>
              <a:rPr lang="en-US" sz="2800" b="1" dirty="0"/>
              <a:t> </a:t>
            </a:r>
            <a:endParaRPr lang="en-IN" sz="2800" dirty="0"/>
          </a:p>
          <a:p>
            <a:pPr algn="just"/>
            <a:r>
              <a:rPr lang="en-US" sz="2800" dirty="0"/>
              <a:t>To return back to user mode, a special return instruction is used that instructs the core to restore the original </a:t>
            </a:r>
            <a:r>
              <a:rPr lang="en-US" sz="2800" i="1" dirty="0"/>
              <a:t>cpsr</a:t>
            </a:r>
            <a:r>
              <a:rPr lang="en-US" sz="2800" dirty="0"/>
              <a:t> from the </a:t>
            </a:r>
            <a:r>
              <a:rPr lang="en-US" sz="2800" i="1" dirty="0" err="1"/>
              <a:t>spsr_irq</a:t>
            </a:r>
            <a:r>
              <a:rPr lang="en-US" sz="2800" dirty="0"/>
              <a:t> and bank in the user registers </a:t>
            </a:r>
            <a:r>
              <a:rPr lang="en-US" sz="2800" i="1" dirty="0"/>
              <a:t>r13</a:t>
            </a:r>
            <a:r>
              <a:rPr lang="en-US" sz="2800" dirty="0"/>
              <a:t> and </a:t>
            </a:r>
            <a:r>
              <a:rPr lang="en-US" sz="2800" i="1" dirty="0"/>
              <a:t>r14</a:t>
            </a:r>
            <a:endParaRPr lang="en-IN" sz="2800" dirty="0"/>
          </a:p>
        </p:txBody>
      </p:sp>
    </p:spTree>
    <p:extLst>
      <p:ext uri="{BB962C8B-B14F-4D97-AF65-F5344CB8AC3E}">
        <p14:creationId xmlns:p14="http://schemas.microsoft.com/office/powerpoint/2010/main" val="17408630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900AE3-5CD5-41BE-BEF4-3C637E0B67F5}"/>
              </a:ext>
            </a:extLst>
          </p:cNvPr>
          <p:cNvSpPr>
            <a:spLocks noGrp="1"/>
          </p:cNvSpPr>
          <p:nvPr>
            <p:ph idx="1"/>
          </p:nvPr>
        </p:nvSpPr>
        <p:spPr>
          <a:xfrm>
            <a:off x="457200" y="863715"/>
            <a:ext cx="8229600" cy="5262449"/>
          </a:xfrm>
        </p:spPr>
        <p:txBody>
          <a:bodyPr>
            <a:normAutofit/>
          </a:bodyPr>
          <a:lstStyle/>
          <a:p>
            <a:pPr lvl="0" algn="just"/>
            <a:r>
              <a:rPr lang="en-US" sz="2600" dirty="0"/>
              <a:t>Note that, the </a:t>
            </a:r>
            <a:r>
              <a:rPr lang="en-US" sz="2600" i="1" dirty="0" err="1"/>
              <a:t>spsr</a:t>
            </a:r>
            <a:r>
              <a:rPr lang="en-US" sz="2600" dirty="0"/>
              <a:t> can only be modified and read in a privileged mode</a:t>
            </a:r>
          </a:p>
          <a:p>
            <a:pPr lvl="0" algn="just"/>
            <a:endParaRPr lang="en-US" sz="2600" dirty="0"/>
          </a:p>
          <a:p>
            <a:pPr lvl="0" algn="just"/>
            <a:r>
              <a:rPr lang="en-US" sz="2600" dirty="0"/>
              <a:t>There is no </a:t>
            </a:r>
            <a:r>
              <a:rPr lang="en-US" sz="2600" i="1" dirty="0" err="1"/>
              <a:t>spsr</a:t>
            </a:r>
            <a:r>
              <a:rPr lang="en-US" sz="2600" dirty="0"/>
              <a:t> available in user mode</a:t>
            </a:r>
            <a:endParaRPr lang="en-IN" sz="2600" dirty="0"/>
          </a:p>
          <a:p>
            <a:pPr algn="just"/>
            <a:endParaRPr lang="en-IN" sz="2600" dirty="0"/>
          </a:p>
          <a:p>
            <a:pPr algn="just"/>
            <a:r>
              <a:rPr lang="en-US" sz="2600" dirty="0"/>
              <a:t>Another important feature to note is that the </a:t>
            </a:r>
            <a:r>
              <a:rPr lang="en-US" sz="2600" i="1" dirty="0"/>
              <a:t>cpsr</a:t>
            </a:r>
            <a:r>
              <a:rPr lang="en-US" sz="2600" dirty="0"/>
              <a:t> is not copied into the </a:t>
            </a:r>
            <a:r>
              <a:rPr lang="en-US" sz="2600" i="1" dirty="0" err="1"/>
              <a:t>spsr</a:t>
            </a:r>
            <a:r>
              <a:rPr lang="en-US" sz="2600" dirty="0"/>
              <a:t> when a mode change is forced due to a program writing directly to the </a:t>
            </a:r>
            <a:r>
              <a:rPr lang="en-US" sz="2600" i="1" dirty="0"/>
              <a:t>cpsr</a:t>
            </a:r>
          </a:p>
          <a:p>
            <a:pPr algn="just"/>
            <a:endParaRPr lang="en-US" sz="2600" dirty="0"/>
          </a:p>
          <a:p>
            <a:pPr algn="just"/>
            <a:r>
              <a:rPr lang="en-US" sz="2600" dirty="0"/>
              <a:t>The saving of the </a:t>
            </a:r>
            <a:r>
              <a:rPr lang="en-US" sz="2600" i="1" dirty="0"/>
              <a:t>cpsr</a:t>
            </a:r>
            <a:r>
              <a:rPr lang="en-US" sz="2600" dirty="0"/>
              <a:t> only occurs when an exception or interrupt is raised</a:t>
            </a:r>
            <a:endParaRPr lang="en-IN" sz="2600" dirty="0"/>
          </a:p>
        </p:txBody>
      </p:sp>
    </p:spTree>
    <p:extLst>
      <p:ext uri="{BB962C8B-B14F-4D97-AF65-F5344CB8AC3E}">
        <p14:creationId xmlns:p14="http://schemas.microsoft.com/office/powerpoint/2010/main" val="385127954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5BF940-A273-4F0D-AE1B-8537F1740489}"/>
              </a:ext>
            </a:extLst>
          </p:cNvPr>
          <p:cNvSpPr>
            <a:spLocks noGrp="1"/>
          </p:cNvSpPr>
          <p:nvPr>
            <p:ph idx="1"/>
          </p:nvPr>
        </p:nvSpPr>
        <p:spPr>
          <a:xfrm>
            <a:off x="457200" y="1583795"/>
            <a:ext cx="8229600" cy="4542369"/>
          </a:xfrm>
        </p:spPr>
        <p:txBody>
          <a:bodyPr>
            <a:normAutofit/>
          </a:bodyPr>
          <a:lstStyle/>
          <a:p>
            <a:pPr lvl="0" algn="just"/>
            <a:r>
              <a:rPr lang="en-US" sz="3000" dirty="0"/>
              <a:t>When power is applied to the core, it starts in supervisor mode, which is privileged</a:t>
            </a:r>
          </a:p>
          <a:p>
            <a:pPr lvl="0" algn="just"/>
            <a:endParaRPr lang="en-US" sz="3000" dirty="0"/>
          </a:p>
          <a:p>
            <a:pPr lvl="0" algn="just"/>
            <a:r>
              <a:rPr lang="en-US" sz="3000" dirty="0"/>
              <a:t>Starting in a privileged mode is useful since initialization code can use full access to the </a:t>
            </a:r>
            <a:r>
              <a:rPr lang="en-US" sz="3000" i="1" dirty="0"/>
              <a:t>cpsr</a:t>
            </a:r>
            <a:r>
              <a:rPr lang="en-US" sz="3000" dirty="0"/>
              <a:t> to set up the stacks for each of the other modes</a:t>
            </a:r>
            <a:endParaRPr lang="en-IN" sz="3000" dirty="0"/>
          </a:p>
          <a:p>
            <a:pPr algn="just"/>
            <a:endParaRPr lang="en-IN" sz="3000" dirty="0"/>
          </a:p>
        </p:txBody>
      </p:sp>
    </p:spTree>
    <p:extLst>
      <p:ext uri="{BB962C8B-B14F-4D97-AF65-F5344CB8AC3E}">
        <p14:creationId xmlns:p14="http://schemas.microsoft.com/office/powerpoint/2010/main" val="15475049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FF81F6-BBD8-4B01-BBD4-AD8112DF7ECE}"/>
              </a:ext>
            </a:extLst>
          </p:cNvPr>
          <p:cNvSpPr>
            <a:spLocks noGrp="1"/>
          </p:cNvSpPr>
          <p:nvPr>
            <p:ph idx="1"/>
          </p:nvPr>
        </p:nvSpPr>
        <p:spPr>
          <a:xfrm>
            <a:off x="42050" y="1358770"/>
            <a:ext cx="2880320" cy="4525963"/>
          </a:xfrm>
        </p:spPr>
        <p:txBody>
          <a:bodyPr>
            <a:normAutofit fontScale="77500" lnSpcReduction="20000"/>
          </a:bodyPr>
          <a:lstStyle/>
          <a:p>
            <a:pPr algn="just"/>
            <a:r>
              <a:rPr lang="en-US" dirty="0"/>
              <a:t>The Table lists the various modes and the associated binary patterns</a:t>
            </a:r>
          </a:p>
          <a:p>
            <a:pPr marL="0" indent="0" algn="just">
              <a:buNone/>
            </a:pPr>
            <a:endParaRPr lang="en-US" dirty="0"/>
          </a:p>
          <a:p>
            <a:pPr algn="just"/>
            <a:r>
              <a:rPr lang="en-US" dirty="0"/>
              <a:t>The last column of the table gives the bit patterns that represent each of the processor modes in the </a:t>
            </a:r>
            <a:r>
              <a:rPr lang="en-US" i="1" dirty="0" err="1"/>
              <a:t>cpsr</a:t>
            </a:r>
            <a:endParaRPr lang="en-IN" dirty="0"/>
          </a:p>
          <a:p>
            <a:pPr algn="just"/>
            <a:endParaRPr lang="en-IN" dirty="0"/>
          </a:p>
        </p:txBody>
      </p:sp>
      <p:graphicFrame>
        <p:nvGraphicFramePr>
          <p:cNvPr id="3" name="Content Placeholder 2">
            <a:extLst>
              <a:ext uri="{FF2B5EF4-FFF2-40B4-BE49-F238E27FC236}">
                <a16:creationId xmlns:a16="http://schemas.microsoft.com/office/drawing/2014/main" id="{DC4044E7-AF4C-4ED4-B5ED-9794BCBCA10B}"/>
              </a:ext>
            </a:extLst>
          </p:cNvPr>
          <p:cNvGraphicFramePr>
            <a:graphicFrameLocks/>
          </p:cNvGraphicFramePr>
          <p:nvPr>
            <p:extLst>
              <p:ext uri="{D42A27DB-BD31-4B8C-83A1-F6EECF244321}">
                <p14:modId xmlns:p14="http://schemas.microsoft.com/office/powerpoint/2010/main" val="637493958"/>
              </p:ext>
            </p:extLst>
          </p:nvPr>
        </p:nvGraphicFramePr>
        <p:xfrm>
          <a:off x="3131840" y="1733523"/>
          <a:ext cx="5673789" cy="3630690"/>
        </p:xfrm>
        <a:graphic>
          <a:graphicData uri="http://schemas.openxmlformats.org/drawingml/2006/table">
            <a:tbl>
              <a:tblPr>
                <a:tableStyleId>{5C22544A-7EE6-4342-B048-85BDC9FD1C3A}</a:tableStyleId>
              </a:tblPr>
              <a:tblGrid>
                <a:gridCol w="2078517">
                  <a:extLst>
                    <a:ext uri="{9D8B030D-6E8A-4147-A177-3AD203B41FA5}">
                      <a16:colId xmlns:a16="http://schemas.microsoft.com/office/drawing/2014/main" val="1893328311"/>
                    </a:ext>
                  </a:extLst>
                </a:gridCol>
                <a:gridCol w="1366953">
                  <a:extLst>
                    <a:ext uri="{9D8B030D-6E8A-4147-A177-3AD203B41FA5}">
                      <a16:colId xmlns:a16="http://schemas.microsoft.com/office/drawing/2014/main" val="3566932301"/>
                    </a:ext>
                  </a:extLst>
                </a:gridCol>
                <a:gridCol w="1104797">
                  <a:extLst>
                    <a:ext uri="{9D8B030D-6E8A-4147-A177-3AD203B41FA5}">
                      <a16:colId xmlns:a16="http://schemas.microsoft.com/office/drawing/2014/main" val="2109373426"/>
                    </a:ext>
                  </a:extLst>
                </a:gridCol>
                <a:gridCol w="1123522">
                  <a:extLst>
                    <a:ext uri="{9D8B030D-6E8A-4147-A177-3AD203B41FA5}">
                      <a16:colId xmlns:a16="http://schemas.microsoft.com/office/drawing/2014/main" val="3168352387"/>
                    </a:ext>
                  </a:extLst>
                </a:gridCol>
              </a:tblGrid>
              <a:tr h="477130">
                <a:tc>
                  <a:txBody>
                    <a:bodyPr/>
                    <a:lstStyle/>
                    <a:p>
                      <a:pPr marL="533400">
                        <a:spcAft>
                          <a:spcPts val="0"/>
                        </a:spcAft>
                      </a:pPr>
                      <a:r>
                        <a:rPr lang="en-US" sz="1600" b="1" dirty="0">
                          <a:effectLst/>
                        </a:rPr>
                        <a:t>Mode</a:t>
                      </a:r>
                      <a:endParaRPr lang="en-IN" sz="16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b="1" dirty="0">
                          <a:effectLst/>
                        </a:rPr>
                        <a:t>Abbreviation</a:t>
                      </a:r>
                      <a:endParaRPr lang="en-IN" sz="16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b="1" dirty="0">
                          <a:effectLst/>
                        </a:rPr>
                        <a:t>Privileged</a:t>
                      </a:r>
                      <a:endParaRPr lang="en-IN" sz="16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b="1" dirty="0">
                          <a:effectLst/>
                        </a:rPr>
                        <a:t>Mode[4:0]</a:t>
                      </a:r>
                      <a:endParaRPr lang="en-IN" sz="1600" b="1"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6470572"/>
                  </a:ext>
                </a:extLst>
              </a:tr>
              <a:tr h="449830">
                <a:tc>
                  <a:txBody>
                    <a:bodyPr/>
                    <a:lstStyle/>
                    <a:p>
                      <a:pPr marL="76200">
                        <a:spcAft>
                          <a:spcPts val="0"/>
                        </a:spcAft>
                      </a:pPr>
                      <a:r>
                        <a:rPr lang="en-US" sz="1600">
                          <a:effectLst/>
                        </a:rPr>
                        <a:t>Abort</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abt</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10111</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8533622"/>
                  </a:ext>
                </a:extLst>
              </a:tr>
              <a:tr h="449830">
                <a:tc>
                  <a:txBody>
                    <a:bodyPr/>
                    <a:lstStyle/>
                    <a:p>
                      <a:pPr marL="76200">
                        <a:spcAft>
                          <a:spcPts val="0"/>
                        </a:spcAft>
                      </a:pPr>
                      <a:r>
                        <a:rPr lang="en-US" sz="1600">
                          <a:effectLst/>
                        </a:rPr>
                        <a:t>Fast Interrupt Request</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fiq</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10001</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946541"/>
                  </a:ext>
                </a:extLst>
              </a:tr>
              <a:tr h="449830">
                <a:tc>
                  <a:txBody>
                    <a:bodyPr/>
                    <a:lstStyle/>
                    <a:p>
                      <a:pPr marL="76200">
                        <a:spcAft>
                          <a:spcPts val="0"/>
                        </a:spcAft>
                      </a:pPr>
                      <a:r>
                        <a:rPr lang="en-US" sz="1600">
                          <a:effectLst/>
                        </a:rPr>
                        <a:t>Interrupt Request</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irq</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10010</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3074154"/>
                  </a:ext>
                </a:extLst>
              </a:tr>
              <a:tr h="452205">
                <a:tc>
                  <a:txBody>
                    <a:bodyPr/>
                    <a:lstStyle/>
                    <a:p>
                      <a:pPr marL="76200">
                        <a:spcAft>
                          <a:spcPts val="0"/>
                        </a:spcAft>
                      </a:pPr>
                      <a:r>
                        <a:rPr lang="en-US" sz="1600">
                          <a:effectLst/>
                        </a:rPr>
                        <a:t>Supervisor</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svc</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10011</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8257"/>
                  </a:ext>
                </a:extLst>
              </a:tr>
              <a:tr h="449830">
                <a:tc>
                  <a:txBody>
                    <a:bodyPr/>
                    <a:lstStyle/>
                    <a:p>
                      <a:pPr marL="76200">
                        <a:spcAft>
                          <a:spcPts val="0"/>
                        </a:spcAft>
                      </a:pPr>
                      <a:r>
                        <a:rPr lang="en-US" sz="1600">
                          <a:effectLst/>
                        </a:rPr>
                        <a:t>System</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sys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11111</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2486075"/>
                  </a:ext>
                </a:extLst>
              </a:tr>
              <a:tr h="449830">
                <a:tc>
                  <a:txBody>
                    <a:bodyPr/>
                    <a:lstStyle/>
                    <a:p>
                      <a:pPr marL="76200">
                        <a:spcAft>
                          <a:spcPts val="0"/>
                        </a:spcAft>
                      </a:pPr>
                      <a:r>
                        <a:rPr lang="en-US" sz="1600">
                          <a:effectLst/>
                        </a:rPr>
                        <a:t>Undefined</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und</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yes</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11011</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4078013"/>
                  </a:ext>
                </a:extLst>
              </a:tr>
              <a:tr h="452205">
                <a:tc>
                  <a:txBody>
                    <a:bodyPr/>
                    <a:lstStyle/>
                    <a:p>
                      <a:pPr marL="76200">
                        <a:spcAft>
                          <a:spcPts val="0"/>
                        </a:spcAft>
                      </a:pPr>
                      <a:r>
                        <a:rPr lang="en-US" sz="1600">
                          <a:effectLst/>
                        </a:rPr>
                        <a:t>User</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usr</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a:effectLst/>
                        </a:rPr>
                        <a:t>no</a:t>
                      </a:r>
                      <a:endParaRPr lang="en-IN" sz="160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600" dirty="0">
                          <a:effectLst/>
                        </a:rPr>
                        <a:t>10000</a:t>
                      </a:r>
                      <a:endParaRPr lang="en-IN" sz="16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5853785"/>
                  </a:ext>
                </a:extLst>
              </a:tr>
            </a:tbl>
          </a:graphicData>
        </a:graphic>
      </p:graphicFrame>
      <p:sp>
        <p:nvSpPr>
          <p:cNvPr id="4" name="Rectangle 3">
            <a:extLst>
              <a:ext uri="{FF2B5EF4-FFF2-40B4-BE49-F238E27FC236}">
                <a16:creationId xmlns:a16="http://schemas.microsoft.com/office/drawing/2014/main" id="{302CF3AB-40D6-4676-974F-F3B92C0BE1A2}"/>
              </a:ext>
            </a:extLst>
          </p:cNvPr>
          <p:cNvSpPr/>
          <p:nvPr/>
        </p:nvSpPr>
        <p:spPr>
          <a:xfrm>
            <a:off x="4786551" y="1309121"/>
            <a:ext cx="2437847"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Table: Processor Mode</a:t>
            </a:r>
            <a:endParaRPr lang="en-IN" dirty="0"/>
          </a:p>
        </p:txBody>
      </p:sp>
    </p:spTree>
    <p:extLst>
      <p:ext uri="{BB962C8B-B14F-4D97-AF65-F5344CB8AC3E}">
        <p14:creationId xmlns:p14="http://schemas.microsoft.com/office/powerpoint/2010/main" val="195629761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A50CE9-9528-4A5E-A350-7466BE1E9F38}"/>
              </a:ext>
            </a:extLst>
          </p:cNvPr>
          <p:cNvSpPr>
            <a:spLocks noGrp="1"/>
          </p:cNvSpPr>
          <p:nvPr>
            <p:ph idx="1"/>
          </p:nvPr>
        </p:nvSpPr>
        <p:spPr>
          <a:xfrm>
            <a:off x="457200" y="1313765"/>
            <a:ext cx="8229600" cy="4812399"/>
          </a:xfrm>
        </p:spPr>
        <p:txBody>
          <a:bodyPr>
            <a:normAutofit/>
          </a:bodyPr>
          <a:lstStyle/>
          <a:p>
            <a:pPr lvl="0" algn="just"/>
            <a:r>
              <a:rPr lang="en-US" sz="2600" dirty="0"/>
              <a:t>The state of the core determines which instruction set is being executed</a:t>
            </a:r>
          </a:p>
          <a:p>
            <a:pPr lvl="0" algn="just"/>
            <a:endParaRPr lang="en-US" sz="2600" dirty="0"/>
          </a:p>
          <a:p>
            <a:pPr lvl="0" algn="just"/>
            <a:r>
              <a:rPr lang="en-US" sz="2600" dirty="0"/>
              <a:t>There are three instruction sets:</a:t>
            </a:r>
            <a:endParaRPr lang="en-IN" sz="2600" dirty="0"/>
          </a:p>
          <a:p>
            <a:pPr lvl="1"/>
            <a:r>
              <a:rPr lang="en-US" sz="2400" dirty="0"/>
              <a:t>ARM</a:t>
            </a:r>
            <a:endParaRPr lang="en-IN" sz="2400" dirty="0"/>
          </a:p>
          <a:p>
            <a:pPr lvl="1"/>
            <a:r>
              <a:rPr lang="en-US" sz="2400" dirty="0"/>
              <a:t>Thumb</a:t>
            </a:r>
            <a:endParaRPr lang="en-IN" sz="2400" dirty="0"/>
          </a:p>
          <a:p>
            <a:pPr lvl="1"/>
            <a:r>
              <a:rPr lang="en-US" sz="2400" dirty="0" err="1"/>
              <a:t>Jazelle</a:t>
            </a:r>
            <a:endParaRPr lang="en-IN" sz="2400" dirty="0"/>
          </a:p>
          <a:p>
            <a:endParaRPr lang="en-IN" sz="2400" dirty="0"/>
          </a:p>
          <a:p>
            <a:endParaRPr lang="en-IN" dirty="0"/>
          </a:p>
        </p:txBody>
      </p:sp>
      <p:sp>
        <p:nvSpPr>
          <p:cNvPr id="3" name="Rectangle 2">
            <a:extLst>
              <a:ext uri="{FF2B5EF4-FFF2-40B4-BE49-F238E27FC236}">
                <a16:creationId xmlns:a16="http://schemas.microsoft.com/office/drawing/2014/main" id="{C3A347C0-F6DD-4122-AF8C-380914DEE431}"/>
              </a:ext>
            </a:extLst>
          </p:cNvPr>
          <p:cNvSpPr/>
          <p:nvPr/>
        </p:nvSpPr>
        <p:spPr>
          <a:xfrm>
            <a:off x="116505" y="270171"/>
            <a:ext cx="3581430"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State and Instruction Sets</a:t>
            </a:r>
            <a:endParaRPr lang="en-IN" sz="2400" dirty="0">
              <a:solidFill>
                <a:srgbClr val="FF0000"/>
              </a:solidFill>
            </a:endParaRPr>
          </a:p>
        </p:txBody>
      </p:sp>
    </p:spTree>
    <p:extLst>
      <p:ext uri="{BB962C8B-B14F-4D97-AF65-F5344CB8AC3E}">
        <p14:creationId xmlns:p14="http://schemas.microsoft.com/office/powerpoint/2010/main" val="17294481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E1FF5C-07EF-4B37-B650-AF8A8A7CCCBD}"/>
              </a:ext>
            </a:extLst>
          </p:cNvPr>
          <p:cNvSpPr>
            <a:spLocks noGrp="1"/>
          </p:cNvSpPr>
          <p:nvPr>
            <p:ph idx="1"/>
          </p:nvPr>
        </p:nvSpPr>
        <p:spPr>
          <a:xfrm>
            <a:off x="457200" y="1043735"/>
            <a:ext cx="8229600" cy="5082430"/>
          </a:xfrm>
        </p:spPr>
        <p:txBody>
          <a:bodyPr>
            <a:normAutofit lnSpcReduction="10000"/>
          </a:bodyPr>
          <a:lstStyle/>
          <a:p>
            <a:pPr lvl="0" algn="just"/>
            <a:r>
              <a:rPr lang="en-US" sz="2800" dirty="0"/>
              <a:t>The </a:t>
            </a:r>
            <a:r>
              <a:rPr lang="en-US" sz="2800" i="1" dirty="0">
                <a:solidFill>
                  <a:srgbClr val="FF0000"/>
                </a:solidFill>
              </a:rPr>
              <a:t>ARM instruction set</a:t>
            </a:r>
            <a:r>
              <a:rPr lang="en-US" sz="2800" dirty="0">
                <a:solidFill>
                  <a:srgbClr val="FF0000"/>
                </a:solidFill>
              </a:rPr>
              <a:t> </a:t>
            </a:r>
            <a:r>
              <a:rPr lang="en-US" sz="2800" dirty="0"/>
              <a:t>is only active when the processor is in ARM state</a:t>
            </a:r>
            <a:endParaRPr lang="en-IN" sz="2800" dirty="0"/>
          </a:p>
          <a:p>
            <a:pPr algn="just"/>
            <a:endParaRPr lang="en-IN" sz="2800" dirty="0"/>
          </a:p>
          <a:p>
            <a:pPr lvl="0" algn="just"/>
            <a:r>
              <a:rPr lang="en-US" sz="2800" dirty="0"/>
              <a:t>The </a:t>
            </a:r>
            <a:r>
              <a:rPr lang="en-US" sz="2800" i="1" dirty="0">
                <a:solidFill>
                  <a:srgbClr val="FF0000"/>
                </a:solidFill>
              </a:rPr>
              <a:t>Thumb instruction set</a:t>
            </a:r>
            <a:r>
              <a:rPr lang="en-US" sz="2800" dirty="0">
                <a:solidFill>
                  <a:srgbClr val="FF0000"/>
                </a:solidFill>
              </a:rPr>
              <a:t> </a:t>
            </a:r>
            <a:r>
              <a:rPr lang="en-US" sz="2800" dirty="0"/>
              <a:t>is only active when the processor is in Thumb state</a:t>
            </a:r>
          </a:p>
          <a:p>
            <a:pPr lvl="0" algn="just"/>
            <a:endParaRPr lang="en-US" sz="2800" dirty="0"/>
          </a:p>
          <a:p>
            <a:pPr lvl="0" algn="just"/>
            <a:r>
              <a:rPr lang="en-US" sz="2800" dirty="0"/>
              <a:t>Once in Thumb state the processor is executing purely Thumb 16-bit instructions</a:t>
            </a:r>
          </a:p>
          <a:p>
            <a:pPr lvl="0" algn="just"/>
            <a:endParaRPr lang="en-IN" sz="2800" dirty="0"/>
          </a:p>
          <a:p>
            <a:pPr algn="just"/>
            <a:r>
              <a:rPr lang="en-US" sz="2800" dirty="0"/>
              <a:t>You cannot inter-mingle sequential ARM, Thumb, and </a:t>
            </a:r>
            <a:r>
              <a:rPr lang="en-US" sz="2800" dirty="0" err="1"/>
              <a:t>Jazelle</a:t>
            </a:r>
            <a:r>
              <a:rPr lang="en-US" sz="2800" dirty="0"/>
              <a:t> instructions</a:t>
            </a:r>
            <a:endParaRPr lang="en-IN" sz="2800" dirty="0"/>
          </a:p>
        </p:txBody>
      </p:sp>
    </p:spTree>
    <p:extLst>
      <p:ext uri="{BB962C8B-B14F-4D97-AF65-F5344CB8AC3E}">
        <p14:creationId xmlns:p14="http://schemas.microsoft.com/office/powerpoint/2010/main" val="227524553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E80132-67E0-432F-8A62-9FBE47F844F2}"/>
              </a:ext>
            </a:extLst>
          </p:cNvPr>
          <p:cNvSpPr>
            <a:spLocks noGrp="1"/>
          </p:cNvSpPr>
          <p:nvPr>
            <p:ph idx="1"/>
          </p:nvPr>
        </p:nvSpPr>
        <p:spPr>
          <a:xfrm>
            <a:off x="457200" y="908721"/>
            <a:ext cx="8229600" cy="5217444"/>
          </a:xfrm>
        </p:spPr>
        <p:txBody>
          <a:bodyPr>
            <a:noAutofit/>
          </a:bodyPr>
          <a:lstStyle/>
          <a:p>
            <a:pPr lvl="0" algn="just"/>
            <a:r>
              <a:rPr lang="en-US" sz="2800" dirty="0"/>
              <a:t>The Jazelle </a:t>
            </a:r>
            <a:r>
              <a:rPr lang="en-US" sz="2800" i="1" dirty="0"/>
              <a:t>J</a:t>
            </a:r>
            <a:r>
              <a:rPr lang="en-US" sz="2800" dirty="0"/>
              <a:t> and Thumb </a:t>
            </a:r>
            <a:r>
              <a:rPr lang="en-US" sz="2800" i="1" dirty="0"/>
              <a:t>T</a:t>
            </a:r>
            <a:r>
              <a:rPr lang="en-US" sz="2800" dirty="0"/>
              <a:t> bits in the </a:t>
            </a:r>
            <a:r>
              <a:rPr lang="en-US" sz="2800" i="1" dirty="0"/>
              <a:t>cpsr</a:t>
            </a:r>
            <a:r>
              <a:rPr lang="en-US" sz="2800" dirty="0"/>
              <a:t> reflect the state of the processor</a:t>
            </a:r>
            <a:endParaRPr lang="en-IN" sz="2800" dirty="0"/>
          </a:p>
          <a:p>
            <a:pPr algn="just"/>
            <a:endParaRPr lang="en-IN" sz="2800" dirty="0"/>
          </a:p>
          <a:p>
            <a:pPr lvl="0" algn="just"/>
            <a:r>
              <a:rPr lang="en-US" sz="2800" dirty="0"/>
              <a:t>When both </a:t>
            </a:r>
            <a:r>
              <a:rPr lang="en-US" sz="2800" i="1" dirty="0"/>
              <a:t>J</a:t>
            </a:r>
            <a:r>
              <a:rPr lang="en-US" sz="2800" dirty="0"/>
              <a:t> and </a:t>
            </a:r>
            <a:r>
              <a:rPr lang="en-US" sz="2800" i="1" dirty="0"/>
              <a:t>T</a:t>
            </a:r>
            <a:r>
              <a:rPr lang="en-US" sz="2800" dirty="0"/>
              <a:t> bits are 0, the processor is in ARM state and executes ARM instructions</a:t>
            </a:r>
          </a:p>
          <a:p>
            <a:pPr lvl="0" algn="just"/>
            <a:endParaRPr lang="en-US" sz="2800" dirty="0"/>
          </a:p>
          <a:p>
            <a:pPr lvl="0" algn="just"/>
            <a:r>
              <a:rPr lang="en-US" sz="2800" dirty="0"/>
              <a:t>This is the case when power is applied to the processor</a:t>
            </a:r>
            <a:endParaRPr lang="en-IN" sz="2800" dirty="0"/>
          </a:p>
          <a:p>
            <a:pPr algn="just"/>
            <a:endParaRPr lang="en-IN" sz="2800" dirty="0"/>
          </a:p>
        </p:txBody>
      </p:sp>
    </p:spTree>
    <p:extLst>
      <p:ext uri="{BB962C8B-B14F-4D97-AF65-F5344CB8AC3E}">
        <p14:creationId xmlns:p14="http://schemas.microsoft.com/office/powerpoint/2010/main" val="100388610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B65D39-625C-45B5-A26C-54A8948FE500}"/>
              </a:ext>
            </a:extLst>
          </p:cNvPr>
          <p:cNvSpPr>
            <a:spLocks noGrp="1"/>
          </p:cNvSpPr>
          <p:nvPr>
            <p:ph idx="1"/>
          </p:nvPr>
        </p:nvSpPr>
        <p:spPr/>
        <p:txBody>
          <a:bodyPr>
            <a:normAutofit/>
          </a:bodyPr>
          <a:lstStyle/>
          <a:p>
            <a:pPr algn="just"/>
            <a:r>
              <a:rPr lang="en-US" sz="3000" dirty="0"/>
              <a:t>When the </a:t>
            </a:r>
            <a:r>
              <a:rPr lang="en-US" sz="3000" i="1" dirty="0"/>
              <a:t>T</a:t>
            </a:r>
            <a:r>
              <a:rPr lang="en-US" sz="3000" dirty="0"/>
              <a:t> bit is 1, then the processor is in Thumb state</a:t>
            </a:r>
          </a:p>
          <a:p>
            <a:pPr algn="just"/>
            <a:endParaRPr lang="en-US" sz="3000" dirty="0"/>
          </a:p>
          <a:p>
            <a:pPr algn="just"/>
            <a:r>
              <a:rPr lang="en-US" sz="3000" dirty="0"/>
              <a:t>To change states the core executes a specialized branch instruction</a:t>
            </a:r>
            <a:endParaRPr lang="en-IN" sz="3000" dirty="0"/>
          </a:p>
        </p:txBody>
      </p:sp>
    </p:spTree>
    <p:extLst>
      <p:ext uri="{BB962C8B-B14F-4D97-AF65-F5344CB8AC3E}">
        <p14:creationId xmlns:p14="http://schemas.microsoft.com/office/powerpoint/2010/main" val="125749480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8167535-843E-4CA8-A10D-EE8FC2CBCD31}"/>
              </a:ext>
            </a:extLst>
          </p:cNvPr>
          <p:cNvGraphicFramePr>
            <a:graphicFrameLocks noGrp="1"/>
          </p:cNvGraphicFramePr>
          <p:nvPr>
            <p:ph idx="1"/>
            <p:extLst>
              <p:ext uri="{D42A27DB-BD31-4B8C-83A1-F6EECF244321}">
                <p14:modId xmlns:p14="http://schemas.microsoft.com/office/powerpoint/2010/main" val="3803825481"/>
              </p:ext>
            </p:extLst>
          </p:nvPr>
        </p:nvGraphicFramePr>
        <p:xfrm>
          <a:off x="296524" y="800098"/>
          <a:ext cx="8550951" cy="5257804"/>
        </p:xfrm>
        <a:graphic>
          <a:graphicData uri="http://schemas.openxmlformats.org/drawingml/2006/table">
            <a:tbl>
              <a:tblPr firstRow="1" bandRow="1">
                <a:tableStyleId>{5C22544A-7EE6-4342-B048-85BDC9FD1C3A}</a:tableStyleId>
              </a:tblPr>
              <a:tblGrid>
                <a:gridCol w="2482535">
                  <a:extLst>
                    <a:ext uri="{9D8B030D-6E8A-4147-A177-3AD203B41FA5}">
                      <a16:colId xmlns:a16="http://schemas.microsoft.com/office/drawing/2014/main" val="3142802840"/>
                    </a:ext>
                  </a:extLst>
                </a:gridCol>
                <a:gridCol w="3218099">
                  <a:extLst>
                    <a:ext uri="{9D8B030D-6E8A-4147-A177-3AD203B41FA5}">
                      <a16:colId xmlns:a16="http://schemas.microsoft.com/office/drawing/2014/main" val="1626496747"/>
                    </a:ext>
                  </a:extLst>
                </a:gridCol>
                <a:gridCol w="2850317">
                  <a:extLst>
                    <a:ext uri="{9D8B030D-6E8A-4147-A177-3AD203B41FA5}">
                      <a16:colId xmlns:a16="http://schemas.microsoft.com/office/drawing/2014/main" val="2036854913"/>
                    </a:ext>
                  </a:extLst>
                </a:gridCol>
              </a:tblGrid>
              <a:tr h="554091">
                <a:tc>
                  <a:txBody>
                    <a:bodyPr/>
                    <a:lstStyle/>
                    <a:p>
                      <a:endParaRPr lang="en-IN" sz="2000" dirty="0"/>
                    </a:p>
                  </a:txBody>
                  <a:tcPr/>
                </a:tc>
                <a:tc>
                  <a:txBody>
                    <a:bodyPr/>
                    <a:lstStyle/>
                    <a:p>
                      <a:r>
                        <a:rPr lang="en-US" sz="2000" b="1" kern="1200" dirty="0">
                          <a:solidFill>
                            <a:schemeClr val="lt1"/>
                          </a:solidFill>
                          <a:effectLst/>
                          <a:latin typeface="+mn-lt"/>
                          <a:ea typeface="+mn-ea"/>
                          <a:cs typeface="+mn-cs"/>
                        </a:rPr>
                        <a:t>ARM (</a:t>
                      </a:r>
                      <a:r>
                        <a:rPr lang="en-US" sz="2000" b="1" i="1" kern="1200" dirty="0" err="1">
                          <a:solidFill>
                            <a:schemeClr val="lt1"/>
                          </a:solidFill>
                          <a:effectLst/>
                          <a:latin typeface="+mn-lt"/>
                          <a:ea typeface="+mn-ea"/>
                          <a:cs typeface="+mn-cs"/>
                        </a:rPr>
                        <a:t>cspr</a:t>
                      </a:r>
                      <a:r>
                        <a:rPr lang="en-US" sz="2000" b="1" i="1" kern="1200" dirty="0">
                          <a:solidFill>
                            <a:schemeClr val="lt1"/>
                          </a:solidFill>
                          <a:effectLst/>
                          <a:latin typeface="+mn-lt"/>
                          <a:ea typeface="+mn-ea"/>
                          <a:cs typeface="+mn-cs"/>
                        </a:rPr>
                        <a:t> T</a:t>
                      </a:r>
                      <a:r>
                        <a:rPr lang="en-US" sz="2000" b="1" kern="1200" dirty="0">
                          <a:solidFill>
                            <a:schemeClr val="lt1"/>
                          </a:solidFill>
                          <a:effectLst/>
                          <a:latin typeface="+mn-lt"/>
                          <a:ea typeface="+mn-ea"/>
                          <a:cs typeface="+mn-cs"/>
                        </a:rPr>
                        <a:t> = 0)</a:t>
                      </a:r>
                      <a:endParaRPr lang="en-IN" sz="2000" dirty="0"/>
                    </a:p>
                  </a:txBody>
                  <a:tcPr/>
                </a:tc>
                <a:tc>
                  <a:txBody>
                    <a:bodyPr/>
                    <a:lstStyle/>
                    <a:p>
                      <a:r>
                        <a:rPr lang="en-US" sz="2000" b="1" kern="1200" dirty="0">
                          <a:solidFill>
                            <a:schemeClr val="lt1"/>
                          </a:solidFill>
                          <a:effectLst/>
                          <a:latin typeface="+mn-lt"/>
                          <a:ea typeface="+mn-ea"/>
                          <a:cs typeface="+mn-cs"/>
                        </a:rPr>
                        <a:t>Thumb (</a:t>
                      </a:r>
                      <a:r>
                        <a:rPr lang="en-US" sz="2000" b="1" i="1" kern="1200" dirty="0" err="1">
                          <a:solidFill>
                            <a:schemeClr val="lt1"/>
                          </a:solidFill>
                          <a:effectLst/>
                          <a:latin typeface="+mn-lt"/>
                          <a:ea typeface="+mn-ea"/>
                          <a:cs typeface="+mn-cs"/>
                        </a:rPr>
                        <a:t>cspr</a:t>
                      </a:r>
                      <a:r>
                        <a:rPr lang="en-US" sz="2000" b="1" i="1" kern="1200" dirty="0">
                          <a:solidFill>
                            <a:schemeClr val="lt1"/>
                          </a:solidFill>
                          <a:effectLst/>
                          <a:latin typeface="+mn-lt"/>
                          <a:ea typeface="+mn-ea"/>
                          <a:cs typeface="+mn-cs"/>
                        </a:rPr>
                        <a:t> T</a:t>
                      </a:r>
                      <a:r>
                        <a:rPr lang="en-US" sz="2000" b="1" kern="1200" dirty="0">
                          <a:solidFill>
                            <a:schemeClr val="lt1"/>
                          </a:solidFill>
                          <a:effectLst/>
                          <a:latin typeface="+mn-lt"/>
                          <a:ea typeface="+mn-ea"/>
                          <a:cs typeface="+mn-cs"/>
                        </a:rPr>
                        <a:t> = 1)</a:t>
                      </a:r>
                      <a:endParaRPr lang="en-IN" sz="2000" dirty="0"/>
                    </a:p>
                  </a:txBody>
                  <a:tcPr/>
                </a:tc>
                <a:extLst>
                  <a:ext uri="{0D108BD9-81ED-4DB2-BD59-A6C34878D82A}">
                    <a16:rowId xmlns:a16="http://schemas.microsoft.com/office/drawing/2014/main" val="1548728434"/>
                  </a:ext>
                </a:extLst>
              </a:tr>
              <a:tr h="554091">
                <a:tc>
                  <a:txBody>
                    <a:bodyPr/>
                    <a:lstStyle/>
                    <a:p>
                      <a:r>
                        <a:rPr lang="en-US" sz="2000" kern="1200" dirty="0">
                          <a:solidFill>
                            <a:schemeClr val="dk1"/>
                          </a:solidFill>
                          <a:effectLst/>
                          <a:latin typeface="+mn-lt"/>
                          <a:ea typeface="+mn-ea"/>
                          <a:cs typeface="+mn-cs"/>
                        </a:rPr>
                        <a:t>Instruction size</a:t>
                      </a:r>
                      <a:endParaRPr lang="en-IN" sz="2000" dirty="0"/>
                    </a:p>
                  </a:txBody>
                  <a:tcPr/>
                </a:tc>
                <a:tc>
                  <a:txBody>
                    <a:bodyPr/>
                    <a:lstStyle/>
                    <a:p>
                      <a:r>
                        <a:rPr lang="en-US" sz="2000" kern="1200" dirty="0">
                          <a:solidFill>
                            <a:schemeClr val="dk1"/>
                          </a:solidFill>
                          <a:effectLst/>
                          <a:latin typeface="+mn-lt"/>
                          <a:ea typeface="+mn-ea"/>
                          <a:cs typeface="+mn-cs"/>
                        </a:rPr>
                        <a:t>32-bit</a:t>
                      </a:r>
                      <a:endParaRPr lang="en-IN" sz="2000" dirty="0"/>
                    </a:p>
                  </a:txBody>
                  <a:tcPr/>
                </a:tc>
                <a:tc>
                  <a:txBody>
                    <a:bodyPr/>
                    <a:lstStyle/>
                    <a:p>
                      <a:r>
                        <a:rPr lang="en-US" sz="2000" kern="1200" dirty="0">
                          <a:solidFill>
                            <a:schemeClr val="dk1"/>
                          </a:solidFill>
                          <a:effectLst/>
                          <a:latin typeface="+mn-lt"/>
                          <a:ea typeface="+mn-ea"/>
                          <a:cs typeface="+mn-cs"/>
                        </a:rPr>
                        <a:t>16-bit</a:t>
                      </a:r>
                      <a:endParaRPr lang="en-IN" sz="2000" dirty="0"/>
                    </a:p>
                  </a:txBody>
                  <a:tcPr/>
                </a:tc>
                <a:extLst>
                  <a:ext uri="{0D108BD9-81ED-4DB2-BD59-A6C34878D82A}">
                    <a16:rowId xmlns:a16="http://schemas.microsoft.com/office/drawing/2014/main" val="1208569773"/>
                  </a:ext>
                </a:extLst>
              </a:tr>
              <a:tr h="554091">
                <a:tc>
                  <a:txBody>
                    <a:bodyPr/>
                    <a:lstStyle/>
                    <a:p>
                      <a:r>
                        <a:rPr lang="en-US" sz="2000" kern="1200" dirty="0">
                          <a:solidFill>
                            <a:schemeClr val="dk1"/>
                          </a:solidFill>
                          <a:effectLst/>
                          <a:latin typeface="+mn-lt"/>
                          <a:ea typeface="+mn-ea"/>
                          <a:cs typeface="+mn-cs"/>
                        </a:rPr>
                        <a:t>Core instructions</a:t>
                      </a:r>
                      <a:endParaRPr lang="en-IN" sz="2000" dirty="0"/>
                    </a:p>
                  </a:txBody>
                  <a:tcPr/>
                </a:tc>
                <a:tc>
                  <a:txBody>
                    <a:bodyPr/>
                    <a:lstStyle/>
                    <a:p>
                      <a:r>
                        <a:rPr lang="en-US" sz="2000" dirty="0"/>
                        <a:t>58</a:t>
                      </a:r>
                      <a:endParaRPr lang="en-IN" sz="2000" dirty="0"/>
                    </a:p>
                  </a:txBody>
                  <a:tcPr/>
                </a:tc>
                <a:tc>
                  <a:txBody>
                    <a:bodyPr/>
                    <a:lstStyle/>
                    <a:p>
                      <a:r>
                        <a:rPr lang="en-US" sz="2000" dirty="0"/>
                        <a:t>30</a:t>
                      </a:r>
                      <a:endParaRPr lang="en-IN" sz="2000" dirty="0"/>
                    </a:p>
                  </a:txBody>
                  <a:tcPr/>
                </a:tc>
                <a:extLst>
                  <a:ext uri="{0D108BD9-81ED-4DB2-BD59-A6C34878D82A}">
                    <a16:rowId xmlns:a16="http://schemas.microsoft.com/office/drawing/2014/main" val="1384749546"/>
                  </a:ext>
                </a:extLst>
              </a:tr>
              <a:tr h="633520">
                <a:tc>
                  <a:txBody>
                    <a:bodyPr/>
                    <a:lstStyle/>
                    <a:p>
                      <a:r>
                        <a:rPr lang="en-US" sz="2000" kern="1200" dirty="0">
                          <a:solidFill>
                            <a:schemeClr val="dk1"/>
                          </a:solidFill>
                          <a:effectLst/>
                          <a:latin typeface="+mn-lt"/>
                          <a:ea typeface="+mn-ea"/>
                          <a:cs typeface="+mn-cs"/>
                        </a:rPr>
                        <a:t>Conditional execution</a:t>
                      </a:r>
                      <a:endParaRPr lang="en-IN" sz="2000" dirty="0"/>
                    </a:p>
                  </a:txBody>
                  <a:tcPr/>
                </a:tc>
                <a:tc>
                  <a:txBody>
                    <a:bodyPr/>
                    <a:lstStyle/>
                    <a:p>
                      <a:r>
                        <a:rPr lang="en-US" sz="2000" kern="1200" dirty="0">
                          <a:solidFill>
                            <a:schemeClr val="dk1"/>
                          </a:solidFill>
                          <a:effectLst/>
                          <a:latin typeface="+mn-lt"/>
                          <a:ea typeface="+mn-ea"/>
                          <a:cs typeface="+mn-cs"/>
                        </a:rPr>
                        <a:t>most</a:t>
                      </a:r>
                      <a:endParaRPr lang="en-IN" sz="2000" dirty="0"/>
                    </a:p>
                  </a:txBody>
                  <a:tcPr/>
                </a:tc>
                <a:tc>
                  <a:txBody>
                    <a:bodyPr/>
                    <a:lstStyle/>
                    <a:p>
                      <a:r>
                        <a:rPr lang="en-US" sz="2000" kern="1200" dirty="0">
                          <a:solidFill>
                            <a:schemeClr val="dk1"/>
                          </a:solidFill>
                          <a:effectLst/>
                          <a:latin typeface="+mn-lt"/>
                          <a:ea typeface="+mn-ea"/>
                          <a:cs typeface="+mn-cs"/>
                        </a:rPr>
                        <a:t>only branch instructions</a:t>
                      </a:r>
                      <a:endParaRPr lang="en-IN" sz="2000" dirty="0"/>
                    </a:p>
                  </a:txBody>
                  <a:tcPr/>
                </a:tc>
                <a:extLst>
                  <a:ext uri="{0D108BD9-81ED-4DB2-BD59-A6C34878D82A}">
                    <a16:rowId xmlns:a16="http://schemas.microsoft.com/office/drawing/2014/main" val="39386783"/>
                  </a:ext>
                </a:extLst>
              </a:tr>
              <a:tr h="554091">
                <a:tc>
                  <a:txBody>
                    <a:bodyPr/>
                    <a:lstStyle/>
                    <a:p>
                      <a:r>
                        <a:rPr lang="en-US" sz="2000" dirty="0"/>
                        <a:t>Data processing instructions</a:t>
                      </a:r>
                      <a:endParaRPr lang="en-IN" sz="2000" dirty="0"/>
                    </a:p>
                  </a:txBody>
                  <a:tcPr/>
                </a:tc>
                <a:tc>
                  <a:txBody>
                    <a:bodyPr/>
                    <a:lstStyle/>
                    <a:p>
                      <a:r>
                        <a:rPr lang="en-US" sz="2000" kern="1200" dirty="0">
                          <a:solidFill>
                            <a:schemeClr val="dk1"/>
                          </a:solidFill>
                          <a:effectLst/>
                          <a:latin typeface="+mn-lt"/>
                          <a:ea typeface="+mn-ea"/>
                          <a:cs typeface="+mn-cs"/>
                        </a:rPr>
                        <a:t>access  to  barrel  shifter  and ALU</a:t>
                      </a:r>
                      <a:endParaRPr lang="en-IN" sz="2000" dirty="0"/>
                    </a:p>
                  </a:txBody>
                  <a:tcPr/>
                </a:tc>
                <a:tc>
                  <a:txBody>
                    <a:bodyPr/>
                    <a:lstStyle/>
                    <a:p>
                      <a:r>
                        <a:rPr lang="en-US" sz="2000" kern="1200" dirty="0">
                          <a:solidFill>
                            <a:schemeClr val="dk1"/>
                          </a:solidFill>
                          <a:effectLst/>
                          <a:latin typeface="+mn-lt"/>
                          <a:ea typeface="+mn-ea"/>
                          <a:cs typeface="+mn-cs"/>
                        </a:rPr>
                        <a:t>separate barrel shifter and ALU instructions</a:t>
                      </a:r>
                      <a:endParaRPr lang="en-IN" sz="2000" dirty="0"/>
                    </a:p>
                  </a:txBody>
                  <a:tcPr/>
                </a:tc>
                <a:extLst>
                  <a:ext uri="{0D108BD9-81ED-4DB2-BD59-A6C34878D82A}">
                    <a16:rowId xmlns:a16="http://schemas.microsoft.com/office/drawing/2014/main" val="3923544370"/>
                  </a:ext>
                </a:extLst>
              </a:tr>
              <a:tr h="554091">
                <a:tc>
                  <a:txBody>
                    <a:bodyPr/>
                    <a:lstStyle/>
                    <a:p>
                      <a:r>
                        <a:rPr lang="en-US" sz="2000" kern="1200" dirty="0">
                          <a:solidFill>
                            <a:schemeClr val="dk1"/>
                          </a:solidFill>
                          <a:effectLst/>
                          <a:latin typeface="+mn-lt"/>
                          <a:ea typeface="+mn-ea"/>
                          <a:cs typeface="+mn-cs"/>
                        </a:rPr>
                        <a:t>Program status register</a:t>
                      </a:r>
                      <a:endParaRPr lang="en-IN" sz="2000" dirty="0"/>
                    </a:p>
                  </a:txBody>
                  <a:tcPr/>
                </a:tc>
                <a:tc>
                  <a:txBody>
                    <a:bodyPr/>
                    <a:lstStyle/>
                    <a:p>
                      <a:r>
                        <a:rPr lang="en-US" sz="2000" kern="1200" dirty="0">
                          <a:solidFill>
                            <a:schemeClr val="dk1"/>
                          </a:solidFill>
                          <a:effectLst/>
                          <a:latin typeface="+mn-lt"/>
                          <a:ea typeface="+mn-ea"/>
                          <a:cs typeface="+mn-cs"/>
                        </a:rPr>
                        <a:t>read-write in privileged mode</a:t>
                      </a:r>
                      <a:endParaRPr lang="en-IN" sz="2000" dirty="0"/>
                    </a:p>
                  </a:txBody>
                  <a:tcPr/>
                </a:tc>
                <a:tc>
                  <a:txBody>
                    <a:bodyPr/>
                    <a:lstStyle/>
                    <a:p>
                      <a:r>
                        <a:rPr lang="en-US" sz="2000" kern="1200" dirty="0">
                          <a:solidFill>
                            <a:schemeClr val="dk1"/>
                          </a:solidFill>
                          <a:effectLst/>
                          <a:latin typeface="+mn-lt"/>
                          <a:ea typeface="+mn-ea"/>
                          <a:cs typeface="+mn-cs"/>
                        </a:rPr>
                        <a:t>no direct access</a:t>
                      </a:r>
                      <a:endParaRPr lang="en-IN" sz="2000" dirty="0"/>
                    </a:p>
                  </a:txBody>
                  <a:tcPr/>
                </a:tc>
                <a:extLst>
                  <a:ext uri="{0D108BD9-81ED-4DB2-BD59-A6C34878D82A}">
                    <a16:rowId xmlns:a16="http://schemas.microsoft.com/office/drawing/2014/main" val="2503654861"/>
                  </a:ext>
                </a:extLst>
              </a:tr>
              <a:tr h="554091">
                <a:tc>
                  <a:txBody>
                    <a:bodyPr/>
                    <a:lstStyle/>
                    <a:p>
                      <a:r>
                        <a:rPr lang="en-US" sz="2000" kern="1200" dirty="0">
                          <a:solidFill>
                            <a:schemeClr val="dk1"/>
                          </a:solidFill>
                          <a:effectLst/>
                          <a:latin typeface="+mn-lt"/>
                          <a:ea typeface="+mn-ea"/>
                          <a:cs typeface="+mn-cs"/>
                        </a:rPr>
                        <a:t>Register usage</a:t>
                      </a:r>
                      <a:endParaRPr lang="en-IN" sz="2000" dirty="0"/>
                    </a:p>
                  </a:txBody>
                  <a:tcPr/>
                </a:tc>
                <a:tc>
                  <a:txBody>
                    <a:bodyPr/>
                    <a:lstStyle/>
                    <a:p>
                      <a:r>
                        <a:rPr lang="en-US" sz="2000" kern="1200" dirty="0">
                          <a:solidFill>
                            <a:schemeClr val="dk1"/>
                          </a:solidFill>
                          <a:effectLst/>
                          <a:latin typeface="+mn-lt"/>
                          <a:ea typeface="+mn-ea"/>
                          <a:cs typeface="+mn-cs"/>
                        </a:rPr>
                        <a:t>15  general-purpose  registers + PC</a:t>
                      </a:r>
                      <a:endParaRPr lang="en-IN" sz="2000" dirty="0"/>
                    </a:p>
                  </a:txBody>
                  <a:tcPr/>
                </a:tc>
                <a:tc>
                  <a:txBody>
                    <a:bodyPr/>
                    <a:lstStyle/>
                    <a:p>
                      <a:r>
                        <a:rPr lang="en-US" sz="2000" kern="1200" dirty="0">
                          <a:solidFill>
                            <a:schemeClr val="dk1"/>
                          </a:solidFill>
                          <a:effectLst/>
                          <a:latin typeface="+mn-lt"/>
                          <a:ea typeface="+mn-ea"/>
                          <a:cs typeface="+mn-cs"/>
                        </a:rPr>
                        <a:t>8 general-purpose registers +7 high registers +PC</a:t>
                      </a:r>
                      <a:endParaRPr lang="en-IN" sz="2000" dirty="0"/>
                    </a:p>
                  </a:txBody>
                  <a:tcPr/>
                </a:tc>
                <a:extLst>
                  <a:ext uri="{0D108BD9-81ED-4DB2-BD59-A6C34878D82A}">
                    <a16:rowId xmlns:a16="http://schemas.microsoft.com/office/drawing/2014/main" val="1639952955"/>
                  </a:ext>
                </a:extLst>
              </a:tr>
              <a:tr h="554091">
                <a:tc>
                  <a:txBody>
                    <a:bodyPr/>
                    <a:lstStyle/>
                    <a:p>
                      <a:endParaRPr lang="en-IN" sz="2000" dirty="0"/>
                    </a:p>
                  </a:txBody>
                  <a:tcPr/>
                </a:tc>
                <a:tc>
                  <a:txBody>
                    <a:bodyPr/>
                    <a:lstStyle/>
                    <a:p>
                      <a:endParaRPr lang="en-IN" sz="2000" dirty="0"/>
                    </a:p>
                  </a:txBody>
                  <a:tcPr/>
                </a:tc>
                <a:tc>
                  <a:txBody>
                    <a:bodyPr/>
                    <a:lstStyle/>
                    <a:p>
                      <a:endParaRPr lang="en-IN" sz="2000" dirty="0"/>
                    </a:p>
                  </a:txBody>
                  <a:tcPr/>
                </a:tc>
                <a:extLst>
                  <a:ext uri="{0D108BD9-81ED-4DB2-BD59-A6C34878D82A}">
                    <a16:rowId xmlns:a16="http://schemas.microsoft.com/office/drawing/2014/main" val="184502038"/>
                  </a:ext>
                </a:extLst>
              </a:tr>
            </a:tbl>
          </a:graphicData>
        </a:graphic>
      </p:graphicFrame>
    </p:spTree>
    <p:extLst>
      <p:ext uri="{BB962C8B-B14F-4D97-AF65-F5344CB8AC3E}">
        <p14:creationId xmlns:p14="http://schemas.microsoft.com/office/powerpoint/2010/main" val="27446055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E5B2A9-DA31-460E-AF25-A63B20F5C475}"/>
              </a:ext>
            </a:extLst>
          </p:cNvPr>
          <p:cNvSpPr>
            <a:spLocks noGrp="1"/>
          </p:cNvSpPr>
          <p:nvPr>
            <p:ph idx="1"/>
          </p:nvPr>
        </p:nvSpPr>
        <p:spPr>
          <a:xfrm>
            <a:off x="457200" y="1178751"/>
            <a:ext cx="8229600" cy="4947414"/>
          </a:xfrm>
        </p:spPr>
        <p:txBody>
          <a:bodyPr>
            <a:normAutofit/>
          </a:bodyPr>
          <a:lstStyle/>
          <a:p>
            <a:pPr lvl="0" algn="just"/>
            <a:r>
              <a:rPr lang="en-US" sz="2800" dirty="0"/>
              <a:t>The ARM designers introduced a third instruction set called </a:t>
            </a:r>
            <a:r>
              <a:rPr lang="en-US" sz="2800" dirty="0" err="1"/>
              <a:t>Jazelle</a:t>
            </a:r>
            <a:endParaRPr lang="en-US" sz="2800" dirty="0"/>
          </a:p>
          <a:p>
            <a:pPr lvl="0" algn="just"/>
            <a:endParaRPr lang="en-US" sz="2800" b="1" dirty="0"/>
          </a:p>
          <a:p>
            <a:pPr lvl="0" algn="just"/>
            <a:r>
              <a:rPr lang="en-US" sz="2800" i="1" dirty="0" err="1">
                <a:solidFill>
                  <a:srgbClr val="FF0000"/>
                </a:solidFill>
              </a:rPr>
              <a:t>Jazelle</a:t>
            </a:r>
            <a:r>
              <a:rPr lang="en-US" sz="2800" dirty="0"/>
              <a:t> executes 8-bit instructions and is a hybrid mix of software and hardware designed to speed up the execution of Java byte-codes</a:t>
            </a:r>
            <a:endParaRPr lang="en-IN" sz="2800" dirty="0"/>
          </a:p>
          <a:p>
            <a:pPr algn="just"/>
            <a:endParaRPr lang="en-IN" sz="2800" dirty="0"/>
          </a:p>
          <a:p>
            <a:pPr algn="just"/>
            <a:r>
              <a:rPr lang="en-US" sz="2800" dirty="0"/>
              <a:t>To execute Java byte-codes, you require the Jazelle technology plus a specially modified version of the Java virtual machine</a:t>
            </a:r>
            <a:endParaRPr lang="en-IN" sz="2800" dirty="0"/>
          </a:p>
        </p:txBody>
      </p:sp>
    </p:spTree>
    <p:extLst>
      <p:ext uri="{BB962C8B-B14F-4D97-AF65-F5344CB8AC3E}">
        <p14:creationId xmlns:p14="http://schemas.microsoft.com/office/powerpoint/2010/main" val="17029047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EE0C53-BA85-418E-BBBE-087F48EFD01E}"/>
              </a:ext>
            </a:extLst>
          </p:cNvPr>
          <p:cNvSpPr>
            <a:spLocks noGrp="1"/>
          </p:cNvSpPr>
          <p:nvPr>
            <p:ph idx="1"/>
          </p:nvPr>
        </p:nvSpPr>
        <p:spPr>
          <a:xfrm>
            <a:off x="457200" y="1043735"/>
            <a:ext cx="8229600" cy="5082429"/>
          </a:xfrm>
        </p:spPr>
        <p:txBody>
          <a:bodyPr/>
          <a:lstStyle/>
          <a:p>
            <a:pPr algn="just"/>
            <a:r>
              <a:rPr lang="en-US" sz="2600" dirty="0"/>
              <a:t>The following Table gives the Jazelle instruction set features.</a:t>
            </a:r>
          </a:p>
          <a:p>
            <a:endParaRPr lang="en-IN" dirty="0"/>
          </a:p>
        </p:txBody>
      </p:sp>
      <p:graphicFrame>
        <p:nvGraphicFramePr>
          <p:cNvPr id="3" name="Table 2">
            <a:extLst>
              <a:ext uri="{FF2B5EF4-FFF2-40B4-BE49-F238E27FC236}">
                <a16:creationId xmlns:a16="http://schemas.microsoft.com/office/drawing/2014/main" id="{97254DC2-0604-426D-9F7A-1E6FA9F2F2EA}"/>
              </a:ext>
            </a:extLst>
          </p:cNvPr>
          <p:cNvGraphicFramePr>
            <a:graphicFrameLocks noGrp="1"/>
          </p:cNvGraphicFramePr>
          <p:nvPr>
            <p:extLst>
              <p:ext uri="{D42A27DB-BD31-4B8C-83A1-F6EECF244321}">
                <p14:modId xmlns:p14="http://schemas.microsoft.com/office/powerpoint/2010/main" val="3276782512"/>
              </p:ext>
            </p:extLst>
          </p:nvPr>
        </p:nvGraphicFramePr>
        <p:xfrm>
          <a:off x="971599" y="2753925"/>
          <a:ext cx="7605845" cy="2884197"/>
        </p:xfrm>
        <a:graphic>
          <a:graphicData uri="http://schemas.openxmlformats.org/drawingml/2006/table">
            <a:tbl>
              <a:tblPr firstRow="1" bandRow="1">
                <a:tableStyleId>{5C22544A-7EE6-4342-B048-85BDC9FD1C3A}</a:tableStyleId>
              </a:tblPr>
              <a:tblGrid>
                <a:gridCol w="2321264">
                  <a:extLst>
                    <a:ext uri="{9D8B030D-6E8A-4147-A177-3AD203B41FA5}">
                      <a16:colId xmlns:a16="http://schemas.microsoft.com/office/drawing/2014/main" val="2844093072"/>
                    </a:ext>
                  </a:extLst>
                </a:gridCol>
                <a:gridCol w="5284581">
                  <a:extLst>
                    <a:ext uri="{9D8B030D-6E8A-4147-A177-3AD203B41FA5}">
                      <a16:colId xmlns:a16="http://schemas.microsoft.com/office/drawing/2014/main" val="3125729810"/>
                    </a:ext>
                  </a:extLst>
                </a:gridCol>
              </a:tblGrid>
              <a:tr h="612080">
                <a:tc>
                  <a:txBody>
                    <a:bodyPr/>
                    <a:lstStyle/>
                    <a:p>
                      <a:pPr algn="just"/>
                      <a:endParaRPr lang="en-IN" sz="2000" dirty="0"/>
                    </a:p>
                  </a:txBody>
                  <a:tcPr/>
                </a:tc>
                <a:tc>
                  <a:txBody>
                    <a:bodyPr/>
                    <a:lstStyle/>
                    <a:p>
                      <a:pPr algn="just"/>
                      <a:r>
                        <a:rPr lang="en-US" sz="2000" b="1" kern="1200" dirty="0" err="1">
                          <a:solidFill>
                            <a:schemeClr val="lt1"/>
                          </a:solidFill>
                          <a:effectLst/>
                          <a:latin typeface="+mn-lt"/>
                          <a:ea typeface="+mn-ea"/>
                          <a:cs typeface="+mn-cs"/>
                        </a:rPr>
                        <a:t>Jezelle</a:t>
                      </a:r>
                      <a:r>
                        <a:rPr lang="en-US" sz="2000" b="1" kern="1200" dirty="0">
                          <a:solidFill>
                            <a:schemeClr val="lt1"/>
                          </a:solidFill>
                          <a:effectLst/>
                          <a:latin typeface="+mn-lt"/>
                          <a:ea typeface="+mn-ea"/>
                          <a:cs typeface="+mn-cs"/>
                        </a:rPr>
                        <a:t> (</a:t>
                      </a:r>
                      <a:r>
                        <a:rPr lang="en-US" sz="2000" b="1" i="1" kern="1200" dirty="0" err="1">
                          <a:solidFill>
                            <a:schemeClr val="lt1"/>
                          </a:solidFill>
                          <a:effectLst/>
                          <a:latin typeface="+mn-lt"/>
                          <a:ea typeface="+mn-ea"/>
                          <a:cs typeface="+mn-cs"/>
                        </a:rPr>
                        <a:t>cspr</a:t>
                      </a:r>
                      <a:r>
                        <a:rPr lang="en-US" sz="2000" b="1" i="1" kern="1200" dirty="0">
                          <a:solidFill>
                            <a:schemeClr val="lt1"/>
                          </a:solidFill>
                          <a:effectLst/>
                          <a:latin typeface="+mn-lt"/>
                          <a:ea typeface="+mn-ea"/>
                          <a:cs typeface="+mn-cs"/>
                        </a:rPr>
                        <a:t> T</a:t>
                      </a:r>
                      <a:r>
                        <a:rPr lang="en-US" sz="2000" b="1" kern="1200" dirty="0">
                          <a:solidFill>
                            <a:schemeClr val="lt1"/>
                          </a:solidFill>
                          <a:effectLst/>
                          <a:latin typeface="+mn-lt"/>
                          <a:ea typeface="+mn-ea"/>
                          <a:cs typeface="+mn-cs"/>
                        </a:rPr>
                        <a:t> = 0, </a:t>
                      </a:r>
                      <a:r>
                        <a:rPr lang="en-US" sz="2000" b="1" i="1" kern="1200" dirty="0">
                          <a:solidFill>
                            <a:schemeClr val="lt1"/>
                          </a:solidFill>
                          <a:effectLst/>
                          <a:latin typeface="+mn-lt"/>
                          <a:ea typeface="+mn-ea"/>
                          <a:cs typeface="+mn-cs"/>
                        </a:rPr>
                        <a:t>J</a:t>
                      </a:r>
                      <a:r>
                        <a:rPr lang="en-US" sz="2000" b="1" kern="1200" dirty="0">
                          <a:solidFill>
                            <a:schemeClr val="lt1"/>
                          </a:solidFill>
                          <a:effectLst/>
                          <a:latin typeface="+mn-lt"/>
                          <a:ea typeface="+mn-ea"/>
                          <a:cs typeface="+mn-cs"/>
                        </a:rPr>
                        <a:t> – 1)</a:t>
                      </a:r>
                      <a:endParaRPr lang="en-IN" sz="2000" dirty="0"/>
                    </a:p>
                  </a:txBody>
                  <a:tcPr/>
                </a:tc>
                <a:extLst>
                  <a:ext uri="{0D108BD9-81ED-4DB2-BD59-A6C34878D82A}">
                    <a16:rowId xmlns:a16="http://schemas.microsoft.com/office/drawing/2014/main" val="948796532"/>
                  </a:ext>
                </a:extLst>
              </a:tr>
              <a:tr h="612080">
                <a:tc>
                  <a:txBody>
                    <a:bodyPr/>
                    <a:lstStyle/>
                    <a:p>
                      <a:pPr algn="just"/>
                      <a:r>
                        <a:rPr lang="en-US" sz="2000" kern="1200" dirty="0">
                          <a:solidFill>
                            <a:schemeClr val="dk1"/>
                          </a:solidFill>
                          <a:effectLst/>
                          <a:latin typeface="+mn-lt"/>
                          <a:ea typeface="+mn-ea"/>
                          <a:cs typeface="+mn-cs"/>
                        </a:rPr>
                        <a:t>Instruction size</a:t>
                      </a:r>
                      <a:endParaRPr lang="en-IN" sz="2000" dirty="0"/>
                    </a:p>
                  </a:txBody>
                  <a:tcPr/>
                </a:tc>
                <a:tc>
                  <a:txBody>
                    <a:bodyPr/>
                    <a:lstStyle/>
                    <a:p>
                      <a:pPr algn="just"/>
                      <a:r>
                        <a:rPr lang="en-US" sz="2000" kern="1200" dirty="0">
                          <a:solidFill>
                            <a:schemeClr val="dk1"/>
                          </a:solidFill>
                          <a:effectLst/>
                          <a:latin typeface="+mn-lt"/>
                          <a:ea typeface="+mn-ea"/>
                          <a:cs typeface="+mn-cs"/>
                        </a:rPr>
                        <a:t>8-bit</a:t>
                      </a:r>
                      <a:endParaRPr lang="en-IN" sz="2000" dirty="0"/>
                    </a:p>
                  </a:txBody>
                  <a:tcPr/>
                </a:tc>
                <a:extLst>
                  <a:ext uri="{0D108BD9-81ED-4DB2-BD59-A6C34878D82A}">
                    <a16:rowId xmlns:a16="http://schemas.microsoft.com/office/drawing/2014/main" val="331641063"/>
                  </a:ext>
                </a:extLst>
              </a:tr>
              <a:tr h="1047957">
                <a:tc>
                  <a:txBody>
                    <a:bodyPr/>
                    <a:lstStyle/>
                    <a:p>
                      <a:pPr algn="just"/>
                      <a:r>
                        <a:rPr lang="en-US" sz="2000" kern="1200" dirty="0">
                          <a:solidFill>
                            <a:schemeClr val="dk1"/>
                          </a:solidFill>
                          <a:effectLst/>
                          <a:latin typeface="+mn-lt"/>
                          <a:ea typeface="+mn-ea"/>
                          <a:cs typeface="+mn-cs"/>
                        </a:rPr>
                        <a:t>Core Instructions</a:t>
                      </a:r>
                      <a:endParaRPr lang="en-IN" sz="2000" dirty="0"/>
                    </a:p>
                  </a:txBody>
                  <a:tcPr/>
                </a:tc>
                <a:tc>
                  <a:txBody>
                    <a:bodyPr/>
                    <a:lstStyle/>
                    <a:p>
                      <a:pPr algn="just"/>
                      <a:r>
                        <a:rPr lang="en-US" sz="2000" kern="1200" dirty="0">
                          <a:solidFill>
                            <a:schemeClr val="dk1"/>
                          </a:solidFill>
                          <a:effectLst/>
                          <a:latin typeface="+mn-lt"/>
                          <a:ea typeface="+mn-ea"/>
                          <a:cs typeface="+mn-cs"/>
                        </a:rPr>
                        <a:t>Over 60% of the Java byte-codes are implemented in hardware; the rest of the codes are implemented in software</a:t>
                      </a:r>
                      <a:endParaRPr lang="en-IN" sz="2000" dirty="0"/>
                    </a:p>
                  </a:txBody>
                  <a:tcPr/>
                </a:tc>
                <a:extLst>
                  <a:ext uri="{0D108BD9-81ED-4DB2-BD59-A6C34878D82A}">
                    <a16:rowId xmlns:a16="http://schemas.microsoft.com/office/drawing/2014/main" val="3401461232"/>
                  </a:ext>
                </a:extLst>
              </a:tr>
              <a:tr h="612080">
                <a:tc>
                  <a:txBody>
                    <a:bodyPr/>
                    <a:lstStyle/>
                    <a:p>
                      <a:pPr algn="just"/>
                      <a:endParaRPr lang="en-IN" sz="2000"/>
                    </a:p>
                  </a:txBody>
                  <a:tcPr/>
                </a:tc>
                <a:tc>
                  <a:txBody>
                    <a:bodyPr/>
                    <a:lstStyle/>
                    <a:p>
                      <a:pPr algn="just"/>
                      <a:endParaRPr lang="en-IN" sz="2000" dirty="0"/>
                    </a:p>
                  </a:txBody>
                  <a:tcPr/>
                </a:tc>
                <a:extLst>
                  <a:ext uri="{0D108BD9-81ED-4DB2-BD59-A6C34878D82A}">
                    <a16:rowId xmlns:a16="http://schemas.microsoft.com/office/drawing/2014/main" val="4249253071"/>
                  </a:ext>
                </a:extLst>
              </a:tr>
            </a:tbl>
          </a:graphicData>
        </a:graphic>
      </p:graphicFrame>
      <p:sp>
        <p:nvSpPr>
          <p:cNvPr id="4" name="Rectangle 3">
            <a:extLst>
              <a:ext uri="{FF2B5EF4-FFF2-40B4-BE49-F238E27FC236}">
                <a16:creationId xmlns:a16="http://schemas.microsoft.com/office/drawing/2014/main" id="{A273A12B-E390-4090-B757-FD604A102AAB}"/>
              </a:ext>
            </a:extLst>
          </p:cNvPr>
          <p:cNvSpPr/>
          <p:nvPr/>
        </p:nvSpPr>
        <p:spPr>
          <a:xfrm>
            <a:off x="2990958" y="2264128"/>
            <a:ext cx="3162084"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Jazelle instruction set features</a:t>
            </a:r>
            <a:endParaRPr lang="en-IN" dirty="0"/>
          </a:p>
        </p:txBody>
      </p:sp>
    </p:spTree>
    <p:extLst>
      <p:ext uri="{BB962C8B-B14F-4D97-AF65-F5344CB8AC3E}">
        <p14:creationId xmlns:p14="http://schemas.microsoft.com/office/powerpoint/2010/main" val="288575113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C1D715-FD37-4056-8034-E0F0BA3DE15D}"/>
              </a:ext>
            </a:extLst>
          </p:cNvPr>
          <p:cNvSpPr>
            <a:spLocks noGrp="1"/>
          </p:cNvSpPr>
          <p:nvPr>
            <p:ph idx="1"/>
          </p:nvPr>
        </p:nvSpPr>
        <p:spPr>
          <a:xfrm>
            <a:off x="457200" y="1313765"/>
            <a:ext cx="8229600" cy="4812399"/>
          </a:xfrm>
        </p:spPr>
        <p:txBody>
          <a:bodyPr>
            <a:normAutofit/>
          </a:bodyPr>
          <a:lstStyle/>
          <a:p>
            <a:pPr lvl="0" algn="just"/>
            <a:r>
              <a:rPr lang="en-US" sz="2800" i="1" dirty="0"/>
              <a:t>Interrupt masks </a:t>
            </a:r>
            <a:r>
              <a:rPr lang="en-US" sz="2800" dirty="0"/>
              <a:t>are used to stop specific interrupt requests from interrupting the processor</a:t>
            </a:r>
            <a:endParaRPr lang="en-IN" sz="2800" dirty="0"/>
          </a:p>
          <a:p>
            <a:pPr algn="just"/>
            <a:endParaRPr lang="en-IN" sz="2800" dirty="0"/>
          </a:p>
          <a:p>
            <a:pPr lvl="0" algn="just"/>
            <a:r>
              <a:rPr lang="en-US" sz="2800" dirty="0"/>
              <a:t>There are two interrupt request levels available on the ARM processor core:</a:t>
            </a:r>
            <a:endParaRPr lang="en-IN" sz="2800" dirty="0"/>
          </a:p>
          <a:p>
            <a:endParaRPr lang="en-IN" dirty="0"/>
          </a:p>
          <a:p>
            <a:pPr lvl="1"/>
            <a:r>
              <a:rPr lang="en-US" dirty="0"/>
              <a:t>interrupt request (IRQ)</a:t>
            </a:r>
            <a:endParaRPr lang="en-IN" dirty="0"/>
          </a:p>
          <a:p>
            <a:pPr lvl="1"/>
            <a:r>
              <a:rPr lang="en-US" dirty="0"/>
              <a:t>fast interrupt request (FIQ)</a:t>
            </a:r>
            <a:endParaRPr lang="en-IN" dirty="0"/>
          </a:p>
        </p:txBody>
      </p:sp>
      <p:sp>
        <p:nvSpPr>
          <p:cNvPr id="3" name="Rectangle 2">
            <a:extLst>
              <a:ext uri="{FF2B5EF4-FFF2-40B4-BE49-F238E27FC236}">
                <a16:creationId xmlns:a16="http://schemas.microsoft.com/office/drawing/2014/main" id="{6E7E8226-9A0D-4DFF-805B-A7D42103D8DB}"/>
              </a:ext>
            </a:extLst>
          </p:cNvPr>
          <p:cNvSpPr/>
          <p:nvPr/>
        </p:nvSpPr>
        <p:spPr>
          <a:xfrm>
            <a:off x="206515" y="278650"/>
            <a:ext cx="2366353"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Interrupt Masks</a:t>
            </a:r>
            <a:endParaRPr lang="en-IN" sz="2400" dirty="0">
              <a:solidFill>
                <a:srgbClr val="FF0000"/>
              </a:solidFill>
            </a:endParaRPr>
          </a:p>
        </p:txBody>
      </p:sp>
    </p:spTree>
    <p:extLst>
      <p:ext uri="{BB962C8B-B14F-4D97-AF65-F5344CB8AC3E}">
        <p14:creationId xmlns:p14="http://schemas.microsoft.com/office/powerpoint/2010/main" val="15503391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7639CD-16EB-4AE6-8D8C-107A323F9D12}"/>
              </a:ext>
            </a:extLst>
          </p:cNvPr>
          <p:cNvSpPr>
            <a:spLocks noGrp="1"/>
          </p:cNvSpPr>
          <p:nvPr>
            <p:ph idx="1"/>
          </p:nvPr>
        </p:nvSpPr>
        <p:spPr>
          <a:xfrm>
            <a:off x="457200" y="1583795"/>
            <a:ext cx="8229600" cy="4542370"/>
          </a:xfrm>
        </p:spPr>
        <p:txBody>
          <a:bodyPr>
            <a:normAutofit/>
          </a:bodyPr>
          <a:lstStyle/>
          <a:p>
            <a:pPr lvl="0" algn="just"/>
            <a:r>
              <a:rPr lang="en-US" sz="2800" dirty="0"/>
              <a:t>The </a:t>
            </a:r>
            <a:r>
              <a:rPr lang="en-US" sz="2800" i="1" dirty="0"/>
              <a:t>cpsr</a:t>
            </a:r>
            <a:r>
              <a:rPr lang="en-US" sz="2800" dirty="0"/>
              <a:t> has two interrupt mask bits, 7 and 6 (or </a:t>
            </a:r>
            <a:r>
              <a:rPr lang="en-US" sz="2800" i="1" dirty="0"/>
              <a:t>I</a:t>
            </a:r>
            <a:r>
              <a:rPr lang="en-US" sz="2800" dirty="0"/>
              <a:t> and </a:t>
            </a:r>
            <a:r>
              <a:rPr lang="en-US" sz="2800" i="1" dirty="0"/>
              <a:t>F</a:t>
            </a:r>
            <a:r>
              <a:rPr lang="en-US" sz="2800" dirty="0"/>
              <a:t>), which control the masking of IRQ and FIQ, respectively</a:t>
            </a:r>
            <a:endParaRPr lang="en-IN" sz="2800" dirty="0"/>
          </a:p>
          <a:p>
            <a:pPr algn="just"/>
            <a:endParaRPr lang="en-IN" sz="2800" dirty="0"/>
          </a:p>
          <a:p>
            <a:pPr algn="just"/>
            <a:r>
              <a:rPr lang="en-US" sz="2800" dirty="0"/>
              <a:t>The </a:t>
            </a:r>
            <a:r>
              <a:rPr lang="en-US" sz="2800" i="1" dirty="0"/>
              <a:t>I</a:t>
            </a:r>
            <a:r>
              <a:rPr lang="en-US" sz="2800" dirty="0"/>
              <a:t> bit masks IRQ when set to binary 1; and similarly, the </a:t>
            </a:r>
            <a:r>
              <a:rPr lang="en-US" sz="2800" i="1" dirty="0"/>
              <a:t>F</a:t>
            </a:r>
            <a:r>
              <a:rPr lang="en-US" sz="2800" dirty="0"/>
              <a:t> bit masks FIQ when set to binary 1</a:t>
            </a:r>
            <a:endParaRPr lang="en-IN" sz="2800" dirty="0"/>
          </a:p>
        </p:txBody>
      </p:sp>
    </p:spTree>
    <p:extLst>
      <p:ext uri="{BB962C8B-B14F-4D97-AF65-F5344CB8AC3E}">
        <p14:creationId xmlns:p14="http://schemas.microsoft.com/office/powerpoint/2010/main" val="37238834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B89E33-B07F-410B-942F-35D6E473A902}"/>
              </a:ext>
            </a:extLst>
          </p:cNvPr>
          <p:cNvSpPr/>
          <p:nvPr/>
        </p:nvSpPr>
        <p:spPr>
          <a:xfrm>
            <a:off x="206515" y="233645"/>
            <a:ext cx="1638590" cy="461665"/>
          </a:xfrm>
          <a:prstGeom prst="rect">
            <a:avLst/>
          </a:prstGeom>
        </p:spPr>
        <p:txBody>
          <a:bodyPr wrap="none">
            <a:spAutoFit/>
          </a:bodyPr>
          <a:lstStyle/>
          <a:p>
            <a:r>
              <a:rPr lang="en-US" sz="24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PIPELINE</a:t>
            </a:r>
            <a:endParaRPr lang="en-IN" sz="2400" b="1" dirty="0">
              <a:solidFill>
                <a:srgbClr val="FF0000"/>
              </a:solidFill>
            </a:endParaRPr>
          </a:p>
        </p:txBody>
      </p:sp>
      <p:pic>
        <p:nvPicPr>
          <p:cNvPr id="8194" name="Picture 2">
            <a:extLst>
              <a:ext uri="{FF2B5EF4-FFF2-40B4-BE49-F238E27FC236}">
                <a16:creationId xmlns:a16="http://schemas.microsoft.com/office/drawing/2014/main" id="{E3211B70-5F1A-460B-A2A6-0D801414E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34" y="2258870"/>
            <a:ext cx="7921731" cy="16910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E68A3CC-A135-45FA-BE72-177099ABCD84}"/>
              </a:ext>
            </a:extLst>
          </p:cNvPr>
          <p:cNvSpPr/>
          <p:nvPr/>
        </p:nvSpPr>
        <p:spPr>
          <a:xfrm>
            <a:off x="2861810" y="3765205"/>
            <a:ext cx="2920671"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ARM7 Three-stage Pipeline</a:t>
            </a:r>
            <a:endParaRPr lang="en-IN" dirty="0"/>
          </a:p>
        </p:txBody>
      </p:sp>
    </p:spTree>
    <p:extLst>
      <p:ext uri="{BB962C8B-B14F-4D97-AF65-F5344CB8AC3E}">
        <p14:creationId xmlns:p14="http://schemas.microsoft.com/office/powerpoint/2010/main" val="8773865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5B88C6-B938-4FE7-AC62-676CA3230A4E}"/>
              </a:ext>
            </a:extLst>
          </p:cNvPr>
          <p:cNvSpPr>
            <a:spLocks noGrp="1"/>
          </p:cNvSpPr>
          <p:nvPr>
            <p:ph idx="1"/>
          </p:nvPr>
        </p:nvSpPr>
        <p:spPr/>
        <p:txBody>
          <a:bodyPr>
            <a:normAutofit/>
          </a:bodyPr>
          <a:lstStyle/>
          <a:p>
            <a:pPr algn="just"/>
            <a:r>
              <a:rPr lang="en-US" dirty="0"/>
              <a:t>The above Figure shows a three-stage pipeline: </a:t>
            </a:r>
          </a:p>
          <a:p>
            <a:pPr lvl="1" algn="just"/>
            <a:r>
              <a:rPr lang="en-US" i="1" dirty="0"/>
              <a:t>Fetch</a:t>
            </a:r>
            <a:r>
              <a:rPr lang="en-US" dirty="0"/>
              <a:t> loads an instruction from memory</a:t>
            </a:r>
            <a:endParaRPr lang="en-IN" dirty="0"/>
          </a:p>
          <a:p>
            <a:pPr lvl="1" algn="just"/>
            <a:r>
              <a:rPr lang="en-US" i="1" dirty="0"/>
              <a:t>Decode </a:t>
            </a:r>
            <a:r>
              <a:rPr lang="en-US" dirty="0"/>
              <a:t>identifies the instruction to be executed</a:t>
            </a:r>
            <a:endParaRPr lang="en-IN" dirty="0"/>
          </a:p>
          <a:p>
            <a:pPr lvl="1" algn="just"/>
            <a:r>
              <a:rPr lang="en-US" i="1" dirty="0"/>
              <a:t>Execute</a:t>
            </a:r>
            <a:r>
              <a:rPr lang="en-US" dirty="0"/>
              <a:t> processes the instruction and writes the result back to a register</a:t>
            </a:r>
            <a:endParaRPr lang="en-IN" dirty="0"/>
          </a:p>
        </p:txBody>
      </p:sp>
    </p:spTree>
    <p:extLst>
      <p:ext uri="{BB962C8B-B14F-4D97-AF65-F5344CB8AC3E}">
        <p14:creationId xmlns:p14="http://schemas.microsoft.com/office/powerpoint/2010/main" val="4036707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BBABA1A1-DA00-4BFA-889A-D26F4B6EEA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557" y="1578787"/>
            <a:ext cx="7754885" cy="37004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BF6A10B-823E-4B4A-8D5B-1E2969C67E7D}"/>
              </a:ext>
            </a:extLst>
          </p:cNvPr>
          <p:cNvSpPr/>
          <p:nvPr/>
        </p:nvSpPr>
        <p:spPr>
          <a:xfrm>
            <a:off x="3041830" y="1209455"/>
            <a:ext cx="3249608"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Pipelined Instruction Sequence</a:t>
            </a:r>
            <a:endParaRPr lang="en-IN" dirty="0"/>
          </a:p>
        </p:txBody>
      </p:sp>
    </p:spTree>
    <p:extLst>
      <p:ext uri="{BB962C8B-B14F-4D97-AF65-F5344CB8AC3E}">
        <p14:creationId xmlns:p14="http://schemas.microsoft.com/office/powerpoint/2010/main" val="400902555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ED1777-A673-4F36-92E9-114218ACEE76}"/>
              </a:ext>
            </a:extLst>
          </p:cNvPr>
          <p:cNvSpPr>
            <a:spLocks noGrp="1"/>
          </p:cNvSpPr>
          <p:nvPr>
            <p:ph idx="1"/>
          </p:nvPr>
        </p:nvSpPr>
        <p:spPr>
          <a:xfrm>
            <a:off x="457200" y="1088740"/>
            <a:ext cx="8229600" cy="5037425"/>
          </a:xfrm>
        </p:spPr>
        <p:txBody>
          <a:bodyPr>
            <a:normAutofit/>
          </a:bodyPr>
          <a:lstStyle/>
          <a:p>
            <a:pPr lvl="0" algn="just"/>
            <a:r>
              <a:rPr lang="en-US" sz="2600" dirty="0"/>
              <a:t>The Figure shows a sequence of three instructions being fetched, decoded, and executed by the processor</a:t>
            </a:r>
          </a:p>
          <a:p>
            <a:pPr lvl="0" algn="just"/>
            <a:endParaRPr lang="en-IN" sz="2600" dirty="0"/>
          </a:p>
          <a:p>
            <a:pPr algn="just"/>
            <a:r>
              <a:rPr lang="en-US" sz="2600" dirty="0"/>
              <a:t>The three instructions are placed into the pipeline sequentially</a:t>
            </a:r>
            <a:endParaRPr lang="en-IN" sz="2600" dirty="0"/>
          </a:p>
          <a:p>
            <a:pPr marL="0" indent="0" algn="just">
              <a:buNone/>
            </a:pPr>
            <a:endParaRPr lang="en-IN" sz="2600" dirty="0"/>
          </a:p>
          <a:p>
            <a:pPr algn="just"/>
            <a:r>
              <a:rPr lang="en-US" sz="2600" dirty="0"/>
              <a:t>In the first cycle, the core fetches the ADD instruction from memory</a:t>
            </a:r>
            <a:endParaRPr lang="en-IN" sz="2600" dirty="0"/>
          </a:p>
          <a:p>
            <a:pPr marL="0" indent="0" algn="just">
              <a:buNone/>
            </a:pPr>
            <a:endParaRPr lang="en-IN" sz="2600" dirty="0"/>
          </a:p>
          <a:p>
            <a:pPr algn="just"/>
            <a:r>
              <a:rPr lang="en-US" sz="2600" dirty="0"/>
              <a:t>In the second cycle, the core fetches the SUB instruction and decodes the ADD instruction</a:t>
            </a:r>
            <a:endParaRPr lang="en-IN" sz="2600" dirty="0"/>
          </a:p>
        </p:txBody>
      </p:sp>
    </p:spTree>
    <p:extLst>
      <p:ext uri="{BB962C8B-B14F-4D97-AF65-F5344CB8AC3E}">
        <p14:creationId xmlns:p14="http://schemas.microsoft.com/office/powerpoint/2010/main" val="17534166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60FA08-E981-4480-ADEA-877A423946C4}"/>
              </a:ext>
            </a:extLst>
          </p:cNvPr>
          <p:cNvSpPr>
            <a:spLocks noGrp="1"/>
          </p:cNvSpPr>
          <p:nvPr>
            <p:ph idx="1"/>
          </p:nvPr>
        </p:nvSpPr>
        <p:spPr>
          <a:xfrm>
            <a:off x="457200" y="1223755"/>
            <a:ext cx="8229600" cy="4902409"/>
          </a:xfrm>
        </p:spPr>
        <p:txBody>
          <a:bodyPr>
            <a:normAutofit/>
          </a:bodyPr>
          <a:lstStyle/>
          <a:p>
            <a:pPr algn="just"/>
            <a:r>
              <a:rPr lang="en-US" sz="2800" dirty="0"/>
              <a:t>In the third cycle, both the SUB and ADD instructions are moved along the pipeline</a:t>
            </a:r>
          </a:p>
          <a:p>
            <a:pPr algn="just"/>
            <a:endParaRPr lang="en-US" sz="2800" dirty="0"/>
          </a:p>
          <a:p>
            <a:pPr algn="just"/>
            <a:r>
              <a:rPr lang="en-US" sz="2800" dirty="0"/>
              <a:t>The ADD instruction is executed, the SUB instruction is decoded, and the CMP instruction is fetched</a:t>
            </a:r>
          </a:p>
          <a:p>
            <a:pPr algn="just"/>
            <a:endParaRPr lang="en-IN" sz="2800" dirty="0"/>
          </a:p>
          <a:p>
            <a:pPr lvl="0" algn="just"/>
            <a:r>
              <a:rPr lang="en-US" sz="2800" dirty="0"/>
              <a:t>This procedure is called </a:t>
            </a:r>
            <a:r>
              <a:rPr lang="en-US" sz="2800" b="1" i="1" dirty="0"/>
              <a:t>filling the pipeline</a:t>
            </a:r>
            <a:endParaRPr lang="en-IN" sz="2800" dirty="0"/>
          </a:p>
          <a:p>
            <a:pPr algn="just"/>
            <a:endParaRPr lang="en-IN" sz="2800" dirty="0"/>
          </a:p>
          <a:p>
            <a:pPr lvl="0" algn="just"/>
            <a:r>
              <a:rPr lang="en-US" sz="2800" dirty="0"/>
              <a:t>The pipeline allows the core to execute an instruction every cycle</a:t>
            </a:r>
            <a:endParaRPr lang="en-IN" sz="2800" dirty="0"/>
          </a:p>
          <a:p>
            <a:pPr algn="just"/>
            <a:endParaRPr lang="en-IN" sz="2800" dirty="0"/>
          </a:p>
        </p:txBody>
      </p:sp>
    </p:spTree>
    <p:extLst>
      <p:ext uri="{BB962C8B-B14F-4D97-AF65-F5344CB8AC3E}">
        <p14:creationId xmlns:p14="http://schemas.microsoft.com/office/powerpoint/2010/main" val="30963802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46DF4-5A5F-4454-866D-1B3E273C01EF}"/>
              </a:ext>
            </a:extLst>
          </p:cNvPr>
          <p:cNvSpPr>
            <a:spLocks noGrp="1"/>
          </p:cNvSpPr>
          <p:nvPr>
            <p:ph idx="1"/>
          </p:nvPr>
        </p:nvSpPr>
        <p:spPr>
          <a:xfrm>
            <a:off x="457200" y="1223755"/>
            <a:ext cx="8229600" cy="4902409"/>
          </a:xfrm>
        </p:spPr>
        <p:txBody>
          <a:bodyPr>
            <a:normAutofit/>
          </a:bodyPr>
          <a:lstStyle/>
          <a:p>
            <a:pPr lvl="0" algn="just"/>
            <a:r>
              <a:rPr lang="en-US" sz="2800" dirty="0"/>
              <a:t>As the pipeline length increases, the amount of work done at each stage is reduced, which allows the processor to attain a higher operating frequency</a:t>
            </a:r>
          </a:p>
          <a:p>
            <a:pPr lvl="0" algn="just"/>
            <a:endParaRPr lang="en-US" sz="2800" dirty="0"/>
          </a:p>
          <a:p>
            <a:pPr lvl="0" algn="just"/>
            <a:r>
              <a:rPr lang="en-US" sz="2800" dirty="0"/>
              <a:t>This in turn </a:t>
            </a:r>
            <a:r>
              <a:rPr lang="en-US" sz="2800" i="1" dirty="0"/>
              <a:t>increases the performance</a:t>
            </a:r>
            <a:endParaRPr lang="en-IN" sz="2800" dirty="0"/>
          </a:p>
          <a:p>
            <a:pPr algn="just"/>
            <a:endParaRPr lang="en-IN" sz="2800" dirty="0"/>
          </a:p>
          <a:p>
            <a:pPr algn="just"/>
            <a:r>
              <a:rPr lang="en-US" sz="2800" dirty="0"/>
              <a:t>The increased pipeline length also means increased </a:t>
            </a:r>
            <a:r>
              <a:rPr lang="en-US" sz="2800" i="1" dirty="0"/>
              <a:t>system latency</a:t>
            </a:r>
            <a:r>
              <a:rPr lang="en-US" sz="2800" dirty="0"/>
              <a:t> and there can be </a:t>
            </a:r>
            <a:r>
              <a:rPr lang="en-US" sz="2800" i="1" dirty="0"/>
              <a:t>data</a:t>
            </a:r>
            <a:r>
              <a:rPr lang="en-US" sz="2800" dirty="0"/>
              <a:t> </a:t>
            </a:r>
            <a:r>
              <a:rPr lang="en-US" sz="2800" i="1" dirty="0"/>
              <a:t>dependency </a:t>
            </a:r>
            <a:r>
              <a:rPr lang="en-US" sz="2800" dirty="0"/>
              <a:t>between certain stages</a:t>
            </a:r>
            <a:endParaRPr lang="en-IN" sz="2800" dirty="0"/>
          </a:p>
        </p:txBody>
      </p:sp>
    </p:spTree>
    <p:extLst>
      <p:ext uri="{BB962C8B-B14F-4D97-AF65-F5344CB8AC3E}">
        <p14:creationId xmlns:p14="http://schemas.microsoft.com/office/powerpoint/2010/main" val="134931061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AFBA02-0BAA-405F-A0EB-1A1F30FDBA08}"/>
              </a:ext>
            </a:extLst>
          </p:cNvPr>
          <p:cNvSpPr>
            <a:spLocks noGrp="1"/>
          </p:cNvSpPr>
          <p:nvPr>
            <p:ph idx="1"/>
          </p:nvPr>
        </p:nvSpPr>
        <p:spPr>
          <a:xfrm>
            <a:off x="457200" y="953725"/>
            <a:ext cx="8229600" cy="5172439"/>
          </a:xfrm>
        </p:spPr>
        <p:txBody>
          <a:bodyPr>
            <a:normAutofit/>
          </a:bodyPr>
          <a:lstStyle/>
          <a:p>
            <a:pPr algn="just"/>
            <a:r>
              <a:rPr lang="en-US" sz="2800" dirty="0"/>
              <a:t>The pipeline design for each ARM family differs</a:t>
            </a:r>
          </a:p>
          <a:p>
            <a:pPr algn="just"/>
            <a:endParaRPr lang="en-US" sz="2800" dirty="0"/>
          </a:p>
          <a:p>
            <a:pPr algn="just"/>
            <a:r>
              <a:rPr lang="en-US" sz="2800" dirty="0"/>
              <a:t>For example, The ARM9 core increases the pipeline length to five stages, as shown in Figure</a:t>
            </a:r>
            <a:endParaRPr lang="en-IN" sz="2800" dirty="0"/>
          </a:p>
        </p:txBody>
      </p:sp>
      <p:pic>
        <p:nvPicPr>
          <p:cNvPr id="10242" name="Picture 2">
            <a:extLst>
              <a:ext uri="{FF2B5EF4-FFF2-40B4-BE49-F238E27FC236}">
                <a16:creationId xmlns:a16="http://schemas.microsoft.com/office/drawing/2014/main" id="{2B487D18-F68A-4C12-BD01-4D92808DF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95" y="4159179"/>
            <a:ext cx="8765408" cy="76620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2F1BDC4-53C0-45F7-A088-650A7546721D}"/>
              </a:ext>
            </a:extLst>
          </p:cNvPr>
          <p:cNvSpPr/>
          <p:nvPr/>
        </p:nvSpPr>
        <p:spPr>
          <a:xfrm>
            <a:off x="3190851" y="3789847"/>
            <a:ext cx="2762295" cy="369332"/>
          </a:xfrm>
          <a:prstGeom prst="rect">
            <a:avLst/>
          </a:prstGeom>
        </p:spPr>
        <p:txBody>
          <a:bodyPr wrap="none">
            <a:spAutoFit/>
          </a:bodyPr>
          <a:lstStyle/>
          <a:p>
            <a:r>
              <a:rPr lang="en-US" b="1" dirty="0">
                <a:latin typeface="Times New Roman" panose="02020603050405020304" pitchFamily="18" charset="0"/>
                <a:ea typeface="Times New Roman" panose="02020603050405020304" pitchFamily="18" charset="0"/>
                <a:cs typeface="Arial" panose="020B0604020202020204" pitchFamily="34" charset="0"/>
              </a:rPr>
              <a:t>ARM9 Five-stage Pipeline</a:t>
            </a:r>
            <a:endParaRPr lang="en-IN" dirty="0"/>
          </a:p>
        </p:txBody>
      </p:sp>
    </p:spTree>
    <p:extLst>
      <p:ext uri="{BB962C8B-B14F-4D97-AF65-F5344CB8AC3E}">
        <p14:creationId xmlns:p14="http://schemas.microsoft.com/office/powerpoint/2010/main" val="153303733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32A7C0-F304-4928-A1B5-80E3F3E6846F}"/>
              </a:ext>
            </a:extLst>
          </p:cNvPr>
          <p:cNvSpPr>
            <a:spLocks noGrp="1"/>
          </p:cNvSpPr>
          <p:nvPr>
            <p:ph idx="1"/>
          </p:nvPr>
        </p:nvSpPr>
        <p:spPr/>
        <p:txBody>
          <a:bodyPr>
            <a:normAutofit/>
          </a:bodyPr>
          <a:lstStyle/>
          <a:p>
            <a:pPr lvl="0" algn="just"/>
            <a:r>
              <a:rPr lang="en-US" sz="2800" dirty="0"/>
              <a:t>The ARM9 adds a memory and writeback stage, which allows the ARM9 to process on average 1.1 Dhrystone MIPS per MHz</a:t>
            </a:r>
            <a:endParaRPr lang="en-IN" sz="2800" dirty="0"/>
          </a:p>
          <a:p>
            <a:pPr algn="just"/>
            <a:endParaRPr lang="en-IN" sz="2800" dirty="0"/>
          </a:p>
          <a:p>
            <a:pPr algn="just"/>
            <a:r>
              <a:rPr lang="en-US" sz="2800" dirty="0"/>
              <a:t>Increase the instruction throughput in ARM9 by around 13% compared with an ARM7</a:t>
            </a:r>
            <a:endParaRPr lang="en-IN" sz="2800" dirty="0"/>
          </a:p>
        </p:txBody>
      </p:sp>
    </p:spTree>
    <p:extLst>
      <p:ext uri="{BB962C8B-B14F-4D97-AF65-F5344CB8AC3E}">
        <p14:creationId xmlns:p14="http://schemas.microsoft.com/office/powerpoint/2010/main" val="9641453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288091-B864-4E47-BC97-157377EFAEB8}"/>
              </a:ext>
            </a:extLst>
          </p:cNvPr>
          <p:cNvSpPr>
            <a:spLocks noGrp="1"/>
          </p:cNvSpPr>
          <p:nvPr>
            <p:ph idx="1"/>
          </p:nvPr>
        </p:nvSpPr>
        <p:spPr/>
        <p:txBody>
          <a:bodyPr>
            <a:normAutofit/>
          </a:bodyPr>
          <a:lstStyle/>
          <a:p>
            <a:pPr algn="just"/>
            <a:r>
              <a:rPr lang="en-US" sz="2800" dirty="0"/>
              <a:t>Dhrystone is a general-performance benchmark test originally developed by Reinhold </a:t>
            </a:r>
            <a:r>
              <a:rPr lang="en-US" sz="2800" dirty="0" err="1"/>
              <a:t>Weicker</a:t>
            </a:r>
            <a:r>
              <a:rPr lang="en-US" sz="2800" dirty="0"/>
              <a:t> in 1984</a:t>
            </a:r>
          </a:p>
          <a:p>
            <a:pPr algn="just"/>
            <a:endParaRPr lang="en-US" sz="2800" dirty="0"/>
          </a:p>
          <a:p>
            <a:pPr algn="just"/>
            <a:r>
              <a:rPr lang="en-US" sz="2800" dirty="0"/>
              <a:t>This benchmark is used to measure and compare the performance of different computers or, in this case, the efficiency of the code generated for the same computer by different compilers</a:t>
            </a:r>
            <a:endParaRPr lang="en-IN" sz="2800" dirty="0"/>
          </a:p>
        </p:txBody>
      </p:sp>
    </p:spTree>
    <p:extLst>
      <p:ext uri="{BB962C8B-B14F-4D97-AF65-F5344CB8AC3E}">
        <p14:creationId xmlns:p14="http://schemas.microsoft.com/office/powerpoint/2010/main" val="255406847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3785"/>
            <a:ext cx="8229600" cy="4632379"/>
          </a:xfrm>
        </p:spPr>
        <p:txBody>
          <a:bodyPr/>
          <a:lstStyle/>
          <a:p>
            <a:pPr marL="0" indent="0" algn="ctr">
              <a:buNone/>
            </a:pPr>
            <a:endParaRPr lang="en-US" dirty="0"/>
          </a:p>
          <a:p>
            <a:pPr marL="0" indent="0" algn="ctr">
              <a:buNone/>
            </a:pPr>
            <a:endParaRPr lang="en-US" dirty="0"/>
          </a:p>
          <a:p>
            <a:pPr marL="0" indent="0" algn="ctr">
              <a:buNone/>
            </a:pPr>
            <a:r>
              <a:rPr lang="en-US" sz="6000" b="1" dirty="0">
                <a:solidFill>
                  <a:srgbClr val="D927B3"/>
                </a:solidFill>
                <a:latin typeface="Monotype Corsiva" panose="03010101010201010101" pitchFamily="66" charset="0"/>
              </a:rPr>
              <a:t>Thank You!!!</a:t>
            </a:r>
          </a:p>
        </p:txBody>
      </p:sp>
    </p:spTree>
    <p:extLst>
      <p:ext uri="{BB962C8B-B14F-4D97-AF65-F5344CB8AC3E}">
        <p14:creationId xmlns:p14="http://schemas.microsoft.com/office/powerpoint/2010/main" val="1610731470"/>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7175</TotalTime>
  <Words>6086</Words>
  <Application>Microsoft Office PowerPoint</Application>
  <PresentationFormat>On-screen Show (4:3)</PresentationFormat>
  <Paragraphs>698</Paragraphs>
  <Slides>143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143</vt:i4>
      </vt:variant>
    </vt:vector>
  </HeadingPairs>
  <TitlesOfParts>
    <vt:vector size="149" baseType="lpstr">
      <vt:lpstr>Arial</vt:lpstr>
      <vt:lpstr>Calibri</vt:lpstr>
      <vt:lpstr>Monotype Corsiva</vt:lpstr>
      <vt:lpstr>Times New Roman</vt:lpstr>
      <vt:lpstr>Trebuchet MS</vt:lpstr>
      <vt:lpstr>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NITTE EDUCATION TRUST</dc:title>
  <dc:creator>Jaya Executive Assistant</dc:creator>
  <cp:lastModifiedBy>ShilpaMK</cp:lastModifiedBy>
  <cp:revision>1840</cp:revision>
  <dcterms:created xsi:type="dcterms:W3CDTF">2016-06-22T07:40:32Z</dcterms:created>
  <dcterms:modified xsi:type="dcterms:W3CDTF">2026-03-12T04:20:10Z</dcterms:modified>
</cp:coreProperties>
</file>