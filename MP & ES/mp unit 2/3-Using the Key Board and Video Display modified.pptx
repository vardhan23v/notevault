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4" r:id="rId2"/>
    <p:sldId id="30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p:cViewPr varScale="1">
        <p:scale>
          <a:sx n="62" d="100"/>
          <a:sy n="62" d="100"/>
        </p:scale>
        <p:origin x="1416"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E689A7-8CAD-41BC-BD01-46D969825458}" type="datetimeFigureOut">
              <a:rPr lang="en-IN" smtClean="0"/>
              <a:pPr/>
              <a:t>01-04-2025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CE0B25-85FD-42D4-BD34-D4709D88C36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C797473-1693-4809-BD21-2C7AA4D37042}" type="datetime1">
              <a:rPr lang="en-US"/>
              <a:pPr>
                <a:defRPr/>
              </a:pPr>
              <a:t>4/1/2025</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ROSHAN FERNANDES, DEPT OF CSE</a:t>
            </a:r>
          </a:p>
        </p:txBody>
      </p:sp>
      <p:sp>
        <p:nvSpPr>
          <p:cNvPr id="7" name="Rectangle 6"/>
          <p:cNvSpPr>
            <a:spLocks noGrp="1" noChangeArrowheads="1"/>
          </p:cNvSpPr>
          <p:nvPr>
            <p:ph type="sldNum" sz="quarter" idx="12"/>
          </p:nvPr>
        </p:nvSpPr>
        <p:spPr>
          <a:ln/>
        </p:spPr>
        <p:txBody>
          <a:bodyPr/>
          <a:lstStyle>
            <a:lvl1pPr>
              <a:defRPr/>
            </a:lvl1pPr>
          </a:lstStyle>
          <a:p>
            <a:pPr>
              <a:defRPr/>
            </a:pPr>
            <a:fld id="{A0B1639C-775A-423E-A526-873B6A96F32D}"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E689A7-8CAD-41BC-BD01-46D969825458}" type="datetimeFigureOut">
              <a:rPr lang="en-IN" smtClean="0"/>
              <a:pPr/>
              <a:t>01-04-2025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CE0B25-85FD-42D4-BD34-D4709D88C36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404664"/>
            <a:ext cx="7772400" cy="1470025"/>
          </a:xfrm>
        </p:spPr>
        <p:txBody>
          <a:bodyPr/>
          <a:lstStyle/>
          <a:p>
            <a:r>
              <a:rPr lang="en-GB" b="1" dirty="0">
                <a:latin typeface="Cambria Math" pitchFamily="18" charset="0"/>
                <a:ea typeface="Cambria Math" pitchFamily="18" charset="0"/>
              </a:rPr>
              <a:t>Using the Key Board and Video Display</a:t>
            </a:r>
            <a:endParaRPr lang="en-IN" dirty="0">
              <a:latin typeface="Cambria Math" pitchFamily="18" charset="0"/>
              <a:ea typeface="Cambria Math" pitchFamily="18" charset="0"/>
            </a:endParaRPr>
          </a:p>
        </p:txBody>
      </p:sp>
      <p:sp>
        <p:nvSpPr>
          <p:cNvPr id="3" name="Subtitle 2"/>
          <p:cNvSpPr>
            <a:spLocks noGrp="1"/>
          </p:cNvSpPr>
          <p:nvPr>
            <p:ph type="subTitle" idx="1"/>
          </p:nvPr>
        </p:nvSpPr>
        <p:spPr>
          <a:xfrm>
            <a:off x="971600" y="1988840"/>
            <a:ext cx="6800800" cy="3649960"/>
          </a:xfrm>
        </p:spPr>
        <p:txBody>
          <a:bodyPr/>
          <a:lstStyle/>
          <a:p>
            <a:pPr algn="just">
              <a:buFont typeface="Wingdings" pitchFamily="2" charset="2"/>
              <a:buChar char="Ø"/>
            </a:pPr>
            <a:endParaRPr lang="en-GB" b="1" dirty="0">
              <a:solidFill>
                <a:srgbClr val="C00000"/>
              </a:solidFill>
            </a:endParaRPr>
          </a:p>
          <a:p>
            <a:pPr algn="just">
              <a:buFont typeface="Wingdings" pitchFamily="2" charset="2"/>
              <a:buChar char="Ø"/>
            </a:pPr>
            <a:r>
              <a:rPr lang="en-GB" b="1" dirty="0">
                <a:solidFill>
                  <a:srgbClr val="C00000"/>
                </a:solidFill>
              </a:rPr>
              <a:t>DOS &amp; BIOS interrupts</a:t>
            </a:r>
          </a:p>
          <a:p>
            <a:pPr algn="just">
              <a:buFont typeface="Wingdings" pitchFamily="2" charset="2"/>
              <a:buChar char="Ø"/>
            </a:pPr>
            <a:r>
              <a:rPr lang="en-GB" b="1" dirty="0">
                <a:solidFill>
                  <a:srgbClr val="C00000"/>
                </a:solidFill>
              </a:rPr>
              <a:t> Disk files</a:t>
            </a:r>
          </a:p>
          <a:p>
            <a:pPr algn="just">
              <a:buFont typeface="Wingdings" pitchFamily="2" charset="2"/>
              <a:buChar char="Ø"/>
            </a:pPr>
            <a:r>
              <a:rPr lang="en-GB" b="1" dirty="0">
                <a:solidFill>
                  <a:srgbClr val="C00000"/>
                </a:solidFill>
              </a:rPr>
              <a:t>Example Programs.</a:t>
            </a:r>
            <a:endParaRPr lang="en-IN" b="1" dirty="0">
              <a:solidFill>
                <a:srgbClr val="C00000"/>
              </a:solidFill>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90222A2-FFCD-4E49-A5CD-AE5CBA6FFBD1}"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D460D418-61AB-4721-86F3-095B70A314B1}" type="slidenum">
              <a:rPr lang="en-US" altLang="en-US" smtClean="0"/>
              <a:pPr>
                <a:defRPr/>
              </a:pPr>
              <a:t>2</a:t>
            </a:fld>
            <a:endParaRPr lang="en-US" altLang="en-US"/>
          </a:p>
        </p:txBody>
      </p:sp>
      <p:sp>
        <p:nvSpPr>
          <p:cNvPr id="69637" name="Title 1"/>
          <p:cNvSpPr>
            <a:spLocks noGrp="1"/>
          </p:cNvSpPr>
          <p:nvPr>
            <p:ph type="title"/>
          </p:nvPr>
        </p:nvSpPr>
        <p:spPr>
          <a:xfrm>
            <a:off x="533400" y="381000"/>
            <a:ext cx="8077200" cy="2209800"/>
          </a:xfrm>
        </p:spPr>
        <p:txBody>
          <a:bodyPr>
            <a:normAutofit fontScale="90000"/>
          </a:bodyPr>
          <a:lstStyle/>
          <a:p>
            <a:pPr eaLnBrk="1" hangingPunct="1"/>
            <a:r>
              <a:rPr lang="en-US"/>
              <a:t>Using keyboard and video display</a:t>
            </a:r>
            <a:br>
              <a:rPr lang="en-US"/>
            </a:br>
            <a:r>
              <a:rPr lang="en-US"/>
              <a:t> (DOS 21H functions, BIOS 10H functions)</a:t>
            </a:r>
            <a:br>
              <a:rPr lang="en-US"/>
            </a:br>
            <a:br>
              <a:rPr lang="en-US"/>
            </a:br>
            <a:r>
              <a:rPr lang="pt-BR" b="1"/>
              <a:t>     </a:t>
            </a:r>
            <a:endParaRPr lang="en-US"/>
          </a:p>
        </p:txBody>
      </p:sp>
      <p:graphicFrame>
        <p:nvGraphicFramePr>
          <p:cNvPr id="7" name="Table 6"/>
          <p:cNvGraphicFramePr>
            <a:graphicFrameLocks noGrp="1"/>
          </p:cNvGraphicFramePr>
          <p:nvPr/>
        </p:nvGraphicFramePr>
        <p:xfrm>
          <a:off x="762000" y="2667000"/>
          <a:ext cx="7086600" cy="3048000"/>
        </p:xfrm>
        <a:graphic>
          <a:graphicData uri="http://schemas.openxmlformats.org/drawingml/2006/table">
            <a:tbl>
              <a:tblPr firstRow="1" bandRow="1">
                <a:tableStyleId>{5C22544A-7EE6-4342-B048-85BDC9FD1C3A}</a:tableStyleId>
              </a:tblPr>
              <a:tblGrid>
                <a:gridCol w="35433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tblGrid>
              <a:tr h="508000">
                <a:tc>
                  <a:txBody>
                    <a:bodyPr/>
                    <a:lstStyle/>
                    <a:p>
                      <a:pPr algn="l"/>
                      <a:r>
                        <a:rPr lang="en-US" dirty="0"/>
                        <a:t>Interrupt Type</a:t>
                      </a:r>
                    </a:p>
                  </a:txBody>
                  <a:tcPr/>
                </a:tc>
                <a:tc>
                  <a:txBody>
                    <a:bodyPr/>
                    <a:lstStyle/>
                    <a:p>
                      <a:pPr algn="l"/>
                      <a:r>
                        <a:rPr lang="en-US" dirty="0"/>
                        <a:t>Description</a:t>
                      </a:r>
                    </a:p>
                  </a:txBody>
                  <a:tcPr/>
                </a:tc>
                <a:extLst>
                  <a:ext uri="{0D108BD9-81ED-4DB2-BD59-A6C34878D82A}">
                    <a16:rowId xmlns:a16="http://schemas.microsoft.com/office/drawing/2014/main" val="10000"/>
                  </a:ext>
                </a:extLst>
              </a:tr>
              <a:tr h="508000">
                <a:tc>
                  <a:txBody>
                    <a:bodyPr/>
                    <a:lstStyle/>
                    <a:p>
                      <a:pPr algn="l"/>
                      <a:r>
                        <a:rPr lang="pt-BR" sz="1800" dirty="0"/>
                        <a:t>00h-1Fh</a:t>
                      </a:r>
                      <a:endParaRPr lang="en-US" dirty="0"/>
                    </a:p>
                  </a:txBody>
                  <a:tcPr/>
                </a:tc>
                <a:tc>
                  <a:txBody>
                    <a:bodyPr/>
                    <a:lstStyle/>
                    <a:p>
                      <a:pPr algn="l"/>
                      <a:r>
                        <a:rPr lang="pt-BR" sz="1800" dirty="0"/>
                        <a:t>BIOS Interrupts </a:t>
                      </a:r>
                      <a:endParaRPr lang="en-US" dirty="0"/>
                    </a:p>
                  </a:txBody>
                  <a:tcPr/>
                </a:tc>
                <a:extLst>
                  <a:ext uri="{0D108BD9-81ED-4DB2-BD59-A6C34878D82A}">
                    <a16:rowId xmlns:a16="http://schemas.microsoft.com/office/drawing/2014/main" val="10001"/>
                  </a:ext>
                </a:extLst>
              </a:tr>
              <a:tr h="508000">
                <a:tc>
                  <a:txBody>
                    <a:bodyPr/>
                    <a:lstStyle/>
                    <a:p>
                      <a:pPr algn="l"/>
                      <a:r>
                        <a:rPr lang="pt-BR" sz="1800" dirty="0"/>
                        <a:t>20h-3Fh      </a:t>
                      </a:r>
                      <a:endParaRPr lang="en-US" dirty="0"/>
                    </a:p>
                  </a:txBody>
                  <a:tcPr/>
                </a:tc>
                <a:tc>
                  <a:txBody>
                    <a:bodyPr/>
                    <a:lstStyle/>
                    <a:p>
                      <a:pPr algn="l"/>
                      <a:r>
                        <a:rPr lang="pt-BR" sz="1800" dirty="0"/>
                        <a:t>DOS Interrupts</a:t>
                      </a:r>
                      <a:endParaRPr lang="en-US" dirty="0"/>
                    </a:p>
                  </a:txBody>
                  <a:tcPr/>
                </a:tc>
                <a:extLst>
                  <a:ext uri="{0D108BD9-81ED-4DB2-BD59-A6C34878D82A}">
                    <a16:rowId xmlns:a16="http://schemas.microsoft.com/office/drawing/2014/main" val="10002"/>
                  </a:ext>
                </a:extLst>
              </a:tr>
              <a:tr h="508000">
                <a:tc>
                  <a:txBody>
                    <a:bodyPr/>
                    <a:lstStyle/>
                    <a:p>
                      <a:pPr algn="l"/>
                      <a:r>
                        <a:rPr lang="en-US" sz="1800" dirty="0"/>
                        <a:t>40h-7Fh </a:t>
                      </a:r>
                      <a:endParaRPr lang="en-US" dirty="0"/>
                    </a:p>
                  </a:txBody>
                  <a:tcPr/>
                </a:tc>
                <a:tc>
                  <a:txBody>
                    <a:bodyPr/>
                    <a:lstStyle/>
                    <a:p>
                      <a:pPr algn="l"/>
                      <a:r>
                        <a:rPr lang="en-US" sz="1800" dirty="0"/>
                        <a:t>reserved</a:t>
                      </a:r>
                      <a:endParaRPr lang="en-US" dirty="0"/>
                    </a:p>
                  </a:txBody>
                  <a:tcPr/>
                </a:tc>
                <a:extLst>
                  <a:ext uri="{0D108BD9-81ED-4DB2-BD59-A6C34878D82A}">
                    <a16:rowId xmlns:a16="http://schemas.microsoft.com/office/drawing/2014/main" val="10003"/>
                  </a:ext>
                </a:extLst>
              </a:tr>
              <a:tr h="508000">
                <a:tc>
                  <a:txBody>
                    <a:bodyPr/>
                    <a:lstStyle/>
                    <a:p>
                      <a:pPr algn="l"/>
                      <a:r>
                        <a:rPr lang="en-US" sz="1800" dirty="0"/>
                        <a:t>80h-F0h</a:t>
                      </a:r>
                      <a:endParaRPr lang="en-US" dirty="0"/>
                    </a:p>
                  </a:txBody>
                  <a:tcPr/>
                </a:tc>
                <a:tc>
                  <a:txBody>
                    <a:bodyPr/>
                    <a:lstStyle/>
                    <a:p>
                      <a:pPr algn="l"/>
                      <a:r>
                        <a:rPr lang="en-US" sz="1800" dirty="0"/>
                        <a:t>ROM BASIC </a:t>
                      </a:r>
                      <a:endParaRPr lang="en-US" dirty="0"/>
                    </a:p>
                  </a:txBody>
                  <a:tcPr/>
                </a:tc>
                <a:extLst>
                  <a:ext uri="{0D108BD9-81ED-4DB2-BD59-A6C34878D82A}">
                    <a16:rowId xmlns:a16="http://schemas.microsoft.com/office/drawing/2014/main" val="10004"/>
                  </a:ext>
                </a:extLst>
              </a:tr>
              <a:tr h="508000">
                <a:tc>
                  <a:txBody>
                    <a:bodyPr/>
                    <a:lstStyle/>
                    <a:p>
                      <a:pPr algn="l"/>
                      <a:r>
                        <a:rPr lang="en-US" sz="1800" dirty="0"/>
                        <a:t>F1h-FFh</a:t>
                      </a:r>
                      <a:endParaRPr lang="en-US" dirty="0"/>
                    </a:p>
                  </a:txBody>
                  <a:tcPr/>
                </a:tc>
                <a:tc>
                  <a:txBody>
                    <a:bodyPr/>
                    <a:lstStyle/>
                    <a:p>
                      <a:pPr algn="l"/>
                      <a:r>
                        <a:rPr lang="en-US" sz="1800" dirty="0"/>
                        <a:t>not used</a:t>
                      </a:r>
                      <a:r>
                        <a:rPr lang="pt-BR" sz="1800" dirty="0"/>
                        <a:t> </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0AF3BD32-F247-4D23-8AC2-0030587C1F10}" type="slidenum">
              <a:rPr lang="en-US" altLang="en-US" smtClean="0"/>
              <a:pPr>
                <a:defRPr/>
              </a:pPr>
              <a:t>3</a:t>
            </a:fld>
            <a:endParaRPr lang="en-US" altLang="en-US"/>
          </a:p>
        </p:txBody>
      </p:sp>
      <p:sp>
        <p:nvSpPr>
          <p:cNvPr id="70661" name="TextBox 9"/>
          <p:cNvSpPr>
            <a:spLocks noGrp="1" noChangeArrowheads="1"/>
          </p:cNvSpPr>
          <p:nvPr>
            <p:ph type="title"/>
          </p:nvPr>
        </p:nvSpPr>
        <p:spPr>
          <a:xfrm>
            <a:off x="533400" y="533400"/>
            <a:ext cx="8229600" cy="1323975"/>
          </a:xfrm>
        </p:spPr>
        <p:txBody>
          <a:bodyPr>
            <a:spAutoFit/>
          </a:bodyPr>
          <a:lstStyle/>
          <a:p>
            <a:pPr algn="ctr"/>
            <a:r>
              <a:rPr lang="en-US" sz="4000" b="1"/>
              <a:t>DOS(Disk Operating System) 21H SEVICES</a:t>
            </a:r>
          </a:p>
        </p:txBody>
      </p:sp>
      <p:sp>
        <p:nvSpPr>
          <p:cNvPr id="70662" name="TextBox 6"/>
          <p:cNvSpPr txBox="1">
            <a:spLocks noChangeArrowheads="1"/>
          </p:cNvSpPr>
          <p:nvPr/>
        </p:nvSpPr>
        <p:spPr bwMode="auto">
          <a:xfrm>
            <a:off x="533400" y="2586038"/>
            <a:ext cx="7848600" cy="2062162"/>
          </a:xfrm>
          <a:prstGeom prst="rect">
            <a:avLst/>
          </a:prstGeom>
          <a:noFill/>
          <a:ln w="9525">
            <a:noFill/>
            <a:miter lim="800000"/>
            <a:headEnd/>
            <a:tailEnd/>
          </a:ln>
        </p:spPr>
        <p:txBody>
          <a:bodyPr>
            <a:spAutoFit/>
          </a:bodyPr>
          <a:lstStyle/>
          <a:p>
            <a:pPr algn="just"/>
            <a:r>
              <a:rPr lang="en-US" sz="3200"/>
              <a:t>There are 87 different functions supported by this interrupt, identified by a </a:t>
            </a:r>
            <a:r>
              <a:rPr lang="en-US" sz="3200" i="1">
                <a:latin typeface="Monotype Corsiva" pitchFamily="66" charset="0"/>
              </a:rPr>
              <a:t>function number</a:t>
            </a:r>
            <a:r>
              <a:rPr lang="en-US" sz="3200"/>
              <a:t> placed in the AH register.</a:t>
            </a:r>
          </a:p>
          <a:p>
            <a:pPr algn="just"/>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p:cNvSpPr>
            <a:spLocks noGrp="1"/>
          </p:cNvSpPr>
          <p:nvPr>
            <p:ph idx="1"/>
          </p:nvPr>
        </p:nvSpPr>
        <p:spPr>
          <a:xfrm>
            <a:off x="457200" y="1295400"/>
            <a:ext cx="8305800" cy="4800600"/>
          </a:xfrm>
        </p:spPr>
        <p:txBody>
          <a:bodyPr/>
          <a:lstStyle/>
          <a:p>
            <a:pPr>
              <a:buFont typeface="Wingdings" pitchFamily="2" charset="2"/>
              <a:buNone/>
            </a:pPr>
            <a:r>
              <a:rPr lang="en-US" sz="2000" b="1"/>
              <a:t>int 21h		character input with echo		function 01h</a:t>
            </a:r>
          </a:p>
          <a:p>
            <a:pPr>
              <a:buFont typeface="Wingdings" pitchFamily="2" charset="2"/>
              <a:buNone/>
            </a:pPr>
            <a:endParaRPr lang="en-US" sz="2400"/>
          </a:p>
          <a:p>
            <a:r>
              <a:rPr lang="en-US" sz="2000"/>
              <a:t>Reads a character from the standard input device and echoes it to the standard output device. If no character is ready, waits until one is pressed</a:t>
            </a:r>
          </a:p>
          <a:p>
            <a:endParaRPr lang="en-US" sz="2000"/>
          </a:p>
          <a:p>
            <a:r>
              <a:rPr lang="en-US" sz="2000"/>
              <a:t>Calling parameters</a:t>
            </a:r>
          </a:p>
          <a:p>
            <a:pPr>
              <a:buFont typeface="Wingdings" pitchFamily="2" charset="2"/>
              <a:buNone/>
            </a:pPr>
            <a:r>
              <a:rPr lang="en-US" sz="2000"/>
              <a:t>		AH=01H</a:t>
            </a:r>
          </a:p>
          <a:p>
            <a:r>
              <a:rPr lang="en-US" sz="2000"/>
              <a:t>Returns </a:t>
            </a:r>
          </a:p>
          <a:p>
            <a:pPr>
              <a:buFont typeface="Wingdings" pitchFamily="2" charset="2"/>
              <a:buNone/>
            </a:pPr>
            <a:r>
              <a:rPr lang="en-US" sz="2000"/>
              <a:t>		AL=8 bit input data</a:t>
            </a:r>
          </a:p>
          <a:p>
            <a:r>
              <a:rPr lang="en-US" sz="1800"/>
              <a:t>Ex:</a:t>
            </a:r>
          </a:p>
          <a:p>
            <a:pPr eaLnBrk="1" hangingPunct="1">
              <a:buFont typeface="Wingdings" pitchFamily="2" charset="2"/>
              <a:buNone/>
            </a:pPr>
            <a:r>
              <a:rPr lang="en-US" sz="1800"/>
              <a:t>	MOV AH,01H</a:t>
            </a:r>
          </a:p>
          <a:p>
            <a:pPr eaLnBrk="1" hangingPunct="1">
              <a:buFont typeface="Wingdings" pitchFamily="2" charset="2"/>
              <a:buNone/>
            </a:pPr>
            <a:r>
              <a:rPr lang="en-US" sz="1800"/>
              <a:t>	INT 21H;</a:t>
            </a:r>
          </a:p>
        </p:txBody>
      </p:sp>
      <p:sp>
        <p:nvSpPr>
          <p:cNvPr id="4" name="Date Placeholder 3"/>
          <p:cNvSpPr>
            <a:spLocks noGrp="1"/>
          </p:cNvSpPr>
          <p:nvPr>
            <p:ph type="dt" sz="quarter" idx="10"/>
          </p:nvPr>
        </p:nvSpPr>
        <p:spPr/>
        <p:txBody>
          <a:bodyPr/>
          <a:lstStyle/>
          <a:p>
            <a:pPr>
              <a:defRPr/>
            </a:pPr>
            <a:fld id="{D90222A2-FFCD-4E49-A5CD-AE5CBA6FFBD1}"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D6699D4A-B606-4236-BE8D-93CD364E8CF4}" type="slidenum">
              <a:rPr lang="en-US" altLang="en-US" smtClean="0"/>
              <a:pPr>
                <a:defRPr/>
              </a:pPr>
              <a:t>4</a:t>
            </a:fld>
            <a:endParaRPr lang="en-US" altLang="en-US" dirty="0"/>
          </a:p>
        </p:txBody>
      </p:sp>
      <p:sp>
        <p:nvSpPr>
          <p:cNvPr id="71686" name="Title 1"/>
          <p:cNvSpPr>
            <a:spLocks noGrp="1"/>
          </p:cNvSpPr>
          <p:nvPr>
            <p:ph type="title"/>
          </p:nvPr>
        </p:nvSpPr>
        <p:spPr>
          <a:xfrm>
            <a:off x="304800" y="152400"/>
            <a:ext cx="8229600" cy="865188"/>
          </a:xfrm>
        </p:spPr>
        <p:txBody>
          <a:bodyPr>
            <a:normAutofit fontScale="90000"/>
          </a:bodyPr>
          <a:lstStyle/>
          <a:p>
            <a:pPr algn="just"/>
            <a:r>
              <a:rPr lang="en-US" sz="3200" b="1"/>
              <a:t>1.Description of commonly used character input functions</a:t>
            </a:r>
            <a:endParaRPr lang="en-US"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90222A2-FFCD-4E49-A5CD-AE5CBA6FFBD1}"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1CD4EFF-2C7D-4F72-96E4-A0DF2736934F}" type="slidenum">
              <a:rPr lang="en-US" altLang="en-US" smtClean="0"/>
              <a:pPr>
                <a:defRPr/>
              </a:pPr>
              <a:t>5</a:t>
            </a:fld>
            <a:endParaRPr lang="en-US" altLang="en-US"/>
          </a:p>
        </p:txBody>
      </p:sp>
      <p:sp>
        <p:nvSpPr>
          <p:cNvPr id="72709" name="Content Placeholder 2"/>
          <p:cNvSpPr>
            <a:spLocks noGrp="1"/>
          </p:cNvSpPr>
          <p:nvPr>
            <p:ph idx="1"/>
          </p:nvPr>
        </p:nvSpPr>
        <p:spPr>
          <a:xfrm>
            <a:off x="457200" y="381000"/>
            <a:ext cx="8305800" cy="5978525"/>
          </a:xfrm>
        </p:spPr>
        <p:txBody>
          <a:bodyPr/>
          <a:lstStyle/>
          <a:p>
            <a:pPr>
              <a:buFont typeface="Wingdings" pitchFamily="2" charset="2"/>
              <a:buNone/>
            </a:pPr>
            <a:r>
              <a:rPr lang="en-US" sz="2000" b="1"/>
              <a:t>int 21h	 	character input without echo    function 08h</a:t>
            </a:r>
          </a:p>
          <a:p>
            <a:pPr>
              <a:buFont typeface="Wingdings" pitchFamily="2" charset="2"/>
              <a:buNone/>
            </a:pPr>
            <a:endParaRPr lang="en-US" sz="2400"/>
          </a:p>
          <a:p>
            <a:r>
              <a:rPr lang="en-US" sz="2000"/>
              <a:t>Reads a character from the standard input device without echoing it to the standard output device. If no character is ready, waits until one is available</a:t>
            </a:r>
          </a:p>
          <a:p>
            <a:endParaRPr lang="en-US" sz="2000"/>
          </a:p>
          <a:p>
            <a:r>
              <a:rPr lang="en-US" sz="2000"/>
              <a:t>Calling parameters</a:t>
            </a:r>
          </a:p>
          <a:p>
            <a:pPr>
              <a:buFont typeface="Wingdings" pitchFamily="2" charset="2"/>
              <a:buNone/>
            </a:pPr>
            <a:r>
              <a:rPr lang="en-US" sz="2000"/>
              <a:t>		AH=08H</a:t>
            </a:r>
          </a:p>
          <a:p>
            <a:pPr>
              <a:buFont typeface="Wingdings" pitchFamily="2" charset="2"/>
              <a:buNone/>
            </a:pPr>
            <a:endParaRPr lang="en-US" sz="2000"/>
          </a:p>
          <a:p>
            <a:r>
              <a:rPr lang="en-US" sz="2000"/>
              <a:t>Returns </a:t>
            </a:r>
          </a:p>
          <a:p>
            <a:pPr>
              <a:buFont typeface="Wingdings" pitchFamily="2" charset="2"/>
              <a:buNone/>
            </a:pPr>
            <a:r>
              <a:rPr lang="en-US" sz="2000"/>
              <a:t>		AL=8 bit input data</a:t>
            </a:r>
          </a:p>
          <a:p>
            <a:endParaRPr lang="en-US" sz="1800"/>
          </a:p>
          <a:p>
            <a:r>
              <a:rPr lang="en-US" sz="1800"/>
              <a:t>Ex:</a:t>
            </a:r>
          </a:p>
          <a:p>
            <a:pPr eaLnBrk="1" hangingPunct="1">
              <a:buFont typeface="Wingdings" pitchFamily="2" charset="2"/>
              <a:buNone/>
            </a:pPr>
            <a:r>
              <a:rPr lang="en-US" sz="1800"/>
              <a:t>	MOV AH,08H</a:t>
            </a:r>
          </a:p>
          <a:p>
            <a:pPr eaLnBrk="1" hangingPunct="1">
              <a:buFont typeface="Wingdings" pitchFamily="2" charset="2"/>
              <a:buNone/>
            </a:pPr>
            <a:r>
              <a:rPr lang="en-US" sz="1800"/>
              <a:t>	INT 21H;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3F3F7205-932A-49D5-A5E8-B828DB5EA3CA}" type="slidenum">
              <a:rPr lang="en-US" altLang="en-US"/>
              <a:pPr>
                <a:defRPr/>
              </a:pPr>
              <a:t>6</a:t>
            </a:fld>
            <a:endParaRPr lang="en-US" altLang="en-US"/>
          </a:p>
        </p:txBody>
      </p:sp>
      <p:sp>
        <p:nvSpPr>
          <p:cNvPr id="73733" name="Content Placeholder 2"/>
          <p:cNvSpPr>
            <a:spLocks noGrp="1"/>
          </p:cNvSpPr>
          <p:nvPr>
            <p:ph idx="1"/>
          </p:nvPr>
        </p:nvSpPr>
        <p:spPr>
          <a:xfrm>
            <a:off x="381000" y="381000"/>
            <a:ext cx="8305800" cy="5978525"/>
          </a:xfrm>
        </p:spPr>
        <p:txBody>
          <a:bodyPr/>
          <a:lstStyle/>
          <a:p>
            <a:pPr>
              <a:buFont typeface="Wingdings" pitchFamily="2" charset="2"/>
              <a:buNone/>
            </a:pPr>
            <a:r>
              <a:rPr lang="en-US" sz="2000" b="1"/>
              <a:t>int 21h	 	buffered keyboard input    	function 0Ah(10)</a:t>
            </a:r>
          </a:p>
          <a:p>
            <a:pPr>
              <a:buFont typeface="Wingdings" pitchFamily="2" charset="2"/>
              <a:buNone/>
            </a:pPr>
            <a:endParaRPr lang="en-US" sz="2400"/>
          </a:p>
          <a:p>
            <a:pPr algn="just"/>
            <a:r>
              <a:rPr lang="en-US" sz="2000"/>
              <a:t>Reads a string of bytes from the standard input device, up to and including an ASCII carriage return(0Dh) and places them in user designated buffer. The characters are echoed to the standard output device</a:t>
            </a:r>
          </a:p>
          <a:p>
            <a:endParaRPr lang="en-US" sz="2000"/>
          </a:p>
          <a:p>
            <a:r>
              <a:rPr lang="en-US" sz="2000"/>
              <a:t>Calling parameters</a:t>
            </a:r>
          </a:p>
          <a:p>
            <a:pPr>
              <a:buFont typeface="Wingdings" pitchFamily="2" charset="2"/>
              <a:buNone/>
            </a:pPr>
            <a:r>
              <a:rPr lang="en-US" sz="2000"/>
              <a:t>		AH=0AH</a:t>
            </a:r>
          </a:p>
          <a:p>
            <a:pPr>
              <a:buFont typeface="Wingdings" pitchFamily="2" charset="2"/>
              <a:buNone/>
            </a:pPr>
            <a:r>
              <a:rPr lang="en-US" sz="2000"/>
              <a:t>		DS:DX=segment :offset of buffer</a:t>
            </a:r>
          </a:p>
          <a:p>
            <a:pPr>
              <a:buFont typeface="Wingdings" pitchFamily="2" charset="2"/>
              <a:buNone/>
            </a:pPr>
            <a:endParaRPr lang="en-US" sz="2000"/>
          </a:p>
          <a:p>
            <a:r>
              <a:rPr lang="en-US" sz="2000"/>
              <a:t>Returns </a:t>
            </a:r>
          </a:p>
          <a:p>
            <a:pPr>
              <a:buFont typeface="Wingdings" pitchFamily="2" charset="2"/>
              <a:buNone/>
            </a:pPr>
            <a:r>
              <a:rPr lang="en-US" sz="2000"/>
              <a:t>		nothing(data placed in buffer)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33400"/>
            <a:ext cx="8229600" cy="4835525"/>
          </a:xfrm>
        </p:spPr>
        <p:txBody>
          <a:bodyPr/>
          <a:lstStyle/>
          <a:p>
            <a:pPr>
              <a:buFont typeface="Wingdings" pitchFamily="2" charset="2"/>
              <a:buNone/>
              <a:defRPr/>
            </a:pPr>
            <a:r>
              <a:rPr lang="en-US" sz="2000" b="1" dirty="0"/>
              <a:t>Note:</a:t>
            </a:r>
          </a:p>
          <a:p>
            <a:pPr>
              <a:buFont typeface="Wingdings" pitchFamily="2" charset="2"/>
              <a:buNone/>
              <a:defRPr/>
            </a:pPr>
            <a:endParaRPr lang="en-US" sz="2000" b="1" dirty="0"/>
          </a:p>
          <a:p>
            <a:pPr>
              <a:buFont typeface="Wingdings" pitchFamily="2" charset="2"/>
              <a:buNone/>
              <a:defRPr/>
            </a:pPr>
            <a:r>
              <a:rPr lang="en-US" sz="2000" dirty="0"/>
              <a:t>The buffer used by this function has the following format:</a:t>
            </a:r>
          </a:p>
          <a:p>
            <a:pPr>
              <a:buFont typeface="Wingdings" pitchFamily="2" charset="2"/>
              <a:buNone/>
              <a:defRPr/>
            </a:pPr>
            <a:endParaRPr lang="en-US" sz="2000" dirty="0"/>
          </a:p>
          <a:p>
            <a:pPr>
              <a:buFont typeface="Wingdings" pitchFamily="2" charset="2"/>
              <a:buNone/>
              <a:defRPr/>
            </a:pPr>
            <a:r>
              <a:rPr lang="en-US" sz="2000" b="1" dirty="0"/>
              <a:t>Byte		Contents</a:t>
            </a:r>
          </a:p>
          <a:p>
            <a:pPr>
              <a:buFont typeface="Wingdings" pitchFamily="2" charset="2"/>
              <a:buNone/>
              <a:defRPr/>
            </a:pPr>
            <a:r>
              <a:rPr lang="en-US" sz="2000" dirty="0"/>
              <a:t>0			Maximum number of characters to read, set by 			program</a:t>
            </a:r>
          </a:p>
          <a:p>
            <a:pPr marL="457200" indent="-457200">
              <a:buFont typeface="Wingdings" pitchFamily="2" charset="2"/>
              <a:buNone/>
              <a:defRPr/>
            </a:pPr>
            <a:r>
              <a:rPr lang="en-US" sz="2000" dirty="0"/>
              <a:t>1			Number of characters actually read</a:t>
            </a:r>
          </a:p>
          <a:p>
            <a:pPr marL="457200" indent="-457200">
              <a:buFont typeface="Wingdings" pitchFamily="2" charset="2"/>
              <a:buNone/>
              <a:defRPr/>
            </a:pPr>
            <a:r>
              <a:rPr lang="en-US" sz="2000" dirty="0"/>
              <a:t>2			String read from keyboard terminated by carriage 		return (0Dh)</a:t>
            </a:r>
          </a:p>
          <a:p>
            <a:pPr>
              <a:defRPr/>
            </a:pPr>
            <a:endParaRPr lang="en-US" dirty="0"/>
          </a:p>
        </p:txBody>
      </p:sp>
      <p:sp>
        <p:nvSpPr>
          <p:cNvPr id="4" name="Date Placeholder 3"/>
          <p:cNvSpPr>
            <a:spLocks noGrp="1"/>
          </p:cNvSpPr>
          <p:nvPr>
            <p:ph type="dt" sz="quarter" idx="10"/>
          </p:nvPr>
        </p:nvSpPr>
        <p:spPr/>
        <p:txBody>
          <a:bodyPr/>
          <a:lstStyle/>
          <a:p>
            <a:pPr>
              <a:defRPr/>
            </a:pPr>
            <a:fld id="{CC2B95A7-1FD7-43F8-89BB-E1F72215B2CC}"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966E5B83-4327-4FED-884D-734187304F45}" type="slidenum">
              <a:rPr lang="en-US" altLang="en-US" smtClean="0"/>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457200" y="533400"/>
            <a:ext cx="8153400" cy="5410200"/>
          </a:xfrm>
        </p:spPr>
        <p:txBody>
          <a:bodyPr/>
          <a:lstStyle/>
          <a:p>
            <a:pPr>
              <a:buFont typeface="Wingdings" pitchFamily="2" charset="2"/>
              <a:buNone/>
            </a:pPr>
            <a:r>
              <a:rPr lang="en-US" b="1" u="sng"/>
              <a:t>Example:</a:t>
            </a:r>
          </a:p>
          <a:p>
            <a:pPr>
              <a:buFont typeface="Wingdings" pitchFamily="2" charset="2"/>
              <a:buNone/>
            </a:pPr>
            <a:r>
              <a:rPr lang="en-US" sz="2000"/>
              <a:t>Data segment</a:t>
            </a:r>
          </a:p>
          <a:p>
            <a:pPr>
              <a:buFont typeface="Wingdings" pitchFamily="2" charset="2"/>
              <a:buNone/>
            </a:pPr>
            <a:r>
              <a:rPr lang="en-US" sz="2000"/>
              <a:t>buf1 db 257 dup(?)</a:t>
            </a:r>
          </a:p>
          <a:p>
            <a:pPr>
              <a:buFont typeface="Wingdings" pitchFamily="2" charset="2"/>
              <a:buNone/>
            </a:pPr>
            <a:r>
              <a:rPr lang="en-US" sz="2000"/>
              <a:t>Data ends</a:t>
            </a:r>
          </a:p>
          <a:p>
            <a:pPr>
              <a:buFont typeface="Wingdings" pitchFamily="2" charset="2"/>
              <a:buNone/>
            </a:pPr>
            <a:endParaRPr lang="en-US" sz="2000"/>
          </a:p>
          <a:p>
            <a:pPr>
              <a:buFont typeface="Wingdings" pitchFamily="2" charset="2"/>
              <a:buNone/>
            </a:pPr>
            <a:r>
              <a:rPr lang="en-US" sz="2000"/>
              <a:t>Code segment</a:t>
            </a:r>
          </a:p>
          <a:p>
            <a:pPr>
              <a:buFont typeface="Wingdings" pitchFamily="2" charset="2"/>
              <a:buNone/>
            </a:pPr>
            <a:r>
              <a:rPr lang="en-US" sz="2000"/>
              <a:t>:</a:t>
            </a:r>
          </a:p>
          <a:p>
            <a:pPr>
              <a:buFont typeface="Wingdings" pitchFamily="2" charset="2"/>
              <a:buNone/>
            </a:pPr>
            <a:r>
              <a:rPr lang="en-US" sz="2000"/>
              <a:t>MOV buf1,255</a:t>
            </a:r>
          </a:p>
          <a:p>
            <a:pPr>
              <a:buFont typeface="Wingdings" pitchFamily="2" charset="2"/>
              <a:buNone/>
            </a:pPr>
            <a:r>
              <a:rPr lang="en-US" sz="2000"/>
              <a:t>LEA DX,buf1</a:t>
            </a:r>
          </a:p>
          <a:p>
            <a:pPr>
              <a:buFont typeface="Wingdings" pitchFamily="2" charset="2"/>
              <a:buNone/>
            </a:pPr>
            <a:r>
              <a:rPr lang="en-US" sz="2000"/>
              <a:t>MOV AH,0AH</a:t>
            </a:r>
          </a:p>
          <a:p>
            <a:pPr>
              <a:buFont typeface="Wingdings" pitchFamily="2" charset="2"/>
              <a:buNone/>
            </a:pPr>
            <a:r>
              <a:rPr lang="en-US" sz="2000"/>
              <a:t>INT 21H</a:t>
            </a:r>
          </a:p>
          <a:p>
            <a:pPr>
              <a:buFont typeface="Wingdings" pitchFamily="2" charset="2"/>
              <a:buNone/>
            </a:pPr>
            <a:r>
              <a:rPr lang="en-US" sz="2000"/>
              <a:t>:</a:t>
            </a:r>
          </a:p>
          <a:p>
            <a:pPr>
              <a:buFont typeface="Wingdings" pitchFamily="2" charset="2"/>
              <a:buNone/>
            </a:pPr>
            <a:r>
              <a:rPr lang="en-US" sz="2000"/>
              <a:t>Code ends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457200" y="277813"/>
            <a:ext cx="8382000" cy="865187"/>
          </a:xfrm>
        </p:spPr>
        <p:txBody>
          <a:bodyPr>
            <a:normAutofit fontScale="90000"/>
          </a:bodyPr>
          <a:lstStyle/>
          <a:p>
            <a:r>
              <a:rPr lang="en-US" sz="3600"/>
              <a:t>2.Writing to video display</a:t>
            </a:r>
            <a:r>
              <a:rPr lang="en-US" sz="3600">
                <a:sym typeface="Wingdings" pitchFamily="2" charset="2"/>
              </a:rPr>
              <a:t> : (display functions)</a:t>
            </a:r>
            <a:br>
              <a:rPr lang="en-US" sz="3600"/>
            </a:br>
            <a:endParaRPr lang="en-US" sz="3600"/>
          </a:p>
        </p:txBody>
      </p:sp>
      <p:sp>
        <p:nvSpPr>
          <p:cNvPr id="4" name="Date Placeholder 3"/>
          <p:cNvSpPr>
            <a:spLocks noGrp="1"/>
          </p:cNvSpPr>
          <p:nvPr>
            <p:ph type="dt" sz="quarter" idx="10"/>
          </p:nvPr>
        </p:nvSpPr>
        <p:spPr/>
        <p:txBody>
          <a:bodyPr/>
          <a:lstStyle/>
          <a:p>
            <a:pPr>
              <a:defRPr/>
            </a:pPr>
            <a:fld id="{2F969844-E319-4F03-94A2-7F89B6F0721B}"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F870BF2-6A25-4B61-BC32-9060A714C79B}" type="slidenum">
              <a:rPr lang="en-US" altLang="en-US" smtClean="0"/>
              <a:pPr>
                <a:defRPr/>
              </a:pPr>
              <a:t>9</a:t>
            </a:fld>
            <a:endParaRPr lang="en-US" altLang="en-US" dirty="0"/>
          </a:p>
        </p:txBody>
      </p:sp>
      <p:sp>
        <p:nvSpPr>
          <p:cNvPr id="76806" name="Content Placeholder 2"/>
          <p:cNvSpPr>
            <a:spLocks noGrp="1"/>
          </p:cNvSpPr>
          <p:nvPr>
            <p:ph idx="1"/>
          </p:nvPr>
        </p:nvSpPr>
        <p:spPr>
          <a:xfrm>
            <a:off x="457200" y="1676400"/>
            <a:ext cx="8305800" cy="4606925"/>
          </a:xfrm>
        </p:spPr>
        <p:txBody>
          <a:bodyPr/>
          <a:lstStyle/>
          <a:p>
            <a:pPr>
              <a:buFont typeface="Wingdings" pitchFamily="2" charset="2"/>
              <a:buNone/>
            </a:pPr>
            <a:r>
              <a:rPr lang="en-US" sz="2000" b="1"/>
              <a:t>int 21h		character output		function 02h</a:t>
            </a:r>
          </a:p>
          <a:p>
            <a:pPr>
              <a:buFont typeface="Wingdings" pitchFamily="2" charset="2"/>
              <a:buNone/>
            </a:pPr>
            <a:endParaRPr lang="en-US" sz="2400"/>
          </a:p>
          <a:p>
            <a:r>
              <a:rPr lang="en-US" sz="2000"/>
              <a:t>Outputs the character to the standard output device</a:t>
            </a:r>
          </a:p>
          <a:p>
            <a:r>
              <a:rPr lang="en-US" sz="2000"/>
              <a:t>Calling parameters</a:t>
            </a:r>
          </a:p>
          <a:p>
            <a:pPr>
              <a:buFont typeface="Wingdings" pitchFamily="2" charset="2"/>
              <a:buNone/>
            </a:pPr>
            <a:r>
              <a:rPr lang="en-US" sz="2000"/>
              <a:t>		AH=02H</a:t>
            </a:r>
          </a:p>
          <a:p>
            <a:pPr>
              <a:buFont typeface="Wingdings" pitchFamily="2" charset="2"/>
              <a:buNone/>
            </a:pPr>
            <a:r>
              <a:rPr lang="en-US" sz="2000"/>
              <a:t>		DL=8 bit data for output</a:t>
            </a:r>
          </a:p>
          <a:p>
            <a:r>
              <a:rPr lang="en-US" sz="2000"/>
              <a:t>Returns </a:t>
            </a:r>
          </a:p>
          <a:p>
            <a:pPr>
              <a:buFont typeface="Wingdings" pitchFamily="2" charset="2"/>
              <a:buNone/>
            </a:pPr>
            <a:r>
              <a:rPr lang="en-US" sz="2000"/>
              <a:t>		nothing</a:t>
            </a:r>
          </a:p>
          <a:p>
            <a:r>
              <a:rPr lang="en-US" sz="1800"/>
              <a:t>Ex:</a:t>
            </a:r>
          </a:p>
          <a:p>
            <a:pPr>
              <a:buFont typeface="Wingdings" pitchFamily="2" charset="2"/>
              <a:buNone/>
            </a:pPr>
            <a:r>
              <a:rPr lang="en-US" sz="1800"/>
              <a:t>	MOV  DL,’*’</a:t>
            </a:r>
          </a:p>
          <a:p>
            <a:pPr eaLnBrk="1" hangingPunct="1">
              <a:buFont typeface="Wingdings" pitchFamily="2" charset="2"/>
              <a:buNone/>
            </a:pPr>
            <a:r>
              <a:rPr lang="en-US" sz="1800"/>
              <a:t>	MOV AH,02H</a:t>
            </a:r>
          </a:p>
          <a:p>
            <a:pPr eaLnBrk="1" hangingPunct="1">
              <a:buFont typeface="Wingdings" pitchFamily="2" charset="2"/>
              <a:buNone/>
            </a:pPr>
            <a:r>
              <a:rPr lang="en-US" sz="1800"/>
              <a:t>	INT 21H;</a:t>
            </a:r>
          </a:p>
        </p:txBody>
      </p:sp>
      <p:sp>
        <p:nvSpPr>
          <p:cNvPr id="76807" name="TextBox 7"/>
          <p:cNvSpPr txBox="1">
            <a:spLocks noChangeArrowheads="1"/>
          </p:cNvSpPr>
          <p:nvPr/>
        </p:nvSpPr>
        <p:spPr bwMode="auto">
          <a:xfrm>
            <a:off x="457200" y="990600"/>
            <a:ext cx="4114800" cy="461963"/>
          </a:xfrm>
          <a:prstGeom prst="rect">
            <a:avLst/>
          </a:prstGeom>
          <a:noFill/>
          <a:ln w="9525">
            <a:noFill/>
            <a:miter lim="800000"/>
            <a:headEnd/>
            <a:tailEnd/>
          </a:ln>
        </p:spPr>
        <p:txBody>
          <a:bodyPr>
            <a:spAutoFit/>
          </a:bodyPr>
          <a:lstStyle/>
          <a:p>
            <a:r>
              <a:rPr lang="en-US" sz="2400" b="1"/>
              <a:t>1.Output character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D09D8845-226A-4E7A-B741-ABDAB431F31F}" type="slidenum">
              <a:rPr lang="en-US" altLang="en-US" smtClean="0"/>
              <a:pPr>
                <a:defRPr/>
              </a:pPr>
              <a:t>10</a:t>
            </a:fld>
            <a:endParaRPr lang="en-US" altLang="en-US"/>
          </a:p>
        </p:txBody>
      </p:sp>
      <p:sp>
        <p:nvSpPr>
          <p:cNvPr id="77829" name="Content Placeholder 2"/>
          <p:cNvSpPr>
            <a:spLocks noGrp="1"/>
          </p:cNvSpPr>
          <p:nvPr>
            <p:ph idx="1"/>
          </p:nvPr>
        </p:nvSpPr>
        <p:spPr>
          <a:xfrm>
            <a:off x="381000" y="838200"/>
            <a:ext cx="8305800" cy="5826125"/>
          </a:xfrm>
        </p:spPr>
        <p:txBody>
          <a:bodyPr/>
          <a:lstStyle/>
          <a:p>
            <a:pPr>
              <a:buFont typeface="Wingdings" pitchFamily="2" charset="2"/>
              <a:buNone/>
            </a:pPr>
            <a:r>
              <a:rPr lang="en-US" sz="2000" b="1"/>
              <a:t>int 21h		display string   		function 09h</a:t>
            </a:r>
          </a:p>
          <a:p>
            <a:pPr>
              <a:buFont typeface="Wingdings" pitchFamily="2" charset="2"/>
              <a:buNone/>
            </a:pPr>
            <a:endParaRPr lang="en-US" sz="2400"/>
          </a:p>
          <a:p>
            <a:r>
              <a:rPr lang="en-US" sz="2000"/>
              <a:t>Sends a string characters to the standard output device. End of string is indicated by character $</a:t>
            </a:r>
          </a:p>
          <a:p>
            <a:endParaRPr lang="en-US" sz="2000"/>
          </a:p>
          <a:p>
            <a:r>
              <a:rPr lang="en-US" sz="2000"/>
              <a:t>Calling parameters</a:t>
            </a:r>
          </a:p>
          <a:p>
            <a:pPr>
              <a:buFont typeface="Wingdings" pitchFamily="2" charset="2"/>
              <a:buNone/>
            </a:pPr>
            <a:r>
              <a:rPr lang="en-US" sz="2000"/>
              <a:t>		AH=09H</a:t>
            </a:r>
          </a:p>
          <a:p>
            <a:pPr>
              <a:buFont typeface="Wingdings" pitchFamily="2" charset="2"/>
              <a:buNone/>
            </a:pPr>
            <a:r>
              <a:rPr lang="en-US" sz="2000"/>
              <a:t>		DS:DX= segment: offset of string</a:t>
            </a:r>
          </a:p>
          <a:p>
            <a:pPr>
              <a:buFont typeface="Wingdings" pitchFamily="2" charset="2"/>
              <a:buNone/>
            </a:pPr>
            <a:endParaRPr lang="en-US" sz="2000"/>
          </a:p>
          <a:p>
            <a:r>
              <a:rPr lang="en-US" sz="2000"/>
              <a:t>Returns </a:t>
            </a:r>
          </a:p>
          <a:p>
            <a:pPr>
              <a:buFont typeface="Wingdings" pitchFamily="2" charset="2"/>
              <a:buNone/>
            </a:pPr>
            <a:r>
              <a:rPr lang="en-US" sz="2000"/>
              <a:t>		nothing</a:t>
            </a:r>
          </a:p>
          <a:p>
            <a:pPr eaLnBrk="1" hangingPunct="1">
              <a:buFont typeface="Wingdings" pitchFamily="2" charset="2"/>
              <a:buNone/>
            </a:pPr>
            <a:endParaRPr lang="en-US" sz="1800"/>
          </a:p>
        </p:txBody>
      </p:sp>
      <p:sp>
        <p:nvSpPr>
          <p:cNvPr id="77830"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2.Display string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457200" y="381000"/>
            <a:ext cx="8229600" cy="5749925"/>
          </a:xfrm>
        </p:spPr>
        <p:txBody>
          <a:bodyPr/>
          <a:lstStyle/>
          <a:p>
            <a:r>
              <a:rPr lang="en-US" sz="1800"/>
              <a:t>Ex:</a:t>
            </a:r>
          </a:p>
          <a:p>
            <a:pPr eaLnBrk="1" hangingPunct="1">
              <a:buFont typeface="Wingdings" pitchFamily="2" charset="2"/>
              <a:buNone/>
            </a:pPr>
            <a:r>
              <a:rPr lang="en-US" sz="1800"/>
              <a:t>data segment </a:t>
            </a:r>
          </a:p>
          <a:p>
            <a:pPr eaLnBrk="1" hangingPunct="1">
              <a:buFont typeface="Wingdings" pitchFamily="2" charset="2"/>
              <a:buNone/>
            </a:pPr>
            <a:r>
              <a:rPr lang="en-US" sz="1800"/>
              <a:t>	msg db “microprocessor $”</a:t>
            </a:r>
          </a:p>
          <a:p>
            <a:pPr eaLnBrk="1" hangingPunct="1">
              <a:buFont typeface="Wingdings" pitchFamily="2" charset="2"/>
              <a:buNone/>
            </a:pPr>
            <a:r>
              <a:rPr lang="en-US" sz="1800"/>
              <a:t>data ends</a:t>
            </a:r>
          </a:p>
          <a:p>
            <a:pPr eaLnBrk="1" hangingPunct="1">
              <a:buFont typeface="Wingdings" pitchFamily="2" charset="2"/>
              <a:buNone/>
            </a:pPr>
            <a:endParaRPr lang="en-US" sz="1800"/>
          </a:p>
          <a:p>
            <a:pPr eaLnBrk="1" hangingPunct="1">
              <a:buFont typeface="Wingdings" pitchFamily="2" charset="2"/>
              <a:buNone/>
            </a:pPr>
            <a:r>
              <a:rPr lang="en-US" sz="1800"/>
              <a:t>Code segment</a:t>
            </a:r>
          </a:p>
          <a:p>
            <a:pPr eaLnBrk="1" hangingPunct="1">
              <a:buFont typeface="Wingdings" pitchFamily="2" charset="2"/>
              <a:buNone/>
            </a:pPr>
            <a:r>
              <a:rPr lang="en-US" sz="1800"/>
              <a:t>Assume cs:code,ds:data</a:t>
            </a:r>
          </a:p>
          <a:p>
            <a:pPr eaLnBrk="1" hangingPunct="1">
              <a:buFont typeface="Wingdings" pitchFamily="2" charset="2"/>
              <a:buNone/>
            </a:pPr>
            <a:r>
              <a:rPr lang="en-US" sz="1800"/>
              <a:t>start:</a:t>
            </a:r>
          </a:p>
          <a:p>
            <a:pPr eaLnBrk="1" hangingPunct="1">
              <a:buFont typeface="Wingdings" pitchFamily="2" charset="2"/>
              <a:buNone/>
            </a:pPr>
            <a:r>
              <a:rPr lang="en-US" sz="1800"/>
              <a:t>	mov ax,data</a:t>
            </a:r>
          </a:p>
          <a:p>
            <a:pPr eaLnBrk="1" hangingPunct="1">
              <a:buFont typeface="Wingdings" pitchFamily="2" charset="2"/>
              <a:buNone/>
            </a:pPr>
            <a:r>
              <a:rPr lang="en-US" sz="1800"/>
              <a:t>	mov ds,ax</a:t>
            </a:r>
          </a:p>
          <a:p>
            <a:pPr eaLnBrk="1" hangingPunct="1">
              <a:buFont typeface="Wingdings" pitchFamily="2" charset="2"/>
              <a:buNone/>
            </a:pPr>
            <a:r>
              <a:rPr lang="en-US" sz="1800" b="1"/>
              <a:t>	mov dx,offset msg</a:t>
            </a:r>
          </a:p>
          <a:p>
            <a:pPr eaLnBrk="1" hangingPunct="1">
              <a:buFont typeface="Wingdings" pitchFamily="2" charset="2"/>
              <a:buNone/>
            </a:pPr>
            <a:r>
              <a:rPr lang="en-US" sz="1800" b="1"/>
              <a:t>	mov ah,09h</a:t>
            </a:r>
          </a:p>
          <a:p>
            <a:pPr eaLnBrk="1" hangingPunct="1">
              <a:buFont typeface="Wingdings" pitchFamily="2" charset="2"/>
              <a:buNone/>
            </a:pPr>
            <a:r>
              <a:rPr lang="en-US" sz="1800" b="1"/>
              <a:t>	int 21h</a:t>
            </a:r>
          </a:p>
          <a:p>
            <a:pPr eaLnBrk="1" hangingPunct="1">
              <a:buFont typeface="Wingdings" pitchFamily="2" charset="2"/>
              <a:buNone/>
            </a:pPr>
            <a:r>
              <a:rPr lang="en-US" sz="1800"/>
              <a:t>	mov ah,4ch</a:t>
            </a:r>
          </a:p>
          <a:p>
            <a:pPr eaLnBrk="1" hangingPunct="1">
              <a:buFont typeface="Wingdings" pitchFamily="2" charset="2"/>
              <a:buNone/>
            </a:pPr>
            <a:r>
              <a:rPr lang="en-US" sz="1800"/>
              <a:t>	int 21h</a:t>
            </a:r>
          </a:p>
          <a:p>
            <a:pPr eaLnBrk="1" hangingPunct="1">
              <a:buFont typeface="Wingdings" pitchFamily="2" charset="2"/>
              <a:buNone/>
            </a:pPr>
            <a:r>
              <a:rPr lang="en-US" sz="1800"/>
              <a:t>Code ends</a:t>
            </a:r>
          </a:p>
          <a:p>
            <a:pPr eaLnBrk="1" hangingPunct="1">
              <a:buFont typeface="Wingdings" pitchFamily="2" charset="2"/>
              <a:buNone/>
            </a:pPr>
            <a:r>
              <a:rPr lang="en-US" sz="1800"/>
              <a:t>End start</a:t>
            </a:r>
          </a:p>
          <a:p>
            <a:pPr eaLnBrk="1" hangingPunct="1">
              <a:buFont typeface="Wingdings" pitchFamily="2" charset="2"/>
              <a:buNone/>
            </a:pPr>
            <a:endParaRPr lang="en-US" sz="3200"/>
          </a:p>
          <a:p>
            <a:pPr eaLnBrk="1" hangingPunct="1">
              <a:buFont typeface="Wingdings" pitchFamily="2" charset="2"/>
              <a:buNone/>
            </a:pPr>
            <a:endParaRPr lang="en-US" sz="3200"/>
          </a:p>
          <a:p>
            <a:endParaRPr lang="en-US"/>
          </a:p>
        </p:txBody>
      </p:sp>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05FFA55-D333-447C-A7BA-EADF9823BE35}" type="slidenum">
              <a:rPr lang="en-US" altLang="en-US" smtClean="0"/>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3B907882-F292-4AF4-AC19-59B92CC15205}" type="slidenum">
              <a:rPr lang="en-US" altLang="en-US"/>
              <a:pPr>
                <a:defRPr/>
              </a:pPr>
              <a:t>12</a:t>
            </a:fld>
            <a:endParaRPr lang="en-US" altLang="en-US"/>
          </a:p>
        </p:txBody>
      </p:sp>
      <p:sp>
        <p:nvSpPr>
          <p:cNvPr id="79877" name="Content Placeholder 2"/>
          <p:cNvSpPr>
            <a:spLocks noGrp="1"/>
          </p:cNvSpPr>
          <p:nvPr>
            <p:ph idx="1"/>
          </p:nvPr>
        </p:nvSpPr>
        <p:spPr>
          <a:xfrm>
            <a:off x="457200" y="1066800"/>
            <a:ext cx="8382000" cy="5257800"/>
          </a:xfrm>
        </p:spPr>
        <p:txBody>
          <a:bodyPr/>
          <a:lstStyle/>
          <a:p>
            <a:pPr>
              <a:buFont typeface="Wingdings" pitchFamily="2" charset="2"/>
              <a:buNone/>
            </a:pPr>
            <a:r>
              <a:rPr lang="en-US" sz="2000" b="1"/>
              <a:t>int 21h	 		create sub-directory		function 39h</a:t>
            </a:r>
          </a:p>
          <a:p>
            <a:pPr>
              <a:buFont typeface="Wingdings" pitchFamily="2" charset="2"/>
              <a:buNone/>
            </a:pPr>
            <a:endParaRPr lang="en-US" sz="2400"/>
          </a:p>
          <a:p>
            <a:pPr algn="just"/>
            <a:r>
              <a:rPr lang="en-US" sz="2000"/>
              <a:t>Creates sub-directory using specified drive and path.</a:t>
            </a:r>
          </a:p>
          <a:p>
            <a:pPr algn="just"/>
            <a:r>
              <a:rPr lang="en-US" sz="2000"/>
              <a:t>ASCIIZ is a string file that ends with 00h or null character (ASCII string with a zero on the end instead of a dollar sign)</a:t>
            </a:r>
          </a:p>
          <a:p>
            <a:pPr algn="just"/>
            <a:endParaRPr lang="en-US" sz="2000"/>
          </a:p>
          <a:p>
            <a:r>
              <a:rPr lang="en-US" sz="2000"/>
              <a:t>Calling parameters</a:t>
            </a:r>
          </a:p>
          <a:p>
            <a:pPr>
              <a:buFont typeface="Wingdings" pitchFamily="2" charset="2"/>
              <a:buNone/>
            </a:pPr>
            <a:r>
              <a:rPr lang="en-US" sz="2000"/>
              <a:t>	 </a:t>
            </a:r>
            <a:r>
              <a:rPr lang="en-US" sz="1800"/>
              <a:t>AH=39h</a:t>
            </a:r>
          </a:p>
          <a:p>
            <a:pPr>
              <a:buFont typeface="Wingdings" pitchFamily="2" charset="2"/>
              <a:buNone/>
            </a:pPr>
            <a:r>
              <a:rPr lang="en-US" sz="1800"/>
              <a:t>	 DS:DX -&gt; seg: offset of ASCIIZ path specification</a:t>
            </a:r>
          </a:p>
          <a:p>
            <a:pPr>
              <a:buFont typeface="Wingdings" pitchFamily="2" charset="2"/>
              <a:buNone/>
            </a:pPr>
            <a:endParaRPr lang="en-US" sz="1800"/>
          </a:p>
          <a:p>
            <a:r>
              <a:rPr lang="en-US" sz="2000"/>
              <a:t>Return:</a:t>
            </a:r>
            <a:endParaRPr lang="en-US" sz="2000" b="1"/>
          </a:p>
          <a:p>
            <a:pPr>
              <a:buFont typeface="Wingdings" pitchFamily="2" charset="2"/>
              <a:buNone/>
            </a:pPr>
            <a:r>
              <a:rPr lang="en-US" sz="1800"/>
              <a:t>If successful,</a:t>
            </a:r>
            <a:r>
              <a:rPr lang="en-US" sz="1800" b="1"/>
              <a:t> </a:t>
            </a:r>
            <a:r>
              <a:rPr lang="en-US" sz="1800"/>
              <a:t>CF clear </a:t>
            </a:r>
          </a:p>
          <a:p>
            <a:pPr>
              <a:buFont typeface="Wingdings" pitchFamily="2" charset="2"/>
              <a:buNone/>
            </a:pPr>
            <a:r>
              <a:rPr lang="en-US" sz="1800"/>
              <a:t>If not successful,CF set ,AX = error code</a:t>
            </a:r>
          </a:p>
          <a:p>
            <a:pPr>
              <a:buFont typeface="Wingdings" pitchFamily="2" charset="2"/>
              <a:buNone/>
            </a:pPr>
            <a:endParaRPr lang="en-US" sz="2000"/>
          </a:p>
          <a:p>
            <a:pPr>
              <a:buFont typeface="Wingdings" pitchFamily="2" charset="2"/>
              <a:buNone/>
            </a:pPr>
            <a:endParaRPr lang="en-US" sz="2000"/>
          </a:p>
        </p:txBody>
      </p:sp>
      <p:sp>
        <p:nvSpPr>
          <p:cNvPr id="79878"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Create sub-directory: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533400" y="381000"/>
            <a:ext cx="8229600" cy="4530725"/>
          </a:xfrm>
        </p:spPr>
        <p:txBody>
          <a:bodyPr>
            <a:normAutofit lnSpcReduction="10000"/>
          </a:bodyPr>
          <a:lstStyle/>
          <a:p>
            <a:r>
              <a:rPr lang="en-US" sz="3200"/>
              <a:t>EX:</a:t>
            </a:r>
          </a:p>
          <a:p>
            <a:pPr>
              <a:buFont typeface="Wingdings" pitchFamily="2" charset="2"/>
              <a:buNone/>
            </a:pPr>
            <a:r>
              <a:rPr lang="en-US" sz="2000"/>
              <a:t>data segment</a:t>
            </a:r>
          </a:p>
          <a:p>
            <a:pPr>
              <a:buFont typeface="Wingdings" pitchFamily="2" charset="2"/>
              <a:buNone/>
            </a:pPr>
            <a:r>
              <a:rPr lang="en-US" sz="2000"/>
              <a:t>	path1 db ‘abc’,0</a:t>
            </a:r>
          </a:p>
          <a:p>
            <a:pPr>
              <a:buFont typeface="Wingdings" pitchFamily="2" charset="2"/>
              <a:buNone/>
            </a:pPr>
            <a:r>
              <a:rPr lang="en-US" sz="2000"/>
              <a:t>	path2 db ‘c:\xyz\abd’,0</a:t>
            </a:r>
          </a:p>
          <a:p>
            <a:pPr>
              <a:buFont typeface="Wingdings" pitchFamily="2" charset="2"/>
              <a:buNone/>
            </a:pPr>
            <a:r>
              <a:rPr lang="en-US" sz="2000"/>
              <a:t>	path3 db ‘c:\mn’,0</a:t>
            </a:r>
          </a:p>
          <a:p>
            <a:pPr>
              <a:buFont typeface="Wingdings" pitchFamily="2" charset="2"/>
              <a:buNone/>
            </a:pPr>
            <a:r>
              <a:rPr lang="en-US" sz="2000"/>
              <a:t>Data ends</a:t>
            </a:r>
          </a:p>
          <a:p>
            <a:pPr>
              <a:buFont typeface="Wingdings" pitchFamily="2" charset="2"/>
              <a:buNone/>
            </a:pPr>
            <a:endParaRPr lang="en-US" sz="2000"/>
          </a:p>
          <a:p>
            <a:pPr>
              <a:buFont typeface="Wingdings" pitchFamily="2" charset="2"/>
              <a:buNone/>
            </a:pPr>
            <a:r>
              <a:rPr lang="en-US" sz="2000"/>
              <a:t>Code segment</a:t>
            </a:r>
          </a:p>
          <a:p>
            <a:pPr>
              <a:lnSpc>
                <a:spcPct val="90000"/>
              </a:lnSpc>
              <a:buFont typeface="Wingdings" pitchFamily="2" charset="2"/>
              <a:buNone/>
            </a:pPr>
            <a:r>
              <a:rPr lang="en-US" sz="2000"/>
              <a:t>	MOV AH,39H</a:t>
            </a:r>
          </a:p>
          <a:p>
            <a:pPr>
              <a:lnSpc>
                <a:spcPct val="90000"/>
              </a:lnSpc>
              <a:buFont typeface="Wingdings" pitchFamily="2" charset="2"/>
              <a:buNone/>
            </a:pPr>
            <a:r>
              <a:rPr lang="en-US" sz="2000"/>
              <a:t>	MOV DX,OFFSET path1      or LEA DX, path1</a:t>
            </a:r>
          </a:p>
          <a:p>
            <a:pPr>
              <a:lnSpc>
                <a:spcPct val="90000"/>
              </a:lnSpc>
              <a:buFont typeface="Wingdings" pitchFamily="2" charset="2"/>
              <a:buNone/>
            </a:pPr>
            <a:r>
              <a:rPr lang="en-US" sz="2000"/>
              <a:t>	INT 21H</a:t>
            </a:r>
          </a:p>
          <a:p>
            <a:pPr>
              <a:lnSpc>
                <a:spcPct val="90000"/>
              </a:lnSpc>
              <a:buFont typeface="Wingdings" pitchFamily="2" charset="2"/>
              <a:buNone/>
            </a:pPr>
            <a:r>
              <a:rPr lang="en-US" sz="2000"/>
              <a:t>     jc  ERROR</a:t>
            </a:r>
          </a:p>
          <a:p>
            <a:pPr>
              <a:buFont typeface="Wingdings" pitchFamily="2" charset="2"/>
              <a:buNone/>
            </a:pPr>
            <a:r>
              <a:rPr lang="en-US" sz="2000"/>
              <a:t>Code ends</a:t>
            </a:r>
          </a:p>
        </p:txBody>
      </p:sp>
      <p:sp>
        <p:nvSpPr>
          <p:cNvPr id="4" name="Date Placeholder 3"/>
          <p:cNvSpPr>
            <a:spLocks noGrp="1"/>
          </p:cNvSpPr>
          <p:nvPr>
            <p:ph type="dt" sz="quarter" idx="10"/>
          </p:nvPr>
        </p:nvSpPr>
        <p:spPr/>
        <p:txBody>
          <a:bodyPr/>
          <a:lstStyle/>
          <a:p>
            <a:pPr>
              <a:defRPr/>
            </a:pPr>
            <a:fld id="{B0CBA3A0-51E8-48A8-B81A-5D27E9D42223}" type="datetime1">
              <a:rPr lang="en-US" smtClean="0"/>
              <a:pPr>
                <a:defRPr/>
              </a:pPr>
              <a:t>4/1/2025</a:t>
            </a:fld>
            <a:endParaRPr lang="en-US" altLang="en-US" dirty="0"/>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F22FFA3B-8BA7-47DB-88CE-0B20BB79E2BA}"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F5B50755-92FA-4360-8387-A516E627BCF1}" type="slidenum">
              <a:rPr lang="en-US" altLang="en-US"/>
              <a:pPr>
                <a:defRPr/>
              </a:pPr>
              <a:t>14</a:t>
            </a:fld>
            <a:endParaRPr lang="en-US" altLang="en-US"/>
          </a:p>
        </p:txBody>
      </p:sp>
      <p:sp>
        <p:nvSpPr>
          <p:cNvPr id="81925" name="Content Placeholder 2"/>
          <p:cNvSpPr>
            <a:spLocks noGrp="1"/>
          </p:cNvSpPr>
          <p:nvPr>
            <p:ph idx="1"/>
          </p:nvPr>
        </p:nvSpPr>
        <p:spPr>
          <a:xfrm>
            <a:off x="457200" y="1219200"/>
            <a:ext cx="8382000" cy="5257800"/>
          </a:xfrm>
        </p:spPr>
        <p:txBody>
          <a:bodyPr/>
          <a:lstStyle/>
          <a:p>
            <a:pPr>
              <a:buFont typeface="Wingdings" pitchFamily="2" charset="2"/>
              <a:buNone/>
            </a:pPr>
            <a:r>
              <a:rPr lang="en-US" sz="2000" b="1"/>
              <a:t>int 21h	 		delete sub-directory		function 3Ah</a:t>
            </a:r>
          </a:p>
          <a:p>
            <a:pPr>
              <a:buFont typeface="Wingdings" pitchFamily="2" charset="2"/>
              <a:buNone/>
            </a:pPr>
            <a:endParaRPr lang="en-US" sz="2400"/>
          </a:p>
          <a:p>
            <a:pPr algn="just"/>
            <a:r>
              <a:rPr lang="en-US" sz="2000"/>
              <a:t>Removes sub-directory using specified disk and path</a:t>
            </a:r>
          </a:p>
          <a:p>
            <a:pPr>
              <a:buFont typeface="Wingdings" pitchFamily="2" charset="2"/>
              <a:buNone/>
            </a:pPr>
            <a:endParaRPr lang="en-US" sz="2000"/>
          </a:p>
          <a:p>
            <a:r>
              <a:rPr lang="en-US" sz="2000"/>
              <a:t>Calling parameters</a:t>
            </a:r>
          </a:p>
          <a:p>
            <a:pPr>
              <a:buFont typeface="Wingdings" pitchFamily="2" charset="2"/>
              <a:buNone/>
            </a:pPr>
            <a:r>
              <a:rPr lang="en-US" sz="2000"/>
              <a:t>	 </a:t>
            </a:r>
            <a:r>
              <a:rPr lang="en-US" sz="1800"/>
              <a:t>AH=3Ah</a:t>
            </a:r>
          </a:p>
          <a:p>
            <a:pPr>
              <a:buFont typeface="Wingdings" pitchFamily="2" charset="2"/>
              <a:buNone/>
            </a:pPr>
            <a:r>
              <a:rPr lang="en-US" sz="1800"/>
              <a:t>	 DS:DX -&gt; seg: offset of ASCIIZ path specification(ASCIIZ pathname of directory to be removed)</a:t>
            </a:r>
          </a:p>
          <a:p>
            <a:pPr>
              <a:buFont typeface="Wingdings" pitchFamily="2" charset="2"/>
              <a:buNone/>
            </a:pPr>
            <a:endParaRPr lang="en-US" sz="1800"/>
          </a:p>
          <a:p>
            <a:r>
              <a:rPr lang="en-US" sz="2000"/>
              <a:t>Return:</a:t>
            </a:r>
            <a:endParaRPr lang="en-US" sz="2000" b="1"/>
          </a:p>
          <a:p>
            <a:pPr>
              <a:buFont typeface="Wingdings" pitchFamily="2" charset="2"/>
              <a:buNone/>
            </a:pPr>
            <a:r>
              <a:rPr lang="en-US" sz="1800"/>
              <a:t>If successful,</a:t>
            </a:r>
            <a:r>
              <a:rPr lang="en-US" sz="1800" b="1"/>
              <a:t> </a:t>
            </a:r>
            <a:r>
              <a:rPr lang="en-US" sz="1800"/>
              <a:t>CF clear </a:t>
            </a:r>
          </a:p>
          <a:p>
            <a:pPr>
              <a:buFont typeface="Wingdings" pitchFamily="2" charset="2"/>
              <a:buNone/>
            </a:pPr>
            <a:r>
              <a:rPr lang="en-US" sz="1800"/>
              <a:t>If not successful, CF set ,AX = error code</a:t>
            </a:r>
          </a:p>
          <a:p>
            <a:pPr>
              <a:buFont typeface="Wingdings" pitchFamily="2" charset="2"/>
              <a:buNone/>
            </a:pPr>
            <a:endParaRPr lang="en-US" sz="1800"/>
          </a:p>
          <a:p>
            <a:pPr>
              <a:buFont typeface="Wingdings" pitchFamily="2" charset="2"/>
              <a:buNone/>
            </a:pPr>
            <a:endParaRPr lang="en-US" sz="1800"/>
          </a:p>
          <a:p>
            <a:pPr>
              <a:buFont typeface="Wingdings" pitchFamily="2" charset="2"/>
              <a:buNone/>
            </a:pPr>
            <a:endParaRPr lang="en-US" sz="2000"/>
          </a:p>
          <a:p>
            <a:pPr>
              <a:buFont typeface="Wingdings" pitchFamily="2" charset="2"/>
              <a:buNone/>
            </a:pPr>
            <a:endParaRPr lang="en-US" sz="2000"/>
          </a:p>
        </p:txBody>
      </p:sp>
      <p:sp>
        <p:nvSpPr>
          <p:cNvPr id="81926"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Delete sub-directory: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0CBA3A0-51E8-48A8-B81A-5D27E9D42223}"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3B08804-DE4B-437A-9092-141FFAD3F936}" type="slidenum">
              <a:rPr lang="en-US" altLang="en-US" smtClean="0"/>
              <a:pPr>
                <a:defRPr/>
              </a:pPr>
              <a:t>15</a:t>
            </a:fld>
            <a:endParaRPr lang="en-US" altLang="en-US"/>
          </a:p>
        </p:txBody>
      </p:sp>
      <p:sp>
        <p:nvSpPr>
          <p:cNvPr id="82949" name="Content Placeholder 2"/>
          <p:cNvSpPr>
            <a:spLocks noGrp="1"/>
          </p:cNvSpPr>
          <p:nvPr>
            <p:ph idx="1"/>
          </p:nvPr>
        </p:nvSpPr>
        <p:spPr>
          <a:xfrm>
            <a:off x="533400" y="381000"/>
            <a:ext cx="8229600" cy="5029200"/>
          </a:xfrm>
        </p:spPr>
        <p:txBody>
          <a:bodyPr/>
          <a:lstStyle/>
          <a:p>
            <a:r>
              <a:rPr lang="en-US" sz="3200"/>
              <a:t>EX:</a:t>
            </a:r>
          </a:p>
          <a:p>
            <a:endParaRPr lang="en-US" sz="3200"/>
          </a:p>
          <a:p>
            <a:pPr>
              <a:buFont typeface="Wingdings" pitchFamily="2" charset="2"/>
              <a:buNone/>
            </a:pPr>
            <a:r>
              <a:rPr lang="en-US" sz="2000"/>
              <a:t>data segment</a:t>
            </a:r>
          </a:p>
          <a:p>
            <a:pPr>
              <a:buFont typeface="Wingdings" pitchFamily="2" charset="2"/>
              <a:buNone/>
            </a:pPr>
            <a:r>
              <a:rPr lang="en-US" sz="2000"/>
              <a:t>	path  db ‘c:\mn’,0</a:t>
            </a:r>
          </a:p>
          <a:p>
            <a:pPr>
              <a:buFont typeface="Wingdings" pitchFamily="2" charset="2"/>
              <a:buNone/>
            </a:pPr>
            <a:r>
              <a:rPr lang="en-US" sz="2000"/>
              <a:t>Data ends</a:t>
            </a:r>
          </a:p>
          <a:p>
            <a:pPr>
              <a:buFont typeface="Wingdings" pitchFamily="2" charset="2"/>
              <a:buNone/>
            </a:pPr>
            <a:endParaRPr lang="en-US" sz="2000"/>
          </a:p>
          <a:p>
            <a:pPr>
              <a:buFont typeface="Wingdings" pitchFamily="2" charset="2"/>
              <a:buNone/>
            </a:pPr>
            <a:r>
              <a:rPr lang="en-US" sz="2000"/>
              <a:t>Code segment</a:t>
            </a:r>
          </a:p>
          <a:p>
            <a:pPr>
              <a:lnSpc>
                <a:spcPct val="90000"/>
              </a:lnSpc>
              <a:buFont typeface="Wingdings" pitchFamily="2" charset="2"/>
              <a:buNone/>
            </a:pPr>
            <a:r>
              <a:rPr lang="en-US" sz="2000"/>
              <a:t>	MOV AH,3AH</a:t>
            </a:r>
          </a:p>
          <a:p>
            <a:pPr>
              <a:lnSpc>
                <a:spcPct val="90000"/>
              </a:lnSpc>
              <a:buFont typeface="Wingdings" pitchFamily="2" charset="2"/>
              <a:buNone/>
            </a:pPr>
            <a:r>
              <a:rPr lang="en-US" sz="2000"/>
              <a:t>	MOV DX,OFFSET path</a:t>
            </a:r>
          </a:p>
          <a:p>
            <a:pPr>
              <a:lnSpc>
                <a:spcPct val="90000"/>
              </a:lnSpc>
              <a:buFont typeface="Wingdings" pitchFamily="2" charset="2"/>
              <a:buNone/>
            </a:pPr>
            <a:r>
              <a:rPr lang="en-US" sz="2000"/>
              <a:t>	INT 21H</a:t>
            </a:r>
          </a:p>
          <a:p>
            <a:pPr>
              <a:buFont typeface="Wingdings" pitchFamily="2" charset="2"/>
              <a:buNone/>
            </a:pPr>
            <a:r>
              <a:rPr lang="en-US" sz="2000"/>
              <a:t>Code ends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8CDE542A-C145-4A78-BC79-DA0DC2D8580C}" type="slidenum">
              <a:rPr lang="en-US" altLang="en-US"/>
              <a:pPr>
                <a:defRPr/>
              </a:pPr>
              <a:t>16</a:t>
            </a:fld>
            <a:endParaRPr lang="en-US" altLang="en-US"/>
          </a:p>
        </p:txBody>
      </p:sp>
      <p:sp>
        <p:nvSpPr>
          <p:cNvPr id="83973" name="TextBox 6"/>
          <p:cNvSpPr txBox="1">
            <a:spLocks noChangeArrowheads="1"/>
          </p:cNvSpPr>
          <p:nvPr/>
        </p:nvSpPr>
        <p:spPr bwMode="auto">
          <a:xfrm>
            <a:off x="457200" y="304800"/>
            <a:ext cx="5105400" cy="461963"/>
          </a:xfrm>
          <a:prstGeom prst="rect">
            <a:avLst/>
          </a:prstGeom>
          <a:noFill/>
          <a:ln w="9525">
            <a:noFill/>
            <a:miter lim="800000"/>
            <a:headEnd/>
            <a:tailEnd/>
          </a:ln>
        </p:spPr>
        <p:txBody>
          <a:bodyPr>
            <a:spAutoFit/>
          </a:bodyPr>
          <a:lstStyle/>
          <a:p>
            <a:r>
              <a:rPr lang="en-US" sz="2400" b="1"/>
              <a:t>Set/change current directory:</a:t>
            </a:r>
          </a:p>
        </p:txBody>
      </p:sp>
      <p:sp>
        <p:nvSpPr>
          <p:cNvPr id="83974"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a:t>int 21h	 	set /change current directory    	function 3Bh</a:t>
            </a:r>
          </a:p>
          <a:p>
            <a:pPr>
              <a:buFont typeface="Wingdings" pitchFamily="2" charset="2"/>
              <a:buNone/>
            </a:pPr>
            <a:endParaRPr lang="en-US" sz="2400"/>
          </a:p>
          <a:p>
            <a:pPr algn="just"/>
            <a:r>
              <a:rPr lang="en-US" sz="2000"/>
              <a:t>Sets the current or default directory using specified drive and path</a:t>
            </a:r>
          </a:p>
          <a:p>
            <a:pPr>
              <a:buFont typeface="Wingdings" pitchFamily="2" charset="2"/>
              <a:buNone/>
            </a:pPr>
            <a:endParaRPr lang="en-US" sz="2000"/>
          </a:p>
          <a:p>
            <a:r>
              <a:rPr lang="en-US" sz="2000"/>
              <a:t>Calling parameters</a:t>
            </a:r>
          </a:p>
          <a:p>
            <a:pPr>
              <a:buFont typeface="Wingdings" pitchFamily="2" charset="2"/>
              <a:buNone/>
            </a:pPr>
            <a:r>
              <a:rPr lang="en-US" sz="2000"/>
              <a:t>	 </a:t>
            </a:r>
            <a:r>
              <a:rPr lang="en-US" sz="1800"/>
              <a:t>AH=3Bh</a:t>
            </a:r>
          </a:p>
          <a:p>
            <a:pPr>
              <a:buFont typeface="Wingdings" pitchFamily="2" charset="2"/>
              <a:buNone/>
            </a:pPr>
            <a:r>
              <a:rPr lang="en-US" sz="1800"/>
              <a:t>	 DS:DX -&gt; seg: offset of ASCIIZ path specification (ASCIIZ pathname to become current directory)</a:t>
            </a:r>
          </a:p>
          <a:p>
            <a:pPr>
              <a:buFont typeface="Wingdings" pitchFamily="2" charset="2"/>
              <a:buNone/>
            </a:pPr>
            <a:endParaRPr lang="en-US" sz="1800"/>
          </a:p>
          <a:p>
            <a:r>
              <a:rPr lang="en-US" sz="2000"/>
              <a:t>Return:</a:t>
            </a:r>
            <a:endParaRPr lang="en-US" sz="2000" b="1"/>
          </a:p>
          <a:p>
            <a:pPr>
              <a:buFont typeface="Wingdings" pitchFamily="2" charset="2"/>
              <a:buNone/>
            </a:pPr>
            <a:r>
              <a:rPr lang="en-US" sz="1800"/>
              <a:t>If successful,</a:t>
            </a:r>
            <a:r>
              <a:rPr lang="en-US" sz="1800" b="1"/>
              <a:t> </a:t>
            </a:r>
            <a:r>
              <a:rPr lang="en-US" sz="1800"/>
              <a:t>CF clear </a:t>
            </a:r>
          </a:p>
          <a:p>
            <a:pPr>
              <a:buFont typeface="Wingdings" pitchFamily="2" charset="2"/>
              <a:buNone/>
            </a:pPr>
            <a:r>
              <a:rPr lang="en-US" sz="1800"/>
              <a:t>If not successful,CF set ,AX = error code</a:t>
            </a:r>
          </a:p>
          <a:p>
            <a:pPr>
              <a:buFont typeface="Wingdings" pitchFamily="2" charset="2"/>
              <a:buNone/>
            </a:pPr>
            <a:endParaRPr lang="en-US" sz="1800"/>
          </a:p>
          <a:p>
            <a:pPr>
              <a:buFont typeface="Wingdings" pitchFamily="2" charset="2"/>
              <a:buNone/>
            </a:pPr>
            <a:endParaRPr lang="en-US" sz="2000"/>
          </a:p>
          <a:p>
            <a:pPr>
              <a:buFont typeface="Wingdings" pitchFamily="2" charset="2"/>
              <a:buNone/>
            </a:pP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0CBA3A0-51E8-48A8-B81A-5D27E9D42223}"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7209F5EC-A097-4B4E-B283-C1569803E01E}" type="slidenum">
              <a:rPr lang="en-US" altLang="en-US" smtClean="0"/>
              <a:pPr>
                <a:defRPr/>
              </a:pPr>
              <a:t>17</a:t>
            </a:fld>
            <a:endParaRPr lang="en-US" altLang="en-US"/>
          </a:p>
        </p:txBody>
      </p:sp>
      <p:sp>
        <p:nvSpPr>
          <p:cNvPr id="84997" name="Content Placeholder 2"/>
          <p:cNvSpPr>
            <a:spLocks noGrp="1"/>
          </p:cNvSpPr>
          <p:nvPr>
            <p:ph idx="1"/>
          </p:nvPr>
        </p:nvSpPr>
        <p:spPr>
          <a:xfrm>
            <a:off x="533400" y="381000"/>
            <a:ext cx="8229600" cy="5029200"/>
          </a:xfrm>
        </p:spPr>
        <p:txBody>
          <a:bodyPr/>
          <a:lstStyle/>
          <a:p>
            <a:r>
              <a:rPr lang="en-US" sz="3200"/>
              <a:t>EX:</a:t>
            </a:r>
          </a:p>
          <a:p>
            <a:endParaRPr lang="en-US" sz="3200"/>
          </a:p>
          <a:p>
            <a:pPr>
              <a:buFont typeface="Wingdings" pitchFamily="2" charset="2"/>
              <a:buNone/>
            </a:pPr>
            <a:r>
              <a:rPr lang="en-US" sz="2000"/>
              <a:t>data segment</a:t>
            </a:r>
          </a:p>
          <a:p>
            <a:pPr>
              <a:buFont typeface="Wingdings" pitchFamily="2" charset="2"/>
              <a:buNone/>
            </a:pPr>
            <a:r>
              <a:rPr lang="en-US" sz="2000"/>
              <a:t>	path  db ‘c:\mn’,0</a:t>
            </a:r>
          </a:p>
          <a:p>
            <a:pPr>
              <a:buFont typeface="Wingdings" pitchFamily="2" charset="2"/>
              <a:buNone/>
            </a:pPr>
            <a:r>
              <a:rPr lang="en-US" sz="2000"/>
              <a:t>Data ends</a:t>
            </a:r>
          </a:p>
          <a:p>
            <a:pPr>
              <a:buFont typeface="Wingdings" pitchFamily="2" charset="2"/>
              <a:buNone/>
            </a:pPr>
            <a:endParaRPr lang="en-US" sz="2000"/>
          </a:p>
          <a:p>
            <a:pPr>
              <a:buFont typeface="Wingdings" pitchFamily="2" charset="2"/>
              <a:buNone/>
            </a:pPr>
            <a:r>
              <a:rPr lang="en-US" sz="2000"/>
              <a:t>Code segment</a:t>
            </a:r>
          </a:p>
          <a:p>
            <a:pPr>
              <a:lnSpc>
                <a:spcPct val="90000"/>
              </a:lnSpc>
              <a:buFont typeface="Wingdings" pitchFamily="2" charset="2"/>
              <a:buNone/>
            </a:pPr>
            <a:r>
              <a:rPr lang="en-US" sz="2000"/>
              <a:t>	MOV AH,3BH</a:t>
            </a:r>
          </a:p>
          <a:p>
            <a:pPr>
              <a:lnSpc>
                <a:spcPct val="90000"/>
              </a:lnSpc>
              <a:buFont typeface="Wingdings" pitchFamily="2" charset="2"/>
              <a:buNone/>
            </a:pPr>
            <a:r>
              <a:rPr lang="en-US" sz="2000"/>
              <a:t>	MOV DX,OFFSET path</a:t>
            </a:r>
          </a:p>
          <a:p>
            <a:pPr>
              <a:lnSpc>
                <a:spcPct val="90000"/>
              </a:lnSpc>
              <a:buFont typeface="Wingdings" pitchFamily="2" charset="2"/>
              <a:buNone/>
            </a:pPr>
            <a:r>
              <a:rPr lang="en-US" sz="2000"/>
              <a:t>	INT 21H</a:t>
            </a:r>
          </a:p>
          <a:p>
            <a:pPr>
              <a:buFont typeface="Wingdings" pitchFamily="2" charset="2"/>
              <a:buNone/>
            </a:pPr>
            <a:r>
              <a:rPr lang="en-US" sz="2000"/>
              <a:t>Code ends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43D2B54D-60E6-4527-B3C8-ADF6CFBD9C45}" type="slidenum">
              <a:rPr lang="en-US" altLang="en-US"/>
              <a:pPr>
                <a:defRPr/>
              </a:pPr>
              <a:t>18</a:t>
            </a:fld>
            <a:endParaRPr lang="en-US" altLang="en-US"/>
          </a:p>
        </p:txBody>
      </p:sp>
      <p:sp>
        <p:nvSpPr>
          <p:cNvPr id="86021" name="Content Placeholder 2"/>
          <p:cNvSpPr>
            <a:spLocks noGrp="1"/>
          </p:cNvSpPr>
          <p:nvPr>
            <p:ph idx="1"/>
          </p:nvPr>
        </p:nvSpPr>
        <p:spPr>
          <a:xfrm>
            <a:off x="381000" y="1641475"/>
            <a:ext cx="8305800" cy="4911725"/>
          </a:xfrm>
        </p:spPr>
        <p:txBody>
          <a:bodyPr/>
          <a:lstStyle/>
          <a:p>
            <a:pPr>
              <a:buFont typeface="Wingdings" pitchFamily="2" charset="2"/>
              <a:buNone/>
            </a:pPr>
            <a:r>
              <a:rPr lang="en-US" sz="2000" b="1"/>
              <a:t>int 21h	 	create or truncate file    	function 3Ch</a:t>
            </a:r>
          </a:p>
          <a:p>
            <a:pPr>
              <a:buFont typeface="Wingdings" pitchFamily="2" charset="2"/>
              <a:buNone/>
            </a:pPr>
            <a:endParaRPr lang="en-US" sz="2400"/>
          </a:p>
          <a:p>
            <a:pPr algn="just"/>
            <a:r>
              <a:rPr lang="en-US" sz="2000"/>
              <a:t>Creates a new file in the designated or default directory on the designated of default disk drive. If specified file already exists it is truncated to zero length.</a:t>
            </a:r>
          </a:p>
          <a:p>
            <a:pPr algn="just"/>
            <a:endParaRPr lang="en-US" sz="2000"/>
          </a:p>
          <a:p>
            <a:r>
              <a:rPr lang="en-US" sz="2000"/>
              <a:t>Calling parameters</a:t>
            </a:r>
          </a:p>
          <a:p>
            <a:pPr>
              <a:buFont typeface="Wingdings" pitchFamily="2" charset="2"/>
              <a:buNone/>
            </a:pPr>
            <a:r>
              <a:rPr lang="en-US" sz="2000"/>
              <a:t>	AH=3Ch</a:t>
            </a:r>
          </a:p>
          <a:p>
            <a:pPr>
              <a:buFont typeface="Wingdings" pitchFamily="2" charset="2"/>
              <a:buNone/>
            </a:pPr>
            <a:r>
              <a:rPr lang="en-US" sz="2000"/>
              <a:t>	CX= File attributes</a:t>
            </a:r>
          </a:p>
          <a:p>
            <a:pPr>
              <a:buFont typeface="Wingdings" pitchFamily="2" charset="2"/>
              <a:buNone/>
            </a:pPr>
            <a:r>
              <a:rPr lang="en-US" sz="2000"/>
              <a:t>	DS:DX = seg: offset of ASCIIZ filename</a:t>
            </a:r>
          </a:p>
          <a:p>
            <a:pPr>
              <a:buFont typeface="Wingdings" pitchFamily="2" charset="2"/>
              <a:buNone/>
            </a:pPr>
            <a:endParaRPr lang="en-US" sz="2000"/>
          </a:p>
          <a:p>
            <a:pPr>
              <a:buFont typeface="Wingdings" pitchFamily="2" charset="2"/>
              <a:buNone/>
            </a:pPr>
            <a:endParaRPr lang="en-US" sz="2000"/>
          </a:p>
          <a:p>
            <a:pPr>
              <a:buFont typeface="Wingdings" pitchFamily="2" charset="2"/>
              <a:buNone/>
            </a:pPr>
            <a:endParaRPr lang="en-US" sz="2000"/>
          </a:p>
        </p:txBody>
      </p:sp>
      <p:sp>
        <p:nvSpPr>
          <p:cNvPr id="86022" name="Rectangle 2"/>
          <p:cNvSpPr>
            <a:spLocks noGrp="1" noChangeArrowheads="1"/>
          </p:cNvSpPr>
          <p:nvPr>
            <p:ph type="title"/>
          </p:nvPr>
        </p:nvSpPr>
        <p:spPr>
          <a:xfrm>
            <a:off x="457200" y="304800"/>
            <a:ext cx="7772400" cy="533400"/>
          </a:xfrm>
        </p:spPr>
        <p:txBody>
          <a:bodyPr>
            <a:normAutofit fontScale="90000"/>
          </a:bodyPr>
          <a:lstStyle/>
          <a:p>
            <a:r>
              <a:rPr lang="en-US" sz="3200"/>
              <a:t>3.File Handling</a:t>
            </a:r>
          </a:p>
        </p:txBody>
      </p:sp>
      <p:sp>
        <p:nvSpPr>
          <p:cNvPr id="86023" name="TextBox 6"/>
          <p:cNvSpPr txBox="1">
            <a:spLocks noChangeArrowheads="1"/>
          </p:cNvSpPr>
          <p:nvPr/>
        </p:nvSpPr>
        <p:spPr bwMode="auto">
          <a:xfrm>
            <a:off x="533400" y="985838"/>
            <a:ext cx="4114800" cy="461962"/>
          </a:xfrm>
          <a:prstGeom prst="rect">
            <a:avLst/>
          </a:prstGeom>
          <a:noFill/>
          <a:ln w="9525">
            <a:noFill/>
            <a:miter lim="800000"/>
            <a:headEnd/>
            <a:tailEnd/>
          </a:ln>
        </p:spPr>
        <p:txBody>
          <a:bodyPr>
            <a:spAutoFit/>
          </a:bodyPr>
          <a:lstStyle/>
          <a:p>
            <a:r>
              <a:rPr lang="en-US" sz="2400" b="1"/>
              <a:t>1.File creation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C2B95A7-1FD7-43F8-89BB-E1F72215B2CC}"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8B26D050-ACCA-46E8-9DB4-17A70275B033}" type="slidenum">
              <a:rPr lang="en-US" altLang="en-US" smtClean="0"/>
              <a:pPr>
                <a:defRPr/>
              </a:pPr>
              <a:t>19</a:t>
            </a:fld>
            <a:endParaRPr lang="en-US" altLang="en-US"/>
          </a:p>
        </p:txBody>
      </p:sp>
      <p:sp>
        <p:nvSpPr>
          <p:cNvPr id="8" name="Rectangle 3"/>
          <p:cNvSpPr txBox="1">
            <a:spLocks noChangeArrowheads="1"/>
          </p:cNvSpPr>
          <p:nvPr/>
        </p:nvSpPr>
        <p:spPr bwMode="auto">
          <a:xfrm>
            <a:off x="381000" y="609600"/>
            <a:ext cx="8229600" cy="5064125"/>
          </a:xfrm>
          <a:prstGeom prst="rect">
            <a:avLst/>
          </a:prstGeom>
          <a:noFill/>
          <a:ln w="9525">
            <a:noFill/>
            <a:miter lim="800000"/>
            <a:headEnd/>
            <a:tailEnd/>
          </a:ln>
        </p:spPr>
        <p:txBody>
          <a:bodyPr/>
          <a:lstStyle/>
          <a:p>
            <a:pPr marL="342900" indent="-342900" eaLnBrk="0" hangingPunct="0">
              <a:spcBef>
                <a:spcPct val="20000"/>
              </a:spcBef>
              <a:buClr>
                <a:schemeClr val="accent1"/>
              </a:buClr>
              <a:buSzPct val="65000"/>
              <a:defRPr/>
            </a:pPr>
            <a:r>
              <a:rPr lang="en-US" b="1" dirty="0"/>
              <a:t>File attributes:</a:t>
            </a:r>
          </a:p>
          <a:p>
            <a:pPr marL="342900" indent="-342900" eaLnBrk="0" hangingPunct="0">
              <a:spcBef>
                <a:spcPct val="20000"/>
              </a:spcBef>
              <a:buClr>
                <a:schemeClr val="accent1"/>
              </a:buClr>
              <a:buSzPct val="65000"/>
              <a:defRPr/>
            </a:pPr>
            <a:endParaRPr lang="en-US" dirty="0"/>
          </a:p>
          <a:p>
            <a:pPr marL="342900" indent="-342900" eaLnBrk="0" hangingPunct="0">
              <a:spcBef>
                <a:spcPct val="20000"/>
              </a:spcBef>
              <a:buClr>
                <a:schemeClr val="accent1"/>
              </a:buClr>
              <a:buSzPct val="65000"/>
              <a:defRPr/>
            </a:pPr>
            <a:endParaRPr lang="en-US" dirty="0"/>
          </a:p>
          <a:p>
            <a:pPr marL="342900" indent="-342900" eaLnBrk="0" hangingPunct="0">
              <a:spcBef>
                <a:spcPct val="20000"/>
              </a:spcBef>
              <a:buClr>
                <a:schemeClr val="accent1"/>
              </a:buClr>
              <a:buSzPct val="65000"/>
              <a:defRPr/>
            </a:pPr>
            <a:endParaRPr lang="en-US" dirty="0"/>
          </a:p>
          <a:p>
            <a:pPr marL="342900" indent="-342900" eaLnBrk="0" hangingPunct="0">
              <a:spcBef>
                <a:spcPct val="20000"/>
              </a:spcBef>
              <a:buClr>
                <a:schemeClr val="accent1"/>
              </a:buClr>
              <a:buSzPct val="65000"/>
              <a:defRPr/>
            </a:pPr>
            <a:endParaRPr lang="en-US" dirty="0"/>
          </a:p>
          <a:p>
            <a:pPr marL="342900" indent="-342900" eaLnBrk="0" hangingPunct="0">
              <a:spcBef>
                <a:spcPct val="20000"/>
              </a:spcBef>
              <a:buClr>
                <a:schemeClr val="accent1"/>
              </a:buClr>
              <a:buSzPct val="65000"/>
              <a:defRPr/>
            </a:pPr>
            <a:endParaRPr lang="en-US" dirty="0"/>
          </a:p>
          <a:p>
            <a:pPr marL="342900" indent="-342900" eaLnBrk="0" hangingPunct="0">
              <a:spcBef>
                <a:spcPct val="20000"/>
              </a:spcBef>
              <a:buClr>
                <a:schemeClr val="accent1"/>
              </a:buClr>
              <a:buSzPct val="65000"/>
              <a:defRPr/>
            </a:pPr>
            <a:endParaRPr lang="en-US" kern="0" dirty="0">
              <a:latin typeface="+mn-lt"/>
            </a:endParaRPr>
          </a:p>
          <a:p>
            <a:pPr marL="342900" indent="-342900" eaLnBrk="0" hangingPunct="0">
              <a:spcBef>
                <a:spcPct val="20000"/>
              </a:spcBef>
              <a:buClr>
                <a:schemeClr val="accent1"/>
              </a:buClr>
              <a:buSzPct val="65000"/>
              <a:buFont typeface="Wingdings" pitchFamily="2" charset="2"/>
              <a:buNone/>
              <a:defRPr/>
            </a:pPr>
            <a:endParaRPr lang="en-US" kern="0" dirty="0">
              <a:latin typeface="+mn-lt"/>
            </a:endParaRPr>
          </a:p>
        </p:txBody>
      </p:sp>
      <p:graphicFrame>
        <p:nvGraphicFramePr>
          <p:cNvPr id="10" name="Table 9"/>
          <p:cNvGraphicFramePr>
            <a:graphicFrameLocks noGrp="1"/>
          </p:cNvGraphicFramePr>
          <p:nvPr/>
        </p:nvGraphicFramePr>
        <p:xfrm>
          <a:off x="2971800" y="304800"/>
          <a:ext cx="5334000" cy="4117953"/>
        </p:xfrm>
        <a:graphic>
          <a:graphicData uri="http://schemas.openxmlformats.org/drawingml/2006/table">
            <a:tbl>
              <a:tblPr firstRow="1" bandRow="1">
                <a:tableStyleId>{5C22544A-7EE6-4342-B048-85BDC9FD1C3A}</a:tableStyleId>
              </a:tblPr>
              <a:tblGrid>
                <a:gridCol w="1379482">
                  <a:extLst>
                    <a:ext uri="{9D8B030D-6E8A-4147-A177-3AD203B41FA5}">
                      <a16:colId xmlns:a16="http://schemas.microsoft.com/office/drawing/2014/main" val="20000"/>
                    </a:ext>
                  </a:extLst>
                </a:gridCol>
                <a:gridCol w="3954518">
                  <a:extLst>
                    <a:ext uri="{9D8B030D-6E8A-4147-A177-3AD203B41FA5}">
                      <a16:colId xmlns:a16="http://schemas.microsoft.com/office/drawing/2014/main" val="20001"/>
                    </a:ext>
                  </a:extLst>
                </a:gridCol>
              </a:tblGrid>
              <a:tr h="319690">
                <a:tc>
                  <a:txBody>
                    <a:bodyPr/>
                    <a:lstStyle/>
                    <a:p>
                      <a:r>
                        <a:rPr lang="en-US" sz="1600" dirty="0"/>
                        <a:t>Byte</a:t>
                      </a:r>
                    </a:p>
                  </a:txBody>
                  <a:tcPr/>
                </a:tc>
                <a:tc>
                  <a:txBody>
                    <a:bodyPr/>
                    <a:lstStyle/>
                    <a:p>
                      <a:r>
                        <a:rPr lang="en-US" sz="1600" dirty="0"/>
                        <a:t>Description</a:t>
                      </a:r>
                    </a:p>
                  </a:txBody>
                  <a:tcPr/>
                </a:tc>
                <a:extLst>
                  <a:ext uri="{0D108BD9-81ED-4DB2-BD59-A6C34878D82A}">
                    <a16:rowId xmlns:a16="http://schemas.microsoft.com/office/drawing/2014/main" val="10000"/>
                  </a:ext>
                </a:extLst>
              </a:tr>
              <a:tr h="488731">
                <a:tc>
                  <a:txBody>
                    <a:bodyPr/>
                    <a:lstStyle/>
                    <a:p>
                      <a:r>
                        <a:rPr lang="en-US" sz="1600" dirty="0"/>
                        <a:t>00h</a:t>
                      </a:r>
                    </a:p>
                  </a:txBody>
                  <a:tcPr/>
                </a:tc>
                <a:tc>
                  <a:txBody>
                    <a:bodyPr/>
                    <a:lstStyle/>
                    <a:p>
                      <a:r>
                        <a:rPr lang="en-US" sz="1600" dirty="0"/>
                        <a:t>Normal file attribute</a:t>
                      </a:r>
                    </a:p>
                  </a:txBody>
                  <a:tcPr/>
                </a:tc>
                <a:extLst>
                  <a:ext uri="{0D108BD9-81ED-4DB2-BD59-A6C34878D82A}">
                    <a16:rowId xmlns:a16="http://schemas.microsoft.com/office/drawing/2014/main" val="10001"/>
                  </a:ext>
                </a:extLst>
              </a:tr>
              <a:tr h="488731">
                <a:tc>
                  <a:txBody>
                    <a:bodyPr/>
                    <a:lstStyle/>
                    <a:p>
                      <a:r>
                        <a:rPr lang="en-US" sz="1600" dirty="0"/>
                        <a:t>01h</a:t>
                      </a:r>
                    </a:p>
                  </a:txBody>
                  <a:tcPr/>
                </a:tc>
                <a:tc>
                  <a:txBody>
                    <a:bodyPr/>
                    <a:lstStyle/>
                    <a:p>
                      <a:r>
                        <a:rPr lang="en-US" sz="1600" dirty="0"/>
                        <a:t>Read only</a:t>
                      </a:r>
                    </a:p>
                  </a:txBody>
                  <a:tcPr/>
                </a:tc>
                <a:extLst>
                  <a:ext uri="{0D108BD9-81ED-4DB2-BD59-A6C34878D82A}">
                    <a16:rowId xmlns:a16="http://schemas.microsoft.com/office/drawing/2014/main" val="10002"/>
                  </a:ext>
                </a:extLst>
              </a:tr>
              <a:tr h="319690">
                <a:tc>
                  <a:txBody>
                    <a:bodyPr/>
                    <a:lstStyle/>
                    <a:p>
                      <a:r>
                        <a:rPr lang="en-US" sz="1600" dirty="0"/>
                        <a:t>02h</a:t>
                      </a:r>
                    </a:p>
                  </a:txBody>
                  <a:tcPr/>
                </a:tc>
                <a:tc>
                  <a:txBody>
                    <a:bodyPr/>
                    <a:lstStyle/>
                    <a:p>
                      <a:r>
                        <a:rPr lang="en-US" sz="1600" dirty="0"/>
                        <a:t>Hidden</a:t>
                      </a:r>
                      <a:r>
                        <a:rPr lang="en-US" sz="1600" baseline="0" dirty="0"/>
                        <a:t> file(prevents a file from appearing in directory string)</a:t>
                      </a:r>
                      <a:endParaRPr lang="en-US" sz="1600" dirty="0"/>
                    </a:p>
                  </a:txBody>
                  <a:tcPr/>
                </a:tc>
                <a:extLst>
                  <a:ext uri="{0D108BD9-81ED-4DB2-BD59-A6C34878D82A}">
                    <a16:rowId xmlns:a16="http://schemas.microsoft.com/office/drawing/2014/main" val="10003"/>
                  </a:ext>
                </a:extLst>
              </a:tr>
              <a:tr h="319690">
                <a:tc>
                  <a:txBody>
                    <a:bodyPr/>
                    <a:lstStyle/>
                    <a:p>
                      <a:r>
                        <a:rPr lang="en-US" sz="1600" dirty="0"/>
                        <a:t>04h</a:t>
                      </a:r>
                    </a:p>
                  </a:txBody>
                  <a:tcPr/>
                </a:tc>
                <a:tc>
                  <a:txBody>
                    <a:bodyPr/>
                    <a:lstStyle/>
                    <a:p>
                      <a:r>
                        <a:rPr lang="en-US" sz="1600" dirty="0"/>
                        <a:t>Specifies System File</a:t>
                      </a:r>
                    </a:p>
                  </a:txBody>
                  <a:tcPr/>
                </a:tc>
                <a:extLst>
                  <a:ext uri="{0D108BD9-81ED-4DB2-BD59-A6C34878D82A}">
                    <a16:rowId xmlns:a16="http://schemas.microsoft.com/office/drawing/2014/main" val="10004"/>
                  </a:ext>
                </a:extLst>
              </a:tr>
              <a:tr h="319690">
                <a:tc>
                  <a:txBody>
                    <a:bodyPr/>
                    <a:lstStyle/>
                    <a:p>
                      <a:r>
                        <a:rPr lang="en-US" sz="1600" dirty="0"/>
                        <a:t>08h</a:t>
                      </a:r>
                    </a:p>
                  </a:txBody>
                  <a:tcPr/>
                </a:tc>
                <a:tc>
                  <a:txBody>
                    <a:bodyPr/>
                    <a:lstStyle/>
                    <a:p>
                      <a:r>
                        <a:rPr lang="en-US" sz="1600" dirty="0"/>
                        <a:t>Volume(specifies the name of the disk volume)</a:t>
                      </a:r>
                    </a:p>
                  </a:txBody>
                  <a:tcPr/>
                </a:tc>
                <a:extLst>
                  <a:ext uri="{0D108BD9-81ED-4DB2-BD59-A6C34878D82A}">
                    <a16:rowId xmlns:a16="http://schemas.microsoft.com/office/drawing/2014/main" val="10005"/>
                  </a:ext>
                </a:extLst>
              </a:tr>
              <a:tr h="488731">
                <a:tc>
                  <a:txBody>
                    <a:bodyPr/>
                    <a:lstStyle/>
                    <a:p>
                      <a:r>
                        <a:rPr lang="en-US" sz="1600" dirty="0"/>
                        <a:t>10h</a:t>
                      </a:r>
                    </a:p>
                  </a:txBody>
                  <a:tcPr/>
                </a:tc>
                <a:tc>
                  <a:txBody>
                    <a:bodyPr/>
                    <a:lstStyle/>
                    <a:p>
                      <a:r>
                        <a:rPr lang="en-US" sz="1600" dirty="0"/>
                        <a:t>Sub-directory(specifies sub-directory name)</a:t>
                      </a:r>
                    </a:p>
                  </a:txBody>
                  <a:tcPr/>
                </a:tc>
                <a:extLst>
                  <a:ext uri="{0D108BD9-81ED-4DB2-BD59-A6C34878D82A}">
                    <a16:rowId xmlns:a16="http://schemas.microsoft.com/office/drawing/2014/main" val="10006"/>
                  </a:ext>
                </a:extLst>
              </a:tr>
              <a:tr h="319690">
                <a:tc>
                  <a:txBody>
                    <a:bodyPr/>
                    <a:lstStyle/>
                    <a:p>
                      <a:r>
                        <a:rPr lang="en-US" sz="1600" dirty="0"/>
                        <a:t>20h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Archive(indicates that a file has changed since the last backup)</a:t>
                      </a:r>
                    </a:p>
                    <a:p>
                      <a:endParaRPr lang="en-US" sz="1600" dirty="0"/>
                    </a:p>
                  </a:txBody>
                  <a:tcPr/>
                </a:tc>
                <a:extLst>
                  <a:ext uri="{0D108BD9-81ED-4DB2-BD59-A6C34878D82A}">
                    <a16:rowId xmlns:a16="http://schemas.microsoft.com/office/drawing/2014/main" val="10007"/>
                  </a:ext>
                </a:extLst>
              </a:tr>
            </a:tbl>
          </a:graphicData>
        </a:graphic>
      </p:graphicFrame>
      <p:sp>
        <p:nvSpPr>
          <p:cNvPr id="87075" name="Rectangle 10"/>
          <p:cNvSpPr>
            <a:spLocks noChangeArrowheads="1"/>
          </p:cNvSpPr>
          <p:nvPr/>
        </p:nvSpPr>
        <p:spPr bwMode="auto">
          <a:xfrm>
            <a:off x="533400" y="3505200"/>
            <a:ext cx="7239000" cy="2554288"/>
          </a:xfrm>
          <a:prstGeom prst="rect">
            <a:avLst/>
          </a:prstGeom>
          <a:noFill/>
          <a:ln w="9525">
            <a:noFill/>
            <a:miter lim="800000"/>
            <a:headEnd/>
            <a:tailEnd/>
          </a:ln>
        </p:spPr>
        <p:txBody>
          <a:bodyPr>
            <a:spAutoFit/>
          </a:bodyPr>
          <a:lstStyle/>
          <a:p>
            <a:r>
              <a:rPr lang="en-US" sz="2000" b="1"/>
              <a:t>Return:</a:t>
            </a:r>
          </a:p>
          <a:p>
            <a:endParaRPr lang="en-US" sz="2000" b="1"/>
          </a:p>
          <a:p>
            <a:r>
              <a:rPr lang="en-US"/>
              <a:t>If successful,</a:t>
            </a:r>
            <a:endParaRPr lang="en-US" b="1"/>
          </a:p>
          <a:p>
            <a:pPr>
              <a:buFont typeface="Wingdings" pitchFamily="2" charset="2"/>
              <a:buNone/>
            </a:pPr>
            <a:r>
              <a:rPr lang="en-US"/>
              <a:t>CF clear ,AX = file handle</a:t>
            </a:r>
          </a:p>
          <a:p>
            <a:pPr>
              <a:buFont typeface="Wingdings" pitchFamily="2" charset="2"/>
              <a:buNone/>
            </a:pPr>
            <a:r>
              <a:rPr lang="en-US"/>
              <a:t>If not successful,</a:t>
            </a:r>
          </a:p>
          <a:p>
            <a:pPr>
              <a:buFont typeface="Wingdings" pitchFamily="2" charset="2"/>
              <a:buNone/>
            </a:pPr>
            <a:r>
              <a:rPr lang="en-US"/>
              <a:t>CF set ,AX = error code (03h,04h,05h)</a:t>
            </a:r>
          </a:p>
          <a:p>
            <a:pPr>
              <a:buFont typeface="Wingdings" pitchFamily="2" charset="2"/>
              <a:buNone/>
            </a:pPr>
            <a:r>
              <a:rPr lang="en-US" sz="1600"/>
              <a:t>(03H- If path not found</a:t>
            </a:r>
          </a:p>
          <a:p>
            <a:pPr>
              <a:buFont typeface="Wingdings" pitchFamily="2" charset="2"/>
              <a:buNone/>
            </a:pPr>
            <a:r>
              <a:rPr lang="en-US" sz="1600"/>
              <a:t>04H -If no handle</a:t>
            </a:r>
          </a:p>
          <a:p>
            <a:pPr>
              <a:buFont typeface="Wingdings" pitchFamily="2" charset="2"/>
              <a:buNone/>
            </a:pPr>
            <a:r>
              <a:rPr lang="en-US" sz="1600"/>
              <a:t>05h -If access denied)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body" idx="1"/>
          </p:nvPr>
        </p:nvSpPr>
        <p:spPr>
          <a:xfrm>
            <a:off x="533400" y="457200"/>
            <a:ext cx="8229600" cy="5064125"/>
          </a:xfrm>
        </p:spPr>
        <p:txBody>
          <a:bodyPr>
            <a:normAutofit lnSpcReduction="10000"/>
          </a:bodyPr>
          <a:lstStyle/>
          <a:p>
            <a:pPr>
              <a:buFont typeface="Wingdings" pitchFamily="2" charset="2"/>
              <a:buNone/>
            </a:pPr>
            <a:r>
              <a:rPr lang="en-US" b="1" u="sng" dirty="0"/>
              <a:t>Example:</a:t>
            </a:r>
          </a:p>
          <a:p>
            <a:pPr>
              <a:buFont typeface="Wingdings" pitchFamily="2" charset="2"/>
              <a:buNone/>
            </a:pPr>
            <a:endParaRPr lang="en-US" b="1" u="sng" dirty="0"/>
          </a:p>
          <a:p>
            <a:pPr>
              <a:buFont typeface="Wingdings" pitchFamily="2" charset="2"/>
              <a:buNone/>
            </a:pPr>
            <a:r>
              <a:rPr lang="en-US" sz="1800" dirty="0"/>
              <a:t>data segment</a:t>
            </a:r>
          </a:p>
          <a:p>
            <a:pPr>
              <a:buFont typeface="Wingdings" pitchFamily="2" charset="2"/>
              <a:buNone/>
            </a:pPr>
            <a:r>
              <a:rPr lang="en-US" sz="1800" dirty="0"/>
              <a:t>file1 </a:t>
            </a:r>
            <a:r>
              <a:rPr lang="en-US" sz="1800" dirty="0" err="1"/>
              <a:t>db</a:t>
            </a:r>
            <a:r>
              <a:rPr lang="en-US" sz="1800" dirty="0"/>
              <a:t> ‘abc.txt’,0</a:t>
            </a:r>
          </a:p>
          <a:p>
            <a:pPr>
              <a:buFont typeface="Wingdings" pitchFamily="2" charset="2"/>
              <a:buNone/>
            </a:pPr>
            <a:r>
              <a:rPr lang="en-US" sz="1800" dirty="0"/>
              <a:t>file2 </a:t>
            </a:r>
            <a:r>
              <a:rPr lang="en-US" sz="1800" dirty="0" err="1"/>
              <a:t>db</a:t>
            </a:r>
            <a:r>
              <a:rPr lang="en-US" sz="1800" dirty="0"/>
              <a:t> ‘c:\xyz\abd.txt’,0</a:t>
            </a:r>
          </a:p>
          <a:p>
            <a:pPr>
              <a:buFont typeface="Wingdings" pitchFamily="2" charset="2"/>
              <a:buNone/>
            </a:pPr>
            <a:r>
              <a:rPr lang="en-US" sz="1800" dirty="0"/>
              <a:t>file3 </a:t>
            </a:r>
            <a:r>
              <a:rPr lang="en-US" sz="1800" dirty="0" err="1"/>
              <a:t>db</a:t>
            </a:r>
            <a:r>
              <a:rPr lang="en-US" sz="1800" dirty="0"/>
              <a:t> ‘c:\mn.txt’,0</a:t>
            </a:r>
          </a:p>
          <a:p>
            <a:pPr>
              <a:buFont typeface="Wingdings" pitchFamily="2" charset="2"/>
              <a:buNone/>
            </a:pPr>
            <a:r>
              <a:rPr lang="en-US" sz="1800" dirty="0"/>
              <a:t>Data ends</a:t>
            </a:r>
          </a:p>
          <a:p>
            <a:pPr>
              <a:buFont typeface="Wingdings" pitchFamily="2" charset="2"/>
              <a:buNone/>
            </a:pPr>
            <a:r>
              <a:rPr lang="en-US" sz="1800" dirty="0"/>
              <a:t>Code segment</a:t>
            </a:r>
          </a:p>
          <a:p>
            <a:pPr>
              <a:buFont typeface="Wingdings" pitchFamily="2" charset="2"/>
              <a:buNone/>
            </a:pPr>
            <a:r>
              <a:rPr lang="en-US" sz="1800" dirty="0"/>
              <a:t>:</a:t>
            </a:r>
          </a:p>
          <a:p>
            <a:pPr>
              <a:buFont typeface="Wingdings" pitchFamily="2" charset="2"/>
              <a:buNone/>
            </a:pPr>
            <a:r>
              <a:rPr lang="en-US" sz="1800" dirty="0"/>
              <a:t>LEA DX,file1</a:t>
            </a:r>
          </a:p>
          <a:p>
            <a:pPr>
              <a:buFont typeface="Wingdings" pitchFamily="2" charset="2"/>
              <a:buNone/>
            </a:pPr>
            <a:r>
              <a:rPr lang="en-US" sz="1800" dirty="0"/>
              <a:t>MOV CX,20H</a:t>
            </a:r>
          </a:p>
          <a:p>
            <a:pPr>
              <a:buFont typeface="Wingdings" pitchFamily="2" charset="2"/>
              <a:buNone/>
            </a:pPr>
            <a:r>
              <a:rPr lang="en-US" sz="1800" dirty="0"/>
              <a:t>MOV AH,3CH</a:t>
            </a:r>
          </a:p>
          <a:p>
            <a:pPr>
              <a:buFont typeface="Wingdings" pitchFamily="2" charset="2"/>
              <a:buNone/>
            </a:pPr>
            <a:r>
              <a:rPr lang="en-US" sz="1800" dirty="0"/>
              <a:t>INT 21H</a:t>
            </a:r>
          </a:p>
          <a:p>
            <a:pPr>
              <a:buFont typeface="Wingdings" pitchFamily="2" charset="2"/>
              <a:buNone/>
            </a:pPr>
            <a:r>
              <a:rPr lang="en-US" sz="1800" dirty="0"/>
              <a:t>: </a:t>
            </a:r>
          </a:p>
          <a:p>
            <a:pPr>
              <a:buFont typeface="Wingdings" pitchFamily="2" charset="2"/>
              <a:buNone/>
            </a:pPr>
            <a:r>
              <a:rPr lang="en-US" sz="1800" dirty="0"/>
              <a:t>code ends</a:t>
            </a:r>
          </a:p>
          <a:p>
            <a:pPr>
              <a:buFont typeface="Wingdings" pitchFamily="2" charset="2"/>
              <a:buNone/>
            </a:pP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CC18AF84-15CB-414F-98AE-DECE80BCEF34}" type="slidenum">
              <a:rPr lang="en-US" altLang="en-US"/>
              <a:pPr>
                <a:defRPr/>
              </a:pPr>
              <a:t>21</a:t>
            </a:fld>
            <a:endParaRPr lang="en-US" altLang="en-US"/>
          </a:p>
        </p:txBody>
      </p:sp>
      <p:sp>
        <p:nvSpPr>
          <p:cNvPr id="89093"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dirty="0" err="1"/>
              <a:t>int</a:t>
            </a:r>
            <a:r>
              <a:rPr lang="en-US" sz="2000" b="1" dirty="0"/>
              <a:t> 21h	 		open file    			function 3Dh</a:t>
            </a:r>
          </a:p>
          <a:p>
            <a:pPr>
              <a:buFont typeface="Wingdings" pitchFamily="2" charset="2"/>
              <a:buNone/>
            </a:pPr>
            <a:endParaRPr lang="en-US" sz="2400" dirty="0"/>
          </a:p>
          <a:p>
            <a:pPr algn="just"/>
            <a:r>
              <a:rPr lang="en-US" sz="2000" dirty="0"/>
              <a:t>Given an ASCIIZ file specification opens the specified file in the designated or default directory on the designated or default disk drive</a:t>
            </a:r>
          </a:p>
          <a:p>
            <a:r>
              <a:rPr lang="en-US" sz="2000" dirty="0"/>
              <a:t>Calling parameters</a:t>
            </a:r>
          </a:p>
          <a:p>
            <a:pPr>
              <a:buFont typeface="Wingdings" pitchFamily="2" charset="2"/>
              <a:buNone/>
            </a:pPr>
            <a:r>
              <a:rPr lang="en-US" sz="2000" dirty="0"/>
              <a:t>	</a:t>
            </a:r>
            <a:r>
              <a:rPr lang="en-US" sz="1800" dirty="0"/>
              <a:t>AH=3Dh</a:t>
            </a:r>
          </a:p>
          <a:p>
            <a:pPr>
              <a:buFont typeface="Wingdings" pitchFamily="2" charset="2"/>
              <a:buNone/>
            </a:pPr>
            <a:r>
              <a:rPr lang="en-US" sz="1800" dirty="0"/>
              <a:t>	AL=access mode(type of operations allowed for the opened file)</a:t>
            </a:r>
          </a:p>
          <a:p>
            <a:pPr>
              <a:buFont typeface="Wingdings" pitchFamily="2" charset="2"/>
              <a:buNone/>
            </a:pPr>
            <a:r>
              <a:rPr lang="en-US" sz="1800" dirty="0"/>
              <a:t>	</a:t>
            </a:r>
            <a:r>
              <a:rPr lang="en-US" sz="1600" dirty="0"/>
              <a:t>AL=00H,The file is opened to read</a:t>
            </a:r>
          </a:p>
          <a:p>
            <a:pPr>
              <a:buFont typeface="Wingdings" pitchFamily="2" charset="2"/>
              <a:buNone/>
            </a:pPr>
            <a:r>
              <a:rPr lang="en-US" sz="1600" dirty="0"/>
              <a:t>	AL=01H,The file opened to write</a:t>
            </a:r>
          </a:p>
          <a:p>
            <a:pPr>
              <a:buFont typeface="Wingdings" pitchFamily="2" charset="2"/>
              <a:buNone/>
            </a:pPr>
            <a:r>
              <a:rPr lang="en-US" sz="1600" dirty="0"/>
              <a:t>	AL=02H,the file is opened to read or write</a:t>
            </a:r>
          </a:p>
          <a:p>
            <a:pPr>
              <a:buFont typeface="Wingdings" pitchFamily="2" charset="2"/>
              <a:buNone/>
            </a:pPr>
            <a:r>
              <a:rPr lang="en-US" sz="1800" dirty="0"/>
              <a:t>	DS:DX -&gt; </a:t>
            </a:r>
            <a:r>
              <a:rPr lang="en-US" sz="1800" dirty="0" err="1"/>
              <a:t>seg</a:t>
            </a:r>
            <a:r>
              <a:rPr lang="en-US" sz="1800" dirty="0"/>
              <a:t>: offset of ASCIIZ file specification</a:t>
            </a:r>
          </a:p>
          <a:p>
            <a:pPr>
              <a:buFont typeface="Wingdings" pitchFamily="2" charset="2"/>
              <a:buNone/>
            </a:pPr>
            <a:endParaRPr lang="en-US" sz="1800" dirty="0"/>
          </a:p>
          <a:p>
            <a:r>
              <a:rPr lang="en-US" sz="2000" dirty="0"/>
              <a:t>Return:</a:t>
            </a:r>
            <a:endParaRPr lang="en-US" sz="2000" b="1" dirty="0"/>
          </a:p>
          <a:p>
            <a:pPr>
              <a:buFont typeface="Wingdings" pitchFamily="2" charset="2"/>
              <a:buNone/>
            </a:pPr>
            <a:r>
              <a:rPr lang="en-US" sz="1800" dirty="0"/>
              <a:t>If successful,</a:t>
            </a:r>
            <a:r>
              <a:rPr lang="en-US" sz="1800" b="1" dirty="0"/>
              <a:t> </a:t>
            </a:r>
            <a:r>
              <a:rPr lang="en-US" sz="1800" dirty="0"/>
              <a:t>CF clear ,AX = file handle</a:t>
            </a:r>
          </a:p>
          <a:p>
            <a:pPr>
              <a:buFont typeface="Wingdings" pitchFamily="2" charset="2"/>
              <a:buNone/>
            </a:pPr>
            <a:r>
              <a:rPr lang="en-US" sz="1800" dirty="0"/>
              <a:t>If not </a:t>
            </a:r>
            <a:r>
              <a:rPr lang="en-US" sz="1800" dirty="0" err="1"/>
              <a:t>successful,CF</a:t>
            </a:r>
            <a:r>
              <a:rPr lang="en-US" sz="1800" dirty="0"/>
              <a:t> set ,AX = error code</a:t>
            </a:r>
          </a:p>
          <a:p>
            <a:pPr>
              <a:buFont typeface="Wingdings" pitchFamily="2" charset="2"/>
              <a:buNone/>
            </a:pPr>
            <a:endParaRPr lang="en-US" sz="2000" dirty="0"/>
          </a:p>
          <a:p>
            <a:pPr>
              <a:buFont typeface="Wingdings" pitchFamily="2" charset="2"/>
              <a:buNone/>
            </a:pPr>
            <a:endParaRPr lang="en-US" sz="2000" dirty="0"/>
          </a:p>
        </p:txBody>
      </p:sp>
      <p:sp>
        <p:nvSpPr>
          <p:cNvPr id="89094"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2.Open File: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2F141F4-65CC-490E-A748-5E371834D942}"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AFB8ACD0-162F-47BA-ABAC-A9096E144890}" type="slidenum">
              <a:rPr lang="en-US" altLang="en-US" smtClean="0"/>
              <a:pPr>
                <a:defRPr/>
              </a:pPr>
              <a:t>22</a:t>
            </a:fld>
            <a:endParaRPr lang="en-US" altLang="en-US"/>
          </a:p>
        </p:txBody>
      </p:sp>
      <p:sp>
        <p:nvSpPr>
          <p:cNvPr id="7" name="Rectangle 3"/>
          <p:cNvSpPr txBox="1">
            <a:spLocks noChangeArrowheads="1"/>
          </p:cNvSpPr>
          <p:nvPr/>
        </p:nvSpPr>
        <p:spPr bwMode="auto">
          <a:xfrm>
            <a:off x="381000" y="304800"/>
            <a:ext cx="8382000" cy="5791200"/>
          </a:xfrm>
          <a:prstGeom prst="rect">
            <a:avLst/>
          </a:prstGeom>
          <a:noFill/>
          <a:ln w="9525">
            <a:noFill/>
            <a:miter lim="800000"/>
            <a:headEnd/>
            <a:tailEnd/>
          </a:ln>
        </p:spPr>
        <p:txBody>
          <a:bodyPr/>
          <a:lstStyle/>
          <a:p>
            <a:pPr marL="342900" indent="-342900" eaLnBrk="0" hangingPunct="0">
              <a:lnSpc>
                <a:spcPct val="80000"/>
              </a:lnSpc>
              <a:spcBef>
                <a:spcPct val="20000"/>
              </a:spcBef>
              <a:buClr>
                <a:schemeClr val="accent1"/>
              </a:buClr>
              <a:buSzPct val="65000"/>
              <a:buFont typeface="Wingdings" pitchFamily="2" charset="2"/>
              <a:buNone/>
              <a:defRPr/>
            </a:pPr>
            <a:endParaRPr lang="en-US" sz="28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800" b="1" u="sng" kern="0" dirty="0">
                <a:latin typeface="+mn-lt"/>
              </a:rPr>
              <a:t>Example:</a:t>
            </a:r>
          </a:p>
          <a:p>
            <a:pPr marL="342900" indent="-342900" eaLnBrk="0" hangingPunct="0">
              <a:lnSpc>
                <a:spcPct val="80000"/>
              </a:lnSpc>
              <a:spcBef>
                <a:spcPct val="20000"/>
              </a:spcBef>
              <a:buClr>
                <a:schemeClr val="accent1"/>
              </a:buClr>
              <a:buSzPct val="65000"/>
              <a:buFont typeface="Wingdings" pitchFamily="2" charset="2"/>
              <a:buNone/>
              <a:defRPr/>
            </a:pPr>
            <a:endParaRPr lang="en-US" sz="28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Data segment</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filename db ‘temp.asm’,0</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Data ends</a:t>
            </a:r>
          </a:p>
          <a:p>
            <a:pPr marL="342900" indent="-342900" eaLnBrk="0" hangingPunct="0">
              <a:lnSpc>
                <a:spcPct val="80000"/>
              </a:lnSpc>
              <a:spcBef>
                <a:spcPct val="20000"/>
              </a:spcBef>
              <a:buClr>
                <a:schemeClr val="accent1"/>
              </a:buClr>
              <a:buSzPct val="65000"/>
              <a:buFont typeface="Wingdings" pitchFamily="2" charset="2"/>
              <a:buNone/>
              <a:defRPr/>
            </a:pPr>
            <a:endParaRPr lang="en-US" sz="20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Code segment</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MOV AL, 02H</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MOV AH,3DH</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LEA DX, filename</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INT 21h;		AX has handle</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Code ends</a:t>
            </a:r>
          </a:p>
          <a:p>
            <a:pPr marL="342900" indent="-342900" eaLnBrk="0" hangingPunct="0">
              <a:lnSpc>
                <a:spcPct val="80000"/>
              </a:lnSpc>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600" kern="0" dirty="0">
                <a:latin typeface="+mn-lt"/>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969D62E-5F7D-4851-A896-2CBEA394C562}" type="slidenum">
              <a:rPr lang="en-US" altLang="en-US"/>
              <a:pPr>
                <a:defRPr/>
              </a:pPr>
              <a:t>23</a:t>
            </a:fld>
            <a:endParaRPr lang="en-US" altLang="en-US"/>
          </a:p>
        </p:txBody>
      </p:sp>
      <p:sp>
        <p:nvSpPr>
          <p:cNvPr id="91141"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dirty="0" err="1"/>
              <a:t>int</a:t>
            </a:r>
            <a:r>
              <a:rPr lang="en-US" sz="2000" b="1" dirty="0"/>
              <a:t> 21h	 		close file    			function 3Eh</a:t>
            </a:r>
          </a:p>
          <a:p>
            <a:pPr>
              <a:buFont typeface="Wingdings" pitchFamily="2" charset="2"/>
              <a:buNone/>
            </a:pPr>
            <a:endParaRPr lang="en-US" sz="2400" dirty="0"/>
          </a:p>
          <a:p>
            <a:pPr algn="just"/>
            <a:r>
              <a:rPr lang="en-US" sz="2000" dirty="0"/>
              <a:t>Given a file handle that was returned by previous successful open or create operation ,flushes all internal buffer to disk, closes the file, and releases the handle for reuse. If file was modified or extended the time and date, stamp and the file size are updated in directory entry</a:t>
            </a:r>
          </a:p>
          <a:p>
            <a:endParaRPr lang="en-US" sz="2000" dirty="0"/>
          </a:p>
          <a:p>
            <a:r>
              <a:rPr lang="en-US" sz="2000" dirty="0"/>
              <a:t>Calling parameters</a:t>
            </a:r>
          </a:p>
          <a:p>
            <a:pPr>
              <a:buFont typeface="Wingdings" pitchFamily="2" charset="2"/>
              <a:buNone/>
            </a:pPr>
            <a:r>
              <a:rPr lang="en-US" sz="2000" dirty="0"/>
              <a:t>	 </a:t>
            </a:r>
            <a:r>
              <a:rPr lang="en-US" sz="1800" dirty="0"/>
              <a:t>AH=3Eh</a:t>
            </a:r>
          </a:p>
          <a:p>
            <a:pPr>
              <a:buFont typeface="Wingdings" pitchFamily="2" charset="2"/>
              <a:buNone/>
            </a:pPr>
            <a:r>
              <a:rPr lang="en-US" sz="1800" dirty="0"/>
              <a:t>	BX=file handle</a:t>
            </a:r>
          </a:p>
          <a:p>
            <a:pPr>
              <a:buFont typeface="Wingdings" pitchFamily="2" charset="2"/>
              <a:buNone/>
            </a:pPr>
            <a:endParaRPr lang="en-US" sz="1800" dirty="0"/>
          </a:p>
          <a:p>
            <a:r>
              <a:rPr lang="en-US" sz="2000" dirty="0"/>
              <a:t>Return:</a:t>
            </a:r>
            <a:endParaRPr lang="en-US" sz="2000" b="1" dirty="0"/>
          </a:p>
          <a:p>
            <a:pPr>
              <a:buFont typeface="Wingdings" pitchFamily="2" charset="2"/>
              <a:buNone/>
            </a:pPr>
            <a:r>
              <a:rPr lang="en-US" sz="1800" dirty="0"/>
              <a:t>If successful,</a:t>
            </a:r>
            <a:r>
              <a:rPr lang="en-US" sz="1800" b="1" dirty="0"/>
              <a:t> </a:t>
            </a:r>
            <a:r>
              <a:rPr lang="en-US" sz="1800" dirty="0"/>
              <a:t>CF clear ,</a:t>
            </a:r>
          </a:p>
          <a:p>
            <a:pPr>
              <a:buFont typeface="Wingdings" pitchFamily="2" charset="2"/>
              <a:buNone/>
            </a:pPr>
            <a:r>
              <a:rPr lang="en-US" sz="1800" dirty="0"/>
              <a:t>If not </a:t>
            </a:r>
            <a:r>
              <a:rPr lang="en-US" sz="1800" dirty="0" err="1"/>
              <a:t>successful,CF</a:t>
            </a:r>
            <a:r>
              <a:rPr lang="en-US" sz="1800" dirty="0"/>
              <a:t> set ,AX = error code, if handle invalid or not open</a:t>
            </a:r>
          </a:p>
          <a:p>
            <a:pPr>
              <a:buFont typeface="Wingdings" pitchFamily="2" charset="2"/>
              <a:buNone/>
            </a:pPr>
            <a:endParaRPr lang="en-US" sz="2000" dirty="0"/>
          </a:p>
          <a:p>
            <a:pPr>
              <a:buFont typeface="Wingdings" pitchFamily="2" charset="2"/>
              <a:buNone/>
            </a:pPr>
            <a:endParaRPr lang="en-US" sz="2000" dirty="0"/>
          </a:p>
        </p:txBody>
      </p:sp>
      <p:sp>
        <p:nvSpPr>
          <p:cNvPr id="91142"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3.Close File: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2F141F4-65CC-490E-A748-5E371834D942}"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C77E3132-2099-4D39-8B60-0D50BD591F73}" type="slidenum">
              <a:rPr lang="en-US" altLang="en-US" smtClean="0"/>
              <a:pPr>
                <a:defRPr/>
              </a:pPr>
              <a:t>24</a:t>
            </a:fld>
            <a:endParaRPr lang="en-US" altLang="en-US"/>
          </a:p>
        </p:txBody>
      </p:sp>
      <p:sp>
        <p:nvSpPr>
          <p:cNvPr id="7" name="Rectangle 3"/>
          <p:cNvSpPr txBox="1">
            <a:spLocks noChangeArrowheads="1"/>
          </p:cNvSpPr>
          <p:nvPr/>
        </p:nvSpPr>
        <p:spPr bwMode="auto">
          <a:xfrm>
            <a:off x="381000" y="304800"/>
            <a:ext cx="8382000" cy="5791200"/>
          </a:xfrm>
          <a:prstGeom prst="rect">
            <a:avLst/>
          </a:prstGeom>
          <a:noFill/>
          <a:ln w="9525">
            <a:noFill/>
            <a:miter lim="800000"/>
            <a:headEnd/>
            <a:tailEnd/>
          </a:ln>
        </p:spPr>
        <p:txBody>
          <a:bodyPr/>
          <a:lstStyle/>
          <a:p>
            <a:pPr marL="342900" indent="-342900" eaLnBrk="0" hangingPunct="0">
              <a:lnSpc>
                <a:spcPct val="80000"/>
              </a:lnSpc>
              <a:spcBef>
                <a:spcPct val="20000"/>
              </a:spcBef>
              <a:buClr>
                <a:schemeClr val="accent1"/>
              </a:buClr>
              <a:buSzPct val="65000"/>
              <a:buFont typeface="Wingdings" pitchFamily="2" charset="2"/>
              <a:buNone/>
              <a:defRPr/>
            </a:pPr>
            <a:endParaRPr lang="en-US" sz="28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800" b="1" u="sng" kern="0" dirty="0">
                <a:latin typeface="+mn-lt"/>
              </a:rPr>
              <a:t>Example:</a:t>
            </a:r>
          </a:p>
          <a:p>
            <a:pPr marL="342900" indent="-342900" eaLnBrk="0" hangingPunct="0">
              <a:lnSpc>
                <a:spcPct val="80000"/>
              </a:lnSpc>
              <a:spcBef>
                <a:spcPct val="20000"/>
              </a:spcBef>
              <a:buClr>
                <a:schemeClr val="accent1"/>
              </a:buClr>
              <a:buSzPct val="65000"/>
              <a:buFont typeface="Wingdings" pitchFamily="2" charset="2"/>
              <a:buNone/>
              <a:defRPr/>
            </a:pPr>
            <a:endParaRPr lang="en-US" sz="28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Data segment</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filename db ‘temp.asm’,0</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Data ends</a:t>
            </a:r>
          </a:p>
          <a:p>
            <a:pPr marL="342900" indent="-342900" eaLnBrk="0" hangingPunct="0">
              <a:lnSpc>
                <a:spcPct val="80000"/>
              </a:lnSpc>
              <a:spcBef>
                <a:spcPct val="20000"/>
              </a:spcBef>
              <a:buClr>
                <a:schemeClr val="accent1"/>
              </a:buClr>
              <a:buSzPct val="65000"/>
              <a:buFont typeface="Wingdings" pitchFamily="2" charset="2"/>
              <a:buNone/>
              <a:defRPr/>
            </a:pPr>
            <a:endParaRPr lang="en-US" sz="2000"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Code segment</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MOV BX,AX	;Assume AX has the file handle</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MOV AH,3EH</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INT 21h</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Code ends</a:t>
            </a:r>
          </a:p>
          <a:p>
            <a:pPr marL="342900" indent="-342900" eaLnBrk="0" hangingPunct="0">
              <a:lnSpc>
                <a:spcPct val="80000"/>
              </a:lnSpc>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lnSpc>
                <a:spcPct val="80000"/>
              </a:lnSpc>
              <a:spcBef>
                <a:spcPct val="20000"/>
              </a:spcBef>
              <a:buClr>
                <a:schemeClr val="accent1"/>
              </a:buClr>
              <a:buSzPct val="65000"/>
              <a:buFont typeface="Wingdings" pitchFamily="2" charset="2"/>
              <a:buNone/>
              <a:defRPr/>
            </a:pPr>
            <a:r>
              <a:rPr lang="en-US" sz="600" kern="0" dirty="0">
                <a:latin typeface="+mn-lt"/>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E76B90FA-CFE4-4025-AA10-00B95084E986}" type="slidenum">
              <a:rPr lang="en-US" altLang="en-US"/>
              <a:pPr>
                <a:defRPr/>
              </a:pPr>
              <a:t>25</a:t>
            </a:fld>
            <a:endParaRPr lang="en-US" altLang="en-US"/>
          </a:p>
        </p:txBody>
      </p:sp>
      <p:sp>
        <p:nvSpPr>
          <p:cNvPr id="93189"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dirty="0" err="1"/>
              <a:t>int</a:t>
            </a:r>
            <a:r>
              <a:rPr lang="en-US" sz="2000" b="1" dirty="0"/>
              <a:t> 21h	 		read file    			function 3Fh</a:t>
            </a:r>
          </a:p>
          <a:p>
            <a:pPr>
              <a:buFont typeface="Wingdings" pitchFamily="2" charset="2"/>
              <a:buNone/>
            </a:pPr>
            <a:endParaRPr lang="en-US" sz="2400" dirty="0"/>
          </a:p>
          <a:p>
            <a:pPr algn="just"/>
            <a:r>
              <a:rPr lang="en-US" sz="2000" dirty="0"/>
              <a:t>Given a valid file handle from a previous successful open or create operation, a buffer address and a length in bytes, transfers data at the current file pointer from the file into the buffer and then updates the file pointer position.</a:t>
            </a:r>
          </a:p>
          <a:p>
            <a:pPr>
              <a:buFont typeface="Wingdings" pitchFamily="2" charset="2"/>
              <a:buNone/>
            </a:pPr>
            <a:endParaRPr lang="en-US" sz="2000" dirty="0"/>
          </a:p>
          <a:p>
            <a:r>
              <a:rPr lang="en-US" sz="2000" dirty="0"/>
              <a:t>Calling parameters</a:t>
            </a:r>
          </a:p>
          <a:p>
            <a:pPr>
              <a:buFont typeface="Wingdings" pitchFamily="2" charset="2"/>
              <a:buNone/>
            </a:pPr>
            <a:r>
              <a:rPr lang="en-US" sz="2000" dirty="0"/>
              <a:t>	 </a:t>
            </a:r>
            <a:r>
              <a:rPr lang="en-US" sz="1800" dirty="0"/>
              <a:t>AH=3Fh</a:t>
            </a:r>
          </a:p>
          <a:p>
            <a:pPr>
              <a:buFont typeface="Wingdings" pitchFamily="2" charset="2"/>
              <a:buNone/>
            </a:pPr>
            <a:r>
              <a:rPr lang="en-US" sz="1800" dirty="0"/>
              <a:t>	BX=File handle </a:t>
            </a:r>
          </a:p>
          <a:p>
            <a:pPr>
              <a:buFont typeface="Wingdings" pitchFamily="2" charset="2"/>
              <a:buNone/>
            </a:pPr>
            <a:r>
              <a:rPr lang="en-US" sz="1800" dirty="0"/>
              <a:t>	CX=no of bytes to be read</a:t>
            </a:r>
          </a:p>
          <a:p>
            <a:pPr>
              <a:buFont typeface="Wingdings" pitchFamily="2" charset="2"/>
              <a:buNone/>
            </a:pPr>
            <a:r>
              <a:rPr lang="en-US" sz="1800" dirty="0"/>
              <a:t>	DS:DX -&gt; </a:t>
            </a:r>
            <a:r>
              <a:rPr lang="en-US" sz="1800" dirty="0" err="1"/>
              <a:t>seg</a:t>
            </a:r>
            <a:r>
              <a:rPr lang="en-US" sz="1800" dirty="0"/>
              <a:t>: offset of buffer area</a:t>
            </a:r>
          </a:p>
          <a:p>
            <a:r>
              <a:rPr lang="en-US" sz="2000" dirty="0"/>
              <a:t>Return:</a:t>
            </a:r>
            <a:endParaRPr lang="en-US" sz="2000" b="1" dirty="0"/>
          </a:p>
          <a:p>
            <a:pPr>
              <a:buFont typeface="Wingdings" pitchFamily="2" charset="2"/>
              <a:buNone/>
            </a:pPr>
            <a:r>
              <a:rPr lang="en-US" sz="1800" dirty="0"/>
              <a:t>If successful,</a:t>
            </a:r>
            <a:r>
              <a:rPr lang="en-US" sz="1800" b="1" dirty="0"/>
              <a:t> </a:t>
            </a:r>
            <a:r>
              <a:rPr lang="en-US" sz="1800" dirty="0"/>
              <a:t>CF clear ,AX = no of bytes read</a:t>
            </a:r>
          </a:p>
          <a:p>
            <a:pPr>
              <a:buFont typeface="Wingdings" pitchFamily="2" charset="2"/>
              <a:buNone/>
            </a:pPr>
            <a:r>
              <a:rPr lang="en-US" sz="1800" dirty="0"/>
              <a:t>If not </a:t>
            </a:r>
            <a:r>
              <a:rPr lang="en-US" sz="1800" dirty="0" err="1"/>
              <a:t>successful,CF</a:t>
            </a:r>
            <a:r>
              <a:rPr lang="en-US" sz="1800" dirty="0"/>
              <a:t> set ,AX = error code</a:t>
            </a:r>
          </a:p>
          <a:p>
            <a:pPr>
              <a:buFont typeface="Wingdings" pitchFamily="2" charset="2"/>
              <a:buNone/>
            </a:pPr>
            <a:endParaRPr lang="en-US" sz="2000" dirty="0"/>
          </a:p>
          <a:p>
            <a:pPr>
              <a:buFont typeface="Wingdings" pitchFamily="2" charset="2"/>
              <a:buNone/>
            </a:pPr>
            <a:endParaRPr lang="en-US" sz="2000" dirty="0"/>
          </a:p>
        </p:txBody>
      </p:sp>
      <p:sp>
        <p:nvSpPr>
          <p:cNvPr id="93190"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4.Read File: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sz="half" idx="1"/>
          </p:nvPr>
        </p:nvSpPr>
        <p:spPr>
          <a:xfrm>
            <a:off x="381000" y="304800"/>
            <a:ext cx="8534400" cy="5638800"/>
          </a:xfrm>
        </p:spPr>
        <p:txBody>
          <a:bodyPr>
            <a:normAutofit lnSpcReduction="10000"/>
          </a:bodyPr>
          <a:lstStyle/>
          <a:p>
            <a:pPr>
              <a:lnSpc>
                <a:spcPct val="80000"/>
              </a:lnSpc>
              <a:buFont typeface="Wingdings" pitchFamily="2" charset="2"/>
              <a:buNone/>
            </a:pPr>
            <a:r>
              <a:rPr lang="en-US" sz="2400" b="1" u="sng" dirty="0"/>
              <a:t>Example(</a:t>
            </a:r>
            <a:r>
              <a:rPr lang="en-US" sz="2400" dirty="0"/>
              <a:t>Open/read/closing the file)</a:t>
            </a:r>
          </a:p>
          <a:p>
            <a:pPr>
              <a:lnSpc>
                <a:spcPct val="80000"/>
              </a:lnSpc>
              <a:buFont typeface="Wingdings" pitchFamily="2" charset="2"/>
              <a:buNone/>
            </a:pPr>
            <a:endParaRPr lang="en-US" sz="1800" dirty="0"/>
          </a:p>
          <a:p>
            <a:pPr>
              <a:lnSpc>
                <a:spcPct val="80000"/>
              </a:lnSpc>
              <a:buFont typeface="Wingdings" pitchFamily="2" charset="2"/>
              <a:buNone/>
            </a:pPr>
            <a:r>
              <a:rPr lang="en-US" sz="1800" dirty="0"/>
              <a:t>DATA SEGMENT</a:t>
            </a:r>
          </a:p>
          <a:p>
            <a:pPr>
              <a:lnSpc>
                <a:spcPct val="80000"/>
              </a:lnSpc>
              <a:buFont typeface="Wingdings" pitchFamily="2" charset="2"/>
              <a:buNone/>
            </a:pPr>
            <a:r>
              <a:rPr lang="en-US" sz="1800" dirty="0"/>
              <a:t>	filename db ‘temp.asm’,0</a:t>
            </a:r>
          </a:p>
          <a:p>
            <a:pPr>
              <a:lnSpc>
                <a:spcPct val="80000"/>
              </a:lnSpc>
              <a:buFont typeface="Wingdings" pitchFamily="2" charset="2"/>
              <a:buNone/>
            </a:pPr>
            <a:r>
              <a:rPr lang="en-US" sz="1800" dirty="0"/>
              <a:t>	</a:t>
            </a:r>
            <a:r>
              <a:rPr lang="en-US" sz="1800" dirty="0" err="1"/>
              <a:t>buf</a:t>
            </a:r>
            <a:r>
              <a:rPr lang="en-US" sz="1800" dirty="0"/>
              <a:t> db 256 dup(?)</a:t>
            </a:r>
          </a:p>
          <a:p>
            <a:pPr>
              <a:lnSpc>
                <a:spcPct val="80000"/>
              </a:lnSpc>
              <a:buFont typeface="Wingdings" pitchFamily="2" charset="2"/>
              <a:buNone/>
            </a:pPr>
            <a:r>
              <a:rPr lang="en-US" sz="1800" dirty="0"/>
              <a:t>DATA ENDS</a:t>
            </a:r>
          </a:p>
          <a:p>
            <a:pPr>
              <a:lnSpc>
                <a:spcPct val="80000"/>
              </a:lnSpc>
              <a:buFont typeface="Wingdings" pitchFamily="2" charset="2"/>
              <a:buNone/>
            </a:pPr>
            <a:endParaRPr lang="en-US" sz="1800" dirty="0"/>
          </a:p>
          <a:p>
            <a:pPr>
              <a:lnSpc>
                <a:spcPct val="80000"/>
              </a:lnSpc>
              <a:buFont typeface="Wingdings" pitchFamily="2" charset="2"/>
              <a:buNone/>
            </a:pPr>
            <a:r>
              <a:rPr lang="en-US" sz="1800" dirty="0"/>
              <a:t>CODE SEGMENT</a:t>
            </a:r>
          </a:p>
          <a:p>
            <a:pPr>
              <a:lnSpc>
                <a:spcPct val="80000"/>
              </a:lnSpc>
              <a:buFont typeface="Wingdings" pitchFamily="2" charset="2"/>
              <a:buNone/>
            </a:pPr>
            <a:r>
              <a:rPr lang="en-US" sz="1800" dirty="0"/>
              <a:t>	MOV AL, 02H</a:t>
            </a:r>
          </a:p>
          <a:p>
            <a:pPr>
              <a:lnSpc>
                <a:spcPct val="80000"/>
              </a:lnSpc>
              <a:buFont typeface="Wingdings" pitchFamily="2" charset="2"/>
              <a:buNone/>
            </a:pPr>
            <a:r>
              <a:rPr lang="en-US" sz="1800" dirty="0"/>
              <a:t>	MOV AH,3DH   		;Open file function</a:t>
            </a:r>
          </a:p>
          <a:p>
            <a:pPr>
              <a:lnSpc>
                <a:spcPct val="80000"/>
              </a:lnSpc>
              <a:buFont typeface="Wingdings" pitchFamily="2" charset="2"/>
              <a:buNone/>
            </a:pPr>
            <a:r>
              <a:rPr lang="en-US" sz="1800" dirty="0"/>
              <a:t>	LEA </a:t>
            </a:r>
            <a:r>
              <a:rPr lang="en-US" sz="1800" dirty="0" err="1"/>
              <a:t>DX,filename</a:t>
            </a:r>
            <a:r>
              <a:rPr lang="en-US" sz="1800" dirty="0"/>
              <a:t>		;address of filename</a:t>
            </a:r>
          </a:p>
          <a:p>
            <a:pPr>
              <a:lnSpc>
                <a:spcPct val="80000"/>
              </a:lnSpc>
              <a:buFont typeface="Wingdings" pitchFamily="2" charset="2"/>
              <a:buNone/>
            </a:pPr>
            <a:r>
              <a:rPr lang="en-US" sz="1800" dirty="0"/>
              <a:t>	INT 21h			;AX has handle</a:t>
            </a:r>
          </a:p>
          <a:p>
            <a:pPr>
              <a:lnSpc>
                <a:spcPct val="80000"/>
              </a:lnSpc>
              <a:buFont typeface="Wingdings" pitchFamily="2" charset="2"/>
              <a:buNone/>
            </a:pPr>
            <a:r>
              <a:rPr lang="en-US" sz="1800" dirty="0"/>
              <a:t>	MOV BX,AX			;BX has handle</a:t>
            </a:r>
          </a:p>
          <a:p>
            <a:pPr>
              <a:lnSpc>
                <a:spcPct val="80000"/>
              </a:lnSpc>
              <a:buFont typeface="Wingdings" pitchFamily="2" charset="2"/>
              <a:buNone/>
            </a:pPr>
            <a:r>
              <a:rPr lang="en-US" sz="1800" dirty="0"/>
              <a:t>	MOV AH,3FH			;Read file function</a:t>
            </a:r>
          </a:p>
          <a:p>
            <a:pPr>
              <a:lnSpc>
                <a:spcPct val="80000"/>
              </a:lnSpc>
              <a:buFont typeface="Wingdings" pitchFamily="2" charset="2"/>
              <a:buNone/>
            </a:pPr>
            <a:r>
              <a:rPr lang="en-US" sz="1800" dirty="0"/>
              <a:t>	MOV CX,256			;read 256 bytes</a:t>
            </a:r>
          </a:p>
          <a:p>
            <a:pPr>
              <a:lnSpc>
                <a:spcPct val="80000"/>
              </a:lnSpc>
              <a:buFont typeface="Wingdings" pitchFamily="2" charset="2"/>
              <a:buNone/>
            </a:pPr>
            <a:r>
              <a:rPr lang="en-US" sz="1800" dirty="0"/>
              <a:t>	LEA </a:t>
            </a:r>
            <a:r>
              <a:rPr lang="en-US" sz="1800" dirty="0" err="1"/>
              <a:t>DX,buf</a:t>
            </a:r>
            <a:r>
              <a:rPr lang="en-US" sz="1800" dirty="0"/>
              <a:t>			;store data at </a:t>
            </a:r>
            <a:r>
              <a:rPr lang="en-US" sz="1800" dirty="0" err="1"/>
              <a:t>buf</a:t>
            </a:r>
            <a:endParaRPr lang="en-US" sz="1800" dirty="0"/>
          </a:p>
          <a:p>
            <a:pPr>
              <a:lnSpc>
                <a:spcPct val="80000"/>
              </a:lnSpc>
              <a:buFont typeface="Wingdings" pitchFamily="2" charset="2"/>
              <a:buNone/>
            </a:pPr>
            <a:r>
              <a:rPr lang="en-US" sz="1800" dirty="0"/>
              <a:t>	INT 21H</a:t>
            </a:r>
          </a:p>
          <a:p>
            <a:pPr>
              <a:lnSpc>
                <a:spcPct val="80000"/>
              </a:lnSpc>
              <a:buFont typeface="Wingdings" pitchFamily="2" charset="2"/>
              <a:buNone/>
            </a:pPr>
            <a:r>
              <a:rPr lang="en-US" sz="1800" dirty="0"/>
              <a:t>	MOV AH,3EH			;Close file function</a:t>
            </a:r>
          </a:p>
          <a:p>
            <a:pPr>
              <a:lnSpc>
                <a:spcPct val="80000"/>
              </a:lnSpc>
              <a:buFont typeface="Wingdings" pitchFamily="2" charset="2"/>
              <a:buNone/>
            </a:pPr>
            <a:r>
              <a:rPr lang="en-US" sz="1800" dirty="0"/>
              <a:t>	INT 21H</a:t>
            </a:r>
          </a:p>
          <a:p>
            <a:pPr>
              <a:lnSpc>
                <a:spcPct val="80000"/>
              </a:lnSpc>
              <a:buFont typeface="Wingdings" pitchFamily="2" charset="2"/>
              <a:buNone/>
            </a:pPr>
            <a:r>
              <a:rPr lang="en-US" sz="1800" dirty="0"/>
              <a:t>CODE ENDS</a:t>
            </a:r>
          </a:p>
          <a:p>
            <a:pPr>
              <a:lnSpc>
                <a:spcPct val="80000"/>
              </a:lnSpc>
              <a:buFont typeface="Wingdings" pitchFamily="2" charset="2"/>
              <a:buNone/>
            </a:pPr>
            <a:endParaRPr lang="en-US" sz="1800" dirty="0"/>
          </a:p>
          <a:p>
            <a:pPr>
              <a:lnSpc>
                <a:spcPct val="80000"/>
              </a:lnSpc>
              <a:buFont typeface="Wingdings" pitchFamily="2" charset="2"/>
              <a:buNone/>
            </a:pPr>
            <a:endParaRPr lang="en-US" sz="1800" dirty="0"/>
          </a:p>
          <a:p>
            <a:pPr>
              <a:lnSpc>
                <a:spcPct val="80000"/>
              </a:lnSpc>
              <a:buFont typeface="Wingdings" pitchFamily="2" charset="2"/>
              <a:buNone/>
            </a:pPr>
            <a:r>
              <a:rPr lang="en-US" sz="6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1EF98570-F384-487D-AC8B-8778CBA2DDB5}" type="slidenum">
              <a:rPr lang="en-US" altLang="en-US"/>
              <a:pPr>
                <a:defRPr/>
              </a:pPr>
              <a:t>27</a:t>
            </a:fld>
            <a:endParaRPr lang="en-US" altLang="en-US"/>
          </a:p>
        </p:txBody>
      </p:sp>
      <p:sp>
        <p:nvSpPr>
          <p:cNvPr id="95237"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dirty="0" err="1"/>
              <a:t>int</a:t>
            </a:r>
            <a:r>
              <a:rPr lang="en-US" sz="2000" b="1" dirty="0"/>
              <a:t> 21h	 		write to file			function 40h</a:t>
            </a:r>
            <a:endParaRPr lang="en-US" sz="2400" dirty="0"/>
          </a:p>
          <a:p>
            <a:pPr algn="just"/>
            <a:r>
              <a:rPr lang="en-US" sz="2000" dirty="0"/>
              <a:t>Given a valid file handle from a previous successful open or create operation, a buffer address and a length in bytes, transfers data from the buffer into the file and updates the file pointer positions.</a:t>
            </a:r>
          </a:p>
          <a:p>
            <a:r>
              <a:rPr lang="en-US" sz="2000" dirty="0"/>
              <a:t>File must be created or opened</a:t>
            </a:r>
          </a:p>
          <a:p>
            <a:r>
              <a:rPr lang="en-US" sz="2000" dirty="0"/>
              <a:t>By default file creation we can write</a:t>
            </a:r>
          </a:p>
          <a:p>
            <a:r>
              <a:rPr lang="en-US" sz="2000" dirty="0"/>
              <a:t>Calling parameters</a:t>
            </a:r>
          </a:p>
          <a:p>
            <a:pPr>
              <a:buFont typeface="Wingdings" pitchFamily="2" charset="2"/>
              <a:buNone/>
            </a:pPr>
            <a:r>
              <a:rPr lang="en-US" sz="2000" dirty="0"/>
              <a:t>	 </a:t>
            </a:r>
            <a:r>
              <a:rPr lang="en-US" sz="1800" dirty="0"/>
              <a:t>AH=40h</a:t>
            </a:r>
          </a:p>
          <a:p>
            <a:pPr>
              <a:buFont typeface="Wingdings" pitchFamily="2" charset="2"/>
              <a:buNone/>
            </a:pPr>
            <a:r>
              <a:rPr lang="en-US" sz="1800" dirty="0"/>
              <a:t>	BX=File handle </a:t>
            </a:r>
          </a:p>
          <a:p>
            <a:pPr>
              <a:buFont typeface="Wingdings" pitchFamily="2" charset="2"/>
              <a:buNone/>
            </a:pPr>
            <a:r>
              <a:rPr lang="en-US" sz="1800" dirty="0"/>
              <a:t>	CX=no of bytes to be written</a:t>
            </a:r>
          </a:p>
          <a:p>
            <a:pPr>
              <a:buFont typeface="Wingdings" pitchFamily="2" charset="2"/>
              <a:buNone/>
            </a:pPr>
            <a:r>
              <a:rPr lang="en-US" sz="1800" dirty="0"/>
              <a:t>	DS:DX -&gt; </a:t>
            </a:r>
            <a:r>
              <a:rPr lang="en-US" sz="1800" dirty="0" err="1"/>
              <a:t>seg</a:t>
            </a:r>
            <a:r>
              <a:rPr lang="en-US" sz="1800" dirty="0"/>
              <a:t>: offset of buffer area</a:t>
            </a:r>
          </a:p>
          <a:p>
            <a:pPr>
              <a:buFont typeface="Wingdings" pitchFamily="2" charset="2"/>
              <a:buNone/>
            </a:pPr>
            <a:endParaRPr lang="en-US" sz="1800" dirty="0"/>
          </a:p>
          <a:p>
            <a:r>
              <a:rPr lang="en-US" sz="2000" dirty="0"/>
              <a:t>Return:</a:t>
            </a:r>
            <a:endParaRPr lang="en-US" sz="2000" b="1" dirty="0"/>
          </a:p>
          <a:p>
            <a:pPr>
              <a:buFont typeface="Wingdings" pitchFamily="2" charset="2"/>
              <a:buNone/>
            </a:pPr>
            <a:r>
              <a:rPr lang="en-US" sz="1800" dirty="0"/>
              <a:t>If successful,</a:t>
            </a:r>
            <a:r>
              <a:rPr lang="en-US" sz="1800" b="1" dirty="0"/>
              <a:t> </a:t>
            </a:r>
            <a:r>
              <a:rPr lang="en-US" sz="1800" dirty="0"/>
              <a:t>CF clear ,AX = no of bytes written</a:t>
            </a:r>
          </a:p>
          <a:p>
            <a:pPr>
              <a:buFont typeface="Wingdings" pitchFamily="2" charset="2"/>
              <a:buNone/>
            </a:pPr>
            <a:r>
              <a:rPr lang="en-US" sz="1800" dirty="0"/>
              <a:t>If not </a:t>
            </a:r>
            <a:r>
              <a:rPr lang="en-US" sz="1800" dirty="0" err="1"/>
              <a:t>successful,CF</a:t>
            </a:r>
            <a:r>
              <a:rPr lang="en-US" sz="1800" dirty="0"/>
              <a:t> set ,AX = error code</a:t>
            </a:r>
          </a:p>
          <a:p>
            <a:pPr>
              <a:buFont typeface="Wingdings" pitchFamily="2" charset="2"/>
              <a:buNone/>
            </a:pPr>
            <a:endParaRPr lang="en-US" sz="2000" dirty="0"/>
          </a:p>
          <a:p>
            <a:pPr>
              <a:buFont typeface="Wingdings" pitchFamily="2" charset="2"/>
              <a:buNone/>
            </a:pPr>
            <a:endParaRPr lang="en-US" sz="2000" dirty="0"/>
          </a:p>
        </p:txBody>
      </p:sp>
      <p:sp>
        <p:nvSpPr>
          <p:cNvPr id="95238"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5.Write to  File: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type="body" idx="1"/>
          </p:nvPr>
        </p:nvSpPr>
        <p:spPr>
          <a:xfrm>
            <a:off x="533400" y="152400"/>
            <a:ext cx="8229600" cy="6248400"/>
          </a:xfrm>
        </p:spPr>
        <p:txBody>
          <a:bodyPr/>
          <a:lstStyle/>
          <a:p>
            <a:pPr>
              <a:buFont typeface="Wingdings" pitchFamily="2" charset="2"/>
              <a:buNone/>
            </a:pPr>
            <a:r>
              <a:rPr lang="en-US" dirty="0"/>
              <a:t>Ex:</a:t>
            </a:r>
          </a:p>
          <a:p>
            <a:pPr>
              <a:buFont typeface="Wingdings" pitchFamily="2" charset="2"/>
              <a:buNone/>
            </a:pPr>
            <a:r>
              <a:rPr lang="en-US" sz="1800" dirty="0"/>
              <a:t>data segment</a:t>
            </a:r>
          </a:p>
          <a:p>
            <a:pPr>
              <a:buFont typeface="Wingdings" pitchFamily="2" charset="2"/>
              <a:buNone/>
            </a:pPr>
            <a:r>
              <a:rPr lang="en-US" sz="1800" dirty="0"/>
              <a:t>	filename </a:t>
            </a:r>
            <a:r>
              <a:rPr lang="en-US" sz="1800" dirty="0" err="1"/>
              <a:t>db</a:t>
            </a:r>
            <a:r>
              <a:rPr lang="en-US" sz="1800" dirty="0"/>
              <a:t> "c:\temp.asm",0</a:t>
            </a:r>
          </a:p>
          <a:p>
            <a:pPr>
              <a:buFont typeface="Wingdings" pitchFamily="2" charset="2"/>
              <a:buNone/>
            </a:pPr>
            <a:r>
              <a:rPr lang="en-US" sz="1800" dirty="0"/>
              <a:t>	</a:t>
            </a:r>
            <a:r>
              <a:rPr lang="en-US" sz="1800" dirty="0" err="1"/>
              <a:t>buf</a:t>
            </a:r>
            <a:r>
              <a:rPr lang="en-US" sz="1800" dirty="0"/>
              <a:t> </a:t>
            </a:r>
            <a:r>
              <a:rPr lang="en-US" sz="1800" dirty="0" err="1"/>
              <a:t>db</a:t>
            </a:r>
            <a:r>
              <a:rPr lang="en-US" sz="1800" dirty="0"/>
              <a:t> "</a:t>
            </a:r>
            <a:r>
              <a:rPr lang="en-US" sz="1800" dirty="0" err="1"/>
              <a:t>a","b</a:t>
            </a:r>
            <a:r>
              <a:rPr lang="en-US" sz="1800" dirty="0"/>
              <a:t>"</a:t>
            </a:r>
          </a:p>
          <a:p>
            <a:pPr>
              <a:buFont typeface="Wingdings" pitchFamily="2" charset="2"/>
              <a:buNone/>
            </a:pPr>
            <a:r>
              <a:rPr lang="en-US" sz="1800" dirty="0"/>
              <a:t>data ends</a:t>
            </a:r>
          </a:p>
          <a:p>
            <a:pPr>
              <a:buFont typeface="Wingdings" pitchFamily="2" charset="2"/>
              <a:buNone/>
            </a:pPr>
            <a:r>
              <a:rPr lang="en-US" sz="1800" dirty="0"/>
              <a:t>Code segment</a:t>
            </a:r>
          </a:p>
          <a:p>
            <a:pPr>
              <a:lnSpc>
                <a:spcPct val="80000"/>
              </a:lnSpc>
              <a:buFont typeface="Wingdings" pitchFamily="2" charset="2"/>
              <a:buNone/>
            </a:pPr>
            <a:r>
              <a:rPr lang="en-US" sz="1800" dirty="0"/>
              <a:t>	 MOV AL, 02H</a:t>
            </a:r>
          </a:p>
          <a:p>
            <a:pPr>
              <a:lnSpc>
                <a:spcPct val="80000"/>
              </a:lnSpc>
              <a:buFont typeface="Wingdings" pitchFamily="2" charset="2"/>
              <a:buNone/>
            </a:pPr>
            <a:r>
              <a:rPr lang="en-US" sz="1800" dirty="0"/>
              <a:t>	MOV AH,3DH   		;Open file function</a:t>
            </a:r>
          </a:p>
          <a:p>
            <a:pPr>
              <a:lnSpc>
                <a:spcPct val="80000"/>
              </a:lnSpc>
              <a:buFont typeface="Wingdings" pitchFamily="2" charset="2"/>
              <a:buNone/>
            </a:pPr>
            <a:r>
              <a:rPr lang="en-US" sz="1800" dirty="0"/>
              <a:t>	LEA </a:t>
            </a:r>
            <a:r>
              <a:rPr lang="en-US" sz="1800" dirty="0" err="1"/>
              <a:t>DX,filename</a:t>
            </a:r>
            <a:r>
              <a:rPr lang="en-US" sz="1800" dirty="0"/>
              <a:t>		;address of filename</a:t>
            </a:r>
          </a:p>
          <a:p>
            <a:pPr>
              <a:lnSpc>
                <a:spcPct val="80000"/>
              </a:lnSpc>
              <a:buFont typeface="Wingdings" pitchFamily="2" charset="2"/>
              <a:buNone/>
            </a:pPr>
            <a:r>
              <a:rPr lang="en-US" sz="1800" dirty="0"/>
              <a:t>	INT 21h			;AX has handle</a:t>
            </a:r>
          </a:p>
          <a:p>
            <a:pPr>
              <a:lnSpc>
                <a:spcPct val="80000"/>
              </a:lnSpc>
              <a:buFont typeface="Wingdings" pitchFamily="2" charset="2"/>
              <a:buNone/>
            </a:pPr>
            <a:r>
              <a:rPr lang="en-US" sz="1800" dirty="0"/>
              <a:t>	MOV BX,AX			;BX has handle </a:t>
            </a:r>
          </a:p>
          <a:p>
            <a:pPr>
              <a:lnSpc>
                <a:spcPct val="80000"/>
              </a:lnSpc>
              <a:buFont typeface="Wingdings" pitchFamily="2" charset="2"/>
              <a:buNone/>
            </a:pPr>
            <a:r>
              <a:rPr lang="en-US" sz="1800" dirty="0"/>
              <a:t>	MOV AH,40H			;write file function</a:t>
            </a:r>
          </a:p>
          <a:p>
            <a:pPr>
              <a:buFont typeface="Wingdings" pitchFamily="2" charset="2"/>
              <a:buNone/>
            </a:pPr>
            <a:r>
              <a:rPr lang="en-US" sz="1800" dirty="0"/>
              <a:t>	MOV CX,02			;bytes to be written</a:t>
            </a:r>
          </a:p>
          <a:p>
            <a:pPr>
              <a:buFont typeface="Wingdings" pitchFamily="2" charset="2"/>
              <a:buNone/>
            </a:pPr>
            <a:r>
              <a:rPr lang="en-US" sz="1800" dirty="0"/>
              <a:t>	LEA </a:t>
            </a:r>
            <a:r>
              <a:rPr lang="en-US" sz="1800" dirty="0" err="1"/>
              <a:t>DX,buf</a:t>
            </a:r>
            <a:r>
              <a:rPr lang="en-US" sz="1800" dirty="0"/>
              <a:t>			;from data </a:t>
            </a:r>
            <a:r>
              <a:rPr lang="en-US" sz="1800" dirty="0" err="1"/>
              <a:t>buf</a:t>
            </a:r>
            <a:endParaRPr lang="en-US" sz="1800" dirty="0"/>
          </a:p>
          <a:p>
            <a:pPr>
              <a:buFont typeface="Wingdings" pitchFamily="2" charset="2"/>
              <a:buNone/>
            </a:pPr>
            <a:r>
              <a:rPr lang="en-US" sz="1800" dirty="0"/>
              <a:t>	INT 21H</a:t>
            </a:r>
          </a:p>
          <a:p>
            <a:pPr>
              <a:buFont typeface="Wingdings" pitchFamily="2" charset="2"/>
              <a:buNone/>
            </a:pPr>
            <a:r>
              <a:rPr lang="en-US" sz="1800" dirty="0"/>
              <a:t>	MOV AH,3EH			;CLOSE FILE</a:t>
            </a:r>
          </a:p>
          <a:p>
            <a:pPr>
              <a:buFont typeface="Wingdings" pitchFamily="2" charset="2"/>
              <a:buNone/>
            </a:pPr>
            <a:r>
              <a:rPr lang="en-US" sz="1800" dirty="0"/>
              <a:t>	INT 21H</a:t>
            </a:r>
          </a:p>
          <a:p>
            <a:pPr>
              <a:buFont typeface="Wingdings" pitchFamily="2" charset="2"/>
              <a:buNone/>
            </a:pPr>
            <a:r>
              <a:rPr lang="en-US" sz="1800" dirty="0"/>
              <a:t>Code ends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30F59B1-0EFF-4E24-8441-2D10E3E95959}" type="datetime1">
              <a:rPr lang="en-US"/>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06F68367-2CF6-4830-B001-C7C6FCF6D5F5}" type="slidenum">
              <a:rPr lang="en-US" altLang="en-US"/>
              <a:pPr>
                <a:defRPr/>
              </a:pPr>
              <a:t>29</a:t>
            </a:fld>
            <a:endParaRPr lang="en-US" altLang="en-US"/>
          </a:p>
        </p:txBody>
      </p:sp>
      <p:sp>
        <p:nvSpPr>
          <p:cNvPr id="97285" name="Content Placeholder 2"/>
          <p:cNvSpPr>
            <a:spLocks noGrp="1"/>
          </p:cNvSpPr>
          <p:nvPr>
            <p:ph idx="1"/>
          </p:nvPr>
        </p:nvSpPr>
        <p:spPr>
          <a:xfrm>
            <a:off x="457200" y="914400"/>
            <a:ext cx="8382000" cy="5257800"/>
          </a:xfrm>
        </p:spPr>
        <p:txBody>
          <a:bodyPr/>
          <a:lstStyle/>
          <a:p>
            <a:pPr>
              <a:buFont typeface="Wingdings" pitchFamily="2" charset="2"/>
              <a:buNone/>
            </a:pPr>
            <a:r>
              <a:rPr lang="en-US" sz="2000" b="1"/>
              <a:t>int 21h	 		delete file    			function 41h</a:t>
            </a:r>
          </a:p>
          <a:p>
            <a:pPr>
              <a:buFont typeface="Wingdings" pitchFamily="2" charset="2"/>
              <a:buNone/>
            </a:pPr>
            <a:endParaRPr lang="en-US" sz="2400"/>
          </a:p>
          <a:p>
            <a:pPr algn="just"/>
            <a:r>
              <a:rPr lang="en-US" sz="2000"/>
              <a:t>Deletes a file from the specified or default disk and directory.</a:t>
            </a:r>
          </a:p>
          <a:p>
            <a:pPr>
              <a:buFont typeface="Wingdings" pitchFamily="2" charset="2"/>
              <a:buNone/>
            </a:pPr>
            <a:endParaRPr lang="en-US" sz="2000"/>
          </a:p>
          <a:p>
            <a:r>
              <a:rPr lang="en-US" sz="2000"/>
              <a:t>Calling parameters</a:t>
            </a:r>
          </a:p>
          <a:p>
            <a:pPr>
              <a:buFont typeface="Wingdings" pitchFamily="2" charset="2"/>
              <a:buNone/>
            </a:pPr>
            <a:r>
              <a:rPr lang="en-US" sz="2000"/>
              <a:t>	 </a:t>
            </a:r>
            <a:r>
              <a:rPr lang="en-US" sz="1800"/>
              <a:t>AH=41h</a:t>
            </a:r>
          </a:p>
          <a:p>
            <a:pPr>
              <a:buFont typeface="Wingdings" pitchFamily="2" charset="2"/>
              <a:buNone/>
            </a:pPr>
            <a:r>
              <a:rPr lang="en-US" sz="1800"/>
              <a:t>	DS:DX -&gt; seg: offset of ASCIIZ file specification</a:t>
            </a:r>
          </a:p>
          <a:p>
            <a:r>
              <a:rPr lang="en-US" sz="2000"/>
              <a:t>Return:</a:t>
            </a:r>
            <a:endParaRPr lang="en-US" sz="2000" b="1"/>
          </a:p>
          <a:p>
            <a:pPr>
              <a:buFont typeface="Wingdings" pitchFamily="2" charset="2"/>
              <a:buNone/>
            </a:pPr>
            <a:r>
              <a:rPr lang="en-US" sz="1800"/>
              <a:t>If successful,</a:t>
            </a:r>
            <a:r>
              <a:rPr lang="en-US" sz="1800" b="1"/>
              <a:t> </a:t>
            </a:r>
            <a:r>
              <a:rPr lang="en-US" sz="1800"/>
              <a:t>CF clear </a:t>
            </a:r>
          </a:p>
          <a:p>
            <a:pPr>
              <a:buFont typeface="Wingdings" pitchFamily="2" charset="2"/>
              <a:buNone/>
            </a:pPr>
            <a:r>
              <a:rPr lang="en-US" sz="1800"/>
              <a:t>If not successful,CF set ,AX = error code</a:t>
            </a:r>
          </a:p>
          <a:p>
            <a:pPr>
              <a:buFont typeface="Wingdings" pitchFamily="2" charset="2"/>
              <a:buNone/>
            </a:pPr>
            <a:endParaRPr lang="en-US" sz="2000"/>
          </a:p>
          <a:p>
            <a:pPr>
              <a:buFont typeface="Wingdings" pitchFamily="2" charset="2"/>
              <a:buNone/>
            </a:pPr>
            <a:endParaRPr lang="en-US" sz="2000"/>
          </a:p>
        </p:txBody>
      </p:sp>
      <p:sp>
        <p:nvSpPr>
          <p:cNvPr id="97286"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6.Delete File: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2F141F4-65CC-490E-A748-5E371834D942}"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F875FD56-C95F-47E3-9DE6-0F4E97EE35D8}" type="slidenum">
              <a:rPr lang="en-US" altLang="en-US" smtClean="0"/>
              <a:pPr>
                <a:defRPr/>
              </a:pPr>
              <a:t>30</a:t>
            </a:fld>
            <a:endParaRPr lang="en-US" altLang="en-US"/>
          </a:p>
        </p:txBody>
      </p:sp>
      <p:sp>
        <p:nvSpPr>
          <p:cNvPr id="7" name="Rectangle 3"/>
          <p:cNvSpPr txBox="1">
            <a:spLocks noChangeArrowheads="1"/>
          </p:cNvSpPr>
          <p:nvPr/>
        </p:nvSpPr>
        <p:spPr bwMode="auto">
          <a:xfrm>
            <a:off x="457200" y="609600"/>
            <a:ext cx="8229600" cy="6248400"/>
          </a:xfrm>
          <a:prstGeom prst="rect">
            <a:avLst/>
          </a:prstGeom>
          <a:noFill/>
          <a:ln w="9525">
            <a:noFill/>
            <a:miter lim="800000"/>
            <a:headEnd/>
            <a:tailEnd/>
          </a:ln>
        </p:spPr>
        <p:txBody>
          <a:bodyPr/>
          <a:lstStyle/>
          <a:p>
            <a:pPr marL="342900" indent="-342900" eaLnBrk="0" hangingPunct="0">
              <a:spcBef>
                <a:spcPct val="20000"/>
              </a:spcBef>
              <a:buClr>
                <a:schemeClr val="accent1"/>
              </a:buClr>
              <a:buSzPct val="65000"/>
              <a:buFont typeface="Wingdings" pitchFamily="2" charset="2"/>
              <a:buNone/>
              <a:defRPr/>
            </a:pPr>
            <a:r>
              <a:rPr lang="en-US" sz="3000" kern="0" dirty="0">
                <a:latin typeface="+mn-lt"/>
              </a:rPr>
              <a:t>Ex:</a:t>
            </a:r>
          </a:p>
          <a:p>
            <a:pPr marL="342900" indent="-342900" eaLnBrk="0" hangingPunct="0">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spcBef>
                <a:spcPct val="20000"/>
              </a:spcBef>
              <a:buClr>
                <a:schemeClr val="accent1"/>
              </a:buClr>
              <a:buSzPct val="65000"/>
              <a:buFont typeface="Wingdings" pitchFamily="2" charset="2"/>
              <a:buNone/>
              <a:defRPr/>
            </a:pPr>
            <a:endParaRPr lang="en-US" kern="0" dirty="0">
              <a:latin typeface="+mn-lt"/>
            </a:endParaRPr>
          </a:p>
          <a:p>
            <a:pPr marL="342900" indent="-342900" eaLnBrk="0" hangingPunct="0">
              <a:spcBef>
                <a:spcPct val="20000"/>
              </a:spcBef>
              <a:buClr>
                <a:schemeClr val="accent1"/>
              </a:buClr>
              <a:buSzPct val="65000"/>
              <a:buFont typeface="Wingdings" pitchFamily="2" charset="2"/>
              <a:buNone/>
              <a:defRPr/>
            </a:pPr>
            <a:r>
              <a:rPr lang="en-US" sz="2000" kern="0" dirty="0">
                <a:latin typeface="+mn-lt"/>
              </a:rPr>
              <a:t>data segment</a:t>
            </a:r>
          </a:p>
          <a:p>
            <a:pPr marL="342900" indent="-342900" eaLnBrk="0" hangingPunct="0">
              <a:spcBef>
                <a:spcPct val="20000"/>
              </a:spcBef>
              <a:buClr>
                <a:schemeClr val="accent1"/>
              </a:buClr>
              <a:buSzPct val="65000"/>
              <a:buFont typeface="Wingdings" pitchFamily="2" charset="2"/>
              <a:buNone/>
              <a:defRPr/>
            </a:pPr>
            <a:r>
              <a:rPr lang="en-US" sz="2000" kern="0" dirty="0">
                <a:latin typeface="+mn-lt"/>
              </a:rPr>
              <a:t>	filename db "c:\temp.asm",0</a:t>
            </a:r>
          </a:p>
          <a:p>
            <a:pPr marL="342900" indent="-342900" eaLnBrk="0" hangingPunct="0">
              <a:spcBef>
                <a:spcPct val="20000"/>
              </a:spcBef>
              <a:buClr>
                <a:schemeClr val="accent1"/>
              </a:buClr>
              <a:buSzPct val="65000"/>
              <a:buFont typeface="Wingdings" pitchFamily="2" charset="2"/>
              <a:buNone/>
              <a:defRPr/>
            </a:pPr>
            <a:r>
              <a:rPr lang="en-US" sz="2000" kern="0" dirty="0">
                <a:latin typeface="+mn-lt"/>
              </a:rPr>
              <a:t>data ends</a:t>
            </a:r>
          </a:p>
          <a:p>
            <a:pPr marL="342900" indent="-342900" eaLnBrk="0" hangingPunct="0">
              <a:spcBef>
                <a:spcPct val="20000"/>
              </a:spcBef>
              <a:buClr>
                <a:schemeClr val="accent1"/>
              </a:buClr>
              <a:buSzPct val="65000"/>
              <a:buFont typeface="Wingdings" pitchFamily="2" charset="2"/>
              <a:buNone/>
              <a:defRPr/>
            </a:pPr>
            <a:endParaRPr lang="en-US" sz="2000" kern="0" dirty="0">
              <a:latin typeface="+mn-lt"/>
            </a:endParaRPr>
          </a:p>
          <a:p>
            <a:pPr marL="342900" indent="-342900" eaLnBrk="0" hangingPunct="0">
              <a:spcBef>
                <a:spcPct val="20000"/>
              </a:spcBef>
              <a:buClr>
                <a:schemeClr val="accent1"/>
              </a:buClr>
              <a:buSzPct val="65000"/>
              <a:buFont typeface="Wingdings" pitchFamily="2" charset="2"/>
              <a:buNone/>
              <a:defRPr/>
            </a:pPr>
            <a:r>
              <a:rPr lang="en-US" sz="2000" kern="0" dirty="0">
                <a:latin typeface="+mn-lt"/>
              </a:rPr>
              <a:t>Code segment</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	</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	MOV AH,41H   		;Open file function</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	LEA </a:t>
            </a:r>
            <a:r>
              <a:rPr lang="en-US" sz="2000" kern="0" dirty="0" err="1">
                <a:latin typeface="+mn-lt"/>
              </a:rPr>
              <a:t>DX,filename</a:t>
            </a:r>
            <a:r>
              <a:rPr lang="en-US" sz="2000" kern="0" dirty="0">
                <a:latin typeface="+mn-lt"/>
              </a:rPr>
              <a:t>		;address of filename</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	INT 21h			</a:t>
            </a:r>
          </a:p>
          <a:p>
            <a:pPr marL="342900" indent="-342900" eaLnBrk="0" hangingPunct="0">
              <a:lnSpc>
                <a:spcPct val="80000"/>
              </a:lnSpc>
              <a:spcBef>
                <a:spcPct val="20000"/>
              </a:spcBef>
              <a:buClr>
                <a:schemeClr val="accent1"/>
              </a:buClr>
              <a:buSzPct val="65000"/>
              <a:buFont typeface="Wingdings" pitchFamily="2" charset="2"/>
              <a:buNone/>
              <a:defRPr/>
            </a:pPr>
            <a:r>
              <a:rPr lang="en-US" sz="2000" kern="0" dirty="0">
                <a:latin typeface="+mn-lt"/>
              </a:rPr>
              <a:t>Code ends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699B1794-F898-4A16-8C48-D7A6E5454C05}" type="slidenum">
              <a:rPr lang="en-US" altLang="en-US" smtClean="0"/>
              <a:pPr>
                <a:defRPr/>
              </a:pPr>
              <a:t>31</a:t>
            </a:fld>
            <a:endParaRPr lang="en-US" altLang="en-US"/>
          </a:p>
        </p:txBody>
      </p:sp>
      <p:sp>
        <p:nvSpPr>
          <p:cNvPr id="99333" name="Content Placeholder 2"/>
          <p:cNvSpPr>
            <a:spLocks noGrp="1"/>
          </p:cNvSpPr>
          <p:nvPr>
            <p:ph idx="1"/>
          </p:nvPr>
        </p:nvSpPr>
        <p:spPr>
          <a:xfrm>
            <a:off x="457200" y="990600"/>
            <a:ext cx="8305800" cy="5368925"/>
          </a:xfrm>
        </p:spPr>
        <p:txBody>
          <a:bodyPr/>
          <a:lstStyle/>
          <a:p>
            <a:pPr>
              <a:buFont typeface="Wingdings" pitchFamily="2" charset="2"/>
              <a:buNone/>
            </a:pPr>
            <a:endParaRPr lang="en-US" sz="2000" b="1" dirty="0"/>
          </a:p>
          <a:p>
            <a:pPr>
              <a:buFont typeface="Wingdings" pitchFamily="2" charset="2"/>
              <a:buNone/>
            </a:pPr>
            <a:r>
              <a:rPr lang="en-US" sz="2000" b="1" dirty="0" err="1"/>
              <a:t>int</a:t>
            </a:r>
            <a:r>
              <a:rPr lang="en-US" sz="2000" b="1" dirty="0"/>
              <a:t>  21h	 	get system date    	     function 2Ah</a:t>
            </a:r>
          </a:p>
          <a:p>
            <a:pPr>
              <a:buFont typeface="Wingdings" pitchFamily="2" charset="2"/>
              <a:buNone/>
            </a:pPr>
            <a:endParaRPr lang="en-US" sz="2400" dirty="0"/>
          </a:p>
          <a:p>
            <a:pPr>
              <a:buFont typeface="Wingdings" pitchFamily="2" charset="2"/>
              <a:buNone/>
            </a:pPr>
            <a:endParaRPr lang="en-US" sz="2000" dirty="0"/>
          </a:p>
          <a:p>
            <a:r>
              <a:rPr lang="en-US" sz="2000" dirty="0"/>
              <a:t>Returns </a:t>
            </a:r>
          </a:p>
          <a:p>
            <a:pPr>
              <a:lnSpc>
                <a:spcPct val="90000"/>
              </a:lnSpc>
              <a:buFont typeface="Wingdings" pitchFamily="2" charset="2"/>
              <a:buNone/>
            </a:pPr>
            <a:r>
              <a:rPr lang="en-US" sz="2000" dirty="0"/>
              <a:t>AL = Day (0 = Sunday, 1 = Monday etc.)</a:t>
            </a:r>
          </a:p>
          <a:p>
            <a:pPr>
              <a:lnSpc>
                <a:spcPct val="90000"/>
              </a:lnSpc>
              <a:buFont typeface="Wingdings" pitchFamily="2" charset="2"/>
              <a:buNone/>
            </a:pPr>
            <a:r>
              <a:rPr lang="en-US" sz="2000" dirty="0"/>
              <a:t>DL = Date (1 to 31)</a:t>
            </a:r>
          </a:p>
          <a:p>
            <a:pPr>
              <a:lnSpc>
                <a:spcPct val="90000"/>
              </a:lnSpc>
              <a:buFont typeface="Wingdings" pitchFamily="2" charset="2"/>
              <a:buNone/>
            </a:pPr>
            <a:r>
              <a:rPr lang="en-US" sz="2000" dirty="0"/>
              <a:t>DH = Month (1 to 12),</a:t>
            </a:r>
          </a:p>
          <a:p>
            <a:pPr>
              <a:lnSpc>
                <a:spcPct val="90000"/>
              </a:lnSpc>
              <a:buFont typeface="Wingdings" pitchFamily="2" charset="2"/>
              <a:buNone/>
            </a:pPr>
            <a:r>
              <a:rPr lang="en-US" sz="2000" dirty="0"/>
              <a:t>CX = Year (1980 to 2099)</a:t>
            </a:r>
          </a:p>
          <a:p>
            <a:pPr>
              <a:lnSpc>
                <a:spcPct val="90000"/>
              </a:lnSpc>
              <a:buFont typeface="Wingdings" pitchFamily="2" charset="2"/>
              <a:buNone/>
            </a:pPr>
            <a:endParaRPr lang="en-US" sz="2000" dirty="0"/>
          </a:p>
          <a:p>
            <a:pPr>
              <a:lnSpc>
                <a:spcPct val="90000"/>
              </a:lnSpc>
            </a:pPr>
            <a:r>
              <a:rPr lang="en-US" sz="2000" dirty="0"/>
              <a:t>EX:</a:t>
            </a:r>
          </a:p>
          <a:p>
            <a:pPr>
              <a:lnSpc>
                <a:spcPct val="90000"/>
              </a:lnSpc>
              <a:buFont typeface="Wingdings" pitchFamily="2" charset="2"/>
              <a:buNone/>
            </a:pPr>
            <a:r>
              <a:rPr lang="en-US" sz="2000" dirty="0"/>
              <a:t>MOV AH,2AH</a:t>
            </a:r>
          </a:p>
          <a:p>
            <a:pPr>
              <a:lnSpc>
                <a:spcPct val="90000"/>
              </a:lnSpc>
              <a:buFont typeface="Wingdings" pitchFamily="2" charset="2"/>
              <a:buNone/>
            </a:pPr>
            <a:r>
              <a:rPr lang="en-US" sz="2000" dirty="0"/>
              <a:t>INT 21H</a:t>
            </a:r>
          </a:p>
          <a:p>
            <a:pPr>
              <a:lnSpc>
                <a:spcPct val="90000"/>
              </a:lnSpc>
              <a:buFont typeface="Wingdings" pitchFamily="2" charset="2"/>
              <a:buNone/>
            </a:pPr>
            <a:endParaRPr lang="en-US" sz="2000" dirty="0"/>
          </a:p>
          <a:p>
            <a:pPr>
              <a:buFont typeface="Wingdings" pitchFamily="2" charset="2"/>
              <a:buNone/>
            </a:pPr>
            <a:endParaRPr lang="en-US" sz="2000" dirty="0"/>
          </a:p>
        </p:txBody>
      </p:sp>
      <p:sp>
        <p:nvSpPr>
          <p:cNvPr id="99334" name="TextBox 8"/>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Get  System Date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23FB4E5-2F2E-4EC8-806F-9252C0A6C44D}" type="slidenum">
              <a:rPr lang="en-US" altLang="en-US" smtClean="0"/>
              <a:pPr>
                <a:defRPr/>
              </a:pPr>
              <a:t>32</a:t>
            </a:fld>
            <a:endParaRPr lang="en-US" altLang="en-US"/>
          </a:p>
        </p:txBody>
      </p:sp>
      <p:sp>
        <p:nvSpPr>
          <p:cNvPr id="100357" name="Content Placeholder 2"/>
          <p:cNvSpPr>
            <a:spLocks noGrp="1"/>
          </p:cNvSpPr>
          <p:nvPr>
            <p:ph idx="1"/>
          </p:nvPr>
        </p:nvSpPr>
        <p:spPr>
          <a:xfrm>
            <a:off x="533400" y="762000"/>
            <a:ext cx="8305800" cy="5368925"/>
          </a:xfrm>
        </p:spPr>
        <p:txBody>
          <a:bodyPr>
            <a:normAutofit lnSpcReduction="10000"/>
          </a:bodyPr>
          <a:lstStyle/>
          <a:p>
            <a:pPr>
              <a:buFont typeface="Wingdings" pitchFamily="2" charset="2"/>
              <a:buNone/>
            </a:pPr>
            <a:endParaRPr lang="en-US" sz="2000" b="1" dirty="0"/>
          </a:p>
          <a:p>
            <a:pPr>
              <a:buFont typeface="Wingdings" pitchFamily="2" charset="2"/>
              <a:buNone/>
            </a:pPr>
            <a:r>
              <a:rPr lang="en-US" sz="2000" b="1" dirty="0" err="1"/>
              <a:t>int</a:t>
            </a:r>
            <a:r>
              <a:rPr lang="en-US" sz="2000" b="1" dirty="0"/>
              <a:t> 21h	 	set system date    	     function 2Bh</a:t>
            </a:r>
          </a:p>
          <a:p>
            <a:pPr>
              <a:buFont typeface="Wingdings" pitchFamily="2" charset="2"/>
              <a:buNone/>
            </a:pPr>
            <a:endParaRPr lang="en-US" sz="2400" dirty="0"/>
          </a:p>
          <a:p>
            <a:r>
              <a:rPr lang="en-US" sz="2000" dirty="0"/>
              <a:t>Calling parameters</a:t>
            </a:r>
          </a:p>
          <a:p>
            <a:pPr>
              <a:buFont typeface="Wingdings" pitchFamily="2" charset="2"/>
              <a:buNone/>
            </a:pPr>
            <a:r>
              <a:rPr lang="en-US" sz="2000" dirty="0"/>
              <a:t>	DL = Date (1 to 31)</a:t>
            </a:r>
          </a:p>
          <a:p>
            <a:pPr>
              <a:buFont typeface="Wingdings" pitchFamily="2" charset="2"/>
              <a:buNone/>
            </a:pPr>
            <a:r>
              <a:rPr lang="en-US" sz="2000" dirty="0"/>
              <a:t>	DH = Month (1 to 12),</a:t>
            </a:r>
          </a:p>
          <a:p>
            <a:pPr>
              <a:buFont typeface="Wingdings" pitchFamily="2" charset="2"/>
              <a:buNone/>
            </a:pPr>
            <a:r>
              <a:rPr lang="en-US" sz="2000" dirty="0"/>
              <a:t>	CX = Year (1980 to 2099)</a:t>
            </a:r>
          </a:p>
          <a:p>
            <a:pPr>
              <a:buFont typeface="Wingdings" pitchFamily="2" charset="2"/>
              <a:buNone/>
            </a:pPr>
            <a:r>
              <a:rPr lang="en-US" sz="2000" dirty="0"/>
              <a:t>		</a:t>
            </a:r>
          </a:p>
          <a:p>
            <a:r>
              <a:rPr lang="en-US" sz="2000" dirty="0"/>
              <a:t>Returns </a:t>
            </a:r>
          </a:p>
          <a:p>
            <a:pPr>
              <a:buFont typeface="Wingdings" pitchFamily="2" charset="2"/>
              <a:buNone/>
            </a:pPr>
            <a:r>
              <a:rPr lang="en-US" sz="2000" dirty="0"/>
              <a:t>		nothing</a:t>
            </a:r>
          </a:p>
          <a:p>
            <a:pPr>
              <a:buFont typeface="Wingdings" pitchFamily="2" charset="2"/>
              <a:buNone/>
            </a:pPr>
            <a:endParaRPr lang="en-US" sz="2000" dirty="0"/>
          </a:p>
          <a:p>
            <a:pPr>
              <a:lnSpc>
                <a:spcPct val="90000"/>
              </a:lnSpc>
            </a:pPr>
            <a:r>
              <a:rPr lang="en-US" sz="2000" dirty="0"/>
              <a:t>EX:</a:t>
            </a:r>
          </a:p>
          <a:p>
            <a:pPr>
              <a:lnSpc>
                <a:spcPct val="90000"/>
              </a:lnSpc>
              <a:buFont typeface="Wingdings" pitchFamily="2" charset="2"/>
              <a:buNone/>
            </a:pPr>
            <a:r>
              <a:rPr lang="en-US" sz="2000" dirty="0"/>
              <a:t>MOV AH,2BH</a:t>
            </a:r>
          </a:p>
          <a:p>
            <a:pPr>
              <a:lnSpc>
                <a:spcPct val="90000"/>
              </a:lnSpc>
              <a:buFont typeface="Wingdings" pitchFamily="2" charset="2"/>
              <a:buNone/>
            </a:pPr>
            <a:r>
              <a:rPr lang="en-US" sz="2000" dirty="0"/>
              <a:t>INT 21H</a:t>
            </a:r>
          </a:p>
          <a:p>
            <a:pPr>
              <a:lnSpc>
                <a:spcPct val="90000"/>
              </a:lnSpc>
              <a:buFont typeface="Wingdings" pitchFamily="2" charset="2"/>
              <a:buNone/>
            </a:pPr>
            <a:r>
              <a:rPr lang="en-US" sz="2000" dirty="0"/>
              <a:t>JC ERROR</a:t>
            </a:r>
          </a:p>
          <a:p>
            <a:pPr>
              <a:lnSpc>
                <a:spcPct val="90000"/>
              </a:lnSpc>
              <a:buFont typeface="Wingdings" pitchFamily="2" charset="2"/>
              <a:buNone/>
            </a:pPr>
            <a:endParaRPr lang="en-US" sz="2000" dirty="0"/>
          </a:p>
          <a:p>
            <a:pPr>
              <a:buFont typeface="Wingdings" pitchFamily="2" charset="2"/>
              <a:buNone/>
            </a:pPr>
            <a:endParaRPr lang="en-US" sz="2000" dirty="0"/>
          </a:p>
        </p:txBody>
      </p:sp>
      <p:sp>
        <p:nvSpPr>
          <p:cNvPr id="100358" name="TextBox 8"/>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Set System Date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8E278FEA-9E2C-4981-A986-4BA73310E7B0}" type="slidenum">
              <a:rPr lang="en-US" altLang="en-US" smtClean="0"/>
              <a:pPr>
                <a:defRPr/>
              </a:pPr>
              <a:t>33</a:t>
            </a:fld>
            <a:endParaRPr lang="en-US" altLang="en-US"/>
          </a:p>
        </p:txBody>
      </p:sp>
      <p:sp>
        <p:nvSpPr>
          <p:cNvPr id="101381" name="Content Placeholder 2"/>
          <p:cNvSpPr>
            <a:spLocks noGrp="1"/>
          </p:cNvSpPr>
          <p:nvPr>
            <p:ph idx="1"/>
          </p:nvPr>
        </p:nvSpPr>
        <p:spPr>
          <a:xfrm>
            <a:off x="457200" y="990600"/>
            <a:ext cx="8305800" cy="5368925"/>
          </a:xfrm>
        </p:spPr>
        <p:txBody>
          <a:bodyPr/>
          <a:lstStyle/>
          <a:p>
            <a:pPr>
              <a:buFont typeface="Wingdings" pitchFamily="2" charset="2"/>
              <a:buNone/>
            </a:pPr>
            <a:endParaRPr lang="en-US" sz="2000" b="1" dirty="0"/>
          </a:p>
          <a:p>
            <a:pPr>
              <a:buFont typeface="Wingdings" pitchFamily="2" charset="2"/>
              <a:buNone/>
            </a:pPr>
            <a:r>
              <a:rPr lang="en-US" sz="2000" b="1" dirty="0" err="1"/>
              <a:t>int</a:t>
            </a:r>
            <a:r>
              <a:rPr lang="en-US" sz="2000" b="1" dirty="0"/>
              <a:t> 21h	 	get time    	     function 2Ch</a:t>
            </a:r>
          </a:p>
          <a:p>
            <a:pPr>
              <a:buFont typeface="Wingdings" pitchFamily="2" charset="2"/>
              <a:buNone/>
            </a:pPr>
            <a:endParaRPr lang="en-US" sz="2400" dirty="0"/>
          </a:p>
          <a:p>
            <a:pPr>
              <a:buFont typeface="Wingdings" pitchFamily="2" charset="2"/>
              <a:buNone/>
            </a:pPr>
            <a:endParaRPr lang="en-US" sz="2000" dirty="0"/>
          </a:p>
          <a:p>
            <a:r>
              <a:rPr lang="en-US" sz="2000" dirty="0"/>
              <a:t>Returns </a:t>
            </a:r>
          </a:p>
          <a:p>
            <a:pPr>
              <a:buFont typeface="Wingdings" pitchFamily="2" charset="2"/>
              <a:buNone/>
            </a:pPr>
            <a:r>
              <a:rPr lang="en-US" sz="2000" dirty="0"/>
              <a:t>	CH = Hour (0 to 23)</a:t>
            </a:r>
          </a:p>
          <a:p>
            <a:pPr>
              <a:buFont typeface="Wingdings" pitchFamily="2" charset="2"/>
              <a:buNone/>
            </a:pPr>
            <a:r>
              <a:rPr lang="en-US" sz="2000" dirty="0"/>
              <a:t>	CL = Minutes (0 to 59)</a:t>
            </a:r>
          </a:p>
          <a:p>
            <a:pPr>
              <a:buFont typeface="Wingdings" pitchFamily="2" charset="2"/>
              <a:buNone/>
            </a:pPr>
            <a:r>
              <a:rPr lang="en-US" sz="2000" dirty="0"/>
              <a:t>	DH = seconds (0 to 59)</a:t>
            </a:r>
          </a:p>
          <a:p>
            <a:pPr>
              <a:buFont typeface="Wingdings" pitchFamily="2" charset="2"/>
              <a:buNone/>
            </a:pPr>
            <a:r>
              <a:rPr lang="en-US" sz="2000" dirty="0"/>
              <a:t>	DL = 100</a:t>
            </a:r>
            <a:r>
              <a:rPr lang="en-US" sz="2000" baseline="30000" dirty="0"/>
              <a:t>th</a:t>
            </a:r>
            <a:r>
              <a:rPr lang="en-US" sz="2000" dirty="0"/>
              <a:t> of seconds (0 to 99)</a:t>
            </a:r>
          </a:p>
          <a:p>
            <a:pPr>
              <a:lnSpc>
                <a:spcPct val="90000"/>
              </a:lnSpc>
              <a:buFont typeface="Wingdings" pitchFamily="2" charset="2"/>
              <a:buNone/>
            </a:pPr>
            <a:endParaRPr lang="en-US" sz="2000" dirty="0"/>
          </a:p>
          <a:p>
            <a:pPr>
              <a:lnSpc>
                <a:spcPct val="90000"/>
              </a:lnSpc>
            </a:pPr>
            <a:r>
              <a:rPr lang="en-US" sz="2000" dirty="0"/>
              <a:t>EX:</a:t>
            </a:r>
          </a:p>
          <a:p>
            <a:pPr>
              <a:lnSpc>
                <a:spcPct val="90000"/>
              </a:lnSpc>
              <a:buFont typeface="Wingdings" pitchFamily="2" charset="2"/>
              <a:buNone/>
            </a:pPr>
            <a:r>
              <a:rPr lang="en-US" sz="2000" dirty="0"/>
              <a:t>MOV AH,2CH</a:t>
            </a:r>
          </a:p>
          <a:p>
            <a:pPr>
              <a:lnSpc>
                <a:spcPct val="90000"/>
              </a:lnSpc>
              <a:buFont typeface="Wingdings" pitchFamily="2" charset="2"/>
              <a:buNone/>
            </a:pPr>
            <a:r>
              <a:rPr lang="en-US" sz="2000" dirty="0"/>
              <a:t>INT 21H</a:t>
            </a:r>
          </a:p>
          <a:p>
            <a:pPr>
              <a:lnSpc>
                <a:spcPct val="90000"/>
              </a:lnSpc>
              <a:buFont typeface="Wingdings" pitchFamily="2" charset="2"/>
              <a:buNone/>
            </a:pPr>
            <a:endParaRPr lang="en-US" sz="2000" dirty="0"/>
          </a:p>
          <a:p>
            <a:pPr>
              <a:buFont typeface="Wingdings" pitchFamily="2" charset="2"/>
              <a:buNone/>
            </a:pPr>
            <a:endParaRPr lang="en-US" sz="2000" dirty="0"/>
          </a:p>
        </p:txBody>
      </p:sp>
      <p:sp>
        <p:nvSpPr>
          <p:cNvPr id="101382" name="TextBox 8"/>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Get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0D7F45D-F468-4936-A74A-25466876C2BB}" type="slidenum">
              <a:rPr lang="en-US" altLang="en-US" smtClean="0"/>
              <a:pPr>
                <a:defRPr/>
              </a:pPr>
              <a:t>34</a:t>
            </a:fld>
            <a:endParaRPr lang="en-US" altLang="en-US"/>
          </a:p>
        </p:txBody>
      </p:sp>
      <p:sp>
        <p:nvSpPr>
          <p:cNvPr id="102405" name="Content Placeholder 2"/>
          <p:cNvSpPr>
            <a:spLocks noGrp="1"/>
          </p:cNvSpPr>
          <p:nvPr>
            <p:ph idx="1"/>
          </p:nvPr>
        </p:nvSpPr>
        <p:spPr>
          <a:xfrm>
            <a:off x="533400" y="762000"/>
            <a:ext cx="8305800" cy="5181600"/>
          </a:xfrm>
        </p:spPr>
        <p:txBody>
          <a:bodyPr>
            <a:normAutofit fontScale="85000" lnSpcReduction="20000"/>
          </a:bodyPr>
          <a:lstStyle/>
          <a:p>
            <a:pPr>
              <a:buFont typeface="Wingdings" pitchFamily="2" charset="2"/>
              <a:buNone/>
            </a:pPr>
            <a:r>
              <a:rPr lang="en-US" sz="2000" b="1" dirty="0" err="1"/>
              <a:t>int</a:t>
            </a:r>
            <a:r>
              <a:rPr lang="en-US" sz="2000" b="1" dirty="0"/>
              <a:t> 21h	 	Set Time    	     function 2Dh</a:t>
            </a:r>
          </a:p>
          <a:p>
            <a:pPr>
              <a:buFont typeface="Wingdings" pitchFamily="2" charset="2"/>
              <a:buNone/>
            </a:pPr>
            <a:endParaRPr lang="en-US" sz="2000" dirty="0"/>
          </a:p>
          <a:p>
            <a:r>
              <a:rPr lang="en-US" sz="2000" dirty="0"/>
              <a:t>Calling parameters</a:t>
            </a:r>
          </a:p>
          <a:p>
            <a:pPr>
              <a:buFont typeface="Wingdings" pitchFamily="2" charset="2"/>
              <a:buNone/>
            </a:pPr>
            <a:r>
              <a:rPr lang="en-US" sz="2000" dirty="0"/>
              <a:t>	CH = Hour (0 to 23)</a:t>
            </a:r>
          </a:p>
          <a:p>
            <a:pPr>
              <a:buFont typeface="Wingdings" pitchFamily="2" charset="2"/>
              <a:buNone/>
            </a:pPr>
            <a:r>
              <a:rPr lang="en-US" sz="2000" dirty="0"/>
              <a:t>	CL = Minutes (0 to 59)</a:t>
            </a:r>
          </a:p>
          <a:p>
            <a:pPr>
              <a:buFont typeface="Wingdings" pitchFamily="2" charset="2"/>
              <a:buNone/>
            </a:pPr>
            <a:r>
              <a:rPr lang="en-US" sz="2000" dirty="0"/>
              <a:t>	DH = seconds (0 to 59)</a:t>
            </a:r>
          </a:p>
          <a:p>
            <a:pPr>
              <a:buFont typeface="Wingdings" pitchFamily="2" charset="2"/>
              <a:buNone/>
            </a:pPr>
            <a:r>
              <a:rPr lang="en-US" sz="2000" dirty="0"/>
              <a:t>	DL = 100</a:t>
            </a:r>
            <a:r>
              <a:rPr lang="en-US" sz="2000" baseline="30000" dirty="0"/>
              <a:t>th</a:t>
            </a:r>
            <a:r>
              <a:rPr lang="en-US" sz="2000" dirty="0"/>
              <a:t> of seconds (0 to 99)</a:t>
            </a:r>
          </a:p>
          <a:p>
            <a:pPr>
              <a:buFont typeface="Wingdings" pitchFamily="2" charset="2"/>
              <a:buNone/>
            </a:pPr>
            <a:r>
              <a:rPr lang="en-US" sz="2000"/>
              <a:t>	AH=2DH</a:t>
            </a:r>
            <a:endParaRPr lang="en-US" sz="2000" dirty="0"/>
          </a:p>
          <a:p>
            <a:pPr>
              <a:buFont typeface="Wingdings" pitchFamily="2" charset="2"/>
              <a:buNone/>
            </a:pPr>
            <a:r>
              <a:rPr lang="en-US" sz="2000" dirty="0"/>
              <a:t>		</a:t>
            </a:r>
          </a:p>
          <a:p>
            <a:r>
              <a:rPr lang="en-US" sz="2000" dirty="0"/>
              <a:t>Returns </a:t>
            </a:r>
          </a:p>
          <a:p>
            <a:pPr>
              <a:buFont typeface="Wingdings" pitchFamily="2" charset="2"/>
              <a:buNone/>
            </a:pPr>
            <a:r>
              <a:rPr lang="en-US" sz="2000" dirty="0"/>
              <a:t>		nothing</a:t>
            </a:r>
          </a:p>
          <a:p>
            <a:pPr>
              <a:buFont typeface="Wingdings" pitchFamily="2" charset="2"/>
              <a:buNone/>
            </a:pPr>
            <a:endParaRPr lang="en-US" sz="2000" dirty="0"/>
          </a:p>
          <a:p>
            <a:pPr>
              <a:lnSpc>
                <a:spcPct val="90000"/>
              </a:lnSpc>
            </a:pPr>
            <a:r>
              <a:rPr lang="en-US" sz="2000" dirty="0"/>
              <a:t>Ex:</a:t>
            </a:r>
          </a:p>
          <a:p>
            <a:pPr>
              <a:lnSpc>
                <a:spcPct val="90000"/>
              </a:lnSpc>
              <a:buFont typeface="Wingdings" pitchFamily="2" charset="2"/>
              <a:buNone/>
            </a:pPr>
            <a:r>
              <a:rPr lang="en-US" sz="2000" dirty="0"/>
              <a:t>MOV AH,2DH</a:t>
            </a:r>
          </a:p>
          <a:p>
            <a:pPr>
              <a:lnSpc>
                <a:spcPct val="90000"/>
              </a:lnSpc>
              <a:buFont typeface="Wingdings" pitchFamily="2" charset="2"/>
              <a:buNone/>
            </a:pPr>
            <a:r>
              <a:rPr lang="en-US" sz="2000" dirty="0"/>
              <a:t>INT 21H</a:t>
            </a:r>
          </a:p>
          <a:p>
            <a:pPr>
              <a:lnSpc>
                <a:spcPct val="90000"/>
              </a:lnSpc>
              <a:buFont typeface="Wingdings" pitchFamily="2" charset="2"/>
              <a:buNone/>
            </a:pPr>
            <a:r>
              <a:rPr lang="en-US" sz="2000" dirty="0"/>
              <a:t>JC ERROR</a:t>
            </a:r>
          </a:p>
          <a:p>
            <a:pPr>
              <a:buFont typeface="Wingdings" pitchFamily="2" charset="2"/>
              <a:buNone/>
            </a:pPr>
            <a:endParaRPr lang="en-US" sz="2000" dirty="0"/>
          </a:p>
          <a:p>
            <a:pPr>
              <a:buFont typeface="Wingdings" pitchFamily="2" charset="2"/>
              <a:buNone/>
            </a:pPr>
            <a:endParaRPr lang="en-US" sz="2000" dirty="0"/>
          </a:p>
          <a:p>
            <a:pPr>
              <a:buFont typeface="Wingdings" pitchFamily="2" charset="2"/>
              <a:buNone/>
            </a:pPr>
            <a:r>
              <a:rPr lang="en-US" sz="2000" dirty="0"/>
              <a:t>		</a:t>
            </a:r>
          </a:p>
        </p:txBody>
      </p:sp>
      <p:sp>
        <p:nvSpPr>
          <p:cNvPr id="102406" name="TextBox 8"/>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Set Time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457200" y="6172200"/>
            <a:ext cx="2133600" cy="457200"/>
          </a:xfrm>
        </p:spPr>
        <p:txBody>
          <a:bodyPr/>
          <a:lstStyle/>
          <a:p>
            <a:pPr>
              <a:defRPr/>
            </a:pPr>
            <a:fld id="{D90222A2-FFCD-4E49-A5CD-AE5CBA6FFBD1}"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08CF1E5B-96B4-47EB-A0E0-37CF0FFA09B0}" type="slidenum">
              <a:rPr lang="en-US" altLang="en-US" smtClean="0"/>
              <a:pPr>
                <a:defRPr/>
              </a:pPr>
              <a:t>35</a:t>
            </a:fld>
            <a:endParaRPr lang="en-US" altLang="en-US"/>
          </a:p>
        </p:txBody>
      </p:sp>
      <p:graphicFrame>
        <p:nvGraphicFramePr>
          <p:cNvPr id="9" name="Content Placeholder 8"/>
          <p:cNvGraphicFramePr>
            <a:graphicFrameLocks noGrp="1"/>
          </p:cNvGraphicFramePr>
          <p:nvPr>
            <p:ph idx="1"/>
          </p:nvPr>
        </p:nvGraphicFramePr>
        <p:xfrm>
          <a:off x="533400" y="838200"/>
          <a:ext cx="8077200" cy="5562599"/>
        </p:xfrm>
        <a:graphic>
          <a:graphicData uri="http://schemas.openxmlformats.org/drawingml/2006/table">
            <a:tbl>
              <a:tblPr firstRow="1" bandRow="1">
                <a:tableStyleId>{5C22544A-7EE6-4342-B048-85BDC9FD1C3A}</a:tableStyleId>
              </a:tblPr>
              <a:tblGrid>
                <a:gridCol w="1803647">
                  <a:extLst>
                    <a:ext uri="{9D8B030D-6E8A-4147-A177-3AD203B41FA5}">
                      <a16:colId xmlns:a16="http://schemas.microsoft.com/office/drawing/2014/main" val="20000"/>
                    </a:ext>
                  </a:extLst>
                </a:gridCol>
                <a:gridCol w="3581153">
                  <a:extLst>
                    <a:ext uri="{9D8B030D-6E8A-4147-A177-3AD203B41FA5}">
                      <a16:colId xmlns:a16="http://schemas.microsoft.com/office/drawing/2014/main" val="20001"/>
                    </a:ext>
                  </a:extLst>
                </a:gridCol>
                <a:gridCol w="2692400">
                  <a:extLst>
                    <a:ext uri="{9D8B030D-6E8A-4147-A177-3AD203B41FA5}">
                      <a16:colId xmlns:a16="http://schemas.microsoft.com/office/drawing/2014/main" val="20002"/>
                    </a:ext>
                  </a:extLst>
                </a:gridCol>
              </a:tblGrid>
              <a:tr h="566011">
                <a:tc>
                  <a:txBody>
                    <a:bodyPr/>
                    <a:lstStyle/>
                    <a:p>
                      <a:pPr algn="l"/>
                      <a:r>
                        <a:rPr lang="en-US" sz="1800" b="1" dirty="0"/>
                        <a:t>Function No.</a:t>
                      </a:r>
                    </a:p>
                  </a:txBody>
                  <a:tcPr marL="17293" marR="17293" marT="8646" marB="8646"/>
                </a:tc>
                <a:tc>
                  <a:txBody>
                    <a:bodyPr/>
                    <a:lstStyle/>
                    <a:p>
                      <a:pPr algn="l"/>
                      <a:r>
                        <a:rPr lang="en-US" sz="1800" b="1" dirty="0"/>
                        <a:t>Action</a:t>
                      </a:r>
                    </a:p>
                  </a:txBody>
                  <a:tcPr marL="17293" marR="17293" marT="8646" marB="8646"/>
                </a:tc>
                <a:tc>
                  <a:txBody>
                    <a:bodyPr/>
                    <a:lstStyle/>
                    <a:p>
                      <a:pPr algn="l"/>
                      <a:r>
                        <a:rPr lang="en-US" sz="1800" b="1" dirty="0"/>
                        <a:t>Returns/Expects</a:t>
                      </a:r>
                    </a:p>
                  </a:txBody>
                  <a:tcPr marL="17293" marR="17293" marT="8646" marB="8646"/>
                </a:tc>
                <a:extLst>
                  <a:ext uri="{0D108BD9-81ED-4DB2-BD59-A6C34878D82A}">
                    <a16:rowId xmlns:a16="http://schemas.microsoft.com/office/drawing/2014/main" val="10000"/>
                  </a:ext>
                </a:extLst>
              </a:tr>
              <a:tr h="770736">
                <a:tc>
                  <a:txBody>
                    <a:bodyPr/>
                    <a:lstStyle/>
                    <a:p>
                      <a:pPr algn="l"/>
                      <a:r>
                        <a:rPr lang="en-US" sz="1600" dirty="0"/>
                        <a:t>AH = 01</a:t>
                      </a:r>
                    </a:p>
                  </a:txBody>
                  <a:tcPr marL="17293" marR="17293" marT="8646" marB="8646"/>
                </a:tc>
                <a:tc>
                  <a:txBody>
                    <a:bodyPr/>
                    <a:lstStyle/>
                    <a:p>
                      <a:pPr algn="l"/>
                      <a:r>
                        <a:rPr lang="en-US" sz="1600" dirty="0"/>
                        <a:t>Read character from standard input device with echo</a:t>
                      </a:r>
                    </a:p>
                  </a:txBody>
                  <a:tcPr marL="17293" marR="17293" marT="8646" marB="8646"/>
                </a:tc>
                <a:tc>
                  <a:txBody>
                    <a:bodyPr/>
                    <a:lstStyle/>
                    <a:p>
                      <a:pPr algn="l"/>
                      <a:r>
                        <a:rPr lang="en-US" sz="1600"/>
                        <a:t>Returns: AL = ASCII of the input key</a:t>
                      </a:r>
                    </a:p>
                  </a:txBody>
                  <a:tcPr marL="17293" marR="17293" marT="8646" marB="8646"/>
                </a:tc>
                <a:extLst>
                  <a:ext uri="{0D108BD9-81ED-4DB2-BD59-A6C34878D82A}">
                    <a16:rowId xmlns:a16="http://schemas.microsoft.com/office/drawing/2014/main" val="10001"/>
                  </a:ext>
                </a:extLst>
              </a:tr>
              <a:tr h="770736">
                <a:tc>
                  <a:txBody>
                    <a:bodyPr/>
                    <a:lstStyle/>
                    <a:p>
                      <a:pPr algn="l"/>
                      <a:r>
                        <a:rPr lang="en-US" sz="1600" dirty="0"/>
                        <a:t>AH = 02</a:t>
                      </a:r>
                    </a:p>
                  </a:txBody>
                  <a:tcPr marL="17293" marR="17293" marT="8646" marB="8646"/>
                </a:tc>
                <a:tc>
                  <a:txBody>
                    <a:bodyPr/>
                    <a:lstStyle/>
                    <a:p>
                      <a:pPr algn="l"/>
                      <a:r>
                        <a:rPr lang="en-US" sz="1600"/>
                        <a:t>Write character to standard output device</a:t>
                      </a:r>
                    </a:p>
                  </a:txBody>
                  <a:tcPr marL="17293" marR="17293" marT="8646" marB="8646"/>
                </a:tc>
                <a:tc>
                  <a:txBody>
                    <a:bodyPr/>
                    <a:lstStyle/>
                    <a:p>
                      <a:pPr algn="l"/>
                      <a:r>
                        <a:rPr lang="en-US" sz="1600" dirty="0"/>
                        <a:t>Expects: DL = ASCII code of output data</a:t>
                      </a:r>
                    </a:p>
                  </a:txBody>
                  <a:tcPr marL="17293" marR="17293" marT="8646" marB="8646"/>
                </a:tc>
                <a:extLst>
                  <a:ext uri="{0D108BD9-81ED-4DB2-BD59-A6C34878D82A}">
                    <a16:rowId xmlns:a16="http://schemas.microsoft.com/office/drawing/2014/main" val="10002"/>
                  </a:ext>
                </a:extLst>
              </a:tr>
              <a:tr h="770736">
                <a:tc>
                  <a:txBody>
                    <a:bodyPr/>
                    <a:lstStyle/>
                    <a:p>
                      <a:pPr algn="l"/>
                      <a:r>
                        <a:rPr lang="en-US" sz="1600" dirty="0"/>
                        <a:t>AH = 05</a:t>
                      </a:r>
                    </a:p>
                  </a:txBody>
                  <a:tcPr marL="17293" marR="17293" marT="8646" marB="8646"/>
                </a:tc>
                <a:tc>
                  <a:txBody>
                    <a:bodyPr/>
                    <a:lstStyle/>
                    <a:p>
                      <a:pPr algn="l"/>
                      <a:r>
                        <a:rPr lang="en-US" sz="1600" dirty="0"/>
                        <a:t>Write character to printer</a:t>
                      </a:r>
                    </a:p>
                  </a:txBody>
                  <a:tcPr marL="17293" marR="17293" marT="8646" marB="8646"/>
                </a:tc>
                <a:tc>
                  <a:txBody>
                    <a:bodyPr/>
                    <a:lstStyle/>
                    <a:p>
                      <a:pPr algn="l"/>
                      <a:r>
                        <a:rPr lang="en-US" sz="1600"/>
                        <a:t>Expects: DL = ASCII of the output</a:t>
                      </a:r>
                    </a:p>
                  </a:txBody>
                  <a:tcPr marL="17293" marR="17293" marT="8646" marB="8646"/>
                </a:tc>
                <a:extLst>
                  <a:ext uri="{0D108BD9-81ED-4DB2-BD59-A6C34878D82A}">
                    <a16:rowId xmlns:a16="http://schemas.microsoft.com/office/drawing/2014/main" val="10003"/>
                  </a:ext>
                </a:extLst>
              </a:tr>
              <a:tr h="770736">
                <a:tc>
                  <a:txBody>
                    <a:bodyPr/>
                    <a:lstStyle/>
                    <a:p>
                      <a:pPr algn="l"/>
                      <a:r>
                        <a:rPr lang="en-US" sz="1600" dirty="0"/>
                        <a:t>AH = 08</a:t>
                      </a:r>
                    </a:p>
                  </a:txBody>
                  <a:tcPr marL="17293" marR="17293" marT="8646" marB="8646"/>
                </a:tc>
                <a:tc>
                  <a:txBody>
                    <a:bodyPr/>
                    <a:lstStyle/>
                    <a:p>
                      <a:pPr algn="l"/>
                      <a:r>
                        <a:rPr lang="en-US" sz="1600" dirty="0"/>
                        <a:t>Read character input from standard input device, without echo</a:t>
                      </a:r>
                    </a:p>
                  </a:txBody>
                  <a:tcPr marL="17293" marR="17293" marT="8646" marB="8646"/>
                </a:tc>
                <a:tc>
                  <a:txBody>
                    <a:bodyPr/>
                    <a:lstStyle/>
                    <a:p>
                      <a:pPr algn="l"/>
                      <a:r>
                        <a:rPr lang="en-US" sz="1600"/>
                        <a:t>Returns: AL = ASCII of the input key</a:t>
                      </a:r>
                    </a:p>
                  </a:txBody>
                  <a:tcPr marL="17293" marR="17293" marT="8646" marB="8646"/>
                </a:tc>
                <a:extLst>
                  <a:ext uri="{0D108BD9-81ED-4DB2-BD59-A6C34878D82A}">
                    <a16:rowId xmlns:a16="http://schemas.microsoft.com/office/drawing/2014/main" val="10004"/>
                  </a:ext>
                </a:extLst>
              </a:tr>
              <a:tr h="1142908">
                <a:tc>
                  <a:txBody>
                    <a:bodyPr/>
                    <a:lstStyle/>
                    <a:p>
                      <a:pPr algn="l"/>
                      <a:r>
                        <a:rPr lang="en-US" sz="1600" dirty="0"/>
                        <a:t>AH = 09</a:t>
                      </a:r>
                    </a:p>
                  </a:txBody>
                  <a:tcPr marL="17293" marR="17293" marT="8646" marB="8646"/>
                </a:tc>
                <a:tc>
                  <a:txBody>
                    <a:bodyPr/>
                    <a:lstStyle/>
                    <a:p>
                      <a:pPr algn="l"/>
                      <a:r>
                        <a:rPr lang="en-US" sz="1600" dirty="0"/>
                        <a:t>Display string</a:t>
                      </a:r>
                    </a:p>
                  </a:txBody>
                  <a:tcPr marL="17293" marR="17293" marT="8646" marB="8646"/>
                </a:tc>
                <a:tc>
                  <a:txBody>
                    <a:bodyPr/>
                    <a:lstStyle/>
                    <a:p>
                      <a:pPr algn="l"/>
                      <a:r>
                        <a:rPr lang="en-US" sz="1600" dirty="0"/>
                        <a:t>Expects: DS:DX = segment: offset of string, terminated by '$'</a:t>
                      </a:r>
                    </a:p>
                  </a:txBody>
                  <a:tcPr marL="17293" marR="17293" marT="8646" marB="8646"/>
                </a:tc>
                <a:extLst>
                  <a:ext uri="{0D108BD9-81ED-4DB2-BD59-A6C34878D82A}">
                    <a16:rowId xmlns:a16="http://schemas.microsoft.com/office/drawing/2014/main" val="10005"/>
                  </a:ext>
                </a:extLst>
              </a:tr>
              <a:tr h="770736">
                <a:tc>
                  <a:txBody>
                    <a:bodyPr/>
                    <a:lstStyle/>
                    <a:p>
                      <a:pPr algn="l"/>
                      <a:r>
                        <a:rPr lang="en-US" sz="1600" dirty="0"/>
                        <a:t>AH = 0AH</a:t>
                      </a:r>
                    </a:p>
                  </a:txBody>
                  <a:tcPr marL="17293" marR="17293" marT="8646" marB="8646"/>
                </a:tc>
                <a:tc>
                  <a:txBody>
                    <a:bodyPr/>
                    <a:lstStyle/>
                    <a:p>
                      <a:pPr algn="l"/>
                      <a:r>
                        <a:rPr lang="en-US" sz="1600" dirty="0"/>
                        <a:t>Buffered string output</a:t>
                      </a:r>
                    </a:p>
                  </a:txBody>
                  <a:tcPr marL="17293" marR="17293" marT="8646" marB="8646"/>
                </a:tc>
                <a:tc>
                  <a:txBody>
                    <a:bodyPr/>
                    <a:lstStyle/>
                    <a:p>
                      <a:pPr algn="l"/>
                      <a:r>
                        <a:rPr lang="en-US" sz="1600" dirty="0"/>
                        <a:t>Expects: DS:DX = segment: offset of buffer</a:t>
                      </a:r>
                    </a:p>
                  </a:txBody>
                  <a:tcPr marL="17293" marR="17293" marT="8646" marB="8646"/>
                </a:tc>
                <a:extLst>
                  <a:ext uri="{0D108BD9-81ED-4DB2-BD59-A6C34878D82A}">
                    <a16:rowId xmlns:a16="http://schemas.microsoft.com/office/drawing/2014/main" val="10006"/>
                  </a:ext>
                </a:extLst>
              </a:tr>
            </a:tbl>
          </a:graphicData>
        </a:graphic>
      </p:graphicFrame>
      <p:sp>
        <p:nvSpPr>
          <p:cNvPr id="103463" name="Rectangle 9"/>
          <p:cNvSpPr>
            <a:spLocks noChangeArrowheads="1"/>
          </p:cNvSpPr>
          <p:nvPr/>
        </p:nvSpPr>
        <p:spPr bwMode="auto">
          <a:xfrm>
            <a:off x="457200" y="304800"/>
            <a:ext cx="3276600" cy="381000"/>
          </a:xfrm>
          <a:prstGeom prst="rect">
            <a:avLst/>
          </a:prstGeom>
          <a:noFill/>
          <a:ln w="9525">
            <a:noFill/>
            <a:miter lim="800000"/>
            <a:headEnd/>
            <a:tailEnd/>
          </a:ln>
        </p:spPr>
        <p:txBody>
          <a:bodyPr>
            <a:spAutoFit/>
          </a:bodyPr>
          <a:lstStyle/>
          <a:p>
            <a:r>
              <a:rPr lang="en-US" b="1"/>
              <a:t>DOS INT 21H services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685800" y="457200"/>
          <a:ext cx="8001000" cy="5337184"/>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1255708">
                <a:tc>
                  <a:txBody>
                    <a:bodyPr/>
                    <a:lstStyle/>
                    <a:p>
                      <a:pPr algn="l"/>
                      <a:r>
                        <a:rPr lang="en-US" sz="1600" b="0" dirty="0">
                          <a:solidFill>
                            <a:schemeClr val="tx1"/>
                          </a:solidFill>
                        </a:rPr>
                        <a:t>AH = 25H</a:t>
                      </a:r>
                    </a:p>
                  </a:txBody>
                  <a:tcPr marL="17293" marR="17293" marT="8646" marB="8646">
                    <a:solidFill>
                      <a:schemeClr val="accent3">
                        <a:lumMod val="95000"/>
                      </a:schemeClr>
                    </a:solidFill>
                  </a:tcPr>
                </a:tc>
                <a:tc>
                  <a:txBody>
                    <a:bodyPr/>
                    <a:lstStyle/>
                    <a:p>
                      <a:pPr algn="l"/>
                      <a:r>
                        <a:rPr lang="en-US" sz="1600" b="0" dirty="0">
                          <a:solidFill>
                            <a:schemeClr val="tx1"/>
                          </a:solidFill>
                        </a:rPr>
                        <a:t>Set interrupt vector</a:t>
                      </a:r>
                    </a:p>
                  </a:txBody>
                  <a:tcPr marL="17293" marR="17293" marT="8646" marB="8646">
                    <a:solidFill>
                      <a:schemeClr val="accent3">
                        <a:lumMod val="95000"/>
                      </a:schemeClr>
                    </a:solidFill>
                  </a:tcPr>
                </a:tc>
                <a:tc>
                  <a:txBody>
                    <a:bodyPr/>
                    <a:lstStyle/>
                    <a:p>
                      <a:pPr algn="l"/>
                      <a:r>
                        <a:rPr lang="en-US" sz="1600" b="0" dirty="0">
                          <a:solidFill>
                            <a:schemeClr val="tx1"/>
                          </a:solidFill>
                        </a:rPr>
                        <a:t>Expects: AL = machine interrupt number</a:t>
                      </a:r>
                    </a:p>
                    <a:p>
                      <a:pPr algn="l"/>
                      <a:r>
                        <a:rPr lang="en-US" sz="1600" b="0" dirty="0">
                          <a:solidFill>
                            <a:schemeClr val="tx1"/>
                          </a:solidFill>
                        </a:rPr>
                        <a:t>DS:DX = segment offset of interrupt service routine</a:t>
                      </a:r>
                    </a:p>
                  </a:txBody>
                  <a:tcPr marL="17293" marR="17293" marT="8646" marB="8646">
                    <a:solidFill>
                      <a:schemeClr val="accent3">
                        <a:lumMod val="95000"/>
                      </a:schemeClr>
                    </a:solidFill>
                  </a:tcPr>
                </a:tc>
                <a:extLst>
                  <a:ext uri="{0D108BD9-81ED-4DB2-BD59-A6C34878D82A}">
                    <a16:rowId xmlns:a16="http://schemas.microsoft.com/office/drawing/2014/main" val="10000"/>
                  </a:ext>
                </a:extLst>
              </a:tr>
              <a:tr h="1258892">
                <a:tc>
                  <a:txBody>
                    <a:bodyPr/>
                    <a:lstStyle/>
                    <a:p>
                      <a:pPr algn="l"/>
                      <a:r>
                        <a:rPr lang="en-US" sz="1600" dirty="0"/>
                        <a:t>AH = 2AH</a:t>
                      </a:r>
                    </a:p>
                  </a:txBody>
                  <a:tcPr marL="17293" marR="17293" marT="8646" marB="8646"/>
                </a:tc>
                <a:tc>
                  <a:txBody>
                    <a:bodyPr/>
                    <a:lstStyle/>
                    <a:p>
                      <a:pPr algn="l"/>
                      <a:r>
                        <a:rPr lang="en-US" sz="1600" dirty="0"/>
                        <a:t>Get DOS system date</a:t>
                      </a:r>
                    </a:p>
                  </a:txBody>
                  <a:tcPr marL="17293" marR="17293" marT="8646" marB="8646"/>
                </a:tc>
                <a:tc>
                  <a:txBody>
                    <a:bodyPr/>
                    <a:lstStyle/>
                    <a:p>
                      <a:pPr algn="l"/>
                      <a:r>
                        <a:rPr lang="en-US" sz="1600" dirty="0"/>
                        <a:t>Returns: DL = Day (1 to 31)</a:t>
                      </a:r>
                    </a:p>
                    <a:p>
                      <a:pPr algn="l"/>
                      <a:r>
                        <a:rPr lang="en-US" sz="1600" dirty="0"/>
                        <a:t>AL = Day (0 = Sunday, 1 = Monday etc.)</a:t>
                      </a:r>
                    </a:p>
                    <a:p>
                      <a:pPr algn="l"/>
                      <a:r>
                        <a:rPr lang="en-US" sz="1600" dirty="0"/>
                        <a:t>DH = Month (1 to 12),</a:t>
                      </a:r>
                    </a:p>
                    <a:p>
                      <a:pPr algn="l"/>
                      <a:r>
                        <a:rPr lang="en-US" sz="1600" dirty="0"/>
                        <a:t>CX = Year (1980 to 2099)</a:t>
                      </a:r>
                    </a:p>
                    <a:p>
                      <a:pPr algn="l"/>
                      <a:endParaRPr lang="en-US" sz="1600" dirty="0"/>
                    </a:p>
                  </a:txBody>
                  <a:tcPr marL="17293" marR="17293" marT="8646" marB="8646"/>
                </a:tc>
                <a:extLst>
                  <a:ext uri="{0D108BD9-81ED-4DB2-BD59-A6C34878D82A}">
                    <a16:rowId xmlns:a16="http://schemas.microsoft.com/office/drawing/2014/main" val="10001"/>
                  </a:ext>
                </a:extLst>
              </a:tr>
              <a:tr h="1411292">
                <a:tc>
                  <a:txBody>
                    <a:bodyPr/>
                    <a:lstStyle/>
                    <a:p>
                      <a:pPr algn="l"/>
                      <a:r>
                        <a:rPr lang="en-US" sz="1600" dirty="0"/>
                        <a:t>AH = 2BH</a:t>
                      </a:r>
                    </a:p>
                  </a:txBody>
                  <a:tcPr marL="17293" marR="17293" marT="8646" marB="8646"/>
                </a:tc>
                <a:tc>
                  <a:txBody>
                    <a:bodyPr/>
                    <a:lstStyle/>
                    <a:p>
                      <a:pPr algn="l"/>
                      <a:r>
                        <a:rPr lang="en-US" sz="1600" dirty="0"/>
                        <a:t>Set DOS system date</a:t>
                      </a:r>
                    </a:p>
                  </a:txBody>
                  <a:tcPr marL="17293" marR="17293" marT="8646" marB="8646"/>
                </a:tc>
                <a:tc>
                  <a:txBody>
                    <a:bodyPr/>
                    <a:lstStyle/>
                    <a:p>
                      <a:pPr algn="l"/>
                      <a:r>
                        <a:rPr lang="en-US" sz="1600" dirty="0"/>
                        <a:t>Expects: DL = Day (1 to 31)</a:t>
                      </a:r>
                    </a:p>
                    <a:p>
                      <a:pPr algn="l"/>
                      <a:r>
                        <a:rPr lang="en-US" sz="1600" dirty="0"/>
                        <a:t>DH = Month (1 to 12),</a:t>
                      </a:r>
                    </a:p>
                    <a:p>
                      <a:pPr algn="l"/>
                      <a:r>
                        <a:rPr lang="en-US" sz="1600" dirty="0"/>
                        <a:t>CX = Year (1980 to 2099)</a:t>
                      </a:r>
                    </a:p>
                  </a:txBody>
                  <a:tcPr marL="17293" marR="17293" marT="8646" marB="8646"/>
                </a:tc>
                <a:extLst>
                  <a:ext uri="{0D108BD9-81ED-4DB2-BD59-A6C34878D82A}">
                    <a16:rowId xmlns:a16="http://schemas.microsoft.com/office/drawing/2014/main" val="10002"/>
                  </a:ext>
                </a:extLst>
              </a:tr>
              <a:tr h="1411292">
                <a:tc>
                  <a:txBody>
                    <a:bodyPr/>
                    <a:lstStyle/>
                    <a:p>
                      <a:pPr algn="l"/>
                      <a:r>
                        <a:rPr lang="en-US" sz="1600" dirty="0"/>
                        <a:t>AH = 2CH</a:t>
                      </a:r>
                    </a:p>
                  </a:txBody>
                  <a:tcPr marL="17293" marR="17293" marT="8646" marB="8646"/>
                </a:tc>
                <a:tc>
                  <a:txBody>
                    <a:bodyPr/>
                    <a:lstStyle/>
                    <a:p>
                      <a:pPr algn="l"/>
                      <a:r>
                        <a:rPr lang="en-US" sz="1600" dirty="0"/>
                        <a:t>Get DOS system time</a:t>
                      </a:r>
                    </a:p>
                  </a:txBody>
                  <a:tcPr marL="17293" marR="17293" marT="8646" marB="8646"/>
                </a:tc>
                <a:tc>
                  <a:txBody>
                    <a:bodyPr/>
                    <a:lstStyle/>
                    <a:p>
                      <a:pPr algn="l"/>
                      <a:r>
                        <a:rPr lang="en-US" sz="1600" dirty="0"/>
                        <a:t>Returns: CH = Hour (0 to 23)</a:t>
                      </a:r>
                    </a:p>
                    <a:p>
                      <a:pPr algn="l"/>
                      <a:r>
                        <a:rPr lang="en-US" sz="1600" dirty="0"/>
                        <a:t>CL = Minutes (0 to 59)</a:t>
                      </a:r>
                    </a:p>
                    <a:p>
                      <a:pPr algn="l"/>
                      <a:r>
                        <a:rPr lang="en-US" sz="1600" dirty="0"/>
                        <a:t>DH = seconds (0 to 59)</a:t>
                      </a:r>
                    </a:p>
                    <a:p>
                      <a:pPr algn="l"/>
                      <a:r>
                        <a:rPr lang="en-US" sz="1600" dirty="0"/>
                        <a:t>DL = 100</a:t>
                      </a:r>
                      <a:r>
                        <a:rPr lang="en-US" sz="1600" baseline="30000" dirty="0"/>
                        <a:t>th</a:t>
                      </a:r>
                      <a:r>
                        <a:rPr lang="en-US" sz="1600" dirty="0"/>
                        <a:t> of seconds (0 to 99)</a:t>
                      </a:r>
                    </a:p>
                  </a:txBody>
                  <a:tcPr marL="17293" marR="17293" marT="8646" marB="8646"/>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quarter" idx="10"/>
          </p:nvPr>
        </p:nvSpPr>
        <p:spPr/>
        <p:txBody>
          <a:bodyPr/>
          <a:lstStyle/>
          <a:p>
            <a:pPr>
              <a:defRPr/>
            </a:pPr>
            <a:fld id="{D90222A2-FFCD-4E49-A5CD-AE5CBA6FFBD1}"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A562DEB-1FD3-444E-8082-38381647048A}" type="slidenum">
              <a:rPr lang="en-US" altLang="en-US" smtClean="0"/>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90222A2-FFCD-4E49-A5CD-AE5CBA6FFBD1}" type="datetime1">
              <a:rPr lang="en-US" sz="800" smtClean="0"/>
              <a:pPr>
                <a:defRPr/>
              </a:pPr>
              <a:t>4/1/2025</a:t>
            </a:fld>
            <a:endParaRPr lang="en-US" altLang="en-US" sz="800"/>
          </a:p>
        </p:txBody>
      </p:sp>
      <p:sp>
        <p:nvSpPr>
          <p:cNvPr id="5" name="Footer Placeholder 4"/>
          <p:cNvSpPr>
            <a:spLocks noGrp="1"/>
          </p:cNvSpPr>
          <p:nvPr>
            <p:ph type="ftr" sz="quarter" idx="11"/>
          </p:nvPr>
        </p:nvSpPr>
        <p:spPr/>
        <p:txBody>
          <a:bodyPr/>
          <a:lstStyle/>
          <a:p>
            <a:pPr>
              <a:defRPr/>
            </a:pPr>
            <a:r>
              <a:rPr lang="en-US" altLang="en-US" sz="800"/>
              <a:t>ROSHAN FERNANDES, DEPT OF CSE</a:t>
            </a:r>
          </a:p>
        </p:txBody>
      </p:sp>
      <p:sp>
        <p:nvSpPr>
          <p:cNvPr id="6" name="Slide Number Placeholder 5"/>
          <p:cNvSpPr>
            <a:spLocks noGrp="1"/>
          </p:cNvSpPr>
          <p:nvPr>
            <p:ph type="sldNum" sz="quarter" idx="12"/>
          </p:nvPr>
        </p:nvSpPr>
        <p:spPr/>
        <p:txBody>
          <a:bodyPr/>
          <a:lstStyle/>
          <a:p>
            <a:pPr>
              <a:defRPr/>
            </a:pPr>
            <a:fld id="{02E68FF3-DC80-43AF-9B0F-25E3BF57D2EC}" type="slidenum">
              <a:rPr lang="en-US" altLang="en-US" sz="800" smtClean="0"/>
              <a:pPr>
                <a:defRPr/>
              </a:pPr>
              <a:t>37</a:t>
            </a:fld>
            <a:endParaRPr lang="en-US" altLang="en-US" sz="800"/>
          </a:p>
        </p:txBody>
      </p:sp>
      <p:graphicFrame>
        <p:nvGraphicFramePr>
          <p:cNvPr id="9" name="Table 8"/>
          <p:cNvGraphicFramePr>
            <a:graphicFrameLocks noGrp="1"/>
          </p:cNvGraphicFramePr>
          <p:nvPr/>
        </p:nvGraphicFramePr>
        <p:xfrm>
          <a:off x="533400" y="365125"/>
          <a:ext cx="8381999" cy="4816475"/>
        </p:xfrm>
        <a:graphic>
          <a:graphicData uri="http://schemas.openxmlformats.org/drawingml/2006/table">
            <a:tbl>
              <a:tblPr firstRow="1" bandRow="1">
                <a:tableStyleId>{5C22544A-7EE6-4342-B048-85BDC9FD1C3A}</a:tableStyleId>
              </a:tblPr>
              <a:tblGrid>
                <a:gridCol w="2073896">
                  <a:extLst>
                    <a:ext uri="{9D8B030D-6E8A-4147-A177-3AD203B41FA5}">
                      <a16:colId xmlns:a16="http://schemas.microsoft.com/office/drawing/2014/main" val="20000"/>
                    </a:ext>
                  </a:extLst>
                </a:gridCol>
                <a:gridCol w="2938020">
                  <a:extLst>
                    <a:ext uri="{9D8B030D-6E8A-4147-A177-3AD203B41FA5}">
                      <a16:colId xmlns:a16="http://schemas.microsoft.com/office/drawing/2014/main" val="20001"/>
                    </a:ext>
                  </a:extLst>
                </a:gridCol>
                <a:gridCol w="3370083">
                  <a:extLst>
                    <a:ext uri="{9D8B030D-6E8A-4147-A177-3AD203B41FA5}">
                      <a16:colId xmlns:a16="http://schemas.microsoft.com/office/drawing/2014/main" val="20002"/>
                    </a:ext>
                  </a:extLst>
                </a:gridCol>
              </a:tblGrid>
              <a:tr h="1690096">
                <a:tc>
                  <a:txBody>
                    <a:bodyPr/>
                    <a:lstStyle/>
                    <a:p>
                      <a:pPr algn="l"/>
                      <a:r>
                        <a:rPr lang="en-US" sz="1600" b="0" dirty="0">
                          <a:solidFill>
                            <a:schemeClr val="tx1"/>
                          </a:solidFill>
                        </a:rPr>
                        <a:t>AH = 2DH</a:t>
                      </a:r>
                    </a:p>
                  </a:txBody>
                  <a:tcPr marL="17293" marR="17293" marT="8646" marB="8646" anchor="ctr" anchorCtr="1">
                    <a:solidFill>
                      <a:schemeClr val="accent3">
                        <a:lumMod val="95000"/>
                      </a:schemeClr>
                    </a:solidFill>
                  </a:tcPr>
                </a:tc>
                <a:tc>
                  <a:txBody>
                    <a:bodyPr/>
                    <a:lstStyle/>
                    <a:p>
                      <a:pPr algn="l"/>
                      <a:r>
                        <a:rPr lang="en-US" sz="1600" b="0" dirty="0">
                          <a:solidFill>
                            <a:schemeClr val="tx1"/>
                          </a:solidFill>
                        </a:rPr>
                        <a:t>Set DOS system time</a:t>
                      </a:r>
                    </a:p>
                  </a:txBody>
                  <a:tcPr marL="17293" marR="17293" marT="8646" marB="8646" anchor="ctr" anchorCtr="1">
                    <a:solidFill>
                      <a:schemeClr val="accent3">
                        <a:lumMod val="95000"/>
                      </a:schemeClr>
                    </a:solidFill>
                  </a:tcPr>
                </a:tc>
                <a:tc>
                  <a:txBody>
                    <a:bodyPr/>
                    <a:lstStyle/>
                    <a:p>
                      <a:pPr algn="l"/>
                      <a:r>
                        <a:rPr lang="en-US" sz="1600" b="0" dirty="0">
                          <a:solidFill>
                            <a:schemeClr val="tx1"/>
                          </a:solidFill>
                        </a:rPr>
                        <a:t>Expects: CH = Hour (0 to 23)</a:t>
                      </a:r>
                    </a:p>
                    <a:p>
                      <a:pPr algn="l"/>
                      <a:r>
                        <a:rPr lang="en-US" sz="1600" b="0" dirty="0">
                          <a:solidFill>
                            <a:schemeClr val="tx1"/>
                          </a:solidFill>
                        </a:rPr>
                        <a:t>CL = Minutes (0 to 59)</a:t>
                      </a:r>
                    </a:p>
                    <a:p>
                      <a:pPr algn="l"/>
                      <a:r>
                        <a:rPr lang="en-US" sz="1600" b="0" dirty="0">
                          <a:solidFill>
                            <a:schemeClr val="tx1"/>
                          </a:solidFill>
                        </a:rPr>
                        <a:t>DH = seconds (0 to 59)</a:t>
                      </a:r>
                    </a:p>
                    <a:p>
                      <a:pPr algn="l"/>
                      <a:r>
                        <a:rPr lang="en-US" sz="1600" b="0" dirty="0">
                          <a:solidFill>
                            <a:schemeClr val="tx1"/>
                          </a:solidFill>
                        </a:rPr>
                        <a:t>DL = 100</a:t>
                      </a:r>
                      <a:r>
                        <a:rPr lang="en-US" sz="1600" b="0" baseline="30000" dirty="0">
                          <a:solidFill>
                            <a:schemeClr val="tx1"/>
                          </a:solidFill>
                        </a:rPr>
                        <a:t>th</a:t>
                      </a:r>
                      <a:r>
                        <a:rPr lang="en-US" sz="1600" b="0" dirty="0">
                          <a:solidFill>
                            <a:schemeClr val="tx1"/>
                          </a:solidFill>
                        </a:rPr>
                        <a:t> of seconds (0 to 99)</a:t>
                      </a:r>
                    </a:p>
                  </a:txBody>
                  <a:tcPr marL="17293" marR="17293" marT="8646" marB="8646" anchor="ctr" anchorCtr="1">
                    <a:solidFill>
                      <a:schemeClr val="accent3">
                        <a:lumMod val="95000"/>
                      </a:schemeClr>
                    </a:solidFill>
                  </a:tcPr>
                </a:tc>
                <a:extLst>
                  <a:ext uri="{0D108BD9-81ED-4DB2-BD59-A6C34878D82A}">
                    <a16:rowId xmlns:a16="http://schemas.microsoft.com/office/drawing/2014/main" val="10000"/>
                  </a:ext>
                </a:extLst>
              </a:tr>
              <a:tr h="1950110">
                <a:tc>
                  <a:txBody>
                    <a:bodyPr/>
                    <a:lstStyle/>
                    <a:p>
                      <a:pPr algn="l"/>
                      <a:r>
                        <a:rPr lang="en-US" sz="1600" dirty="0"/>
                        <a:t>AH = 35H</a:t>
                      </a:r>
                    </a:p>
                  </a:txBody>
                  <a:tcPr marL="17293" marR="17293" marT="8646" marB="8646" anchor="ctr" anchorCtr="1"/>
                </a:tc>
                <a:tc>
                  <a:txBody>
                    <a:bodyPr/>
                    <a:lstStyle/>
                    <a:p>
                      <a:pPr algn="l"/>
                      <a:r>
                        <a:rPr lang="en-US" sz="1600" dirty="0"/>
                        <a:t>Get interrupt vector</a:t>
                      </a:r>
                    </a:p>
                  </a:txBody>
                  <a:tcPr marL="17293" marR="17293" marT="8646" marB="8646" anchor="ctr" anchorCtr="1"/>
                </a:tc>
                <a:tc>
                  <a:txBody>
                    <a:bodyPr/>
                    <a:lstStyle/>
                    <a:p>
                      <a:pPr algn="l"/>
                      <a:r>
                        <a:rPr lang="en-US" sz="1600" dirty="0"/>
                        <a:t>Expects: AH = 35H</a:t>
                      </a:r>
                    </a:p>
                    <a:p>
                      <a:pPr algn="l"/>
                      <a:r>
                        <a:rPr lang="en-US" sz="1600" dirty="0"/>
                        <a:t>AL = interrupt type number</a:t>
                      </a:r>
                    </a:p>
                    <a:p>
                      <a:pPr algn="l"/>
                      <a:r>
                        <a:rPr lang="en-US" sz="1600" dirty="0"/>
                        <a:t>Returns:</a:t>
                      </a:r>
                    </a:p>
                    <a:p>
                      <a:pPr algn="l"/>
                      <a:r>
                        <a:rPr lang="en-US" sz="1600" dirty="0"/>
                        <a:t>ES:BX of interrupt service routine</a:t>
                      </a:r>
                    </a:p>
                  </a:txBody>
                  <a:tcPr marL="17293" marR="17293" marT="8646" marB="8646" anchor="ctr" anchorCtr="1"/>
                </a:tc>
                <a:extLst>
                  <a:ext uri="{0D108BD9-81ED-4DB2-BD59-A6C34878D82A}">
                    <a16:rowId xmlns:a16="http://schemas.microsoft.com/office/drawing/2014/main" val="10001"/>
                  </a:ext>
                </a:extLst>
              </a:tr>
              <a:tr h="1176269">
                <a:tc>
                  <a:txBody>
                    <a:bodyPr/>
                    <a:lstStyle/>
                    <a:p>
                      <a:pPr algn="l"/>
                      <a:r>
                        <a:rPr lang="en-US" sz="1600" dirty="0"/>
                        <a:t>AH = 4CH</a:t>
                      </a:r>
                    </a:p>
                  </a:txBody>
                  <a:tcPr marL="17293" marR="17293" marT="8646" marB="8646" anchor="ctr" anchorCtr="1"/>
                </a:tc>
                <a:tc>
                  <a:txBody>
                    <a:bodyPr/>
                    <a:lstStyle/>
                    <a:p>
                      <a:pPr algn="l"/>
                      <a:r>
                        <a:rPr lang="en-US" sz="1600" dirty="0"/>
                        <a:t>Terminate with return code</a:t>
                      </a:r>
                    </a:p>
                  </a:txBody>
                  <a:tcPr marL="17293" marR="17293" marT="8646" marB="8646" anchor="ctr" anchorCtr="1"/>
                </a:tc>
                <a:tc>
                  <a:txBody>
                    <a:bodyPr/>
                    <a:lstStyle/>
                    <a:p>
                      <a:pPr algn="l"/>
                      <a:r>
                        <a:rPr lang="en-US" sz="1600" dirty="0"/>
                        <a:t>Expects: AL = return code</a:t>
                      </a:r>
                    </a:p>
                  </a:txBody>
                  <a:tcPr marL="17293" marR="17293" marT="8646" marB="8646" anchor="ctr" anchorCtr="1"/>
                </a:tc>
                <a:extLst>
                  <a:ext uri="{0D108BD9-81ED-4DB2-BD59-A6C34878D82A}">
                    <a16:rowId xmlns:a16="http://schemas.microsoft.com/office/drawing/2014/main" val="1000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BC6E14CE-53A6-470B-8E5E-53D0D51BFBAB}" type="slidenum">
              <a:rPr lang="en-US" altLang="en-US" smtClean="0"/>
              <a:pPr>
                <a:defRPr/>
              </a:pPr>
              <a:t>38</a:t>
            </a:fld>
            <a:endParaRPr lang="en-US" altLang="en-US"/>
          </a:p>
        </p:txBody>
      </p:sp>
      <p:sp>
        <p:nvSpPr>
          <p:cNvPr id="106501" name="Rectangle 7"/>
          <p:cNvSpPr>
            <a:spLocks noGrp="1" noChangeArrowheads="1"/>
          </p:cNvSpPr>
          <p:nvPr>
            <p:ph type="title"/>
          </p:nvPr>
        </p:nvSpPr>
        <p:spPr>
          <a:xfrm>
            <a:off x="762000" y="2743200"/>
            <a:ext cx="7010400" cy="1200150"/>
          </a:xfrm>
          <a:noFill/>
        </p:spPr>
        <p:txBody>
          <a:bodyPr>
            <a:spAutoFit/>
          </a:bodyPr>
          <a:lstStyle/>
          <a:p>
            <a:pPr algn="ctr">
              <a:lnSpc>
                <a:spcPct val="90000"/>
              </a:lnSpc>
              <a:buFont typeface="Wingdings" pitchFamily="2" charset="2"/>
              <a:buNone/>
            </a:pPr>
            <a:r>
              <a:rPr lang="en-US" sz="4000" b="1"/>
              <a:t>BIOS(Basic Input Output System)10H function calls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619A0137-848C-4AB3-802D-268E65858632}" type="slidenum">
              <a:rPr lang="en-US" altLang="en-US" smtClean="0"/>
              <a:pPr>
                <a:defRPr/>
              </a:pPr>
              <a:t>39</a:t>
            </a:fld>
            <a:endParaRPr lang="en-US" altLang="en-US"/>
          </a:p>
        </p:txBody>
      </p:sp>
      <p:sp>
        <p:nvSpPr>
          <p:cNvPr id="107525" name="Content Placeholder 2"/>
          <p:cNvSpPr>
            <a:spLocks noGrp="1"/>
          </p:cNvSpPr>
          <p:nvPr>
            <p:ph idx="1"/>
          </p:nvPr>
        </p:nvSpPr>
        <p:spPr>
          <a:xfrm>
            <a:off x="609600" y="1066800"/>
            <a:ext cx="8305800" cy="5292725"/>
          </a:xfrm>
        </p:spPr>
        <p:txBody>
          <a:bodyPr/>
          <a:lstStyle/>
          <a:p>
            <a:pPr>
              <a:buFont typeface="Wingdings" pitchFamily="2" charset="2"/>
              <a:buNone/>
            </a:pPr>
            <a:endParaRPr lang="en-US" sz="2000" b="1"/>
          </a:p>
          <a:p>
            <a:pPr>
              <a:buFont typeface="Wingdings" pitchFamily="2" charset="2"/>
              <a:buNone/>
            </a:pPr>
            <a:r>
              <a:rPr lang="en-US" sz="2000" b="1"/>
              <a:t>int 10h		   set video mode		function 00h</a:t>
            </a:r>
            <a:endParaRPr lang="en-US" sz="2400"/>
          </a:p>
          <a:p>
            <a:r>
              <a:rPr lang="en-US" sz="2000"/>
              <a:t>The function 00 is used to set the video mode. This function clears the screen, sets the BIOS variables, and initializes the video mode.</a:t>
            </a:r>
          </a:p>
          <a:p>
            <a:r>
              <a:rPr lang="en-US" sz="2000" b="1"/>
              <a:t>Calling parameters</a:t>
            </a:r>
          </a:p>
          <a:p>
            <a:pPr>
              <a:buFont typeface="Wingdings" pitchFamily="2" charset="2"/>
              <a:buNone/>
            </a:pPr>
            <a:r>
              <a:rPr lang="en-US" sz="2000"/>
              <a:t>		AH=00H</a:t>
            </a:r>
          </a:p>
          <a:p>
            <a:pPr>
              <a:buFont typeface="Wingdings" pitchFamily="2" charset="2"/>
              <a:buNone/>
            </a:pPr>
            <a:r>
              <a:rPr lang="en-US" sz="2000"/>
              <a:t>		AL=Display mode	</a:t>
            </a:r>
          </a:p>
          <a:p>
            <a:r>
              <a:rPr lang="en-US" sz="2000" b="1"/>
              <a:t>Returns</a:t>
            </a:r>
            <a:r>
              <a:rPr lang="en-US" sz="2000"/>
              <a:t> </a:t>
            </a:r>
          </a:p>
          <a:p>
            <a:pPr>
              <a:buFont typeface="Wingdings" pitchFamily="2" charset="2"/>
              <a:buNone/>
            </a:pPr>
            <a:r>
              <a:rPr lang="en-US" sz="2000"/>
              <a:t>		nothing</a:t>
            </a:r>
          </a:p>
          <a:p>
            <a:pPr>
              <a:buFont typeface="Wingdings" pitchFamily="2" charset="2"/>
              <a:buNone/>
            </a:pPr>
            <a:endParaRPr lang="en-US" sz="2000"/>
          </a:p>
          <a:p>
            <a:r>
              <a:rPr lang="en-US" sz="2000" b="1"/>
              <a:t>Ex:</a:t>
            </a:r>
          </a:p>
          <a:p>
            <a:pPr>
              <a:lnSpc>
                <a:spcPct val="90000"/>
              </a:lnSpc>
              <a:buFont typeface="Wingdings" pitchFamily="2" charset="2"/>
              <a:buNone/>
            </a:pPr>
            <a:r>
              <a:rPr lang="en-US" sz="2000"/>
              <a:t>MOV AH, 00H</a:t>
            </a:r>
          </a:p>
          <a:p>
            <a:pPr>
              <a:lnSpc>
                <a:spcPct val="90000"/>
              </a:lnSpc>
              <a:buFont typeface="Wingdings" pitchFamily="2" charset="2"/>
              <a:buNone/>
            </a:pPr>
            <a:r>
              <a:rPr lang="en-US" sz="2000"/>
              <a:t>MOV AL, 02H ; set black and white mode</a:t>
            </a:r>
            <a:r>
              <a:rPr lang="en-US" sz="1600"/>
              <a:t>,80x25bw(80 columns and 25 rows)</a:t>
            </a:r>
          </a:p>
          <a:p>
            <a:pPr>
              <a:lnSpc>
                <a:spcPct val="90000"/>
              </a:lnSpc>
              <a:buFont typeface="Wingdings" pitchFamily="2" charset="2"/>
              <a:buNone/>
            </a:pPr>
            <a:r>
              <a:rPr lang="en-US" sz="2000"/>
              <a:t>INT 10H</a:t>
            </a:r>
          </a:p>
          <a:p>
            <a:pPr>
              <a:buFont typeface="Wingdings" pitchFamily="2" charset="2"/>
              <a:buNone/>
            </a:pPr>
            <a:endParaRPr lang="en-US" sz="2000"/>
          </a:p>
          <a:p>
            <a:pPr eaLnBrk="1" hangingPunct="1">
              <a:buFont typeface="Wingdings" pitchFamily="2" charset="2"/>
              <a:buNone/>
            </a:pPr>
            <a:endParaRPr lang="en-US" sz="1800"/>
          </a:p>
        </p:txBody>
      </p:sp>
      <p:sp>
        <p:nvSpPr>
          <p:cNvPr id="107526" name="Rectangle 2"/>
          <p:cNvSpPr>
            <a:spLocks noGrp="1" noChangeArrowheads="1"/>
          </p:cNvSpPr>
          <p:nvPr>
            <p:ph type="title"/>
          </p:nvPr>
        </p:nvSpPr>
        <p:spPr>
          <a:xfrm>
            <a:off x="381000" y="228600"/>
            <a:ext cx="7924800" cy="609600"/>
          </a:xfrm>
        </p:spPr>
        <p:txBody>
          <a:bodyPr>
            <a:normAutofit fontScale="90000"/>
          </a:bodyPr>
          <a:lstStyle/>
          <a:p>
            <a:r>
              <a:rPr lang="en-US" sz="3200" b="1"/>
              <a:t>BIOS 10H functions for video</a:t>
            </a:r>
            <a:br>
              <a:rPr lang="en-US" sz="3200" b="1"/>
            </a:br>
            <a:endParaRPr lang="en-US" sz="3200" b="1"/>
          </a:p>
        </p:txBody>
      </p:sp>
      <p:sp>
        <p:nvSpPr>
          <p:cNvPr id="107527" name="TextBox 8"/>
          <p:cNvSpPr txBox="1">
            <a:spLocks noChangeArrowheads="1"/>
          </p:cNvSpPr>
          <p:nvPr/>
        </p:nvSpPr>
        <p:spPr bwMode="auto">
          <a:xfrm>
            <a:off x="457200" y="849313"/>
            <a:ext cx="4114800" cy="461962"/>
          </a:xfrm>
          <a:prstGeom prst="rect">
            <a:avLst/>
          </a:prstGeom>
          <a:noFill/>
          <a:ln w="9525">
            <a:noFill/>
            <a:miter lim="800000"/>
            <a:headEnd/>
            <a:tailEnd/>
          </a:ln>
        </p:spPr>
        <p:txBody>
          <a:bodyPr>
            <a:spAutoFit/>
          </a:bodyPr>
          <a:lstStyle/>
          <a:p>
            <a:r>
              <a:rPr lang="en-US" sz="2400" b="1"/>
              <a:t>1.Set video mode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3FCDDD05-A8CF-45C1-81C8-2179E5417F29}" type="slidenum">
              <a:rPr lang="en-US" altLang="en-US" smtClean="0"/>
              <a:pPr>
                <a:defRPr/>
              </a:pPr>
              <a:t>40</a:t>
            </a:fld>
            <a:endParaRPr lang="en-US" altLang="en-US"/>
          </a:p>
        </p:txBody>
      </p:sp>
      <p:sp>
        <p:nvSpPr>
          <p:cNvPr id="108549" name="Content Placeholder 2"/>
          <p:cNvSpPr>
            <a:spLocks noGrp="1"/>
          </p:cNvSpPr>
          <p:nvPr>
            <p:ph idx="1"/>
          </p:nvPr>
        </p:nvSpPr>
        <p:spPr>
          <a:xfrm>
            <a:off x="609600" y="1031875"/>
            <a:ext cx="8305800" cy="5826125"/>
          </a:xfrm>
        </p:spPr>
        <p:txBody>
          <a:bodyPr/>
          <a:lstStyle/>
          <a:p>
            <a:pPr>
              <a:buFont typeface="Wingdings" pitchFamily="2" charset="2"/>
              <a:buNone/>
            </a:pPr>
            <a:r>
              <a:rPr lang="en-US" sz="2000" b="1"/>
              <a:t>int 10h		set cursor position   		function 02h</a:t>
            </a:r>
          </a:p>
          <a:p>
            <a:pPr>
              <a:buFont typeface="Wingdings" pitchFamily="2" charset="2"/>
              <a:buNone/>
            </a:pPr>
            <a:endParaRPr lang="en-US" sz="2400"/>
          </a:p>
          <a:p>
            <a:r>
              <a:rPr lang="en-US" sz="2000"/>
              <a:t>set the position of a cursor on the display device (monitor), using text coordinates(row and column)</a:t>
            </a:r>
          </a:p>
          <a:p>
            <a:endParaRPr lang="en-US" sz="2000"/>
          </a:p>
          <a:p>
            <a:r>
              <a:rPr lang="en-US" sz="2000"/>
              <a:t>Calling parameters</a:t>
            </a:r>
          </a:p>
          <a:p>
            <a:pPr>
              <a:buFont typeface="Wingdings" pitchFamily="2" charset="2"/>
              <a:buNone/>
            </a:pPr>
            <a:r>
              <a:rPr lang="en-US" sz="2000"/>
              <a:t>		AH=02H</a:t>
            </a:r>
          </a:p>
          <a:p>
            <a:pPr>
              <a:buFont typeface="Wingdings" pitchFamily="2" charset="2"/>
              <a:buNone/>
            </a:pPr>
            <a:r>
              <a:rPr lang="en-US" sz="2000"/>
              <a:t>		BH= page number</a:t>
            </a:r>
          </a:p>
          <a:p>
            <a:pPr>
              <a:buFont typeface="Wingdings" pitchFamily="2" charset="2"/>
              <a:buNone/>
            </a:pPr>
            <a:r>
              <a:rPr lang="en-US" sz="2000"/>
              <a:t>		DL=column(x co-ordinate)</a:t>
            </a:r>
          </a:p>
          <a:p>
            <a:pPr>
              <a:buFont typeface="Wingdings" pitchFamily="2" charset="2"/>
              <a:buNone/>
            </a:pPr>
            <a:r>
              <a:rPr lang="en-US" sz="2000"/>
              <a:t>		DH=row(y co-ordinate)</a:t>
            </a:r>
          </a:p>
          <a:p>
            <a:pPr>
              <a:buFont typeface="Wingdings" pitchFamily="2" charset="2"/>
              <a:buNone/>
            </a:pPr>
            <a:r>
              <a:rPr lang="en-US" sz="2000"/>
              <a:t>		</a:t>
            </a:r>
          </a:p>
          <a:p>
            <a:r>
              <a:rPr lang="en-US" sz="2000"/>
              <a:t>Returns </a:t>
            </a:r>
          </a:p>
          <a:p>
            <a:pPr>
              <a:buFont typeface="Wingdings" pitchFamily="2" charset="2"/>
              <a:buNone/>
            </a:pPr>
            <a:r>
              <a:rPr lang="en-US" sz="2000"/>
              <a:t>		nothing</a:t>
            </a:r>
          </a:p>
          <a:p>
            <a:pPr eaLnBrk="1" hangingPunct="1">
              <a:buFont typeface="Wingdings" pitchFamily="2" charset="2"/>
              <a:buNone/>
            </a:pPr>
            <a:endParaRPr lang="en-US" sz="1800"/>
          </a:p>
        </p:txBody>
      </p:sp>
      <p:sp>
        <p:nvSpPr>
          <p:cNvPr id="108550" name="TextBox 7"/>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2.Set cursor position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2"/>
          <p:cNvSpPr>
            <a:spLocks noGrp="1"/>
          </p:cNvSpPr>
          <p:nvPr>
            <p:ph idx="1"/>
          </p:nvPr>
        </p:nvSpPr>
        <p:spPr>
          <a:xfrm>
            <a:off x="457200" y="381000"/>
            <a:ext cx="8229600" cy="5749925"/>
          </a:xfrm>
        </p:spPr>
        <p:txBody>
          <a:bodyPr/>
          <a:lstStyle/>
          <a:p>
            <a:r>
              <a:rPr lang="en-US"/>
              <a:t>Ex:</a:t>
            </a:r>
          </a:p>
          <a:p>
            <a:endParaRPr lang="en-US"/>
          </a:p>
          <a:p>
            <a:pPr>
              <a:lnSpc>
                <a:spcPct val="90000"/>
              </a:lnSpc>
              <a:buFont typeface="Wingdings" pitchFamily="2" charset="2"/>
              <a:buNone/>
            </a:pPr>
            <a:r>
              <a:rPr lang="en-US" sz="2400"/>
              <a:t>MOV AL, 02H;	set black and white mode,80x25bw</a:t>
            </a:r>
          </a:p>
          <a:p>
            <a:pPr>
              <a:lnSpc>
                <a:spcPct val="90000"/>
              </a:lnSpc>
              <a:buFont typeface="Wingdings" pitchFamily="2" charset="2"/>
              <a:buNone/>
            </a:pPr>
            <a:r>
              <a:rPr lang="en-US" sz="2400"/>
              <a:t>MOV DL, X ;		 X COORDINATE or COLUMN</a:t>
            </a:r>
          </a:p>
          <a:p>
            <a:pPr>
              <a:lnSpc>
                <a:spcPct val="90000"/>
              </a:lnSpc>
              <a:buFont typeface="Wingdings" pitchFamily="2" charset="2"/>
              <a:buNone/>
            </a:pPr>
            <a:r>
              <a:rPr lang="en-US" sz="2400"/>
              <a:t>MOV DH,Y;	 	Y COORDINATE or ROW</a:t>
            </a:r>
          </a:p>
          <a:p>
            <a:pPr>
              <a:lnSpc>
                <a:spcPct val="90000"/>
              </a:lnSpc>
              <a:buFont typeface="Wingdings" pitchFamily="2" charset="2"/>
              <a:buNone/>
            </a:pPr>
            <a:r>
              <a:rPr lang="en-US" sz="2400"/>
              <a:t>MOV BH, 00H ;	  current page</a:t>
            </a:r>
          </a:p>
          <a:p>
            <a:pPr>
              <a:lnSpc>
                <a:spcPct val="90000"/>
              </a:lnSpc>
              <a:buFont typeface="Wingdings" pitchFamily="2" charset="2"/>
              <a:buNone/>
            </a:pPr>
            <a:r>
              <a:rPr lang="en-US" sz="2400"/>
              <a:t>MOV AH, 02H</a:t>
            </a:r>
          </a:p>
          <a:p>
            <a:pPr>
              <a:lnSpc>
                <a:spcPct val="90000"/>
              </a:lnSpc>
              <a:buFont typeface="Wingdings" pitchFamily="2" charset="2"/>
              <a:buNone/>
            </a:pPr>
            <a:r>
              <a:rPr lang="en-US" sz="2400"/>
              <a:t>INT 10H</a:t>
            </a:r>
          </a:p>
          <a:p>
            <a:endParaRPr lang="en-US"/>
          </a:p>
        </p:txBody>
      </p:sp>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DDC541B8-81B4-4315-9ED9-D410B632EE94}"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85A0E113-FC76-446D-8D43-47100774DDBD}" type="slidenum">
              <a:rPr lang="en-US" altLang="en-US" smtClean="0"/>
              <a:pPr>
                <a:defRPr/>
              </a:pPr>
              <a:t>42</a:t>
            </a:fld>
            <a:endParaRPr lang="en-US" altLang="en-US"/>
          </a:p>
        </p:txBody>
      </p:sp>
      <p:sp>
        <p:nvSpPr>
          <p:cNvPr id="110597" name="Content Placeholder 2"/>
          <p:cNvSpPr>
            <a:spLocks noGrp="1"/>
          </p:cNvSpPr>
          <p:nvPr>
            <p:ph idx="1"/>
          </p:nvPr>
        </p:nvSpPr>
        <p:spPr>
          <a:xfrm>
            <a:off x="533400" y="914400"/>
            <a:ext cx="8305800" cy="6705600"/>
          </a:xfrm>
        </p:spPr>
        <p:txBody>
          <a:bodyPr/>
          <a:lstStyle/>
          <a:p>
            <a:pPr>
              <a:buFont typeface="Wingdings" pitchFamily="2" charset="2"/>
              <a:buNone/>
            </a:pPr>
            <a:r>
              <a:rPr lang="en-US" sz="2000" b="1"/>
              <a:t>int 10h		Get cursor position   		function 03h</a:t>
            </a:r>
          </a:p>
          <a:p>
            <a:pPr>
              <a:buFont typeface="Wingdings" pitchFamily="2" charset="2"/>
              <a:buNone/>
            </a:pPr>
            <a:endParaRPr lang="en-US" sz="2400"/>
          </a:p>
          <a:p>
            <a:r>
              <a:rPr lang="en-US" sz="2000"/>
              <a:t>The function 03 is used to read the current position of the cursor on the display in text coordinates</a:t>
            </a:r>
          </a:p>
          <a:p>
            <a:endParaRPr lang="en-US" sz="2000"/>
          </a:p>
          <a:p>
            <a:r>
              <a:rPr lang="en-US" sz="2000" b="1"/>
              <a:t>Calling parameters</a:t>
            </a:r>
          </a:p>
          <a:p>
            <a:pPr>
              <a:buFont typeface="Wingdings" pitchFamily="2" charset="2"/>
              <a:buNone/>
            </a:pPr>
            <a:r>
              <a:rPr lang="en-US" sz="2000"/>
              <a:t>		AH=03H</a:t>
            </a:r>
          </a:p>
          <a:p>
            <a:pPr>
              <a:buFont typeface="Wingdings" pitchFamily="2" charset="2"/>
              <a:buNone/>
            </a:pPr>
            <a:r>
              <a:rPr lang="en-US" sz="2000"/>
              <a:t>		BH=page</a:t>
            </a:r>
          </a:p>
          <a:p>
            <a:pPr>
              <a:buFont typeface="Wingdings" pitchFamily="2" charset="2"/>
              <a:buNone/>
            </a:pPr>
            <a:endParaRPr lang="en-US" sz="2000"/>
          </a:p>
          <a:p>
            <a:r>
              <a:rPr lang="en-US" sz="2000" b="1"/>
              <a:t>Returns</a:t>
            </a:r>
          </a:p>
          <a:p>
            <a:pPr>
              <a:buFont typeface="Wingdings" pitchFamily="2" charset="2"/>
              <a:buNone/>
            </a:pPr>
            <a:r>
              <a:rPr lang="en-US" sz="2000"/>
              <a:t>CH=starting line for cursor</a:t>
            </a:r>
          </a:p>
          <a:p>
            <a:pPr>
              <a:buFont typeface="Wingdings" pitchFamily="2" charset="2"/>
              <a:buNone/>
            </a:pPr>
            <a:r>
              <a:rPr lang="en-US" sz="2000"/>
              <a:t>CL=ending line for cursor</a:t>
            </a:r>
          </a:p>
          <a:p>
            <a:pPr>
              <a:buFont typeface="Wingdings" pitchFamily="2" charset="2"/>
              <a:buNone/>
            </a:pPr>
            <a:r>
              <a:rPr lang="en-US" sz="2000"/>
              <a:t>DL=current column(x co-ordinates)</a:t>
            </a:r>
          </a:p>
          <a:p>
            <a:pPr>
              <a:buFont typeface="Wingdings" pitchFamily="2" charset="2"/>
              <a:buNone/>
            </a:pPr>
            <a:r>
              <a:rPr lang="en-US" sz="2000"/>
              <a:t>DH=current row(y co-ordinate)</a:t>
            </a:r>
          </a:p>
        </p:txBody>
      </p:sp>
      <p:sp>
        <p:nvSpPr>
          <p:cNvPr id="110598" name="TextBox 6"/>
          <p:cNvSpPr txBox="1">
            <a:spLocks noChangeArrowheads="1"/>
          </p:cNvSpPr>
          <p:nvPr/>
        </p:nvSpPr>
        <p:spPr bwMode="auto">
          <a:xfrm>
            <a:off x="457200" y="304800"/>
            <a:ext cx="4114800" cy="461963"/>
          </a:xfrm>
          <a:prstGeom prst="rect">
            <a:avLst/>
          </a:prstGeom>
          <a:noFill/>
          <a:ln w="9525">
            <a:noFill/>
            <a:miter lim="800000"/>
            <a:headEnd/>
            <a:tailEnd/>
          </a:ln>
        </p:spPr>
        <p:txBody>
          <a:bodyPr>
            <a:spAutoFit/>
          </a:bodyPr>
          <a:lstStyle/>
          <a:p>
            <a:r>
              <a:rPr lang="en-US" sz="2400" b="1"/>
              <a:t>3.Get cursor position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Content Placeholder 2"/>
          <p:cNvSpPr>
            <a:spLocks noGrp="1"/>
          </p:cNvSpPr>
          <p:nvPr>
            <p:ph idx="1"/>
          </p:nvPr>
        </p:nvSpPr>
        <p:spPr>
          <a:xfrm>
            <a:off x="457200" y="533400"/>
            <a:ext cx="8229600" cy="5597525"/>
          </a:xfrm>
        </p:spPr>
        <p:txBody>
          <a:bodyPr/>
          <a:lstStyle/>
          <a:p>
            <a:pPr>
              <a:lnSpc>
                <a:spcPct val="90000"/>
              </a:lnSpc>
            </a:pPr>
            <a:r>
              <a:rPr lang="en-US" sz="3200"/>
              <a:t>Ex:</a:t>
            </a:r>
          </a:p>
          <a:p>
            <a:pPr>
              <a:lnSpc>
                <a:spcPct val="90000"/>
              </a:lnSpc>
            </a:pPr>
            <a:endParaRPr lang="en-US" sz="3200"/>
          </a:p>
          <a:p>
            <a:pPr>
              <a:lnSpc>
                <a:spcPct val="90000"/>
              </a:lnSpc>
              <a:buFont typeface="Wingdings" pitchFamily="2" charset="2"/>
              <a:buNone/>
            </a:pPr>
            <a:r>
              <a:rPr lang="en-US" sz="2000"/>
              <a:t>MOV AL, 02H ;	set black and white mode,80x25bw</a:t>
            </a:r>
          </a:p>
          <a:p>
            <a:pPr>
              <a:lnSpc>
                <a:spcPct val="90000"/>
              </a:lnSpc>
              <a:buFont typeface="Wingdings" pitchFamily="2" charset="2"/>
              <a:buNone/>
            </a:pPr>
            <a:r>
              <a:rPr lang="en-US" sz="2000"/>
              <a:t>MOV AH, 03H</a:t>
            </a:r>
          </a:p>
          <a:p>
            <a:pPr>
              <a:lnSpc>
                <a:spcPct val="90000"/>
              </a:lnSpc>
              <a:buFont typeface="Wingdings" pitchFamily="2" charset="2"/>
              <a:buNone/>
            </a:pPr>
            <a:r>
              <a:rPr lang="en-US" sz="2000"/>
              <a:t>MOV BH, 00H ;	 page</a:t>
            </a:r>
          </a:p>
          <a:p>
            <a:pPr>
              <a:lnSpc>
                <a:spcPct val="90000"/>
              </a:lnSpc>
              <a:buFont typeface="Wingdings" pitchFamily="2" charset="2"/>
              <a:buNone/>
            </a:pPr>
            <a:r>
              <a:rPr lang="en-US" sz="2000"/>
              <a:t>INT 10H</a:t>
            </a:r>
          </a:p>
          <a:p>
            <a:endParaRPr lang="en-US"/>
          </a:p>
        </p:txBody>
      </p:sp>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EE5D4169-FA2F-4FD3-AC1B-F85DC0977214}" type="slidenum">
              <a:rPr lang="en-US" altLang="en-US" smtClean="0"/>
              <a:pPr>
                <a:defRPr/>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A742637-3B6D-4298-AE00-FB1992BB523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4C53E801-AFEA-4CF8-BD44-7B270B663A6C}" type="slidenum">
              <a:rPr lang="en-US" altLang="en-US" smtClean="0"/>
              <a:pPr>
                <a:defRPr/>
              </a:pPr>
              <a:t>44</a:t>
            </a:fld>
            <a:endParaRPr lang="en-US" altLang="en-US"/>
          </a:p>
        </p:txBody>
      </p:sp>
      <p:sp>
        <p:nvSpPr>
          <p:cNvPr id="112645" name="Rectangle 7"/>
          <p:cNvSpPr>
            <a:spLocks noGrp="1" noChangeArrowheads="1"/>
          </p:cNvSpPr>
          <p:nvPr>
            <p:ph type="title"/>
          </p:nvPr>
        </p:nvSpPr>
        <p:spPr>
          <a:xfrm>
            <a:off x="762000" y="2743200"/>
            <a:ext cx="7010400" cy="652463"/>
          </a:xfrm>
          <a:noFill/>
        </p:spPr>
        <p:txBody>
          <a:bodyPr>
            <a:spAutoFit/>
          </a:bodyPr>
          <a:lstStyle/>
          <a:p>
            <a:pPr algn="ctr">
              <a:lnSpc>
                <a:spcPct val="90000"/>
              </a:lnSpc>
              <a:buFont typeface="Wingdings" pitchFamily="2" charset="2"/>
              <a:buNone/>
            </a:pPr>
            <a:r>
              <a:rPr lang="en-US" sz="4000" b="1"/>
              <a:t>BIOS 16h function calls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BE8D2D5-3D78-4E86-91D4-6F15DD1E8558}"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F022DE01-C0B2-42EF-87A4-5A2C4B08EEC3}" type="slidenum">
              <a:rPr lang="en-US" altLang="en-US" smtClean="0"/>
              <a:pPr>
                <a:defRPr/>
              </a:pPr>
              <a:t>45</a:t>
            </a:fld>
            <a:endParaRPr lang="en-US" altLang="en-US" dirty="0"/>
          </a:p>
        </p:txBody>
      </p:sp>
      <p:sp>
        <p:nvSpPr>
          <p:cNvPr id="113669" name="Content Placeholder 2"/>
          <p:cNvSpPr>
            <a:spLocks noGrp="1"/>
          </p:cNvSpPr>
          <p:nvPr>
            <p:ph idx="1"/>
          </p:nvPr>
        </p:nvSpPr>
        <p:spPr>
          <a:xfrm>
            <a:off x="609600" y="838200"/>
            <a:ext cx="8305800" cy="5521325"/>
          </a:xfrm>
        </p:spPr>
        <p:txBody>
          <a:bodyPr/>
          <a:lstStyle/>
          <a:p>
            <a:pPr>
              <a:buFont typeface="Wingdings" pitchFamily="2" charset="2"/>
              <a:buNone/>
            </a:pPr>
            <a:endParaRPr lang="en-US" sz="2000" b="1"/>
          </a:p>
          <a:p>
            <a:pPr>
              <a:buFont typeface="Wingdings" pitchFamily="2" charset="2"/>
              <a:buNone/>
            </a:pPr>
            <a:r>
              <a:rPr lang="en-US" sz="2000" b="1"/>
              <a:t>int 16h		 	Read character		function 00h</a:t>
            </a:r>
          </a:p>
          <a:p>
            <a:pPr>
              <a:buFont typeface="Wingdings" pitchFamily="2" charset="2"/>
              <a:buNone/>
            </a:pPr>
            <a:endParaRPr lang="en-US" sz="2400"/>
          </a:p>
          <a:p>
            <a:r>
              <a:rPr lang="en-US" sz="2000"/>
              <a:t>This function checks for a character in the keyboard buffer. If available, the scan code is returned in AH, and ASCII value in AL. For function keys (F0 to F12) which have no ASCII values, AL = 0.</a:t>
            </a:r>
          </a:p>
          <a:p>
            <a:r>
              <a:rPr lang="en-US" sz="2000"/>
              <a:t>If no character is available in the keyboard buffer, the function waits for a key press.</a:t>
            </a:r>
          </a:p>
          <a:p>
            <a:r>
              <a:rPr lang="en-US" sz="2000" b="1"/>
              <a:t>Calling parameters</a:t>
            </a:r>
          </a:p>
          <a:p>
            <a:pPr>
              <a:buFont typeface="Wingdings" pitchFamily="2" charset="2"/>
              <a:buNone/>
            </a:pPr>
            <a:r>
              <a:rPr lang="en-US" sz="2000"/>
              <a:t>		AH=00H		</a:t>
            </a:r>
          </a:p>
          <a:p>
            <a:r>
              <a:rPr lang="en-US" sz="2000" b="1"/>
              <a:t>Returns</a:t>
            </a:r>
            <a:r>
              <a:rPr lang="en-US" sz="2000"/>
              <a:t> </a:t>
            </a:r>
          </a:p>
          <a:p>
            <a:pPr>
              <a:buFont typeface="Wingdings" pitchFamily="2" charset="2"/>
              <a:buNone/>
            </a:pPr>
            <a:r>
              <a:rPr lang="en-US" sz="2000"/>
              <a:t>		AL=ASCII value;     AH=scan code</a:t>
            </a:r>
          </a:p>
          <a:p>
            <a:r>
              <a:rPr lang="en-US" sz="2000" b="1"/>
              <a:t>Ex:</a:t>
            </a:r>
          </a:p>
          <a:p>
            <a:pPr>
              <a:lnSpc>
                <a:spcPct val="90000"/>
              </a:lnSpc>
              <a:buFont typeface="Wingdings" pitchFamily="2" charset="2"/>
              <a:buNone/>
            </a:pPr>
            <a:r>
              <a:rPr lang="en-US" sz="2000"/>
              <a:t>MOV AH, 00H</a:t>
            </a:r>
          </a:p>
          <a:p>
            <a:pPr>
              <a:lnSpc>
                <a:spcPct val="90000"/>
              </a:lnSpc>
              <a:buFont typeface="Wingdings" pitchFamily="2" charset="2"/>
              <a:buNone/>
            </a:pPr>
            <a:r>
              <a:rPr lang="en-US" sz="2000"/>
              <a:t>INT 16H</a:t>
            </a:r>
          </a:p>
          <a:p>
            <a:pPr>
              <a:buFont typeface="Wingdings" pitchFamily="2" charset="2"/>
              <a:buNone/>
            </a:pPr>
            <a:endParaRPr lang="en-US" sz="2000"/>
          </a:p>
          <a:p>
            <a:pPr eaLnBrk="1" hangingPunct="1">
              <a:buFont typeface="Wingdings" pitchFamily="2" charset="2"/>
              <a:buNone/>
            </a:pPr>
            <a:endParaRPr lang="en-US" sz="1800"/>
          </a:p>
        </p:txBody>
      </p:sp>
      <p:sp>
        <p:nvSpPr>
          <p:cNvPr id="113670" name="Rectangle 2"/>
          <p:cNvSpPr>
            <a:spLocks noGrp="1" noChangeArrowheads="1"/>
          </p:cNvSpPr>
          <p:nvPr>
            <p:ph type="title"/>
          </p:nvPr>
        </p:nvSpPr>
        <p:spPr>
          <a:xfrm>
            <a:off x="381000" y="228600"/>
            <a:ext cx="7924800" cy="609600"/>
          </a:xfrm>
        </p:spPr>
        <p:txBody>
          <a:bodyPr>
            <a:normAutofit fontScale="90000"/>
          </a:bodyPr>
          <a:lstStyle/>
          <a:p>
            <a:r>
              <a:rPr lang="en-US" sz="3200" b="1"/>
              <a:t>BIOS 16H functions for keyboard control</a:t>
            </a:r>
            <a:br>
              <a:rPr lang="en-US" sz="3200" b="1"/>
            </a:br>
            <a:endParaRPr lang="en-US" sz="3200"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DDCA1D6-853F-427B-921C-C3099164CC8A}"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1A172B21-6757-40CE-BA94-D62B291E90C9}" type="slidenum">
              <a:rPr lang="en-US" altLang="en-US" smtClean="0"/>
              <a:pPr>
                <a:defRPr/>
              </a:pPr>
              <a:t>46</a:t>
            </a:fld>
            <a:endParaRPr lang="en-US" altLang="en-US"/>
          </a:p>
        </p:txBody>
      </p:sp>
      <p:sp>
        <p:nvSpPr>
          <p:cNvPr id="114693" name="Content Placeholder 2"/>
          <p:cNvSpPr>
            <a:spLocks noGrp="1"/>
          </p:cNvSpPr>
          <p:nvPr>
            <p:ph idx="1"/>
          </p:nvPr>
        </p:nvSpPr>
        <p:spPr>
          <a:xfrm>
            <a:off x="609600" y="304800"/>
            <a:ext cx="8305800" cy="5902325"/>
          </a:xfrm>
        </p:spPr>
        <p:txBody>
          <a:bodyPr/>
          <a:lstStyle/>
          <a:p>
            <a:pPr>
              <a:buFont typeface="Wingdings" pitchFamily="2" charset="2"/>
              <a:buNone/>
            </a:pPr>
            <a:r>
              <a:rPr lang="en-US" sz="2000" b="1"/>
              <a:t>int 16h		Read Input Status   			function 01h</a:t>
            </a:r>
            <a:endParaRPr lang="en-US" sz="2400"/>
          </a:p>
          <a:p>
            <a:r>
              <a:rPr lang="en-US" sz="2000"/>
              <a:t>This function is similar to the previous one, except that if no character is available in the keyboard buffer, it does not wait for a key press. It simply sets ZF (ZF = 1) and returns.</a:t>
            </a:r>
          </a:p>
          <a:p>
            <a:endParaRPr lang="en-US" sz="2000" b="1"/>
          </a:p>
          <a:p>
            <a:r>
              <a:rPr lang="en-US" sz="2000" b="1"/>
              <a:t>Calling parameters</a:t>
            </a:r>
          </a:p>
          <a:p>
            <a:pPr>
              <a:buFont typeface="Wingdings" pitchFamily="2" charset="2"/>
              <a:buNone/>
            </a:pPr>
            <a:r>
              <a:rPr lang="en-US" sz="2000"/>
              <a:t>		AH=01H		</a:t>
            </a:r>
          </a:p>
          <a:p>
            <a:r>
              <a:rPr lang="en-US" sz="2000" b="1"/>
              <a:t>Returns</a:t>
            </a:r>
            <a:r>
              <a:rPr lang="en-US" sz="2000"/>
              <a:t> </a:t>
            </a:r>
          </a:p>
          <a:p>
            <a:pPr>
              <a:buFont typeface="Wingdings" pitchFamily="2" charset="2"/>
              <a:buNone/>
            </a:pPr>
            <a:r>
              <a:rPr lang="en-US" sz="2000"/>
              <a:t>	ZF- Set if no key.</a:t>
            </a:r>
            <a:br>
              <a:rPr lang="en-US" sz="2000"/>
            </a:br>
            <a:br>
              <a:rPr lang="en-US" sz="2000"/>
            </a:br>
            <a:r>
              <a:rPr lang="en-US" sz="2000"/>
              <a:t>ZF- Clear if key available.</a:t>
            </a:r>
          </a:p>
          <a:p>
            <a:pPr>
              <a:buFont typeface="Wingdings" pitchFamily="2" charset="2"/>
              <a:buNone/>
            </a:pPr>
            <a:r>
              <a:rPr lang="en-US" sz="2000"/>
              <a:t>	AL=ASCII value;     </a:t>
            </a:r>
          </a:p>
          <a:p>
            <a:pPr>
              <a:buFont typeface="Wingdings" pitchFamily="2" charset="2"/>
              <a:buNone/>
            </a:pPr>
            <a:r>
              <a:rPr lang="en-US" sz="2000"/>
              <a:t>	AH=Scan code</a:t>
            </a:r>
          </a:p>
          <a:p>
            <a:r>
              <a:rPr lang="en-US" sz="2000" b="1"/>
              <a:t>Ex:</a:t>
            </a:r>
          </a:p>
          <a:p>
            <a:pPr>
              <a:lnSpc>
                <a:spcPct val="90000"/>
              </a:lnSpc>
              <a:buFont typeface="Wingdings" pitchFamily="2" charset="2"/>
              <a:buNone/>
            </a:pPr>
            <a:r>
              <a:rPr lang="en-US" sz="2000"/>
              <a:t>MOV AH, 01H</a:t>
            </a:r>
          </a:p>
          <a:p>
            <a:pPr>
              <a:lnSpc>
                <a:spcPct val="90000"/>
              </a:lnSpc>
              <a:buFont typeface="Wingdings" pitchFamily="2" charset="2"/>
              <a:buNone/>
            </a:pPr>
            <a:r>
              <a:rPr lang="en-US" sz="2000"/>
              <a:t>INT 16H</a:t>
            </a:r>
          </a:p>
          <a:p>
            <a:pPr>
              <a:buFont typeface="Wingdings" pitchFamily="2" charset="2"/>
              <a:buNone/>
            </a:pPr>
            <a:endParaRPr lang="en-US" sz="2000"/>
          </a:p>
          <a:p>
            <a:pPr eaLnBrk="1" hangingPunct="1">
              <a:buFont typeface="Wingdings" pitchFamily="2" charset="2"/>
              <a:buNone/>
            </a:pPr>
            <a:endParaRPr lang="en-US" sz="1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p:cNvSpPr>
            <a:spLocks noGrp="1"/>
          </p:cNvSpPr>
          <p:nvPr>
            <p:ph type="title"/>
          </p:nvPr>
        </p:nvSpPr>
        <p:spPr>
          <a:xfrm>
            <a:off x="457200" y="277813"/>
            <a:ext cx="8229600" cy="712787"/>
          </a:xfrm>
        </p:spPr>
        <p:txBody>
          <a:bodyPr>
            <a:normAutofit fontScale="90000"/>
          </a:bodyPr>
          <a:lstStyle/>
          <a:p>
            <a:r>
              <a:rPr lang="en-US"/>
              <a:t>Lab programs</a:t>
            </a:r>
          </a:p>
        </p:txBody>
      </p:sp>
      <p:sp>
        <p:nvSpPr>
          <p:cNvPr id="4" name="Date Placeholder 3"/>
          <p:cNvSpPr>
            <a:spLocks noGrp="1"/>
          </p:cNvSpPr>
          <p:nvPr>
            <p:ph type="dt" sz="quarter" idx="10"/>
          </p:nvPr>
        </p:nvSpPr>
        <p:spPr/>
        <p:txBody>
          <a:bodyPr/>
          <a:lstStyle/>
          <a:p>
            <a:pPr>
              <a:defRPr/>
            </a:pPr>
            <a:fld id="{715DB78D-216D-44E8-97C0-1624801679E3}" type="datetime1">
              <a:rPr lang="en-US" smtClean="0"/>
              <a:pPr>
                <a:defRPr/>
              </a:pPr>
              <a:t>4/1/2025</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90FE624B-EB32-4853-A038-B93F36AB999B}" type="slidenum">
              <a:rPr lang="en-US" altLang="en-US" smtClean="0"/>
              <a:pPr>
                <a:defRPr/>
              </a:pPr>
              <a:t>47</a:t>
            </a:fld>
            <a:endParaRPr lang="en-US" altLang="en-US"/>
          </a:p>
        </p:txBody>
      </p:sp>
      <p:sp>
        <p:nvSpPr>
          <p:cNvPr id="7" name="Rectangle 3"/>
          <p:cNvSpPr txBox="1">
            <a:spLocks noChangeArrowheads="1"/>
          </p:cNvSpPr>
          <p:nvPr/>
        </p:nvSpPr>
        <p:spPr bwMode="auto">
          <a:xfrm>
            <a:off x="457200" y="1260475"/>
            <a:ext cx="8229600" cy="5140325"/>
          </a:xfrm>
          <a:prstGeom prst="rect">
            <a:avLst/>
          </a:prstGeom>
          <a:noFill/>
          <a:ln w="9525">
            <a:noFill/>
            <a:miter lim="800000"/>
            <a:headEnd/>
            <a:tailEnd/>
          </a:ln>
        </p:spPr>
        <p:txBody>
          <a:bodyPr/>
          <a:lstStyle/>
          <a:p>
            <a:pPr marL="342900" indent="-342900" eaLnBrk="0" hangingPunct="0">
              <a:spcBef>
                <a:spcPct val="20000"/>
              </a:spcBef>
              <a:buClr>
                <a:schemeClr val="accent1"/>
              </a:buClr>
              <a:buSzPct val="65000"/>
              <a:buFont typeface="Wingdings" pitchFamily="2" charset="2"/>
              <a:buNone/>
              <a:defRPr/>
            </a:pPr>
            <a:r>
              <a:rPr lang="en-US" sz="2400" b="1" i="1" kern="0" dirty="0">
                <a:latin typeface="+mn-lt"/>
              </a:rPr>
              <a:t>USING DOS 21H</a:t>
            </a:r>
          </a:p>
          <a:p>
            <a:pPr marL="342900" indent="-342900" eaLnBrk="0" hangingPunct="0">
              <a:spcBef>
                <a:spcPct val="20000"/>
              </a:spcBef>
              <a:buClr>
                <a:schemeClr val="accent1"/>
              </a:buClr>
              <a:buSzPct val="65000"/>
              <a:buFont typeface="Wingdings" pitchFamily="2" charset="2"/>
              <a:buNone/>
              <a:defRPr/>
            </a:pPr>
            <a:endParaRPr lang="en-US" sz="2400" b="1" i="1" kern="0" dirty="0">
              <a:latin typeface="+mn-lt"/>
            </a:endParaRPr>
          </a:p>
          <a:p>
            <a:pPr marL="342900" indent="-342900" eaLnBrk="0" hangingPunct="0">
              <a:spcBef>
                <a:spcPct val="20000"/>
              </a:spcBef>
              <a:buClr>
                <a:schemeClr val="accent1"/>
              </a:buClr>
              <a:buSzPct val="65000"/>
              <a:defRPr/>
            </a:pPr>
            <a:r>
              <a:rPr lang="en-US" sz="3200" kern="0" dirty="0">
                <a:latin typeface="+mn-lt"/>
              </a:rPr>
              <a:t>6.Program to create a file (input file) and to delete an existing file.</a:t>
            </a:r>
          </a:p>
          <a:p>
            <a:pPr marL="342900" indent="-342900" eaLnBrk="0" hangingPunct="0">
              <a:spcBef>
                <a:spcPct val="20000"/>
              </a:spcBef>
              <a:buClr>
                <a:schemeClr val="accent1"/>
              </a:buClr>
              <a:buSzPct val="65000"/>
              <a:buFont typeface="Wingdings" pitchFamily="2" charset="2"/>
              <a:buChar char="n"/>
              <a:defRPr/>
            </a:pPr>
            <a:endParaRPr lang="en-US" sz="3200" kern="0" dirty="0">
              <a:latin typeface="+mn-lt"/>
            </a:endParaRPr>
          </a:p>
          <a:p>
            <a:pPr marL="342900" indent="-342900" eaLnBrk="0" hangingPunct="0">
              <a:spcBef>
                <a:spcPct val="20000"/>
              </a:spcBef>
              <a:buClr>
                <a:schemeClr val="accent1"/>
              </a:buClr>
              <a:buSzPct val="65000"/>
              <a:defRPr/>
            </a:pPr>
            <a:r>
              <a:rPr lang="en-US" sz="3200" dirty="0"/>
              <a:t>7.Read the current time from the system and display it in the standard format on the screen.(HH:MM:SEC.MSEC)</a:t>
            </a:r>
            <a:br>
              <a:rPr lang="en-US" sz="3200" dirty="0"/>
            </a:br>
            <a:r>
              <a:rPr lang="en-US" sz="3200" dirty="0"/>
              <a:t>ex:10:09:47.95</a:t>
            </a:r>
            <a:endParaRPr lang="en-US" sz="3200" b="1" kern="0" dirty="0">
              <a:latin typeface="+mn-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3671</Words>
  <Application>Microsoft Office PowerPoint</Application>
  <PresentationFormat>On-screen Show (4:3)</PresentationFormat>
  <Paragraphs>738</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Cambria Math</vt:lpstr>
      <vt:lpstr>Monotype Corsiva</vt:lpstr>
      <vt:lpstr>Wingdings</vt:lpstr>
      <vt:lpstr>Office Theme</vt:lpstr>
      <vt:lpstr>Using the Key Board and Video Display</vt:lpstr>
      <vt:lpstr>Using keyboard and video display  (DOS 21H functions, BIOS 10H functions)       </vt:lpstr>
      <vt:lpstr>DOS(Disk Operating System) 21H SEVICES</vt:lpstr>
      <vt:lpstr>1.Description of commonly used character input functions</vt:lpstr>
      <vt:lpstr>PowerPoint Presentation</vt:lpstr>
      <vt:lpstr>PowerPoint Presentation</vt:lpstr>
      <vt:lpstr>PowerPoint Presentation</vt:lpstr>
      <vt:lpstr>PowerPoint Presentation</vt:lpstr>
      <vt:lpstr>2.Writing to video display : (display functions)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3.File Handling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BIOS(Basic Input Output System)10H function calls</vt:lpstr>
      <vt:lpstr>BIOS 10H functions for video </vt:lpstr>
      <vt:lpstr>PowerPoint Presentation</vt:lpstr>
      <vt:lpstr>PowerPoint Presentation</vt:lpstr>
      <vt:lpstr>PowerPoint Presentation</vt:lpstr>
      <vt:lpstr>PowerPoint Presentation</vt:lpstr>
      <vt:lpstr>BIOS 16h function calls</vt:lpstr>
      <vt:lpstr>BIOS 16H functions for keyboard control </vt:lpstr>
      <vt:lpstr>PowerPoint Presentation</vt:lpstr>
      <vt:lpstr>Lab programs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the Key Board and Video Display</dc:title>
  <dc:creator>shilpa m k</dc:creator>
  <cp:lastModifiedBy>ShilpaMK</cp:lastModifiedBy>
  <cp:revision>10</cp:revision>
  <dcterms:created xsi:type="dcterms:W3CDTF">2017-07-28T06:26:11Z</dcterms:created>
  <dcterms:modified xsi:type="dcterms:W3CDTF">2025-04-01T10:42:52Z</dcterms:modified>
</cp:coreProperties>
</file>