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108C-FB67-4CFC-A00A-B321E02F0FB0}" type="datetimeFigureOut">
              <a:rPr lang="en-IN" smtClean="0"/>
              <a:pPr/>
              <a:t>25-02-2019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1ED3-6882-45B6-8DB6-5C40BC9364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108C-FB67-4CFC-A00A-B321E02F0FB0}" type="datetimeFigureOut">
              <a:rPr lang="en-IN" smtClean="0"/>
              <a:pPr/>
              <a:t>25-02-2019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1ED3-6882-45B6-8DB6-5C40BC9364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108C-FB67-4CFC-A00A-B321E02F0FB0}" type="datetimeFigureOut">
              <a:rPr lang="en-IN" smtClean="0"/>
              <a:pPr/>
              <a:t>25-02-2019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1ED3-6882-45B6-8DB6-5C40BC9364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108C-FB67-4CFC-A00A-B321E02F0FB0}" type="datetimeFigureOut">
              <a:rPr lang="en-IN" smtClean="0"/>
              <a:pPr/>
              <a:t>25-02-2019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1ED3-6882-45B6-8DB6-5C40BC9364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108C-FB67-4CFC-A00A-B321E02F0FB0}" type="datetimeFigureOut">
              <a:rPr lang="en-IN" smtClean="0"/>
              <a:pPr/>
              <a:t>25-02-2019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1ED3-6882-45B6-8DB6-5C40BC9364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108C-FB67-4CFC-A00A-B321E02F0FB0}" type="datetimeFigureOut">
              <a:rPr lang="en-IN" smtClean="0"/>
              <a:pPr/>
              <a:t>25-02-2019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1ED3-6882-45B6-8DB6-5C40BC9364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108C-FB67-4CFC-A00A-B321E02F0FB0}" type="datetimeFigureOut">
              <a:rPr lang="en-IN" smtClean="0"/>
              <a:pPr/>
              <a:t>25-02-2019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1ED3-6882-45B6-8DB6-5C40BC9364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108C-FB67-4CFC-A00A-B321E02F0FB0}" type="datetimeFigureOut">
              <a:rPr lang="en-IN" smtClean="0"/>
              <a:pPr/>
              <a:t>25-02-2019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1ED3-6882-45B6-8DB6-5C40BC9364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108C-FB67-4CFC-A00A-B321E02F0FB0}" type="datetimeFigureOut">
              <a:rPr lang="en-IN" smtClean="0"/>
              <a:pPr/>
              <a:t>25-02-2019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1ED3-6882-45B6-8DB6-5C40BC9364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108C-FB67-4CFC-A00A-B321E02F0FB0}" type="datetimeFigureOut">
              <a:rPr lang="en-IN" smtClean="0"/>
              <a:pPr/>
              <a:t>25-02-2019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1ED3-6882-45B6-8DB6-5C40BC9364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108C-FB67-4CFC-A00A-B321E02F0FB0}" type="datetimeFigureOut">
              <a:rPr lang="en-IN" smtClean="0"/>
              <a:pPr/>
              <a:t>25-02-2019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1ED3-6882-45B6-8DB6-5C40BC93642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9108C-FB67-4CFC-A00A-B321E02F0FB0}" type="datetimeFigureOut">
              <a:rPr lang="en-IN" smtClean="0"/>
              <a:pPr/>
              <a:t>25-02-2019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41ED3-6882-45B6-8DB6-5C40BC936426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332656"/>
            <a:ext cx="7772400" cy="1470025"/>
          </a:xfrm>
        </p:spPr>
        <p:txBody>
          <a:bodyPr/>
          <a:lstStyle/>
          <a:p>
            <a:r>
              <a:rPr lang="en-GB" b="1" dirty="0" smtClean="0">
                <a:latin typeface="Cambria Math" pitchFamily="18" charset="0"/>
                <a:ea typeface="Cambria Math" pitchFamily="18" charset="0"/>
              </a:rPr>
              <a:t>Data Conversions</a:t>
            </a:r>
            <a:endParaRPr lang="en-IN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1988840"/>
            <a:ext cx="7088832" cy="364996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GB" b="1" dirty="0" smtClean="0">
                <a:solidFill>
                  <a:srgbClr val="C00000"/>
                </a:solidFill>
              </a:rPr>
              <a:t>ASCII </a:t>
            </a:r>
            <a:r>
              <a:rPr lang="en-GB" b="1" dirty="0">
                <a:solidFill>
                  <a:srgbClr val="C00000"/>
                </a:solidFill>
              </a:rPr>
              <a:t>to </a:t>
            </a:r>
            <a:r>
              <a:rPr lang="en-GB" b="1" dirty="0" smtClean="0">
                <a:solidFill>
                  <a:srgbClr val="C00000"/>
                </a:solidFill>
              </a:rPr>
              <a:t>BCD/Hexadecimal</a:t>
            </a:r>
          </a:p>
          <a:p>
            <a:pPr algn="just">
              <a:buFont typeface="Wingdings" pitchFamily="2" charset="2"/>
              <a:buChar char="Ø"/>
            </a:pPr>
            <a:r>
              <a:rPr lang="en-GB" b="1" dirty="0" smtClean="0">
                <a:solidFill>
                  <a:srgbClr val="C00000"/>
                </a:solidFill>
              </a:rPr>
              <a:t>BCD/Hexadecimal </a:t>
            </a:r>
            <a:r>
              <a:rPr lang="en-GB" b="1" dirty="0">
                <a:solidFill>
                  <a:srgbClr val="C00000"/>
                </a:solidFill>
              </a:rPr>
              <a:t>to </a:t>
            </a:r>
            <a:r>
              <a:rPr lang="en-GB" b="1" dirty="0" smtClean="0">
                <a:solidFill>
                  <a:srgbClr val="C00000"/>
                </a:solidFill>
              </a:rPr>
              <a:t>ASCII</a:t>
            </a:r>
          </a:p>
          <a:p>
            <a:pPr algn="just">
              <a:buFont typeface="Wingdings" pitchFamily="2" charset="2"/>
              <a:buChar char="Ø"/>
            </a:pPr>
            <a:r>
              <a:rPr lang="en-GB" b="1" dirty="0" smtClean="0">
                <a:solidFill>
                  <a:srgbClr val="C00000"/>
                </a:solidFill>
              </a:rPr>
              <a:t>8 </a:t>
            </a:r>
            <a:r>
              <a:rPr lang="en-GB" b="1" dirty="0">
                <a:solidFill>
                  <a:srgbClr val="C00000"/>
                </a:solidFill>
              </a:rPr>
              <a:t>bit BCD to </a:t>
            </a:r>
            <a:r>
              <a:rPr lang="en-GB" b="1" dirty="0" smtClean="0">
                <a:solidFill>
                  <a:srgbClr val="C00000"/>
                </a:solidFill>
              </a:rPr>
              <a:t>Hexadecimal</a:t>
            </a:r>
          </a:p>
          <a:p>
            <a:pPr algn="just">
              <a:buFont typeface="Wingdings" pitchFamily="2" charset="2"/>
              <a:buChar char="Ø"/>
            </a:pPr>
            <a:r>
              <a:rPr lang="en-GB" b="1" dirty="0" smtClean="0">
                <a:solidFill>
                  <a:srgbClr val="C00000"/>
                </a:solidFill>
              </a:rPr>
              <a:t> </a:t>
            </a:r>
            <a:r>
              <a:rPr lang="en-GB" b="1" dirty="0">
                <a:solidFill>
                  <a:srgbClr val="C00000"/>
                </a:solidFill>
              </a:rPr>
              <a:t>8 bit Hexadecimal to BCD.</a:t>
            </a:r>
            <a:endParaRPr lang="en-IN" b="1" dirty="0">
              <a:solidFill>
                <a:srgbClr val="C00000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381000" y="1981200"/>
            <a:ext cx="8229600" cy="28194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smtClean="0">
                <a:solidFill>
                  <a:srgbClr val="990033"/>
                </a:solidFill>
                <a:latin typeface="Comic Sans MS" pitchFamily="66" charset="0"/>
              </a:rPr>
              <a:t>1. ASCII to BCD/HEXA…</a:t>
            </a:r>
            <a:br>
              <a:rPr lang="en-US" sz="4400" smtClean="0">
                <a:solidFill>
                  <a:srgbClr val="990033"/>
                </a:solidFill>
                <a:latin typeface="Comic Sans MS" pitchFamily="66" charset="0"/>
              </a:rPr>
            </a:br>
            <a:r>
              <a:rPr lang="en-US" sz="4400" smtClean="0">
                <a:solidFill>
                  <a:srgbClr val="990033"/>
                </a:solidFill>
                <a:latin typeface="Comic Sans MS" pitchFamily="66" charset="0"/>
              </a:rPr>
              <a:t/>
            </a:r>
            <a:br>
              <a:rPr lang="en-US" sz="4400" smtClean="0">
                <a:solidFill>
                  <a:srgbClr val="990033"/>
                </a:solidFill>
                <a:latin typeface="Comic Sans MS" pitchFamily="66" charset="0"/>
              </a:rPr>
            </a:br>
            <a:r>
              <a:rPr lang="en-US" sz="3200" smtClean="0">
                <a:solidFill>
                  <a:srgbClr val="990033"/>
                </a:solidFill>
                <a:latin typeface="Comic Sans MS" pitchFamily="66" charset="0"/>
              </a:rPr>
              <a:t>(Used to read numbers(BCD/HEXA) from keyboard)</a:t>
            </a:r>
            <a:r>
              <a:rPr lang="en-US" sz="4400" smtClean="0">
                <a:solidFill>
                  <a:srgbClr val="990033"/>
                </a:solidFill>
                <a:latin typeface="Comic Sans MS" pitchFamily="66" charset="0"/>
              </a:rPr>
              <a:t/>
            </a:r>
            <a:br>
              <a:rPr lang="en-US" sz="4400" smtClean="0">
                <a:solidFill>
                  <a:srgbClr val="990033"/>
                </a:solidFill>
                <a:latin typeface="Comic Sans MS" pitchFamily="66" charset="0"/>
              </a:rPr>
            </a:br>
            <a:endParaRPr lang="en-US" smtClean="0">
              <a:solidFill>
                <a:srgbClr val="990033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014CDB-C52D-4B8C-8B81-63AEA3BC78FB}" type="datetime1">
              <a:rPr lang="en-US" smtClean="0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ROSHAN FERNANDES, DEPT OF CSE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F16CF3-C664-4745-A360-A31CDE797DAF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F6305AF-C467-425D-A87C-DA68F6832410}" type="datetime1">
              <a:rPr lang="en-US" smtClean="0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ROSHAN FERNANDES, DEPT OF CSE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6C8262-8071-4CD5-A301-ED6CFC5745F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000" y="228600"/>
          <a:ext cx="8229600" cy="5847080"/>
        </p:xfrm>
        <a:graphic>
          <a:graphicData uri="http://schemas.openxmlformats.org/drawingml/2006/table">
            <a:tbl>
              <a:tblPr/>
              <a:tblGrid>
                <a:gridCol w="2743200"/>
                <a:gridCol w="3021457"/>
                <a:gridCol w="2464943"/>
              </a:tblGrid>
              <a:tr h="482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ASCII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HEX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</a:rPr>
                        <a:t>SYMBOL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32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30H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</a:tr>
              <a:tr h="332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31H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</a:tr>
              <a:tr h="332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32H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</a:tr>
              <a:tr h="3304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33H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</a:tr>
              <a:tr h="332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34H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</a:tr>
              <a:tr h="332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35H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</a:tr>
              <a:tr h="3304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36H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</a:tr>
              <a:tr h="332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37H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</a:tr>
              <a:tr h="332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38H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</a:tr>
              <a:tr h="332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57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39H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</a:tr>
              <a:tr h="3304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41H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</a:tr>
              <a:tr h="332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42H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</a:tr>
              <a:tr h="332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43H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</a:tr>
              <a:tr h="332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68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44H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</a:tr>
              <a:tr h="3304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45H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CDECB"/>
                    </a:solidFill>
                  </a:tcPr>
                </a:tc>
              </a:tr>
              <a:tr h="332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46H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6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497C5BF-B3C5-4455-AC2B-0EB041FFAA24}" type="datetime1">
              <a:rPr lang="en-US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ROSHAN FERNANDES, DEPT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AB1F06-1E18-46A2-A4C8-084C81760C10}" type="slidenum">
              <a:rPr lang="en-US" altLang="en-US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017587"/>
          </a:xfrm>
        </p:spPr>
        <p:txBody>
          <a:bodyPr/>
          <a:lstStyle/>
          <a:p>
            <a:pPr eaLnBrk="1" hangingPunct="1"/>
            <a:r>
              <a:rPr lang="en-US" sz="3800" smtClean="0">
                <a:latin typeface="Comic Sans MS" pitchFamily="66" charset="0"/>
              </a:rPr>
              <a:t>Converting 2 ASCII codes to BCD</a:t>
            </a: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800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sz="2800" smtClean="0">
                <a:latin typeface="Comic Sans MS" pitchFamily="66" charset="0"/>
              </a:rPr>
              <a:t>Convert first ASCII number to unpacked BCD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smtClean="0">
              <a:latin typeface="Comic Sans MS" pitchFamily="66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sz="2800" smtClean="0">
                <a:latin typeface="Comic Sans MS" pitchFamily="66" charset="0"/>
              </a:rPr>
              <a:t>Convert second ASCII number to unpacked BCD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smtClean="0">
              <a:latin typeface="Comic Sans MS" pitchFamily="66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sz="2800" smtClean="0">
                <a:latin typeface="Comic Sans MS" pitchFamily="66" charset="0"/>
              </a:rPr>
              <a:t>Move first BCD nibble to upper nibble position in byte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smtClean="0">
              <a:latin typeface="Comic Sans MS" pitchFamily="66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sz="2800" smtClean="0">
                <a:latin typeface="Comic Sans MS" pitchFamily="66" charset="0"/>
              </a:rPr>
              <a:t>Pack two BCD nibbles in one byte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BD8B8B6-DE41-4232-82E3-E13A784479CC}" type="datetime1">
              <a:rPr lang="en-US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ROSHAN FERNANDES, DEPT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FE94BA-F9C5-4092-B86E-38EADA34A62E}" type="slidenum">
              <a:rPr lang="en-US" altLang="en-US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/>
            <a:r>
              <a:rPr lang="en-US" sz="3800" smtClean="0">
                <a:latin typeface="Comic Sans MS" pitchFamily="66" charset="0"/>
              </a:rPr>
              <a:t>Example… 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724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latin typeface="Comic Sans MS" pitchFamily="66" charset="0"/>
              </a:rPr>
              <a:t>	MOV BL, ‘5’		; ASCII OF ‘5’ (35H)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latin typeface="Comic Sans MS" pitchFamily="66" charset="0"/>
              </a:rPr>
              <a:t>	MOV AL, ‘9’		; ASCII OF ‘9’ (39H)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latin typeface="Comic Sans MS" pitchFamily="66" charset="0"/>
              </a:rPr>
              <a:t>	AND BL, 0FH		; NOW BL=05H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latin typeface="Comic Sans MS" pitchFamily="66" charset="0"/>
              </a:rPr>
              <a:t>	AND AL, 0FH		; NOW AL=09H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latin typeface="Comic Sans MS" pitchFamily="66" charset="0"/>
              </a:rPr>
              <a:t>	MOV CL, 04H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latin typeface="Comic Sans MS" pitchFamily="66" charset="0"/>
              </a:rPr>
              <a:t>	SHL BL, CL		; NOW BL=50H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latin typeface="Comic Sans MS" pitchFamily="66" charset="0"/>
              </a:rPr>
              <a:t>	OR  AL, BL		; NOW AL=59H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latin typeface="Comic Sans MS" pitchFamily="66" charset="0"/>
              </a:rPr>
              <a:t>	;Otherwise ADD AL, BL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3200" smtClean="0">
                <a:latin typeface="Comic Sans MS" pitchFamily="66" charset="0"/>
              </a:rPr>
              <a:t>Reading 2 digit (8-bit) BCD number from keyboard and store in AL…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52600"/>
            <a:ext cx="3276600" cy="43783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mtClean="0">
                <a:latin typeface="Comic Sans MS" pitchFamily="66" charset="0"/>
              </a:rPr>
              <a:t>MOV AH, 01H</a:t>
            </a:r>
          </a:p>
          <a:p>
            <a:pPr>
              <a:buFont typeface="Wingdings" pitchFamily="2" charset="2"/>
              <a:buNone/>
            </a:pPr>
            <a:r>
              <a:rPr lang="en-US" smtClean="0">
                <a:latin typeface="Comic Sans MS" pitchFamily="66" charset="0"/>
              </a:rPr>
              <a:t>INT 21H</a:t>
            </a:r>
          </a:p>
          <a:p>
            <a:pPr>
              <a:buFont typeface="Wingdings" pitchFamily="2" charset="2"/>
              <a:buNone/>
            </a:pPr>
            <a:endParaRPr lang="en-US" smtClean="0">
              <a:latin typeface="Comic Sans MS" pitchFamily="66" charset="0"/>
            </a:endParaRPr>
          </a:p>
          <a:p>
            <a:pPr>
              <a:buFont typeface="Wingdings" pitchFamily="2" charset="2"/>
              <a:buNone/>
            </a:pPr>
            <a:r>
              <a:rPr lang="en-US" smtClean="0">
                <a:latin typeface="Comic Sans MS" pitchFamily="66" charset="0"/>
              </a:rPr>
              <a:t>MOV CL, 04</a:t>
            </a:r>
          </a:p>
          <a:p>
            <a:pPr>
              <a:buFont typeface="Wingdings" pitchFamily="2" charset="2"/>
              <a:buNone/>
            </a:pPr>
            <a:r>
              <a:rPr lang="en-US" smtClean="0">
                <a:latin typeface="Comic Sans MS" pitchFamily="66" charset="0"/>
              </a:rPr>
              <a:t>SHL AL, CL</a:t>
            </a:r>
          </a:p>
          <a:p>
            <a:pPr>
              <a:buFont typeface="Wingdings" pitchFamily="2" charset="2"/>
              <a:buNone/>
            </a:pPr>
            <a:r>
              <a:rPr lang="en-US" smtClean="0">
                <a:latin typeface="Comic Sans MS" pitchFamily="66" charset="0"/>
              </a:rPr>
              <a:t>MOV BL, 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014CDB-C52D-4B8C-8B81-63AEA3BC78FB}" type="datetime1">
              <a:rPr lang="en-US" smtClean="0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ROSHAN FERNANDES, DEPT OF CSE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1E5E94-3D88-4584-B867-94825361E024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800600" y="1828800"/>
            <a:ext cx="3276600" cy="437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sz="3000" kern="0" dirty="0">
                <a:latin typeface="Comic Sans MS" pitchFamily="66" charset="0"/>
              </a:rPr>
              <a:t>MOV AH, 01H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sz="3000" kern="0" dirty="0">
                <a:latin typeface="Comic Sans MS" pitchFamily="66" charset="0"/>
              </a:rPr>
              <a:t>INT 21H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endParaRPr lang="en-US" sz="3000" kern="0" dirty="0">
              <a:latin typeface="Comic Sans MS" pitchFamily="66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sz="3000" kern="0" dirty="0">
                <a:latin typeface="Comic Sans MS" pitchFamily="66" charset="0"/>
              </a:rPr>
              <a:t>AND AL, 0FH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sz="3000" kern="0" dirty="0">
                <a:latin typeface="Comic Sans MS" pitchFamily="66" charset="0"/>
              </a:rPr>
              <a:t>ADD AL, BL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3200" smtClean="0">
                <a:latin typeface="Comic Sans MS" pitchFamily="66" charset="0"/>
              </a:rPr>
              <a:t>Reading 2 digit (8-bit) HEXA number from keyboard and store in AL…</a:t>
            </a:r>
            <a:endParaRPr lang="en-US" sz="320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95400"/>
            <a:ext cx="3352800" cy="49530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smtClean="0">
                <a:latin typeface="Comic Sans MS" pitchFamily="66" charset="0"/>
              </a:rPr>
              <a:t>MOV AH, 01H</a:t>
            </a:r>
          </a:p>
          <a:p>
            <a:pPr>
              <a:buFont typeface="Wingdings" pitchFamily="2" charset="2"/>
              <a:buNone/>
            </a:pPr>
            <a:r>
              <a:rPr lang="en-US" sz="2400" smtClean="0">
                <a:latin typeface="Comic Sans MS" pitchFamily="66" charset="0"/>
              </a:rPr>
              <a:t>INT 21H</a:t>
            </a:r>
          </a:p>
          <a:p>
            <a:pPr>
              <a:buFont typeface="Wingdings" pitchFamily="2" charset="2"/>
              <a:buNone/>
            </a:pPr>
            <a:endParaRPr lang="en-US" sz="2400" smtClean="0">
              <a:latin typeface="Comic Sans MS" pitchFamily="66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smtClean="0">
                <a:latin typeface="Comic Sans MS" pitchFamily="66" charset="0"/>
              </a:rPr>
              <a:t>CMP AL, 39H</a:t>
            </a:r>
          </a:p>
          <a:p>
            <a:pPr>
              <a:buFont typeface="Wingdings" pitchFamily="2" charset="2"/>
              <a:buNone/>
            </a:pPr>
            <a:r>
              <a:rPr lang="en-US" sz="2400" smtClean="0">
                <a:latin typeface="Comic Sans MS" pitchFamily="66" charset="0"/>
              </a:rPr>
              <a:t>JBE L1</a:t>
            </a:r>
          </a:p>
          <a:p>
            <a:pPr>
              <a:buFont typeface="Wingdings" pitchFamily="2" charset="2"/>
              <a:buNone/>
            </a:pPr>
            <a:r>
              <a:rPr lang="en-US" sz="2400" smtClean="0">
                <a:latin typeface="Comic Sans MS" pitchFamily="66" charset="0"/>
              </a:rPr>
              <a:t>ADD AL, 09H</a:t>
            </a:r>
          </a:p>
          <a:p>
            <a:pPr>
              <a:buFont typeface="Wingdings" pitchFamily="2" charset="2"/>
              <a:buNone/>
            </a:pPr>
            <a:r>
              <a:rPr lang="en-US" sz="2400" smtClean="0">
                <a:latin typeface="Comic Sans MS" pitchFamily="66" charset="0"/>
              </a:rPr>
              <a:t>L1:</a:t>
            </a:r>
          </a:p>
          <a:p>
            <a:pPr>
              <a:buFont typeface="Wingdings" pitchFamily="2" charset="2"/>
              <a:buNone/>
            </a:pPr>
            <a:r>
              <a:rPr lang="en-US" sz="2400" smtClean="0">
                <a:latin typeface="Comic Sans MS" pitchFamily="66" charset="0"/>
              </a:rPr>
              <a:t>	</a:t>
            </a:r>
          </a:p>
          <a:p>
            <a:pPr>
              <a:buFont typeface="Wingdings" pitchFamily="2" charset="2"/>
              <a:buNone/>
            </a:pPr>
            <a:r>
              <a:rPr lang="en-US" sz="2400" smtClean="0">
                <a:latin typeface="Comic Sans MS" pitchFamily="66" charset="0"/>
              </a:rPr>
              <a:t>MOV CL, 04</a:t>
            </a:r>
          </a:p>
          <a:p>
            <a:pPr>
              <a:buFont typeface="Wingdings" pitchFamily="2" charset="2"/>
              <a:buNone/>
            </a:pPr>
            <a:r>
              <a:rPr lang="en-US" sz="2400" smtClean="0">
                <a:latin typeface="Comic Sans MS" pitchFamily="66" charset="0"/>
              </a:rPr>
              <a:t>SHL AL, CL</a:t>
            </a:r>
          </a:p>
          <a:p>
            <a:pPr>
              <a:buFont typeface="Wingdings" pitchFamily="2" charset="2"/>
              <a:buNone/>
            </a:pPr>
            <a:r>
              <a:rPr lang="en-US" sz="2400" smtClean="0">
                <a:latin typeface="Comic Sans MS" pitchFamily="66" charset="0"/>
              </a:rPr>
              <a:t>MOV BL, 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014CDB-C52D-4B8C-8B81-63AEA3BC78FB}" type="datetime1">
              <a:rPr lang="en-US" smtClean="0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ROSHAN FERNANDES, DEPT OF CSE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ACB663-BDB7-49C5-971A-7F8590E74EBC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4800600" y="1676400"/>
            <a:ext cx="4114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sz="2400" kern="0" dirty="0">
                <a:latin typeface="Comic Sans MS" pitchFamily="66" charset="0"/>
              </a:rPr>
              <a:t>MOV AH, 01H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sz="2400" kern="0" dirty="0">
                <a:latin typeface="Comic Sans MS" pitchFamily="66" charset="0"/>
              </a:rPr>
              <a:t>INT 21H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endParaRPr lang="en-US" sz="2400" kern="0" dirty="0">
              <a:latin typeface="Comic Sans MS" pitchFamily="66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sz="2400" kern="0" dirty="0">
                <a:latin typeface="Comic Sans MS" pitchFamily="66" charset="0"/>
              </a:rPr>
              <a:t>CMP AL, 39H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sz="2400" kern="0" dirty="0">
                <a:latin typeface="Comic Sans MS" pitchFamily="66" charset="0"/>
              </a:rPr>
              <a:t>JBE L2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sz="2400" kern="0" dirty="0">
                <a:latin typeface="Comic Sans MS" pitchFamily="66" charset="0"/>
              </a:rPr>
              <a:t>ADD AL, 09H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sz="2400" kern="0" dirty="0">
                <a:latin typeface="Comic Sans MS" pitchFamily="66" charset="0"/>
              </a:rPr>
              <a:t>L2:	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sz="2400" kern="0" dirty="0">
                <a:latin typeface="Comic Sans MS" pitchFamily="66" charset="0"/>
              </a:rPr>
              <a:t>AND AL, 0FH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sz="2400" kern="0" dirty="0">
                <a:latin typeface="Comic Sans MS" pitchFamily="66" charset="0"/>
              </a:rPr>
              <a:t>ADD AL, BL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381000" y="1981200"/>
            <a:ext cx="8229600" cy="2819400"/>
          </a:xfrm>
        </p:spPr>
        <p:txBody>
          <a:bodyPr/>
          <a:lstStyle/>
          <a:p>
            <a:pPr algn="ctr"/>
            <a:r>
              <a:rPr lang="en-US" sz="4400" smtClean="0">
                <a:solidFill>
                  <a:srgbClr val="990033"/>
                </a:solidFill>
                <a:latin typeface="Comic Sans MS" pitchFamily="66" charset="0"/>
              </a:rPr>
              <a:t>2. BCD/HEXA to ASCII…</a:t>
            </a:r>
            <a:br>
              <a:rPr lang="en-US" sz="4400" smtClean="0">
                <a:solidFill>
                  <a:srgbClr val="990033"/>
                </a:solidFill>
                <a:latin typeface="Comic Sans MS" pitchFamily="66" charset="0"/>
              </a:rPr>
            </a:br>
            <a:r>
              <a:rPr lang="en-US" sz="4400" smtClean="0">
                <a:solidFill>
                  <a:srgbClr val="990033"/>
                </a:solidFill>
                <a:latin typeface="Comic Sans MS" pitchFamily="66" charset="0"/>
              </a:rPr>
              <a:t/>
            </a:r>
            <a:br>
              <a:rPr lang="en-US" sz="4400" smtClean="0">
                <a:solidFill>
                  <a:srgbClr val="990033"/>
                </a:solidFill>
                <a:latin typeface="Comic Sans MS" pitchFamily="66" charset="0"/>
              </a:rPr>
            </a:br>
            <a:r>
              <a:rPr lang="en-US" sz="3200" smtClean="0">
                <a:solidFill>
                  <a:srgbClr val="990033"/>
                </a:solidFill>
                <a:latin typeface="Comic Sans MS" pitchFamily="66" charset="0"/>
              </a:rPr>
              <a:t>(Used to display numbers(BCD/HEXA))</a:t>
            </a:r>
            <a:r>
              <a:rPr lang="en-US" sz="4400" smtClean="0">
                <a:solidFill>
                  <a:srgbClr val="990033"/>
                </a:solidFill>
                <a:latin typeface="Comic Sans MS" pitchFamily="66" charset="0"/>
              </a:rPr>
              <a:t/>
            </a:r>
            <a:br>
              <a:rPr lang="en-US" sz="4400" smtClean="0">
                <a:solidFill>
                  <a:srgbClr val="990033"/>
                </a:solidFill>
                <a:latin typeface="Comic Sans MS" pitchFamily="66" charset="0"/>
              </a:rPr>
            </a:br>
            <a:endParaRPr lang="en-US" smtClean="0">
              <a:solidFill>
                <a:srgbClr val="990033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014CDB-C52D-4B8C-8B81-63AEA3BC78FB}" type="datetime1">
              <a:rPr lang="en-US" smtClean="0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ROSHAN FERNANDES, DEPT OF CSE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27D69B-2DE4-44C0-B51D-898D2E4472A4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3200" smtClean="0">
                <a:latin typeface="Comic Sans MS" pitchFamily="66" charset="0"/>
              </a:rPr>
              <a:t>Displaying a 2 digit (8-bit) BCD number which is stored in BL…</a:t>
            </a:r>
            <a:endParaRPr lang="en-US" sz="320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9475" y="1730375"/>
            <a:ext cx="3581400" cy="46069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pt-BR" sz="2600" smtClean="0">
                <a:latin typeface="Comic Sans MS" pitchFamily="66" charset="0"/>
              </a:rPr>
              <a:t>MOV DL, BL</a:t>
            </a:r>
          </a:p>
          <a:p>
            <a:pPr>
              <a:buFont typeface="Wingdings" pitchFamily="2" charset="2"/>
              <a:buNone/>
            </a:pPr>
            <a:endParaRPr lang="pt-BR" sz="2600" smtClean="0">
              <a:latin typeface="Comic Sans MS" pitchFamily="66" charset="0"/>
            </a:endParaRPr>
          </a:p>
          <a:p>
            <a:pPr>
              <a:buFont typeface="Wingdings" pitchFamily="2" charset="2"/>
              <a:buNone/>
            </a:pPr>
            <a:r>
              <a:rPr lang="pt-BR" sz="2600" smtClean="0">
                <a:latin typeface="Comic Sans MS" pitchFamily="66" charset="0"/>
              </a:rPr>
              <a:t>MOV CL, 04</a:t>
            </a:r>
          </a:p>
          <a:p>
            <a:pPr>
              <a:buFont typeface="Wingdings" pitchFamily="2" charset="2"/>
              <a:buNone/>
            </a:pPr>
            <a:r>
              <a:rPr lang="pt-BR" sz="2600" smtClean="0">
                <a:latin typeface="Comic Sans MS" pitchFamily="66" charset="0"/>
              </a:rPr>
              <a:t>SHR DL, CL</a:t>
            </a:r>
          </a:p>
          <a:p>
            <a:pPr>
              <a:buFont typeface="Wingdings" pitchFamily="2" charset="2"/>
              <a:buNone/>
            </a:pPr>
            <a:endParaRPr lang="pt-BR" sz="2600" smtClean="0">
              <a:latin typeface="Comic Sans MS" pitchFamily="66" charset="0"/>
            </a:endParaRPr>
          </a:p>
          <a:p>
            <a:pPr>
              <a:buFont typeface="Wingdings" pitchFamily="2" charset="2"/>
              <a:buNone/>
            </a:pPr>
            <a:r>
              <a:rPr lang="pt-BR" sz="2600" smtClean="0">
                <a:latin typeface="Comic Sans MS" pitchFamily="66" charset="0"/>
              </a:rPr>
              <a:t>ADD DL, 30H</a:t>
            </a:r>
          </a:p>
          <a:p>
            <a:pPr>
              <a:buFont typeface="Wingdings" pitchFamily="2" charset="2"/>
              <a:buNone/>
            </a:pPr>
            <a:endParaRPr lang="pt-BR" sz="2600" smtClean="0">
              <a:latin typeface="Comic Sans MS" pitchFamily="66" charset="0"/>
            </a:endParaRPr>
          </a:p>
          <a:p>
            <a:pPr>
              <a:buFont typeface="Wingdings" pitchFamily="2" charset="2"/>
              <a:buNone/>
            </a:pPr>
            <a:r>
              <a:rPr lang="pt-BR" sz="2600" smtClean="0">
                <a:latin typeface="Comic Sans MS" pitchFamily="66" charset="0"/>
              </a:rPr>
              <a:t>MOV AH, 02H</a:t>
            </a:r>
          </a:p>
          <a:p>
            <a:pPr>
              <a:buFont typeface="Wingdings" pitchFamily="2" charset="2"/>
              <a:buNone/>
            </a:pPr>
            <a:r>
              <a:rPr lang="pt-BR" sz="2600" smtClean="0">
                <a:latin typeface="Comic Sans MS" pitchFamily="66" charset="0"/>
              </a:rPr>
              <a:t>INT 21H</a:t>
            </a:r>
            <a:endParaRPr lang="en-US" sz="2600" smtClean="0">
              <a:latin typeface="Comic Sans MS" pitchFamily="66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014CDB-C52D-4B8C-8B81-63AEA3BC78FB}" type="datetime1">
              <a:rPr lang="en-US" smtClean="0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ROSHAN FERNANDES, DEPT OF CSE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3498C1-302C-48D9-8900-3336E881F585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105400" y="1752600"/>
            <a:ext cx="3581400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600" kern="0" dirty="0">
                <a:latin typeface="Comic Sans MS" pitchFamily="66" charset="0"/>
              </a:rPr>
              <a:t>MOV DL, BL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endParaRPr lang="pt-BR" sz="2600" kern="0" dirty="0">
              <a:latin typeface="Comic Sans MS" pitchFamily="66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600" kern="0" dirty="0">
                <a:latin typeface="Comic Sans MS" pitchFamily="66" charset="0"/>
              </a:rPr>
              <a:t>AND DL, 0FH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600" kern="0" dirty="0">
                <a:latin typeface="Comic Sans MS" pitchFamily="66" charset="0"/>
              </a:rPr>
              <a:t>ADD DL, 30H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endParaRPr lang="pt-BR" sz="2600" kern="0" dirty="0">
              <a:latin typeface="Comic Sans MS" pitchFamily="66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600" kern="0" dirty="0">
                <a:latin typeface="Comic Sans MS" pitchFamily="66" charset="0"/>
              </a:rPr>
              <a:t>MOV AH, 02H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600" kern="0" dirty="0">
                <a:latin typeface="Comic Sans MS" pitchFamily="66" charset="0"/>
              </a:rPr>
              <a:t>INT 21H</a:t>
            </a:r>
            <a:endParaRPr lang="en-US" sz="2600" kern="0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3886200" cy="46069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pt-BR" sz="2400" smtClean="0">
                <a:latin typeface="Comic Sans MS" pitchFamily="66" charset="0"/>
              </a:rPr>
              <a:t>MOV DL, BL</a:t>
            </a:r>
          </a:p>
          <a:p>
            <a:pPr>
              <a:buFont typeface="Wingdings" pitchFamily="2" charset="2"/>
              <a:buNone/>
            </a:pPr>
            <a:r>
              <a:rPr lang="pt-BR" sz="2400" smtClean="0">
                <a:latin typeface="Comic Sans MS" pitchFamily="66" charset="0"/>
              </a:rPr>
              <a:t>MOV CL, 04</a:t>
            </a:r>
          </a:p>
          <a:p>
            <a:pPr>
              <a:buFont typeface="Wingdings" pitchFamily="2" charset="2"/>
              <a:buNone/>
            </a:pPr>
            <a:r>
              <a:rPr lang="pt-BR" sz="2400" smtClean="0">
                <a:latin typeface="Comic Sans MS" pitchFamily="66" charset="0"/>
              </a:rPr>
              <a:t>SHR DL, CL</a:t>
            </a:r>
          </a:p>
          <a:p>
            <a:pPr>
              <a:buFont typeface="Wingdings" pitchFamily="2" charset="2"/>
              <a:buNone/>
            </a:pPr>
            <a:r>
              <a:rPr lang="pt-BR" sz="2400" smtClean="0">
                <a:latin typeface="Comic Sans MS" pitchFamily="66" charset="0"/>
              </a:rPr>
              <a:t>CMP DL, 09H</a:t>
            </a:r>
          </a:p>
          <a:p>
            <a:pPr>
              <a:buFont typeface="Wingdings" pitchFamily="2" charset="2"/>
              <a:buNone/>
            </a:pPr>
            <a:r>
              <a:rPr lang="pt-BR" sz="2400" smtClean="0">
                <a:latin typeface="Comic Sans MS" pitchFamily="66" charset="0"/>
              </a:rPr>
              <a:t>JBE L1</a:t>
            </a:r>
          </a:p>
          <a:p>
            <a:pPr>
              <a:buFont typeface="Wingdings" pitchFamily="2" charset="2"/>
              <a:buNone/>
            </a:pPr>
            <a:r>
              <a:rPr lang="pt-BR" sz="2400" smtClean="0">
                <a:latin typeface="Comic Sans MS" pitchFamily="66" charset="0"/>
              </a:rPr>
              <a:t>ADD DL, 07H</a:t>
            </a:r>
          </a:p>
          <a:p>
            <a:pPr>
              <a:buFont typeface="Wingdings" pitchFamily="2" charset="2"/>
              <a:buNone/>
            </a:pPr>
            <a:r>
              <a:rPr lang="pt-BR" sz="2400" smtClean="0">
                <a:latin typeface="Comic Sans MS" pitchFamily="66" charset="0"/>
              </a:rPr>
              <a:t>L1:</a:t>
            </a:r>
          </a:p>
          <a:p>
            <a:pPr>
              <a:buFont typeface="Wingdings" pitchFamily="2" charset="2"/>
              <a:buNone/>
            </a:pPr>
            <a:r>
              <a:rPr lang="pt-BR" sz="2400" smtClean="0">
                <a:latin typeface="Comic Sans MS" pitchFamily="66" charset="0"/>
              </a:rPr>
              <a:t>ADD DL, 30H</a:t>
            </a:r>
          </a:p>
          <a:p>
            <a:pPr>
              <a:buFont typeface="Wingdings" pitchFamily="2" charset="2"/>
              <a:buNone/>
            </a:pPr>
            <a:r>
              <a:rPr lang="pt-BR" sz="2400" smtClean="0">
                <a:latin typeface="Comic Sans MS" pitchFamily="66" charset="0"/>
              </a:rPr>
              <a:t>MOV AH, 02H</a:t>
            </a:r>
          </a:p>
          <a:p>
            <a:pPr>
              <a:buFont typeface="Wingdings" pitchFamily="2" charset="2"/>
              <a:buNone/>
            </a:pPr>
            <a:r>
              <a:rPr lang="pt-BR" sz="2400" smtClean="0">
                <a:latin typeface="Comic Sans MS" pitchFamily="66" charset="0"/>
              </a:rPr>
              <a:t>INT 21H</a:t>
            </a:r>
            <a:endParaRPr lang="en-US" sz="2400" smtClean="0">
              <a:latin typeface="Comic Sans MS" pitchFamily="66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014CDB-C52D-4B8C-8B81-63AEA3BC78FB}" type="datetime1">
              <a:rPr lang="en-US" smtClean="0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 smtClean="0"/>
              <a:t>ROSHAN FERNANDES, DEPT OF CSE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CCB09-4A31-4AC0-973C-0CF1EB3EA488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48134" name="Title 1"/>
          <p:cNvSpPr>
            <a:spLocks noGrp="1"/>
          </p:cNvSpPr>
          <p:nvPr>
            <p:ph type="title"/>
          </p:nvPr>
        </p:nvSpPr>
        <p:spPr>
          <a:xfrm>
            <a:off x="309563" y="166688"/>
            <a:ext cx="8453437" cy="1139825"/>
          </a:xfrm>
        </p:spPr>
        <p:txBody>
          <a:bodyPr/>
          <a:lstStyle/>
          <a:p>
            <a:pPr algn="just"/>
            <a:r>
              <a:rPr lang="en-US" sz="3200" smtClean="0">
                <a:latin typeface="Comic Sans MS" pitchFamily="66" charset="0"/>
              </a:rPr>
              <a:t>Displaying a 2 digit (8-bit) HEXA number which is stored in BL…</a:t>
            </a:r>
            <a:endParaRPr lang="en-US" sz="3200" smtClean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800600" y="1676400"/>
            <a:ext cx="38862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400" kern="0" dirty="0">
                <a:latin typeface="Comic Sans MS" pitchFamily="66" charset="0"/>
              </a:rPr>
              <a:t> 		MOV DL, BL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400" kern="0" dirty="0">
                <a:latin typeface="Comic Sans MS" pitchFamily="66" charset="0"/>
              </a:rPr>
              <a:t>		AND DL, 0FH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400" kern="0" dirty="0">
                <a:latin typeface="Comic Sans MS" pitchFamily="66" charset="0"/>
              </a:rPr>
              <a:t>		CMP DL, 09H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400" kern="0" dirty="0">
                <a:latin typeface="Comic Sans MS" pitchFamily="66" charset="0"/>
              </a:rPr>
              <a:t>		JBE L2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400" kern="0" dirty="0">
                <a:latin typeface="Comic Sans MS" pitchFamily="66" charset="0"/>
              </a:rPr>
              <a:t>		ADD DL, 07H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400" kern="0" dirty="0">
                <a:latin typeface="Comic Sans MS" pitchFamily="66" charset="0"/>
              </a:rPr>
              <a:t>	L2:	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400" kern="0" dirty="0">
                <a:latin typeface="Comic Sans MS" pitchFamily="66" charset="0"/>
              </a:rPr>
              <a:t>		ADD DL, 30H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400" kern="0" dirty="0">
                <a:latin typeface="Comic Sans MS" pitchFamily="66" charset="0"/>
              </a:rPr>
              <a:t>		MOV AH, 02H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pt-BR" sz="2400" kern="0" dirty="0">
                <a:latin typeface="Comic Sans MS" pitchFamily="66" charset="0"/>
              </a:rPr>
              <a:t>		INT 21H</a:t>
            </a:r>
            <a:endParaRPr lang="en-US" sz="2400" kern="0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>
                <a:latin typeface="Comic Sans MS" pitchFamily="66" charset="0"/>
              </a:rPr>
              <a:t>Assignment…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smtClean="0">
                <a:latin typeface="Comic Sans MS" pitchFamily="66" charset="0"/>
              </a:rPr>
              <a:t>Read a 8 bit BCD value from keyboard and display</a:t>
            </a:r>
          </a:p>
          <a:p>
            <a:pPr algn="just"/>
            <a:endParaRPr lang="en-US" sz="2400" smtClean="0">
              <a:latin typeface="Comic Sans MS" pitchFamily="66" charset="0"/>
            </a:endParaRPr>
          </a:p>
          <a:p>
            <a:pPr algn="just"/>
            <a:r>
              <a:rPr lang="en-US" sz="2400" smtClean="0">
                <a:latin typeface="Comic Sans MS" pitchFamily="66" charset="0"/>
              </a:rPr>
              <a:t>Read a 8 bit HEXA value from keyboard and display</a:t>
            </a:r>
          </a:p>
          <a:p>
            <a:pPr algn="just"/>
            <a:endParaRPr lang="en-US" sz="2400" smtClean="0">
              <a:latin typeface="Comic Sans MS" pitchFamily="66" charset="0"/>
            </a:endParaRPr>
          </a:p>
          <a:p>
            <a:pPr algn="just"/>
            <a:r>
              <a:rPr lang="en-US" sz="2400" smtClean="0">
                <a:latin typeface="Comic Sans MS" pitchFamily="66" charset="0"/>
              </a:rPr>
              <a:t>Linear Search/Binary Search – Display the position where element is found</a:t>
            </a:r>
          </a:p>
          <a:p>
            <a:pPr algn="just"/>
            <a:endParaRPr lang="en-US" sz="2400" smtClean="0">
              <a:latin typeface="Comic Sans MS" pitchFamily="66" charset="0"/>
            </a:endParaRPr>
          </a:p>
          <a:p>
            <a:pPr algn="just"/>
            <a:r>
              <a:rPr lang="en-US" sz="2400" smtClean="0">
                <a:latin typeface="Comic Sans MS" pitchFamily="66" charset="0"/>
              </a:rPr>
              <a:t>Finding max/min in array – Display the max/min number</a:t>
            </a:r>
          </a:p>
          <a:p>
            <a:pPr algn="just"/>
            <a:endParaRPr lang="en-US" sz="2400" smtClean="0">
              <a:latin typeface="Comic Sans MS" pitchFamily="66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014CDB-C52D-4B8C-8B81-63AEA3BC78FB}" type="datetime1">
              <a:rPr lang="en-US" smtClean="0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ROSHAN FERNANDES, DEPT OF CSE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E1CF80-12AC-438B-8CDA-E26F0C79474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381000" y="2362200"/>
            <a:ext cx="8229600" cy="2819400"/>
          </a:xfrm>
        </p:spPr>
        <p:txBody>
          <a:bodyPr/>
          <a:lstStyle/>
          <a:p>
            <a:pPr algn="ctr"/>
            <a:r>
              <a:rPr lang="en-US" sz="3400" smtClean="0">
                <a:solidFill>
                  <a:srgbClr val="990033"/>
                </a:solidFill>
                <a:latin typeface="Comic Sans MS" pitchFamily="66" charset="0"/>
              </a:rPr>
              <a:t>3. 8 bit BCD to Binary(Hexa)…</a:t>
            </a:r>
            <a:endParaRPr lang="en-US" smtClean="0">
              <a:solidFill>
                <a:srgbClr val="990033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014CDB-C52D-4B8C-8B81-63AEA3BC78FB}" type="datetime1">
              <a:rPr lang="en-US" smtClean="0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ROSHAN FERNANDES, DEPT OF CSE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DB6C42-BDAF-4CFF-918F-A28EFCF8AFD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46075"/>
            <a:ext cx="8305800" cy="59023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200" dirty="0" err="1" smtClean="0">
                <a:latin typeface="Comic Sans MS" pitchFamily="66" charset="0"/>
              </a:rPr>
              <a:t>bcdinput</a:t>
            </a:r>
            <a:r>
              <a:rPr lang="en-US" sz="2200" dirty="0" smtClean="0">
                <a:latin typeface="Comic Sans MS" pitchFamily="66" charset="0"/>
              </a:rPr>
              <a:t> db </a:t>
            </a:r>
            <a:r>
              <a:rPr lang="en-US" sz="2200" dirty="0" smtClean="0">
                <a:latin typeface="Comic Sans MS" pitchFamily="66" charset="0"/>
              </a:rPr>
              <a:t>17</a:t>
            </a:r>
            <a:endParaRPr lang="en-US" sz="2200" dirty="0" smtClean="0">
              <a:latin typeface="Comic Sans MS" pitchFamily="66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200" dirty="0" err="1" smtClean="0">
                <a:latin typeface="Comic Sans MS" pitchFamily="66" charset="0"/>
              </a:rPr>
              <a:t>binval</a:t>
            </a:r>
            <a:r>
              <a:rPr lang="en-US" sz="2200" dirty="0" smtClean="0">
                <a:latin typeface="Comic Sans MS" pitchFamily="66" charset="0"/>
              </a:rPr>
              <a:t> db 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MOV BL, </a:t>
            </a:r>
            <a:r>
              <a:rPr lang="en-US" sz="2200" dirty="0" err="1" smtClean="0">
                <a:latin typeface="Comic Sans MS" pitchFamily="66" charset="0"/>
              </a:rPr>
              <a:t>bcdinput</a:t>
            </a:r>
            <a:r>
              <a:rPr lang="en-US" sz="2200" dirty="0" smtClean="0">
                <a:latin typeface="Comic Sans MS" pitchFamily="66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AND BL,0FH 		; BL=07h(1</a:t>
            </a:r>
            <a:r>
              <a:rPr lang="en-US" sz="2200" baseline="30000" dirty="0" smtClean="0">
                <a:latin typeface="Comic Sans MS" pitchFamily="66" charset="0"/>
              </a:rPr>
              <a:t>st</a:t>
            </a:r>
            <a:r>
              <a:rPr lang="en-US" sz="2200" dirty="0" smtClean="0">
                <a:latin typeface="Comic Sans MS" pitchFamily="66" charset="0"/>
              </a:rPr>
              <a:t> digit)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MOV AL, </a:t>
            </a:r>
            <a:r>
              <a:rPr lang="en-US" sz="2200" dirty="0" err="1" smtClean="0">
                <a:latin typeface="Comic Sans MS" pitchFamily="66" charset="0"/>
              </a:rPr>
              <a:t>bcdinput</a:t>
            </a:r>
            <a:r>
              <a:rPr lang="en-US" sz="2200" dirty="0" smtClean="0">
                <a:latin typeface="Comic Sans MS" pitchFamily="66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AND AL,0F0H 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MOV CL,04H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SHR AL,CL			; AL=01h(2</a:t>
            </a:r>
            <a:r>
              <a:rPr lang="en-US" sz="2200" baseline="30000" dirty="0" smtClean="0">
                <a:latin typeface="Comic Sans MS" pitchFamily="66" charset="0"/>
              </a:rPr>
              <a:t>nd</a:t>
            </a:r>
            <a:r>
              <a:rPr lang="en-US" sz="2200" dirty="0" smtClean="0">
                <a:latin typeface="Comic Sans MS" pitchFamily="66" charset="0"/>
              </a:rPr>
              <a:t> digit)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MOV BH,0AH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MUL BH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ADD AL,BL			 ;AL=11H(hex of 17)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MOV </a:t>
            </a:r>
            <a:r>
              <a:rPr lang="en-US" sz="2200" dirty="0" err="1" smtClean="0">
                <a:latin typeface="Comic Sans MS" pitchFamily="66" charset="0"/>
              </a:rPr>
              <a:t>binval</a:t>
            </a:r>
            <a:r>
              <a:rPr lang="en-US" sz="2200" dirty="0" smtClean="0">
                <a:latin typeface="Comic Sans MS" pitchFamily="66" charset="0"/>
              </a:rPr>
              <a:t>, AL</a:t>
            </a:r>
          </a:p>
          <a:p>
            <a:endParaRPr lang="en-US" sz="2200" dirty="0" smtClean="0">
              <a:latin typeface="Comic Sans MS" pitchFamily="66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F6305AF-C467-425D-A87C-DA68F6832410}" type="datetime1">
              <a:rPr lang="en-US" smtClean="0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ROSHAN FERNANDES, DEPT OF CSE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0E7EA8-44CA-4849-A81B-837B647379AD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381000" y="2362200"/>
            <a:ext cx="8382000" cy="2819400"/>
          </a:xfrm>
        </p:spPr>
        <p:txBody>
          <a:bodyPr/>
          <a:lstStyle/>
          <a:p>
            <a:pPr algn="ctr"/>
            <a:r>
              <a:rPr lang="en-US" sz="3400" smtClean="0">
                <a:solidFill>
                  <a:srgbClr val="990033"/>
                </a:solidFill>
                <a:latin typeface="Comic Sans MS" pitchFamily="66" charset="0"/>
              </a:rPr>
              <a:t>4. 8 bit Binary(Hexa) to BCD… </a:t>
            </a:r>
            <a:endParaRPr lang="en-US" smtClean="0">
              <a:solidFill>
                <a:srgbClr val="990033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A014CDB-C52D-4B8C-8B81-63AEA3BC78FB}" type="datetime1">
              <a:rPr lang="en-US" smtClean="0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ROSHAN FERNANDES, DEPT OF CSE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D49A2C-52F3-4BCC-868C-7C41722C91FD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9023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Bin  db 17H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err="1" smtClean="0">
                <a:latin typeface="Comic Sans MS" pitchFamily="66" charset="0"/>
              </a:rPr>
              <a:t>Dec_val</a:t>
            </a:r>
            <a:r>
              <a:rPr lang="en-US" sz="2200" dirty="0" smtClean="0">
                <a:latin typeface="Comic Sans MS" pitchFamily="66" charset="0"/>
              </a:rPr>
              <a:t> db 00h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200" dirty="0" smtClean="0">
              <a:latin typeface="Comic Sans MS" pitchFamily="66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	MOV CH,00H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	MOV AL, Bin		; AL=17H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	MOV BL,0AH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UP:	CMP CH,02H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 	JZ EXIT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	MOV AH,00H		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	DIV BL	; AH IS REMINDER, AL IS QUOTIENT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	ADD </a:t>
            </a:r>
            <a:r>
              <a:rPr lang="en-US" sz="2200" dirty="0" err="1" smtClean="0">
                <a:latin typeface="Comic Sans MS" pitchFamily="66" charset="0"/>
              </a:rPr>
              <a:t>dec_val,AH</a:t>
            </a:r>
            <a:endParaRPr lang="en-US" sz="2200" dirty="0" smtClean="0">
              <a:latin typeface="Comic Sans MS" pitchFamily="66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	MOV CL,04H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	ROR </a:t>
            </a:r>
            <a:r>
              <a:rPr lang="en-US" sz="2200" dirty="0" err="1" smtClean="0">
                <a:latin typeface="Comic Sans MS" pitchFamily="66" charset="0"/>
              </a:rPr>
              <a:t>dec_val,CL</a:t>
            </a:r>
            <a:endParaRPr lang="en-US" sz="2200" dirty="0" smtClean="0">
              <a:latin typeface="Comic Sans MS" pitchFamily="66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	INC CH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 smtClean="0">
                <a:latin typeface="Comic Sans MS" pitchFamily="66" charset="0"/>
              </a:rPr>
              <a:t>		JMP UP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F6305AF-C467-425D-A87C-DA68F6832410}" type="datetime1">
              <a:rPr lang="en-US" smtClean="0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ROSHAN FERNANDES, DEPT OF CSE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D403D-13ED-4AF2-A4B7-37300B574541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Comic Sans MS" pitchFamily="66" charset="0"/>
              </a:rPr>
              <a:t>Assignments…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267200"/>
          </a:xfrm>
        </p:spPr>
        <p:txBody>
          <a:bodyPr/>
          <a:lstStyle/>
          <a:p>
            <a:pPr algn="just"/>
            <a:r>
              <a:rPr lang="en-US" sz="2800" smtClean="0">
                <a:solidFill>
                  <a:srgbClr val="990033"/>
                </a:solidFill>
                <a:latin typeface="Comic Sans MS" pitchFamily="66" charset="0"/>
              </a:rPr>
              <a:t>Convert 16 bit BCD to Binary(Hexa)</a:t>
            </a:r>
          </a:p>
          <a:p>
            <a:pPr algn="just"/>
            <a:endParaRPr lang="en-US" sz="2800" smtClean="0">
              <a:solidFill>
                <a:srgbClr val="990033"/>
              </a:solidFill>
              <a:latin typeface="Comic Sans MS" pitchFamily="66" charset="0"/>
            </a:endParaRPr>
          </a:p>
          <a:p>
            <a:pPr algn="just"/>
            <a:r>
              <a:rPr lang="en-US" sz="2800" smtClean="0">
                <a:solidFill>
                  <a:srgbClr val="990033"/>
                </a:solidFill>
                <a:latin typeface="Comic Sans MS" pitchFamily="66" charset="0"/>
              </a:rPr>
              <a:t>Convert 16 bit Binary(Hexa) to BCD</a:t>
            </a:r>
          </a:p>
          <a:p>
            <a:pPr algn="just"/>
            <a:endParaRPr lang="en-US" sz="3200" smtClean="0">
              <a:solidFill>
                <a:srgbClr val="990033"/>
              </a:solidFill>
              <a:latin typeface="Comic Sans MS" pitchFamily="66" charset="0"/>
            </a:endParaRPr>
          </a:p>
          <a:p>
            <a:pPr algn="just"/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F6305AF-C467-425D-A87C-DA68F6832410}" type="datetime1">
              <a:rPr lang="en-US" smtClean="0"/>
              <a:pPr>
                <a:defRPr/>
              </a:pPr>
              <a:t>2/25/2019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ROSHAN FERNANDES, DEPT OF CSE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C70EED-E42D-44AD-B451-845DD02572D5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532</Words>
  <Application>Microsoft Office PowerPoint</Application>
  <PresentationFormat>On-screen Show (4:3)</PresentationFormat>
  <Paragraphs>232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Data Conversions</vt:lpstr>
      <vt:lpstr>1. ASCII to BCD/HEXA…  (Used to read numbers(BCD/HEXA) from keyboard) </vt:lpstr>
      <vt:lpstr>Slide 3</vt:lpstr>
      <vt:lpstr>Converting 2 ASCII codes to BCD</vt:lpstr>
      <vt:lpstr>Example… </vt:lpstr>
      <vt:lpstr>Reading 2 digit (8-bit) BCD number from keyboard and store in AL…</vt:lpstr>
      <vt:lpstr>Reading 2 digit (8-bit) HEXA number from keyboard and store in AL…</vt:lpstr>
      <vt:lpstr>2. BCD/HEXA to ASCII…  (Used to display numbers(BCD/HEXA)) </vt:lpstr>
      <vt:lpstr>Displaying a 2 digit (8-bit) BCD number which is stored in BL…</vt:lpstr>
      <vt:lpstr>Displaying a 2 digit (8-bit) HEXA number which is stored in BL…</vt:lpstr>
      <vt:lpstr>Assignment…</vt:lpstr>
      <vt:lpstr>3. 8 bit BCD to Binary(Hexa)…</vt:lpstr>
      <vt:lpstr>Slide 13</vt:lpstr>
      <vt:lpstr>4. 8 bit Binary(Hexa) to BCD… </vt:lpstr>
      <vt:lpstr>Slide 15</vt:lpstr>
      <vt:lpstr>Assignments…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Conversions</dc:title>
  <dc:creator>shilpa m k</dc:creator>
  <cp:lastModifiedBy>shilpa m k</cp:lastModifiedBy>
  <cp:revision>2</cp:revision>
  <dcterms:created xsi:type="dcterms:W3CDTF">2017-07-28T06:13:46Z</dcterms:created>
  <dcterms:modified xsi:type="dcterms:W3CDTF">2019-02-25T04:55:47Z</dcterms:modified>
</cp:coreProperties>
</file>