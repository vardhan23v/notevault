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160"/>
  </p:notesMasterIdLst>
  <p:sldIdLst>
    <p:sldId id="350" r:id="rId2"/>
    <p:sldId id="679" r:id="rId3"/>
    <p:sldId id="680" r:id="rId4"/>
    <p:sldId id="681" r:id="rId5"/>
    <p:sldId id="682" r:id="rId6"/>
    <p:sldId id="683" r:id="rId7"/>
    <p:sldId id="684" r:id="rId8"/>
    <p:sldId id="685" r:id="rId9"/>
    <p:sldId id="686" r:id="rId10"/>
    <p:sldId id="687" r:id="rId11"/>
    <p:sldId id="540" r:id="rId12"/>
    <p:sldId id="541" r:id="rId13"/>
    <p:sldId id="542" r:id="rId14"/>
    <p:sldId id="543" r:id="rId15"/>
    <p:sldId id="544" r:id="rId16"/>
    <p:sldId id="545" r:id="rId17"/>
    <p:sldId id="546" r:id="rId18"/>
    <p:sldId id="547" r:id="rId19"/>
    <p:sldId id="548" r:id="rId20"/>
    <p:sldId id="549" r:id="rId21"/>
    <p:sldId id="550" r:id="rId22"/>
    <p:sldId id="688" r:id="rId23"/>
    <p:sldId id="551" r:id="rId24"/>
    <p:sldId id="552" r:id="rId25"/>
    <p:sldId id="553" r:id="rId26"/>
    <p:sldId id="554" r:id="rId27"/>
    <p:sldId id="555" r:id="rId28"/>
    <p:sldId id="556" r:id="rId29"/>
    <p:sldId id="557" r:id="rId30"/>
    <p:sldId id="558" r:id="rId31"/>
    <p:sldId id="559" r:id="rId32"/>
    <p:sldId id="560" r:id="rId33"/>
    <p:sldId id="561" r:id="rId34"/>
    <p:sldId id="562" r:id="rId35"/>
    <p:sldId id="591" r:id="rId36"/>
    <p:sldId id="563" r:id="rId37"/>
    <p:sldId id="564" r:id="rId38"/>
    <p:sldId id="565" r:id="rId39"/>
    <p:sldId id="566" r:id="rId40"/>
    <p:sldId id="567" r:id="rId41"/>
    <p:sldId id="568" r:id="rId42"/>
    <p:sldId id="569" r:id="rId43"/>
    <p:sldId id="570" r:id="rId44"/>
    <p:sldId id="571" r:id="rId45"/>
    <p:sldId id="572" r:id="rId46"/>
    <p:sldId id="573" r:id="rId47"/>
    <p:sldId id="574" r:id="rId48"/>
    <p:sldId id="575" r:id="rId49"/>
    <p:sldId id="576" r:id="rId50"/>
    <p:sldId id="577" r:id="rId51"/>
    <p:sldId id="578" r:id="rId52"/>
    <p:sldId id="579" r:id="rId53"/>
    <p:sldId id="580" r:id="rId54"/>
    <p:sldId id="581" r:id="rId55"/>
    <p:sldId id="582" r:id="rId56"/>
    <p:sldId id="583" r:id="rId57"/>
    <p:sldId id="584" r:id="rId58"/>
    <p:sldId id="592" r:id="rId59"/>
    <p:sldId id="586" r:id="rId60"/>
    <p:sldId id="587" r:id="rId61"/>
    <p:sldId id="588" r:id="rId62"/>
    <p:sldId id="589" r:id="rId63"/>
    <p:sldId id="593" r:id="rId64"/>
    <p:sldId id="594" r:id="rId65"/>
    <p:sldId id="595" r:id="rId66"/>
    <p:sldId id="616" r:id="rId67"/>
    <p:sldId id="596" r:id="rId68"/>
    <p:sldId id="597" r:id="rId69"/>
    <p:sldId id="598" r:id="rId70"/>
    <p:sldId id="599" r:id="rId71"/>
    <p:sldId id="600" r:id="rId72"/>
    <p:sldId id="617" r:id="rId73"/>
    <p:sldId id="601" r:id="rId74"/>
    <p:sldId id="602" r:id="rId75"/>
    <p:sldId id="603" r:id="rId76"/>
    <p:sldId id="604" r:id="rId77"/>
    <p:sldId id="605" r:id="rId78"/>
    <p:sldId id="606" r:id="rId79"/>
    <p:sldId id="607" r:id="rId80"/>
    <p:sldId id="608" r:id="rId81"/>
    <p:sldId id="609" r:id="rId82"/>
    <p:sldId id="610" r:id="rId83"/>
    <p:sldId id="611" r:id="rId84"/>
    <p:sldId id="612" r:id="rId85"/>
    <p:sldId id="613" r:id="rId86"/>
    <p:sldId id="614" r:id="rId87"/>
    <p:sldId id="265" r:id="rId88"/>
    <p:sldId id="266" r:id="rId89"/>
    <p:sldId id="267" r:id="rId90"/>
    <p:sldId id="268" r:id="rId91"/>
    <p:sldId id="269" r:id="rId92"/>
    <p:sldId id="270" r:id="rId93"/>
    <p:sldId id="271" r:id="rId94"/>
    <p:sldId id="272" r:id="rId95"/>
    <p:sldId id="273" r:id="rId96"/>
    <p:sldId id="274" r:id="rId97"/>
    <p:sldId id="615" r:id="rId98"/>
    <p:sldId id="618" r:id="rId99"/>
    <p:sldId id="619" r:id="rId100"/>
    <p:sldId id="620" r:id="rId101"/>
    <p:sldId id="621" r:id="rId102"/>
    <p:sldId id="622" r:id="rId103"/>
    <p:sldId id="623" r:id="rId104"/>
    <p:sldId id="624" r:id="rId105"/>
    <p:sldId id="625" r:id="rId106"/>
    <p:sldId id="626" r:id="rId107"/>
    <p:sldId id="627" r:id="rId108"/>
    <p:sldId id="628" r:id="rId109"/>
    <p:sldId id="629" r:id="rId110"/>
    <p:sldId id="630" r:id="rId111"/>
    <p:sldId id="631" r:id="rId112"/>
    <p:sldId id="632" r:id="rId113"/>
    <p:sldId id="633" r:id="rId114"/>
    <p:sldId id="634" r:id="rId115"/>
    <p:sldId id="635" r:id="rId116"/>
    <p:sldId id="636" r:id="rId117"/>
    <p:sldId id="637" r:id="rId118"/>
    <p:sldId id="638" r:id="rId119"/>
    <p:sldId id="639" r:id="rId120"/>
    <p:sldId id="640" r:id="rId121"/>
    <p:sldId id="641" r:id="rId122"/>
    <p:sldId id="642" r:id="rId123"/>
    <p:sldId id="643" r:id="rId124"/>
    <p:sldId id="644" r:id="rId125"/>
    <p:sldId id="645" r:id="rId126"/>
    <p:sldId id="662" r:id="rId127"/>
    <p:sldId id="646" r:id="rId128"/>
    <p:sldId id="647" r:id="rId129"/>
    <p:sldId id="648" r:id="rId130"/>
    <p:sldId id="649" r:id="rId131"/>
    <p:sldId id="650" r:id="rId132"/>
    <p:sldId id="651" r:id="rId133"/>
    <p:sldId id="652" r:id="rId134"/>
    <p:sldId id="653" r:id="rId135"/>
    <p:sldId id="654" r:id="rId136"/>
    <p:sldId id="655" r:id="rId137"/>
    <p:sldId id="656" r:id="rId138"/>
    <p:sldId id="657" r:id="rId139"/>
    <p:sldId id="658" r:id="rId140"/>
    <p:sldId id="663" r:id="rId141"/>
    <p:sldId id="659" r:id="rId142"/>
    <p:sldId id="664" r:id="rId143"/>
    <p:sldId id="661" r:id="rId144"/>
    <p:sldId id="665" r:id="rId145"/>
    <p:sldId id="666" r:id="rId146"/>
    <p:sldId id="667" r:id="rId147"/>
    <p:sldId id="668" r:id="rId148"/>
    <p:sldId id="669" r:id="rId149"/>
    <p:sldId id="670" r:id="rId150"/>
    <p:sldId id="671" r:id="rId151"/>
    <p:sldId id="672" r:id="rId152"/>
    <p:sldId id="673" r:id="rId153"/>
    <p:sldId id="674" r:id="rId154"/>
    <p:sldId id="675" r:id="rId155"/>
    <p:sldId id="676" r:id="rId156"/>
    <p:sldId id="677" r:id="rId157"/>
    <p:sldId id="678" r:id="rId158"/>
    <p:sldId id="389" r:id="rId15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4FEE"/>
    <a:srgbClr val="FF0066"/>
    <a:srgbClr val="008000"/>
    <a:srgbClr val="85F5FB"/>
    <a:srgbClr val="E775CF"/>
    <a:srgbClr val="D927B3"/>
    <a:srgbClr val="FFCE33"/>
    <a:srgbClr val="BCA604"/>
    <a:srgbClr val="FFDA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76" autoAdjust="0"/>
    <p:restoredTop sz="94660"/>
  </p:normalViewPr>
  <p:slideViewPr>
    <p:cSldViewPr>
      <p:cViewPr varScale="1">
        <p:scale>
          <a:sx n="59" d="100"/>
          <a:sy n="59" d="100"/>
        </p:scale>
        <p:origin x="1572" y="80"/>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45005" cy="45005"/>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notesMaster" Target="notesMasters/notesMaster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E84145C-2CA1-4B43-84EF-E3A64CF15305}" type="datetimeFigureOut">
              <a:rPr lang="en-IN" smtClean="0"/>
              <a:pPr/>
              <a:t>22-01-2025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CAF1B2B-4E5B-40EE-BD44-8C5FC9CB99C5}" type="slidenum">
              <a:rPr lang="en-IN" smtClean="0"/>
              <a:pPr/>
              <a:t>‹#›</a:t>
            </a:fld>
            <a:endParaRPr lang="en-IN"/>
          </a:p>
        </p:txBody>
      </p:sp>
    </p:spTree>
    <p:extLst>
      <p:ext uri="{BB962C8B-B14F-4D97-AF65-F5344CB8AC3E}">
        <p14:creationId xmlns:p14="http://schemas.microsoft.com/office/powerpoint/2010/main" val="4042567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921384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CAF1B2B-4E5B-40EE-BD44-8C5FC9CB99C5}" type="slidenum">
              <a:rPr lang="en-IN" smtClean="0"/>
              <a:pPr/>
              <a:t>11</a:t>
            </a:fld>
            <a:endParaRPr lang="en-IN"/>
          </a:p>
        </p:txBody>
      </p:sp>
    </p:spTree>
    <p:extLst>
      <p:ext uri="{BB962C8B-B14F-4D97-AF65-F5344CB8AC3E}">
        <p14:creationId xmlns:p14="http://schemas.microsoft.com/office/powerpoint/2010/main" val="212891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Tree>
    <p:extLst>
      <p:ext uri="{BB962C8B-B14F-4D97-AF65-F5344CB8AC3E}">
        <p14:creationId xmlns:p14="http://schemas.microsoft.com/office/powerpoint/2010/main" val="2999370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945604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7184" y="0"/>
            <a:ext cx="2906815" cy="503675"/>
          </a:xfrm>
          <a:blipFill>
            <a:blip r:embed="rId2"/>
            <a:stretch>
              <a:fillRect/>
            </a:stretch>
          </a:blipFill>
        </p:spPr>
        <p:txBody>
          <a:bodyPr anchor="t"/>
          <a:lstStyle>
            <a:lvl1pPr algn="l">
              <a:defRPr sz="4000" b="1" cap="all"/>
            </a:lvl1pPr>
          </a:lstStyle>
          <a:p>
            <a:r>
              <a:rPr lang="en-US" dirty="0"/>
              <a:t>Click to edit Master title style</a:t>
            </a:r>
            <a:endParaRPr lang="en-IN" dirty="0"/>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936866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726126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810684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5517973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9795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1"/>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2"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685351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6"/>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23373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252755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6381971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xfrm>
            <a:off x="457200" y="6243638"/>
            <a:ext cx="2133600" cy="457200"/>
          </a:xfrm>
          <a:prstGeom prst="rect">
            <a:avLst/>
          </a:prstGeom>
          <a:ln/>
        </p:spPr>
        <p:txBody>
          <a:bodyPr/>
          <a:lstStyle>
            <a:lvl1pPr>
              <a:defRPr/>
            </a:lvl1pPr>
          </a:lstStyle>
          <a:p>
            <a:pPr>
              <a:defRPr/>
            </a:pPr>
            <a:fld id="{2A325543-738F-4078-837F-5D374D42152D}" type="datetime2">
              <a:rPr lang="en-US" smtClean="0"/>
              <a:t>Wednesday, January 22, 2025</a:t>
            </a:fld>
            <a:endParaRPr lang="en-US" altLang="en-US"/>
          </a:p>
        </p:txBody>
      </p:sp>
      <p:sp>
        <p:nvSpPr>
          <p:cNvPr id="5" name="Rectangle 5"/>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r>
              <a:rPr lang="en-US" altLang="en-US"/>
              <a:t>ROSHAN FERNANDES, NMAMIT, NITTE</a:t>
            </a:r>
          </a:p>
        </p:txBody>
      </p:sp>
      <p:sp>
        <p:nvSpPr>
          <p:cNvPr id="6" name="Rectangle 6"/>
          <p:cNvSpPr>
            <a:spLocks noGrp="1" noChangeArrowheads="1"/>
          </p:cNvSpPr>
          <p:nvPr>
            <p:ph type="sldNum" sz="quarter" idx="12"/>
          </p:nvPr>
        </p:nvSpPr>
        <p:spPr>
          <a:xfrm>
            <a:off x="6553200" y="6243638"/>
            <a:ext cx="2133600" cy="457200"/>
          </a:xfrm>
          <a:prstGeom prst="rect">
            <a:avLst/>
          </a:prstGeom>
          <a:ln/>
        </p:spPr>
        <p:txBody>
          <a:bodyPr/>
          <a:lstStyle>
            <a:lvl1pPr>
              <a:defRPr/>
            </a:lvl1pPr>
          </a:lstStyle>
          <a:p>
            <a:pPr>
              <a:defRPr/>
            </a:pPr>
            <a:fld id="{937DAA19-78E2-454A-BF0A-AB51F6D45129}" type="slidenum">
              <a:rPr lang="en-US" altLang="en-US"/>
              <a:pPr>
                <a:defRPr/>
              </a:pPr>
              <a:t>‹#›</a:t>
            </a:fld>
            <a:endParaRPr lang="en-US" altLang="en-US"/>
          </a:p>
        </p:txBody>
      </p:sp>
    </p:spTree>
    <p:extLst>
      <p:ext uri="{BB962C8B-B14F-4D97-AF65-F5344CB8AC3E}">
        <p14:creationId xmlns:p14="http://schemas.microsoft.com/office/powerpoint/2010/main" val="1324155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5000">
              <a:schemeClr val="bg1"/>
            </a:gs>
            <a:gs pos="0">
              <a:srgbClr val="99CCFF"/>
            </a:gs>
            <a:gs pos="85000">
              <a:schemeClr val="bg1"/>
            </a:gs>
            <a:gs pos="100000">
              <a:srgbClr val="99CCFF"/>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55" y="219935"/>
            <a:ext cx="7534115" cy="360919"/>
          </a:xfrm>
          <a:prstGeom prst="rect">
            <a:avLst/>
          </a:prstGeom>
        </p:spPr>
        <p:txBody>
          <a:bodyPr vert="horz" lIns="72000" tIns="45720" rIns="72000" bIns="45720" rtlCol="0" anchor="ctr">
            <a:noAutofit/>
          </a:bodyPr>
          <a:lstStyle/>
          <a:p>
            <a:r>
              <a:rPr lang="en-US"/>
              <a:t>Click to edit Master title style</a:t>
            </a:r>
            <a:endParaRPr lang="en-IN" dirty="0"/>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6" name="Picture 3" descr="C:\Users\admin\Desktop\nitteimg-footer.pn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7689342" y="152200"/>
            <a:ext cx="1238758" cy="432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picture containing drawing&#10;&#10;Description automatically generated">
            <a:extLst>
              <a:ext uri="{FF2B5EF4-FFF2-40B4-BE49-F238E27FC236}">
                <a16:creationId xmlns:a16="http://schemas.microsoft.com/office/drawing/2014/main" id="{52215600-C711-4B15-A239-16D284AA39D0}"/>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6413502" y="141238"/>
            <a:ext cx="2575343" cy="36091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277573437"/>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Lst>
  <p:hf hdr="0" ftr="0"/>
  <p:txStyles>
    <p:titleStyle>
      <a:lvl1pPr algn="l" defTabSz="914400" rtl="0" eaLnBrk="1" latinLnBrk="0" hangingPunct="1">
        <a:spcBef>
          <a:spcPct val="0"/>
        </a:spcBef>
        <a:buNone/>
        <a:defRPr lang="en-IN" sz="2800" b="1" kern="1200" dirty="0">
          <a:solidFill>
            <a:srgbClr val="C00000"/>
          </a:solidFill>
          <a:effectLst/>
          <a:latin typeface="Trebuchet MS" pitchFamily="34"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2.emf"/><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emf"/><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1.emf"/><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9.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2" Type="http://schemas.openxmlformats.org/officeDocument/2006/relationships/image" Target="../media/image60.emf"/><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12.xml"/></Relationships>
</file>

<file path=ppt/slides/_rels/slide134.xml.rels><?xml version="1.0" encoding="UTF-8" standalone="yes"?>
<Relationships xmlns="http://schemas.openxmlformats.org/package/2006/relationships"><Relationship Id="rId2" Type="http://schemas.openxmlformats.org/officeDocument/2006/relationships/image" Target="../media/image63.emf"/><Relationship Id="rId1" Type="http://schemas.openxmlformats.org/officeDocument/2006/relationships/slideLayout" Target="../slideLayouts/slideLayout12.xml"/></Relationships>
</file>

<file path=ppt/slides/_rels/slide135.xml.rels><?xml version="1.0" encoding="UTF-8" standalone="yes"?>
<Relationships xmlns="http://schemas.openxmlformats.org/package/2006/relationships"><Relationship Id="rId2" Type="http://schemas.openxmlformats.org/officeDocument/2006/relationships/image" Target="../media/image64.emf"/><Relationship Id="rId1" Type="http://schemas.openxmlformats.org/officeDocument/2006/relationships/slideLayout" Target="../slideLayouts/slideLayout12.xml"/></Relationships>
</file>

<file path=ppt/slides/_rels/slide136.xml.rels><?xml version="1.0" encoding="UTF-8" standalone="yes"?>
<Relationships xmlns="http://schemas.openxmlformats.org/package/2006/relationships"><Relationship Id="rId2" Type="http://schemas.openxmlformats.org/officeDocument/2006/relationships/image" Target="../media/image65.emf"/><Relationship Id="rId1" Type="http://schemas.openxmlformats.org/officeDocument/2006/relationships/slideLayout" Target="../slideLayouts/slideLayout12.xml"/></Relationships>
</file>

<file path=ppt/slides/_rels/slide137.xml.rels><?xml version="1.0" encoding="UTF-8" standalone="yes"?>
<Relationships xmlns="http://schemas.openxmlformats.org/package/2006/relationships"><Relationship Id="rId2" Type="http://schemas.openxmlformats.org/officeDocument/2006/relationships/image" Target="../media/image66.emf"/><Relationship Id="rId1" Type="http://schemas.openxmlformats.org/officeDocument/2006/relationships/slideLayout" Target="../slideLayouts/slideLayout12.xml"/></Relationships>
</file>

<file path=ppt/slides/_rels/slide138.x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slideLayout" Target="../slideLayouts/slideLayout12.xml"/></Relationships>
</file>

<file path=ppt/slides/_rels/slide139.xml.rels><?xml version="1.0" encoding="UTF-8" standalone="yes"?>
<Relationships xmlns="http://schemas.openxmlformats.org/package/2006/relationships"><Relationship Id="rId2" Type="http://schemas.openxmlformats.org/officeDocument/2006/relationships/image" Target="../media/image68.emf"/><Relationship Id="rId1" Type="http://schemas.openxmlformats.org/officeDocument/2006/relationships/slideLayout" Target="../slideLayouts/slideLayout12.xml"/></Relationships>
</file>

<file path=ppt/slides/_rels/slide140.xml.rels><?xml version="1.0" encoding="UTF-8" standalone="yes"?>
<Relationships xmlns="http://schemas.openxmlformats.org/package/2006/relationships"><Relationship Id="rId2" Type="http://schemas.openxmlformats.org/officeDocument/2006/relationships/image" Target="../media/image69.emf"/><Relationship Id="rId1" Type="http://schemas.openxmlformats.org/officeDocument/2006/relationships/slideLayout" Target="../slideLayouts/slideLayout12.xml"/></Relationships>
</file>

<file path=ppt/slides/_rels/slide141.xml.rels><?xml version="1.0" encoding="UTF-8" standalone="yes"?>
<Relationships xmlns="http://schemas.openxmlformats.org/package/2006/relationships"><Relationship Id="rId2" Type="http://schemas.openxmlformats.org/officeDocument/2006/relationships/image" Target="../media/image69.emf"/><Relationship Id="rId1" Type="http://schemas.openxmlformats.org/officeDocument/2006/relationships/slideLayout" Target="../slideLayouts/slideLayout1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5.xml.rels><?xml version="1.0" encoding="UTF-8" standalone="yes"?>
<Relationships xmlns="http://schemas.openxmlformats.org/package/2006/relationships"><Relationship Id="rId2" Type="http://schemas.openxmlformats.org/officeDocument/2006/relationships/image" Target="../media/image70.emf"/><Relationship Id="rId1" Type="http://schemas.openxmlformats.org/officeDocument/2006/relationships/slideLayout" Target="../slideLayouts/slideLayout12.xml"/></Relationships>
</file>

<file path=ppt/slides/_rels/slide146.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12.xml"/></Relationships>
</file>

<file path=ppt/slides/_rels/slide147.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12.xml"/></Relationships>
</file>

<file path=ppt/slides/_rels/slide148.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12.xml"/></Relationships>
</file>

<file path=ppt/slides/_rels/slide149.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12.xml"/></Relationships>
</file>

<file path=ppt/slides/_rels/slide150.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12.xml"/></Relationships>
</file>

<file path=ppt/slides/_rels/slide151.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12.xml"/></Relationships>
</file>

<file path=ppt/slides/_rels/slide152.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12.xml"/></Relationships>
</file>

<file path=ppt/slides/_rels/slide153.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12.xml"/></Relationships>
</file>

<file path=ppt/slides/_rels/slide154.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12.xml"/></Relationships>
</file>

<file path=ppt/slides/_rels/slide155.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12.xml"/></Relationships>
</file>

<file path=ppt/slides/_rels/slide156.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12.xml"/></Relationships>
</file>

<file path=ppt/slides/_rels/slide157.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1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44B1EB0A-100B-4EE3-9E5C-205A099810BE}"/>
              </a:ext>
            </a:extLst>
          </p:cNvPr>
          <p:cNvSpPr/>
          <p:nvPr/>
        </p:nvSpPr>
        <p:spPr>
          <a:xfrm>
            <a:off x="904092" y="3654025"/>
            <a:ext cx="7335815" cy="2135539"/>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2800" b="1" dirty="0"/>
              <a:t>Dr. Roshan Fernandes</a:t>
            </a:r>
          </a:p>
          <a:p>
            <a:pPr algn="ctr"/>
            <a:r>
              <a:rPr lang="en-US" sz="2800" b="1" dirty="0"/>
              <a:t>Professor and Head</a:t>
            </a:r>
          </a:p>
          <a:p>
            <a:pPr algn="ctr"/>
            <a:r>
              <a:rPr lang="en-US" sz="2800" b="1" dirty="0"/>
              <a:t>Dept. of Cyber Security</a:t>
            </a:r>
          </a:p>
          <a:p>
            <a:pPr algn="ctr"/>
            <a:r>
              <a:rPr lang="en-US" sz="2800" b="1" dirty="0"/>
              <a:t>NMAMIT, NITTE (DU)</a:t>
            </a:r>
            <a:endParaRPr lang="en-IN" sz="2800" b="1" dirty="0"/>
          </a:p>
        </p:txBody>
      </p:sp>
      <p:sp>
        <p:nvSpPr>
          <p:cNvPr id="4" name="Text Placeholder 2">
            <a:extLst>
              <a:ext uri="{FF2B5EF4-FFF2-40B4-BE49-F238E27FC236}">
                <a16:creationId xmlns:a16="http://schemas.microsoft.com/office/drawing/2014/main" id="{99E32E43-15D9-4D74-9BAD-6B13AB34AC2A}"/>
              </a:ext>
            </a:extLst>
          </p:cNvPr>
          <p:cNvSpPr txBox="1">
            <a:spLocks/>
          </p:cNvSpPr>
          <p:nvPr/>
        </p:nvSpPr>
        <p:spPr>
          <a:xfrm>
            <a:off x="19905" y="1251234"/>
            <a:ext cx="9143999" cy="1592701"/>
          </a:xfrm>
          <a:prstGeom prst="rect">
            <a:avLst/>
          </a:prstGeom>
          <a:gradFill>
            <a:gsLst>
              <a:gs pos="15000">
                <a:schemeClr val="bg1"/>
              </a:gs>
              <a:gs pos="0">
                <a:schemeClr val="accent6"/>
              </a:gs>
              <a:gs pos="85000">
                <a:schemeClr val="bg1"/>
              </a:gs>
              <a:gs pos="100000">
                <a:schemeClr val="accent6">
                  <a:lumMod val="60000"/>
                  <a:lumOff val="40000"/>
                </a:schemeClr>
              </a:gs>
            </a:gsLst>
            <a:lin ang="5400000" scaled="0"/>
          </a:gradFill>
        </p:spPr>
        <p:txBody>
          <a:bodyPr vert="horz" lIns="91440" tIns="45720" rIns="91440" bIns="45720"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600"/>
              </a:spcBef>
              <a:spcAft>
                <a:spcPts val="600"/>
              </a:spcAft>
            </a:pPr>
            <a:r>
              <a:rPr lang="en-US" sz="2800" b="1" spc="50" dirty="0">
                <a:solidFill>
                  <a:srgbClr val="FF0000"/>
                </a:solidFill>
                <a:effectLst>
                  <a:outerShdw blurRad="38100" dist="38100" dir="2700000" algn="tl">
                    <a:srgbClr val="000000">
                      <a:alpha val="43137"/>
                    </a:srgbClr>
                  </a:outerShdw>
                </a:effectLst>
                <a:latin typeface="Trebuchet MS" panose="020B0603020202020204" pitchFamily="34" charset="0"/>
                <a:cs typeface="Arial" pitchFamily="34" charset="0"/>
              </a:rPr>
              <a:t>Design and Analysis of Algorithms</a:t>
            </a:r>
          </a:p>
        </p:txBody>
      </p:sp>
    </p:spTree>
    <p:extLst>
      <p:ext uri="{BB962C8B-B14F-4D97-AF65-F5344CB8AC3E}">
        <p14:creationId xmlns:p14="http://schemas.microsoft.com/office/powerpoint/2010/main" val="554417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6ACC4C-5B41-4FF1-8B96-C2BA0618BC79}"/>
              </a:ext>
            </a:extLst>
          </p:cNvPr>
          <p:cNvSpPr>
            <a:spLocks noGrp="1"/>
          </p:cNvSpPr>
          <p:nvPr>
            <p:ph idx="1"/>
          </p:nvPr>
        </p:nvSpPr>
        <p:spPr>
          <a:xfrm>
            <a:off x="457200" y="1088740"/>
            <a:ext cx="8229600" cy="5400600"/>
          </a:xfrm>
        </p:spPr>
        <p:txBody>
          <a:bodyPr>
            <a:normAutofit fontScale="77500" lnSpcReduction="20000"/>
          </a:bodyPr>
          <a:lstStyle/>
          <a:p>
            <a:pPr marL="0" indent="0" algn="just">
              <a:buNone/>
            </a:pPr>
            <a:r>
              <a:rPr lang="en-US" dirty="0"/>
              <a:t>An algorithm is a sequence of unambiguous instructions for solving a problem, i.e., for obtaining a required output for any legitimate input in a finite amount of time</a:t>
            </a:r>
          </a:p>
          <a:p>
            <a:pPr algn="just"/>
            <a:endParaRPr lang="en-US" dirty="0"/>
          </a:p>
          <a:p>
            <a:pPr algn="just"/>
            <a:r>
              <a:rPr lang="en-US" dirty="0"/>
              <a:t>The </a:t>
            </a:r>
            <a:r>
              <a:rPr lang="en-US" dirty="0" err="1"/>
              <a:t>nonambiguity</a:t>
            </a:r>
            <a:r>
              <a:rPr lang="en-US" dirty="0"/>
              <a:t> requirement for each step of an algorithm cannot be compromised</a:t>
            </a:r>
          </a:p>
          <a:p>
            <a:pPr algn="just"/>
            <a:endParaRPr lang="en-US" dirty="0"/>
          </a:p>
          <a:p>
            <a:pPr algn="just"/>
            <a:r>
              <a:rPr lang="en-US" dirty="0"/>
              <a:t>The range of inputs for which an algorithm works has to be specified carefully</a:t>
            </a:r>
          </a:p>
          <a:p>
            <a:pPr algn="just"/>
            <a:endParaRPr lang="en-US" dirty="0"/>
          </a:p>
          <a:p>
            <a:pPr algn="just"/>
            <a:r>
              <a:rPr lang="en-US" dirty="0"/>
              <a:t>The same algorithm can be represented in several different ways</a:t>
            </a:r>
          </a:p>
          <a:p>
            <a:pPr algn="just"/>
            <a:endParaRPr lang="en-US" dirty="0"/>
          </a:p>
          <a:p>
            <a:pPr algn="just"/>
            <a:r>
              <a:rPr lang="en-US" dirty="0"/>
              <a:t>There may exist several algorithms for solving the same problem</a:t>
            </a:r>
          </a:p>
          <a:p>
            <a:pPr algn="just"/>
            <a:endParaRPr lang="en-IN" dirty="0"/>
          </a:p>
        </p:txBody>
      </p:sp>
      <p:sp>
        <p:nvSpPr>
          <p:cNvPr id="4" name="TextBox 3">
            <a:extLst>
              <a:ext uri="{FF2B5EF4-FFF2-40B4-BE49-F238E27FC236}">
                <a16:creationId xmlns:a16="http://schemas.microsoft.com/office/drawing/2014/main" id="{1916B988-180D-8F6C-FB19-861993F56818}"/>
              </a:ext>
            </a:extLst>
          </p:cNvPr>
          <p:cNvSpPr txBox="1"/>
          <p:nvPr/>
        </p:nvSpPr>
        <p:spPr>
          <a:xfrm>
            <a:off x="457200" y="547170"/>
            <a:ext cx="4669970" cy="461665"/>
          </a:xfrm>
          <a:prstGeom prst="rect">
            <a:avLst/>
          </a:prstGeom>
          <a:noFill/>
        </p:spPr>
        <p:txBody>
          <a:bodyPr wrap="square">
            <a:spAutoFit/>
          </a:bodyPr>
          <a:lstStyle/>
          <a:p>
            <a:r>
              <a:rPr lang="en-IN" sz="2400" b="1" i="0" u="none" strike="noStrike" baseline="0" dirty="0">
                <a:latin typeface="Univers-Bold"/>
              </a:rPr>
              <a:t>What Is an Algorithm?</a:t>
            </a:r>
            <a:endParaRPr lang="en-IN" sz="2400" dirty="0"/>
          </a:p>
        </p:txBody>
      </p:sp>
    </p:spTree>
    <p:extLst>
      <p:ext uri="{BB962C8B-B14F-4D97-AF65-F5344CB8AC3E}">
        <p14:creationId xmlns:p14="http://schemas.microsoft.com/office/powerpoint/2010/main" val="2867982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E09F97-50E5-397C-B471-0EFEDE379435}"/>
              </a:ext>
            </a:extLst>
          </p:cNvPr>
          <p:cNvPicPr>
            <a:picLocks noChangeAspect="1"/>
          </p:cNvPicPr>
          <p:nvPr/>
        </p:nvPicPr>
        <p:blipFill>
          <a:blip r:embed="rId2"/>
          <a:stretch>
            <a:fillRect/>
          </a:stretch>
        </p:blipFill>
        <p:spPr>
          <a:xfrm>
            <a:off x="566555" y="953725"/>
            <a:ext cx="7740860" cy="4777850"/>
          </a:xfrm>
          <a:prstGeom prst="rect">
            <a:avLst/>
          </a:prstGeom>
        </p:spPr>
      </p:pic>
    </p:spTree>
    <p:extLst>
      <p:ext uri="{BB962C8B-B14F-4D97-AF65-F5344CB8AC3E}">
        <p14:creationId xmlns:p14="http://schemas.microsoft.com/office/powerpoint/2010/main" val="1333895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39C52CF-9820-7CE0-F506-3D71298EDBE9}"/>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7D72F0C8-4C3F-CC79-C0B1-AD616D6CAFCE}"/>
              </a:ext>
            </a:extLst>
          </p:cNvPr>
          <p:cNvPicPr>
            <a:picLocks noChangeAspect="1"/>
          </p:cNvPicPr>
          <p:nvPr/>
        </p:nvPicPr>
        <p:blipFill>
          <a:blip r:embed="rId2"/>
          <a:stretch>
            <a:fillRect/>
          </a:stretch>
        </p:blipFill>
        <p:spPr>
          <a:xfrm>
            <a:off x="0" y="683695"/>
            <a:ext cx="9144000" cy="5687315"/>
          </a:xfrm>
          <a:prstGeom prst="rect">
            <a:avLst/>
          </a:prstGeom>
        </p:spPr>
      </p:pic>
    </p:spTree>
    <p:extLst>
      <p:ext uri="{BB962C8B-B14F-4D97-AF65-F5344CB8AC3E}">
        <p14:creationId xmlns:p14="http://schemas.microsoft.com/office/powerpoint/2010/main" val="908399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7CECE97-6C8E-E11A-3F4D-7A4077504D78}"/>
              </a:ext>
            </a:extLst>
          </p:cNvPr>
          <p:cNvPicPr>
            <a:picLocks noChangeAspect="1"/>
          </p:cNvPicPr>
          <p:nvPr/>
        </p:nvPicPr>
        <p:blipFill>
          <a:blip r:embed="rId2"/>
          <a:stretch>
            <a:fillRect/>
          </a:stretch>
        </p:blipFill>
        <p:spPr>
          <a:xfrm>
            <a:off x="0" y="1988840"/>
            <a:ext cx="9144000" cy="2698227"/>
          </a:xfrm>
          <a:prstGeom prst="rect">
            <a:avLst/>
          </a:prstGeom>
        </p:spPr>
      </p:pic>
    </p:spTree>
    <p:extLst>
      <p:ext uri="{BB962C8B-B14F-4D97-AF65-F5344CB8AC3E}">
        <p14:creationId xmlns:p14="http://schemas.microsoft.com/office/powerpoint/2010/main" val="3630221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8AFEB31-36A2-9DE6-DB03-57E259C04BA1}"/>
              </a:ext>
            </a:extLst>
          </p:cNvPr>
          <p:cNvPicPr>
            <a:picLocks noChangeAspect="1"/>
          </p:cNvPicPr>
          <p:nvPr/>
        </p:nvPicPr>
        <p:blipFill>
          <a:blip r:embed="rId2"/>
          <a:stretch>
            <a:fillRect/>
          </a:stretch>
        </p:blipFill>
        <p:spPr>
          <a:xfrm>
            <a:off x="0" y="1251017"/>
            <a:ext cx="9144000" cy="4608253"/>
          </a:xfrm>
          <a:prstGeom prst="rect">
            <a:avLst/>
          </a:prstGeom>
        </p:spPr>
      </p:pic>
    </p:spTree>
    <p:extLst>
      <p:ext uri="{BB962C8B-B14F-4D97-AF65-F5344CB8AC3E}">
        <p14:creationId xmlns:p14="http://schemas.microsoft.com/office/powerpoint/2010/main" val="3927078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E2FAD3-624E-61C3-4F3D-40BEA4C6B925}"/>
              </a:ext>
            </a:extLst>
          </p:cNvPr>
          <p:cNvSpPr>
            <a:spLocks noGrp="1"/>
          </p:cNvSpPr>
          <p:nvPr>
            <p:ph idx="1"/>
          </p:nvPr>
        </p:nvSpPr>
        <p:spPr>
          <a:xfrm>
            <a:off x="457200" y="1043735"/>
            <a:ext cx="8229600" cy="5082429"/>
          </a:xfrm>
        </p:spPr>
        <p:txBody>
          <a:bodyPr>
            <a:noAutofit/>
          </a:bodyPr>
          <a:lstStyle/>
          <a:p>
            <a:pPr algn="just"/>
            <a:r>
              <a:rPr lang="en-US" sz="2600" dirty="0"/>
              <a:t>Let us introduce a simple algorithm for generating consecutive primes not exceeding any given integer n &gt; 1</a:t>
            </a:r>
          </a:p>
          <a:p>
            <a:pPr algn="just"/>
            <a:endParaRPr lang="en-US" sz="2600" dirty="0"/>
          </a:p>
          <a:p>
            <a:pPr algn="just"/>
            <a:r>
              <a:rPr lang="en-US" sz="2600" dirty="0"/>
              <a:t>It was probably invented in ancient Greece and is known as the sieve of Eratosthenes (ca. 200 </a:t>
            </a:r>
            <a:r>
              <a:rPr lang="en-US" sz="2600" dirty="0" err="1"/>
              <a:t>b.c.</a:t>
            </a:r>
            <a:r>
              <a:rPr lang="en-US" sz="2600" dirty="0"/>
              <a:t>)</a:t>
            </a:r>
          </a:p>
          <a:p>
            <a:pPr algn="just"/>
            <a:endParaRPr lang="en-US" sz="2600" dirty="0"/>
          </a:p>
          <a:p>
            <a:pPr algn="just"/>
            <a:r>
              <a:rPr lang="en-US" sz="2600" dirty="0"/>
              <a:t>The algorithm starts </a:t>
            </a:r>
            <a:r>
              <a:rPr lang="en-US" sz="2600" dirty="0" err="1"/>
              <a:t>byinitializing</a:t>
            </a:r>
            <a:r>
              <a:rPr lang="en-US" sz="2600" dirty="0"/>
              <a:t> a list of prime candidates with consecutive integers from 2 to n. Then, on its first iteration, the algorithm eliminates from the list all multiples of 2, i.e., 4, 6, and so on.</a:t>
            </a:r>
            <a:endParaRPr lang="en-IN" sz="2600" dirty="0"/>
          </a:p>
        </p:txBody>
      </p:sp>
    </p:spTree>
    <p:extLst>
      <p:ext uri="{BB962C8B-B14F-4D97-AF65-F5344CB8AC3E}">
        <p14:creationId xmlns:p14="http://schemas.microsoft.com/office/powerpoint/2010/main" val="3884376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539F7B-592A-4EFE-FC29-55EC7DD28466}"/>
              </a:ext>
            </a:extLst>
          </p:cNvPr>
          <p:cNvSpPr>
            <a:spLocks noGrp="1"/>
          </p:cNvSpPr>
          <p:nvPr>
            <p:ph idx="1"/>
          </p:nvPr>
        </p:nvSpPr>
        <p:spPr/>
        <p:txBody>
          <a:bodyPr/>
          <a:lstStyle/>
          <a:p>
            <a:pPr algn="just"/>
            <a:r>
              <a:rPr lang="en-US" dirty="0"/>
              <a:t>The algorithm continues in this fashion until no more numbers can be eliminated from the list</a:t>
            </a:r>
          </a:p>
          <a:p>
            <a:pPr algn="just"/>
            <a:endParaRPr lang="en-US" dirty="0"/>
          </a:p>
          <a:p>
            <a:pPr algn="just"/>
            <a:r>
              <a:rPr lang="en-US" dirty="0"/>
              <a:t>The remaining integers of the list are the primes needed</a:t>
            </a:r>
            <a:endParaRPr lang="en-IN" dirty="0"/>
          </a:p>
        </p:txBody>
      </p:sp>
    </p:spTree>
    <p:extLst>
      <p:ext uri="{BB962C8B-B14F-4D97-AF65-F5344CB8AC3E}">
        <p14:creationId xmlns:p14="http://schemas.microsoft.com/office/powerpoint/2010/main" val="3953917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2349E89-B824-9511-A9EA-AB0BD2FAC255}"/>
              </a:ext>
            </a:extLst>
          </p:cNvPr>
          <p:cNvPicPr>
            <a:picLocks noGrp="1" noChangeAspect="1"/>
          </p:cNvPicPr>
          <p:nvPr>
            <p:ph idx="1"/>
          </p:nvPr>
        </p:nvPicPr>
        <p:blipFill>
          <a:blip r:embed="rId2"/>
          <a:stretch>
            <a:fillRect/>
          </a:stretch>
        </p:blipFill>
        <p:spPr>
          <a:xfrm>
            <a:off x="70604" y="1673805"/>
            <a:ext cx="9073396" cy="2221509"/>
          </a:xfrm>
        </p:spPr>
      </p:pic>
    </p:spTree>
    <p:extLst>
      <p:ext uri="{BB962C8B-B14F-4D97-AF65-F5344CB8AC3E}">
        <p14:creationId xmlns:p14="http://schemas.microsoft.com/office/powerpoint/2010/main" val="1366830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A7185DC-2E5B-D01A-56C2-0575FC76CA14}"/>
              </a:ext>
            </a:extLst>
          </p:cNvPr>
          <p:cNvPicPr>
            <a:picLocks noGrp="1" noChangeAspect="1"/>
          </p:cNvPicPr>
          <p:nvPr>
            <p:ph idx="1"/>
          </p:nvPr>
        </p:nvPicPr>
        <p:blipFill>
          <a:blip r:embed="rId2"/>
          <a:stretch>
            <a:fillRect/>
          </a:stretch>
        </p:blipFill>
        <p:spPr>
          <a:xfrm>
            <a:off x="4876" y="11054"/>
            <a:ext cx="9139124" cy="1437726"/>
          </a:xfrm>
        </p:spPr>
      </p:pic>
      <p:pic>
        <p:nvPicPr>
          <p:cNvPr id="6" name="Picture 5">
            <a:extLst>
              <a:ext uri="{FF2B5EF4-FFF2-40B4-BE49-F238E27FC236}">
                <a16:creationId xmlns:a16="http://schemas.microsoft.com/office/drawing/2014/main" id="{96688941-192A-9684-9ADE-91397F564EB5}"/>
              </a:ext>
            </a:extLst>
          </p:cNvPr>
          <p:cNvPicPr>
            <a:picLocks noChangeAspect="1"/>
          </p:cNvPicPr>
          <p:nvPr/>
        </p:nvPicPr>
        <p:blipFill>
          <a:blip r:embed="rId3"/>
          <a:stretch>
            <a:fillRect/>
          </a:stretch>
        </p:blipFill>
        <p:spPr>
          <a:xfrm>
            <a:off x="0" y="1599854"/>
            <a:ext cx="9139124" cy="5268060"/>
          </a:xfrm>
          <a:prstGeom prst="rect">
            <a:avLst/>
          </a:prstGeom>
        </p:spPr>
      </p:pic>
    </p:spTree>
    <p:extLst>
      <p:ext uri="{BB962C8B-B14F-4D97-AF65-F5344CB8AC3E}">
        <p14:creationId xmlns:p14="http://schemas.microsoft.com/office/powerpoint/2010/main" val="2444178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4686408-84A2-452E-9262-85BA6A3CEB86}"/>
              </a:ext>
            </a:extLst>
          </p:cNvPr>
          <p:cNvPicPr>
            <a:picLocks noGrp="1" noChangeAspect="1"/>
          </p:cNvPicPr>
          <p:nvPr>
            <p:ph idx="1"/>
          </p:nvPr>
        </p:nvPicPr>
        <p:blipFill>
          <a:blip r:embed="rId3"/>
          <a:stretch>
            <a:fillRect/>
          </a:stretch>
        </p:blipFill>
        <p:spPr>
          <a:xfrm>
            <a:off x="17392" y="0"/>
            <a:ext cx="6506365" cy="6858000"/>
          </a:xfrm>
          <a:prstGeom prst="rect">
            <a:avLst/>
          </a:prstGeom>
        </p:spPr>
      </p:pic>
      <p:sp>
        <p:nvSpPr>
          <p:cNvPr id="2" name="Date Placeholder 1">
            <a:extLst>
              <a:ext uri="{FF2B5EF4-FFF2-40B4-BE49-F238E27FC236}">
                <a16:creationId xmlns:a16="http://schemas.microsoft.com/office/drawing/2014/main" id="{35C250D3-551A-7F0B-BC59-22AB5F317092}"/>
              </a:ext>
            </a:extLst>
          </p:cNvPr>
          <p:cNvSpPr>
            <a:spLocks noGrp="1"/>
          </p:cNvSpPr>
          <p:nvPr>
            <p:ph type="dt" sz="half" idx="10"/>
          </p:nvPr>
        </p:nvSpPr>
        <p:spPr/>
        <p:txBody>
          <a:bodyPr/>
          <a:lstStyle/>
          <a:p>
            <a:pPr>
              <a:defRPr/>
            </a:pPr>
            <a:fld id="{EF17E22C-FE95-4F68-BEE2-CC47B052CFFA}"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3A2F0C67-3D14-B0B2-8570-BA1F998B655A}"/>
              </a:ext>
            </a:extLst>
          </p:cNvPr>
          <p:cNvSpPr>
            <a:spLocks noGrp="1"/>
          </p:cNvSpPr>
          <p:nvPr>
            <p:ph type="sldNum" sz="quarter" idx="12"/>
          </p:nvPr>
        </p:nvSpPr>
        <p:spPr/>
        <p:txBody>
          <a:bodyPr/>
          <a:lstStyle/>
          <a:p>
            <a:pPr>
              <a:defRPr/>
            </a:pPr>
            <a:fld id="{937DAA19-78E2-454A-BF0A-AB51F6D45129}" type="slidenum">
              <a:rPr lang="en-US" altLang="en-US" smtClean="0"/>
              <a:pPr>
                <a:defRPr/>
              </a:pPr>
              <a:t>11</a:t>
            </a:fld>
            <a:endParaRPr lang="en-US" altLang="en-US"/>
          </a:p>
        </p:txBody>
      </p:sp>
    </p:spTree>
    <p:extLst>
      <p:ext uri="{BB962C8B-B14F-4D97-AF65-F5344CB8AC3E}">
        <p14:creationId xmlns:p14="http://schemas.microsoft.com/office/powerpoint/2010/main" val="4405728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E23360-D152-4173-A2FC-808D04915609}"/>
              </a:ext>
            </a:extLst>
          </p:cNvPr>
          <p:cNvSpPr>
            <a:spLocks noGrp="1"/>
          </p:cNvSpPr>
          <p:nvPr>
            <p:ph idx="1"/>
          </p:nvPr>
        </p:nvSpPr>
        <p:spPr>
          <a:xfrm>
            <a:off x="161509" y="908720"/>
            <a:ext cx="8595955" cy="5175575"/>
          </a:xfrm>
        </p:spPr>
        <p:txBody>
          <a:bodyPr>
            <a:normAutofit lnSpcReduction="10000"/>
          </a:bodyPr>
          <a:lstStyle/>
          <a:p>
            <a:pPr algn="just"/>
            <a:r>
              <a:rPr lang="en-IN" sz="3000" b="1" dirty="0"/>
              <a:t>Understanding the Problem</a:t>
            </a:r>
          </a:p>
          <a:p>
            <a:pPr algn="just"/>
            <a:r>
              <a:rPr lang="en-US" sz="3000" b="1" dirty="0"/>
              <a:t>Ascertaining the Capabilities of the Computational Device</a:t>
            </a:r>
          </a:p>
          <a:p>
            <a:pPr lvl="1" algn="just"/>
            <a:r>
              <a:rPr lang="en-IN" b="1" i="1" dirty="0"/>
              <a:t>random-access machine </a:t>
            </a:r>
            <a:r>
              <a:rPr lang="en-IN" dirty="0"/>
              <a:t>(</a:t>
            </a:r>
            <a:r>
              <a:rPr lang="en-IN" b="1" i="1" dirty="0"/>
              <a:t>RAM</a:t>
            </a:r>
            <a:r>
              <a:rPr lang="en-IN" dirty="0"/>
              <a:t>) and </a:t>
            </a:r>
            <a:r>
              <a:rPr lang="en-US" dirty="0"/>
              <a:t>algorithms designed to be executed on such machines are called </a:t>
            </a:r>
            <a:r>
              <a:rPr lang="en-US" b="1" i="1" dirty="0"/>
              <a:t>sequential algorithms</a:t>
            </a:r>
          </a:p>
          <a:p>
            <a:pPr lvl="1" algn="just"/>
            <a:r>
              <a:rPr lang="en-US" dirty="0"/>
              <a:t>The central assumption of the RAM model does not hold for some newer computers that can execute operations concurrently, i.e., in parallel</a:t>
            </a:r>
          </a:p>
          <a:p>
            <a:pPr lvl="1" algn="just"/>
            <a:r>
              <a:rPr lang="en-US" dirty="0"/>
              <a:t>Algorithms that take advantage of this capability are called </a:t>
            </a:r>
            <a:r>
              <a:rPr lang="en-US" b="1" i="1" dirty="0"/>
              <a:t>parallel algorithms</a:t>
            </a:r>
            <a:endParaRPr lang="en-IN" dirty="0"/>
          </a:p>
        </p:txBody>
      </p:sp>
      <p:sp>
        <p:nvSpPr>
          <p:cNvPr id="2" name="Date Placeholder 1">
            <a:extLst>
              <a:ext uri="{FF2B5EF4-FFF2-40B4-BE49-F238E27FC236}">
                <a16:creationId xmlns:a16="http://schemas.microsoft.com/office/drawing/2014/main" id="{7BDB46A3-A2A4-895B-A414-4D15476A29AD}"/>
              </a:ext>
            </a:extLst>
          </p:cNvPr>
          <p:cNvSpPr>
            <a:spLocks noGrp="1"/>
          </p:cNvSpPr>
          <p:nvPr>
            <p:ph type="dt" sz="half" idx="10"/>
          </p:nvPr>
        </p:nvSpPr>
        <p:spPr/>
        <p:txBody>
          <a:bodyPr/>
          <a:lstStyle/>
          <a:p>
            <a:pPr>
              <a:defRPr/>
            </a:pPr>
            <a:fld id="{A964E593-17A3-4DA2-BAD1-6C98223D8881}"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C4B1BCAE-621B-7A0D-1D5A-74AC81A16B5A}"/>
              </a:ext>
            </a:extLst>
          </p:cNvPr>
          <p:cNvSpPr>
            <a:spLocks noGrp="1"/>
          </p:cNvSpPr>
          <p:nvPr>
            <p:ph type="sldNum" sz="quarter" idx="12"/>
          </p:nvPr>
        </p:nvSpPr>
        <p:spPr/>
        <p:txBody>
          <a:bodyPr/>
          <a:lstStyle/>
          <a:p>
            <a:pPr>
              <a:defRPr/>
            </a:pPr>
            <a:fld id="{937DAA19-78E2-454A-BF0A-AB51F6D45129}" type="slidenum">
              <a:rPr lang="en-US" altLang="en-US" smtClean="0"/>
              <a:pPr>
                <a:defRPr/>
              </a:pPr>
              <a:t>12</a:t>
            </a:fld>
            <a:endParaRPr lang="en-US" altLang="en-US"/>
          </a:p>
        </p:txBody>
      </p:sp>
    </p:spTree>
    <p:extLst>
      <p:ext uri="{BB962C8B-B14F-4D97-AF65-F5344CB8AC3E}">
        <p14:creationId xmlns:p14="http://schemas.microsoft.com/office/powerpoint/2010/main" val="2301342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C0466D-413D-4016-BEC3-62869838D635}"/>
              </a:ext>
            </a:extLst>
          </p:cNvPr>
          <p:cNvSpPr>
            <a:spLocks noGrp="1"/>
          </p:cNvSpPr>
          <p:nvPr>
            <p:ph idx="1"/>
          </p:nvPr>
        </p:nvSpPr>
        <p:spPr>
          <a:xfrm>
            <a:off x="206515" y="1166018"/>
            <a:ext cx="8550950" cy="4918277"/>
          </a:xfrm>
        </p:spPr>
        <p:txBody>
          <a:bodyPr/>
          <a:lstStyle/>
          <a:p>
            <a:pPr algn="just"/>
            <a:r>
              <a:rPr lang="en-US" sz="3000" b="1" dirty="0"/>
              <a:t>Choosing between Exact and Approximate Problem Solving</a:t>
            </a:r>
          </a:p>
          <a:p>
            <a:pPr algn="just"/>
            <a:endParaRPr lang="en-US" sz="3000" b="1" dirty="0"/>
          </a:p>
          <a:p>
            <a:pPr algn="just"/>
            <a:r>
              <a:rPr lang="en-US" sz="2800" dirty="0"/>
              <a:t>The next principal decision is to choose between solving the problem exactly or solving it approximately</a:t>
            </a:r>
          </a:p>
          <a:p>
            <a:pPr algn="just"/>
            <a:endParaRPr lang="en-US" sz="2800" dirty="0"/>
          </a:p>
          <a:p>
            <a:pPr algn="just"/>
            <a:r>
              <a:rPr lang="en-US" sz="2800" dirty="0"/>
              <a:t>In the former case, an algorithm is called an </a:t>
            </a:r>
            <a:r>
              <a:rPr lang="en-US" sz="2800" b="1" i="1" dirty="0"/>
              <a:t>exact algorithm</a:t>
            </a:r>
            <a:r>
              <a:rPr lang="en-US" sz="2800" dirty="0"/>
              <a:t>; in the latter case, an algorithm is called an </a:t>
            </a:r>
            <a:r>
              <a:rPr lang="en-US" sz="2800" b="1" i="1" dirty="0"/>
              <a:t>approximation algorithm</a:t>
            </a:r>
            <a:endParaRPr lang="en-IN" sz="2800" dirty="0"/>
          </a:p>
        </p:txBody>
      </p:sp>
      <p:sp>
        <p:nvSpPr>
          <p:cNvPr id="2" name="Date Placeholder 1">
            <a:extLst>
              <a:ext uri="{FF2B5EF4-FFF2-40B4-BE49-F238E27FC236}">
                <a16:creationId xmlns:a16="http://schemas.microsoft.com/office/drawing/2014/main" id="{7E515A3D-D7C7-40DA-494B-13B98318671E}"/>
              </a:ext>
            </a:extLst>
          </p:cNvPr>
          <p:cNvSpPr>
            <a:spLocks noGrp="1"/>
          </p:cNvSpPr>
          <p:nvPr>
            <p:ph type="dt" sz="half" idx="10"/>
          </p:nvPr>
        </p:nvSpPr>
        <p:spPr/>
        <p:txBody>
          <a:bodyPr/>
          <a:lstStyle/>
          <a:p>
            <a:pPr>
              <a:defRPr/>
            </a:pPr>
            <a:fld id="{4DD8D31C-C136-46D6-BC56-C532318FA47C}"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8585BFBD-CE02-5FD3-8426-5C126651B1F6}"/>
              </a:ext>
            </a:extLst>
          </p:cNvPr>
          <p:cNvSpPr>
            <a:spLocks noGrp="1"/>
          </p:cNvSpPr>
          <p:nvPr>
            <p:ph type="sldNum" sz="quarter" idx="12"/>
          </p:nvPr>
        </p:nvSpPr>
        <p:spPr/>
        <p:txBody>
          <a:bodyPr/>
          <a:lstStyle/>
          <a:p>
            <a:pPr>
              <a:defRPr/>
            </a:pPr>
            <a:fld id="{937DAA19-78E2-454A-BF0A-AB51F6D45129}" type="slidenum">
              <a:rPr lang="en-US" altLang="en-US" smtClean="0"/>
              <a:pPr>
                <a:defRPr/>
              </a:pPr>
              <a:t>13</a:t>
            </a:fld>
            <a:endParaRPr lang="en-US" altLang="en-US"/>
          </a:p>
        </p:txBody>
      </p:sp>
    </p:spTree>
    <p:extLst>
      <p:ext uri="{BB962C8B-B14F-4D97-AF65-F5344CB8AC3E}">
        <p14:creationId xmlns:p14="http://schemas.microsoft.com/office/powerpoint/2010/main" val="370931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72A615-2B57-4385-AB36-B4DE44A47353}"/>
              </a:ext>
            </a:extLst>
          </p:cNvPr>
          <p:cNvSpPr>
            <a:spLocks noGrp="1"/>
          </p:cNvSpPr>
          <p:nvPr>
            <p:ph idx="1"/>
          </p:nvPr>
        </p:nvSpPr>
        <p:spPr>
          <a:xfrm>
            <a:off x="457200" y="998730"/>
            <a:ext cx="8229600" cy="5127435"/>
          </a:xfrm>
        </p:spPr>
        <p:txBody>
          <a:bodyPr>
            <a:normAutofit fontScale="85000" lnSpcReduction="20000"/>
          </a:bodyPr>
          <a:lstStyle/>
          <a:p>
            <a:pPr algn="just"/>
            <a:r>
              <a:rPr lang="en-IN" b="1" dirty="0"/>
              <a:t>Why </a:t>
            </a:r>
            <a:r>
              <a:rPr lang="en-US" b="1" dirty="0"/>
              <a:t>would one opt for an approximation algorithm?</a:t>
            </a:r>
          </a:p>
          <a:p>
            <a:pPr algn="just"/>
            <a:endParaRPr lang="en-US" dirty="0"/>
          </a:p>
          <a:p>
            <a:pPr algn="just"/>
            <a:r>
              <a:rPr lang="en-US" dirty="0"/>
              <a:t>First, there are important problems that simply cannot be solved exactly for most of their instances; examples include extracting square roots, solving nonlinear equations, and evaluating definite integrals </a:t>
            </a:r>
          </a:p>
          <a:p>
            <a:pPr algn="just"/>
            <a:endParaRPr lang="en-US" dirty="0"/>
          </a:p>
          <a:p>
            <a:pPr algn="just"/>
            <a:r>
              <a:rPr lang="en-US" dirty="0"/>
              <a:t>Second, available algorithms for solving a problem exactly can be unacceptably slow because of the problem’s intrinsic complexity</a:t>
            </a:r>
          </a:p>
          <a:p>
            <a:pPr algn="just"/>
            <a:endParaRPr lang="en-US" dirty="0"/>
          </a:p>
          <a:p>
            <a:pPr algn="just"/>
            <a:r>
              <a:rPr lang="en-US" dirty="0"/>
              <a:t>This happens, in particular, for many problems involving a very large number of choices</a:t>
            </a:r>
            <a:endParaRPr lang="en-IN" dirty="0"/>
          </a:p>
        </p:txBody>
      </p:sp>
      <p:sp>
        <p:nvSpPr>
          <p:cNvPr id="2" name="Date Placeholder 1">
            <a:extLst>
              <a:ext uri="{FF2B5EF4-FFF2-40B4-BE49-F238E27FC236}">
                <a16:creationId xmlns:a16="http://schemas.microsoft.com/office/drawing/2014/main" id="{83E0A69F-9205-8B52-4846-4C5507D85819}"/>
              </a:ext>
            </a:extLst>
          </p:cNvPr>
          <p:cNvSpPr>
            <a:spLocks noGrp="1"/>
          </p:cNvSpPr>
          <p:nvPr>
            <p:ph type="dt" sz="half" idx="10"/>
          </p:nvPr>
        </p:nvSpPr>
        <p:spPr/>
        <p:txBody>
          <a:bodyPr/>
          <a:lstStyle/>
          <a:p>
            <a:pPr>
              <a:defRPr/>
            </a:pPr>
            <a:fld id="{3D51F7E6-06AC-459F-821C-212694DFC479}"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C330F7C0-1307-23BB-AF00-3F8A0EC69817}"/>
              </a:ext>
            </a:extLst>
          </p:cNvPr>
          <p:cNvSpPr>
            <a:spLocks noGrp="1"/>
          </p:cNvSpPr>
          <p:nvPr>
            <p:ph type="sldNum" sz="quarter" idx="12"/>
          </p:nvPr>
        </p:nvSpPr>
        <p:spPr/>
        <p:txBody>
          <a:bodyPr/>
          <a:lstStyle/>
          <a:p>
            <a:pPr>
              <a:defRPr/>
            </a:pPr>
            <a:fld id="{937DAA19-78E2-454A-BF0A-AB51F6D45129}" type="slidenum">
              <a:rPr lang="en-US" altLang="en-US" smtClean="0"/>
              <a:pPr>
                <a:defRPr/>
              </a:pPr>
              <a:t>14</a:t>
            </a:fld>
            <a:endParaRPr lang="en-US" altLang="en-US"/>
          </a:p>
        </p:txBody>
      </p:sp>
    </p:spTree>
    <p:extLst>
      <p:ext uri="{BB962C8B-B14F-4D97-AF65-F5344CB8AC3E}">
        <p14:creationId xmlns:p14="http://schemas.microsoft.com/office/powerpoint/2010/main" val="19820924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12AB92-8647-40FF-B9A7-841955B3A93E}"/>
              </a:ext>
            </a:extLst>
          </p:cNvPr>
          <p:cNvSpPr>
            <a:spLocks noGrp="1"/>
          </p:cNvSpPr>
          <p:nvPr>
            <p:ph idx="1"/>
          </p:nvPr>
        </p:nvSpPr>
        <p:spPr/>
        <p:txBody>
          <a:bodyPr/>
          <a:lstStyle/>
          <a:p>
            <a:pPr algn="just"/>
            <a:r>
              <a:rPr lang="en-IN" b="1" dirty="0"/>
              <a:t>Algorithm Design Techniques</a:t>
            </a:r>
          </a:p>
          <a:p>
            <a:pPr algn="just"/>
            <a:endParaRPr lang="en-IN" b="1" dirty="0"/>
          </a:p>
          <a:p>
            <a:pPr algn="just"/>
            <a:r>
              <a:rPr lang="en-US" dirty="0"/>
              <a:t>An </a:t>
            </a:r>
            <a:r>
              <a:rPr lang="en-US" b="1" i="1" dirty="0"/>
              <a:t>algorithm design technique </a:t>
            </a:r>
            <a:r>
              <a:rPr lang="en-US" dirty="0"/>
              <a:t>(or “strategy” or “paradigm”) is a general approach to solving problems algorithmically that is applicable to a variety of problems from different areas of computing</a:t>
            </a:r>
            <a:endParaRPr lang="en-IN" dirty="0"/>
          </a:p>
        </p:txBody>
      </p:sp>
      <p:sp>
        <p:nvSpPr>
          <p:cNvPr id="2" name="Date Placeholder 1">
            <a:extLst>
              <a:ext uri="{FF2B5EF4-FFF2-40B4-BE49-F238E27FC236}">
                <a16:creationId xmlns:a16="http://schemas.microsoft.com/office/drawing/2014/main" id="{72885286-7BED-F3F6-FE45-4B790C8A443D}"/>
              </a:ext>
            </a:extLst>
          </p:cNvPr>
          <p:cNvSpPr>
            <a:spLocks noGrp="1"/>
          </p:cNvSpPr>
          <p:nvPr>
            <p:ph type="dt" sz="half" idx="10"/>
          </p:nvPr>
        </p:nvSpPr>
        <p:spPr/>
        <p:txBody>
          <a:bodyPr/>
          <a:lstStyle/>
          <a:p>
            <a:pPr>
              <a:defRPr/>
            </a:pPr>
            <a:fld id="{BD463E82-4273-45C2-A28A-8EDE7232518E}"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CA212BE2-B81F-FB89-4B71-99E1C56DBD8F}"/>
              </a:ext>
            </a:extLst>
          </p:cNvPr>
          <p:cNvSpPr>
            <a:spLocks noGrp="1"/>
          </p:cNvSpPr>
          <p:nvPr>
            <p:ph type="sldNum" sz="quarter" idx="12"/>
          </p:nvPr>
        </p:nvSpPr>
        <p:spPr/>
        <p:txBody>
          <a:bodyPr/>
          <a:lstStyle/>
          <a:p>
            <a:pPr>
              <a:defRPr/>
            </a:pPr>
            <a:fld id="{937DAA19-78E2-454A-BF0A-AB51F6D45129}" type="slidenum">
              <a:rPr lang="en-US" altLang="en-US" smtClean="0"/>
              <a:pPr>
                <a:defRPr/>
              </a:pPr>
              <a:t>15</a:t>
            </a:fld>
            <a:endParaRPr lang="en-US" altLang="en-US"/>
          </a:p>
        </p:txBody>
      </p:sp>
    </p:spTree>
    <p:extLst>
      <p:ext uri="{BB962C8B-B14F-4D97-AF65-F5344CB8AC3E}">
        <p14:creationId xmlns:p14="http://schemas.microsoft.com/office/powerpoint/2010/main" val="5917199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FD1C57-8EA0-4B92-A78F-0E59C4F5F11A}"/>
              </a:ext>
            </a:extLst>
          </p:cNvPr>
          <p:cNvSpPr>
            <a:spLocks noGrp="1"/>
          </p:cNvSpPr>
          <p:nvPr>
            <p:ph idx="1"/>
          </p:nvPr>
        </p:nvSpPr>
        <p:spPr>
          <a:xfrm>
            <a:off x="341530" y="1166018"/>
            <a:ext cx="8229600" cy="4525963"/>
          </a:xfrm>
        </p:spPr>
        <p:txBody>
          <a:bodyPr>
            <a:normAutofit/>
          </a:bodyPr>
          <a:lstStyle/>
          <a:p>
            <a:r>
              <a:rPr lang="en-US" sz="2800" b="1" dirty="0"/>
              <a:t>Designing an Algorithm and Data Structures</a:t>
            </a:r>
          </a:p>
          <a:p>
            <a:endParaRPr lang="en-US" sz="2800" b="1" dirty="0"/>
          </a:p>
          <a:p>
            <a:r>
              <a:rPr lang="en-US" sz="2800" b="1" dirty="0"/>
              <a:t>Methods of Specifying an Algorithm</a:t>
            </a:r>
          </a:p>
          <a:p>
            <a:endParaRPr lang="en-US" sz="2800" b="1" dirty="0"/>
          </a:p>
          <a:p>
            <a:r>
              <a:rPr lang="en-US" sz="2800" dirty="0"/>
              <a:t>Using a natural language has an obvious appeal; however, the inherent ambiguity of any natural language makes a succinct and clear description of algorithms </a:t>
            </a:r>
            <a:r>
              <a:rPr lang="en-IN" sz="2800" dirty="0"/>
              <a:t>surprisingly difficult.</a:t>
            </a:r>
          </a:p>
        </p:txBody>
      </p:sp>
      <p:sp>
        <p:nvSpPr>
          <p:cNvPr id="2" name="Date Placeholder 1">
            <a:extLst>
              <a:ext uri="{FF2B5EF4-FFF2-40B4-BE49-F238E27FC236}">
                <a16:creationId xmlns:a16="http://schemas.microsoft.com/office/drawing/2014/main" id="{C209B9E9-08CD-C415-E828-DCCEC4E38495}"/>
              </a:ext>
            </a:extLst>
          </p:cNvPr>
          <p:cNvSpPr>
            <a:spLocks noGrp="1"/>
          </p:cNvSpPr>
          <p:nvPr>
            <p:ph type="dt" sz="half" idx="10"/>
          </p:nvPr>
        </p:nvSpPr>
        <p:spPr/>
        <p:txBody>
          <a:bodyPr/>
          <a:lstStyle/>
          <a:p>
            <a:pPr>
              <a:defRPr/>
            </a:pPr>
            <a:fld id="{1CB86C90-9AAD-40B5-BF32-A3EECEAFC98C}"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884280B0-C47A-14ED-3215-C66D1BBFE366}"/>
              </a:ext>
            </a:extLst>
          </p:cNvPr>
          <p:cNvSpPr>
            <a:spLocks noGrp="1"/>
          </p:cNvSpPr>
          <p:nvPr>
            <p:ph type="sldNum" sz="quarter" idx="12"/>
          </p:nvPr>
        </p:nvSpPr>
        <p:spPr/>
        <p:txBody>
          <a:bodyPr/>
          <a:lstStyle/>
          <a:p>
            <a:pPr>
              <a:defRPr/>
            </a:pPr>
            <a:fld id="{937DAA19-78E2-454A-BF0A-AB51F6D45129}" type="slidenum">
              <a:rPr lang="en-US" altLang="en-US" smtClean="0"/>
              <a:pPr>
                <a:defRPr/>
              </a:pPr>
              <a:t>16</a:t>
            </a:fld>
            <a:endParaRPr lang="en-US" altLang="en-US"/>
          </a:p>
        </p:txBody>
      </p:sp>
    </p:spTree>
    <p:extLst>
      <p:ext uri="{BB962C8B-B14F-4D97-AF65-F5344CB8AC3E}">
        <p14:creationId xmlns:p14="http://schemas.microsoft.com/office/powerpoint/2010/main" val="48940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240DBE-805E-419B-884E-945271FD3391}"/>
              </a:ext>
            </a:extLst>
          </p:cNvPr>
          <p:cNvSpPr>
            <a:spLocks noGrp="1"/>
          </p:cNvSpPr>
          <p:nvPr>
            <p:ph idx="1"/>
          </p:nvPr>
        </p:nvSpPr>
        <p:spPr>
          <a:xfrm>
            <a:off x="251520" y="863716"/>
            <a:ext cx="8229600" cy="4828266"/>
          </a:xfrm>
        </p:spPr>
        <p:txBody>
          <a:bodyPr>
            <a:normAutofit/>
          </a:bodyPr>
          <a:lstStyle/>
          <a:p>
            <a:pPr algn="just"/>
            <a:r>
              <a:rPr lang="en-US" b="1" i="1" dirty="0"/>
              <a:t>Pseudocode </a:t>
            </a:r>
            <a:r>
              <a:rPr lang="en-US" dirty="0"/>
              <a:t>is a mixture of a natural language and programming language like constructs. Pseudocode is usually more precise than natural language</a:t>
            </a:r>
          </a:p>
          <a:p>
            <a:pPr algn="just"/>
            <a:endParaRPr lang="en-US" dirty="0"/>
          </a:p>
          <a:p>
            <a:pPr algn="just"/>
            <a:r>
              <a:rPr lang="en-US" b="1" i="1" dirty="0"/>
              <a:t>flowchart</a:t>
            </a:r>
            <a:r>
              <a:rPr lang="en-US" dirty="0"/>
              <a:t>, a method of expressing an algorithm by a collection of connected geometric shapes containing descriptions of the algorithm’s steps</a:t>
            </a:r>
            <a:endParaRPr lang="en-IN" dirty="0"/>
          </a:p>
        </p:txBody>
      </p:sp>
      <p:sp>
        <p:nvSpPr>
          <p:cNvPr id="2" name="Date Placeholder 1">
            <a:extLst>
              <a:ext uri="{FF2B5EF4-FFF2-40B4-BE49-F238E27FC236}">
                <a16:creationId xmlns:a16="http://schemas.microsoft.com/office/drawing/2014/main" id="{FBFE2A70-0626-4888-B931-2272B40EBEC4}"/>
              </a:ext>
            </a:extLst>
          </p:cNvPr>
          <p:cNvSpPr>
            <a:spLocks noGrp="1"/>
          </p:cNvSpPr>
          <p:nvPr>
            <p:ph type="dt" sz="half" idx="10"/>
          </p:nvPr>
        </p:nvSpPr>
        <p:spPr/>
        <p:txBody>
          <a:bodyPr/>
          <a:lstStyle/>
          <a:p>
            <a:pPr>
              <a:defRPr/>
            </a:pPr>
            <a:fld id="{37D09539-C0F4-4FA5-A2E5-51D82150F286}"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27D1A4A6-A833-F728-6FA9-B55B894BE0F5}"/>
              </a:ext>
            </a:extLst>
          </p:cNvPr>
          <p:cNvSpPr>
            <a:spLocks noGrp="1"/>
          </p:cNvSpPr>
          <p:nvPr>
            <p:ph type="sldNum" sz="quarter" idx="12"/>
          </p:nvPr>
        </p:nvSpPr>
        <p:spPr/>
        <p:txBody>
          <a:bodyPr/>
          <a:lstStyle/>
          <a:p>
            <a:pPr>
              <a:defRPr/>
            </a:pPr>
            <a:fld id="{937DAA19-78E2-454A-BF0A-AB51F6D45129}" type="slidenum">
              <a:rPr lang="en-US" altLang="en-US" smtClean="0"/>
              <a:pPr>
                <a:defRPr/>
              </a:pPr>
              <a:t>17</a:t>
            </a:fld>
            <a:endParaRPr lang="en-US" altLang="en-US"/>
          </a:p>
        </p:txBody>
      </p:sp>
    </p:spTree>
    <p:extLst>
      <p:ext uri="{BB962C8B-B14F-4D97-AF65-F5344CB8AC3E}">
        <p14:creationId xmlns:p14="http://schemas.microsoft.com/office/powerpoint/2010/main" val="3947591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649AED-C06E-4982-82D9-C3714BC5D980}"/>
              </a:ext>
            </a:extLst>
          </p:cNvPr>
          <p:cNvSpPr>
            <a:spLocks noGrp="1"/>
          </p:cNvSpPr>
          <p:nvPr>
            <p:ph idx="1"/>
          </p:nvPr>
        </p:nvSpPr>
        <p:spPr>
          <a:xfrm>
            <a:off x="457200" y="998731"/>
            <a:ext cx="8229600" cy="5127434"/>
          </a:xfrm>
        </p:spPr>
        <p:txBody>
          <a:bodyPr>
            <a:normAutofit lnSpcReduction="10000"/>
          </a:bodyPr>
          <a:lstStyle/>
          <a:p>
            <a:r>
              <a:rPr lang="en-IN" b="1" dirty="0"/>
              <a:t>Proving an Algorithm’s Correctness</a:t>
            </a:r>
          </a:p>
          <a:p>
            <a:pPr algn="just"/>
            <a:r>
              <a:rPr lang="en-US" sz="3000" dirty="0"/>
              <a:t>Once an algorithm has been specified, you have to prove its </a:t>
            </a:r>
            <a:r>
              <a:rPr lang="en-US" sz="3000" b="1" i="1" dirty="0"/>
              <a:t>correctness</a:t>
            </a:r>
            <a:r>
              <a:rPr lang="en-US" sz="3000" dirty="0"/>
              <a:t>. That is, you have to prove that the algorithm yields a required result for every legitimate input in a finite amount of time</a:t>
            </a:r>
          </a:p>
          <a:p>
            <a:pPr algn="just"/>
            <a:endParaRPr lang="en-US" sz="3000" dirty="0"/>
          </a:p>
          <a:p>
            <a:pPr algn="just"/>
            <a:r>
              <a:rPr lang="en-US" sz="3000" dirty="0"/>
              <a:t>A common technique for proving correctness is to use mathematical induction because an algorithm’s iterations provide a natural sequence of steps </a:t>
            </a:r>
            <a:r>
              <a:rPr lang="en-IN" sz="3000" dirty="0"/>
              <a:t>needed for such proofs</a:t>
            </a:r>
          </a:p>
        </p:txBody>
      </p:sp>
      <p:sp>
        <p:nvSpPr>
          <p:cNvPr id="2" name="Date Placeholder 1">
            <a:extLst>
              <a:ext uri="{FF2B5EF4-FFF2-40B4-BE49-F238E27FC236}">
                <a16:creationId xmlns:a16="http://schemas.microsoft.com/office/drawing/2014/main" id="{EAA6FB43-04CE-7F8B-0CC3-0452F5611496}"/>
              </a:ext>
            </a:extLst>
          </p:cNvPr>
          <p:cNvSpPr>
            <a:spLocks noGrp="1"/>
          </p:cNvSpPr>
          <p:nvPr>
            <p:ph type="dt" sz="half" idx="10"/>
          </p:nvPr>
        </p:nvSpPr>
        <p:spPr/>
        <p:txBody>
          <a:bodyPr/>
          <a:lstStyle/>
          <a:p>
            <a:pPr>
              <a:defRPr/>
            </a:pPr>
            <a:fld id="{7AFE73F2-F71F-49A7-8856-DE08F5C14637}"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167EB54E-0D6C-1620-801D-9F226DB133D6}"/>
              </a:ext>
            </a:extLst>
          </p:cNvPr>
          <p:cNvSpPr>
            <a:spLocks noGrp="1"/>
          </p:cNvSpPr>
          <p:nvPr>
            <p:ph type="sldNum" sz="quarter" idx="12"/>
          </p:nvPr>
        </p:nvSpPr>
        <p:spPr/>
        <p:txBody>
          <a:bodyPr/>
          <a:lstStyle/>
          <a:p>
            <a:pPr>
              <a:defRPr/>
            </a:pPr>
            <a:fld id="{937DAA19-78E2-454A-BF0A-AB51F6D45129}" type="slidenum">
              <a:rPr lang="en-US" altLang="en-US" smtClean="0"/>
              <a:pPr>
                <a:defRPr/>
              </a:pPr>
              <a:t>18</a:t>
            </a:fld>
            <a:endParaRPr lang="en-US" altLang="en-US"/>
          </a:p>
        </p:txBody>
      </p:sp>
    </p:spTree>
    <p:extLst>
      <p:ext uri="{BB962C8B-B14F-4D97-AF65-F5344CB8AC3E}">
        <p14:creationId xmlns:p14="http://schemas.microsoft.com/office/powerpoint/2010/main" val="24842630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C4434A-ACB6-454C-B8A3-C9598AADD502}"/>
              </a:ext>
            </a:extLst>
          </p:cNvPr>
          <p:cNvSpPr>
            <a:spLocks noGrp="1"/>
          </p:cNvSpPr>
          <p:nvPr>
            <p:ph idx="1"/>
          </p:nvPr>
        </p:nvSpPr>
        <p:spPr>
          <a:xfrm>
            <a:off x="116505" y="1166018"/>
            <a:ext cx="8229600" cy="4525963"/>
          </a:xfrm>
        </p:spPr>
        <p:txBody>
          <a:bodyPr>
            <a:normAutofit/>
          </a:bodyPr>
          <a:lstStyle/>
          <a:p>
            <a:pPr algn="just"/>
            <a:r>
              <a:rPr lang="en-IN" sz="2800" b="1" dirty="0" err="1"/>
              <a:t>Analyzing</a:t>
            </a:r>
            <a:r>
              <a:rPr lang="en-IN" sz="2800" b="1" dirty="0"/>
              <a:t> an Algorithm</a:t>
            </a:r>
          </a:p>
          <a:p>
            <a:pPr algn="just"/>
            <a:r>
              <a:rPr lang="en-US" sz="2800" dirty="0"/>
              <a:t>There are two kinds of algorithm efficiency: </a:t>
            </a:r>
            <a:r>
              <a:rPr lang="en-US" sz="2800" b="1" i="1" dirty="0"/>
              <a:t>time efficiency</a:t>
            </a:r>
            <a:r>
              <a:rPr lang="en-US" sz="2800" dirty="0"/>
              <a:t>, indicating how fast the algorithm runs, and </a:t>
            </a:r>
            <a:r>
              <a:rPr lang="en-US" sz="2800" b="1" i="1" dirty="0"/>
              <a:t>space efficiency</a:t>
            </a:r>
            <a:r>
              <a:rPr lang="en-US" sz="2800" dirty="0"/>
              <a:t>, indicating how much extra memory it uses.</a:t>
            </a:r>
          </a:p>
          <a:p>
            <a:pPr algn="just"/>
            <a:r>
              <a:rPr lang="en-US" sz="2800" dirty="0"/>
              <a:t>Another desirable characteristic of an algorithm is </a:t>
            </a:r>
            <a:r>
              <a:rPr lang="en-US" sz="2800" b="1" i="1" dirty="0"/>
              <a:t>simplicity</a:t>
            </a:r>
          </a:p>
          <a:p>
            <a:pPr algn="just"/>
            <a:r>
              <a:rPr lang="en-US" sz="2800" dirty="0"/>
              <a:t>another desirable characteristic of an algorithm is </a:t>
            </a:r>
            <a:r>
              <a:rPr lang="en-US" sz="2800" b="1" i="1" dirty="0"/>
              <a:t>generality</a:t>
            </a:r>
            <a:endParaRPr lang="en-IN" sz="2800" dirty="0"/>
          </a:p>
        </p:txBody>
      </p:sp>
      <p:sp>
        <p:nvSpPr>
          <p:cNvPr id="2" name="Date Placeholder 1">
            <a:extLst>
              <a:ext uri="{FF2B5EF4-FFF2-40B4-BE49-F238E27FC236}">
                <a16:creationId xmlns:a16="http://schemas.microsoft.com/office/drawing/2014/main" id="{B890BCCC-56AF-34CF-7D77-191CB51A7F0E}"/>
              </a:ext>
            </a:extLst>
          </p:cNvPr>
          <p:cNvSpPr>
            <a:spLocks noGrp="1"/>
          </p:cNvSpPr>
          <p:nvPr>
            <p:ph type="dt" sz="half" idx="10"/>
          </p:nvPr>
        </p:nvSpPr>
        <p:spPr/>
        <p:txBody>
          <a:bodyPr/>
          <a:lstStyle/>
          <a:p>
            <a:pPr>
              <a:defRPr/>
            </a:pPr>
            <a:fld id="{57D3B6ED-C25A-4CBB-B315-80DE2D41B03C}"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4A71F95F-453D-53B6-D7E6-40DBB4321EAD}"/>
              </a:ext>
            </a:extLst>
          </p:cNvPr>
          <p:cNvSpPr>
            <a:spLocks noGrp="1"/>
          </p:cNvSpPr>
          <p:nvPr>
            <p:ph type="sldNum" sz="quarter" idx="12"/>
          </p:nvPr>
        </p:nvSpPr>
        <p:spPr/>
        <p:txBody>
          <a:bodyPr/>
          <a:lstStyle/>
          <a:p>
            <a:pPr>
              <a:defRPr/>
            </a:pPr>
            <a:fld id="{937DAA19-78E2-454A-BF0A-AB51F6D45129}" type="slidenum">
              <a:rPr lang="en-US" altLang="en-US" smtClean="0"/>
              <a:pPr>
                <a:defRPr/>
              </a:pPr>
              <a:t>19</a:t>
            </a:fld>
            <a:endParaRPr lang="en-US" altLang="en-US"/>
          </a:p>
        </p:txBody>
      </p:sp>
    </p:spTree>
    <p:extLst>
      <p:ext uri="{BB962C8B-B14F-4D97-AF65-F5344CB8AC3E}">
        <p14:creationId xmlns:p14="http://schemas.microsoft.com/office/powerpoint/2010/main" val="38108492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C7732-E12A-4DD7-928C-F5E054D16EE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26C9486-AC38-47F4-8182-A71306C3DD6C}"/>
              </a:ext>
            </a:extLst>
          </p:cNvPr>
          <p:cNvSpPr>
            <a:spLocks noGrp="1"/>
          </p:cNvSpPr>
          <p:nvPr>
            <p:ph idx="1"/>
          </p:nvPr>
        </p:nvSpPr>
        <p:spPr/>
        <p:txBody>
          <a:bodyPr/>
          <a:lstStyle/>
          <a:p>
            <a:r>
              <a:rPr lang="en-IN" b="1" dirty="0"/>
              <a:t>Coding an Algorithm</a:t>
            </a:r>
            <a:endParaRPr lang="en-IN" dirty="0"/>
          </a:p>
        </p:txBody>
      </p:sp>
      <p:sp>
        <p:nvSpPr>
          <p:cNvPr id="4" name="Date Placeholder 3">
            <a:extLst>
              <a:ext uri="{FF2B5EF4-FFF2-40B4-BE49-F238E27FC236}">
                <a16:creationId xmlns:a16="http://schemas.microsoft.com/office/drawing/2014/main" id="{BFEFEA10-34AC-B036-2ADF-028A04028E1E}"/>
              </a:ext>
            </a:extLst>
          </p:cNvPr>
          <p:cNvSpPr>
            <a:spLocks noGrp="1"/>
          </p:cNvSpPr>
          <p:nvPr>
            <p:ph type="dt" sz="half" idx="10"/>
          </p:nvPr>
        </p:nvSpPr>
        <p:spPr/>
        <p:txBody>
          <a:bodyPr/>
          <a:lstStyle/>
          <a:p>
            <a:pPr>
              <a:defRPr/>
            </a:pPr>
            <a:fld id="{6445987F-8D58-4051-A2C3-2736EFD7153F}" type="datetime2">
              <a:rPr lang="en-US" smtClean="0"/>
              <a:t>Wednesday, January 22, 2025</a:t>
            </a:fld>
            <a:endParaRPr lang="en-US" altLang="en-US"/>
          </a:p>
        </p:txBody>
      </p:sp>
      <p:sp>
        <p:nvSpPr>
          <p:cNvPr id="5" name="Slide Number Placeholder 4">
            <a:extLst>
              <a:ext uri="{FF2B5EF4-FFF2-40B4-BE49-F238E27FC236}">
                <a16:creationId xmlns:a16="http://schemas.microsoft.com/office/drawing/2014/main" id="{70262316-D232-9E71-16E0-B9FC77DCD5D3}"/>
              </a:ext>
            </a:extLst>
          </p:cNvPr>
          <p:cNvSpPr>
            <a:spLocks noGrp="1"/>
          </p:cNvSpPr>
          <p:nvPr>
            <p:ph type="sldNum" sz="quarter" idx="12"/>
          </p:nvPr>
        </p:nvSpPr>
        <p:spPr/>
        <p:txBody>
          <a:bodyPr/>
          <a:lstStyle/>
          <a:p>
            <a:pPr>
              <a:defRPr/>
            </a:pPr>
            <a:fld id="{937DAA19-78E2-454A-BF0A-AB51F6D45129}" type="slidenum">
              <a:rPr lang="en-US" altLang="en-US" smtClean="0"/>
              <a:pPr>
                <a:defRPr/>
              </a:pPr>
              <a:t>20</a:t>
            </a:fld>
            <a:endParaRPr lang="en-US" altLang="en-US"/>
          </a:p>
        </p:txBody>
      </p:sp>
    </p:spTree>
    <p:extLst>
      <p:ext uri="{BB962C8B-B14F-4D97-AF65-F5344CB8AC3E}">
        <p14:creationId xmlns:p14="http://schemas.microsoft.com/office/powerpoint/2010/main" val="19772437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2A64B-166B-4BDA-A6C6-6A5025498B7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31924CA-3E98-43FE-A2E0-CBAC00A26E95}"/>
              </a:ext>
            </a:extLst>
          </p:cNvPr>
          <p:cNvSpPr>
            <a:spLocks noGrp="1"/>
          </p:cNvSpPr>
          <p:nvPr>
            <p:ph idx="1"/>
          </p:nvPr>
        </p:nvSpPr>
        <p:spPr/>
        <p:txBody>
          <a:bodyPr/>
          <a:lstStyle/>
          <a:p>
            <a:r>
              <a:rPr lang="en-US" dirty="0"/>
              <a:t>Sorting :</a:t>
            </a:r>
          </a:p>
          <a:p>
            <a:pPr lvl="1"/>
            <a:r>
              <a:rPr lang="en-US" dirty="0"/>
              <a:t>Stable</a:t>
            </a:r>
          </a:p>
          <a:p>
            <a:pPr lvl="1"/>
            <a:r>
              <a:rPr lang="en-US" dirty="0"/>
              <a:t>In place</a:t>
            </a:r>
            <a:endParaRPr lang="en-IN" dirty="0"/>
          </a:p>
          <a:p>
            <a:pPr marL="457200" lvl="1" indent="0">
              <a:buNone/>
            </a:pPr>
            <a:r>
              <a:rPr lang="en-US" dirty="0">
                <a:solidFill>
                  <a:srgbClr val="FF0000"/>
                </a:solidFill>
              </a:rPr>
              <a:t>5</a:t>
            </a:r>
            <a:r>
              <a:rPr lang="en-IN" dirty="0"/>
              <a:t>, 8, 2, 3, </a:t>
            </a:r>
            <a:r>
              <a:rPr lang="en-IN" dirty="0">
                <a:solidFill>
                  <a:srgbClr val="004FEE"/>
                </a:solidFill>
              </a:rPr>
              <a:t>5</a:t>
            </a:r>
          </a:p>
          <a:p>
            <a:pPr marL="457200" lvl="1" indent="0">
              <a:buNone/>
            </a:pPr>
            <a:r>
              <a:rPr lang="en-US" dirty="0"/>
              <a:t>2</a:t>
            </a:r>
            <a:r>
              <a:rPr lang="en-IN" dirty="0"/>
              <a:t>, 3, </a:t>
            </a:r>
            <a:r>
              <a:rPr lang="en-IN" dirty="0">
                <a:solidFill>
                  <a:srgbClr val="FF0000"/>
                </a:solidFill>
              </a:rPr>
              <a:t>5</a:t>
            </a:r>
            <a:r>
              <a:rPr lang="en-IN" dirty="0"/>
              <a:t>, </a:t>
            </a:r>
            <a:r>
              <a:rPr lang="en-IN" dirty="0">
                <a:solidFill>
                  <a:srgbClr val="0000FF"/>
                </a:solidFill>
              </a:rPr>
              <a:t>5</a:t>
            </a:r>
            <a:r>
              <a:rPr lang="en-IN" dirty="0"/>
              <a:t>, 8</a:t>
            </a:r>
          </a:p>
          <a:p>
            <a:pPr marL="457200" lvl="1" indent="0">
              <a:buNone/>
            </a:pPr>
            <a:r>
              <a:rPr lang="en-US" dirty="0"/>
              <a:t>I</a:t>
            </a:r>
            <a:r>
              <a:rPr lang="en-IN" dirty="0"/>
              <a:t>, j, temp</a:t>
            </a:r>
          </a:p>
          <a:p>
            <a:pPr marL="457200" lvl="1" indent="0">
              <a:buNone/>
            </a:pPr>
            <a:r>
              <a:rPr lang="en-US" dirty="0"/>
              <a:t>1</a:t>
            </a:r>
            <a:r>
              <a:rPr lang="en-IN" dirty="0"/>
              <a:t>000 elements</a:t>
            </a:r>
          </a:p>
          <a:p>
            <a:pPr marL="457200" lvl="1" indent="0">
              <a:buNone/>
            </a:pPr>
            <a:r>
              <a:rPr lang="en-US" dirty="0"/>
              <a:t>1</a:t>
            </a:r>
            <a:r>
              <a:rPr lang="en-IN" dirty="0"/>
              <a:t>000 elements</a:t>
            </a:r>
            <a:endParaRPr lang="en-US" dirty="0"/>
          </a:p>
        </p:txBody>
      </p:sp>
      <p:sp>
        <p:nvSpPr>
          <p:cNvPr id="4" name="Date Placeholder 3">
            <a:extLst>
              <a:ext uri="{FF2B5EF4-FFF2-40B4-BE49-F238E27FC236}">
                <a16:creationId xmlns:a16="http://schemas.microsoft.com/office/drawing/2014/main" id="{E86437DB-CDA3-4109-8EDE-D64FF528117C}"/>
              </a:ext>
            </a:extLst>
          </p:cNvPr>
          <p:cNvSpPr>
            <a:spLocks noGrp="1"/>
          </p:cNvSpPr>
          <p:nvPr>
            <p:ph type="dt" sz="half" idx="10"/>
          </p:nvPr>
        </p:nvSpPr>
        <p:spPr/>
        <p:txBody>
          <a:bodyPr/>
          <a:lstStyle/>
          <a:p>
            <a:pPr>
              <a:defRPr/>
            </a:pPr>
            <a:fld id="{DAE7F8F2-3678-4CB2-8CD5-0D2BEE37534F}" type="datetime2">
              <a:rPr lang="en-US" smtClean="0"/>
              <a:t>Wednesday, January 22, 2025</a:t>
            </a:fld>
            <a:endParaRPr lang="en-US" altLang="en-US"/>
          </a:p>
        </p:txBody>
      </p:sp>
      <p:sp>
        <p:nvSpPr>
          <p:cNvPr id="5" name="Slide Number Placeholder 4">
            <a:extLst>
              <a:ext uri="{FF2B5EF4-FFF2-40B4-BE49-F238E27FC236}">
                <a16:creationId xmlns:a16="http://schemas.microsoft.com/office/drawing/2014/main" id="{DF0EC040-97FE-3710-E270-4DC4F63AFFE0}"/>
              </a:ext>
            </a:extLst>
          </p:cNvPr>
          <p:cNvSpPr>
            <a:spLocks noGrp="1"/>
          </p:cNvSpPr>
          <p:nvPr>
            <p:ph type="sldNum" sz="quarter" idx="12"/>
          </p:nvPr>
        </p:nvSpPr>
        <p:spPr/>
        <p:txBody>
          <a:bodyPr/>
          <a:lstStyle/>
          <a:p>
            <a:pPr>
              <a:defRPr/>
            </a:pPr>
            <a:fld id="{937DAA19-78E2-454A-BF0A-AB51F6D45129}" type="slidenum">
              <a:rPr lang="en-US" altLang="en-US" smtClean="0"/>
              <a:pPr>
                <a:defRPr/>
              </a:pPr>
              <a:t>21</a:t>
            </a:fld>
            <a:endParaRPr lang="en-US" altLang="en-US"/>
          </a:p>
        </p:txBody>
      </p:sp>
    </p:spTree>
    <p:extLst>
      <p:ext uri="{BB962C8B-B14F-4D97-AF65-F5344CB8AC3E}">
        <p14:creationId xmlns:p14="http://schemas.microsoft.com/office/powerpoint/2010/main" val="489111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0BB0-4BE0-AAF9-8827-AAB617ECFED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8C4D5DD-52CE-FF21-FAC7-18095F3A5ADC}"/>
              </a:ext>
            </a:extLst>
          </p:cNvPr>
          <p:cNvSpPr>
            <a:spLocks noGrp="1"/>
          </p:cNvSpPr>
          <p:nvPr>
            <p:ph idx="1"/>
          </p:nvPr>
        </p:nvSpPr>
        <p:spPr>
          <a:xfrm>
            <a:off x="457200" y="1178751"/>
            <a:ext cx="8229600" cy="4947414"/>
          </a:xfrm>
        </p:spPr>
        <p:txBody>
          <a:bodyPr>
            <a:normAutofit/>
          </a:bodyPr>
          <a:lstStyle/>
          <a:p>
            <a:pPr algn="just"/>
            <a:r>
              <a:rPr lang="en-US" sz="2800" dirty="0"/>
              <a:t>A sorting algorithm is called stable if it preserves the relative order of any two equal elements in its input</a:t>
            </a:r>
          </a:p>
          <a:p>
            <a:pPr algn="just"/>
            <a:endParaRPr lang="en-US" sz="2800" dirty="0"/>
          </a:p>
          <a:p>
            <a:pPr algn="just"/>
            <a:r>
              <a:rPr lang="en-US" sz="2800" dirty="0"/>
              <a:t>In other words, if an input list contains two equal elements in positions </a:t>
            </a:r>
            <a:r>
              <a:rPr lang="en-US" sz="2800" dirty="0" err="1"/>
              <a:t>i</a:t>
            </a:r>
            <a:r>
              <a:rPr lang="en-US" sz="2800" dirty="0"/>
              <a:t> and j where </a:t>
            </a:r>
            <a:r>
              <a:rPr lang="en-US" sz="2800" dirty="0" err="1"/>
              <a:t>i</a:t>
            </a:r>
            <a:r>
              <a:rPr lang="en-US" sz="2800" dirty="0"/>
              <a:t> &lt; j, then in the sorted list they have to be in positions I  and j ,</a:t>
            </a:r>
          </a:p>
          <a:p>
            <a:pPr marL="0" indent="0" algn="just">
              <a:buNone/>
            </a:pPr>
            <a:r>
              <a:rPr lang="en-US" sz="2800" dirty="0"/>
              <a:t>    respectively, such that I &lt; j</a:t>
            </a:r>
            <a:endParaRPr lang="en-IN" sz="2800" dirty="0"/>
          </a:p>
        </p:txBody>
      </p:sp>
      <p:sp>
        <p:nvSpPr>
          <p:cNvPr id="4" name="Date Placeholder 3">
            <a:extLst>
              <a:ext uri="{FF2B5EF4-FFF2-40B4-BE49-F238E27FC236}">
                <a16:creationId xmlns:a16="http://schemas.microsoft.com/office/drawing/2014/main" id="{45FC8EA2-E723-C1C6-FBD5-A06E974FABEE}"/>
              </a:ext>
            </a:extLst>
          </p:cNvPr>
          <p:cNvSpPr>
            <a:spLocks noGrp="1"/>
          </p:cNvSpPr>
          <p:nvPr>
            <p:ph type="dt" sz="half" idx="10"/>
          </p:nvPr>
        </p:nvSpPr>
        <p:spPr/>
        <p:txBody>
          <a:bodyPr/>
          <a:lstStyle/>
          <a:p>
            <a:pPr>
              <a:defRPr/>
            </a:pPr>
            <a:fld id="{6DECDCA0-A979-4560-A3A8-120736470CE7}" type="datetime2">
              <a:rPr lang="en-US" smtClean="0"/>
              <a:t>Wednesday, January 22, 2025</a:t>
            </a:fld>
            <a:endParaRPr lang="en-US" altLang="en-US"/>
          </a:p>
        </p:txBody>
      </p:sp>
      <p:sp>
        <p:nvSpPr>
          <p:cNvPr id="5" name="Slide Number Placeholder 4">
            <a:extLst>
              <a:ext uri="{FF2B5EF4-FFF2-40B4-BE49-F238E27FC236}">
                <a16:creationId xmlns:a16="http://schemas.microsoft.com/office/drawing/2014/main" id="{A083E742-01BC-4121-8E6E-088F278E9653}"/>
              </a:ext>
            </a:extLst>
          </p:cNvPr>
          <p:cNvSpPr>
            <a:spLocks noGrp="1"/>
          </p:cNvSpPr>
          <p:nvPr>
            <p:ph type="sldNum" sz="quarter" idx="12"/>
          </p:nvPr>
        </p:nvSpPr>
        <p:spPr/>
        <p:txBody>
          <a:bodyPr/>
          <a:lstStyle/>
          <a:p>
            <a:pPr>
              <a:defRPr/>
            </a:pPr>
            <a:fld id="{937DAA19-78E2-454A-BF0A-AB51F6D45129}" type="slidenum">
              <a:rPr lang="en-US" altLang="en-US" smtClean="0"/>
              <a:pPr>
                <a:defRPr/>
              </a:pPr>
              <a:t>22</a:t>
            </a:fld>
            <a:endParaRPr lang="en-US" altLang="en-US"/>
          </a:p>
        </p:txBody>
      </p:sp>
    </p:spTree>
    <p:extLst>
      <p:ext uri="{BB962C8B-B14F-4D97-AF65-F5344CB8AC3E}">
        <p14:creationId xmlns:p14="http://schemas.microsoft.com/office/powerpoint/2010/main" val="9494008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42B47-44BB-4C46-A562-63C3F00078F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FB1C29B-7281-4F8F-A80F-3EEA0DB766BE}"/>
              </a:ext>
            </a:extLst>
          </p:cNvPr>
          <p:cNvSpPr>
            <a:spLocks noGrp="1"/>
          </p:cNvSpPr>
          <p:nvPr>
            <p:ph idx="1"/>
          </p:nvPr>
        </p:nvSpPr>
        <p:spPr/>
        <p:txBody>
          <a:bodyPr>
            <a:normAutofit lnSpcReduction="10000"/>
          </a:bodyPr>
          <a:lstStyle/>
          <a:p>
            <a:r>
              <a:rPr lang="en-US" dirty="0"/>
              <a:t>Searching – </a:t>
            </a:r>
          </a:p>
          <a:p>
            <a:r>
              <a:rPr lang="en-US" dirty="0"/>
              <a:t>String processing – </a:t>
            </a:r>
          </a:p>
          <a:p>
            <a:r>
              <a:rPr lang="en-US" dirty="0"/>
              <a:t>Graph problems – </a:t>
            </a:r>
          </a:p>
          <a:p>
            <a:r>
              <a:rPr lang="en-US" dirty="0"/>
              <a:t>Combinatorial problems – </a:t>
            </a:r>
          </a:p>
          <a:p>
            <a:r>
              <a:rPr lang="en-US" dirty="0"/>
              <a:t>Geometric problems – </a:t>
            </a:r>
          </a:p>
          <a:p>
            <a:r>
              <a:rPr lang="en-US" dirty="0"/>
              <a:t>Closest – pair problem – </a:t>
            </a:r>
          </a:p>
          <a:p>
            <a:r>
              <a:rPr lang="en-US" dirty="0"/>
              <a:t>Convex-hull problem – </a:t>
            </a:r>
          </a:p>
          <a:p>
            <a:r>
              <a:rPr lang="en-US" dirty="0"/>
              <a:t>Numerical problems - </a:t>
            </a:r>
            <a:endParaRPr lang="en-IN" dirty="0"/>
          </a:p>
        </p:txBody>
      </p:sp>
      <p:sp>
        <p:nvSpPr>
          <p:cNvPr id="4" name="Date Placeholder 3">
            <a:extLst>
              <a:ext uri="{FF2B5EF4-FFF2-40B4-BE49-F238E27FC236}">
                <a16:creationId xmlns:a16="http://schemas.microsoft.com/office/drawing/2014/main" id="{656BEE1D-A5F2-4D10-B06F-26FF0CF02A19}"/>
              </a:ext>
            </a:extLst>
          </p:cNvPr>
          <p:cNvSpPr>
            <a:spLocks noGrp="1"/>
          </p:cNvSpPr>
          <p:nvPr>
            <p:ph type="dt" sz="half" idx="10"/>
          </p:nvPr>
        </p:nvSpPr>
        <p:spPr/>
        <p:txBody>
          <a:bodyPr/>
          <a:lstStyle/>
          <a:p>
            <a:pPr>
              <a:defRPr/>
            </a:pPr>
            <a:fld id="{081F01C2-5F10-4651-B027-6374A8AD6C43}" type="datetime2">
              <a:rPr lang="en-US" smtClean="0"/>
              <a:t>Wednesday, January 22, 2025</a:t>
            </a:fld>
            <a:endParaRPr lang="en-US" altLang="en-US"/>
          </a:p>
        </p:txBody>
      </p:sp>
      <p:sp>
        <p:nvSpPr>
          <p:cNvPr id="5" name="Slide Number Placeholder 4">
            <a:extLst>
              <a:ext uri="{FF2B5EF4-FFF2-40B4-BE49-F238E27FC236}">
                <a16:creationId xmlns:a16="http://schemas.microsoft.com/office/drawing/2014/main" id="{B1947CCB-3D37-F53D-B52D-A5E066E4FF7A}"/>
              </a:ext>
            </a:extLst>
          </p:cNvPr>
          <p:cNvSpPr>
            <a:spLocks noGrp="1"/>
          </p:cNvSpPr>
          <p:nvPr>
            <p:ph type="sldNum" sz="quarter" idx="12"/>
          </p:nvPr>
        </p:nvSpPr>
        <p:spPr/>
        <p:txBody>
          <a:bodyPr/>
          <a:lstStyle/>
          <a:p>
            <a:pPr>
              <a:defRPr/>
            </a:pPr>
            <a:fld id="{937DAA19-78E2-454A-BF0A-AB51F6D45129}" type="slidenum">
              <a:rPr lang="en-US" altLang="en-US" smtClean="0"/>
              <a:pPr>
                <a:defRPr/>
              </a:pPr>
              <a:t>23</a:t>
            </a:fld>
            <a:endParaRPr lang="en-US" altLang="en-US"/>
          </a:p>
        </p:txBody>
      </p:sp>
    </p:spTree>
    <p:extLst>
      <p:ext uri="{BB962C8B-B14F-4D97-AF65-F5344CB8AC3E}">
        <p14:creationId xmlns:p14="http://schemas.microsoft.com/office/powerpoint/2010/main" val="19427196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D553-3652-498F-A3ED-FF234EC2DC7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6A28CB-6BBB-4305-95C0-6BC0B40FEEF9}"/>
              </a:ext>
            </a:extLst>
          </p:cNvPr>
          <p:cNvSpPr>
            <a:spLocks noGrp="1"/>
          </p:cNvSpPr>
          <p:nvPr>
            <p:ph idx="1"/>
          </p:nvPr>
        </p:nvSpPr>
        <p:spPr/>
        <p:txBody>
          <a:bodyPr/>
          <a:lstStyle/>
          <a:p>
            <a:r>
              <a:rPr lang="en-US" dirty="0"/>
              <a:t>Fundamental data structures:</a:t>
            </a:r>
          </a:p>
          <a:p>
            <a:pPr lvl="1"/>
            <a:r>
              <a:rPr lang="en-US" dirty="0"/>
              <a:t>Linear data structures</a:t>
            </a:r>
          </a:p>
          <a:p>
            <a:pPr lvl="2"/>
            <a:r>
              <a:rPr lang="en-US" dirty="0"/>
              <a:t>Array</a:t>
            </a:r>
          </a:p>
          <a:p>
            <a:pPr lvl="2"/>
            <a:r>
              <a:rPr lang="en-US" dirty="0"/>
              <a:t>Linked lists</a:t>
            </a:r>
          </a:p>
          <a:p>
            <a:pPr lvl="2"/>
            <a:r>
              <a:rPr lang="en-US" dirty="0"/>
              <a:t>Stack</a:t>
            </a:r>
          </a:p>
          <a:p>
            <a:pPr lvl="2"/>
            <a:r>
              <a:rPr lang="en-US" dirty="0"/>
              <a:t>Queue</a:t>
            </a:r>
          </a:p>
          <a:p>
            <a:pPr lvl="2"/>
            <a:r>
              <a:rPr lang="en-US" dirty="0"/>
              <a:t>Priority queue</a:t>
            </a:r>
            <a:endParaRPr lang="en-IN" dirty="0"/>
          </a:p>
        </p:txBody>
      </p:sp>
      <p:sp>
        <p:nvSpPr>
          <p:cNvPr id="4" name="Date Placeholder 3">
            <a:extLst>
              <a:ext uri="{FF2B5EF4-FFF2-40B4-BE49-F238E27FC236}">
                <a16:creationId xmlns:a16="http://schemas.microsoft.com/office/drawing/2014/main" id="{FAB5A4B1-0337-C621-472B-F02747E5BA3A}"/>
              </a:ext>
            </a:extLst>
          </p:cNvPr>
          <p:cNvSpPr>
            <a:spLocks noGrp="1"/>
          </p:cNvSpPr>
          <p:nvPr>
            <p:ph type="dt" sz="half" idx="10"/>
          </p:nvPr>
        </p:nvSpPr>
        <p:spPr/>
        <p:txBody>
          <a:bodyPr/>
          <a:lstStyle/>
          <a:p>
            <a:pPr>
              <a:defRPr/>
            </a:pPr>
            <a:fld id="{AC0FE69A-E7C1-4070-B2E0-D21D78094EEE}" type="datetime2">
              <a:rPr lang="en-US" smtClean="0"/>
              <a:t>Wednesday, January 22, 2025</a:t>
            </a:fld>
            <a:endParaRPr lang="en-US" altLang="en-US"/>
          </a:p>
        </p:txBody>
      </p:sp>
      <p:sp>
        <p:nvSpPr>
          <p:cNvPr id="5" name="Slide Number Placeholder 4">
            <a:extLst>
              <a:ext uri="{FF2B5EF4-FFF2-40B4-BE49-F238E27FC236}">
                <a16:creationId xmlns:a16="http://schemas.microsoft.com/office/drawing/2014/main" id="{36CB1AF9-CF19-C6A4-6CBA-48407802987E}"/>
              </a:ext>
            </a:extLst>
          </p:cNvPr>
          <p:cNvSpPr>
            <a:spLocks noGrp="1"/>
          </p:cNvSpPr>
          <p:nvPr>
            <p:ph type="sldNum" sz="quarter" idx="12"/>
          </p:nvPr>
        </p:nvSpPr>
        <p:spPr/>
        <p:txBody>
          <a:bodyPr/>
          <a:lstStyle/>
          <a:p>
            <a:pPr>
              <a:defRPr/>
            </a:pPr>
            <a:fld id="{937DAA19-78E2-454A-BF0A-AB51F6D45129}" type="slidenum">
              <a:rPr lang="en-US" altLang="en-US" smtClean="0"/>
              <a:pPr>
                <a:defRPr/>
              </a:pPr>
              <a:t>24</a:t>
            </a:fld>
            <a:endParaRPr lang="en-US" altLang="en-US"/>
          </a:p>
        </p:txBody>
      </p:sp>
    </p:spTree>
    <p:extLst>
      <p:ext uri="{BB962C8B-B14F-4D97-AF65-F5344CB8AC3E}">
        <p14:creationId xmlns:p14="http://schemas.microsoft.com/office/powerpoint/2010/main" val="39486660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55106-87A5-48D4-A77F-2999E71BE3DD}"/>
              </a:ext>
            </a:extLst>
          </p:cNvPr>
          <p:cNvSpPr>
            <a:spLocks noGrp="1"/>
          </p:cNvSpPr>
          <p:nvPr>
            <p:ph type="title"/>
          </p:nvPr>
        </p:nvSpPr>
        <p:spPr/>
        <p:txBody>
          <a:bodyPr/>
          <a:lstStyle/>
          <a:p>
            <a:r>
              <a:rPr lang="en-IN" dirty="0"/>
              <a:t>Graphs</a:t>
            </a:r>
          </a:p>
        </p:txBody>
      </p:sp>
      <p:sp>
        <p:nvSpPr>
          <p:cNvPr id="3" name="Content Placeholder 2">
            <a:extLst>
              <a:ext uri="{FF2B5EF4-FFF2-40B4-BE49-F238E27FC236}">
                <a16:creationId xmlns:a16="http://schemas.microsoft.com/office/drawing/2014/main" id="{B7FBF1F6-E3F4-4963-A7E3-DC52E30E9982}"/>
              </a:ext>
            </a:extLst>
          </p:cNvPr>
          <p:cNvSpPr>
            <a:spLocks noGrp="1"/>
          </p:cNvSpPr>
          <p:nvPr>
            <p:ph idx="1"/>
          </p:nvPr>
        </p:nvSpPr>
        <p:spPr>
          <a:xfrm>
            <a:off x="457200" y="1358770"/>
            <a:ext cx="8229600" cy="4767394"/>
          </a:xfrm>
        </p:spPr>
        <p:txBody>
          <a:bodyPr>
            <a:normAutofit/>
          </a:bodyPr>
          <a:lstStyle/>
          <a:p>
            <a:pPr algn="just"/>
            <a:r>
              <a:rPr lang="en-US" sz="2800" dirty="0"/>
              <a:t>A graph is informally thought of as a collection of points in the plane called “vertices” or “nodes,” some of them connected by line segments called “edges” or “arcs.” </a:t>
            </a:r>
          </a:p>
          <a:p>
            <a:pPr algn="just"/>
            <a:endParaRPr lang="en-US" sz="2800" dirty="0"/>
          </a:p>
          <a:p>
            <a:pPr algn="just"/>
            <a:r>
              <a:rPr lang="en-US" sz="2800" dirty="0"/>
              <a:t>Formally, a </a:t>
            </a:r>
            <a:r>
              <a:rPr lang="en-US" sz="2800" b="1" i="1" dirty="0" err="1"/>
              <a:t>graph</a:t>
            </a:r>
            <a:r>
              <a:rPr lang="en-US" sz="2800" i="1" dirty="0" err="1"/>
              <a:t>G</a:t>
            </a:r>
            <a:r>
              <a:rPr lang="en-US" sz="2800" i="1" dirty="0"/>
              <a:t> </a:t>
            </a:r>
            <a:r>
              <a:rPr lang="en-US" sz="2800" dirty="0"/>
              <a:t>= &lt;</a:t>
            </a:r>
            <a:r>
              <a:rPr lang="en-US" sz="2800" i="1" dirty="0"/>
              <a:t>V,E&gt; </a:t>
            </a:r>
            <a:r>
              <a:rPr lang="en-US" sz="2800" dirty="0"/>
              <a:t>is defined by a pair of two sets: a finite nonempty set </a:t>
            </a:r>
            <a:r>
              <a:rPr lang="en-US" sz="2800" i="1" dirty="0"/>
              <a:t>V </a:t>
            </a:r>
            <a:r>
              <a:rPr lang="en-US" sz="2800" dirty="0"/>
              <a:t>of items called </a:t>
            </a:r>
            <a:r>
              <a:rPr lang="en-US" sz="2800" b="1" i="1" dirty="0"/>
              <a:t>vertices </a:t>
            </a:r>
            <a:r>
              <a:rPr lang="en-US" sz="2800" dirty="0"/>
              <a:t>and a set </a:t>
            </a:r>
            <a:r>
              <a:rPr lang="en-US" sz="2800" i="1" dirty="0"/>
              <a:t>E </a:t>
            </a:r>
            <a:r>
              <a:rPr lang="en-US" sz="2800" dirty="0"/>
              <a:t>of pairs of these items called </a:t>
            </a:r>
            <a:r>
              <a:rPr lang="en-US" sz="2800" b="1" i="1" dirty="0"/>
              <a:t>edges</a:t>
            </a:r>
            <a:endParaRPr lang="en-IN" sz="2800" dirty="0"/>
          </a:p>
        </p:txBody>
      </p:sp>
      <p:sp>
        <p:nvSpPr>
          <p:cNvPr id="4" name="Date Placeholder 3">
            <a:extLst>
              <a:ext uri="{FF2B5EF4-FFF2-40B4-BE49-F238E27FC236}">
                <a16:creationId xmlns:a16="http://schemas.microsoft.com/office/drawing/2014/main" id="{5D8AD080-C66D-9F9A-84F4-901B32B30546}"/>
              </a:ext>
            </a:extLst>
          </p:cNvPr>
          <p:cNvSpPr>
            <a:spLocks noGrp="1"/>
          </p:cNvSpPr>
          <p:nvPr>
            <p:ph type="dt" sz="half" idx="10"/>
          </p:nvPr>
        </p:nvSpPr>
        <p:spPr/>
        <p:txBody>
          <a:bodyPr/>
          <a:lstStyle/>
          <a:p>
            <a:pPr>
              <a:defRPr/>
            </a:pPr>
            <a:fld id="{32A93CC2-19CC-47C1-B9A6-FE7A2DA67BA6}" type="datetime2">
              <a:rPr lang="en-US" smtClean="0"/>
              <a:t>Wednesday, January 22, 2025</a:t>
            </a:fld>
            <a:endParaRPr lang="en-US" altLang="en-US"/>
          </a:p>
        </p:txBody>
      </p:sp>
      <p:sp>
        <p:nvSpPr>
          <p:cNvPr id="5" name="Slide Number Placeholder 4">
            <a:extLst>
              <a:ext uri="{FF2B5EF4-FFF2-40B4-BE49-F238E27FC236}">
                <a16:creationId xmlns:a16="http://schemas.microsoft.com/office/drawing/2014/main" id="{697561F5-80FC-1CE3-AC36-7020C665BE20}"/>
              </a:ext>
            </a:extLst>
          </p:cNvPr>
          <p:cNvSpPr>
            <a:spLocks noGrp="1"/>
          </p:cNvSpPr>
          <p:nvPr>
            <p:ph type="sldNum" sz="quarter" idx="12"/>
          </p:nvPr>
        </p:nvSpPr>
        <p:spPr/>
        <p:txBody>
          <a:bodyPr/>
          <a:lstStyle/>
          <a:p>
            <a:pPr>
              <a:defRPr/>
            </a:pPr>
            <a:fld id="{937DAA19-78E2-454A-BF0A-AB51F6D45129}" type="slidenum">
              <a:rPr lang="en-US" altLang="en-US" smtClean="0"/>
              <a:pPr>
                <a:defRPr/>
              </a:pPr>
              <a:t>25</a:t>
            </a:fld>
            <a:endParaRPr lang="en-US" altLang="en-US"/>
          </a:p>
        </p:txBody>
      </p:sp>
    </p:spTree>
    <p:extLst>
      <p:ext uri="{BB962C8B-B14F-4D97-AF65-F5344CB8AC3E}">
        <p14:creationId xmlns:p14="http://schemas.microsoft.com/office/powerpoint/2010/main" val="22437982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0F3A61-0C1B-4A17-ABA4-B81F0B35878A}"/>
              </a:ext>
            </a:extLst>
          </p:cNvPr>
          <p:cNvSpPr>
            <a:spLocks noGrp="1"/>
          </p:cNvSpPr>
          <p:nvPr>
            <p:ph idx="1"/>
          </p:nvPr>
        </p:nvSpPr>
        <p:spPr>
          <a:xfrm>
            <a:off x="431540" y="641826"/>
            <a:ext cx="8229600" cy="5667494"/>
          </a:xfrm>
        </p:spPr>
        <p:txBody>
          <a:bodyPr>
            <a:noAutofit/>
          </a:bodyPr>
          <a:lstStyle/>
          <a:p>
            <a:pPr algn="just"/>
            <a:r>
              <a:rPr lang="en-US" sz="2800" dirty="0"/>
              <a:t>If these pairs of vertices are unordered, i.e., a pair of vertices </a:t>
            </a:r>
            <a:r>
              <a:rPr lang="en-US" sz="2800" i="1" dirty="0"/>
              <a:t>(u, v) </a:t>
            </a:r>
            <a:r>
              <a:rPr lang="en-US" sz="2800" dirty="0"/>
              <a:t>is the same as the pair </a:t>
            </a:r>
            <a:r>
              <a:rPr lang="en-US" sz="2800" i="1" dirty="0"/>
              <a:t>(v, u), </a:t>
            </a:r>
            <a:r>
              <a:rPr lang="en-US" sz="2800" dirty="0"/>
              <a:t>we say that the vertices </a:t>
            </a:r>
            <a:r>
              <a:rPr lang="en-US" sz="2800" i="1" dirty="0"/>
              <a:t>u </a:t>
            </a:r>
            <a:r>
              <a:rPr lang="en-US" sz="2800" dirty="0"/>
              <a:t>and </a:t>
            </a:r>
            <a:r>
              <a:rPr lang="en-US" sz="2800" i="1" dirty="0"/>
              <a:t>v </a:t>
            </a:r>
            <a:r>
              <a:rPr lang="en-US" sz="2800" dirty="0"/>
              <a:t>are </a:t>
            </a:r>
            <a:r>
              <a:rPr lang="en-US" sz="2800" b="1" i="1" dirty="0"/>
              <a:t>adjacent </a:t>
            </a:r>
            <a:r>
              <a:rPr lang="en-US" sz="2800" dirty="0"/>
              <a:t>to each other and that they are connected by the </a:t>
            </a:r>
            <a:r>
              <a:rPr lang="en-IN" sz="2800" b="1" i="1" dirty="0"/>
              <a:t>undirected edge </a:t>
            </a:r>
            <a:r>
              <a:rPr lang="en-IN" sz="2800" i="1" dirty="0"/>
              <a:t>(u, v)</a:t>
            </a:r>
          </a:p>
          <a:p>
            <a:pPr algn="just"/>
            <a:endParaRPr lang="en-IN" sz="2800" i="1" dirty="0"/>
          </a:p>
          <a:p>
            <a:pPr algn="just"/>
            <a:r>
              <a:rPr lang="en-US" sz="2800" dirty="0"/>
              <a:t>If a pair of vertices </a:t>
            </a:r>
            <a:r>
              <a:rPr lang="en-US" sz="2800" i="1" dirty="0"/>
              <a:t>(u, v) </a:t>
            </a:r>
            <a:r>
              <a:rPr lang="en-US" sz="2800" dirty="0"/>
              <a:t>is not the same as the pair </a:t>
            </a:r>
            <a:r>
              <a:rPr lang="en-US" sz="2800" i="1" dirty="0"/>
              <a:t>(v, u), </a:t>
            </a:r>
            <a:r>
              <a:rPr lang="en-US" sz="2800" dirty="0"/>
              <a:t>we say that the edge </a:t>
            </a:r>
            <a:r>
              <a:rPr lang="en-US" sz="2800" i="1" dirty="0"/>
              <a:t>(u, v) </a:t>
            </a:r>
            <a:r>
              <a:rPr lang="en-US" sz="2800" dirty="0"/>
              <a:t>is </a:t>
            </a:r>
            <a:r>
              <a:rPr lang="en-US" sz="2800" b="1" i="1" dirty="0"/>
              <a:t>directed </a:t>
            </a:r>
            <a:r>
              <a:rPr lang="en-US" sz="2800" dirty="0"/>
              <a:t>from the vertex </a:t>
            </a:r>
            <a:r>
              <a:rPr lang="en-US" sz="2800" i="1" dirty="0"/>
              <a:t>u, </a:t>
            </a:r>
            <a:r>
              <a:rPr lang="en-US" sz="2800" dirty="0"/>
              <a:t>called the edge’s </a:t>
            </a:r>
            <a:r>
              <a:rPr lang="en-US" sz="2800" b="1" i="1" dirty="0"/>
              <a:t>tail</a:t>
            </a:r>
            <a:r>
              <a:rPr lang="en-US" sz="2800" dirty="0"/>
              <a:t>, to the vertex </a:t>
            </a:r>
            <a:r>
              <a:rPr lang="en-US" sz="2800" i="1" dirty="0"/>
              <a:t>v, </a:t>
            </a:r>
            <a:r>
              <a:rPr lang="en-IN" sz="2800" dirty="0"/>
              <a:t>called the edge’s </a:t>
            </a:r>
            <a:r>
              <a:rPr lang="en-IN" sz="2800" b="1" i="1" dirty="0"/>
              <a:t>head </a:t>
            </a:r>
          </a:p>
          <a:p>
            <a:pPr algn="just"/>
            <a:endParaRPr lang="en-IN" sz="2800" b="1" i="1" dirty="0"/>
          </a:p>
          <a:p>
            <a:pPr algn="just"/>
            <a:r>
              <a:rPr lang="en-IN" sz="2800" dirty="0"/>
              <a:t>Directed graphs are also called </a:t>
            </a:r>
            <a:r>
              <a:rPr lang="en-IN" sz="2800" b="1" i="1" dirty="0"/>
              <a:t>digraphs</a:t>
            </a:r>
            <a:endParaRPr lang="en-IN" sz="2800" i="1" dirty="0"/>
          </a:p>
          <a:p>
            <a:pPr algn="just"/>
            <a:endParaRPr lang="en-IN" sz="2800" dirty="0"/>
          </a:p>
        </p:txBody>
      </p:sp>
      <p:sp>
        <p:nvSpPr>
          <p:cNvPr id="2" name="Date Placeholder 1">
            <a:extLst>
              <a:ext uri="{FF2B5EF4-FFF2-40B4-BE49-F238E27FC236}">
                <a16:creationId xmlns:a16="http://schemas.microsoft.com/office/drawing/2014/main" id="{6F3D401E-58BE-E2F8-7096-C2CCC3FC99B9}"/>
              </a:ext>
            </a:extLst>
          </p:cNvPr>
          <p:cNvSpPr>
            <a:spLocks noGrp="1"/>
          </p:cNvSpPr>
          <p:nvPr>
            <p:ph type="dt" sz="half" idx="10"/>
          </p:nvPr>
        </p:nvSpPr>
        <p:spPr/>
        <p:txBody>
          <a:bodyPr/>
          <a:lstStyle/>
          <a:p>
            <a:pPr>
              <a:defRPr/>
            </a:pPr>
            <a:fld id="{2F2481B6-A347-4538-8C47-118DFACB26FD}"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B29085E9-B0E6-36B0-2B30-07F55A7B2EDA}"/>
              </a:ext>
            </a:extLst>
          </p:cNvPr>
          <p:cNvSpPr>
            <a:spLocks noGrp="1"/>
          </p:cNvSpPr>
          <p:nvPr>
            <p:ph type="sldNum" sz="quarter" idx="12"/>
          </p:nvPr>
        </p:nvSpPr>
        <p:spPr/>
        <p:txBody>
          <a:bodyPr/>
          <a:lstStyle/>
          <a:p>
            <a:pPr>
              <a:defRPr/>
            </a:pPr>
            <a:fld id="{937DAA19-78E2-454A-BF0A-AB51F6D45129}" type="slidenum">
              <a:rPr lang="en-US" altLang="en-US" smtClean="0"/>
              <a:pPr>
                <a:defRPr/>
              </a:pPr>
              <a:t>26</a:t>
            </a:fld>
            <a:endParaRPr lang="en-US" altLang="en-US"/>
          </a:p>
        </p:txBody>
      </p:sp>
    </p:spTree>
    <p:extLst>
      <p:ext uri="{BB962C8B-B14F-4D97-AF65-F5344CB8AC3E}">
        <p14:creationId xmlns:p14="http://schemas.microsoft.com/office/powerpoint/2010/main" val="39031374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D863322-4D77-4532-AEDC-23F78138985B}"/>
              </a:ext>
            </a:extLst>
          </p:cNvPr>
          <p:cNvPicPr>
            <a:picLocks noChangeAspect="1"/>
          </p:cNvPicPr>
          <p:nvPr/>
        </p:nvPicPr>
        <p:blipFill>
          <a:blip r:embed="rId2"/>
          <a:stretch>
            <a:fillRect/>
          </a:stretch>
        </p:blipFill>
        <p:spPr>
          <a:xfrm>
            <a:off x="0" y="1178750"/>
            <a:ext cx="9144000" cy="4770530"/>
          </a:xfrm>
          <a:prstGeom prst="rect">
            <a:avLst/>
          </a:prstGeom>
        </p:spPr>
      </p:pic>
      <p:sp>
        <p:nvSpPr>
          <p:cNvPr id="2" name="Date Placeholder 1">
            <a:extLst>
              <a:ext uri="{FF2B5EF4-FFF2-40B4-BE49-F238E27FC236}">
                <a16:creationId xmlns:a16="http://schemas.microsoft.com/office/drawing/2014/main" id="{67A5B91B-98DE-A803-449B-B62143F0E67E}"/>
              </a:ext>
            </a:extLst>
          </p:cNvPr>
          <p:cNvSpPr>
            <a:spLocks noGrp="1"/>
          </p:cNvSpPr>
          <p:nvPr>
            <p:ph type="dt" sz="half" idx="10"/>
          </p:nvPr>
        </p:nvSpPr>
        <p:spPr/>
        <p:txBody>
          <a:bodyPr/>
          <a:lstStyle/>
          <a:p>
            <a:pPr>
              <a:defRPr/>
            </a:pPr>
            <a:fld id="{B132DC26-F736-463F-A808-70B3EEB40B85}"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B196B016-7C46-9658-5B5B-73EB1C5A9F68}"/>
              </a:ext>
            </a:extLst>
          </p:cNvPr>
          <p:cNvSpPr>
            <a:spLocks noGrp="1"/>
          </p:cNvSpPr>
          <p:nvPr>
            <p:ph type="sldNum" sz="quarter" idx="12"/>
          </p:nvPr>
        </p:nvSpPr>
        <p:spPr/>
        <p:txBody>
          <a:bodyPr/>
          <a:lstStyle/>
          <a:p>
            <a:pPr>
              <a:defRPr/>
            </a:pPr>
            <a:fld id="{937DAA19-78E2-454A-BF0A-AB51F6D45129}" type="slidenum">
              <a:rPr lang="en-US" altLang="en-US" smtClean="0"/>
              <a:pPr>
                <a:defRPr/>
              </a:pPr>
              <a:t>27</a:t>
            </a:fld>
            <a:endParaRPr lang="en-US" altLang="en-US"/>
          </a:p>
        </p:txBody>
      </p:sp>
    </p:spTree>
    <p:extLst>
      <p:ext uri="{BB962C8B-B14F-4D97-AF65-F5344CB8AC3E}">
        <p14:creationId xmlns:p14="http://schemas.microsoft.com/office/powerpoint/2010/main" val="4959976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F321A7-912B-4CC8-B37B-FDAE797E67B3}"/>
              </a:ext>
            </a:extLst>
          </p:cNvPr>
          <p:cNvSpPr>
            <a:spLocks noGrp="1"/>
          </p:cNvSpPr>
          <p:nvPr>
            <p:ph idx="1"/>
          </p:nvPr>
        </p:nvSpPr>
        <p:spPr>
          <a:xfrm>
            <a:off x="457200" y="1448780"/>
            <a:ext cx="8229600" cy="4677384"/>
          </a:xfrm>
        </p:spPr>
        <p:txBody>
          <a:bodyPr>
            <a:normAutofit/>
          </a:bodyPr>
          <a:lstStyle/>
          <a:p>
            <a:pPr algn="just"/>
            <a:r>
              <a:rPr lang="en-US" sz="2800" dirty="0"/>
              <a:t>A graph with every pair of its vertices connected by an edge is called </a:t>
            </a:r>
            <a:r>
              <a:rPr lang="en-US" sz="2800" b="1" i="1" dirty="0"/>
              <a:t>complete</a:t>
            </a:r>
          </a:p>
          <a:p>
            <a:pPr algn="just"/>
            <a:endParaRPr lang="en-US" sz="2800" dirty="0"/>
          </a:p>
          <a:p>
            <a:pPr algn="just"/>
            <a:r>
              <a:rPr lang="en-IN" sz="2800" dirty="0"/>
              <a:t>A graph </a:t>
            </a:r>
            <a:r>
              <a:rPr lang="en-US" sz="2800" dirty="0"/>
              <a:t>with relatively few possible edges missing is called </a:t>
            </a:r>
            <a:r>
              <a:rPr lang="en-US" sz="2800" b="1" i="1" dirty="0"/>
              <a:t>dense</a:t>
            </a:r>
            <a:r>
              <a:rPr lang="en-US" sz="2800" dirty="0"/>
              <a:t>; a graph with few edges relative to the number of its vertices is called </a:t>
            </a:r>
            <a:r>
              <a:rPr lang="en-US" sz="2800" b="1" i="1" dirty="0"/>
              <a:t>sparse</a:t>
            </a:r>
            <a:endParaRPr lang="en-IN" sz="2800" dirty="0"/>
          </a:p>
        </p:txBody>
      </p:sp>
      <p:sp>
        <p:nvSpPr>
          <p:cNvPr id="2" name="Date Placeholder 1">
            <a:extLst>
              <a:ext uri="{FF2B5EF4-FFF2-40B4-BE49-F238E27FC236}">
                <a16:creationId xmlns:a16="http://schemas.microsoft.com/office/drawing/2014/main" id="{88ED56D1-14B4-CA66-BDA3-3B185B001C27}"/>
              </a:ext>
            </a:extLst>
          </p:cNvPr>
          <p:cNvSpPr>
            <a:spLocks noGrp="1"/>
          </p:cNvSpPr>
          <p:nvPr>
            <p:ph type="dt" sz="half" idx="10"/>
          </p:nvPr>
        </p:nvSpPr>
        <p:spPr/>
        <p:txBody>
          <a:bodyPr/>
          <a:lstStyle/>
          <a:p>
            <a:pPr>
              <a:defRPr/>
            </a:pPr>
            <a:fld id="{23880805-04EE-49C6-81F0-D18781B48B73}"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4493C458-9ABC-9D31-3F1E-AC6D7EAF842E}"/>
              </a:ext>
            </a:extLst>
          </p:cNvPr>
          <p:cNvSpPr>
            <a:spLocks noGrp="1"/>
          </p:cNvSpPr>
          <p:nvPr>
            <p:ph type="sldNum" sz="quarter" idx="12"/>
          </p:nvPr>
        </p:nvSpPr>
        <p:spPr/>
        <p:txBody>
          <a:bodyPr/>
          <a:lstStyle/>
          <a:p>
            <a:pPr>
              <a:defRPr/>
            </a:pPr>
            <a:fld id="{937DAA19-78E2-454A-BF0A-AB51F6D45129}" type="slidenum">
              <a:rPr lang="en-US" altLang="en-US" smtClean="0"/>
              <a:pPr>
                <a:defRPr/>
              </a:pPr>
              <a:t>28</a:t>
            </a:fld>
            <a:endParaRPr lang="en-US" altLang="en-US"/>
          </a:p>
        </p:txBody>
      </p:sp>
    </p:spTree>
    <p:extLst>
      <p:ext uri="{BB962C8B-B14F-4D97-AF65-F5344CB8AC3E}">
        <p14:creationId xmlns:p14="http://schemas.microsoft.com/office/powerpoint/2010/main" val="29848989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37AB4-BAB1-4D83-8517-3DA7B0C8A7DC}"/>
              </a:ext>
            </a:extLst>
          </p:cNvPr>
          <p:cNvSpPr>
            <a:spLocks noGrp="1"/>
          </p:cNvSpPr>
          <p:nvPr>
            <p:ph type="title"/>
          </p:nvPr>
        </p:nvSpPr>
        <p:spPr/>
        <p:txBody>
          <a:bodyPr/>
          <a:lstStyle/>
          <a:p>
            <a:r>
              <a:rPr lang="en-IN" dirty="0"/>
              <a:t>Graph Representations</a:t>
            </a:r>
          </a:p>
        </p:txBody>
      </p:sp>
      <p:sp>
        <p:nvSpPr>
          <p:cNvPr id="3" name="Content Placeholder 2">
            <a:extLst>
              <a:ext uri="{FF2B5EF4-FFF2-40B4-BE49-F238E27FC236}">
                <a16:creationId xmlns:a16="http://schemas.microsoft.com/office/drawing/2014/main" id="{CDB1D00C-D4CF-4C64-A4AC-239DA70D243C}"/>
              </a:ext>
            </a:extLst>
          </p:cNvPr>
          <p:cNvSpPr>
            <a:spLocks noGrp="1"/>
          </p:cNvSpPr>
          <p:nvPr>
            <p:ph idx="1"/>
          </p:nvPr>
        </p:nvSpPr>
        <p:spPr>
          <a:xfrm>
            <a:off x="457200" y="1133745"/>
            <a:ext cx="8229600" cy="4992419"/>
          </a:xfrm>
        </p:spPr>
        <p:txBody>
          <a:bodyPr>
            <a:normAutofit/>
          </a:bodyPr>
          <a:lstStyle/>
          <a:p>
            <a:pPr algn="just"/>
            <a:r>
              <a:rPr lang="en-US" sz="2800" dirty="0"/>
              <a:t>Graphs for computer algorithms are usually represented in one of two ways: the </a:t>
            </a:r>
            <a:r>
              <a:rPr lang="en-US" sz="2800" b="1" dirty="0"/>
              <a:t>adjacency matrix </a:t>
            </a:r>
            <a:r>
              <a:rPr lang="en-US" sz="2800" dirty="0"/>
              <a:t>and </a:t>
            </a:r>
            <a:r>
              <a:rPr lang="en-US" sz="2800" b="1" dirty="0"/>
              <a:t>adjacency lists</a:t>
            </a:r>
          </a:p>
          <a:p>
            <a:pPr algn="just"/>
            <a:endParaRPr lang="en-US" sz="2800" dirty="0"/>
          </a:p>
          <a:p>
            <a:pPr algn="just"/>
            <a:r>
              <a:rPr lang="en-IN" sz="2800" dirty="0"/>
              <a:t>The </a:t>
            </a:r>
            <a:r>
              <a:rPr lang="en-IN" sz="2800" b="1" i="1" dirty="0"/>
              <a:t>adjacency </a:t>
            </a:r>
            <a:r>
              <a:rPr lang="en-US" sz="2800" b="1" i="1" dirty="0"/>
              <a:t>matrix </a:t>
            </a:r>
            <a:r>
              <a:rPr lang="en-US" sz="2800" dirty="0"/>
              <a:t>of a graph with </a:t>
            </a:r>
            <a:r>
              <a:rPr lang="en-US" sz="2800" i="1" dirty="0"/>
              <a:t>n </a:t>
            </a:r>
            <a:r>
              <a:rPr lang="en-US" sz="2800" dirty="0"/>
              <a:t>vertices is an </a:t>
            </a:r>
            <a:r>
              <a:rPr lang="en-US" sz="2800" i="1" dirty="0"/>
              <a:t>n </a:t>
            </a:r>
            <a:r>
              <a:rPr lang="en-US" sz="2800" dirty="0"/>
              <a:t>× </a:t>
            </a:r>
            <a:r>
              <a:rPr lang="en-US" sz="2800" i="1" dirty="0"/>
              <a:t>n </a:t>
            </a:r>
            <a:r>
              <a:rPr lang="en-US" sz="2800" dirty="0"/>
              <a:t>Boolean matrix with one row and one column for each of the graph’s vertices, in which the element in the </a:t>
            </a:r>
            <a:r>
              <a:rPr lang="en-US" sz="2800" i="1" dirty="0" err="1"/>
              <a:t>i</a:t>
            </a:r>
            <a:r>
              <a:rPr lang="en-US" sz="2800" i="1" baseline="30000" dirty="0" err="1"/>
              <a:t>th</a:t>
            </a:r>
            <a:r>
              <a:rPr lang="en-US" sz="2800" i="1" dirty="0"/>
              <a:t> </a:t>
            </a:r>
            <a:r>
              <a:rPr lang="en-US" sz="2800" dirty="0"/>
              <a:t> row and the </a:t>
            </a:r>
            <a:r>
              <a:rPr lang="en-US" sz="2800" i="1" dirty="0" err="1"/>
              <a:t>j</a:t>
            </a:r>
            <a:r>
              <a:rPr lang="en-US" sz="2800" baseline="30000" dirty="0" err="1"/>
              <a:t>th</a:t>
            </a:r>
            <a:r>
              <a:rPr lang="en-US" sz="2800" dirty="0"/>
              <a:t> column is equal to 1 if there is an edge from the </a:t>
            </a:r>
            <a:r>
              <a:rPr lang="en-US" sz="2800" i="1" dirty="0" err="1"/>
              <a:t>i</a:t>
            </a:r>
            <a:r>
              <a:rPr lang="en-US" sz="2800" baseline="30000" dirty="0" err="1"/>
              <a:t>th</a:t>
            </a:r>
            <a:r>
              <a:rPr lang="en-US" sz="2800" dirty="0"/>
              <a:t> vertex to the </a:t>
            </a:r>
            <a:r>
              <a:rPr lang="en-US" sz="2800" i="1" dirty="0" err="1"/>
              <a:t>j</a:t>
            </a:r>
            <a:r>
              <a:rPr lang="en-US" sz="2800" baseline="30000" dirty="0" err="1"/>
              <a:t>th</a:t>
            </a:r>
            <a:r>
              <a:rPr lang="en-US" sz="2800" dirty="0"/>
              <a:t> vertex, and equal to 0 if there is no such edge</a:t>
            </a:r>
            <a:endParaRPr lang="en-IN" sz="2800" dirty="0"/>
          </a:p>
        </p:txBody>
      </p:sp>
      <p:sp>
        <p:nvSpPr>
          <p:cNvPr id="4" name="Date Placeholder 3">
            <a:extLst>
              <a:ext uri="{FF2B5EF4-FFF2-40B4-BE49-F238E27FC236}">
                <a16:creationId xmlns:a16="http://schemas.microsoft.com/office/drawing/2014/main" id="{99348B81-E2A5-6A77-92B0-D219CF571163}"/>
              </a:ext>
            </a:extLst>
          </p:cNvPr>
          <p:cNvSpPr>
            <a:spLocks noGrp="1"/>
          </p:cNvSpPr>
          <p:nvPr>
            <p:ph type="dt" sz="half" idx="10"/>
          </p:nvPr>
        </p:nvSpPr>
        <p:spPr/>
        <p:txBody>
          <a:bodyPr/>
          <a:lstStyle/>
          <a:p>
            <a:pPr>
              <a:defRPr/>
            </a:pPr>
            <a:fld id="{7CEEA3A6-9EED-4DD4-8670-B1D1B191416C}" type="datetime2">
              <a:rPr lang="en-US" smtClean="0"/>
              <a:t>Wednesday, January 22, 2025</a:t>
            </a:fld>
            <a:endParaRPr lang="en-US" altLang="en-US"/>
          </a:p>
        </p:txBody>
      </p:sp>
      <p:sp>
        <p:nvSpPr>
          <p:cNvPr id="5" name="Slide Number Placeholder 4">
            <a:extLst>
              <a:ext uri="{FF2B5EF4-FFF2-40B4-BE49-F238E27FC236}">
                <a16:creationId xmlns:a16="http://schemas.microsoft.com/office/drawing/2014/main" id="{B2663873-33CF-2DBC-75F5-96B9ED8220F1}"/>
              </a:ext>
            </a:extLst>
          </p:cNvPr>
          <p:cNvSpPr>
            <a:spLocks noGrp="1"/>
          </p:cNvSpPr>
          <p:nvPr>
            <p:ph type="sldNum" sz="quarter" idx="12"/>
          </p:nvPr>
        </p:nvSpPr>
        <p:spPr/>
        <p:txBody>
          <a:bodyPr/>
          <a:lstStyle/>
          <a:p>
            <a:pPr>
              <a:defRPr/>
            </a:pPr>
            <a:fld id="{937DAA19-78E2-454A-BF0A-AB51F6D45129}" type="slidenum">
              <a:rPr lang="en-US" altLang="en-US" smtClean="0"/>
              <a:pPr>
                <a:defRPr/>
              </a:pPr>
              <a:t>29</a:t>
            </a:fld>
            <a:endParaRPr lang="en-US" altLang="en-US"/>
          </a:p>
        </p:txBody>
      </p:sp>
    </p:spTree>
    <p:extLst>
      <p:ext uri="{BB962C8B-B14F-4D97-AF65-F5344CB8AC3E}">
        <p14:creationId xmlns:p14="http://schemas.microsoft.com/office/powerpoint/2010/main" val="35088746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95B1A6C-1855-44C3-84C2-3629B156F1B7}"/>
              </a:ext>
            </a:extLst>
          </p:cNvPr>
          <p:cNvPicPr>
            <a:picLocks noGrp="1" noChangeAspect="1"/>
          </p:cNvPicPr>
          <p:nvPr>
            <p:ph idx="1"/>
          </p:nvPr>
        </p:nvPicPr>
        <p:blipFill>
          <a:blip r:embed="rId2"/>
          <a:stretch>
            <a:fillRect/>
          </a:stretch>
        </p:blipFill>
        <p:spPr>
          <a:xfrm>
            <a:off x="0" y="2911908"/>
            <a:ext cx="9144000" cy="3946092"/>
          </a:xfrm>
          <a:prstGeom prst="rect">
            <a:avLst/>
          </a:prstGeom>
        </p:spPr>
      </p:pic>
      <p:pic>
        <p:nvPicPr>
          <p:cNvPr id="5" name="Picture 4">
            <a:extLst>
              <a:ext uri="{FF2B5EF4-FFF2-40B4-BE49-F238E27FC236}">
                <a16:creationId xmlns:a16="http://schemas.microsoft.com/office/drawing/2014/main" id="{2BDE1D5D-112C-4CE7-AB5D-A09E0902C39E}"/>
              </a:ext>
            </a:extLst>
          </p:cNvPr>
          <p:cNvPicPr>
            <a:picLocks noChangeAspect="1"/>
          </p:cNvPicPr>
          <p:nvPr/>
        </p:nvPicPr>
        <p:blipFill rotWithShape="1">
          <a:blip r:embed="rId3"/>
          <a:srcRect t="35809" r="43795"/>
          <a:stretch/>
        </p:blipFill>
        <p:spPr>
          <a:xfrm>
            <a:off x="1" y="2551"/>
            <a:ext cx="5832140" cy="2909357"/>
          </a:xfrm>
          <a:prstGeom prst="rect">
            <a:avLst/>
          </a:prstGeom>
        </p:spPr>
      </p:pic>
      <p:sp>
        <p:nvSpPr>
          <p:cNvPr id="2" name="Date Placeholder 1">
            <a:extLst>
              <a:ext uri="{FF2B5EF4-FFF2-40B4-BE49-F238E27FC236}">
                <a16:creationId xmlns:a16="http://schemas.microsoft.com/office/drawing/2014/main" id="{0EAB36A9-A15E-35BF-85E8-214429D49D34}"/>
              </a:ext>
            </a:extLst>
          </p:cNvPr>
          <p:cNvSpPr>
            <a:spLocks noGrp="1"/>
          </p:cNvSpPr>
          <p:nvPr>
            <p:ph type="dt" sz="half" idx="10"/>
          </p:nvPr>
        </p:nvSpPr>
        <p:spPr/>
        <p:txBody>
          <a:bodyPr/>
          <a:lstStyle/>
          <a:p>
            <a:pPr>
              <a:defRPr/>
            </a:pPr>
            <a:fld id="{9572BE0C-449C-4B76-B3F0-501B066E8BB8}"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292C68A6-DCC8-2450-440E-FAFD9F351247}"/>
              </a:ext>
            </a:extLst>
          </p:cNvPr>
          <p:cNvSpPr>
            <a:spLocks noGrp="1"/>
          </p:cNvSpPr>
          <p:nvPr>
            <p:ph type="sldNum" sz="quarter" idx="12"/>
          </p:nvPr>
        </p:nvSpPr>
        <p:spPr/>
        <p:txBody>
          <a:bodyPr/>
          <a:lstStyle/>
          <a:p>
            <a:pPr>
              <a:defRPr/>
            </a:pPr>
            <a:fld id="{937DAA19-78E2-454A-BF0A-AB51F6D45129}" type="slidenum">
              <a:rPr lang="en-US" altLang="en-US" smtClean="0"/>
              <a:pPr>
                <a:defRPr/>
              </a:pPr>
              <a:t>30</a:t>
            </a:fld>
            <a:endParaRPr lang="en-US" altLang="en-US"/>
          </a:p>
        </p:txBody>
      </p:sp>
    </p:spTree>
    <p:extLst>
      <p:ext uri="{BB962C8B-B14F-4D97-AF65-F5344CB8AC3E}">
        <p14:creationId xmlns:p14="http://schemas.microsoft.com/office/powerpoint/2010/main" val="28779218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0E7917-BA07-44F3-AE81-0EE0BEC262B2}"/>
              </a:ext>
            </a:extLst>
          </p:cNvPr>
          <p:cNvSpPr>
            <a:spLocks noGrp="1"/>
          </p:cNvSpPr>
          <p:nvPr>
            <p:ph idx="1"/>
          </p:nvPr>
        </p:nvSpPr>
        <p:spPr>
          <a:xfrm>
            <a:off x="296524" y="998730"/>
            <a:ext cx="8415935" cy="5130570"/>
          </a:xfrm>
        </p:spPr>
        <p:txBody>
          <a:bodyPr>
            <a:noAutofit/>
          </a:bodyPr>
          <a:lstStyle/>
          <a:p>
            <a:pPr algn="just"/>
            <a:r>
              <a:rPr lang="en-US" sz="2800" dirty="0"/>
              <a:t>If a graph is sparse, the adjacency list representation may use less space than the corresponding adjacency matrix despite the extra storage consumed by pointers of the linked lists;</a:t>
            </a:r>
          </a:p>
          <a:p>
            <a:pPr algn="just"/>
            <a:endParaRPr lang="en-US" sz="2800" dirty="0"/>
          </a:p>
          <a:p>
            <a:pPr algn="just"/>
            <a:r>
              <a:rPr lang="en-US" sz="2800" dirty="0"/>
              <a:t>The situation is exactly opposite for dense graphs</a:t>
            </a:r>
          </a:p>
          <a:p>
            <a:pPr algn="just"/>
            <a:endParaRPr lang="en-US" sz="2800" dirty="0"/>
          </a:p>
          <a:p>
            <a:pPr algn="just"/>
            <a:r>
              <a:rPr lang="en-US" sz="2800" dirty="0"/>
              <a:t>In general, which of the two representations is more convenient depends on the nature of the problem, on the algorithm used for solving it, and, possibly, on the type of input graph (sparse or dense)</a:t>
            </a:r>
            <a:endParaRPr lang="en-IN" sz="2800" dirty="0"/>
          </a:p>
        </p:txBody>
      </p:sp>
      <p:sp>
        <p:nvSpPr>
          <p:cNvPr id="2" name="Date Placeholder 1">
            <a:extLst>
              <a:ext uri="{FF2B5EF4-FFF2-40B4-BE49-F238E27FC236}">
                <a16:creationId xmlns:a16="http://schemas.microsoft.com/office/drawing/2014/main" id="{2ED5DEE0-F4C7-E6B7-4732-E99D7B114F85}"/>
              </a:ext>
            </a:extLst>
          </p:cNvPr>
          <p:cNvSpPr>
            <a:spLocks noGrp="1"/>
          </p:cNvSpPr>
          <p:nvPr>
            <p:ph type="dt" sz="half" idx="10"/>
          </p:nvPr>
        </p:nvSpPr>
        <p:spPr/>
        <p:txBody>
          <a:bodyPr/>
          <a:lstStyle/>
          <a:p>
            <a:pPr>
              <a:defRPr/>
            </a:pPr>
            <a:fld id="{125FFD17-3A78-4E75-9308-15B004EA9E22}"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8A181A37-B9F9-8A3D-DF6C-C6EB5EA02A8F}"/>
              </a:ext>
            </a:extLst>
          </p:cNvPr>
          <p:cNvSpPr>
            <a:spLocks noGrp="1"/>
          </p:cNvSpPr>
          <p:nvPr>
            <p:ph type="sldNum" sz="quarter" idx="12"/>
          </p:nvPr>
        </p:nvSpPr>
        <p:spPr/>
        <p:txBody>
          <a:bodyPr/>
          <a:lstStyle/>
          <a:p>
            <a:pPr>
              <a:defRPr/>
            </a:pPr>
            <a:fld id="{937DAA19-78E2-454A-BF0A-AB51F6D45129}" type="slidenum">
              <a:rPr lang="en-US" altLang="en-US" smtClean="0"/>
              <a:pPr>
                <a:defRPr/>
              </a:pPr>
              <a:t>31</a:t>
            </a:fld>
            <a:endParaRPr lang="en-US" altLang="en-US"/>
          </a:p>
        </p:txBody>
      </p:sp>
    </p:spTree>
    <p:extLst>
      <p:ext uri="{BB962C8B-B14F-4D97-AF65-F5344CB8AC3E}">
        <p14:creationId xmlns:p14="http://schemas.microsoft.com/office/powerpoint/2010/main" val="38339331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05E83-6174-4FAB-AECD-CDF396226711}"/>
              </a:ext>
            </a:extLst>
          </p:cNvPr>
          <p:cNvSpPr>
            <a:spLocks noGrp="1"/>
          </p:cNvSpPr>
          <p:nvPr>
            <p:ph type="title"/>
          </p:nvPr>
        </p:nvSpPr>
        <p:spPr/>
        <p:txBody>
          <a:bodyPr/>
          <a:lstStyle/>
          <a:p>
            <a:r>
              <a:rPr lang="en-IN" dirty="0"/>
              <a:t>Weighted Graphs</a:t>
            </a:r>
          </a:p>
        </p:txBody>
      </p:sp>
      <p:sp>
        <p:nvSpPr>
          <p:cNvPr id="3" name="Content Placeholder 2">
            <a:extLst>
              <a:ext uri="{FF2B5EF4-FFF2-40B4-BE49-F238E27FC236}">
                <a16:creationId xmlns:a16="http://schemas.microsoft.com/office/drawing/2014/main" id="{A2234C77-7202-4308-913F-3367A403F716}"/>
              </a:ext>
            </a:extLst>
          </p:cNvPr>
          <p:cNvSpPr>
            <a:spLocks noGrp="1"/>
          </p:cNvSpPr>
          <p:nvPr>
            <p:ph idx="1"/>
          </p:nvPr>
        </p:nvSpPr>
        <p:spPr>
          <a:xfrm>
            <a:off x="296524" y="834578"/>
            <a:ext cx="8595955" cy="2160240"/>
          </a:xfrm>
        </p:spPr>
        <p:txBody>
          <a:bodyPr>
            <a:normAutofit/>
          </a:bodyPr>
          <a:lstStyle/>
          <a:p>
            <a:pPr algn="just"/>
            <a:r>
              <a:rPr lang="en-US" sz="2800" dirty="0"/>
              <a:t>A </a:t>
            </a:r>
            <a:r>
              <a:rPr lang="en-US" sz="2800" b="1" i="1" dirty="0"/>
              <a:t>weighted graph </a:t>
            </a:r>
            <a:r>
              <a:rPr lang="en-US" sz="2800" dirty="0"/>
              <a:t>(or weighted digraph) is a graph (or digraph) with numbers assigned to its edges</a:t>
            </a:r>
          </a:p>
          <a:p>
            <a:pPr algn="just"/>
            <a:endParaRPr lang="en-US" sz="2800" dirty="0"/>
          </a:p>
          <a:p>
            <a:pPr algn="just"/>
            <a:r>
              <a:rPr lang="en-US" sz="2800" dirty="0"/>
              <a:t>These numbers are called </a:t>
            </a:r>
            <a:r>
              <a:rPr lang="en-US" sz="2800" b="1" i="1" dirty="0"/>
              <a:t>weights </a:t>
            </a:r>
            <a:r>
              <a:rPr lang="en-US" sz="2800" dirty="0"/>
              <a:t>or </a:t>
            </a:r>
            <a:r>
              <a:rPr lang="en-IN" sz="2800" b="1" i="1" dirty="0"/>
              <a:t>costs</a:t>
            </a:r>
            <a:endParaRPr lang="en-IN" sz="2800" dirty="0"/>
          </a:p>
        </p:txBody>
      </p:sp>
      <p:pic>
        <p:nvPicPr>
          <p:cNvPr id="5" name="Picture 4">
            <a:extLst>
              <a:ext uri="{FF2B5EF4-FFF2-40B4-BE49-F238E27FC236}">
                <a16:creationId xmlns:a16="http://schemas.microsoft.com/office/drawing/2014/main" id="{4D7D036D-AA5A-4285-ABF8-9BD37B886230}"/>
              </a:ext>
            </a:extLst>
          </p:cNvPr>
          <p:cNvPicPr>
            <a:picLocks noChangeAspect="1"/>
          </p:cNvPicPr>
          <p:nvPr/>
        </p:nvPicPr>
        <p:blipFill>
          <a:blip r:embed="rId2"/>
          <a:stretch>
            <a:fillRect/>
          </a:stretch>
        </p:blipFill>
        <p:spPr>
          <a:xfrm>
            <a:off x="0" y="2994818"/>
            <a:ext cx="9144000" cy="3863182"/>
          </a:xfrm>
          <a:prstGeom prst="rect">
            <a:avLst/>
          </a:prstGeom>
        </p:spPr>
      </p:pic>
      <p:sp>
        <p:nvSpPr>
          <p:cNvPr id="4" name="Date Placeholder 3">
            <a:extLst>
              <a:ext uri="{FF2B5EF4-FFF2-40B4-BE49-F238E27FC236}">
                <a16:creationId xmlns:a16="http://schemas.microsoft.com/office/drawing/2014/main" id="{6836A8ED-9FB4-D332-ACF1-FA93C52D002E}"/>
              </a:ext>
            </a:extLst>
          </p:cNvPr>
          <p:cNvSpPr>
            <a:spLocks noGrp="1"/>
          </p:cNvSpPr>
          <p:nvPr>
            <p:ph type="dt" sz="half" idx="10"/>
          </p:nvPr>
        </p:nvSpPr>
        <p:spPr/>
        <p:txBody>
          <a:bodyPr/>
          <a:lstStyle/>
          <a:p>
            <a:pPr>
              <a:defRPr/>
            </a:pPr>
            <a:fld id="{70B7A35A-4ED7-4D16-89E3-B21C741B1293}" type="datetime2">
              <a:rPr lang="en-US" smtClean="0"/>
              <a:t>Wednesday, January 22, 2025</a:t>
            </a:fld>
            <a:endParaRPr lang="en-US" altLang="en-US"/>
          </a:p>
        </p:txBody>
      </p:sp>
      <p:sp>
        <p:nvSpPr>
          <p:cNvPr id="6" name="Slide Number Placeholder 5">
            <a:extLst>
              <a:ext uri="{FF2B5EF4-FFF2-40B4-BE49-F238E27FC236}">
                <a16:creationId xmlns:a16="http://schemas.microsoft.com/office/drawing/2014/main" id="{F781417E-3652-7B90-7B05-0B1BBB6EBE98}"/>
              </a:ext>
            </a:extLst>
          </p:cNvPr>
          <p:cNvSpPr>
            <a:spLocks noGrp="1"/>
          </p:cNvSpPr>
          <p:nvPr>
            <p:ph type="sldNum" sz="quarter" idx="12"/>
          </p:nvPr>
        </p:nvSpPr>
        <p:spPr/>
        <p:txBody>
          <a:bodyPr/>
          <a:lstStyle/>
          <a:p>
            <a:pPr>
              <a:defRPr/>
            </a:pPr>
            <a:fld id="{937DAA19-78E2-454A-BF0A-AB51F6D45129}" type="slidenum">
              <a:rPr lang="en-US" altLang="en-US" smtClean="0"/>
              <a:pPr>
                <a:defRPr/>
              </a:pPr>
              <a:t>32</a:t>
            </a:fld>
            <a:endParaRPr lang="en-US" altLang="en-US"/>
          </a:p>
        </p:txBody>
      </p:sp>
    </p:spTree>
    <p:extLst>
      <p:ext uri="{BB962C8B-B14F-4D97-AF65-F5344CB8AC3E}">
        <p14:creationId xmlns:p14="http://schemas.microsoft.com/office/powerpoint/2010/main" val="13798440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44C371-9B86-4157-822F-88AC9685A608}"/>
              </a:ext>
            </a:extLst>
          </p:cNvPr>
          <p:cNvSpPr>
            <a:spLocks noGrp="1"/>
          </p:cNvSpPr>
          <p:nvPr>
            <p:ph idx="1"/>
          </p:nvPr>
        </p:nvSpPr>
        <p:spPr>
          <a:xfrm>
            <a:off x="457200" y="908721"/>
            <a:ext cx="8229600" cy="5217444"/>
          </a:xfrm>
        </p:spPr>
        <p:txBody>
          <a:bodyPr>
            <a:normAutofit/>
          </a:bodyPr>
          <a:lstStyle/>
          <a:p>
            <a:pPr algn="just"/>
            <a:r>
              <a:rPr lang="en-US" sz="2800" dirty="0"/>
              <a:t>Among the many properties of graphs, two are important for a great number of applications: </a:t>
            </a:r>
            <a:r>
              <a:rPr lang="en-US" sz="2800" b="1" i="1" dirty="0"/>
              <a:t>connectivity </a:t>
            </a:r>
            <a:r>
              <a:rPr lang="en-US" sz="2800" dirty="0"/>
              <a:t>and </a:t>
            </a:r>
            <a:r>
              <a:rPr lang="en-US" sz="2800" b="1" i="1" dirty="0"/>
              <a:t>acyclicity</a:t>
            </a:r>
          </a:p>
          <a:p>
            <a:pPr algn="just"/>
            <a:endParaRPr lang="en-US" sz="2800" b="1" i="1" dirty="0"/>
          </a:p>
          <a:p>
            <a:pPr algn="just"/>
            <a:r>
              <a:rPr lang="en-US" sz="2800" dirty="0"/>
              <a:t>Both are based on the notion of a path</a:t>
            </a:r>
          </a:p>
          <a:p>
            <a:pPr algn="just"/>
            <a:endParaRPr lang="en-US" sz="2800" dirty="0"/>
          </a:p>
          <a:p>
            <a:pPr algn="just"/>
            <a:r>
              <a:rPr lang="en-US" sz="2800" dirty="0"/>
              <a:t>A </a:t>
            </a:r>
            <a:r>
              <a:rPr lang="en-US" sz="2800" b="1" i="1" dirty="0"/>
              <a:t>path </a:t>
            </a:r>
            <a:r>
              <a:rPr lang="en-US" sz="2800" dirty="0"/>
              <a:t>from vertex </a:t>
            </a:r>
            <a:r>
              <a:rPr lang="en-US" sz="2800" i="1" dirty="0"/>
              <a:t>u </a:t>
            </a:r>
            <a:r>
              <a:rPr lang="en-US" sz="2800" dirty="0"/>
              <a:t>to vertex </a:t>
            </a:r>
            <a:r>
              <a:rPr lang="en-US" sz="2800" i="1" dirty="0"/>
              <a:t>v </a:t>
            </a:r>
            <a:r>
              <a:rPr lang="en-US" sz="2800" dirty="0"/>
              <a:t>of a graph </a:t>
            </a:r>
            <a:r>
              <a:rPr lang="en-US" sz="2800" i="1" dirty="0"/>
              <a:t>G </a:t>
            </a:r>
            <a:r>
              <a:rPr lang="en-US" sz="2800" dirty="0"/>
              <a:t>can be defined as a sequence of adjacent (connected by an edge) vertices that starts with </a:t>
            </a:r>
            <a:r>
              <a:rPr lang="en-US" sz="2800" i="1" dirty="0"/>
              <a:t>u </a:t>
            </a:r>
            <a:r>
              <a:rPr lang="en-US" sz="2800" dirty="0"/>
              <a:t>and ends </a:t>
            </a:r>
            <a:r>
              <a:rPr lang="en-IN" sz="2800" dirty="0"/>
              <a:t>with </a:t>
            </a:r>
            <a:r>
              <a:rPr lang="en-IN" sz="2800" i="1" dirty="0"/>
              <a:t>v</a:t>
            </a:r>
            <a:endParaRPr lang="en-IN" sz="2800" dirty="0"/>
          </a:p>
        </p:txBody>
      </p:sp>
      <p:sp>
        <p:nvSpPr>
          <p:cNvPr id="2" name="Date Placeholder 1">
            <a:extLst>
              <a:ext uri="{FF2B5EF4-FFF2-40B4-BE49-F238E27FC236}">
                <a16:creationId xmlns:a16="http://schemas.microsoft.com/office/drawing/2014/main" id="{9CA86853-3B08-0602-2EAB-D86B8017E764}"/>
              </a:ext>
            </a:extLst>
          </p:cNvPr>
          <p:cNvSpPr>
            <a:spLocks noGrp="1"/>
          </p:cNvSpPr>
          <p:nvPr>
            <p:ph type="dt" sz="half" idx="10"/>
          </p:nvPr>
        </p:nvSpPr>
        <p:spPr/>
        <p:txBody>
          <a:bodyPr/>
          <a:lstStyle/>
          <a:p>
            <a:pPr>
              <a:defRPr/>
            </a:pPr>
            <a:fld id="{986C9107-F139-4248-8B03-BEEE406487F5}"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64A0BD2A-13A2-EF33-A4CB-D005DB5D2770}"/>
              </a:ext>
            </a:extLst>
          </p:cNvPr>
          <p:cNvSpPr>
            <a:spLocks noGrp="1"/>
          </p:cNvSpPr>
          <p:nvPr>
            <p:ph type="sldNum" sz="quarter" idx="12"/>
          </p:nvPr>
        </p:nvSpPr>
        <p:spPr/>
        <p:txBody>
          <a:bodyPr/>
          <a:lstStyle/>
          <a:p>
            <a:pPr>
              <a:defRPr/>
            </a:pPr>
            <a:fld id="{937DAA19-78E2-454A-BF0A-AB51F6D45129}" type="slidenum">
              <a:rPr lang="en-US" altLang="en-US" smtClean="0"/>
              <a:pPr>
                <a:defRPr/>
              </a:pPr>
              <a:t>33</a:t>
            </a:fld>
            <a:endParaRPr lang="en-US" altLang="en-US"/>
          </a:p>
        </p:txBody>
      </p:sp>
    </p:spTree>
    <p:extLst>
      <p:ext uri="{BB962C8B-B14F-4D97-AF65-F5344CB8AC3E}">
        <p14:creationId xmlns:p14="http://schemas.microsoft.com/office/powerpoint/2010/main" val="6160286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A4C26D-75E1-4D25-ABCF-67853FB6A053}"/>
              </a:ext>
            </a:extLst>
          </p:cNvPr>
          <p:cNvSpPr>
            <a:spLocks noGrp="1"/>
          </p:cNvSpPr>
          <p:nvPr>
            <p:ph idx="1"/>
          </p:nvPr>
        </p:nvSpPr>
        <p:spPr>
          <a:xfrm>
            <a:off x="457200" y="1088741"/>
            <a:ext cx="8229600" cy="5037424"/>
          </a:xfrm>
        </p:spPr>
        <p:txBody>
          <a:bodyPr>
            <a:normAutofit/>
          </a:bodyPr>
          <a:lstStyle/>
          <a:p>
            <a:pPr algn="just"/>
            <a:r>
              <a:rPr lang="en-US" dirty="0"/>
              <a:t>If all vertices of a path are distinct, the path is said to be </a:t>
            </a:r>
            <a:r>
              <a:rPr lang="en-US" b="1" i="1" dirty="0"/>
              <a:t>simple</a:t>
            </a:r>
          </a:p>
          <a:p>
            <a:pPr algn="just"/>
            <a:endParaRPr lang="en-US" dirty="0"/>
          </a:p>
          <a:p>
            <a:pPr algn="just"/>
            <a:r>
              <a:rPr lang="en-US" dirty="0"/>
              <a:t>The </a:t>
            </a:r>
            <a:r>
              <a:rPr lang="en-US" b="1" i="1" dirty="0"/>
              <a:t>length </a:t>
            </a:r>
            <a:r>
              <a:rPr lang="en-US" dirty="0"/>
              <a:t>of a path is the total number of vertices in the vertex sequence defining the path minus 1, which is the same as the number of edges in the path</a:t>
            </a:r>
          </a:p>
          <a:p>
            <a:pPr algn="just"/>
            <a:endParaRPr lang="en-US" dirty="0"/>
          </a:p>
        </p:txBody>
      </p:sp>
      <p:sp>
        <p:nvSpPr>
          <p:cNvPr id="2" name="Date Placeholder 1">
            <a:extLst>
              <a:ext uri="{FF2B5EF4-FFF2-40B4-BE49-F238E27FC236}">
                <a16:creationId xmlns:a16="http://schemas.microsoft.com/office/drawing/2014/main" id="{C58CE27A-F686-6EBA-BC4E-13E89E888E82}"/>
              </a:ext>
            </a:extLst>
          </p:cNvPr>
          <p:cNvSpPr>
            <a:spLocks noGrp="1"/>
          </p:cNvSpPr>
          <p:nvPr>
            <p:ph type="dt" sz="half" idx="10"/>
          </p:nvPr>
        </p:nvSpPr>
        <p:spPr/>
        <p:txBody>
          <a:bodyPr/>
          <a:lstStyle/>
          <a:p>
            <a:pPr>
              <a:defRPr/>
            </a:pPr>
            <a:fld id="{000D9337-3E62-4A1C-B41F-661707FC2FB3}"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0AC9F469-E4CB-A3AF-F989-F0783DD6EABA}"/>
              </a:ext>
            </a:extLst>
          </p:cNvPr>
          <p:cNvSpPr>
            <a:spLocks noGrp="1"/>
          </p:cNvSpPr>
          <p:nvPr>
            <p:ph type="sldNum" sz="quarter" idx="12"/>
          </p:nvPr>
        </p:nvSpPr>
        <p:spPr/>
        <p:txBody>
          <a:bodyPr/>
          <a:lstStyle/>
          <a:p>
            <a:pPr>
              <a:defRPr/>
            </a:pPr>
            <a:fld id="{937DAA19-78E2-454A-BF0A-AB51F6D45129}" type="slidenum">
              <a:rPr lang="en-US" altLang="en-US" smtClean="0"/>
              <a:pPr>
                <a:defRPr/>
              </a:pPr>
              <a:t>34</a:t>
            </a:fld>
            <a:endParaRPr lang="en-US" altLang="en-US"/>
          </a:p>
        </p:txBody>
      </p:sp>
    </p:spTree>
    <p:extLst>
      <p:ext uri="{BB962C8B-B14F-4D97-AF65-F5344CB8AC3E}">
        <p14:creationId xmlns:p14="http://schemas.microsoft.com/office/powerpoint/2010/main" val="24703234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4BDA17-B39B-426E-8B93-7D1DCE37593D}"/>
              </a:ext>
            </a:extLst>
          </p:cNvPr>
          <p:cNvSpPr>
            <a:spLocks noGrp="1"/>
          </p:cNvSpPr>
          <p:nvPr>
            <p:ph idx="1"/>
          </p:nvPr>
        </p:nvSpPr>
        <p:spPr>
          <a:xfrm>
            <a:off x="457199" y="818711"/>
            <a:ext cx="8404989" cy="5307454"/>
          </a:xfrm>
        </p:spPr>
        <p:txBody>
          <a:bodyPr>
            <a:normAutofit/>
          </a:bodyPr>
          <a:lstStyle/>
          <a:p>
            <a:pPr algn="just"/>
            <a:r>
              <a:rPr lang="en-US" sz="2800" dirty="0"/>
              <a:t>For example, </a:t>
            </a:r>
            <a:r>
              <a:rPr lang="en-US" sz="2800" i="1" dirty="0"/>
              <a:t>a, c, b, f </a:t>
            </a:r>
            <a:r>
              <a:rPr lang="en-US" sz="2800" dirty="0"/>
              <a:t>is a simple path of length 3 from </a:t>
            </a:r>
            <a:r>
              <a:rPr lang="en-US" sz="2800" i="1" dirty="0"/>
              <a:t>a </a:t>
            </a:r>
            <a:r>
              <a:rPr lang="en-US" sz="2800" dirty="0"/>
              <a:t>to </a:t>
            </a:r>
            <a:r>
              <a:rPr lang="en-US" sz="2800" i="1" dirty="0"/>
              <a:t>f </a:t>
            </a:r>
            <a:r>
              <a:rPr lang="en-US" sz="2800" dirty="0"/>
              <a:t>in the graph in Figure 1.6a, whereas </a:t>
            </a:r>
            <a:r>
              <a:rPr lang="en-US" sz="2800" i="1" dirty="0"/>
              <a:t>a, c, e, c, b, f </a:t>
            </a:r>
            <a:r>
              <a:rPr lang="en-US" sz="2800" dirty="0"/>
              <a:t>is a path (not simple) of length 5 from </a:t>
            </a:r>
            <a:r>
              <a:rPr lang="en-US" sz="2800" i="1" dirty="0"/>
              <a:t>a </a:t>
            </a:r>
            <a:r>
              <a:rPr lang="en-US" sz="2800" dirty="0"/>
              <a:t>to </a:t>
            </a:r>
            <a:r>
              <a:rPr lang="en-US" sz="2800" i="1" dirty="0"/>
              <a:t>f</a:t>
            </a:r>
            <a:endParaRPr lang="en-IN" sz="2800" dirty="0"/>
          </a:p>
          <a:p>
            <a:pPr algn="just"/>
            <a:endParaRPr lang="en-IN" sz="2800" dirty="0"/>
          </a:p>
        </p:txBody>
      </p:sp>
      <p:pic>
        <p:nvPicPr>
          <p:cNvPr id="5" name="Picture 4">
            <a:extLst>
              <a:ext uri="{FF2B5EF4-FFF2-40B4-BE49-F238E27FC236}">
                <a16:creationId xmlns:a16="http://schemas.microsoft.com/office/drawing/2014/main" id="{53581372-FFDA-4C6D-A215-C87367BC66DB}"/>
              </a:ext>
            </a:extLst>
          </p:cNvPr>
          <p:cNvPicPr>
            <a:picLocks noChangeAspect="1"/>
          </p:cNvPicPr>
          <p:nvPr/>
        </p:nvPicPr>
        <p:blipFill rotWithShape="1">
          <a:blip r:embed="rId2"/>
          <a:srcRect l="3735" t="34178" r="44586"/>
          <a:stretch/>
        </p:blipFill>
        <p:spPr>
          <a:xfrm>
            <a:off x="0" y="2663916"/>
            <a:ext cx="9143999" cy="4194084"/>
          </a:xfrm>
          <a:prstGeom prst="rect">
            <a:avLst/>
          </a:prstGeom>
        </p:spPr>
      </p:pic>
      <p:sp>
        <p:nvSpPr>
          <p:cNvPr id="2" name="Date Placeholder 1">
            <a:extLst>
              <a:ext uri="{FF2B5EF4-FFF2-40B4-BE49-F238E27FC236}">
                <a16:creationId xmlns:a16="http://schemas.microsoft.com/office/drawing/2014/main" id="{0291E7EC-2544-2387-80C8-649317728170}"/>
              </a:ext>
            </a:extLst>
          </p:cNvPr>
          <p:cNvSpPr>
            <a:spLocks noGrp="1"/>
          </p:cNvSpPr>
          <p:nvPr>
            <p:ph type="dt" sz="half" idx="10"/>
          </p:nvPr>
        </p:nvSpPr>
        <p:spPr/>
        <p:txBody>
          <a:bodyPr/>
          <a:lstStyle/>
          <a:p>
            <a:pPr>
              <a:defRPr/>
            </a:pPr>
            <a:fld id="{810FFC02-C132-4F20-9C5B-2F84F3B29FA4}"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15AFC993-AECE-8E98-80F3-021FE67B52D8}"/>
              </a:ext>
            </a:extLst>
          </p:cNvPr>
          <p:cNvSpPr>
            <a:spLocks noGrp="1"/>
          </p:cNvSpPr>
          <p:nvPr>
            <p:ph type="sldNum" sz="quarter" idx="12"/>
          </p:nvPr>
        </p:nvSpPr>
        <p:spPr/>
        <p:txBody>
          <a:bodyPr/>
          <a:lstStyle/>
          <a:p>
            <a:pPr>
              <a:defRPr/>
            </a:pPr>
            <a:fld id="{937DAA19-78E2-454A-BF0A-AB51F6D45129}" type="slidenum">
              <a:rPr lang="en-US" altLang="en-US" smtClean="0"/>
              <a:pPr>
                <a:defRPr/>
              </a:pPr>
              <a:t>35</a:t>
            </a:fld>
            <a:endParaRPr lang="en-US" altLang="en-US"/>
          </a:p>
        </p:txBody>
      </p:sp>
    </p:spTree>
    <p:extLst>
      <p:ext uri="{BB962C8B-B14F-4D97-AF65-F5344CB8AC3E}">
        <p14:creationId xmlns:p14="http://schemas.microsoft.com/office/powerpoint/2010/main" val="20119087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FA3C3B-A626-49C1-98D2-5A45A6910972}"/>
              </a:ext>
            </a:extLst>
          </p:cNvPr>
          <p:cNvSpPr>
            <a:spLocks noGrp="1"/>
          </p:cNvSpPr>
          <p:nvPr>
            <p:ph idx="1"/>
          </p:nvPr>
        </p:nvSpPr>
        <p:spPr>
          <a:xfrm>
            <a:off x="457200" y="818710"/>
            <a:ext cx="8345270" cy="5083997"/>
          </a:xfrm>
        </p:spPr>
        <p:txBody>
          <a:bodyPr>
            <a:normAutofit/>
          </a:bodyPr>
          <a:lstStyle/>
          <a:p>
            <a:r>
              <a:rPr lang="en-US" sz="2800" dirty="0"/>
              <a:t>A </a:t>
            </a:r>
            <a:r>
              <a:rPr lang="en-US" sz="2800" b="1" i="1" dirty="0"/>
              <a:t>directed path </a:t>
            </a:r>
            <a:r>
              <a:rPr lang="en-US" sz="2800" dirty="0"/>
              <a:t>is a sequence of vertices in which every consecutive pair of the vertices is connected by an edge directed from the vertex listed first to the vertex listed next</a:t>
            </a:r>
          </a:p>
          <a:p>
            <a:endParaRPr lang="en-US" sz="2800" dirty="0"/>
          </a:p>
          <a:p>
            <a:r>
              <a:rPr lang="en-US" sz="2800" dirty="0"/>
              <a:t>For example, </a:t>
            </a:r>
            <a:r>
              <a:rPr lang="en-US" sz="2800" i="1" dirty="0"/>
              <a:t>a, c, e, f </a:t>
            </a:r>
            <a:r>
              <a:rPr lang="en-US" sz="2800" dirty="0"/>
              <a:t>is a directed path from </a:t>
            </a:r>
            <a:r>
              <a:rPr lang="en-US" sz="2800" i="1" dirty="0"/>
              <a:t>a </a:t>
            </a:r>
            <a:r>
              <a:rPr lang="en-US" sz="2800" dirty="0"/>
              <a:t>to </a:t>
            </a:r>
            <a:r>
              <a:rPr lang="en-US" sz="2800" i="1" dirty="0"/>
              <a:t>f </a:t>
            </a:r>
            <a:r>
              <a:rPr lang="en-US" sz="2800" dirty="0"/>
              <a:t>in the graph in </a:t>
            </a:r>
            <a:r>
              <a:rPr lang="en-IN" sz="2800" dirty="0"/>
              <a:t>Figure 1.6b.</a:t>
            </a:r>
          </a:p>
        </p:txBody>
      </p:sp>
      <p:pic>
        <p:nvPicPr>
          <p:cNvPr id="5" name="Picture 4">
            <a:extLst>
              <a:ext uri="{FF2B5EF4-FFF2-40B4-BE49-F238E27FC236}">
                <a16:creationId xmlns:a16="http://schemas.microsoft.com/office/drawing/2014/main" id="{DD355891-5EF6-46C4-91C5-C1F27DDFFDE5}"/>
              </a:ext>
            </a:extLst>
          </p:cNvPr>
          <p:cNvPicPr>
            <a:picLocks noChangeAspect="1"/>
          </p:cNvPicPr>
          <p:nvPr/>
        </p:nvPicPr>
        <p:blipFill rotWithShape="1">
          <a:blip r:embed="rId2"/>
          <a:srcRect l="53445" t="43396" r="10626" b="13208"/>
          <a:stretch/>
        </p:blipFill>
        <p:spPr>
          <a:xfrm>
            <a:off x="4211960" y="3969060"/>
            <a:ext cx="4932040" cy="2888940"/>
          </a:xfrm>
          <a:prstGeom prst="rect">
            <a:avLst/>
          </a:prstGeom>
        </p:spPr>
      </p:pic>
      <p:sp>
        <p:nvSpPr>
          <p:cNvPr id="2" name="Date Placeholder 1">
            <a:extLst>
              <a:ext uri="{FF2B5EF4-FFF2-40B4-BE49-F238E27FC236}">
                <a16:creationId xmlns:a16="http://schemas.microsoft.com/office/drawing/2014/main" id="{B8CE6BB2-BFE4-D014-1235-8C2EF8BDAA70}"/>
              </a:ext>
            </a:extLst>
          </p:cNvPr>
          <p:cNvSpPr>
            <a:spLocks noGrp="1"/>
          </p:cNvSpPr>
          <p:nvPr>
            <p:ph type="dt" sz="half" idx="10"/>
          </p:nvPr>
        </p:nvSpPr>
        <p:spPr/>
        <p:txBody>
          <a:bodyPr/>
          <a:lstStyle/>
          <a:p>
            <a:pPr>
              <a:defRPr/>
            </a:pPr>
            <a:fld id="{764FB43A-C298-4F28-BDEE-F64C309BC0D8}"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F382B29C-8DD4-3B92-C9DF-027191729BC2}"/>
              </a:ext>
            </a:extLst>
          </p:cNvPr>
          <p:cNvSpPr>
            <a:spLocks noGrp="1"/>
          </p:cNvSpPr>
          <p:nvPr>
            <p:ph type="sldNum" sz="quarter" idx="12"/>
          </p:nvPr>
        </p:nvSpPr>
        <p:spPr/>
        <p:txBody>
          <a:bodyPr/>
          <a:lstStyle/>
          <a:p>
            <a:pPr>
              <a:defRPr/>
            </a:pPr>
            <a:fld id="{937DAA19-78E2-454A-BF0A-AB51F6D45129}" type="slidenum">
              <a:rPr lang="en-US" altLang="en-US" smtClean="0"/>
              <a:pPr>
                <a:defRPr/>
              </a:pPr>
              <a:t>36</a:t>
            </a:fld>
            <a:endParaRPr lang="en-US" altLang="en-US"/>
          </a:p>
        </p:txBody>
      </p:sp>
    </p:spTree>
    <p:extLst>
      <p:ext uri="{BB962C8B-B14F-4D97-AF65-F5344CB8AC3E}">
        <p14:creationId xmlns:p14="http://schemas.microsoft.com/office/powerpoint/2010/main" val="20705746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A11EA9-F505-4A6A-8906-E3B47FF6B38D}"/>
              </a:ext>
            </a:extLst>
          </p:cNvPr>
          <p:cNvSpPr>
            <a:spLocks noGrp="1"/>
          </p:cNvSpPr>
          <p:nvPr>
            <p:ph idx="1"/>
          </p:nvPr>
        </p:nvSpPr>
        <p:spPr>
          <a:xfrm>
            <a:off x="457200" y="998731"/>
            <a:ext cx="8229600" cy="5127434"/>
          </a:xfrm>
        </p:spPr>
        <p:txBody>
          <a:bodyPr>
            <a:normAutofit/>
          </a:bodyPr>
          <a:lstStyle/>
          <a:p>
            <a:pPr algn="just"/>
            <a:r>
              <a:rPr lang="en-US" sz="2800" dirty="0"/>
              <a:t>A graph is said to be </a:t>
            </a:r>
            <a:r>
              <a:rPr lang="en-US" sz="2800" b="1" i="1" dirty="0"/>
              <a:t>connected </a:t>
            </a:r>
            <a:r>
              <a:rPr lang="en-US" sz="2800" dirty="0"/>
              <a:t>if for every pair of its vertices </a:t>
            </a:r>
            <a:r>
              <a:rPr lang="en-US" sz="2800" i="1" dirty="0"/>
              <a:t>u </a:t>
            </a:r>
            <a:r>
              <a:rPr lang="en-US" sz="2800" dirty="0"/>
              <a:t>and </a:t>
            </a:r>
            <a:r>
              <a:rPr lang="en-US" sz="2800" i="1" dirty="0"/>
              <a:t>v </a:t>
            </a:r>
            <a:r>
              <a:rPr lang="en-US" sz="2800" dirty="0"/>
              <a:t>there is a path from </a:t>
            </a:r>
            <a:r>
              <a:rPr lang="en-US" sz="2800" i="1" dirty="0"/>
              <a:t>u </a:t>
            </a:r>
            <a:r>
              <a:rPr lang="en-US" sz="2800" dirty="0"/>
              <a:t>to </a:t>
            </a:r>
            <a:r>
              <a:rPr lang="en-US" sz="2800" i="1" dirty="0"/>
              <a:t>v</a:t>
            </a:r>
            <a:endParaRPr lang="en-IN" sz="2800" dirty="0"/>
          </a:p>
        </p:txBody>
      </p:sp>
      <p:pic>
        <p:nvPicPr>
          <p:cNvPr id="5" name="Picture 4">
            <a:extLst>
              <a:ext uri="{FF2B5EF4-FFF2-40B4-BE49-F238E27FC236}">
                <a16:creationId xmlns:a16="http://schemas.microsoft.com/office/drawing/2014/main" id="{8AFB23C8-49CD-469D-8055-C01BF0CC693C}"/>
              </a:ext>
            </a:extLst>
          </p:cNvPr>
          <p:cNvPicPr>
            <a:picLocks noChangeAspect="1"/>
          </p:cNvPicPr>
          <p:nvPr/>
        </p:nvPicPr>
        <p:blipFill>
          <a:blip r:embed="rId2"/>
          <a:stretch>
            <a:fillRect/>
          </a:stretch>
        </p:blipFill>
        <p:spPr>
          <a:xfrm>
            <a:off x="13663" y="2199159"/>
            <a:ext cx="9130338" cy="3681462"/>
          </a:xfrm>
          <a:prstGeom prst="rect">
            <a:avLst/>
          </a:prstGeom>
        </p:spPr>
      </p:pic>
      <p:sp>
        <p:nvSpPr>
          <p:cNvPr id="2" name="Date Placeholder 1">
            <a:extLst>
              <a:ext uri="{FF2B5EF4-FFF2-40B4-BE49-F238E27FC236}">
                <a16:creationId xmlns:a16="http://schemas.microsoft.com/office/drawing/2014/main" id="{7C780D0D-6D15-03EF-2A2E-1F0858D398C5}"/>
              </a:ext>
            </a:extLst>
          </p:cNvPr>
          <p:cNvSpPr>
            <a:spLocks noGrp="1"/>
          </p:cNvSpPr>
          <p:nvPr>
            <p:ph type="dt" sz="half" idx="10"/>
          </p:nvPr>
        </p:nvSpPr>
        <p:spPr/>
        <p:txBody>
          <a:bodyPr/>
          <a:lstStyle/>
          <a:p>
            <a:pPr>
              <a:defRPr/>
            </a:pPr>
            <a:fld id="{1F0B56CB-93B3-492A-9E46-3F93A09DC624}"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22C77949-8F1A-DE73-7C0D-D923D45946B0}"/>
              </a:ext>
            </a:extLst>
          </p:cNvPr>
          <p:cNvSpPr>
            <a:spLocks noGrp="1"/>
          </p:cNvSpPr>
          <p:nvPr>
            <p:ph type="sldNum" sz="quarter" idx="12"/>
          </p:nvPr>
        </p:nvSpPr>
        <p:spPr/>
        <p:txBody>
          <a:bodyPr/>
          <a:lstStyle/>
          <a:p>
            <a:pPr>
              <a:defRPr/>
            </a:pPr>
            <a:fld id="{937DAA19-78E2-454A-BF0A-AB51F6D45129}" type="slidenum">
              <a:rPr lang="en-US" altLang="en-US" smtClean="0"/>
              <a:pPr>
                <a:defRPr/>
              </a:pPr>
              <a:t>37</a:t>
            </a:fld>
            <a:endParaRPr lang="en-US" altLang="en-US"/>
          </a:p>
        </p:txBody>
      </p:sp>
    </p:spTree>
    <p:extLst>
      <p:ext uri="{BB962C8B-B14F-4D97-AF65-F5344CB8AC3E}">
        <p14:creationId xmlns:p14="http://schemas.microsoft.com/office/powerpoint/2010/main" val="2641021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7E2AD5-A20D-4D44-9EAF-B6CCD450CEBD}"/>
              </a:ext>
            </a:extLst>
          </p:cNvPr>
          <p:cNvSpPr>
            <a:spLocks noGrp="1"/>
          </p:cNvSpPr>
          <p:nvPr>
            <p:ph idx="1"/>
          </p:nvPr>
        </p:nvSpPr>
        <p:spPr>
          <a:xfrm>
            <a:off x="457200" y="2438890"/>
            <a:ext cx="8229600" cy="3687274"/>
          </a:xfrm>
        </p:spPr>
        <p:txBody>
          <a:bodyPr>
            <a:normAutofit/>
          </a:bodyPr>
          <a:lstStyle/>
          <a:p>
            <a:r>
              <a:rPr lang="en-US" sz="2800" dirty="0"/>
              <a:t>Formally, a </a:t>
            </a:r>
            <a:r>
              <a:rPr lang="en-US" sz="2800" b="1" i="1" dirty="0"/>
              <a:t>connected component </a:t>
            </a:r>
            <a:r>
              <a:rPr lang="en-US" sz="2800" dirty="0"/>
              <a:t>is a maximal (not expandable by including another vertex and an edge) connected subgraph of a given graph</a:t>
            </a:r>
            <a:endParaRPr lang="en-IN" sz="2800" dirty="0"/>
          </a:p>
        </p:txBody>
      </p:sp>
      <p:sp>
        <p:nvSpPr>
          <p:cNvPr id="2" name="Date Placeholder 1">
            <a:extLst>
              <a:ext uri="{FF2B5EF4-FFF2-40B4-BE49-F238E27FC236}">
                <a16:creationId xmlns:a16="http://schemas.microsoft.com/office/drawing/2014/main" id="{2F6C0BAD-993A-2D75-B524-D844E3066E75}"/>
              </a:ext>
            </a:extLst>
          </p:cNvPr>
          <p:cNvSpPr>
            <a:spLocks noGrp="1"/>
          </p:cNvSpPr>
          <p:nvPr>
            <p:ph type="dt" sz="half" idx="10"/>
          </p:nvPr>
        </p:nvSpPr>
        <p:spPr/>
        <p:txBody>
          <a:bodyPr/>
          <a:lstStyle/>
          <a:p>
            <a:pPr>
              <a:defRPr/>
            </a:pPr>
            <a:fld id="{69C85188-6B26-4B87-B251-24805D9DD646}"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35E229AF-A86B-B25F-0D60-903F1A438C25}"/>
              </a:ext>
            </a:extLst>
          </p:cNvPr>
          <p:cNvSpPr>
            <a:spLocks noGrp="1"/>
          </p:cNvSpPr>
          <p:nvPr>
            <p:ph type="sldNum" sz="quarter" idx="12"/>
          </p:nvPr>
        </p:nvSpPr>
        <p:spPr/>
        <p:txBody>
          <a:bodyPr/>
          <a:lstStyle/>
          <a:p>
            <a:pPr>
              <a:defRPr/>
            </a:pPr>
            <a:fld id="{937DAA19-78E2-454A-BF0A-AB51F6D45129}" type="slidenum">
              <a:rPr lang="en-US" altLang="en-US" smtClean="0"/>
              <a:pPr>
                <a:defRPr/>
              </a:pPr>
              <a:t>38</a:t>
            </a:fld>
            <a:endParaRPr lang="en-US" altLang="en-US"/>
          </a:p>
        </p:txBody>
      </p:sp>
    </p:spTree>
    <p:extLst>
      <p:ext uri="{BB962C8B-B14F-4D97-AF65-F5344CB8AC3E}">
        <p14:creationId xmlns:p14="http://schemas.microsoft.com/office/powerpoint/2010/main" val="17811863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77A4E5-4D9A-4840-A584-5ACD2F12312E}"/>
              </a:ext>
            </a:extLst>
          </p:cNvPr>
          <p:cNvSpPr>
            <a:spLocks noGrp="1"/>
          </p:cNvSpPr>
          <p:nvPr>
            <p:ph idx="1"/>
          </p:nvPr>
        </p:nvSpPr>
        <p:spPr>
          <a:xfrm>
            <a:off x="251520" y="593685"/>
            <a:ext cx="8595955" cy="2835315"/>
          </a:xfrm>
        </p:spPr>
        <p:txBody>
          <a:bodyPr>
            <a:normAutofit/>
          </a:bodyPr>
          <a:lstStyle/>
          <a:p>
            <a:pPr algn="just"/>
            <a:r>
              <a:rPr lang="en-US" sz="2800" dirty="0"/>
              <a:t>A </a:t>
            </a:r>
            <a:r>
              <a:rPr lang="en-US" sz="2800" b="1" i="1" dirty="0"/>
              <a:t>cycle </a:t>
            </a:r>
            <a:r>
              <a:rPr lang="en-US" sz="2800" dirty="0"/>
              <a:t>is a path of a positive length that starts and ends at the same vertex and does not traverse the same edge more than once</a:t>
            </a:r>
          </a:p>
          <a:p>
            <a:pPr algn="just"/>
            <a:endParaRPr lang="en-US" sz="2800" dirty="0"/>
          </a:p>
          <a:p>
            <a:pPr algn="just"/>
            <a:r>
              <a:rPr lang="en-US" sz="2800" dirty="0"/>
              <a:t>For example, </a:t>
            </a:r>
            <a:r>
              <a:rPr lang="en-US" sz="2800" i="1" dirty="0"/>
              <a:t>f</a:t>
            </a:r>
            <a:r>
              <a:rPr lang="en-US" sz="2800" dirty="0"/>
              <a:t>, </a:t>
            </a:r>
            <a:r>
              <a:rPr lang="en-US" sz="2800" i="1" dirty="0"/>
              <a:t>h</a:t>
            </a:r>
            <a:r>
              <a:rPr lang="en-US" sz="2800" dirty="0"/>
              <a:t>, </a:t>
            </a:r>
            <a:r>
              <a:rPr lang="en-US" sz="2800" i="1" dirty="0" err="1"/>
              <a:t>i</a:t>
            </a:r>
            <a:r>
              <a:rPr lang="en-US" sz="2800" dirty="0"/>
              <a:t>, </a:t>
            </a:r>
            <a:r>
              <a:rPr lang="en-US" sz="2800" i="1" dirty="0"/>
              <a:t>g</a:t>
            </a:r>
            <a:r>
              <a:rPr lang="en-US" sz="2800" dirty="0"/>
              <a:t>, </a:t>
            </a:r>
            <a:r>
              <a:rPr lang="en-US" sz="2800" i="1" dirty="0"/>
              <a:t>f </a:t>
            </a:r>
            <a:r>
              <a:rPr lang="en-US" sz="2800" dirty="0"/>
              <a:t>is a cycle in the graph in Figure 1.9. A graph with no cycles is said to </a:t>
            </a:r>
            <a:r>
              <a:rPr lang="en-IN" sz="2800" dirty="0"/>
              <a:t>be </a:t>
            </a:r>
            <a:r>
              <a:rPr lang="en-IN" sz="2800" b="1" i="1" dirty="0"/>
              <a:t>acyclic</a:t>
            </a:r>
            <a:endParaRPr lang="en-IN" sz="2800" dirty="0"/>
          </a:p>
        </p:txBody>
      </p:sp>
      <p:pic>
        <p:nvPicPr>
          <p:cNvPr id="5" name="Picture 4">
            <a:extLst>
              <a:ext uri="{FF2B5EF4-FFF2-40B4-BE49-F238E27FC236}">
                <a16:creationId xmlns:a16="http://schemas.microsoft.com/office/drawing/2014/main" id="{AB42AE22-EE05-41F7-A16F-08FCA4032798}"/>
              </a:ext>
            </a:extLst>
          </p:cNvPr>
          <p:cNvPicPr>
            <a:picLocks noChangeAspect="1"/>
          </p:cNvPicPr>
          <p:nvPr/>
        </p:nvPicPr>
        <p:blipFill>
          <a:blip r:embed="rId2"/>
          <a:stretch>
            <a:fillRect/>
          </a:stretch>
        </p:blipFill>
        <p:spPr>
          <a:xfrm>
            <a:off x="19730" y="3564015"/>
            <a:ext cx="9124270" cy="3293985"/>
          </a:xfrm>
          <a:prstGeom prst="rect">
            <a:avLst/>
          </a:prstGeom>
        </p:spPr>
      </p:pic>
      <p:sp>
        <p:nvSpPr>
          <p:cNvPr id="2" name="Date Placeholder 1">
            <a:extLst>
              <a:ext uri="{FF2B5EF4-FFF2-40B4-BE49-F238E27FC236}">
                <a16:creationId xmlns:a16="http://schemas.microsoft.com/office/drawing/2014/main" id="{D0AF57F3-6013-4789-6253-38E40A0B1EA0}"/>
              </a:ext>
            </a:extLst>
          </p:cNvPr>
          <p:cNvSpPr>
            <a:spLocks noGrp="1"/>
          </p:cNvSpPr>
          <p:nvPr>
            <p:ph type="dt" sz="half" idx="10"/>
          </p:nvPr>
        </p:nvSpPr>
        <p:spPr/>
        <p:txBody>
          <a:bodyPr/>
          <a:lstStyle/>
          <a:p>
            <a:pPr>
              <a:defRPr/>
            </a:pPr>
            <a:fld id="{6FD36314-2F09-42E2-BEFF-DB00C4F9E4C4}"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8634CEF5-22AC-C789-DA18-549400B5E312}"/>
              </a:ext>
            </a:extLst>
          </p:cNvPr>
          <p:cNvSpPr>
            <a:spLocks noGrp="1"/>
          </p:cNvSpPr>
          <p:nvPr>
            <p:ph type="sldNum" sz="quarter" idx="12"/>
          </p:nvPr>
        </p:nvSpPr>
        <p:spPr/>
        <p:txBody>
          <a:bodyPr/>
          <a:lstStyle/>
          <a:p>
            <a:pPr>
              <a:defRPr/>
            </a:pPr>
            <a:fld id="{937DAA19-78E2-454A-BF0A-AB51F6D45129}" type="slidenum">
              <a:rPr lang="en-US" altLang="en-US" smtClean="0"/>
              <a:pPr>
                <a:defRPr/>
              </a:pPr>
              <a:t>39</a:t>
            </a:fld>
            <a:endParaRPr lang="en-US" altLang="en-US"/>
          </a:p>
        </p:txBody>
      </p:sp>
    </p:spTree>
    <p:extLst>
      <p:ext uri="{BB962C8B-B14F-4D97-AF65-F5344CB8AC3E}">
        <p14:creationId xmlns:p14="http://schemas.microsoft.com/office/powerpoint/2010/main" val="4304244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2A0554-F811-494B-A987-E43979BC4128}"/>
              </a:ext>
            </a:extLst>
          </p:cNvPr>
          <p:cNvSpPr>
            <a:spLocks noGrp="1"/>
          </p:cNvSpPr>
          <p:nvPr>
            <p:ph idx="1"/>
          </p:nvPr>
        </p:nvSpPr>
        <p:spPr>
          <a:xfrm>
            <a:off x="431409" y="638691"/>
            <a:ext cx="8229600" cy="5421534"/>
          </a:xfrm>
        </p:spPr>
        <p:txBody>
          <a:bodyPr>
            <a:normAutofit/>
          </a:bodyPr>
          <a:lstStyle/>
          <a:p>
            <a:pPr algn="just"/>
            <a:r>
              <a:rPr lang="en-US" sz="2800" dirty="0"/>
              <a:t>A </a:t>
            </a:r>
            <a:r>
              <a:rPr lang="en-US" sz="2800" b="1" i="1" dirty="0"/>
              <a:t>tree </a:t>
            </a:r>
            <a:r>
              <a:rPr lang="en-US" sz="2800" dirty="0"/>
              <a:t>(more accurately, a </a:t>
            </a:r>
            <a:r>
              <a:rPr lang="en-US" sz="2800" b="1" i="1" dirty="0"/>
              <a:t>free tree</a:t>
            </a:r>
            <a:r>
              <a:rPr lang="en-US" sz="2800" dirty="0"/>
              <a:t>) is a connected acyclic graph</a:t>
            </a:r>
          </a:p>
          <a:p>
            <a:pPr algn="just"/>
            <a:endParaRPr lang="en-US" sz="2800" dirty="0"/>
          </a:p>
          <a:p>
            <a:pPr algn="just"/>
            <a:r>
              <a:rPr lang="en-US" sz="2800" dirty="0"/>
              <a:t>A graph that has no cycles but is not necessarily connected is called a </a:t>
            </a:r>
            <a:r>
              <a:rPr lang="en-US" sz="2800" b="1" i="1" dirty="0"/>
              <a:t>forest</a:t>
            </a:r>
            <a:r>
              <a:rPr lang="en-US" sz="2800" dirty="0"/>
              <a:t>: each of its connected components is a tree</a:t>
            </a:r>
            <a:endParaRPr lang="en-IN" sz="2800" dirty="0"/>
          </a:p>
        </p:txBody>
      </p:sp>
      <p:pic>
        <p:nvPicPr>
          <p:cNvPr id="5" name="Picture 4">
            <a:extLst>
              <a:ext uri="{FF2B5EF4-FFF2-40B4-BE49-F238E27FC236}">
                <a16:creationId xmlns:a16="http://schemas.microsoft.com/office/drawing/2014/main" id="{31CF0BCE-8D82-4274-996D-4B6A2C1006D8}"/>
              </a:ext>
            </a:extLst>
          </p:cNvPr>
          <p:cNvPicPr>
            <a:picLocks noChangeAspect="1"/>
          </p:cNvPicPr>
          <p:nvPr/>
        </p:nvPicPr>
        <p:blipFill>
          <a:blip r:embed="rId2"/>
          <a:stretch>
            <a:fillRect/>
          </a:stretch>
        </p:blipFill>
        <p:spPr>
          <a:xfrm>
            <a:off x="0" y="3429001"/>
            <a:ext cx="9143999" cy="3429000"/>
          </a:xfrm>
          <a:prstGeom prst="rect">
            <a:avLst/>
          </a:prstGeom>
        </p:spPr>
      </p:pic>
      <p:sp>
        <p:nvSpPr>
          <p:cNvPr id="2" name="Date Placeholder 1">
            <a:extLst>
              <a:ext uri="{FF2B5EF4-FFF2-40B4-BE49-F238E27FC236}">
                <a16:creationId xmlns:a16="http://schemas.microsoft.com/office/drawing/2014/main" id="{767A9E06-2A26-BE32-5C25-2005E1B9F922}"/>
              </a:ext>
            </a:extLst>
          </p:cNvPr>
          <p:cNvSpPr>
            <a:spLocks noGrp="1"/>
          </p:cNvSpPr>
          <p:nvPr>
            <p:ph type="dt" sz="half" idx="10"/>
          </p:nvPr>
        </p:nvSpPr>
        <p:spPr/>
        <p:txBody>
          <a:bodyPr/>
          <a:lstStyle/>
          <a:p>
            <a:pPr>
              <a:defRPr/>
            </a:pPr>
            <a:fld id="{23012ADE-DBD4-49E4-B077-C764407896E4}"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56D092B7-4BF8-0FB6-404B-6251B39EE61C}"/>
              </a:ext>
            </a:extLst>
          </p:cNvPr>
          <p:cNvSpPr>
            <a:spLocks noGrp="1"/>
          </p:cNvSpPr>
          <p:nvPr>
            <p:ph type="sldNum" sz="quarter" idx="12"/>
          </p:nvPr>
        </p:nvSpPr>
        <p:spPr/>
        <p:txBody>
          <a:bodyPr/>
          <a:lstStyle/>
          <a:p>
            <a:pPr>
              <a:defRPr/>
            </a:pPr>
            <a:fld id="{937DAA19-78E2-454A-BF0A-AB51F6D45129}" type="slidenum">
              <a:rPr lang="en-US" altLang="en-US" smtClean="0"/>
              <a:pPr>
                <a:defRPr/>
              </a:pPr>
              <a:t>40</a:t>
            </a:fld>
            <a:endParaRPr lang="en-US" altLang="en-US"/>
          </a:p>
        </p:txBody>
      </p:sp>
    </p:spTree>
    <p:extLst>
      <p:ext uri="{BB962C8B-B14F-4D97-AF65-F5344CB8AC3E}">
        <p14:creationId xmlns:p14="http://schemas.microsoft.com/office/powerpoint/2010/main" val="18199271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339519A-8AA8-44B7-A9FB-A0EC6479B257}"/>
              </a:ext>
            </a:extLst>
          </p:cNvPr>
          <p:cNvPicPr>
            <a:picLocks noChangeAspect="1"/>
          </p:cNvPicPr>
          <p:nvPr/>
        </p:nvPicPr>
        <p:blipFill>
          <a:blip r:embed="rId2"/>
          <a:stretch>
            <a:fillRect/>
          </a:stretch>
        </p:blipFill>
        <p:spPr>
          <a:xfrm>
            <a:off x="0" y="909669"/>
            <a:ext cx="9143999" cy="3914485"/>
          </a:xfrm>
          <a:prstGeom prst="rect">
            <a:avLst/>
          </a:prstGeom>
        </p:spPr>
      </p:pic>
      <p:pic>
        <p:nvPicPr>
          <p:cNvPr id="6" name="Picture 5">
            <a:extLst>
              <a:ext uri="{FF2B5EF4-FFF2-40B4-BE49-F238E27FC236}">
                <a16:creationId xmlns:a16="http://schemas.microsoft.com/office/drawing/2014/main" id="{31C83F20-0F03-4B4A-B97E-9057AD3F4FD2}"/>
              </a:ext>
            </a:extLst>
          </p:cNvPr>
          <p:cNvPicPr>
            <a:picLocks noChangeAspect="1"/>
          </p:cNvPicPr>
          <p:nvPr/>
        </p:nvPicPr>
        <p:blipFill>
          <a:blip r:embed="rId3"/>
          <a:stretch>
            <a:fillRect/>
          </a:stretch>
        </p:blipFill>
        <p:spPr>
          <a:xfrm>
            <a:off x="8350" y="5126301"/>
            <a:ext cx="9143998" cy="1731699"/>
          </a:xfrm>
          <a:prstGeom prst="rect">
            <a:avLst/>
          </a:prstGeom>
        </p:spPr>
      </p:pic>
      <p:sp>
        <p:nvSpPr>
          <p:cNvPr id="2" name="Date Placeholder 1">
            <a:extLst>
              <a:ext uri="{FF2B5EF4-FFF2-40B4-BE49-F238E27FC236}">
                <a16:creationId xmlns:a16="http://schemas.microsoft.com/office/drawing/2014/main" id="{72FC586C-4210-E34A-9A31-494283A0928D}"/>
              </a:ext>
            </a:extLst>
          </p:cNvPr>
          <p:cNvSpPr>
            <a:spLocks noGrp="1"/>
          </p:cNvSpPr>
          <p:nvPr>
            <p:ph type="dt" sz="half" idx="10"/>
          </p:nvPr>
        </p:nvSpPr>
        <p:spPr/>
        <p:txBody>
          <a:bodyPr/>
          <a:lstStyle/>
          <a:p>
            <a:pPr>
              <a:defRPr/>
            </a:pPr>
            <a:fld id="{542CF195-D706-4082-98F9-757B4DA4F51E}"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207C0BD4-A00C-9561-D6F5-313B53A3D7E0}"/>
              </a:ext>
            </a:extLst>
          </p:cNvPr>
          <p:cNvSpPr>
            <a:spLocks noGrp="1"/>
          </p:cNvSpPr>
          <p:nvPr>
            <p:ph type="sldNum" sz="quarter" idx="12"/>
          </p:nvPr>
        </p:nvSpPr>
        <p:spPr/>
        <p:txBody>
          <a:bodyPr/>
          <a:lstStyle/>
          <a:p>
            <a:pPr>
              <a:defRPr/>
            </a:pPr>
            <a:fld id="{937DAA19-78E2-454A-BF0A-AB51F6D45129}" type="slidenum">
              <a:rPr lang="en-US" altLang="en-US" smtClean="0"/>
              <a:pPr>
                <a:defRPr/>
              </a:pPr>
              <a:t>41</a:t>
            </a:fld>
            <a:endParaRPr lang="en-US" altLang="en-US"/>
          </a:p>
        </p:txBody>
      </p:sp>
    </p:spTree>
    <p:extLst>
      <p:ext uri="{BB962C8B-B14F-4D97-AF65-F5344CB8AC3E}">
        <p14:creationId xmlns:p14="http://schemas.microsoft.com/office/powerpoint/2010/main" val="6714194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DC18E3-B929-4C6F-9E9A-203831795485}"/>
              </a:ext>
            </a:extLst>
          </p:cNvPr>
          <p:cNvSpPr>
            <a:spLocks noGrp="1"/>
          </p:cNvSpPr>
          <p:nvPr>
            <p:ph idx="1"/>
          </p:nvPr>
        </p:nvSpPr>
        <p:spPr>
          <a:xfrm>
            <a:off x="457200" y="1043735"/>
            <a:ext cx="8229600" cy="5082429"/>
          </a:xfrm>
        </p:spPr>
        <p:txBody>
          <a:bodyPr>
            <a:normAutofit/>
          </a:bodyPr>
          <a:lstStyle/>
          <a:p>
            <a:pPr marL="0" indent="0" algn="just">
              <a:buNone/>
            </a:pPr>
            <a:r>
              <a:rPr lang="en-US" sz="2800" b="1" dirty="0">
                <a:solidFill>
                  <a:srgbClr val="FF0000"/>
                </a:solidFill>
              </a:rPr>
              <a:t>Rooted Trees </a:t>
            </a:r>
          </a:p>
          <a:p>
            <a:pPr marL="0" indent="0" algn="just">
              <a:buNone/>
            </a:pPr>
            <a:endParaRPr lang="en-US" sz="2800" b="1" dirty="0"/>
          </a:p>
          <a:p>
            <a:pPr algn="just"/>
            <a:r>
              <a:rPr lang="en-US" sz="2800" dirty="0"/>
              <a:t>Another very important property of trees is the fact that for every two vertices in a tree, there always exists exactly one simple path from one of these vertices to the other</a:t>
            </a:r>
          </a:p>
          <a:p>
            <a:pPr algn="just"/>
            <a:endParaRPr lang="en-US" sz="2800" dirty="0"/>
          </a:p>
          <a:p>
            <a:pPr algn="just"/>
            <a:r>
              <a:rPr lang="en-US" sz="2800" dirty="0"/>
              <a:t>This property makes it possible to select an arbitrary vertex in a free tree and consider it as the </a:t>
            </a:r>
            <a:r>
              <a:rPr lang="en-US" sz="2800" b="1" i="1" dirty="0"/>
              <a:t>root </a:t>
            </a:r>
            <a:r>
              <a:rPr lang="en-US" sz="2800" dirty="0"/>
              <a:t>of the so-called </a:t>
            </a:r>
            <a:r>
              <a:rPr lang="en-US" sz="2800" b="1" i="1" dirty="0"/>
              <a:t>rooted tree</a:t>
            </a:r>
            <a:endParaRPr lang="en-IN" sz="2800" dirty="0"/>
          </a:p>
        </p:txBody>
      </p:sp>
      <p:sp>
        <p:nvSpPr>
          <p:cNvPr id="2" name="Date Placeholder 1">
            <a:extLst>
              <a:ext uri="{FF2B5EF4-FFF2-40B4-BE49-F238E27FC236}">
                <a16:creationId xmlns:a16="http://schemas.microsoft.com/office/drawing/2014/main" id="{D4AE1B90-89B2-C9E7-6CA1-C950BD7EE89C}"/>
              </a:ext>
            </a:extLst>
          </p:cNvPr>
          <p:cNvSpPr>
            <a:spLocks noGrp="1"/>
          </p:cNvSpPr>
          <p:nvPr>
            <p:ph type="dt" sz="half" idx="10"/>
          </p:nvPr>
        </p:nvSpPr>
        <p:spPr/>
        <p:txBody>
          <a:bodyPr/>
          <a:lstStyle/>
          <a:p>
            <a:pPr>
              <a:defRPr/>
            </a:pPr>
            <a:fld id="{2224906A-B231-48D8-81CA-C0E9FA6BB701}"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019C6AD4-8C2B-7E46-2B22-639F20716DE4}"/>
              </a:ext>
            </a:extLst>
          </p:cNvPr>
          <p:cNvSpPr>
            <a:spLocks noGrp="1"/>
          </p:cNvSpPr>
          <p:nvPr>
            <p:ph type="sldNum" sz="quarter" idx="12"/>
          </p:nvPr>
        </p:nvSpPr>
        <p:spPr/>
        <p:txBody>
          <a:bodyPr/>
          <a:lstStyle/>
          <a:p>
            <a:pPr>
              <a:defRPr/>
            </a:pPr>
            <a:fld id="{937DAA19-78E2-454A-BF0A-AB51F6D45129}" type="slidenum">
              <a:rPr lang="en-US" altLang="en-US" smtClean="0"/>
              <a:pPr>
                <a:defRPr/>
              </a:pPr>
              <a:t>42</a:t>
            </a:fld>
            <a:endParaRPr lang="en-US" altLang="en-US"/>
          </a:p>
        </p:txBody>
      </p:sp>
    </p:spTree>
    <p:extLst>
      <p:ext uri="{BB962C8B-B14F-4D97-AF65-F5344CB8AC3E}">
        <p14:creationId xmlns:p14="http://schemas.microsoft.com/office/powerpoint/2010/main" val="21068656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9BD9F4-D683-4626-9561-F7C47B7D8399}"/>
              </a:ext>
            </a:extLst>
          </p:cNvPr>
          <p:cNvSpPr>
            <a:spLocks noGrp="1"/>
          </p:cNvSpPr>
          <p:nvPr>
            <p:ph idx="1"/>
          </p:nvPr>
        </p:nvSpPr>
        <p:spPr>
          <a:xfrm>
            <a:off x="457200" y="998731"/>
            <a:ext cx="8229600" cy="5127434"/>
          </a:xfrm>
        </p:spPr>
        <p:txBody>
          <a:bodyPr>
            <a:normAutofit fontScale="85000" lnSpcReduction="10000"/>
          </a:bodyPr>
          <a:lstStyle/>
          <a:p>
            <a:pPr algn="just"/>
            <a:r>
              <a:rPr lang="en-US" dirty="0"/>
              <a:t>For any vertex </a:t>
            </a:r>
            <a:r>
              <a:rPr lang="en-US" i="1" dirty="0"/>
              <a:t>v </a:t>
            </a:r>
            <a:r>
              <a:rPr lang="en-US" dirty="0"/>
              <a:t>in a tree </a:t>
            </a:r>
            <a:r>
              <a:rPr lang="en-US" i="1" dirty="0"/>
              <a:t>T </a:t>
            </a:r>
            <a:r>
              <a:rPr lang="en-US" dirty="0"/>
              <a:t>, all the vertices on the simple path from the root to that vertex are called </a:t>
            </a:r>
            <a:r>
              <a:rPr lang="en-US" b="1" i="1" dirty="0"/>
              <a:t>ancestors </a:t>
            </a:r>
            <a:r>
              <a:rPr lang="en-US" dirty="0"/>
              <a:t>of </a:t>
            </a:r>
            <a:r>
              <a:rPr lang="en-US" i="1" dirty="0"/>
              <a:t>v</a:t>
            </a:r>
          </a:p>
          <a:p>
            <a:pPr algn="just"/>
            <a:endParaRPr lang="en-US" i="1" dirty="0"/>
          </a:p>
          <a:p>
            <a:pPr algn="just"/>
            <a:r>
              <a:rPr lang="en-US" dirty="0"/>
              <a:t>The vertex itself is usually considered its own ancestor; the set of ancestors that excludes the vertex itself is referred to as the set of </a:t>
            </a:r>
            <a:r>
              <a:rPr lang="en-US" b="1" i="1" dirty="0"/>
              <a:t>proper ancestors</a:t>
            </a:r>
          </a:p>
          <a:p>
            <a:pPr algn="just"/>
            <a:endParaRPr lang="en-US" b="1" i="1" dirty="0"/>
          </a:p>
          <a:p>
            <a:pPr algn="just"/>
            <a:r>
              <a:rPr lang="en-US" dirty="0"/>
              <a:t>If </a:t>
            </a:r>
            <a:r>
              <a:rPr lang="en-US" i="1" dirty="0"/>
              <a:t>(u, v) </a:t>
            </a:r>
            <a:r>
              <a:rPr lang="en-US" dirty="0"/>
              <a:t>is the last edge of the simple path from the root to vertex </a:t>
            </a:r>
            <a:r>
              <a:rPr lang="en-US" i="1" dirty="0"/>
              <a:t>v </a:t>
            </a:r>
            <a:r>
              <a:rPr lang="en-US" dirty="0"/>
              <a:t>(and </a:t>
            </a:r>
            <a:r>
              <a:rPr lang="en-US" i="1" dirty="0"/>
              <a:t>u !</a:t>
            </a:r>
            <a:r>
              <a:rPr lang="en-US" dirty="0"/>
              <a:t>= </a:t>
            </a:r>
            <a:r>
              <a:rPr lang="en-US" i="1" dirty="0"/>
              <a:t>v)</a:t>
            </a:r>
            <a:r>
              <a:rPr lang="en-US" dirty="0"/>
              <a:t>, </a:t>
            </a:r>
            <a:r>
              <a:rPr lang="en-US" i="1" dirty="0"/>
              <a:t>u </a:t>
            </a:r>
            <a:r>
              <a:rPr lang="en-US" dirty="0"/>
              <a:t>is said to be the </a:t>
            </a:r>
            <a:r>
              <a:rPr lang="en-US" b="1" i="1" dirty="0"/>
              <a:t>parent </a:t>
            </a:r>
            <a:r>
              <a:rPr lang="en-US" dirty="0"/>
              <a:t>of </a:t>
            </a:r>
            <a:r>
              <a:rPr lang="en-US" i="1" dirty="0"/>
              <a:t>v </a:t>
            </a:r>
            <a:r>
              <a:rPr lang="en-US" dirty="0"/>
              <a:t>and </a:t>
            </a:r>
            <a:r>
              <a:rPr lang="en-US" i="1" dirty="0"/>
              <a:t>v </a:t>
            </a:r>
            <a:r>
              <a:rPr lang="en-US" dirty="0"/>
              <a:t>is called a </a:t>
            </a:r>
            <a:r>
              <a:rPr lang="en-US" b="1" i="1" dirty="0"/>
              <a:t>child </a:t>
            </a:r>
            <a:r>
              <a:rPr lang="en-US" dirty="0"/>
              <a:t>of </a:t>
            </a:r>
            <a:r>
              <a:rPr lang="en-US" i="1" dirty="0"/>
              <a:t>u</a:t>
            </a:r>
            <a:r>
              <a:rPr lang="en-US" dirty="0"/>
              <a:t>; vertices that have the same parent are said to be </a:t>
            </a:r>
            <a:r>
              <a:rPr lang="en-US" b="1" i="1" dirty="0"/>
              <a:t>siblings</a:t>
            </a:r>
            <a:endParaRPr lang="en-IN" dirty="0"/>
          </a:p>
        </p:txBody>
      </p:sp>
      <p:sp>
        <p:nvSpPr>
          <p:cNvPr id="2" name="Date Placeholder 1">
            <a:extLst>
              <a:ext uri="{FF2B5EF4-FFF2-40B4-BE49-F238E27FC236}">
                <a16:creationId xmlns:a16="http://schemas.microsoft.com/office/drawing/2014/main" id="{D710DC6B-226C-F2D6-A5DB-F142A3523BAD}"/>
              </a:ext>
            </a:extLst>
          </p:cNvPr>
          <p:cNvSpPr>
            <a:spLocks noGrp="1"/>
          </p:cNvSpPr>
          <p:nvPr>
            <p:ph type="dt" sz="half" idx="10"/>
          </p:nvPr>
        </p:nvSpPr>
        <p:spPr/>
        <p:txBody>
          <a:bodyPr/>
          <a:lstStyle/>
          <a:p>
            <a:pPr>
              <a:defRPr/>
            </a:pPr>
            <a:fld id="{2427256E-906D-4BB0-B167-1E89CBD7B2B4}"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855C5C33-B65A-93CD-5936-00AEA62C98E8}"/>
              </a:ext>
            </a:extLst>
          </p:cNvPr>
          <p:cNvSpPr>
            <a:spLocks noGrp="1"/>
          </p:cNvSpPr>
          <p:nvPr>
            <p:ph type="sldNum" sz="quarter" idx="12"/>
          </p:nvPr>
        </p:nvSpPr>
        <p:spPr/>
        <p:txBody>
          <a:bodyPr/>
          <a:lstStyle/>
          <a:p>
            <a:pPr>
              <a:defRPr/>
            </a:pPr>
            <a:fld id="{937DAA19-78E2-454A-BF0A-AB51F6D45129}" type="slidenum">
              <a:rPr lang="en-US" altLang="en-US" smtClean="0"/>
              <a:pPr>
                <a:defRPr/>
              </a:pPr>
              <a:t>43</a:t>
            </a:fld>
            <a:endParaRPr lang="en-US" altLang="en-US"/>
          </a:p>
        </p:txBody>
      </p:sp>
    </p:spTree>
    <p:extLst>
      <p:ext uri="{BB962C8B-B14F-4D97-AF65-F5344CB8AC3E}">
        <p14:creationId xmlns:p14="http://schemas.microsoft.com/office/powerpoint/2010/main" val="30363840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CACD87-6B44-408C-9DE1-4FEFED9AC297}"/>
              </a:ext>
            </a:extLst>
          </p:cNvPr>
          <p:cNvSpPr>
            <a:spLocks noGrp="1"/>
          </p:cNvSpPr>
          <p:nvPr>
            <p:ph idx="1"/>
          </p:nvPr>
        </p:nvSpPr>
        <p:spPr>
          <a:xfrm>
            <a:off x="457200" y="1088741"/>
            <a:ext cx="8229600" cy="5037424"/>
          </a:xfrm>
        </p:spPr>
        <p:txBody>
          <a:bodyPr>
            <a:normAutofit/>
          </a:bodyPr>
          <a:lstStyle/>
          <a:p>
            <a:pPr algn="just"/>
            <a:r>
              <a:rPr lang="en-IN" sz="2800" dirty="0"/>
              <a:t>Vertex with no </a:t>
            </a:r>
            <a:r>
              <a:rPr lang="en-US" sz="2800" dirty="0"/>
              <a:t>children is called a </a:t>
            </a:r>
            <a:r>
              <a:rPr lang="en-US" sz="2800" b="1" i="1" dirty="0"/>
              <a:t>leaf </a:t>
            </a:r>
            <a:r>
              <a:rPr lang="en-US" sz="2800" dirty="0"/>
              <a:t>; a vertex with at least one child is called </a:t>
            </a:r>
            <a:r>
              <a:rPr lang="en-US" sz="2800" b="1" i="1" dirty="0"/>
              <a:t>parental</a:t>
            </a:r>
          </a:p>
          <a:p>
            <a:pPr algn="just"/>
            <a:endParaRPr lang="en-US" sz="2800" b="1" i="1" dirty="0"/>
          </a:p>
          <a:p>
            <a:pPr algn="just"/>
            <a:r>
              <a:rPr lang="en-US" sz="2800" dirty="0"/>
              <a:t>All the vertices for which a vertex </a:t>
            </a:r>
            <a:r>
              <a:rPr lang="en-US" sz="2800" i="1" dirty="0"/>
              <a:t>v </a:t>
            </a:r>
            <a:r>
              <a:rPr lang="en-US" sz="2800" dirty="0"/>
              <a:t>is an ancestor are said to be </a:t>
            </a:r>
            <a:r>
              <a:rPr lang="en-US" sz="2800" b="1" i="1" dirty="0"/>
              <a:t>descendants </a:t>
            </a:r>
            <a:r>
              <a:rPr lang="en-US" sz="2800" dirty="0"/>
              <a:t>of </a:t>
            </a:r>
            <a:r>
              <a:rPr lang="en-US" sz="2800" i="1" dirty="0"/>
              <a:t>v</a:t>
            </a:r>
            <a:r>
              <a:rPr lang="en-US" sz="2800" dirty="0"/>
              <a:t>; the </a:t>
            </a:r>
            <a:r>
              <a:rPr lang="en-US" sz="2800" b="1" i="1" dirty="0"/>
              <a:t>proper descendants </a:t>
            </a:r>
            <a:r>
              <a:rPr lang="en-US" sz="2800" dirty="0"/>
              <a:t>exclude the vertex </a:t>
            </a:r>
            <a:r>
              <a:rPr lang="en-US" sz="2800" i="1" dirty="0"/>
              <a:t>v </a:t>
            </a:r>
            <a:r>
              <a:rPr lang="en-US" sz="2800" dirty="0"/>
              <a:t>itself</a:t>
            </a:r>
          </a:p>
          <a:p>
            <a:pPr algn="just"/>
            <a:endParaRPr lang="en-US" sz="2800" dirty="0"/>
          </a:p>
          <a:p>
            <a:pPr algn="just"/>
            <a:r>
              <a:rPr lang="en-US" sz="2800" dirty="0"/>
              <a:t>All the descendants of a vertex </a:t>
            </a:r>
            <a:r>
              <a:rPr lang="en-US" sz="2800" i="1" dirty="0"/>
              <a:t>v </a:t>
            </a:r>
            <a:r>
              <a:rPr lang="en-US" sz="2800" dirty="0"/>
              <a:t>with all the edges connecting them form the </a:t>
            </a:r>
            <a:r>
              <a:rPr lang="en-US" sz="2800" b="1" i="1" dirty="0"/>
              <a:t>subtree </a:t>
            </a:r>
            <a:r>
              <a:rPr lang="en-US" sz="2800" dirty="0"/>
              <a:t>of </a:t>
            </a:r>
            <a:r>
              <a:rPr lang="en-US" sz="2800" i="1" dirty="0"/>
              <a:t>T </a:t>
            </a:r>
            <a:r>
              <a:rPr lang="en-US" sz="2800" dirty="0"/>
              <a:t>rooted at that vertex</a:t>
            </a:r>
            <a:endParaRPr lang="en-IN" sz="2800" dirty="0"/>
          </a:p>
        </p:txBody>
      </p:sp>
      <p:sp>
        <p:nvSpPr>
          <p:cNvPr id="2" name="Date Placeholder 1">
            <a:extLst>
              <a:ext uri="{FF2B5EF4-FFF2-40B4-BE49-F238E27FC236}">
                <a16:creationId xmlns:a16="http://schemas.microsoft.com/office/drawing/2014/main" id="{D6292994-4A19-9AC5-A036-41DEC59D91CF}"/>
              </a:ext>
            </a:extLst>
          </p:cNvPr>
          <p:cNvSpPr>
            <a:spLocks noGrp="1"/>
          </p:cNvSpPr>
          <p:nvPr>
            <p:ph type="dt" sz="half" idx="10"/>
          </p:nvPr>
        </p:nvSpPr>
        <p:spPr/>
        <p:txBody>
          <a:bodyPr/>
          <a:lstStyle/>
          <a:p>
            <a:pPr>
              <a:defRPr/>
            </a:pPr>
            <a:fld id="{DF8BC02A-D33C-4197-A155-0436EDB5864C}"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4DD74A83-074E-C9FC-C3BD-6EA592C3CA29}"/>
              </a:ext>
            </a:extLst>
          </p:cNvPr>
          <p:cNvSpPr>
            <a:spLocks noGrp="1"/>
          </p:cNvSpPr>
          <p:nvPr>
            <p:ph type="sldNum" sz="quarter" idx="12"/>
          </p:nvPr>
        </p:nvSpPr>
        <p:spPr/>
        <p:txBody>
          <a:bodyPr/>
          <a:lstStyle/>
          <a:p>
            <a:pPr>
              <a:defRPr/>
            </a:pPr>
            <a:fld id="{937DAA19-78E2-454A-BF0A-AB51F6D45129}" type="slidenum">
              <a:rPr lang="en-US" altLang="en-US" smtClean="0"/>
              <a:pPr>
                <a:defRPr/>
              </a:pPr>
              <a:t>44</a:t>
            </a:fld>
            <a:endParaRPr lang="en-US" altLang="en-US"/>
          </a:p>
        </p:txBody>
      </p:sp>
    </p:spTree>
    <p:extLst>
      <p:ext uri="{BB962C8B-B14F-4D97-AF65-F5344CB8AC3E}">
        <p14:creationId xmlns:p14="http://schemas.microsoft.com/office/powerpoint/2010/main" val="30815708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6DDD9F-9B41-4E1B-AEFF-7A01E9848128}"/>
              </a:ext>
            </a:extLst>
          </p:cNvPr>
          <p:cNvSpPr>
            <a:spLocks noGrp="1"/>
          </p:cNvSpPr>
          <p:nvPr>
            <p:ph idx="1"/>
          </p:nvPr>
        </p:nvSpPr>
        <p:spPr>
          <a:xfrm>
            <a:off x="457200" y="673099"/>
            <a:ext cx="8229600" cy="5453065"/>
          </a:xfrm>
        </p:spPr>
        <p:txBody>
          <a:bodyPr>
            <a:normAutofit/>
          </a:bodyPr>
          <a:lstStyle/>
          <a:p>
            <a:pPr algn="just"/>
            <a:r>
              <a:rPr lang="en-US" sz="2800" dirty="0"/>
              <a:t>Thus, for the tree in Figure 1.11b, the root of the tree is </a:t>
            </a:r>
            <a:r>
              <a:rPr lang="en-US" sz="2800" i="1" dirty="0"/>
              <a:t>a</a:t>
            </a:r>
            <a:r>
              <a:rPr lang="en-US" sz="2800" dirty="0"/>
              <a:t>; vertices </a:t>
            </a:r>
            <a:r>
              <a:rPr lang="en-US" sz="2800" i="1" dirty="0"/>
              <a:t>d, g, f, h</a:t>
            </a:r>
            <a:r>
              <a:rPr lang="en-US" sz="2800" dirty="0"/>
              <a:t>, and </a:t>
            </a:r>
            <a:r>
              <a:rPr lang="en-US" sz="2800" i="1" dirty="0"/>
              <a:t>I </a:t>
            </a:r>
            <a:r>
              <a:rPr lang="en-US" sz="2800" dirty="0"/>
              <a:t>are leaves, and vertices </a:t>
            </a:r>
            <a:r>
              <a:rPr lang="en-US" sz="2800" i="1" dirty="0"/>
              <a:t>a, b, e</a:t>
            </a:r>
            <a:r>
              <a:rPr lang="en-US" sz="2800" dirty="0"/>
              <a:t>, and </a:t>
            </a:r>
            <a:r>
              <a:rPr lang="en-US" sz="2800" i="1" dirty="0"/>
              <a:t>c </a:t>
            </a:r>
            <a:r>
              <a:rPr lang="en-US" sz="2800" dirty="0"/>
              <a:t>are parental; the parent of </a:t>
            </a:r>
            <a:r>
              <a:rPr lang="en-US" sz="2800" i="1" dirty="0"/>
              <a:t>b </a:t>
            </a:r>
            <a:r>
              <a:rPr lang="en-US" sz="2800" dirty="0"/>
              <a:t>is </a:t>
            </a:r>
            <a:r>
              <a:rPr lang="en-US" sz="2800" i="1" dirty="0"/>
              <a:t>a</a:t>
            </a:r>
            <a:r>
              <a:rPr lang="en-US" sz="2800" dirty="0"/>
              <a:t>; the children of </a:t>
            </a:r>
            <a:r>
              <a:rPr lang="en-US" sz="2800" i="1" dirty="0"/>
              <a:t>b </a:t>
            </a:r>
            <a:r>
              <a:rPr lang="en-US" sz="2800" dirty="0"/>
              <a:t>are </a:t>
            </a:r>
            <a:r>
              <a:rPr lang="en-US" sz="2800" i="1" dirty="0"/>
              <a:t>c </a:t>
            </a:r>
            <a:r>
              <a:rPr lang="en-US" sz="2800" dirty="0"/>
              <a:t>and </a:t>
            </a:r>
            <a:r>
              <a:rPr lang="en-US" sz="2800" i="1" dirty="0"/>
              <a:t>g</a:t>
            </a:r>
            <a:r>
              <a:rPr lang="en-US" sz="2800" dirty="0"/>
              <a:t>; the siblings of </a:t>
            </a:r>
            <a:r>
              <a:rPr lang="en-US" sz="2800" i="1" dirty="0"/>
              <a:t>b </a:t>
            </a:r>
            <a:r>
              <a:rPr lang="en-US" sz="2800" dirty="0"/>
              <a:t>are </a:t>
            </a:r>
            <a:r>
              <a:rPr lang="en-US" sz="2800" i="1" dirty="0"/>
              <a:t>d </a:t>
            </a:r>
            <a:r>
              <a:rPr lang="en-US" sz="2800" dirty="0"/>
              <a:t>and </a:t>
            </a:r>
            <a:r>
              <a:rPr lang="en-US" sz="2800" i="1" dirty="0"/>
              <a:t>e</a:t>
            </a:r>
            <a:r>
              <a:rPr lang="en-US" sz="2800" dirty="0"/>
              <a:t>; and the vertices of the subtree rooted at </a:t>
            </a:r>
            <a:r>
              <a:rPr lang="en-US" sz="2800" i="1" dirty="0"/>
              <a:t>b </a:t>
            </a:r>
            <a:r>
              <a:rPr lang="en-US" sz="2800" dirty="0"/>
              <a:t>are {</a:t>
            </a:r>
            <a:r>
              <a:rPr lang="en-US" sz="2800" i="1" dirty="0"/>
              <a:t>b, c, g, h, </a:t>
            </a:r>
            <a:r>
              <a:rPr lang="en-US" sz="2800" i="1" dirty="0" err="1"/>
              <a:t>i</a:t>
            </a:r>
            <a:r>
              <a:rPr lang="en-US" sz="2800" dirty="0"/>
              <a:t>}</a:t>
            </a:r>
            <a:endParaRPr lang="en-IN" sz="2800" dirty="0"/>
          </a:p>
        </p:txBody>
      </p:sp>
      <p:pic>
        <p:nvPicPr>
          <p:cNvPr id="5" name="Picture 4">
            <a:extLst>
              <a:ext uri="{FF2B5EF4-FFF2-40B4-BE49-F238E27FC236}">
                <a16:creationId xmlns:a16="http://schemas.microsoft.com/office/drawing/2014/main" id="{79F54077-1086-44AF-9213-213CB391C237}"/>
              </a:ext>
            </a:extLst>
          </p:cNvPr>
          <p:cNvPicPr>
            <a:picLocks noChangeAspect="1"/>
          </p:cNvPicPr>
          <p:nvPr/>
        </p:nvPicPr>
        <p:blipFill>
          <a:blip r:embed="rId2"/>
          <a:stretch>
            <a:fillRect/>
          </a:stretch>
        </p:blipFill>
        <p:spPr>
          <a:xfrm>
            <a:off x="0" y="3429000"/>
            <a:ext cx="9143999" cy="3429001"/>
          </a:xfrm>
          <a:prstGeom prst="rect">
            <a:avLst/>
          </a:prstGeom>
        </p:spPr>
      </p:pic>
      <p:sp>
        <p:nvSpPr>
          <p:cNvPr id="2" name="Date Placeholder 1">
            <a:extLst>
              <a:ext uri="{FF2B5EF4-FFF2-40B4-BE49-F238E27FC236}">
                <a16:creationId xmlns:a16="http://schemas.microsoft.com/office/drawing/2014/main" id="{47C544A7-D3EB-8021-12F1-B0884DEE0653}"/>
              </a:ext>
            </a:extLst>
          </p:cNvPr>
          <p:cNvSpPr>
            <a:spLocks noGrp="1"/>
          </p:cNvSpPr>
          <p:nvPr>
            <p:ph type="dt" sz="half" idx="10"/>
          </p:nvPr>
        </p:nvSpPr>
        <p:spPr/>
        <p:txBody>
          <a:bodyPr/>
          <a:lstStyle/>
          <a:p>
            <a:pPr>
              <a:defRPr/>
            </a:pPr>
            <a:fld id="{1056ECD3-15CC-4057-A616-26993B22D361}"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BA0FBF98-57D4-5C82-D2F3-E0E191E2E7DE}"/>
              </a:ext>
            </a:extLst>
          </p:cNvPr>
          <p:cNvSpPr>
            <a:spLocks noGrp="1"/>
          </p:cNvSpPr>
          <p:nvPr>
            <p:ph type="sldNum" sz="quarter" idx="12"/>
          </p:nvPr>
        </p:nvSpPr>
        <p:spPr/>
        <p:txBody>
          <a:bodyPr/>
          <a:lstStyle/>
          <a:p>
            <a:pPr>
              <a:defRPr/>
            </a:pPr>
            <a:fld id="{937DAA19-78E2-454A-BF0A-AB51F6D45129}" type="slidenum">
              <a:rPr lang="en-US" altLang="en-US" smtClean="0"/>
              <a:pPr>
                <a:defRPr/>
              </a:pPr>
              <a:t>45</a:t>
            </a:fld>
            <a:endParaRPr lang="en-US" altLang="en-US"/>
          </a:p>
        </p:txBody>
      </p:sp>
    </p:spTree>
    <p:extLst>
      <p:ext uri="{BB962C8B-B14F-4D97-AF65-F5344CB8AC3E}">
        <p14:creationId xmlns:p14="http://schemas.microsoft.com/office/powerpoint/2010/main" val="7755144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44B406-BABF-4689-A21A-6C4626731AFF}"/>
              </a:ext>
            </a:extLst>
          </p:cNvPr>
          <p:cNvSpPr>
            <a:spLocks noGrp="1"/>
          </p:cNvSpPr>
          <p:nvPr>
            <p:ph idx="1"/>
          </p:nvPr>
        </p:nvSpPr>
        <p:spPr>
          <a:xfrm>
            <a:off x="341529" y="1088740"/>
            <a:ext cx="8505945" cy="5040560"/>
          </a:xfrm>
        </p:spPr>
        <p:txBody>
          <a:bodyPr>
            <a:normAutofit fontScale="85000" lnSpcReduction="20000"/>
          </a:bodyPr>
          <a:lstStyle/>
          <a:p>
            <a:pPr algn="just"/>
            <a:r>
              <a:rPr lang="en-US" dirty="0"/>
              <a:t>The </a:t>
            </a:r>
            <a:r>
              <a:rPr lang="en-US" b="1" i="1" dirty="0"/>
              <a:t>depth </a:t>
            </a:r>
            <a:r>
              <a:rPr lang="en-US" dirty="0"/>
              <a:t>of a vertex </a:t>
            </a:r>
            <a:r>
              <a:rPr lang="en-US" i="1" dirty="0"/>
              <a:t>v </a:t>
            </a:r>
            <a:r>
              <a:rPr lang="en-US" dirty="0"/>
              <a:t>is the length of the simple path from the root to </a:t>
            </a:r>
            <a:r>
              <a:rPr lang="en-US" i="1" dirty="0"/>
              <a:t>v</a:t>
            </a:r>
          </a:p>
          <a:p>
            <a:pPr algn="just"/>
            <a:endParaRPr lang="en-US" dirty="0"/>
          </a:p>
          <a:p>
            <a:pPr algn="just"/>
            <a:r>
              <a:rPr lang="en-US" dirty="0"/>
              <a:t>The </a:t>
            </a:r>
            <a:r>
              <a:rPr lang="en-US" b="1" i="1" dirty="0"/>
              <a:t>height </a:t>
            </a:r>
            <a:r>
              <a:rPr lang="en-US" dirty="0"/>
              <a:t>of a tree is the length of the longest simple path from the root to a leaf</a:t>
            </a:r>
          </a:p>
          <a:p>
            <a:pPr algn="just"/>
            <a:endParaRPr lang="en-US" dirty="0"/>
          </a:p>
          <a:p>
            <a:pPr algn="just"/>
            <a:r>
              <a:rPr lang="en-US" dirty="0"/>
              <a:t>For example, the depth of vertex </a:t>
            </a:r>
            <a:r>
              <a:rPr lang="en-US" i="1" dirty="0"/>
              <a:t>c </a:t>
            </a:r>
            <a:r>
              <a:rPr lang="en-US" dirty="0"/>
              <a:t>of the tree in Figure 1.11b is 2, and the height of the tree is 3</a:t>
            </a:r>
          </a:p>
          <a:p>
            <a:pPr algn="just"/>
            <a:endParaRPr lang="en-US" dirty="0"/>
          </a:p>
          <a:p>
            <a:pPr algn="just"/>
            <a:r>
              <a:rPr lang="en-US" dirty="0"/>
              <a:t>Thus, if we count tree levels top down starting with 0 for the root’s level, the depth of a vertex is simply its level in the tree, and the tree’s height is the maximum level of its vertices</a:t>
            </a:r>
            <a:endParaRPr lang="en-IN" dirty="0"/>
          </a:p>
        </p:txBody>
      </p:sp>
      <p:sp>
        <p:nvSpPr>
          <p:cNvPr id="2" name="Date Placeholder 1">
            <a:extLst>
              <a:ext uri="{FF2B5EF4-FFF2-40B4-BE49-F238E27FC236}">
                <a16:creationId xmlns:a16="http://schemas.microsoft.com/office/drawing/2014/main" id="{05D6B558-6ECB-B91C-F351-23121EC428FF}"/>
              </a:ext>
            </a:extLst>
          </p:cNvPr>
          <p:cNvSpPr>
            <a:spLocks noGrp="1"/>
          </p:cNvSpPr>
          <p:nvPr>
            <p:ph type="dt" sz="half" idx="10"/>
          </p:nvPr>
        </p:nvSpPr>
        <p:spPr/>
        <p:txBody>
          <a:bodyPr/>
          <a:lstStyle/>
          <a:p>
            <a:pPr>
              <a:defRPr/>
            </a:pPr>
            <a:fld id="{998E6CA4-4046-4974-9480-62D34CBA748D}"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36E440BF-1C73-A949-58CB-FD3C00278385}"/>
              </a:ext>
            </a:extLst>
          </p:cNvPr>
          <p:cNvSpPr>
            <a:spLocks noGrp="1"/>
          </p:cNvSpPr>
          <p:nvPr>
            <p:ph type="sldNum" sz="quarter" idx="12"/>
          </p:nvPr>
        </p:nvSpPr>
        <p:spPr/>
        <p:txBody>
          <a:bodyPr/>
          <a:lstStyle/>
          <a:p>
            <a:pPr>
              <a:defRPr/>
            </a:pPr>
            <a:fld id="{937DAA19-78E2-454A-BF0A-AB51F6D45129}" type="slidenum">
              <a:rPr lang="en-US" altLang="en-US" smtClean="0"/>
              <a:pPr>
                <a:defRPr/>
              </a:pPr>
              <a:t>46</a:t>
            </a:fld>
            <a:endParaRPr lang="en-US" altLang="en-US"/>
          </a:p>
        </p:txBody>
      </p:sp>
    </p:spTree>
    <p:extLst>
      <p:ext uri="{BB962C8B-B14F-4D97-AF65-F5344CB8AC3E}">
        <p14:creationId xmlns:p14="http://schemas.microsoft.com/office/powerpoint/2010/main" val="23737722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E1010B-BB31-4688-81B0-4F66FCDAB4EB}"/>
              </a:ext>
            </a:extLst>
          </p:cNvPr>
          <p:cNvSpPr>
            <a:spLocks noGrp="1"/>
          </p:cNvSpPr>
          <p:nvPr>
            <p:ph idx="1"/>
          </p:nvPr>
        </p:nvSpPr>
        <p:spPr>
          <a:xfrm>
            <a:off x="457200" y="1223755"/>
            <a:ext cx="8229600" cy="4902409"/>
          </a:xfrm>
        </p:spPr>
        <p:txBody>
          <a:bodyPr>
            <a:normAutofit/>
          </a:bodyPr>
          <a:lstStyle/>
          <a:p>
            <a:pPr marL="0" indent="0" algn="just">
              <a:buNone/>
            </a:pPr>
            <a:r>
              <a:rPr lang="en-IN" sz="2800" b="1" dirty="0"/>
              <a:t>Ordered Trees</a:t>
            </a:r>
          </a:p>
          <a:p>
            <a:pPr marL="0" indent="0" algn="just">
              <a:buNone/>
            </a:pPr>
            <a:endParaRPr lang="en-IN" sz="2800" b="1" dirty="0"/>
          </a:p>
          <a:p>
            <a:pPr algn="just"/>
            <a:r>
              <a:rPr lang="en-US" sz="2800" dirty="0"/>
              <a:t>An </a:t>
            </a:r>
            <a:r>
              <a:rPr lang="en-US" sz="2800" b="1" i="1" dirty="0"/>
              <a:t>ordered tree </a:t>
            </a:r>
            <a:r>
              <a:rPr lang="en-US" sz="2800" dirty="0"/>
              <a:t>is a rooted tree in which all the children of each vertex are ordered</a:t>
            </a:r>
          </a:p>
          <a:p>
            <a:pPr algn="just"/>
            <a:endParaRPr lang="en-US" sz="2800" dirty="0"/>
          </a:p>
          <a:p>
            <a:pPr algn="just"/>
            <a:r>
              <a:rPr lang="en-US" sz="2800" dirty="0"/>
              <a:t>It is convenient to assume that in a tree’s diagram, all the children are ordered left to right</a:t>
            </a:r>
            <a:endParaRPr lang="en-IN" sz="2800" dirty="0"/>
          </a:p>
        </p:txBody>
      </p:sp>
      <p:sp>
        <p:nvSpPr>
          <p:cNvPr id="2" name="Date Placeholder 1">
            <a:extLst>
              <a:ext uri="{FF2B5EF4-FFF2-40B4-BE49-F238E27FC236}">
                <a16:creationId xmlns:a16="http://schemas.microsoft.com/office/drawing/2014/main" id="{A3C7BDFD-76A6-1745-A481-1D19EAA8C4F2}"/>
              </a:ext>
            </a:extLst>
          </p:cNvPr>
          <p:cNvSpPr>
            <a:spLocks noGrp="1"/>
          </p:cNvSpPr>
          <p:nvPr>
            <p:ph type="dt" sz="half" idx="10"/>
          </p:nvPr>
        </p:nvSpPr>
        <p:spPr/>
        <p:txBody>
          <a:bodyPr/>
          <a:lstStyle/>
          <a:p>
            <a:pPr>
              <a:defRPr/>
            </a:pPr>
            <a:fld id="{F268AD7F-8943-4E26-BE1F-F0C3D50915B0}"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EB1E4407-6734-35B9-3BD3-34A4BBF6B419}"/>
              </a:ext>
            </a:extLst>
          </p:cNvPr>
          <p:cNvSpPr>
            <a:spLocks noGrp="1"/>
          </p:cNvSpPr>
          <p:nvPr>
            <p:ph type="sldNum" sz="quarter" idx="12"/>
          </p:nvPr>
        </p:nvSpPr>
        <p:spPr/>
        <p:txBody>
          <a:bodyPr/>
          <a:lstStyle/>
          <a:p>
            <a:pPr>
              <a:defRPr/>
            </a:pPr>
            <a:fld id="{937DAA19-78E2-454A-BF0A-AB51F6D45129}" type="slidenum">
              <a:rPr lang="en-US" altLang="en-US" smtClean="0"/>
              <a:pPr>
                <a:defRPr/>
              </a:pPr>
              <a:t>47</a:t>
            </a:fld>
            <a:endParaRPr lang="en-US" altLang="en-US"/>
          </a:p>
        </p:txBody>
      </p:sp>
    </p:spTree>
    <p:extLst>
      <p:ext uri="{BB962C8B-B14F-4D97-AF65-F5344CB8AC3E}">
        <p14:creationId xmlns:p14="http://schemas.microsoft.com/office/powerpoint/2010/main" val="6903128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4E5C94-C747-46BC-87BA-AA1466AC8BA0}"/>
              </a:ext>
            </a:extLst>
          </p:cNvPr>
          <p:cNvSpPr>
            <a:spLocks noGrp="1"/>
          </p:cNvSpPr>
          <p:nvPr>
            <p:ph idx="1"/>
          </p:nvPr>
        </p:nvSpPr>
        <p:spPr>
          <a:xfrm>
            <a:off x="457200" y="998731"/>
            <a:ext cx="8229600" cy="5127434"/>
          </a:xfrm>
        </p:spPr>
        <p:txBody>
          <a:bodyPr>
            <a:normAutofit/>
          </a:bodyPr>
          <a:lstStyle/>
          <a:p>
            <a:pPr algn="just"/>
            <a:r>
              <a:rPr lang="en-US" sz="2800" dirty="0"/>
              <a:t>A </a:t>
            </a:r>
            <a:r>
              <a:rPr lang="en-US" sz="2800" b="1" i="1" dirty="0"/>
              <a:t>binary tree </a:t>
            </a:r>
            <a:r>
              <a:rPr lang="en-US" sz="2800" dirty="0"/>
              <a:t>can be defined as an ordered tree in which every vertex has no more than two children and each child is designated as either a </a:t>
            </a:r>
            <a:r>
              <a:rPr lang="en-US" sz="2800" b="1" i="1" dirty="0"/>
              <a:t>left child </a:t>
            </a:r>
            <a:r>
              <a:rPr lang="en-US" sz="2800" dirty="0"/>
              <a:t>or a </a:t>
            </a:r>
            <a:r>
              <a:rPr lang="en-US" sz="2800" b="1" i="1" dirty="0"/>
              <a:t>right child </a:t>
            </a:r>
            <a:r>
              <a:rPr lang="en-US" sz="2800" dirty="0"/>
              <a:t>of its parent; </a:t>
            </a:r>
          </a:p>
          <a:p>
            <a:pPr algn="just"/>
            <a:endParaRPr lang="en-US" sz="2800" dirty="0"/>
          </a:p>
          <a:p>
            <a:pPr algn="just"/>
            <a:r>
              <a:rPr lang="en-US" sz="2800" dirty="0"/>
              <a:t>A binary tree may also be empty </a:t>
            </a:r>
          </a:p>
          <a:p>
            <a:pPr algn="just"/>
            <a:endParaRPr lang="en-US" sz="2800" dirty="0"/>
          </a:p>
          <a:p>
            <a:pPr algn="just"/>
            <a:r>
              <a:rPr lang="en-US" sz="2800" dirty="0"/>
              <a:t>The binary tree with its root at the left (right) child of a vertex in a binary tree is called the </a:t>
            </a:r>
            <a:r>
              <a:rPr lang="en-US" sz="2800" b="1" i="1" dirty="0"/>
              <a:t>left </a:t>
            </a:r>
            <a:r>
              <a:rPr lang="en-US" sz="2800" dirty="0"/>
              <a:t>(</a:t>
            </a:r>
            <a:r>
              <a:rPr lang="en-US" sz="2800" b="1" i="1" dirty="0"/>
              <a:t>right</a:t>
            </a:r>
            <a:r>
              <a:rPr lang="en-US" sz="2800" dirty="0"/>
              <a:t>) </a:t>
            </a:r>
            <a:r>
              <a:rPr lang="en-US" sz="2800" b="1" i="1" dirty="0"/>
              <a:t>subtree </a:t>
            </a:r>
            <a:r>
              <a:rPr lang="en-US" sz="2800" dirty="0"/>
              <a:t>of that vertex</a:t>
            </a:r>
            <a:endParaRPr lang="en-IN" sz="2800" dirty="0"/>
          </a:p>
        </p:txBody>
      </p:sp>
      <p:sp>
        <p:nvSpPr>
          <p:cNvPr id="2" name="Date Placeholder 1">
            <a:extLst>
              <a:ext uri="{FF2B5EF4-FFF2-40B4-BE49-F238E27FC236}">
                <a16:creationId xmlns:a16="http://schemas.microsoft.com/office/drawing/2014/main" id="{5D956E3F-E54D-2720-88B4-2CEB7F4AD881}"/>
              </a:ext>
            </a:extLst>
          </p:cNvPr>
          <p:cNvSpPr>
            <a:spLocks noGrp="1"/>
          </p:cNvSpPr>
          <p:nvPr>
            <p:ph type="dt" sz="half" idx="10"/>
          </p:nvPr>
        </p:nvSpPr>
        <p:spPr/>
        <p:txBody>
          <a:bodyPr/>
          <a:lstStyle/>
          <a:p>
            <a:pPr>
              <a:defRPr/>
            </a:pPr>
            <a:fld id="{804BE240-5762-4E9C-9916-2EF003F19CC3}"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052DA9E3-CFA8-C478-5E5F-B126D83BB944}"/>
              </a:ext>
            </a:extLst>
          </p:cNvPr>
          <p:cNvSpPr>
            <a:spLocks noGrp="1"/>
          </p:cNvSpPr>
          <p:nvPr>
            <p:ph type="sldNum" sz="quarter" idx="12"/>
          </p:nvPr>
        </p:nvSpPr>
        <p:spPr/>
        <p:txBody>
          <a:bodyPr/>
          <a:lstStyle/>
          <a:p>
            <a:pPr>
              <a:defRPr/>
            </a:pPr>
            <a:fld id="{937DAA19-78E2-454A-BF0A-AB51F6D45129}" type="slidenum">
              <a:rPr lang="en-US" altLang="en-US" smtClean="0"/>
              <a:pPr>
                <a:defRPr/>
              </a:pPr>
              <a:t>48</a:t>
            </a:fld>
            <a:endParaRPr lang="en-US" altLang="en-US"/>
          </a:p>
        </p:txBody>
      </p:sp>
    </p:spTree>
    <p:extLst>
      <p:ext uri="{BB962C8B-B14F-4D97-AF65-F5344CB8AC3E}">
        <p14:creationId xmlns:p14="http://schemas.microsoft.com/office/powerpoint/2010/main" val="3461595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0AE0B2A-08DB-49EB-BDF4-557E87850927}"/>
              </a:ext>
            </a:extLst>
          </p:cNvPr>
          <p:cNvPicPr>
            <a:picLocks noChangeAspect="1"/>
          </p:cNvPicPr>
          <p:nvPr/>
        </p:nvPicPr>
        <p:blipFill>
          <a:blip r:embed="rId2"/>
          <a:stretch>
            <a:fillRect/>
          </a:stretch>
        </p:blipFill>
        <p:spPr>
          <a:xfrm>
            <a:off x="424648" y="1583795"/>
            <a:ext cx="8377821" cy="3825425"/>
          </a:xfrm>
          <a:prstGeom prst="rect">
            <a:avLst/>
          </a:prstGeom>
        </p:spPr>
      </p:pic>
      <p:sp>
        <p:nvSpPr>
          <p:cNvPr id="2" name="Date Placeholder 1">
            <a:extLst>
              <a:ext uri="{FF2B5EF4-FFF2-40B4-BE49-F238E27FC236}">
                <a16:creationId xmlns:a16="http://schemas.microsoft.com/office/drawing/2014/main" id="{260B563C-CF86-9198-1C49-9F92F4E70DD4}"/>
              </a:ext>
            </a:extLst>
          </p:cNvPr>
          <p:cNvSpPr>
            <a:spLocks noGrp="1"/>
          </p:cNvSpPr>
          <p:nvPr>
            <p:ph type="dt" sz="half" idx="10"/>
          </p:nvPr>
        </p:nvSpPr>
        <p:spPr/>
        <p:txBody>
          <a:bodyPr/>
          <a:lstStyle/>
          <a:p>
            <a:pPr>
              <a:defRPr/>
            </a:pPr>
            <a:fld id="{11E0C7D1-3C96-4E25-95EF-5925084E338F}"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63B5F8F5-8C60-5A7E-53A4-BD3EF2D0E8A3}"/>
              </a:ext>
            </a:extLst>
          </p:cNvPr>
          <p:cNvSpPr>
            <a:spLocks noGrp="1"/>
          </p:cNvSpPr>
          <p:nvPr>
            <p:ph type="sldNum" sz="quarter" idx="12"/>
          </p:nvPr>
        </p:nvSpPr>
        <p:spPr/>
        <p:txBody>
          <a:bodyPr/>
          <a:lstStyle/>
          <a:p>
            <a:pPr>
              <a:defRPr/>
            </a:pPr>
            <a:fld id="{937DAA19-78E2-454A-BF0A-AB51F6D45129}" type="slidenum">
              <a:rPr lang="en-US" altLang="en-US" smtClean="0"/>
              <a:pPr>
                <a:defRPr/>
              </a:pPr>
              <a:t>49</a:t>
            </a:fld>
            <a:endParaRPr lang="en-US" altLang="en-US"/>
          </a:p>
        </p:txBody>
      </p:sp>
    </p:spTree>
    <p:extLst>
      <p:ext uri="{BB962C8B-B14F-4D97-AF65-F5344CB8AC3E}">
        <p14:creationId xmlns:p14="http://schemas.microsoft.com/office/powerpoint/2010/main" val="3950533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005FC52-135A-4C60-A6A1-CB51AC7CAFBE}"/>
              </a:ext>
            </a:extLst>
          </p:cNvPr>
          <p:cNvPicPr>
            <a:picLocks noChangeAspect="1"/>
          </p:cNvPicPr>
          <p:nvPr/>
        </p:nvPicPr>
        <p:blipFill>
          <a:blip r:embed="rId2"/>
          <a:stretch>
            <a:fillRect/>
          </a:stretch>
        </p:blipFill>
        <p:spPr>
          <a:xfrm>
            <a:off x="746574" y="1272238"/>
            <a:ext cx="7695855" cy="4407012"/>
          </a:xfrm>
          <a:prstGeom prst="rect">
            <a:avLst/>
          </a:prstGeom>
        </p:spPr>
      </p:pic>
      <p:sp>
        <p:nvSpPr>
          <p:cNvPr id="2" name="Date Placeholder 1">
            <a:extLst>
              <a:ext uri="{FF2B5EF4-FFF2-40B4-BE49-F238E27FC236}">
                <a16:creationId xmlns:a16="http://schemas.microsoft.com/office/drawing/2014/main" id="{F73E16C1-7A32-B12D-B37F-FA553234CA96}"/>
              </a:ext>
            </a:extLst>
          </p:cNvPr>
          <p:cNvSpPr>
            <a:spLocks noGrp="1"/>
          </p:cNvSpPr>
          <p:nvPr>
            <p:ph type="dt" sz="half" idx="10"/>
          </p:nvPr>
        </p:nvSpPr>
        <p:spPr/>
        <p:txBody>
          <a:bodyPr/>
          <a:lstStyle/>
          <a:p>
            <a:pPr>
              <a:defRPr/>
            </a:pPr>
            <a:fld id="{0A9F492C-53F3-4972-A3FB-16B9910C977A}"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1CDD5422-0EEC-754C-C05E-6D3E9B71E6F4}"/>
              </a:ext>
            </a:extLst>
          </p:cNvPr>
          <p:cNvSpPr>
            <a:spLocks noGrp="1"/>
          </p:cNvSpPr>
          <p:nvPr>
            <p:ph type="sldNum" sz="quarter" idx="12"/>
          </p:nvPr>
        </p:nvSpPr>
        <p:spPr/>
        <p:txBody>
          <a:bodyPr/>
          <a:lstStyle/>
          <a:p>
            <a:pPr>
              <a:defRPr/>
            </a:pPr>
            <a:fld id="{937DAA19-78E2-454A-BF0A-AB51F6D45129}" type="slidenum">
              <a:rPr lang="en-US" altLang="en-US" smtClean="0"/>
              <a:pPr>
                <a:defRPr/>
              </a:pPr>
              <a:t>50</a:t>
            </a:fld>
            <a:endParaRPr lang="en-US" altLang="en-US"/>
          </a:p>
        </p:txBody>
      </p:sp>
    </p:spTree>
    <p:extLst>
      <p:ext uri="{BB962C8B-B14F-4D97-AF65-F5344CB8AC3E}">
        <p14:creationId xmlns:p14="http://schemas.microsoft.com/office/powerpoint/2010/main" val="1029280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3747A3-B51D-45A2-9A56-3F938705A56F}"/>
              </a:ext>
            </a:extLst>
          </p:cNvPr>
          <p:cNvSpPr>
            <a:spLocks noGrp="1"/>
          </p:cNvSpPr>
          <p:nvPr>
            <p:ph idx="1"/>
          </p:nvPr>
        </p:nvSpPr>
        <p:spPr>
          <a:xfrm>
            <a:off x="457200" y="1313765"/>
            <a:ext cx="8229600" cy="4812399"/>
          </a:xfrm>
        </p:spPr>
        <p:txBody>
          <a:bodyPr>
            <a:normAutofit/>
          </a:bodyPr>
          <a:lstStyle/>
          <a:p>
            <a:pPr algn="just"/>
            <a:r>
              <a:rPr lang="en-US" sz="2800" dirty="0"/>
              <a:t>Note that a number assigned to each parental vertex is larger than all the numbers in its left subtree and smaller than all the numbers in its right subtree</a:t>
            </a:r>
          </a:p>
          <a:p>
            <a:pPr algn="just"/>
            <a:endParaRPr lang="en-US" sz="2800" dirty="0"/>
          </a:p>
          <a:p>
            <a:pPr algn="just"/>
            <a:r>
              <a:rPr lang="en-US" sz="2800" dirty="0"/>
              <a:t>Such trees are called </a:t>
            </a:r>
            <a:r>
              <a:rPr lang="en-US" sz="2800" b="1" i="1" dirty="0"/>
              <a:t>binary search trees</a:t>
            </a:r>
            <a:endParaRPr lang="en-IN" sz="2800" dirty="0"/>
          </a:p>
        </p:txBody>
      </p:sp>
      <p:sp>
        <p:nvSpPr>
          <p:cNvPr id="2" name="Date Placeholder 1">
            <a:extLst>
              <a:ext uri="{FF2B5EF4-FFF2-40B4-BE49-F238E27FC236}">
                <a16:creationId xmlns:a16="http://schemas.microsoft.com/office/drawing/2014/main" id="{9AB827A4-89E9-2E3B-E7C1-4F27EF04B3E1}"/>
              </a:ext>
            </a:extLst>
          </p:cNvPr>
          <p:cNvSpPr>
            <a:spLocks noGrp="1"/>
          </p:cNvSpPr>
          <p:nvPr>
            <p:ph type="dt" sz="half" idx="10"/>
          </p:nvPr>
        </p:nvSpPr>
        <p:spPr/>
        <p:txBody>
          <a:bodyPr/>
          <a:lstStyle/>
          <a:p>
            <a:pPr>
              <a:defRPr/>
            </a:pPr>
            <a:fld id="{3C6B0017-F7A5-49E8-875E-E702A533C503}"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DF5170A7-4A0F-4749-9CE9-8894EAB76621}"/>
              </a:ext>
            </a:extLst>
          </p:cNvPr>
          <p:cNvSpPr>
            <a:spLocks noGrp="1"/>
          </p:cNvSpPr>
          <p:nvPr>
            <p:ph type="sldNum" sz="quarter" idx="12"/>
          </p:nvPr>
        </p:nvSpPr>
        <p:spPr/>
        <p:txBody>
          <a:bodyPr/>
          <a:lstStyle/>
          <a:p>
            <a:pPr>
              <a:defRPr/>
            </a:pPr>
            <a:fld id="{937DAA19-78E2-454A-BF0A-AB51F6D45129}" type="slidenum">
              <a:rPr lang="en-US" altLang="en-US" smtClean="0"/>
              <a:pPr>
                <a:defRPr/>
              </a:pPr>
              <a:t>51</a:t>
            </a:fld>
            <a:endParaRPr lang="en-US" altLang="en-US"/>
          </a:p>
        </p:txBody>
      </p:sp>
    </p:spTree>
    <p:extLst>
      <p:ext uri="{BB962C8B-B14F-4D97-AF65-F5344CB8AC3E}">
        <p14:creationId xmlns:p14="http://schemas.microsoft.com/office/powerpoint/2010/main" val="25546859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94FE6E-767C-46FF-A4A8-1D799BE901F6}"/>
              </a:ext>
            </a:extLst>
          </p:cNvPr>
          <p:cNvSpPr>
            <a:spLocks noGrp="1"/>
          </p:cNvSpPr>
          <p:nvPr>
            <p:ph idx="1"/>
          </p:nvPr>
        </p:nvSpPr>
        <p:spPr>
          <a:xfrm>
            <a:off x="457200" y="1133745"/>
            <a:ext cx="8229600" cy="4992419"/>
          </a:xfrm>
        </p:spPr>
        <p:txBody>
          <a:bodyPr/>
          <a:lstStyle/>
          <a:p>
            <a:r>
              <a:rPr lang="en-US" dirty="0"/>
              <a:t>The following inequalities for the height </a:t>
            </a:r>
            <a:r>
              <a:rPr lang="en-US" i="1" dirty="0"/>
              <a:t>h </a:t>
            </a:r>
            <a:r>
              <a:rPr lang="en-US" dirty="0"/>
              <a:t>of a binary tree with </a:t>
            </a:r>
            <a:r>
              <a:rPr lang="en-US" i="1" dirty="0"/>
              <a:t>n </a:t>
            </a:r>
            <a:r>
              <a:rPr lang="en-US" dirty="0"/>
              <a:t>nodes are especially important for analysis of such algorithms:</a:t>
            </a:r>
          </a:p>
          <a:p>
            <a:endParaRPr lang="en-IN" dirty="0"/>
          </a:p>
        </p:txBody>
      </p:sp>
      <p:pic>
        <p:nvPicPr>
          <p:cNvPr id="5" name="Picture 4">
            <a:extLst>
              <a:ext uri="{FF2B5EF4-FFF2-40B4-BE49-F238E27FC236}">
                <a16:creationId xmlns:a16="http://schemas.microsoft.com/office/drawing/2014/main" id="{EC550C23-F905-4573-A369-CAABF1C1A046}"/>
              </a:ext>
            </a:extLst>
          </p:cNvPr>
          <p:cNvPicPr>
            <a:picLocks noChangeAspect="1"/>
          </p:cNvPicPr>
          <p:nvPr/>
        </p:nvPicPr>
        <p:blipFill>
          <a:blip r:embed="rId2"/>
          <a:stretch>
            <a:fillRect/>
          </a:stretch>
        </p:blipFill>
        <p:spPr>
          <a:xfrm>
            <a:off x="1511660" y="3068960"/>
            <a:ext cx="6120679" cy="1602155"/>
          </a:xfrm>
          <a:prstGeom prst="rect">
            <a:avLst/>
          </a:prstGeom>
        </p:spPr>
      </p:pic>
      <p:sp>
        <p:nvSpPr>
          <p:cNvPr id="2" name="Date Placeholder 1">
            <a:extLst>
              <a:ext uri="{FF2B5EF4-FFF2-40B4-BE49-F238E27FC236}">
                <a16:creationId xmlns:a16="http://schemas.microsoft.com/office/drawing/2014/main" id="{30F6D90F-ADF0-895E-DF06-71CD16194B1B}"/>
              </a:ext>
            </a:extLst>
          </p:cNvPr>
          <p:cNvSpPr>
            <a:spLocks noGrp="1"/>
          </p:cNvSpPr>
          <p:nvPr>
            <p:ph type="dt" sz="half" idx="10"/>
          </p:nvPr>
        </p:nvSpPr>
        <p:spPr/>
        <p:txBody>
          <a:bodyPr/>
          <a:lstStyle/>
          <a:p>
            <a:pPr>
              <a:defRPr/>
            </a:pPr>
            <a:fld id="{E1622277-B517-4404-8E7C-5ADBA9EF02BD}"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CB512BE7-27D7-D1A0-0570-74A1B16D8981}"/>
              </a:ext>
            </a:extLst>
          </p:cNvPr>
          <p:cNvSpPr>
            <a:spLocks noGrp="1"/>
          </p:cNvSpPr>
          <p:nvPr>
            <p:ph type="sldNum" sz="quarter" idx="12"/>
          </p:nvPr>
        </p:nvSpPr>
        <p:spPr/>
        <p:txBody>
          <a:bodyPr/>
          <a:lstStyle/>
          <a:p>
            <a:pPr>
              <a:defRPr/>
            </a:pPr>
            <a:fld id="{937DAA19-78E2-454A-BF0A-AB51F6D45129}" type="slidenum">
              <a:rPr lang="en-US" altLang="en-US" smtClean="0"/>
              <a:pPr>
                <a:defRPr/>
              </a:pPr>
              <a:t>52</a:t>
            </a:fld>
            <a:endParaRPr lang="en-US" altLang="en-US"/>
          </a:p>
        </p:txBody>
      </p:sp>
    </p:spTree>
    <p:extLst>
      <p:ext uri="{BB962C8B-B14F-4D97-AF65-F5344CB8AC3E}">
        <p14:creationId xmlns:p14="http://schemas.microsoft.com/office/powerpoint/2010/main" val="41247268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5DB70B-42BF-4968-8A02-BD343D2D62AC}"/>
              </a:ext>
            </a:extLst>
          </p:cNvPr>
          <p:cNvSpPr>
            <a:spLocks noGrp="1"/>
          </p:cNvSpPr>
          <p:nvPr>
            <p:ph idx="1"/>
          </p:nvPr>
        </p:nvSpPr>
        <p:spPr>
          <a:xfrm>
            <a:off x="457199" y="908721"/>
            <a:ext cx="8686799" cy="5217444"/>
          </a:xfrm>
        </p:spPr>
        <p:txBody>
          <a:bodyPr/>
          <a:lstStyle/>
          <a:p>
            <a:pPr marL="0" indent="0">
              <a:buNone/>
            </a:pPr>
            <a:r>
              <a:rPr lang="en-IN" b="1" i="1" dirty="0"/>
              <a:t>First child–next sibling representation</a:t>
            </a:r>
            <a:r>
              <a:rPr lang="en-IN" dirty="0"/>
              <a:t>.</a:t>
            </a:r>
          </a:p>
          <a:p>
            <a:endParaRPr lang="en-IN" dirty="0"/>
          </a:p>
        </p:txBody>
      </p:sp>
      <p:pic>
        <p:nvPicPr>
          <p:cNvPr id="5" name="Picture 4">
            <a:extLst>
              <a:ext uri="{FF2B5EF4-FFF2-40B4-BE49-F238E27FC236}">
                <a16:creationId xmlns:a16="http://schemas.microsoft.com/office/drawing/2014/main" id="{269D2E73-EBEC-46B3-9F80-EFAB5CC9A872}"/>
              </a:ext>
            </a:extLst>
          </p:cNvPr>
          <p:cNvPicPr>
            <a:picLocks noChangeAspect="1"/>
          </p:cNvPicPr>
          <p:nvPr/>
        </p:nvPicPr>
        <p:blipFill>
          <a:blip r:embed="rId2"/>
          <a:stretch>
            <a:fillRect/>
          </a:stretch>
        </p:blipFill>
        <p:spPr>
          <a:xfrm>
            <a:off x="0" y="1943835"/>
            <a:ext cx="9143999" cy="3780420"/>
          </a:xfrm>
          <a:prstGeom prst="rect">
            <a:avLst/>
          </a:prstGeom>
        </p:spPr>
      </p:pic>
      <p:sp>
        <p:nvSpPr>
          <p:cNvPr id="2" name="Date Placeholder 1">
            <a:extLst>
              <a:ext uri="{FF2B5EF4-FFF2-40B4-BE49-F238E27FC236}">
                <a16:creationId xmlns:a16="http://schemas.microsoft.com/office/drawing/2014/main" id="{4887CDB7-A0B0-8A0C-0105-83BBDB2CA8D4}"/>
              </a:ext>
            </a:extLst>
          </p:cNvPr>
          <p:cNvSpPr>
            <a:spLocks noGrp="1"/>
          </p:cNvSpPr>
          <p:nvPr>
            <p:ph type="dt" sz="half" idx="10"/>
          </p:nvPr>
        </p:nvSpPr>
        <p:spPr/>
        <p:txBody>
          <a:bodyPr/>
          <a:lstStyle/>
          <a:p>
            <a:pPr>
              <a:defRPr/>
            </a:pPr>
            <a:fld id="{9465BD77-C263-4046-A1A9-918A4DF400F0}"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F69B5110-FA15-3BD8-B323-FC4AF2BB8ECB}"/>
              </a:ext>
            </a:extLst>
          </p:cNvPr>
          <p:cNvSpPr>
            <a:spLocks noGrp="1"/>
          </p:cNvSpPr>
          <p:nvPr>
            <p:ph type="sldNum" sz="quarter" idx="12"/>
          </p:nvPr>
        </p:nvSpPr>
        <p:spPr/>
        <p:txBody>
          <a:bodyPr/>
          <a:lstStyle/>
          <a:p>
            <a:pPr>
              <a:defRPr/>
            </a:pPr>
            <a:fld id="{937DAA19-78E2-454A-BF0A-AB51F6D45129}" type="slidenum">
              <a:rPr lang="en-US" altLang="en-US" smtClean="0"/>
              <a:pPr>
                <a:defRPr/>
              </a:pPr>
              <a:t>53</a:t>
            </a:fld>
            <a:endParaRPr lang="en-US" altLang="en-US"/>
          </a:p>
        </p:txBody>
      </p:sp>
    </p:spTree>
    <p:extLst>
      <p:ext uri="{BB962C8B-B14F-4D97-AF65-F5344CB8AC3E}">
        <p14:creationId xmlns:p14="http://schemas.microsoft.com/office/powerpoint/2010/main" val="31401334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85DF462-3FD9-48FA-80B5-24BD23AE23E1}"/>
              </a:ext>
            </a:extLst>
          </p:cNvPr>
          <p:cNvPicPr>
            <a:picLocks noChangeAspect="1"/>
          </p:cNvPicPr>
          <p:nvPr/>
        </p:nvPicPr>
        <p:blipFill>
          <a:blip r:embed="rId2"/>
          <a:stretch>
            <a:fillRect/>
          </a:stretch>
        </p:blipFill>
        <p:spPr>
          <a:xfrm>
            <a:off x="22153" y="1088740"/>
            <a:ext cx="9121847" cy="5154898"/>
          </a:xfrm>
          <a:prstGeom prst="rect">
            <a:avLst/>
          </a:prstGeom>
        </p:spPr>
      </p:pic>
      <p:sp>
        <p:nvSpPr>
          <p:cNvPr id="2" name="Date Placeholder 1">
            <a:extLst>
              <a:ext uri="{FF2B5EF4-FFF2-40B4-BE49-F238E27FC236}">
                <a16:creationId xmlns:a16="http://schemas.microsoft.com/office/drawing/2014/main" id="{349572B8-9AF7-2378-D057-D3CCFBB16CE8}"/>
              </a:ext>
            </a:extLst>
          </p:cNvPr>
          <p:cNvSpPr>
            <a:spLocks noGrp="1"/>
          </p:cNvSpPr>
          <p:nvPr>
            <p:ph type="dt" sz="half" idx="10"/>
          </p:nvPr>
        </p:nvSpPr>
        <p:spPr/>
        <p:txBody>
          <a:bodyPr/>
          <a:lstStyle/>
          <a:p>
            <a:pPr>
              <a:defRPr/>
            </a:pPr>
            <a:fld id="{1A89308A-2C6E-407B-BEFC-A9BC9154626E}"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6AFCBEA6-1FD3-9B08-0C52-0D244A7B3235}"/>
              </a:ext>
            </a:extLst>
          </p:cNvPr>
          <p:cNvSpPr>
            <a:spLocks noGrp="1"/>
          </p:cNvSpPr>
          <p:nvPr>
            <p:ph type="sldNum" sz="quarter" idx="12"/>
          </p:nvPr>
        </p:nvSpPr>
        <p:spPr/>
        <p:txBody>
          <a:bodyPr/>
          <a:lstStyle/>
          <a:p>
            <a:pPr>
              <a:defRPr/>
            </a:pPr>
            <a:fld id="{937DAA19-78E2-454A-BF0A-AB51F6D45129}" type="slidenum">
              <a:rPr lang="en-US" altLang="en-US" smtClean="0"/>
              <a:pPr>
                <a:defRPr/>
              </a:pPr>
              <a:t>54</a:t>
            </a:fld>
            <a:endParaRPr lang="en-US" altLang="en-US"/>
          </a:p>
        </p:txBody>
      </p:sp>
    </p:spTree>
    <p:extLst>
      <p:ext uri="{BB962C8B-B14F-4D97-AF65-F5344CB8AC3E}">
        <p14:creationId xmlns:p14="http://schemas.microsoft.com/office/powerpoint/2010/main" val="42380791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4F9A9-1A42-4F9C-8AF3-ED5EB399F798}"/>
              </a:ext>
            </a:extLst>
          </p:cNvPr>
          <p:cNvSpPr>
            <a:spLocks noGrp="1"/>
          </p:cNvSpPr>
          <p:nvPr>
            <p:ph type="title"/>
          </p:nvPr>
        </p:nvSpPr>
        <p:spPr/>
        <p:txBody>
          <a:bodyPr/>
          <a:lstStyle/>
          <a:p>
            <a:r>
              <a:rPr lang="en-IN" dirty="0"/>
              <a:t>Sets and Dictionaries</a:t>
            </a:r>
          </a:p>
        </p:txBody>
      </p:sp>
      <p:sp>
        <p:nvSpPr>
          <p:cNvPr id="3" name="Content Placeholder 2">
            <a:extLst>
              <a:ext uri="{FF2B5EF4-FFF2-40B4-BE49-F238E27FC236}">
                <a16:creationId xmlns:a16="http://schemas.microsoft.com/office/drawing/2014/main" id="{78841572-CC81-4FC4-B93E-49901EA63769}"/>
              </a:ext>
            </a:extLst>
          </p:cNvPr>
          <p:cNvSpPr>
            <a:spLocks noGrp="1"/>
          </p:cNvSpPr>
          <p:nvPr>
            <p:ph idx="1"/>
          </p:nvPr>
        </p:nvSpPr>
        <p:spPr>
          <a:xfrm>
            <a:off x="296525" y="1538790"/>
            <a:ext cx="8229600" cy="4525963"/>
          </a:xfrm>
        </p:spPr>
        <p:txBody>
          <a:bodyPr>
            <a:normAutofit/>
          </a:bodyPr>
          <a:lstStyle/>
          <a:p>
            <a:pPr algn="just"/>
            <a:r>
              <a:rPr lang="en-US" sz="2800" dirty="0"/>
              <a:t>A </a:t>
            </a:r>
            <a:r>
              <a:rPr lang="en-US" sz="2800" b="1" i="1" dirty="0"/>
              <a:t>set </a:t>
            </a:r>
            <a:r>
              <a:rPr lang="en-US" sz="2800" dirty="0"/>
              <a:t>can be described as an unordered collection (possibly empty) of distinct items called </a:t>
            </a:r>
            <a:r>
              <a:rPr lang="en-US" sz="2800" b="1" i="1" dirty="0"/>
              <a:t>elements </a:t>
            </a:r>
            <a:r>
              <a:rPr lang="en-US" sz="2800" dirty="0"/>
              <a:t>of the set</a:t>
            </a:r>
          </a:p>
          <a:p>
            <a:pPr algn="just"/>
            <a:endParaRPr lang="en-US" sz="2800" dirty="0"/>
          </a:p>
          <a:p>
            <a:pPr algn="just"/>
            <a:r>
              <a:rPr lang="en-US" sz="2800" dirty="0"/>
              <a:t>A specific set is defined either by an explicit listing of its elements (e.g., </a:t>
            </a:r>
            <a:r>
              <a:rPr lang="en-US" sz="2800" i="1" dirty="0"/>
              <a:t>S </a:t>
            </a:r>
            <a:r>
              <a:rPr lang="en-US" sz="2800" dirty="0"/>
              <a:t>= {2</a:t>
            </a:r>
            <a:r>
              <a:rPr lang="en-US" sz="2800" i="1" dirty="0"/>
              <a:t>, </a:t>
            </a:r>
            <a:r>
              <a:rPr lang="en-US" sz="2800" dirty="0"/>
              <a:t>3</a:t>
            </a:r>
            <a:r>
              <a:rPr lang="en-US" sz="2800" i="1" dirty="0"/>
              <a:t>, </a:t>
            </a:r>
            <a:r>
              <a:rPr lang="en-US" sz="2800" dirty="0"/>
              <a:t>5, 7}</a:t>
            </a:r>
            <a:r>
              <a:rPr lang="en-US" sz="2800" i="1" dirty="0"/>
              <a:t>) </a:t>
            </a:r>
            <a:r>
              <a:rPr lang="en-US" sz="2800" dirty="0"/>
              <a:t>or by specifying a property that all the set’s elements and only they must satisfy (e.g., </a:t>
            </a:r>
            <a:r>
              <a:rPr lang="en-US" sz="2800" i="1" dirty="0"/>
              <a:t>S </a:t>
            </a:r>
            <a:r>
              <a:rPr lang="en-US" sz="2800" dirty="0"/>
              <a:t>= {</a:t>
            </a:r>
            <a:r>
              <a:rPr lang="en-US" sz="2800" i="1" dirty="0"/>
              <a:t>n</a:t>
            </a:r>
            <a:r>
              <a:rPr lang="en-US" sz="2800" dirty="0"/>
              <a:t>: </a:t>
            </a:r>
            <a:r>
              <a:rPr lang="en-US" sz="2800" i="1" dirty="0"/>
              <a:t>n </a:t>
            </a:r>
            <a:r>
              <a:rPr lang="en-US" sz="2800" dirty="0"/>
              <a:t>is a prime number smaller than 10}).</a:t>
            </a:r>
            <a:endParaRPr lang="en-IN" sz="2800" dirty="0"/>
          </a:p>
        </p:txBody>
      </p:sp>
      <p:sp>
        <p:nvSpPr>
          <p:cNvPr id="4" name="Date Placeholder 3">
            <a:extLst>
              <a:ext uri="{FF2B5EF4-FFF2-40B4-BE49-F238E27FC236}">
                <a16:creationId xmlns:a16="http://schemas.microsoft.com/office/drawing/2014/main" id="{50AFAE99-73FF-2A20-5854-2EBE8BDA4BD3}"/>
              </a:ext>
            </a:extLst>
          </p:cNvPr>
          <p:cNvSpPr>
            <a:spLocks noGrp="1"/>
          </p:cNvSpPr>
          <p:nvPr>
            <p:ph type="dt" sz="half" idx="10"/>
          </p:nvPr>
        </p:nvSpPr>
        <p:spPr/>
        <p:txBody>
          <a:bodyPr/>
          <a:lstStyle/>
          <a:p>
            <a:pPr>
              <a:defRPr/>
            </a:pPr>
            <a:fld id="{5D4AADD9-033D-4356-BEA1-7156FF048501}" type="datetime2">
              <a:rPr lang="en-US" smtClean="0"/>
              <a:t>Wednesday, January 22, 2025</a:t>
            </a:fld>
            <a:endParaRPr lang="en-US" altLang="en-US"/>
          </a:p>
        </p:txBody>
      </p:sp>
      <p:sp>
        <p:nvSpPr>
          <p:cNvPr id="5" name="Slide Number Placeholder 4">
            <a:extLst>
              <a:ext uri="{FF2B5EF4-FFF2-40B4-BE49-F238E27FC236}">
                <a16:creationId xmlns:a16="http://schemas.microsoft.com/office/drawing/2014/main" id="{A5DCE6F3-F862-15C2-D6B0-7280CEC4144E}"/>
              </a:ext>
            </a:extLst>
          </p:cNvPr>
          <p:cNvSpPr>
            <a:spLocks noGrp="1"/>
          </p:cNvSpPr>
          <p:nvPr>
            <p:ph type="sldNum" sz="quarter" idx="12"/>
          </p:nvPr>
        </p:nvSpPr>
        <p:spPr/>
        <p:txBody>
          <a:bodyPr/>
          <a:lstStyle/>
          <a:p>
            <a:pPr>
              <a:defRPr/>
            </a:pPr>
            <a:fld id="{937DAA19-78E2-454A-BF0A-AB51F6D45129}" type="slidenum">
              <a:rPr lang="en-US" altLang="en-US" smtClean="0"/>
              <a:pPr>
                <a:defRPr/>
              </a:pPr>
              <a:t>55</a:t>
            </a:fld>
            <a:endParaRPr lang="en-US" altLang="en-US"/>
          </a:p>
        </p:txBody>
      </p:sp>
    </p:spTree>
    <p:extLst>
      <p:ext uri="{BB962C8B-B14F-4D97-AF65-F5344CB8AC3E}">
        <p14:creationId xmlns:p14="http://schemas.microsoft.com/office/powerpoint/2010/main" val="25042269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067C8B-CA81-42CE-9876-FA771485A618}"/>
              </a:ext>
            </a:extLst>
          </p:cNvPr>
          <p:cNvSpPr>
            <a:spLocks noGrp="1"/>
          </p:cNvSpPr>
          <p:nvPr>
            <p:ph idx="1"/>
          </p:nvPr>
        </p:nvSpPr>
        <p:spPr>
          <a:xfrm>
            <a:off x="457200" y="1178751"/>
            <a:ext cx="8229600" cy="4947414"/>
          </a:xfrm>
        </p:spPr>
        <p:txBody>
          <a:bodyPr/>
          <a:lstStyle/>
          <a:p>
            <a:pPr marL="0" indent="0" algn="just">
              <a:buNone/>
            </a:pPr>
            <a:endParaRPr lang="en-IN" dirty="0"/>
          </a:p>
          <a:p>
            <a:pPr marL="0" indent="0" algn="just">
              <a:buNone/>
            </a:pPr>
            <a:r>
              <a:rPr lang="en-IN" dirty="0"/>
              <a:t>The most important set </a:t>
            </a:r>
            <a:r>
              <a:rPr lang="en-US" dirty="0"/>
              <a:t>operations are: checking membership of a given item in a given set; finding the union of two sets, which comprises all the elements in either or both of them; and finding the intersection of two sets, which comprises all the common elements in </a:t>
            </a:r>
            <a:r>
              <a:rPr lang="en-IN" dirty="0"/>
              <a:t>the sets</a:t>
            </a:r>
          </a:p>
        </p:txBody>
      </p:sp>
      <p:sp>
        <p:nvSpPr>
          <p:cNvPr id="2" name="Date Placeholder 1">
            <a:extLst>
              <a:ext uri="{FF2B5EF4-FFF2-40B4-BE49-F238E27FC236}">
                <a16:creationId xmlns:a16="http://schemas.microsoft.com/office/drawing/2014/main" id="{ABA84525-589B-74F5-6067-FCD897C15C17}"/>
              </a:ext>
            </a:extLst>
          </p:cNvPr>
          <p:cNvSpPr>
            <a:spLocks noGrp="1"/>
          </p:cNvSpPr>
          <p:nvPr>
            <p:ph type="dt" sz="half" idx="10"/>
          </p:nvPr>
        </p:nvSpPr>
        <p:spPr/>
        <p:txBody>
          <a:bodyPr/>
          <a:lstStyle/>
          <a:p>
            <a:pPr>
              <a:defRPr/>
            </a:pPr>
            <a:fld id="{F1582238-9903-44A1-AC33-BA6316DE1902}"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CE8499C6-0414-E2DD-DDDD-E76E4D58A1D6}"/>
              </a:ext>
            </a:extLst>
          </p:cNvPr>
          <p:cNvSpPr>
            <a:spLocks noGrp="1"/>
          </p:cNvSpPr>
          <p:nvPr>
            <p:ph type="sldNum" sz="quarter" idx="12"/>
          </p:nvPr>
        </p:nvSpPr>
        <p:spPr/>
        <p:txBody>
          <a:bodyPr/>
          <a:lstStyle/>
          <a:p>
            <a:pPr>
              <a:defRPr/>
            </a:pPr>
            <a:fld id="{937DAA19-78E2-454A-BF0A-AB51F6D45129}" type="slidenum">
              <a:rPr lang="en-US" altLang="en-US" smtClean="0"/>
              <a:pPr>
                <a:defRPr/>
              </a:pPr>
              <a:t>56</a:t>
            </a:fld>
            <a:endParaRPr lang="en-US" altLang="en-US"/>
          </a:p>
        </p:txBody>
      </p:sp>
    </p:spTree>
    <p:extLst>
      <p:ext uri="{BB962C8B-B14F-4D97-AF65-F5344CB8AC3E}">
        <p14:creationId xmlns:p14="http://schemas.microsoft.com/office/powerpoint/2010/main" val="4744139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B495A7-EE85-4A00-94FA-ADE9430DEE2B}"/>
              </a:ext>
            </a:extLst>
          </p:cNvPr>
          <p:cNvSpPr>
            <a:spLocks noGrp="1"/>
          </p:cNvSpPr>
          <p:nvPr>
            <p:ph idx="1"/>
          </p:nvPr>
        </p:nvSpPr>
        <p:spPr>
          <a:xfrm>
            <a:off x="457200" y="932790"/>
            <a:ext cx="8229600" cy="4992419"/>
          </a:xfrm>
        </p:spPr>
        <p:txBody>
          <a:bodyPr>
            <a:normAutofit/>
          </a:bodyPr>
          <a:lstStyle/>
          <a:p>
            <a:pPr algn="just"/>
            <a:r>
              <a:rPr lang="en-US" sz="2800" dirty="0"/>
              <a:t>Sets can be implemented in computer applications in two ways</a:t>
            </a:r>
          </a:p>
          <a:p>
            <a:pPr algn="just"/>
            <a:endParaRPr lang="en-US" sz="2800" dirty="0"/>
          </a:p>
          <a:p>
            <a:pPr algn="just"/>
            <a:r>
              <a:rPr lang="en-US" sz="2800" dirty="0"/>
              <a:t>The first considers only sets that are subsets of some large set </a:t>
            </a:r>
            <a:r>
              <a:rPr lang="en-US" sz="2800" i="1" dirty="0"/>
              <a:t>U, </a:t>
            </a:r>
            <a:r>
              <a:rPr lang="en-US" sz="2800" dirty="0"/>
              <a:t>called the </a:t>
            </a:r>
            <a:r>
              <a:rPr lang="en-US" sz="2800" b="1" i="1" dirty="0"/>
              <a:t>universal set</a:t>
            </a:r>
          </a:p>
          <a:p>
            <a:pPr algn="just"/>
            <a:endParaRPr lang="en-US" sz="2800" b="1" i="1" dirty="0"/>
          </a:p>
          <a:p>
            <a:pPr algn="just"/>
            <a:r>
              <a:rPr lang="en-US" sz="2800" dirty="0"/>
              <a:t>If set </a:t>
            </a:r>
            <a:r>
              <a:rPr lang="en-US" sz="2800" i="1" dirty="0"/>
              <a:t>U </a:t>
            </a:r>
            <a:r>
              <a:rPr lang="en-US" sz="2800" dirty="0"/>
              <a:t>has </a:t>
            </a:r>
            <a:r>
              <a:rPr lang="en-US" sz="2800" i="1" dirty="0"/>
              <a:t>n </a:t>
            </a:r>
            <a:r>
              <a:rPr lang="en-US" sz="2800" dirty="0"/>
              <a:t>elements, then any subset </a:t>
            </a:r>
            <a:r>
              <a:rPr lang="en-US" sz="2800" i="1" dirty="0"/>
              <a:t>S </a:t>
            </a:r>
            <a:r>
              <a:rPr lang="en-US" sz="2800" dirty="0"/>
              <a:t>of </a:t>
            </a:r>
            <a:r>
              <a:rPr lang="en-US" sz="2800" i="1" dirty="0"/>
              <a:t>U </a:t>
            </a:r>
            <a:r>
              <a:rPr lang="en-US" sz="2800" dirty="0"/>
              <a:t>can be represented by a bit string of size </a:t>
            </a:r>
            <a:r>
              <a:rPr lang="en-US" sz="2800" i="1" dirty="0"/>
              <a:t>n, </a:t>
            </a:r>
            <a:r>
              <a:rPr lang="en-US" sz="2800" dirty="0"/>
              <a:t>called a </a:t>
            </a:r>
            <a:r>
              <a:rPr lang="en-US" sz="2800" b="1" i="1" dirty="0"/>
              <a:t>bit vector</a:t>
            </a:r>
            <a:r>
              <a:rPr lang="en-US" sz="2800" dirty="0"/>
              <a:t>, in which the </a:t>
            </a:r>
            <a:r>
              <a:rPr lang="en-US" sz="2800" i="1" dirty="0" err="1"/>
              <a:t>i</a:t>
            </a:r>
            <a:r>
              <a:rPr lang="en-US" sz="2800" dirty="0" err="1"/>
              <a:t>th</a:t>
            </a:r>
            <a:r>
              <a:rPr lang="en-US" sz="2800" dirty="0"/>
              <a:t> element is 1 if and only if the </a:t>
            </a:r>
            <a:r>
              <a:rPr lang="en-US" sz="2800" i="1" dirty="0" err="1"/>
              <a:t>i</a:t>
            </a:r>
            <a:r>
              <a:rPr lang="en-US" sz="2800" dirty="0" err="1"/>
              <a:t>th</a:t>
            </a:r>
            <a:r>
              <a:rPr lang="en-US" sz="2800" dirty="0"/>
              <a:t> element of </a:t>
            </a:r>
            <a:r>
              <a:rPr lang="en-US" sz="2800" i="1" dirty="0"/>
              <a:t>U </a:t>
            </a:r>
            <a:r>
              <a:rPr lang="en-US" sz="2800" dirty="0"/>
              <a:t>is included in set </a:t>
            </a:r>
            <a:r>
              <a:rPr lang="en-US" sz="2800" i="1" dirty="0"/>
              <a:t>S</a:t>
            </a:r>
            <a:endParaRPr lang="en-IN" sz="2800" dirty="0"/>
          </a:p>
        </p:txBody>
      </p:sp>
      <p:sp>
        <p:nvSpPr>
          <p:cNvPr id="2" name="Date Placeholder 1">
            <a:extLst>
              <a:ext uri="{FF2B5EF4-FFF2-40B4-BE49-F238E27FC236}">
                <a16:creationId xmlns:a16="http://schemas.microsoft.com/office/drawing/2014/main" id="{BA6B6610-0EE9-9FD2-EA13-B0B835FED316}"/>
              </a:ext>
            </a:extLst>
          </p:cNvPr>
          <p:cNvSpPr>
            <a:spLocks noGrp="1"/>
          </p:cNvSpPr>
          <p:nvPr>
            <p:ph type="dt" sz="half" idx="10"/>
          </p:nvPr>
        </p:nvSpPr>
        <p:spPr/>
        <p:txBody>
          <a:bodyPr/>
          <a:lstStyle/>
          <a:p>
            <a:pPr>
              <a:defRPr/>
            </a:pPr>
            <a:fld id="{FB14047A-F69F-4E8E-BEE6-4ED5666FE728}"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59332E7A-18C8-C4EF-1B20-B76C59591684}"/>
              </a:ext>
            </a:extLst>
          </p:cNvPr>
          <p:cNvSpPr>
            <a:spLocks noGrp="1"/>
          </p:cNvSpPr>
          <p:nvPr>
            <p:ph type="sldNum" sz="quarter" idx="12"/>
          </p:nvPr>
        </p:nvSpPr>
        <p:spPr/>
        <p:txBody>
          <a:bodyPr/>
          <a:lstStyle/>
          <a:p>
            <a:pPr>
              <a:defRPr/>
            </a:pPr>
            <a:fld id="{937DAA19-78E2-454A-BF0A-AB51F6D45129}" type="slidenum">
              <a:rPr lang="en-US" altLang="en-US" smtClean="0"/>
              <a:pPr>
                <a:defRPr/>
              </a:pPr>
              <a:t>57</a:t>
            </a:fld>
            <a:endParaRPr lang="en-US" altLang="en-US"/>
          </a:p>
        </p:txBody>
      </p:sp>
    </p:spTree>
    <p:extLst>
      <p:ext uri="{BB962C8B-B14F-4D97-AF65-F5344CB8AC3E}">
        <p14:creationId xmlns:p14="http://schemas.microsoft.com/office/powerpoint/2010/main" val="40417488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9B02B9-D30C-448C-84AB-6A1206DE7385}"/>
              </a:ext>
            </a:extLst>
          </p:cNvPr>
          <p:cNvSpPr>
            <a:spLocks noGrp="1"/>
          </p:cNvSpPr>
          <p:nvPr>
            <p:ph idx="1"/>
          </p:nvPr>
        </p:nvSpPr>
        <p:spPr>
          <a:xfrm>
            <a:off x="457200" y="1022800"/>
            <a:ext cx="8229600" cy="4812400"/>
          </a:xfrm>
        </p:spPr>
        <p:txBody>
          <a:bodyPr>
            <a:normAutofit fontScale="92500" lnSpcReduction="10000"/>
          </a:bodyPr>
          <a:lstStyle/>
          <a:p>
            <a:pPr algn="just"/>
            <a:r>
              <a:rPr lang="en-US" sz="2800" dirty="0"/>
              <a:t>Thus, to continue with our example, if </a:t>
            </a:r>
            <a:r>
              <a:rPr lang="en-US" sz="2800" i="1" dirty="0"/>
              <a:t>U </a:t>
            </a:r>
            <a:r>
              <a:rPr lang="en-US" sz="2800" dirty="0"/>
              <a:t>= {1</a:t>
            </a:r>
            <a:r>
              <a:rPr lang="en-US" sz="2800" i="1" dirty="0"/>
              <a:t>, </a:t>
            </a:r>
            <a:r>
              <a:rPr lang="en-US" sz="2800" dirty="0"/>
              <a:t>2</a:t>
            </a:r>
            <a:r>
              <a:rPr lang="en-US" sz="2800" i="1" dirty="0"/>
              <a:t>, </a:t>
            </a:r>
            <a:r>
              <a:rPr lang="en-US" sz="2800" dirty="0"/>
              <a:t>3</a:t>
            </a:r>
            <a:r>
              <a:rPr lang="en-US" sz="2800" i="1" dirty="0"/>
              <a:t>, </a:t>
            </a:r>
            <a:r>
              <a:rPr lang="en-US" sz="2800" dirty="0"/>
              <a:t>4</a:t>
            </a:r>
            <a:r>
              <a:rPr lang="en-US" sz="2800" i="1" dirty="0"/>
              <a:t>, </a:t>
            </a:r>
            <a:r>
              <a:rPr lang="en-US" sz="2800" dirty="0"/>
              <a:t>5</a:t>
            </a:r>
            <a:r>
              <a:rPr lang="en-US" sz="2800" i="1" dirty="0"/>
              <a:t>, </a:t>
            </a:r>
            <a:r>
              <a:rPr lang="en-US" sz="2800" dirty="0"/>
              <a:t>6</a:t>
            </a:r>
            <a:r>
              <a:rPr lang="en-US" sz="2800" i="1" dirty="0"/>
              <a:t>, </a:t>
            </a:r>
            <a:r>
              <a:rPr lang="en-US" sz="2800" dirty="0"/>
              <a:t>7</a:t>
            </a:r>
            <a:r>
              <a:rPr lang="en-US" sz="2800" i="1" dirty="0"/>
              <a:t>, </a:t>
            </a:r>
            <a:r>
              <a:rPr lang="en-US" sz="2800" dirty="0"/>
              <a:t>8</a:t>
            </a:r>
            <a:r>
              <a:rPr lang="en-US" sz="2800" i="1" dirty="0"/>
              <a:t>, </a:t>
            </a:r>
            <a:r>
              <a:rPr lang="en-US" sz="2800" dirty="0"/>
              <a:t>9}</a:t>
            </a:r>
            <a:r>
              <a:rPr lang="en-US" sz="2800" i="1" dirty="0"/>
              <a:t>, </a:t>
            </a:r>
            <a:r>
              <a:rPr lang="en-US" sz="2800" dirty="0"/>
              <a:t>then </a:t>
            </a:r>
            <a:r>
              <a:rPr lang="en-US" sz="2800" i="1" dirty="0"/>
              <a:t>S </a:t>
            </a:r>
            <a:r>
              <a:rPr lang="en-US" sz="2800" dirty="0"/>
              <a:t>= {2</a:t>
            </a:r>
            <a:r>
              <a:rPr lang="en-US" sz="2800" i="1" dirty="0"/>
              <a:t>, </a:t>
            </a:r>
            <a:r>
              <a:rPr lang="en-US" sz="2800" dirty="0"/>
              <a:t>3</a:t>
            </a:r>
            <a:r>
              <a:rPr lang="en-US" sz="2800" i="1" dirty="0"/>
              <a:t>, </a:t>
            </a:r>
            <a:r>
              <a:rPr lang="en-US" sz="2800" dirty="0"/>
              <a:t>5, 7} is represented by the bit string 011010100</a:t>
            </a:r>
          </a:p>
          <a:p>
            <a:pPr algn="just"/>
            <a:endParaRPr lang="en-US" sz="2800" dirty="0"/>
          </a:p>
          <a:p>
            <a:pPr algn="just"/>
            <a:r>
              <a:rPr lang="en-US" sz="2800" dirty="0"/>
              <a:t>This way of representing sets makes it possible to implement the standard set operations very fast, but at the expense of potentially using a large </a:t>
            </a:r>
            <a:r>
              <a:rPr lang="en-IN" sz="2800" dirty="0"/>
              <a:t>amount of storage</a:t>
            </a:r>
          </a:p>
          <a:p>
            <a:pPr algn="just"/>
            <a:endParaRPr lang="en-US" sz="2800" dirty="0"/>
          </a:p>
          <a:p>
            <a:r>
              <a:rPr lang="en-US" sz="2800" dirty="0"/>
              <a:t>The second and more common way to represent a set for computing purposes is to use the list structure to indicate the set’s elements</a:t>
            </a:r>
            <a:endParaRPr lang="en-IN" sz="2800" dirty="0"/>
          </a:p>
          <a:p>
            <a:pPr algn="just"/>
            <a:endParaRPr lang="en-IN" sz="2800" dirty="0"/>
          </a:p>
        </p:txBody>
      </p:sp>
      <p:sp>
        <p:nvSpPr>
          <p:cNvPr id="2" name="Date Placeholder 1">
            <a:extLst>
              <a:ext uri="{FF2B5EF4-FFF2-40B4-BE49-F238E27FC236}">
                <a16:creationId xmlns:a16="http://schemas.microsoft.com/office/drawing/2014/main" id="{D25B3623-1384-09DD-DF21-F23270D2CEE2}"/>
              </a:ext>
            </a:extLst>
          </p:cNvPr>
          <p:cNvSpPr>
            <a:spLocks noGrp="1"/>
          </p:cNvSpPr>
          <p:nvPr>
            <p:ph type="dt" sz="half" idx="10"/>
          </p:nvPr>
        </p:nvSpPr>
        <p:spPr/>
        <p:txBody>
          <a:bodyPr/>
          <a:lstStyle/>
          <a:p>
            <a:pPr>
              <a:defRPr/>
            </a:pPr>
            <a:fld id="{73B51EA5-C24B-4E46-A648-E3EF8E525889}"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0B8E2CD4-249F-8320-C435-35FA194852AA}"/>
              </a:ext>
            </a:extLst>
          </p:cNvPr>
          <p:cNvSpPr>
            <a:spLocks noGrp="1"/>
          </p:cNvSpPr>
          <p:nvPr>
            <p:ph type="sldNum" sz="quarter" idx="12"/>
          </p:nvPr>
        </p:nvSpPr>
        <p:spPr/>
        <p:txBody>
          <a:bodyPr/>
          <a:lstStyle/>
          <a:p>
            <a:pPr>
              <a:defRPr/>
            </a:pPr>
            <a:fld id="{937DAA19-78E2-454A-BF0A-AB51F6D45129}" type="slidenum">
              <a:rPr lang="en-US" altLang="en-US" smtClean="0"/>
              <a:pPr>
                <a:defRPr/>
              </a:pPr>
              <a:t>58</a:t>
            </a:fld>
            <a:endParaRPr lang="en-US" altLang="en-US"/>
          </a:p>
        </p:txBody>
      </p:sp>
    </p:spTree>
    <p:extLst>
      <p:ext uri="{BB962C8B-B14F-4D97-AF65-F5344CB8AC3E}">
        <p14:creationId xmlns:p14="http://schemas.microsoft.com/office/powerpoint/2010/main" val="31681947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0DFD5B-B7AB-495A-B70E-3DEBA0F9E027}"/>
              </a:ext>
            </a:extLst>
          </p:cNvPr>
          <p:cNvSpPr>
            <a:spLocks noGrp="1"/>
          </p:cNvSpPr>
          <p:nvPr>
            <p:ph idx="1"/>
          </p:nvPr>
        </p:nvSpPr>
        <p:spPr>
          <a:xfrm>
            <a:off x="457199" y="887785"/>
            <a:ext cx="8390275" cy="5082429"/>
          </a:xfrm>
        </p:spPr>
        <p:txBody>
          <a:bodyPr>
            <a:noAutofit/>
          </a:bodyPr>
          <a:lstStyle/>
          <a:p>
            <a:pPr marL="0" indent="0" algn="just">
              <a:buNone/>
            </a:pPr>
            <a:r>
              <a:rPr lang="en-US" sz="2800" dirty="0"/>
              <a:t>The two principal points of distinction between sets and lists:</a:t>
            </a:r>
          </a:p>
          <a:p>
            <a:pPr algn="just"/>
            <a:endParaRPr lang="en-US" sz="2800" dirty="0"/>
          </a:p>
          <a:p>
            <a:pPr algn="just"/>
            <a:r>
              <a:rPr lang="en-US" sz="2800" dirty="0"/>
              <a:t>First, a set cannot contain identical elements; </a:t>
            </a:r>
            <a:r>
              <a:rPr lang="en-IN" sz="2800" dirty="0"/>
              <a:t>a list can</a:t>
            </a:r>
          </a:p>
          <a:p>
            <a:pPr algn="just"/>
            <a:endParaRPr lang="en-IN" sz="2800" dirty="0"/>
          </a:p>
          <a:p>
            <a:pPr algn="just"/>
            <a:r>
              <a:rPr lang="en-US" sz="2800" dirty="0"/>
              <a:t>Second, a set is an unordered collection of items; therefore, changing the order of its elements does not change the set</a:t>
            </a:r>
          </a:p>
          <a:p>
            <a:pPr algn="just"/>
            <a:endParaRPr lang="en-US" sz="2800" dirty="0"/>
          </a:p>
          <a:p>
            <a:pPr algn="just"/>
            <a:r>
              <a:rPr lang="en-US" sz="2800" dirty="0"/>
              <a:t>A list, defined as an ordered collection of items, is exactly the opposite</a:t>
            </a:r>
            <a:endParaRPr lang="en-IN" sz="2800" dirty="0"/>
          </a:p>
        </p:txBody>
      </p:sp>
      <p:sp>
        <p:nvSpPr>
          <p:cNvPr id="2" name="Date Placeholder 1">
            <a:extLst>
              <a:ext uri="{FF2B5EF4-FFF2-40B4-BE49-F238E27FC236}">
                <a16:creationId xmlns:a16="http://schemas.microsoft.com/office/drawing/2014/main" id="{5CF50673-2AE4-86EA-1BA9-E70EAB7575EA}"/>
              </a:ext>
            </a:extLst>
          </p:cNvPr>
          <p:cNvSpPr>
            <a:spLocks noGrp="1"/>
          </p:cNvSpPr>
          <p:nvPr>
            <p:ph type="dt" sz="half" idx="10"/>
          </p:nvPr>
        </p:nvSpPr>
        <p:spPr/>
        <p:txBody>
          <a:bodyPr/>
          <a:lstStyle/>
          <a:p>
            <a:pPr>
              <a:defRPr/>
            </a:pPr>
            <a:fld id="{74DE3E7C-4A91-4BD0-94D0-0CF287A6E514}"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E941FEDD-AD21-51B4-7D90-C586330F32D3}"/>
              </a:ext>
            </a:extLst>
          </p:cNvPr>
          <p:cNvSpPr>
            <a:spLocks noGrp="1"/>
          </p:cNvSpPr>
          <p:nvPr>
            <p:ph type="sldNum" sz="quarter" idx="12"/>
          </p:nvPr>
        </p:nvSpPr>
        <p:spPr/>
        <p:txBody>
          <a:bodyPr/>
          <a:lstStyle/>
          <a:p>
            <a:pPr>
              <a:defRPr/>
            </a:pPr>
            <a:fld id="{937DAA19-78E2-454A-BF0A-AB51F6D45129}" type="slidenum">
              <a:rPr lang="en-US" altLang="en-US" smtClean="0"/>
              <a:pPr>
                <a:defRPr/>
              </a:pPr>
              <a:t>59</a:t>
            </a:fld>
            <a:endParaRPr lang="en-US" altLang="en-US"/>
          </a:p>
        </p:txBody>
      </p:sp>
    </p:spTree>
    <p:extLst>
      <p:ext uri="{BB962C8B-B14F-4D97-AF65-F5344CB8AC3E}">
        <p14:creationId xmlns:p14="http://schemas.microsoft.com/office/powerpoint/2010/main" val="22772189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D406D-A896-457A-BB07-E43D36780D0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5260E78-E065-4F40-8B3F-0E342F8447E1}"/>
              </a:ext>
            </a:extLst>
          </p:cNvPr>
          <p:cNvSpPr>
            <a:spLocks noGrp="1"/>
          </p:cNvSpPr>
          <p:nvPr>
            <p:ph idx="1"/>
          </p:nvPr>
        </p:nvSpPr>
        <p:spPr/>
        <p:txBody>
          <a:bodyPr/>
          <a:lstStyle/>
          <a:p>
            <a:r>
              <a:rPr lang="en-US" b="1" i="1" dirty="0"/>
              <a:t>multiset</a:t>
            </a:r>
            <a:r>
              <a:rPr lang="en-US" dirty="0"/>
              <a:t>, or </a:t>
            </a:r>
            <a:r>
              <a:rPr lang="en-US" b="1" i="1" dirty="0"/>
              <a:t>bag</a:t>
            </a:r>
            <a:r>
              <a:rPr lang="en-US" dirty="0"/>
              <a:t>, is an unordered collection of items that are not </a:t>
            </a:r>
            <a:r>
              <a:rPr lang="en-IN" dirty="0"/>
              <a:t>necessarily distinct</a:t>
            </a:r>
          </a:p>
        </p:txBody>
      </p:sp>
      <p:sp>
        <p:nvSpPr>
          <p:cNvPr id="4" name="Date Placeholder 3">
            <a:extLst>
              <a:ext uri="{FF2B5EF4-FFF2-40B4-BE49-F238E27FC236}">
                <a16:creationId xmlns:a16="http://schemas.microsoft.com/office/drawing/2014/main" id="{F71B908F-4978-4922-8785-2EC115A2C12B}"/>
              </a:ext>
            </a:extLst>
          </p:cNvPr>
          <p:cNvSpPr>
            <a:spLocks noGrp="1"/>
          </p:cNvSpPr>
          <p:nvPr>
            <p:ph type="dt" sz="half" idx="10"/>
          </p:nvPr>
        </p:nvSpPr>
        <p:spPr/>
        <p:txBody>
          <a:bodyPr/>
          <a:lstStyle/>
          <a:p>
            <a:pPr>
              <a:defRPr/>
            </a:pPr>
            <a:fld id="{79EB1894-2C6A-49CF-AFDD-C2DB4C49BC0B}" type="datetime2">
              <a:rPr lang="en-US" smtClean="0"/>
              <a:t>Wednesday, January 22, 2025</a:t>
            </a:fld>
            <a:endParaRPr lang="en-US" altLang="en-US"/>
          </a:p>
        </p:txBody>
      </p:sp>
      <p:sp>
        <p:nvSpPr>
          <p:cNvPr id="5" name="Slide Number Placeholder 4">
            <a:extLst>
              <a:ext uri="{FF2B5EF4-FFF2-40B4-BE49-F238E27FC236}">
                <a16:creationId xmlns:a16="http://schemas.microsoft.com/office/drawing/2014/main" id="{E4D90525-77B3-68CB-6C44-9A6898D5293D}"/>
              </a:ext>
            </a:extLst>
          </p:cNvPr>
          <p:cNvSpPr>
            <a:spLocks noGrp="1"/>
          </p:cNvSpPr>
          <p:nvPr>
            <p:ph type="sldNum" sz="quarter" idx="12"/>
          </p:nvPr>
        </p:nvSpPr>
        <p:spPr/>
        <p:txBody>
          <a:bodyPr/>
          <a:lstStyle/>
          <a:p>
            <a:pPr>
              <a:defRPr/>
            </a:pPr>
            <a:fld id="{937DAA19-78E2-454A-BF0A-AB51F6D45129}" type="slidenum">
              <a:rPr lang="en-US" altLang="en-US" smtClean="0"/>
              <a:pPr>
                <a:defRPr/>
              </a:pPr>
              <a:t>60</a:t>
            </a:fld>
            <a:endParaRPr lang="en-US" altLang="en-US"/>
          </a:p>
        </p:txBody>
      </p:sp>
    </p:spTree>
    <p:extLst>
      <p:ext uri="{BB962C8B-B14F-4D97-AF65-F5344CB8AC3E}">
        <p14:creationId xmlns:p14="http://schemas.microsoft.com/office/powerpoint/2010/main" val="19540632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EE0C8D-9382-441D-A514-CEBF880AA2B0}"/>
              </a:ext>
            </a:extLst>
          </p:cNvPr>
          <p:cNvSpPr>
            <a:spLocks noGrp="1"/>
          </p:cNvSpPr>
          <p:nvPr>
            <p:ph idx="1"/>
          </p:nvPr>
        </p:nvSpPr>
        <p:spPr/>
        <p:txBody>
          <a:bodyPr>
            <a:normAutofit/>
          </a:bodyPr>
          <a:lstStyle/>
          <a:p>
            <a:pPr algn="just"/>
            <a:r>
              <a:rPr lang="en-US" sz="2800" dirty="0"/>
              <a:t>In computing, the operations we need to perform for a set or a multiset most often are searching for a given item, adding a new item, and deleting an item from the collection</a:t>
            </a:r>
          </a:p>
          <a:p>
            <a:pPr algn="just"/>
            <a:endParaRPr lang="en-US" sz="2800" dirty="0"/>
          </a:p>
          <a:p>
            <a:pPr algn="just"/>
            <a:r>
              <a:rPr lang="en-US" sz="2800" dirty="0"/>
              <a:t>A data structure that implements these three operations is </a:t>
            </a:r>
            <a:r>
              <a:rPr lang="en-IN" sz="2800" dirty="0"/>
              <a:t>called the </a:t>
            </a:r>
            <a:r>
              <a:rPr lang="en-IN" sz="2800" b="1" i="1" dirty="0"/>
              <a:t>dictionary</a:t>
            </a:r>
            <a:endParaRPr lang="en-IN" sz="2800" dirty="0"/>
          </a:p>
        </p:txBody>
      </p:sp>
      <p:sp>
        <p:nvSpPr>
          <p:cNvPr id="2" name="Date Placeholder 1">
            <a:extLst>
              <a:ext uri="{FF2B5EF4-FFF2-40B4-BE49-F238E27FC236}">
                <a16:creationId xmlns:a16="http://schemas.microsoft.com/office/drawing/2014/main" id="{3679A2EE-6B73-C624-A2F7-2DB4E14913DF}"/>
              </a:ext>
            </a:extLst>
          </p:cNvPr>
          <p:cNvSpPr>
            <a:spLocks noGrp="1"/>
          </p:cNvSpPr>
          <p:nvPr>
            <p:ph type="dt" sz="half" idx="10"/>
          </p:nvPr>
        </p:nvSpPr>
        <p:spPr/>
        <p:txBody>
          <a:bodyPr/>
          <a:lstStyle/>
          <a:p>
            <a:pPr>
              <a:defRPr/>
            </a:pPr>
            <a:fld id="{98417A7A-8819-42C9-9676-85DD34104D46}"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D738C763-A14D-85A9-236E-BCC2D4DEA0A1}"/>
              </a:ext>
            </a:extLst>
          </p:cNvPr>
          <p:cNvSpPr>
            <a:spLocks noGrp="1"/>
          </p:cNvSpPr>
          <p:nvPr>
            <p:ph type="sldNum" sz="quarter" idx="12"/>
          </p:nvPr>
        </p:nvSpPr>
        <p:spPr/>
        <p:txBody>
          <a:bodyPr/>
          <a:lstStyle/>
          <a:p>
            <a:pPr>
              <a:defRPr/>
            </a:pPr>
            <a:fld id="{937DAA19-78E2-454A-BF0A-AB51F6D45129}" type="slidenum">
              <a:rPr lang="en-US" altLang="en-US" smtClean="0"/>
              <a:pPr>
                <a:defRPr/>
              </a:pPr>
              <a:t>61</a:t>
            </a:fld>
            <a:endParaRPr lang="en-US" altLang="en-US"/>
          </a:p>
        </p:txBody>
      </p:sp>
    </p:spTree>
    <p:extLst>
      <p:ext uri="{BB962C8B-B14F-4D97-AF65-F5344CB8AC3E}">
        <p14:creationId xmlns:p14="http://schemas.microsoft.com/office/powerpoint/2010/main" val="42237242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5C372C-CEA4-4D22-88F8-1C307E496C1B}"/>
              </a:ext>
            </a:extLst>
          </p:cNvPr>
          <p:cNvSpPr>
            <a:spLocks noGrp="1"/>
          </p:cNvSpPr>
          <p:nvPr>
            <p:ph idx="1"/>
          </p:nvPr>
        </p:nvSpPr>
        <p:spPr>
          <a:xfrm>
            <a:off x="457200" y="1043735"/>
            <a:ext cx="8229600" cy="5082429"/>
          </a:xfrm>
        </p:spPr>
        <p:txBody>
          <a:bodyPr>
            <a:noAutofit/>
          </a:bodyPr>
          <a:lstStyle/>
          <a:p>
            <a:pPr algn="just"/>
            <a:r>
              <a:rPr lang="en-IN" sz="2800" dirty="0"/>
              <a:t>An efficient implementation </a:t>
            </a:r>
            <a:r>
              <a:rPr lang="en-US" sz="2800" dirty="0"/>
              <a:t>of a dictionary has to strike a compromise between the efficiency of searching and the efficiencies of the other two operations</a:t>
            </a:r>
          </a:p>
          <a:p>
            <a:pPr algn="just"/>
            <a:endParaRPr lang="en-US" sz="2800" dirty="0"/>
          </a:p>
          <a:p>
            <a:pPr algn="just"/>
            <a:r>
              <a:rPr lang="en-US" sz="2800" dirty="0"/>
              <a:t>There are quite a few ways a dictionary can be implemented</a:t>
            </a:r>
          </a:p>
          <a:p>
            <a:pPr algn="just"/>
            <a:endParaRPr lang="en-US" sz="2800" dirty="0"/>
          </a:p>
          <a:p>
            <a:pPr algn="just"/>
            <a:r>
              <a:rPr lang="en-US" sz="2800" dirty="0"/>
              <a:t>They range from an unsophisticated use of arrays (sorted or not) to much more sophisticated techniques such as hashing and balanced search </a:t>
            </a:r>
            <a:r>
              <a:rPr lang="en-IN" sz="2800" dirty="0"/>
              <a:t>trees</a:t>
            </a:r>
          </a:p>
        </p:txBody>
      </p:sp>
      <p:sp>
        <p:nvSpPr>
          <p:cNvPr id="2" name="Date Placeholder 1">
            <a:extLst>
              <a:ext uri="{FF2B5EF4-FFF2-40B4-BE49-F238E27FC236}">
                <a16:creationId xmlns:a16="http://schemas.microsoft.com/office/drawing/2014/main" id="{5801DF06-FF07-2EE0-D572-85ED0D839419}"/>
              </a:ext>
            </a:extLst>
          </p:cNvPr>
          <p:cNvSpPr>
            <a:spLocks noGrp="1"/>
          </p:cNvSpPr>
          <p:nvPr>
            <p:ph type="dt" sz="half" idx="10"/>
          </p:nvPr>
        </p:nvSpPr>
        <p:spPr/>
        <p:txBody>
          <a:bodyPr/>
          <a:lstStyle/>
          <a:p>
            <a:pPr>
              <a:defRPr/>
            </a:pPr>
            <a:fld id="{06C514E5-81A1-4109-836C-34F990B33064}"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E1ABAB1F-13F6-AF55-7CEB-7F6DEFD3247E}"/>
              </a:ext>
            </a:extLst>
          </p:cNvPr>
          <p:cNvSpPr>
            <a:spLocks noGrp="1"/>
          </p:cNvSpPr>
          <p:nvPr>
            <p:ph type="sldNum" sz="quarter" idx="12"/>
          </p:nvPr>
        </p:nvSpPr>
        <p:spPr/>
        <p:txBody>
          <a:bodyPr/>
          <a:lstStyle/>
          <a:p>
            <a:pPr>
              <a:defRPr/>
            </a:pPr>
            <a:fld id="{937DAA19-78E2-454A-BF0A-AB51F6D45129}" type="slidenum">
              <a:rPr lang="en-US" altLang="en-US" smtClean="0"/>
              <a:pPr>
                <a:defRPr/>
              </a:pPr>
              <a:t>62</a:t>
            </a:fld>
            <a:endParaRPr lang="en-US" altLang="en-US"/>
          </a:p>
        </p:txBody>
      </p:sp>
    </p:spTree>
    <p:extLst>
      <p:ext uri="{BB962C8B-B14F-4D97-AF65-F5344CB8AC3E}">
        <p14:creationId xmlns:p14="http://schemas.microsoft.com/office/powerpoint/2010/main" val="39067509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6338E8-DB09-4F72-9256-5795A63A0455}"/>
              </a:ext>
            </a:extLst>
          </p:cNvPr>
          <p:cNvSpPr>
            <a:spLocks noGrp="1"/>
          </p:cNvSpPr>
          <p:nvPr>
            <p:ph idx="1"/>
          </p:nvPr>
        </p:nvSpPr>
        <p:spPr/>
        <p:txBody>
          <a:bodyPr/>
          <a:lstStyle/>
          <a:p>
            <a:pPr marL="0" indent="0">
              <a:buNone/>
            </a:pPr>
            <a:endParaRPr lang="en-US" dirty="0"/>
          </a:p>
          <a:p>
            <a:pPr marL="0" indent="0">
              <a:buNone/>
            </a:pPr>
            <a:endParaRPr lang="en-US" dirty="0"/>
          </a:p>
          <a:p>
            <a:pPr marL="0" indent="0" algn="ctr">
              <a:buNone/>
            </a:pPr>
            <a:r>
              <a:rPr lang="en-US" b="1" dirty="0">
                <a:solidFill>
                  <a:srgbClr val="FF0000"/>
                </a:solidFill>
                <a:effectLst>
                  <a:outerShdw blurRad="38100" dist="38100" dir="2700000" algn="tl">
                    <a:srgbClr val="000000">
                      <a:alpha val="43137"/>
                    </a:srgbClr>
                  </a:outerShdw>
                </a:effectLst>
              </a:rPr>
              <a:t>FUNDAMENTALS OF THE ALGORITHMS EFFICIENCY</a:t>
            </a:r>
            <a:endParaRPr lang="en-IN" b="1" dirty="0">
              <a:solidFill>
                <a:srgbClr val="FF0000"/>
              </a:solidFill>
              <a:effectLst>
                <a:outerShdw blurRad="38100" dist="38100" dir="2700000" algn="tl">
                  <a:srgbClr val="000000">
                    <a:alpha val="43137"/>
                  </a:srgbClr>
                </a:outerShdw>
              </a:effectLst>
            </a:endParaRPr>
          </a:p>
        </p:txBody>
      </p:sp>
      <p:sp>
        <p:nvSpPr>
          <p:cNvPr id="2" name="Date Placeholder 1">
            <a:extLst>
              <a:ext uri="{FF2B5EF4-FFF2-40B4-BE49-F238E27FC236}">
                <a16:creationId xmlns:a16="http://schemas.microsoft.com/office/drawing/2014/main" id="{CC268D45-A3F7-9E06-0A38-0B501A04CC7E}"/>
              </a:ext>
            </a:extLst>
          </p:cNvPr>
          <p:cNvSpPr>
            <a:spLocks noGrp="1"/>
          </p:cNvSpPr>
          <p:nvPr>
            <p:ph type="dt" sz="half" idx="10"/>
          </p:nvPr>
        </p:nvSpPr>
        <p:spPr/>
        <p:txBody>
          <a:bodyPr/>
          <a:lstStyle/>
          <a:p>
            <a:pPr>
              <a:defRPr/>
            </a:pPr>
            <a:fld id="{BAAAF1A0-C900-4279-89F5-C199D12390D8}"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A182F546-88FA-5A93-63FC-4661E865FC63}"/>
              </a:ext>
            </a:extLst>
          </p:cNvPr>
          <p:cNvSpPr>
            <a:spLocks noGrp="1"/>
          </p:cNvSpPr>
          <p:nvPr>
            <p:ph type="sldNum" sz="quarter" idx="12"/>
          </p:nvPr>
        </p:nvSpPr>
        <p:spPr/>
        <p:txBody>
          <a:bodyPr/>
          <a:lstStyle/>
          <a:p>
            <a:pPr>
              <a:defRPr/>
            </a:pPr>
            <a:fld id="{937DAA19-78E2-454A-BF0A-AB51F6D45129}" type="slidenum">
              <a:rPr lang="en-US" altLang="en-US" smtClean="0"/>
              <a:pPr>
                <a:defRPr/>
              </a:pPr>
              <a:t>63</a:t>
            </a:fld>
            <a:endParaRPr lang="en-US" altLang="en-US"/>
          </a:p>
        </p:txBody>
      </p:sp>
    </p:spTree>
    <p:extLst>
      <p:ext uri="{BB962C8B-B14F-4D97-AF65-F5344CB8AC3E}">
        <p14:creationId xmlns:p14="http://schemas.microsoft.com/office/powerpoint/2010/main" val="65149068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31337-F31F-4E36-A210-2C27EF13F095}"/>
              </a:ext>
            </a:extLst>
          </p:cNvPr>
          <p:cNvSpPr>
            <a:spLocks noGrp="1"/>
          </p:cNvSpPr>
          <p:nvPr>
            <p:ph type="title"/>
          </p:nvPr>
        </p:nvSpPr>
        <p:spPr>
          <a:xfrm>
            <a:off x="155155" y="219935"/>
            <a:ext cx="5226935" cy="360919"/>
          </a:xfrm>
        </p:spPr>
        <p:txBody>
          <a:bodyPr/>
          <a:lstStyle/>
          <a:p>
            <a:r>
              <a:rPr lang="en-IN" dirty="0"/>
              <a:t>The Analysis Framework</a:t>
            </a:r>
          </a:p>
        </p:txBody>
      </p:sp>
      <p:sp>
        <p:nvSpPr>
          <p:cNvPr id="3" name="Content Placeholder 2">
            <a:extLst>
              <a:ext uri="{FF2B5EF4-FFF2-40B4-BE49-F238E27FC236}">
                <a16:creationId xmlns:a16="http://schemas.microsoft.com/office/drawing/2014/main" id="{9F448957-AF46-4F79-9EEB-3F5F7B19F30D}"/>
              </a:ext>
            </a:extLst>
          </p:cNvPr>
          <p:cNvSpPr>
            <a:spLocks noGrp="1"/>
          </p:cNvSpPr>
          <p:nvPr>
            <p:ph idx="1"/>
          </p:nvPr>
        </p:nvSpPr>
        <p:spPr>
          <a:xfrm>
            <a:off x="457200" y="1493785"/>
            <a:ext cx="8229600" cy="4632379"/>
          </a:xfrm>
        </p:spPr>
        <p:txBody>
          <a:bodyPr>
            <a:normAutofit lnSpcReduction="10000"/>
          </a:bodyPr>
          <a:lstStyle/>
          <a:p>
            <a:pPr algn="just"/>
            <a:r>
              <a:rPr lang="en-US" sz="2800" dirty="0"/>
              <a:t>There are two kinds of efficiency: time efficiency and space efficiency</a:t>
            </a:r>
          </a:p>
          <a:p>
            <a:pPr algn="just"/>
            <a:endParaRPr lang="en-US" sz="2800" dirty="0"/>
          </a:p>
          <a:p>
            <a:pPr algn="just"/>
            <a:r>
              <a:rPr lang="en-US" sz="2800" b="1" i="1" dirty="0"/>
              <a:t>Time efficiency</a:t>
            </a:r>
            <a:r>
              <a:rPr lang="en-US" sz="2800" dirty="0"/>
              <a:t>, also called </a:t>
            </a:r>
            <a:r>
              <a:rPr lang="en-US" sz="2800" b="1" i="1" dirty="0"/>
              <a:t>time complexity</a:t>
            </a:r>
            <a:r>
              <a:rPr lang="en-US" sz="2800" dirty="0"/>
              <a:t>, indicates how fast an algorithm in question runs</a:t>
            </a:r>
          </a:p>
          <a:p>
            <a:pPr algn="just"/>
            <a:endParaRPr lang="en-US" sz="2800" dirty="0"/>
          </a:p>
          <a:p>
            <a:pPr algn="just"/>
            <a:r>
              <a:rPr lang="en-US" sz="2800" b="1" i="1" dirty="0"/>
              <a:t>Space efficiency</a:t>
            </a:r>
            <a:r>
              <a:rPr lang="en-US" sz="2800" dirty="0"/>
              <a:t>, also called </a:t>
            </a:r>
            <a:r>
              <a:rPr lang="en-US" sz="2800" b="1" i="1" dirty="0"/>
              <a:t>space complexity</a:t>
            </a:r>
            <a:r>
              <a:rPr lang="en-US" sz="2800" dirty="0"/>
              <a:t>, refers to the amount of memory units required by the algorithm in addition to the space needed for its input and output</a:t>
            </a:r>
            <a:endParaRPr lang="en-IN" sz="2800" dirty="0"/>
          </a:p>
        </p:txBody>
      </p:sp>
      <p:sp>
        <p:nvSpPr>
          <p:cNvPr id="4" name="Date Placeholder 3">
            <a:extLst>
              <a:ext uri="{FF2B5EF4-FFF2-40B4-BE49-F238E27FC236}">
                <a16:creationId xmlns:a16="http://schemas.microsoft.com/office/drawing/2014/main" id="{9C0ABAC0-36E6-9960-778A-EF4BBAB89ED7}"/>
              </a:ext>
            </a:extLst>
          </p:cNvPr>
          <p:cNvSpPr>
            <a:spLocks noGrp="1"/>
          </p:cNvSpPr>
          <p:nvPr>
            <p:ph type="dt" sz="half" idx="10"/>
          </p:nvPr>
        </p:nvSpPr>
        <p:spPr/>
        <p:txBody>
          <a:bodyPr/>
          <a:lstStyle/>
          <a:p>
            <a:pPr>
              <a:defRPr/>
            </a:pPr>
            <a:fld id="{D6A1417A-2148-4946-BDD2-FCC6C0568B18}" type="datetime2">
              <a:rPr lang="en-US" smtClean="0"/>
              <a:t>Wednesday, January 22, 2025</a:t>
            </a:fld>
            <a:endParaRPr lang="en-US" altLang="en-US"/>
          </a:p>
        </p:txBody>
      </p:sp>
      <p:sp>
        <p:nvSpPr>
          <p:cNvPr id="5" name="Slide Number Placeholder 4">
            <a:extLst>
              <a:ext uri="{FF2B5EF4-FFF2-40B4-BE49-F238E27FC236}">
                <a16:creationId xmlns:a16="http://schemas.microsoft.com/office/drawing/2014/main" id="{C5FAAF36-ABA6-9EBA-F7EE-2370761CFFDA}"/>
              </a:ext>
            </a:extLst>
          </p:cNvPr>
          <p:cNvSpPr>
            <a:spLocks noGrp="1"/>
          </p:cNvSpPr>
          <p:nvPr>
            <p:ph type="sldNum" sz="quarter" idx="12"/>
          </p:nvPr>
        </p:nvSpPr>
        <p:spPr/>
        <p:txBody>
          <a:bodyPr/>
          <a:lstStyle/>
          <a:p>
            <a:pPr>
              <a:defRPr/>
            </a:pPr>
            <a:fld id="{937DAA19-78E2-454A-BF0A-AB51F6D45129}" type="slidenum">
              <a:rPr lang="en-US" altLang="en-US" smtClean="0"/>
              <a:pPr>
                <a:defRPr/>
              </a:pPr>
              <a:t>64</a:t>
            </a:fld>
            <a:endParaRPr lang="en-US" altLang="en-US"/>
          </a:p>
        </p:txBody>
      </p:sp>
    </p:spTree>
    <p:extLst>
      <p:ext uri="{BB962C8B-B14F-4D97-AF65-F5344CB8AC3E}">
        <p14:creationId xmlns:p14="http://schemas.microsoft.com/office/powerpoint/2010/main" val="179389672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0BE15-91E3-4F24-B457-792D4ED1EDBA}"/>
              </a:ext>
            </a:extLst>
          </p:cNvPr>
          <p:cNvSpPr>
            <a:spLocks noGrp="1"/>
          </p:cNvSpPr>
          <p:nvPr>
            <p:ph type="title"/>
          </p:nvPr>
        </p:nvSpPr>
        <p:spPr/>
        <p:txBody>
          <a:bodyPr/>
          <a:lstStyle/>
          <a:p>
            <a:r>
              <a:rPr lang="en-IN" dirty="0"/>
              <a:t>Measuring an Input’s Size</a:t>
            </a:r>
          </a:p>
        </p:txBody>
      </p:sp>
      <p:sp>
        <p:nvSpPr>
          <p:cNvPr id="3" name="Content Placeholder 2">
            <a:extLst>
              <a:ext uri="{FF2B5EF4-FFF2-40B4-BE49-F238E27FC236}">
                <a16:creationId xmlns:a16="http://schemas.microsoft.com/office/drawing/2014/main" id="{B9A5D2D2-BDAE-4D51-B232-A57ADBE1421B}"/>
              </a:ext>
            </a:extLst>
          </p:cNvPr>
          <p:cNvSpPr>
            <a:spLocks noGrp="1"/>
          </p:cNvSpPr>
          <p:nvPr>
            <p:ph idx="1"/>
          </p:nvPr>
        </p:nvSpPr>
        <p:spPr>
          <a:xfrm>
            <a:off x="457200" y="1133745"/>
            <a:ext cx="8229600" cy="4992420"/>
          </a:xfrm>
        </p:spPr>
        <p:txBody>
          <a:bodyPr>
            <a:normAutofit fontScale="85000" lnSpcReduction="20000"/>
          </a:bodyPr>
          <a:lstStyle/>
          <a:p>
            <a:pPr algn="just"/>
            <a:r>
              <a:rPr lang="en-US" dirty="0"/>
              <a:t>It takes longer to sort larger arrays, multiply larger matrices, and so on</a:t>
            </a:r>
          </a:p>
          <a:p>
            <a:pPr algn="just"/>
            <a:endParaRPr lang="en-US" dirty="0"/>
          </a:p>
          <a:p>
            <a:pPr algn="just"/>
            <a:r>
              <a:rPr lang="en-US" dirty="0"/>
              <a:t>Therefore, it is logical to investigate an algorithm’s efficiency as a function of some parameter </a:t>
            </a:r>
            <a:r>
              <a:rPr lang="en-US" i="1" dirty="0"/>
              <a:t>n </a:t>
            </a:r>
            <a:r>
              <a:rPr lang="en-US" dirty="0"/>
              <a:t>indicating the algorithm’s input size</a:t>
            </a:r>
          </a:p>
          <a:p>
            <a:pPr algn="just"/>
            <a:endParaRPr lang="en-US" dirty="0"/>
          </a:p>
          <a:p>
            <a:pPr algn="just"/>
            <a:r>
              <a:rPr lang="en-US" dirty="0"/>
              <a:t>In most cases, selecting such a parameter is quite straightforward</a:t>
            </a:r>
          </a:p>
          <a:p>
            <a:pPr algn="just"/>
            <a:endParaRPr lang="en-US" dirty="0"/>
          </a:p>
          <a:p>
            <a:pPr algn="just"/>
            <a:r>
              <a:rPr lang="en-US" dirty="0"/>
              <a:t>For example, it will be the size of the list for problems of sorting, searching, finding the list’s smallest element, and most other problems dealing with lists </a:t>
            </a:r>
            <a:endParaRPr lang="en-IN" dirty="0"/>
          </a:p>
        </p:txBody>
      </p:sp>
      <p:sp>
        <p:nvSpPr>
          <p:cNvPr id="4" name="Date Placeholder 3">
            <a:extLst>
              <a:ext uri="{FF2B5EF4-FFF2-40B4-BE49-F238E27FC236}">
                <a16:creationId xmlns:a16="http://schemas.microsoft.com/office/drawing/2014/main" id="{AA777970-4514-48A5-CF35-CC29B9FB457C}"/>
              </a:ext>
            </a:extLst>
          </p:cNvPr>
          <p:cNvSpPr>
            <a:spLocks noGrp="1"/>
          </p:cNvSpPr>
          <p:nvPr>
            <p:ph type="dt" sz="half" idx="10"/>
          </p:nvPr>
        </p:nvSpPr>
        <p:spPr/>
        <p:txBody>
          <a:bodyPr/>
          <a:lstStyle/>
          <a:p>
            <a:pPr>
              <a:defRPr/>
            </a:pPr>
            <a:fld id="{F8C3A95A-7DFA-45F4-ADCD-E92A585E7D6B}" type="datetime2">
              <a:rPr lang="en-US" smtClean="0"/>
              <a:t>Wednesday, January 22, 2025</a:t>
            </a:fld>
            <a:endParaRPr lang="en-US" altLang="en-US"/>
          </a:p>
        </p:txBody>
      </p:sp>
      <p:sp>
        <p:nvSpPr>
          <p:cNvPr id="5" name="Slide Number Placeholder 4">
            <a:extLst>
              <a:ext uri="{FF2B5EF4-FFF2-40B4-BE49-F238E27FC236}">
                <a16:creationId xmlns:a16="http://schemas.microsoft.com/office/drawing/2014/main" id="{229C9F7C-4621-7C1E-DC7F-ECCDF41F48ED}"/>
              </a:ext>
            </a:extLst>
          </p:cNvPr>
          <p:cNvSpPr>
            <a:spLocks noGrp="1"/>
          </p:cNvSpPr>
          <p:nvPr>
            <p:ph type="sldNum" sz="quarter" idx="12"/>
          </p:nvPr>
        </p:nvSpPr>
        <p:spPr/>
        <p:txBody>
          <a:bodyPr/>
          <a:lstStyle/>
          <a:p>
            <a:pPr>
              <a:defRPr/>
            </a:pPr>
            <a:fld id="{937DAA19-78E2-454A-BF0A-AB51F6D45129}" type="slidenum">
              <a:rPr lang="en-US" altLang="en-US" smtClean="0"/>
              <a:pPr>
                <a:defRPr/>
              </a:pPr>
              <a:t>65</a:t>
            </a:fld>
            <a:endParaRPr lang="en-US" altLang="en-US"/>
          </a:p>
        </p:txBody>
      </p:sp>
    </p:spTree>
    <p:extLst>
      <p:ext uri="{BB962C8B-B14F-4D97-AF65-F5344CB8AC3E}">
        <p14:creationId xmlns:p14="http://schemas.microsoft.com/office/powerpoint/2010/main" val="26623712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B5AC5C-63F5-48BB-9101-791665064B86}"/>
              </a:ext>
            </a:extLst>
          </p:cNvPr>
          <p:cNvSpPr>
            <a:spLocks noGrp="1"/>
          </p:cNvSpPr>
          <p:nvPr>
            <p:ph idx="1"/>
          </p:nvPr>
        </p:nvSpPr>
        <p:spPr/>
        <p:txBody>
          <a:bodyPr/>
          <a:lstStyle/>
          <a:p>
            <a:pPr algn="just"/>
            <a:r>
              <a:rPr lang="en-US" dirty="0"/>
              <a:t>For the problem of evaluating a polynomial </a:t>
            </a:r>
            <a:r>
              <a:rPr lang="en-US" i="1" dirty="0"/>
              <a:t>p(x) </a:t>
            </a:r>
            <a:r>
              <a:rPr lang="en-US" dirty="0"/>
              <a:t>= </a:t>
            </a:r>
            <a:r>
              <a:rPr lang="en-US" i="1" dirty="0" err="1"/>
              <a:t>a</a:t>
            </a:r>
            <a:r>
              <a:rPr lang="en-US" i="1" baseline="30000" dirty="0" err="1"/>
              <a:t>n</a:t>
            </a:r>
            <a:r>
              <a:rPr lang="en-US" i="1" dirty="0" err="1"/>
              <a:t>x</a:t>
            </a:r>
            <a:r>
              <a:rPr lang="en-US" i="1" baseline="30000" dirty="0" err="1"/>
              <a:t>n</a:t>
            </a:r>
            <a:r>
              <a:rPr lang="en-US" i="1" dirty="0"/>
              <a:t> </a:t>
            </a:r>
            <a:r>
              <a:rPr lang="en-US" dirty="0"/>
              <a:t>+ </a:t>
            </a:r>
            <a:r>
              <a:rPr lang="en-US" i="1" dirty="0"/>
              <a:t>. . . </a:t>
            </a:r>
            <a:r>
              <a:rPr lang="en-US" dirty="0"/>
              <a:t>+ </a:t>
            </a:r>
            <a:r>
              <a:rPr lang="en-US" i="1" dirty="0"/>
              <a:t>a</a:t>
            </a:r>
            <a:r>
              <a:rPr lang="en-US" baseline="30000" dirty="0"/>
              <a:t>0</a:t>
            </a:r>
            <a:r>
              <a:rPr lang="en-US" dirty="0"/>
              <a:t> of degree </a:t>
            </a:r>
            <a:r>
              <a:rPr lang="en-US" i="1" dirty="0"/>
              <a:t>n</a:t>
            </a:r>
            <a:r>
              <a:rPr lang="en-US" dirty="0"/>
              <a:t>, it will be the polynomial’s degree or the number of its coefficients, which is larger by 1 than its degree</a:t>
            </a:r>
            <a:endParaRPr lang="en-IN" dirty="0"/>
          </a:p>
          <a:p>
            <a:pPr algn="just"/>
            <a:endParaRPr lang="en-IN" dirty="0"/>
          </a:p>
        </p:txBody>
      </p:sp>
      <p:sp>
        <p:nvSpPr>
          <p:cNvPr id="2" name="Date Placeholder 1">
            <a:extLst>
              <a:ext uri="{FF2B5EF4-FFF2-40B4-BE49-F238E27FC236}">
                <a16:creationId xmlns:a16="http://schemas.microsoft.com/office/drawing/2014/main" id="{A1D1D763-8B7C-E894-53BB-8539FC9EF681}"/>
              </a:ext>
            </a:extLst>
          </p:cNvPr>
          <p:cNvSpPr>
            <a:spLocks noGrp="1"/>
          </p:cNvSpPr>
          <p:nvPr>
            <p:ph type="dt" sz="half" idx="10"/>
          </p:nvPr>
        </p:nvSpPr>
        <p:spPr/>
        <p:txBody>
          <a:bodyPr/>
          <a:lstStyle/>
          <a:p>
            <a:pPr>
              <a:defRPr/>
            </a:pPr>
            <a:fld id="{CE28C728-3741-4E83-B3E6-ADC7CD6DBD73}"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F825F22C-B3FB-90B3-7E0F-44C2785E1249}"/>
              </a:ext>
            </a:extLst>
          </p:cNvPr>
          <p:cNvSpPr>
            <a:spLocks noGrp="1"/>
          </p:cNvSpPr>
          <p:nvPr>
            <p:ph type="sldNum" sz="quarter" idx="12"/>
          </p:nvPr>
        </p:nvSpPr>
        <p:spPr/>
        <p:txBody>
          <a:bodyPr/>
          <a:lstStyle/>
          <a:p>
            <a:pPr>
              <a:defRPr/>
            </a:pPr>
            <a:fld id="{937DAA19-78E2-454A-BF0A-AB51F6D45129}" type="slidenum">
              <a:rPr lang="en-US" altLang="en-US" smtClean="0"/>
              <a:pPr>
                <a:defRPr/>
              </a:pPr>
              <a:t>66</a:t>
            </a:fld>
            <a:endParaRPr lang="en-US" altLang="en-US"/>
          </a:p>
        </p:txBody>
      </p:sp>
    </p:spTree>
    <p:extLst>
      <p:ext uri="{BB962C8B-B14F-4D97-AF65-F5344CB8AC3E}">
        <p14:creationId xmlns:p14="http://schemas.microsoft.com/office/powerpoint/2010/main" val="27440415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F99D59-79F1-47A9-892C-D07E09933C17}"/>
              </a:ext>
            </a:extLst>
          </p:cNvPr>
          <p:cNvSpPr>
            <a:spLocks noGrp="1"/>
          </p:cNvSpPr>
          <p:nvPr>
            <p:ph idx="1"/>
          </p:nvPr>
        </p:nvSpPr>
        <p:spPr>
          <a:xfrm>
            <a:off x="341530" y="1133745"/>
            <a:ext cx="8229600" cy="4857404"/>
          </a:xfrm>
        </p:spPr>
        <p:txBody>
          <a:bodyPr>
            <a:normAutofit/>
          </a:bodyPr>
          <a:lstStyle/>
          <a:p>
            <a:pPr algn="just"/>
            <a:r>
              <a:rPr lang="en-US" sz="2800" dirty="0"/>
              <a:t>The choice of an appropriate size metric can be influenced by operations of the algorithm in question</a:t>
            </a:r>
          </a:p>
          <a:p>
            <a:pPr algn="just"/>
            <a:endParaRPr lang="en-US" sz="2800" dirty="0"/>
          </a:p>
          <a:p>
            <a:pPr algn="just"/>
            <a:r>
              <a:rPr lang="en-US" sz="2800" dirty="0"/>
              <a:t>For example, how should we measure an input’s size for a spell-checking algorithm? </a:t>
            </a:r>
          </a:p>
          <a:p>
            <a:pPr algn="just"/>
            <a:endParaRPr lang="en-US" sz="2800" dirty="0"/>
          </a:p>
          <a:p>
            <a:pPr algn="just"/>
            <a:r>
              <a:rPr lang="en-US" sz="2800" dirty="0"/>
              <a:t>If the algorithm examines individual characters of its input, we should measure the size by the number of characters; if it works by processing words, we should count their number in the input</a:t>
            </a:r>
            <a:endParaRPr lang="en-IN" sz="2800" dirty="0"/>
          </a:p>
        </p:txBody>
      </p:sp>
      <p:sp>
        <p:nvSpPr>
          <p:cNvPr id="2" name="Date Placeholder 1">
            <a:extLst>
              <a:ext uri="{FF2B5EF4-FFF2-40B4-BE49-F238E27FC236}">
                <a16:creationId xmlns:a16="http://schemas.microsoft.com/office/drawing/2014/main" id="{7C42BDD9-97FE-DC80-EBE2-EEF2B3655CFC}"/>
              </a:ext>
            </a:extLst>
          </p:cNvPr>
          <p:cNvSpPr>
            <a:spLocks noGrp="1"/>
          </p:cNvSpPr>
          <p:nvPr>
            <p:ph type="dt" sz="half" idx="10"/>
          </p:nvPr>
        </p:nvSpPr>
        <p:spPr/>
        <p:txBody>
          <a:bodyPr/>
          <a:lstStyle/>
          <a:p>
            <a:pPr>
              <a:defRPr/>
            </a:pPr>
            <a:fld id="{C625586D-FFDA-435D-9504-8EEA6FC001EF}"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B2F0D291-BEC3-69A1-0D26-21A7A21560EF}"/>
              </a:ext>
            </a:extLst>
          </p:cNvPr>
          <p:cNvSpPr>
            <a:spLocks noGrp="1"/>
          </p:cNvSpPr>
          <p:nvPr>
            <p:ph type="sldNum" sz="quarter" idx="12"/>
          </p:nvPr>
        </p:nvSpPr>
        <p:spPr/>
        <p:txBody>
          <a:bodyPr/>
          <a:lstStyle/>
          <a:p>
            <a:pPr>
              <a:defRPr/>
            </a:pPr>
            <a:fld id="{937DAA19-78E2-454A-BF0A-AB51F6D45129}" type="slidenum">
              <a:rPr lang="en-US" altLang="en-US" smtClean="0"/>
              <a:pPr>
                <a:defRPr/>
              </a:pPr>
              <a:t>67</a:t>
            </a:fld>
            <a:endParaRPr lang="en-US" altLang="en-US"/>
          </a:p>
        </p:txBody>
      </p:sp>
    </p:spTree>
    <p:extLst>
      <p:ext uri="{BB962C8B-B14F-4D97-AF65-F5344CB8AC3E}">
        <p14:creationId xmlns:p14="http://schemas.microsoft.com/office/powerpoint/2010/main" val="22115663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CA81E7-662F-45FE-A7A2-48B2BF16ACA3}"/>
              </a:ext>
            </a:extLst>
          </p:cNvPr>
          <p:cNvSpPr>
            <a:spLocks noGrp="1"/>
          </p:cNvSpPr>
          <p:nvPr>
            <p:ph idx="1"/>
          </p:nvPr>
        </p:nvSpPr>
        <p:spPr>
          <a:xfrm>
            <a:off x="566555" y="837826"/>
            <a:ext cx="8229600" cy="4992419"/>
          </a:xfrm>
        </p:spPr>
        <p:txBody>
          <a:bodyPr>
            <a:normAutofit/>
          </a:bodyPr>
          <a:lstStyle/>
          <a:p>
            <a:pPr algn="just"/>
            <a:r>
              <a:rPr lang="en-US" sz="2800" dirty="0"/>
              <a:t>We should make a special note about measuring input size for algorithms solving problems such as checking primality of a positive integer </a:t>
            </a:r>
            <a:r>
              <a:rPr lang="en-US" sz="2800" i="1" dirty="0"/>
              <a:t>n</a:t>
            </a:r>
          </a:p>
          <a:p>
            <a:pPr algn="just"/>
            <a:endParaRPr lang="en-US" sz="2800" dirty="0"/>
          </a:p>
          <a:p>
            <a:pPr algn="just"/>
            <a:r>
              <a:rPr lang="en-US" sz="2800" dirty="0"/>
              <a:t>Here, the input is just one number, and it is this number’s magnitude that determines the input size</a:t>
            </a:r>
          </a:p>
          <a:p>
            <a:pPr algn="just"/>
            <a:endParaRPr lang="en-US" sz="2800" dirty="0"/>
          </a:p>
          <a:p>
            <a:pPr algn="just"/>
            <a:r>
              <a:rPr lang="en-US" sz="2800" dirty="0"/>
              <a:t>In such situations, it is preferable to measure size by the number </a:t>
            </a:r>
            <a:r>
              <a:rPr lang="en-US" sz="2800" i="1" dirty="0"/>
              <a:t>b </a:t>
            </a:r>
            <a:r>
              <a:rPr lang="en-US" sz="2800" dirty="0"/>
              <a:t>of bits in </a:t>
            </a:r>
            <a:r>
              <a:rPr lang="en-IN" sz="2800" dirty="0"/>
              <a:t>the </a:t>
            </a:r>
            <a:r>
              <a:rPr lang="en-IN" sz="2800" i="1" dirty="0"/>
              <a:t>n</a:t>
            </a:r>
            <a:r>
              <a:rPr lang="en-IN" sz="2800" dirty="0"/>
              <a:t>’s binary representation:</a:t>
            </a:r>
          </a:p>
        </p:txBody>
      </p:sp>
      <p:pic>
        <p:nvPicPr>
          <p:cNvPr id="5" name="Picture 4">
            <a:extLst>
              <a:ext uri="{FF2B5EF4-FFF2-40B4-BE49-F238E27FC236}">
                <a16:creationId xmlns:a16="http://schemas.microsoft.com/office/drawing/2014/main" id="{7E729C4E-BF20-4420-B1A6-3B3A3CEF9EA8}"/>
              </a:ext>
            </a:extLst>
          </p:cNvPr>
          <p:cNvPicPr>
            <a:picLocks noChangeAspect="1"/>
          </p:cNvPicPr>
          <p:nvPr/>
        </p:nvPicPr>
        <p:blipFill>
          <a:blip r:embed="rId2"/>
          <a:stretch>
            <a:fillRect/>
          </a:stretch>
        </p:blipFill>
        <p:spPr>
          <a:xfrm>
            <a:off x="2636785" y="5289492"/>
            <a:ext cx="3870430" cy="1081505"/>
          </a:xfrm>
          <a:prstGeom prst="rect">
            <a:avLst/>
          </a:prstGeom>
        </p:spPr>
      </p:pic>
      <p:sp>
        <p:nvSpPr>
          <p:cNvPr id="2" name="Date Placeholder 1">
            <a:extLst>
              <a:ext uri="{FF2B5EF4-FFF2-40B4-BE49-F238E27FC236}">
                <a16:creationId xmlns:a16="http://schemas.microsoft.com/office/drawing/2014/main" id="{24E09D82-6040-CD40-E7A5-CF5CF391422A}"/>
              </a:ext>
            </a:extLst>
          </p:cNvPr>
          <p:cNvSpPr>
            <a:spLocks noGrp="1"/>
          </p:cNvSpPr>
          <p:nvPr>
            <p:ph type="dt" sz="half" idx="10"/>
          </p:nvPr>
        </p:nvSpPr>
        <p:spPr/>
        <p:txBody>
          <a:bodyPr/>
          <a:lstStyle/>
          <a:p>
            <a:pPr>
              <a:defRPr/>
            </a:pPr>
            <a:fld id="{067B763D-6460-4664-8B0A-B1D5526AFF48}"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247C9527-9507-7E1F-73B9-52CBBDA84AA8}"/>
              </a:ext>
            </a:extLst>
          </p:cNvPr>
          <p:cNvSpPr>
            <a:spLocks noGrp="1"/>
          </p:cNvSpPr>
          <p:nvPr>
            <p:ph type="sldNum" sz="quarter" idx="12"/>
          </p:nvPr>
        </p:nvSpPr>
        <p:spPr/>
        <p:txBody>
          <a:bodyPr/>
          <a:lstStyle/>
          <a:p>
            <a:pPr>
              <a:defRPr/>
            </a:pPr>
            <a:fld id="{937DAA19-78E2-454A-BF0A-AB51F6D45129}" type="slidenum">
              <a:rPr lang="en-US" altLang="en-US" smtClean="0"/>
              <a:pPr>
                <a:defRPr/>
              </a:pPr>
              <a:t>68</a:t>
            </a:fld>
            <a:endParaRPr lang="en-US" altLang="en-US"/>
          </a:p>
        </p:txBody>
      </p:sp>
    </p:spTree>
    <p:extLst>
      <p:ext uri="{BB962C8B-B14F-4D97-AF65-F5344CB8AC3E}">
        <p14:creationId xmlns:p14="http://schemas.microsoft.com/office/powerpoint/2010/main" val="38336387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AA809-6B94-4753-9165-BD2363E9282B}"/>
              </a:ext>
            </a:extLst>
          </p:cNvPr>
          <p:cNvSpPr>
            <a:spLocks noGrp="1"/>
          </p:cNvSpPr>
          <p:nvPr>
            <p:ph type="title"/>
          </p:nvPr>
        </p:nvSpPr>
        <p:spPr/>
        <p:txBody>
          <a:bodyPr/>
          <a:lstStyle/>
          <a:p>
            <a:r>
              <a:rPr lang="en-US" dirty="0"/>
              <a:t>Units for Measuring Running Time</a:t>
            </a:r>
            <a:endParaRPr lang="en-IN" dirty="0"/>
          </a:p>
        </p:txBody>
      </p:sp>
      <p:sp>
        <p:nvSpPr>
          <p:cNvPr id="3" name="Content Placeholder 2">
            <a:extLst>
              <a:ext uri="{FF2B5EF4-FFF2-40B4-BE49-F238E27FC236}">
                <a16:creationId xmlns:a16="http://schemas.microsoft.com/office/drawing/2014/main" id="{6BB70859-9E6A-453F-B3ED-02E2BB5F93AF}"/>
              </a:ext>
            </a:extLst>
          </p:cNvPr>
          <p:cNvSpPr>
            <a:spLocks noGrp="1"/>
          </p:cNvSpPr>
          <p:nvPr>
            <p:ph idx="1"/>
          </p:nvPr>
        </p:nvSpPr>
        <p:spPr>
          <a:xfrm>
            <a:off x="296525" y="1000298"/>
            <a:ext cx="8229600" cy="4857404"/>
          </a:xfrm>
        </p:spPr>
        <p:txBody>
          <a:bodyPr>
            <a:noAutofit/>
          </a:bodyPr>
          <a:lstStyle/>
          <a:p>
            <a:pPr algn="just"/>
            <a:r>
              <a:rPr lang="en-IN" sz="2700" dirty="0"/>
              <a:t>Of </a:t>
            </a:r>
            <a:r>
              <a:rPr lang="en-US" sz="2700" dirty="0"/>
              <a:t>course, we can simply use some standard unit of time measurement—a second, or millisecond, and so on—to measure the running time of a program implementing the algorithm</a:t>
            </a:r>
          </a:p>
          <a:p>
            <a:pPr algn="just"/>
            <a:endParaRPr lang="en-US" sz="2700" dirty="0"/>
          </a:p>
          <a:p>
            <a:pPr algn="just"/>
            <a:r>
              <a:rPr lang="en-US" sz="2700" dirty="0"/>
              <a:t>There are obvious drawbacks to such an approach:</a:t>
            </a:r>
          </a:p>
          <a:p>
            <a:pPr algn="just"/>
            <a:endParaRPr lang="en-US" sz="2700" dirty="0"/>
          </a:p>
          <a:p>
            <a:pPr algn="just"/>
            <a:r>
              <a:rPr lang="en-US" sz="2700" dirty="0"/>
              <a:t>Dependence on the speed of a particular computer, dependence on the quality of a program implementing the algorithm and of the compiler used in generating the machine code, and the difficulty of clocking the actual running time of the program</a:t>
            </a:r>
            <a:endParaRPr lang="en-IN" sz="2700" dirty="0"/>
          </a:p>
        </p:txBody>
      </p:sp>
      <p:sp>
        <p:nvSpPr>
          <p:cNvPr id="4" name="Date Placeholder 3">
            <a:extLst>
              <a:ext uri="{FF2B5EF4-FFF2-40B4-BE49-F238E27FC236}">
                <a16:creationId xmlns:a16="http://schemas.microsoft.com/office/drawing/2014/main" id="{B831D4D4-5494-7C45-A8DC-8E6355E1F6A5}"/>
              </a:ext>
            </a:extLst>
          </p:cNvPr>
          <p:cNvSpPr>
            <a:spLocks noGrp="1"/>
          </p:cNvSpPr>
          <p:nvPr>
            <p:ph type="dt" sz="half" idx="10"/>
          </p:nvPr>
        </p:nvSpPr>
        <p:spPr/>
        <p:txBody>
          <a:bodyPr/>
          <a:lstStyle/>
          <a:p>
            <a:pPr>
              <a:defRPr/>
            </a:pPr>
            <a:fld id="{E318BD62-80A3-43E1-B141-105A897ECB9C}" type="datetime2">
              <a:rPr lang="en-US" smtClean="0"/>
              <a:t>Wednesday, January 22, 2025</a:t>
            </a:fld>
            <a:endParaRPr lang="en-US" altLang="en-US"/>
          </a:p>
        </p:txBody>
      </p:sp>
      <p:sp>
        <p:nvSpPr>
          <p:cNvPr id="5" name="Slide Number Placeholder 4">
            <a:extLst>
              <a:ext uri="{FF2B5EF4-FFF2-40B4-BE49-F238E27FC236}">
                <a16:creationId xmlns:a16="http://schemas.microsoft.com/office/drawing/2014/main" id="{9A7EA63B-835F-866A-4C11-CE154A258696}"/>
              </a:ext>
            </a:extLst>
          </p:cNvPr>
          <p:cNvSpPr>
            <a:spLocks noGrp="1"/>
          </p:cNvSpPr>
          <p:nvPr>
            <p:ph type="sldNum" sz="quarter" idx="12"/>
          </p:nvPr>
        </p:nvSpPr>
        <p:spPr/>
        <p:txBody>
          <a:bodyPr/>
          <a:lstStyle/>
          <a:p>
            <a:pPr>
              <a:defRPr/>
            </a:pPr>
            <a:fld id="{937DAA19-78E2-454A-BF0A-AB51F6D45129}" type="slidenum">
              <a:rPr lang="en-US" altLang="en-US" smtClean="0"/>
              <a:pPr>
                <a:defRPr/>
              </a:pPr>
              <a:t>69</a:t>
            </a:fld>
            <a:endParaRPr lang="en-US" altLang="en-US"/>
          </a:p>
        </p:txBody>
      </p:sp>
    </p:spTree>
    <p:extLst>
      <p:ext uri="{BB962C8B-B14F-4D97-AF65-F5344CB8AC3E}">
        <p14:creationId xmlns:p14="http://schemas.microsoft.com/office/powerpoint/2010/main" val="134447467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982BD7-3B14-4696-BA6C-8AFFFD525740}"/>
              </a:ext>
            </a:extLst>
          </p:cNvPr>
          <p:cNvSpPr>
            <a:spLocks noGrp="1"/>
          </p:cNvSpPr>
          <p:nvPr>
            <p:ph idx="1"/>
          </p:nvPr>
        </p:nvSpPr>
        <p:spPr>
          <a:xfrm>
            <a:off x="457200" y="818711"/>
            <a:ext cx="8229600" cy="5307454"/>
          </a:xfrm>
        </p:spPr>
        <p:txBody>
          <a:bodyPr>
            <a:normAutofit/>
          </a:bodyPr>
          <a:lstStyle/>
          <a:p>
            <a:pPr algn="just"/>
            <a:r>
              <a:rPr lang="en-US" sz="2800" dirty="0"/>
              <a:t>One possible approach is to count the number of times each of the algorithm’s operations is executed</a:t>
            </a:r>
          </a:p>
          <a:p>
            <a:pPr algn="just"/>
            <a:endParaRPr lang="en-US" sz="2800" dirty="0"/>
          </a:p>
          <a:p>
            <a:pPr algn="just"/>
            <a:r>
              <a:rPr lang="en-US" sz="2800" dirty="0"/>
              <a:t>This approach is both excessively difficult and, as we shall see, usually unnecessary</a:t>
            </a:r>
          </a:p>
          <a:p>
            <a:pPr algn="just"/>
            <a:endParaRPr lang="en-US" sz="2800" dirty="0"/>
          </a:p>
          <a:p>
            <a:pPr algn="just"/>
            <a:r>
              <a:rPr lang="en-US" sz="2800" dirty="0"/>
              <a:t>The thing to do is to identify the most important operation of the algorithm, called the </a:t>
            </a:r>
            <a:r>
              <a:rPr lang="en-US" sz="2800" b="1" i="1" dirty="0"/>
              <a:t>basic operation</a:t>
            </a:r>
            <a:r>
              <a:rPr lang="en-US" sz="2800" dirty="0"/>
              <a:t>, the operation contributing the most to the total running time, and compute the number of times the basic </a:t>
            </a:r>
            <a:r>
              <a:rPr lang="en-IN" sz="2800" dirty="0"/>
              <a:t>operation is executed</a:t>
            </a:r>
          </a:p>
        </p:txBody>
      </p:sp>
      <p:sp>
        <p:nvSpPr>
          <p:cNvPr id="2" name="Date Placeholder 1">
            <a:extLst>
              <a:ext uri="{FF2B5EF4-FFF2-40B4-BE49-F238E27FC236}">
                <a16:creationId xmlns:a16="http://schemas.microsoft.com/office/drawing/2014/main" id="{B01C93F6-236A-096F-C546-9FB88361E8A9}"/>
              </a:ext>
            </a:extLst>
          </p:cNvPr>
          <p:cNvSpPr>
            <a:spLocks noGrp="1"/>
          </p:cNvSpPr>
          <p:nvPr>
            <p:ph type="dt" sz="half" idx="10"/>
          </p:nvPr>
        </p:nvSpPr>
        <p:spPr/>
        <p:txBody>
          <a:bodyPr/>
          <a:lstStyle/>
          <a:p>
            <a:pPr>
              <a:defRPr/>
            </a:pPr>
            <a:fld id="{C95745AF-2556-44CE-A5BE-BD96D9E0C670}"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04FE5560-F4EA-ED89-142B-DE7D9ABFB4BF}"/>
              </a:ext>
            </a:extLst>
          </p:cNvPr>
          <p:cNvSpPr>
            <a:spLocks noGrp="1"/>
          </p:cNvSpPr>
          <p:nvPr>
            <p:ph type="sldNum" sz="quarter" idx="12"/>
          </p:nvPr>
        </p:nvSpPr>
        <p:spPr/>
        <p:txBody>
          <a:bodyPr/>
          <a:lstStyle/>
          <a:p>
            <a:pPr>
              <a:defRPr/>
            </a:pPr>
            <a:fld id="{937DAA19-78E2-454A-BF0A-AB51F6D45129}" type="slidenum">
              <a:rPr lang="en-US" altLang="en-US" smtClean="0"/>
              <a:pPr>
                <a:defRPr/>
              </a:pPr>
              <a:t>70</a:t>
            </a:fld>
            <a:endParaRPr lang="en-US" altLang="en-US"/>
          </a:p>
        </p:txBody>
      </p:sp>
    </p:spTree>
    <p:extLst>
      <p:ext uri="{BB962C8B-B14F-4D97-AF65-F5344CB8AC3E}">
        <p14:creationId xmlns:p14="http://schemas.microsoft.com/office/powerpoint/2010/main" val="374650380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D73C10-1209-47CF-83CC-6ABF5F249384}"/>
              </a:ext>
            </a:extLst>
          </p:cNvPr>
          <p:cNvSpPr>
            <a:spLocks noGrp="1"/>
          </p:cNvSpPr>
          <p:nvPr>
            <p:ph idx="1"/>
          </p:nvPr>
        </p:nvSpPr>
        <p:spPr>
          <a:xfrm>
            <a:off x="457200" y="1112026"/>
            <a:ext cx="8229600" cy="4633947"/>
          </a:xfrm>
        </p:spPr>
        <p:txBody>
          <a:bodyPr>
            <a:normAutofit/>
          </a:bodyPr>
          <a:lstStyle/>
          <a:p>
            <a:pPr algn="just"/>
            <a:r>
              <a:rPr lang="en-US" sz="2800" dirty="0"/>
              <a:t>As a rule, it is not difficult to identify the basic operation of an algorithm: it is usually the most time-consuming operation in the algorithm’s innermost loop</a:t>
            </a:r>
          </a:p>
          <a:p>
            <a:pPr algn="just"/>
            <a:endParaRPr lang="en-US" sz="2800" dirty="0"/>
          </a:p>
          <a:p>
            <a:pPr algn="just"/>
            <a:r>
              <a:rPr lang="en-US" sz="2800" dirty="0"/>
              <a:t>For example, most sorting algorithms work by comparing elements (keys) of a list being sorted with each other; for such algorithms, the basic operation is a key comparison </a:t>
            </a:r>
            <a:endParaRPr lang="en-IN" sz="2800" dirty="0"/>
          </a:p>
        </p:txBody>
      </p:sp>
      <p:sp>
        <p:nvSpPr>
          <p:cNvPr id="2" name="Date Placeholder 1">
            <a:extLst>
              <a:ext uri="{FF2B5EF4-FFF2-40B4-BE49-F238E27FC236}">
                <a16:creationId xmlns:a16="http://schemas.microsoft.com/office/drawing/2014/main" id="{9CAC816D-9E4D-ACE9-A173-A8E93D66EE01}"/>
              </a:ext>
            </a:extLst>
          </p:cNvPr>
          <p:cNvSpPr>
            <a:spLocks noGrp="1"/>
          </p:cNvSpPr>
          <p:nvPr>
            <p:ph type="dt" sz="half" idx="10"/>
          </p:nvPr>
        </p:nvSpPr>
        <p:spPr/>
        <p:txBody>
          <a:bodyPr/>
          <a:lstStyle/>
          <a:p>
            <a:pPr>
              <a:defRPr/>
            </a:pPr>
            <a:fld id="{D86D80C0-431D-461E-B457-BDCC7EB2AC9E}"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8FD90EB4-2016-92C4-D15C-4F08474B6C72}"/>
              </a:ext>
            </a:extLst>
          </p:cNvPr>
          <p:cNvSpPr>
            <a:spLocks noGrp="1"/>
          </p:cNvSpPr>
          <p:nvPr>
            <p:ph type="sldNum" sz="quarter" idx="12"/>
          </p:nvPr>
        </p:nvSpPr>
        <p:spPr/>
        <p:txBody>
          <a:bodyPr/>
          <a:lstStyle/>
          <a:p>
            <a:pPr>
              <a:defRPr/>
            </a:pPr>
            <a:fld id="{937DAA19-78E2-454A-BF0A-AB51F6D45129}" type="slidenum">
              <a:rPr lang="en-US" altLang="en-US" smtClean="0"/>
              <a:pPr>
                <a:defRPr/>
              </a:pPr>
              <a:t>71</a:t>
            </a:fld>
            <a:endParaRPr lang="en-US" altLang="en-US"/>
          </a:p>
        </p:txBody>
      </p:sp>
    </p:spTree>
    <p:extLst>
      <p:ext uri="{BB962C8B-B14F-4D97-AF65-F5344CB8AC3E}">
        <p14:creationId xmlns:p14="http://schemas.microsoft.com/office/powerpoint/2010/main" val="38716069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1959A4-BF46-4567-80F9-788432204868}"/>
              </a:ext>
            </a:extLst>
          </p:cNvPr>
          <p:cNvSpPr>
            <a:spLocks noGrp="1"/>
          </p:cNvSpPr>
          <p:nvPr>
            <p:ph idx="1"/>
          </p:nvPr>
        </p:nvSpPr>
        <p:spPr>
          <a:xfrm>
            <a:off x="457200" y="1178749"/>
            <a:ext cx="8229600" cy="4947415"/>
          </a:xfrm>
        </p:spPr>
        <p:txBody>
          <a:bodyPr>
            <a:normAutofit/>
          </a:bodyPr>
          <a:lstStyle/>
          <a:p>
            <a:pPr algn="just"/>
            <a:r>
              <a:rPr lang="en-US" sz="2800" dirty="0"/>
              <a:t>As another example, algorithms for mathematical problems typically involve some or all of the four arithmetical operations: addition, subtraction, multiplication, and division</a:t>
            </a:r>
          </a:p>
          <a:p>
            <a:pPr algn="just"/>
            <a:endParaRPr lang="en-US" sz="2800" dirty="0"/>
          </a:p>
          <a:p>
            <a:pPr algn="just"/>
            <a:r>
              <a:rPr lang="en-US" sz="2800" dirty="0"/>
              <a:t>Of the four, the most time-consuming operation is </a:t>
            </a:r>
            <a:r>
              <a:rPr lang="en-US" sz="2800" dirty="0">
                <a:solidFill>
                  <a:srgbClr val="FF0000"/>
                </a:solidFill>
              </a:rPr>
              <a:t>division</a:t>
            </a:r>
            <a:r>
              <a:rPr lang="en-US" sz="2800" dirty="0"/>
              <a:t>, followed by </a:t>
            </a:r>
            <a:r>
              <a:rPr lang="en-US" sz="2800" dirty="0">
                <a:solidFill>
                  <a:srgbClr val="FF0000"/>
                </a:solidFill>
              </a:rPr>
              <a:t>multiplication</a:t>
            </a:r>
            <a:r>
              <a:rPr lang="en-US" sz="2800" dirty="0"/>
              <a:t> and then </a:t>
            </a:r>
            <a:r>
              <a:rPr lang="en-US" sz="2800" dirty="0">
                <a:solidFill>
                  <a:srgbClr val="FF0000"/>
                </a:solidFill>
              </a:rPr>
              <a:t>addition</a:t>
            </a:r>
            <a:r>
              <a:rPr lang="en-US" sz="2800" dirty="0"/>
              <a:t> and </a:t>
            </a:r>
            <a:r>
              <a:rPr lang="en-US" sz="2800" dirty="0">
                <a:solidFill>
                  <a:srgbClr val="FF0000"/>
                </a:solidFill>
              </a:rPr>
              <a:t>subtraction</a:t>
            </a:r>
            <a:r>
              <a:rPr lang="en-US" sz="2800" dirty="0"/>
              <a:t>, with the last two usually considered together</a:t>
            </a:r>
            <a:endParaRPr lang="en-IN" sz="2800" dirty="0"/>
          </a:p>
          <a:p>
            <a:pPr algn="just"/>
            <a:endParaRPr lang="en-IN" sz="2800" dirty="0"/>
          </a:p>
        </p:txBody>
      </p:sp>
      <p:sp>
        <p:nvSpPr>
          <p:cNvPr id="2" name="Date Placeholder 1">
            <a:extLst>
              <a:ext uri="{FF2B5EF4-FFF2-40B4-BE49-F238E27FC236}">
                <a16:creationId xmlns:a16="http://schemas.microsoft.com/office/drawing/2014/main" id="{0BD42A86-EE6A-7A61-0B6B-771F3F5E2BB5}"/>
              </a:ext>
            </a:extLst>
          </p:cNvPr>
          <p:cNvSpPr>
            <a:spLocks noGrp="1"/>
          </p:cNvSpPr>
          <p:nvPr>
            <p:ph type="dt" sz="half" idx="10"/>
          </p:nvPr>
        </p:nvSpPr>
        <p:spPr/>
        <p:txBody>
          <a:bodyPr/>
          <a:lstStyle/>
          <a:p>
            <a:pPr>
              <a:defRPr/>
            </a:pPr>
            <a:fld id="{C55AB0A7-985B-453A-AC3C-2F609695CF43}"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FDD03C38-E7B8-1F3A-B802-222F1A86A3AC}"/>
              </a:ext>
            </a:extLst>
          </p:cNvPr>
          <p:cNvSpPr>
            <a:spLocks noGrp="1"/>
          </p:cNvSpPr>
          <p:nvPr>
            <p:ph type="sldNum" sz="quarter" idx="12"/>
          </p:nvPr>
        </p:nvSpPr>
        <p:spPr/>
        <p:txBody>
          <a:bodyPr/>
          <a:lstStyle/>
          <a:p>
            <a:pPr>
              <a:defRPr/>
            </a:pPr>
            <a:fld id="{937DAA19-78E2-454A-BF0A-AB51F6D45129}" type="slidenum">
              <a:rPr lang="en-US" altLang="en-US" smtClean="0"/>
              <a:pPr>
                <a:defRPr/>
              </a:pPr>
              <a:t>72</a:t>
            </a:fld>
            <a:endParaRPr lang="en-US" altLang="en-US"/>
          </a:p>
        </p:txBody>
      </p:sp>
    </p:spTree>
    <p:extLst>
      <p:ext uri="{BB962C8B-B14F-4D97-AF65-F5344CB8AC3E}">
        <p14:creationId xmlns:p14="http://schemas.microsoft.com/office/powerpoint/2010/main" val="129185672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B3A4B8-679B-4CEB-9B27-D7707F152F06}"/>
              </a:ext>
            </a:extLst>
          </p:cNvPr>
          <p:cNvSpPr>
            <a:spLocks noGrp="1"/>
          </p:cNvSpPr>
          <p:nvPr>
            <p:ph idx="1"/>
          </p:nvPr>
        </p:nvSpPr>
        <p:spPr>
          <a:xfrm>
            <a:off x="457200" y="1268761"/>
            <a:ext cx="8229600" cy="4857404"/>
          </a:xfrm>
        </p:spPr>
        <p:txBody>
          <a:bodyPr>
            <a:normAutofit/>
          </a:bodyPr>
          <a:lstStyle/>
          <a:p>
            <a:pPr algn="just"/>
            <a:r>
              <a:rPr lang="en-US" sz="2800" dirty="0"/>
              <a:t>Let C</a:t>
            </a:r>
            <a:r>
              <a:rPr lang="en-US" sz="2800" i="1" baseline="-25000" dirty="0"/>
              <a:t>op</a:t>
            </a:r>
            <a:r>
              <a:rPr lang="en-US" sz="2800" i="1" dirty="0"/>
              <a:t> </a:t>
            </a:r>
            <a:r>
              <a:rPr lang="en-US" sz="2800" dirty="0"/>
              <a:t>be the execution time of an algorithm’s basic operation on a particular computer, and let </a:t>
            </a:r>
            <a:r>
              <a:rPr lang="en-US" sz="2800" i="1" dirty="0"/>
              <a:t>C(n) </a:t>
            </a:r>
            <a:r>
              <a:rPr lang="en-US" sz="2800" dirty="0"/>
              <a:t>be the number of times this operation needs to be executed for this algorithm </a:t>
            </a:r>
          </a:p>
          <a:p>
            <a:pPr algn="just"/>
            <a:endParaRPr lang="en-US" sz="2800" dirty="0"/>
          </a:p>
          <a:p>
            <a:pPr algn="just"/>
            <a:r>
              <a:rPr lang="en-IN" sz="2800" dirty="0"/>
              <a:t>Then we can estimate </a:t>
            </a:r>
            <a:r>
              <a:rPr lang="en-US" sz="2800" dirty="0"/>
              <a:t>the running time </a:t>
            </a:r>
            <a:r>
              <a:rPr lang="en-US" sz="2800" i="1" dirty="0"/>
              <a:t>T (n) </a:t>
            </a:r>
            <a:r>
              <a:rPr lang="en-US" sz="2800" dirty="0"/>
              <a:t>of a program implementing this algorithm on that computer </a:t>
            </a:r>
            <a:r>
              <a:rPr lang="en-IN" sz="2800" dirty="0"/>
              <a:t>by the formula </a:t>
            </a:r>
            <a:r>
              <a:rPr lang="en-IN" sz="2800" i="1" dirty="0"/>
              <a:t>T (n) </a:t>
            </a:r>
            <a:r>
              <a:rPr lang="en-IN" sz="2800" dirty="0"/>
              <a:t>≈ </a:t>
            </a:r>
            <a:r>
              <a:rPr lang="en-IN" sz="2800" i="1" dirty="0" err="1"/>
              <a:t>C</a:t>
            </a:r>
            <a:r>
              <a:rPr lang="en-IN" sz="2800" i="1" baseline="-25000" dirty="0" err="1"/>
              <a:t>op</a:t>
            </a:r>
            <a:r>
              <a:rPr lang="en-IN" sz="2800" i="1" dirty="0" err="1"/>
              <a:t>C</a:t>
            </a:r>
            <a:r>
              <a:rPr lang="en-IN" sz="2800" i="1" dirty="0"/>
              <a:t>(n).</a:t>
            </a:r>
            <a:endParaRPr lang="en-IN" sz="2800" dirty="0"/>
          </a:p>
        </p:txBody>
      </p:sp>
      <p:sp>
        <p:nvSpPr>
          <p:cNvPr id="2" name="Date Placeholder 1">
            <a:extLst>
              <a:ext uri="{FF2B5EF4-FFF2-40B4-BE49-F238E27FC236}">
                <a16:creationId xmlns:a16="http://schemas.microsoft.com/office/drawing/2014/main" id="{50AA459B-46D5-3670-70D4-E1B4DB262E7E}"/>
              </a:ext>
            </a:extLst>
          </p:cNvPr>
          <p:cNvSpPr>
            <a:spLocks noGrp="1"/>
          </p:cNvSpPr>
          <p:nvPr>
            <p:ph type="dt" sz="half" idx="10"/>
          </p:nvPr>
        </p:nvSpPr>
        <p:spPr/>
        <p:txBody>
          <a:bodyPr/>
          <a:lstStyle/>
          <a:p>
            <a:pPr>
              <a:defRPr/>
            </a:pPr>
            <a:fld id="{CDDC2C49-0B1D-4EBC-A941-0F2F30013F4F}"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5062A20C-2143-6E26-90D0-A8DC0BB4A1B8}"/>
              </a:ext>
            </a:extLst>
          </p:cNvPr>
          <p:cNvSpPr>
            <a:spLocks noGrp="1"/>
          </p:cNvSpPr>
          <p:nvPr>
            <p:ph type="sldNum" sz="quarter" idx="12"/>
          </p:nvPr>
        </p:nvSpPr>
        <p:spPr/>
        <p:txBody>
          <a:bodyPr/>
          <a:lstStyle/>
          <a:p>
            <a:pPr>
              <a:defRPr/>
            </a:pPr>
            <a:fld id="{937DAA19-78E2-454A-BF0A-AB51F6D45129}" type="slidenum">
              <a:rPr lang="en-US" altLang="en-US" smtClean="0"/>
              <a:pPr>
                <a:defRPr/>
              </a:pPr>
              <a:t>73</a:t>
            </a:fld>
            <a:endParaRPr lang="en-US" altLang="en-US"/>
          </a:p>
        </p:txBody>
      </p:sp>
    </p:spTree>
    <p:extLst>
      <p:ext uri="{BB962C8B-B14F-4D97-AF65-F5344CB8AC3E}">
        <p14:creationId xmlns:p14="http://schemas.microsoft.com/office/powerpoint/2010/main" val="190410941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43693F-8C03-4AE1-A50C-20BCD501104D}"/>
              </a:ext>
            </a:extLst>
          </p:cNvPr>
          <p:cNvSpPr>
            <a:spLocks noGrp="1"/>
          </p:cNvSpPr>
          <p:nvPr>
            <p:ph idx="1"/>
          </p:nvPr>
        </p:nvSpPr>
        <p:spPr>
          <a:xfrm>
            <a:off x="457200" y="1088741"/>
            <a:ext cx="8229600" cy="5037424"/>
          </a:xfrm>
        </p:spPr>
        <p:txBody>
          <a:bodyPr>
            <a:normAutofit/>
          </a:bodyPr>
          <a:lstStyle/>
          <a:p>
            <a:pPr algn="just"/>
            <a:r>
              <a:rPr lang="en-US" sz="2800" dirty="0"/>
              <a:t>The count </a:t>
            </a:r>
            <a:r>
              <a:rPr lang="en-US" sz="2800" i="1" dirty="0"/>
              <a:t>C(n) </a:t>
            </a:r>
            <a:r>
              <a:rPr lang="en-US" sz="2800" dirty="0"/>
              <a:t>does not contain any information about operations that are not basic, and, in fact, the count itself is often computed only approximately</a:t>
            </a:r>
          </a:p>
          <a:p>
            <a:pPr algn="just"/>
            <a:endParaRPr lang="en-US" sz="2800" dirty="0"/>
          </a:p>
          <a:p>
            <a:pPr algn="just"/>
            <a:r>
              <a:rPr lang="en-US" sz="2800" dirty="0"/>
              <a:t>Further, the constant </a:t>
            </a:r>
            <a:r>
              <a:rPr lang="en-US" sz="2800" i="1" dirty="0"/>
              <a:t>Cop </a:t>
            </a:r>
            <a:r>
              <a:rPr lang="en-US" sz="2800" dirty="0"/>
              <a:t>is also an approximation whose reliability is not always easy to assess</a:t>
            </a:r>
          </a:p>
          <a:p>
            <a:pPr algn="just"/>
            <a:endParaRPr lang="en-US" sz="2800" dirty="0"/>
          </a:p>
          <a:p>
            <a:pPr algn="just"/>
            <a:r>
              <a:rPr lang="en-US" sz="2800" dirty="0"/>
              <a:t>Still, unless </a:t>
            </a:r>
            <a:r>
              <a:rPr lang="en-US" sz="2800" i="1" dirty="0"/>
              <a:t>n </a:t>
            </a:r>
            <a:r>
              <a:rPr lang="en-US" sz="2800" dirty="0"/>
              <a:t>is extremely large or very small, the formula can give a reasonable estimate of </a:t>
            </a:r>
            <a:r>
              <a:rPr lang="en-IN" sz="2800" dirty="0"/>
              <a:t>the algorithm’s running time</a:t>
            </a:r>
          </a:p>
        </p:txBody>
      </p:sp>
      <p:sp>
        <p:nvSpPr>
          <p:cNvPr id="2" name="Date Placeholder 1">
            <a:extLst>
              <a:ext uri="{FF2B5EF4-FFF2-40B4-BE49-F238E27FC236}">
                <a16:creationId xmlns:a16="http://schemas.microsoft.com/office/drawing/2014/main" id="{059EAF99-74E6-55B4-5F09-F86E37B91C89}"/>
              </a:ext>
            </a:extLst>
          </p:cNvPr>
          <p:cNvSpPr>
            <a:spLocks noGrp="1"/>
          </p:cNvSpPr>
          <p:nvPr>
            <p:ph type="dt" sz="half" idx="10"/>
          </p:nvPr>
        </p:nvSpPr>
        <p:spPr/>
        <p:txBody>
          <a:bodyPr/>
          <a:lstStyle/>
          <a:p>
            <a:pPr>
              <a:defRPr/>
            </a:pPr>
            <a:fld id="{5403D735-70E2-447B-8B4F-897DD52F4ADE}"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570CF169-9BC2-08E7-3C3F-FCC4A8D2DC28}"/>
              </a:ext>
            </a:extLst>
          </p:cNvPr>
          <p:cNvSpPr>
            <a:spLocks noGrp="1"/>
          </p:cNvSpPr>
          <p:nvPr>
            <p:ph type="sldNum" sz="quarter" idx="12"/>
          </p:nvPr>
        </p:nvSpPr>
        <p:spPr/>
        <p:txBody>
          <a:bodyPr/>
          <a:lstStyle/>
          <a:p>
            <a:pPr>
              <a:defRPr/>
            </a:pPr>
            <a:fld id="{937DAA19-78E2-454A-BF0A-AB51F6D45129}" type="slidenum">
              <a:rPr lang="en-US" altLang="en-US" smtClean="0"/>
              <a:pPr>
                <a:defRPr/>
              </a:pPr>
              <a:t>74</a:t>
            </a:fld>
            <a:endParaRPr lang="en-US" altLang="en-US"/>
          </a:p>
        </p:txBody>
      </p:sp>
    </p:spTree>
    <p:extLst>
      <p:ext uri="{BB962C8B-B14F-4D97-AF65-F5344CB8AC3E}">
        <p14:creationId xmlns:p14="http://schemas.microsoft.com/office/powerpoint/2010/main" val="37175788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2ACCF6-815A-43CF-9327-9A23E0B70659}"/>
              </a:ext>
            </a:extLst>
          </p:cNvPr>
          <p:cNvSpPr>
            <a:spLocks noGrp="1"/>
          </p:cNvSpPr>
          <p:nvPr>
            <p:ph idx="1"/>
          </p:nvPr>
        </p:nvSpPr>
        <p:spPr>
          <a:xfrm>
            <a:off x="457200" y="887785"/>
            <a:ext cx="8345270" cy="5151505"/>
          </a:xfrm>
        </p:spPr>
        <p:txBody>
          <a:bodyPr>
            <a:noAutofit/>
          </a:bodyPr>
          <a:lstStyle/>
          <a:p>
            <a:pPr algn="just"/>
            <a:r>
              <a:rPr lang="en-US" sz="2800" dirty="0"/>
              <a:t>It also makes it possible to answer such questions as “How much faster would this algorithm run on a machine that is 10 times faster than the one we have?” </a:t>
            </a:r>
          </a:p>
          <a:p>
            <a:pPr algn="just"/>
            <a:endParaRPr lang="en-US" sz="2800" dirty="0"/>
          </a:p>
          <a:p>
            <a:pPr algn="just"/>
            <a:r>
              <a:rPr lang="en-US" sz="2800" dirty="0"/>
              <a:t>The answer is, obviously, 10 times</a:t>
            </a:r>
          </a:p>
          <a:p>
            <a:pPr algn="just"/>
            <a:endParaRPr lang="en-US" sz="2800" dirty="0"/>
          </a:p>
          <a:p>
            <a:pPr algn="just"/>
            <a:r>
              <a:rPr lang="en-US" sz="2800" dirty="0"/>
              <a:t>Or, assuming that </a:t>
            </a:r>
            <a:r>
              <a:rPr lang="en-IN" sz="2800" i="1" dirty="0"/>
              <a:t>C(n) </a:t>
            </a:r>
            <a:r>
              <a:rPr lang="en-IN" sz="2800" dirty="0"/>
              <a:t>= ½ </a:t>
            </a:r>
            <a:r>
              <a:rPr lang="en-US" sz="2800" i="1" dirty="0"/>
              <a:t>n(n </a:t>
            </a:r>
            <a:r>
              <a:rPr lang="en-US" sz="2800" dirty="0"/>
              <a:t>− 1</a:t>
            </a:r>
            <a:r>
              <a:rPr lang="en-US" sz="2800" i="1" dirty="0"/>
              <a:t>)</a:t>
            </a:r>
            <a:r>
              <a:rPr lang="en-US" sz="2800" dirty="0"/>
              <a:t>, how much longer will the algorithm run if we double its input size? </a:t>
            </a:r>
          </a:p>
          <a:p>
            <a:pPr algn="just"/>
            <a:endParaRPr lang="en-US" sz="2800" dirty="0"/>
          </a:p>
          <a:p>
            <a:pPr algn="just"/>
            <a:r>
              <a:rPr lang="en-US" sz="2800" dirty="0"/>
              <a:t>The answer is about four times longer</a:t>
            </a:r>
            <a:endParaRPr lang="en-IN" sz="2800" dirty="0"/>
          </a:p>
        </p:txBody>
      </p:sp>
      <p:sp>
        <p:nvSpPr>
          <p:cNvPr id="2" name="Date Placeholder 1">
            <a:extLst>
              <a:ext uri="{FF2B5EF4-FFF2-40B4-BE49-F238E27FC236}">
                <a16:creationId xmlns:a16="http://schemas.microsoft.com/office/drawing/2014/main" id="{15BB5BDD-FC7C-7F1F-ED3F-1EB42AE016FA}"/>
              </a:ext>
            </a:extLst>
          </p:cNvPr>
          <p:cNvSpPr>
            <a:spLocks noGrp="1"/>
          </p:cNvSpPr>
          <p:nvPr>
            <p:ph type="dt" sz="half" idx="10"/>
          </p:nvPr>
        </p:nvSpPr>
        <p:spPr/>
        <p:txBody>
          <a:bodyPr/>
          <a:lstStyle/>
          <a:p>
            <a:pPr>
              <a:defRPr/>
            </a:pPr>
            <a:fld id="{91487F8C-6F9F-4A20-B774-7DE94BCC462C}"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F41B711A-0A7B-D945-7B85-8FE813810EA6}"/>
              </a:ext>
            </a:extLst>
          </p:cNvPr>
          <p:cNvSpPr>
            <a:spLocks noGrp="1"/>
          </p:cNvSpPr>
          <p:nvPr>
            <p:ph type="sldNum" sz="quarter" idx="12"/>
          </p:nvPr>
        </p:nvSpPr>
        <p:spPr/>
        <p:txBody>
          <a:bodyPr/>
          <a:lstStyle/>
          <a:p>
            <a:pPr>
              <a:defRPr/>
            </a:pPr>
            <a:fld id="{937DAA19-78E2-454A-BF0A-AB51F6D45129}" type="slidenum">
              <a:rPr lang="en-US" altLang="en-US" smtClean="0"/>
              <a:pPr>
                <a:defRPr/>
              </a:pPr>
              <a:t>75</a:t>
            </a:fld>
            <a:endParaRPr lang="en-US" altLang="en-US"/>
          </a:p>
        </p:txBody>
      </p:sp>
    </p:spTree>
    <p:extLst>
      <p:ext uri="{BB962C8B-B14F-4D97-AF65-F5344CB8AC3E}">
        <p14:creationId xmlns:p14="http://schemas.microsoft.com/office/powerpoint/2010/main" val="24901904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6F70F7C-1853-4772-A584-0BC68741B4D7}"/>
              </a:ext>
            </a:extLst>
          </p:cNvPr>
          <p:cNvPicPr>
            <a:picLocks noChangeAspect="1"/>
          </p:cNvPicPr>
          <p:nvPr/>
        </p:nvPicPr>
        <p:blipFill>
          <a:blip r:embed="rId2"/>
          <a:stretch>
            <a:fillRect/>
          </a:stretch>
        </p:blipFill>
        <p:spPr>
          <a:xfrm>
            <a:off x="14068" y="1763815"/>
            <a:ext cx="9115864" cy="3083810"/>
          </a:xfrm>
          <a:prstGeom prst="rect">
            <a:avLst/>
          </a:prstGeom>
        </p:spPr>
      </p:pic>
      <p:sp>
        <p:nvSpPr>
          <p:cNvPr id="2" name="Date Placeholder 1">
            <a:extLst>
              <a:ext uri="{FF2B5EF4-FFF2-40B4-BE49-F238E27FC236}">
                <a16:creationId xmlns:a16="http://schemas.microsoft.com/office/drawing/2014/main" id="{51A5ACAA-2AFF-94B6-1E83-7A2A9C980646}"/>
              </a:ext>
            </a:extLst>
          </p:cNvPr>
          <p:cNvSpPr>
            <a:spLocks noGrp="1"/>
          </p:cNvSpPr>
          <p:nvPr>
            <p:ph type="dt" sz="half" idx="10"/>
          </p:nvPr>
        </p:nvSpPr>
        <p:spPr/>
        <p:txBody>
          <a:bodyPr/>
          <a:lstStyle/>
          <a:p>
            <a:pPr>
              <a:defRPr/>
            </a:pPr>
            <a:fld id="{7C66F10E-39E5-485F-B5AD-77EAEA2AB629}"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493C1F60-C30D-6037-D641-590A3090C3D9}"/>
              </a:ext>
            </a:extLst>
          </p:cNvPr>
          <p:cNvSpPr>
            <a:spLocks noGrp="1"/>
          </p:cNvSpPr>
          <p:nvPr>
            <p:ph type="sldNum" sz="quarter" idx="12"/>
          </p:nvPr>
        </p:nvSpPr>
        <p:spPr/>
        <p:txBody>
          <a:bodyPr/>
          <a:lstStyle/>
          <a:p>
            <a:pPr>
              <a:defRPr/>
            </a:pPr>
            <a:fld id="{937DAA19-78E2-454A-BF0A-AB51F6D45129}" type="slidenum">
              <a:rPr lang="en-US" altLang="en-US" smtClean="0"/>
              <a:pPr>
                <a:defRPr/>
              </a:pPr>
              <a:t>76</a:t>
            </a:fld>
            <a:endParaRPr lang="en-US" altLang="en-US"/>
          </a:p>
        </p:txBody>
      </p:sp>
    </p:spTree>
    <p:extLst>
      <p:ext uri="{BB962C8B-B14F-4D97-AF65-F5344CB8AC3E}">
        <p14:creationId xmlns:p14="http://schemas.microsoft.com/office/powerpoint/2010/main" val="287214718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82458D-6C93-4CCE-BB31-DAF9A18B5F07}"/>
              </a:ext>
            </a:extLst>
          </p:cNvPr>
          <p:cNvSpPr>
            <a:spLocks noGrp="1"/>
          </p:cNvSpPr>
          <p:nvPr>
            <p:ph idx="1"/>
          </p:nvPr>
        </p:nvSpPr>
        <p:spPr>
          <a:xfrm>
            <a:off x="457200" y="773706"/>
            <a:ext cx="8345270" cy="5352460"/>
          </a:xfrm>
        </p:spPr>
        <p:txBody>
          <a:bodyPr>
            <a:normAutofit/>
          </a:bodyPr>
          <a:lstStyle/>
          <a:p>
            <a:pPr algn="just"/>
            <a:r>
              <a:rPr lang="en-US" sz="2800" dirty="0"/>
              <a:t>Note that we were able to answer the last question without actually knowing the value of </a:t>
            </a:r>
            <a:r>
              <a:rPr lang="en-US" sz="2800" i="1" dirty="0"/>
              <a:t>cop</a:t>
            </a:r>
            <a:r>
              <a:rPr lang="en-US" sz="2800" dirty="0"/>
              <a:t>: it was neatly cancelled out in the ratio</a:t>
            </a:r>
          </a:p>
          <a:p>
            <a:pPr algn="just"/>
            <a:endParaRPr lang="en-US" sz="2800" dirty="0"/>
          </a:p>
          <a:p>
            <a:pPr algn="just"/>
            <a:r>
              <a:rPr lang="en-US" sz="2800" dirty="0"/>
              <a:t>Also note that multiplicative constant in the formula for the count </a:t>
            </a:r>
            <a:r>
              <a:rPr lang="en-US" sz="2800" i="1" dirty="0"/>
              <a:t>C(n)</a:t>
            </a:r>
            <a:r>
              <a:rPr lang="en-US" sz="2800" dirty="0"/>
              <a:t>, was also cancelled out</a:t>
            </a:r>
          </a:p>
          <a:p>
            <a:pPr algn="just"/>
            <a:endParaRPr lang="en-US" sz="2800" dirty="0"/>
          </a:p>
          <a:p>
            <a:pPr algn="just"/>
            <a:r>
              <a:rPr lang="en-US" sz="2800" dirty="0"/>
              <a:t>It is for these reasons that the efficiency analysis framework ignores multiplicative constants and concentrates on the count’s </a:t>
            </a:r>
            <a:r>
              <a:rPr lang="en-US" sz="2800" b="1" i="1" dirty="0"/>
              <a:t>order of growth </a:t>
            </a:r>
            <a:r>
              <a:rPr lang="en-US" sz="2800" dirty="0"/>
              <a:t>to within a constant </a:t>
            </a:r>
            <a:r>
              <a:rPr lang="en-IN" sz="2800" dirty="0"/>
              <a:t>multiple for large-size inputs</a:t>
            </a:r>
          </a:p>
        </p:txBody>
      </p:sp>
      <p:sp>
        <p:nvSpPr>
          <p:cNvPr id="2" name="Date Placeholder 1">
            <a:extLst>
              <a:ext uri="{FF2B5EF4-FFF2-40B4-BE49-F238E27FC236}">
                <a16:creationId xmlns:a16="http://schemas.microsoft.com/office/drawing/2014/main" id="{52A05D5C-7416-81EC-1EE9-2395AF43173D}"/>
              </a:ext>
            </a:extLst>
          </p:cNvPr>
          <p:cNvSpPr>
            <a:spLocks noGrp="1"/>
          </p:cNvSpPr>
          <p:nvPr>
            <p:ph type="dt" sz="half" idx="10"/>
          </p:nvPr>
        </p:nvSpPr>
        <p:spPr/>
        <p:txBody>
          <a:bodyPr/>
          <a:lstStyle/>
          <a:p>
            <a:pPr>
              <a:defRPr/>
            </a:pPr>
            <a:fld id="{7E0FDD33-755A-4846-A329-E5BD9FF82A21}"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9CA8338E-BA92-B87B-4A25-1B1EF3A58A1B}"/>
              </a:ext>
            </a:extLst>
          </p:cNvPr>
          <p:cNvSpPr>
            <a:spLocks noGrp="1"/>
          </p:cNvSpPr>
          <p:nvPr>
            <p:ph type="sldNum" sz="quarter" idx="12"/>
          </p:nvPr>
        </p:nvSpPr>
        <p:spPr/>
        <p:txBody>
          <a:bodyPr/>
          <a:lstStyle/>
          <a:p>
            <a:pPr>
              <a:defRPr/>
            </a:pPr>
            <a:fld id="{937DAA19-78E2-454A-BF0A-AB51F6D45129}" type="slidenum">
              <a:rPr lang="en-US" altLang="en-US" smtClean="0"/>
              <a:pPr>
                <a:defRPr/>
              </a:pPr>
              <a:t>77</a:t>
            </a:fld>
            <a:endParaRPr lang="en-US" altLang="en-US"/>
          </a:p>
        </p:txBody>
      </p:sp>
    </p:spTree>
    <p:extLst>
      <p:ext uri="{BB962C8B-B14F-4D97-AF65-F5344CB8AC3E}">
        <p14:creationId xmlns:p14="http://schemas.microsoft.com/office/powerpoint/2010/main" val="120348938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B57D91C-9A45-4C6C-B2C3-76010CC9CD63}"/>
              </a:ext>
            </a:extLst>
          </p:cNvPr>
          <p:cNvPicPr>
            <a:picLocks noChangeAspect="1"/>
          </p:cNvPicPr>
          <p:nvPr/>
        </p:nvPicPr>
        <p:blipFill>
          <a:blip r:embed="rId2"/>
          <a:stretch>
            <a:fillRect/>
          </a:stretch>
        </p:blipFill>
        <p:spPr>
          <a:xfrm>
            <a:off x="0" y="1313765"/>
            <a:ext cx="9144000" cy="4178090"/>
          </a:xfrm>
          <a:prstGeom prst="rect">
            <a:avLst/>
          </a:prstGeom>
        </p:spPr>
      </p:pic>
      <p:sp>
        <p:nvSpPr>
          <p:cNvPr id="2" name="Date Placeholder 1">
            <a:extLst>
              <a:ext uri="{FF2B5EF4-FFF2-40B4-BE49-F238E27FC236}">
                <a16:creationId xmlns:a16="http://schemas.microsoft.com/office/drawing/2014/main" id="{A201B26E-3130-2793-B89C-80C00993568C}"/>
              </a:ext>
            </a:extLst>
          </p:cNvPr>
          <p:cNvSpPr>
            <a:spLocks noGrp="1"/>
          </p:cNvSpPr>
          <p:nvPr>
            <p:ph type="dt" sz="half" idx="10"/>
          </p:nvPr>
        </p:nvSpPr>
        <p:spPr/>
        <p:txBody>
          <a:bodyPr/>
          <a:lstStyle/>
          <a:p>
            <a:pPr>
              <a:defRPr/>
            </a:pPr>
            <a:fld id="{36EA84BE-57EA-42C5-9E21-4BC06995A61F}"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DF7D352F-2F09-67FE-E76F-B7E9F23627B7}"/>
              </a:ext>
            </a:extLst>
          </p:cNvPr>
          <p:cNvSpPr>
            <a:spLocks noGrp="1"/>
          </p:cNvSpPr>
          <p:nvPr>
            <p:ph type="sldNum" sz="quarter" idx="12"/>
          </p:nvPr>
        </p:nvSpPr>
        <p:spPr/>
        <p:txBody>
          <a:bodyPr/>
          <a:lstStyle/>
          <a:p>
            <a:pPr>
              <a:defRPr/>
            </a:pPr>
            <a:fld id="{937DAA19-78E2-454A-BF0A-AB51F6D45129}" type="slidenum">
              <a:rPr lang="en-US" altLang="en-US" smtClean="0"/>
              <a:pPr>
                <a:defRPr/>
              </a:pPr>
              <a:t>78</a:t>
            </a:fld>
            <a:endParaRPr lang="en-US" altLang="en-US"/>
          </a:p>
        </p:txBody>
      </p:sp>
    </p:spTree>
    <p:extLst>
      <p:ext uri="{BB962C8B-B14F-4D97-AF65-F5344CB8AC3E}">
        <p14:creationId xmlns:p14="http://schemas.microsoft.com/office/powerpoint/2010/main" val="267255953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957D5B-6333-4061-9C3A-52DD48286391}"/>
              </a:ext>
            </a:extLst>
          </p:cNvPr>
          <p:cNvSpPr>
            <a:spLocks noGrp="1"/>
          </p:cNvSpPr>
          <p:nvPr>
            <p:ph idx="1"/>
          </p:nvPr>
        </p:nvSpPr>
        <p:spPr/>
        <p:txBody>
          <a:bodyPr/>
          <a:lstStyle/>
          <a:p>
            <a:pPr marL="0" indent="0">
              <a:buNone/>
            </a:pPr>
            <a:endParaRPr lang="en-US" dirty="0"/>
          </a:p>
          <a:p>
            <a:pPr marL="0" indent="0" algn="just">
              <a:buNone/>
            </a:pPr>
            <a:r>
              <a:rPr lang="en-US" dirty="0"/>
              <a:t>Algorithms that require an exponential number of operations are practical for solving only problems of very small sizes</a:t>
            </a:r>
            <a:endParaRPr lang="en-IN" dirty="0"/>
          </a:p>
        </p:txBody>
      </p:sp>
      <p:sp>
        <p:nvSpPr>
          <p:cNvPr id="2" name="Date Placeholder 1">
            <a:extLst>
              <a:ext uri="{FF2B5EF4-FFF2-40B4-BE49-F238E27FC236}">
                <a16:creationId xmlns:a16="http://schemas.microsoft.com/office/drawing/2014/main" id="{6DBEFCB1-267B-2BD1-1EDA-E3D8039B321F}"/>
              </a:ext>
            </a:extLst>
          </p:cNvPr>
          <p:cNvSpPr>
            <a:spLocks noGrp="1"/>
          </p:cNvSpPr>
          <p:nvPr>
            <p:ph type="dt" sz="half" idx="10"/>
          </p:nvPr>
        </p:nvSpPr>
        <p:spPr/>
        <p:txBody>
          <a:bodyPr/>
          <a:lstStyle/>
          <a:p>
            <a:pPr>
              <a:defRPr/>
            </a:pPr>
            <a:fld id="{39AB4ADA-3C4A-4B4C-A9B1-EEC58B0A05E0}"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9B4D6855-FA4F-AA2D-6A4E-45AF464ADC78}"/>
              </a:ext>
            </a:extLst>
          </p:cNvPr>
          <p:cNvSpPr>
            <a:spLocks noGrp="1"/>
          </p:cNvSpPr>
          <p:nvPr>
            <p:ph type="sldNum" sz="quarter" idx="12"/>
          </p:nvPr>
        </p:nvSpPr>
        <p:spPr/>
        <p:txBody>
          <a:bodyPr/>
          <a:lstStyle/>
          <a:p>
            <a:pPr>
              <a:defRPr/>
            </a:pPr>
            <a:fld id="{937DAA19-78E2-454A-BF0A-AB51F6D45129}" type="slidenum">
              <a:rPr lang="en-US" altLang="en-US" smtClean="0"/>
              <a:pPr>
                <a:defRPr/>
              </a:pPr>
              <a:t>79</a:t>
            </a:fld>
            <a:endParaRPr lang="en-US" altLang="en-US"/>
          </a:p>
        </p:txBody>
      </p:sp>
    </p:spTree>
    <p:extLst>
      <p:ext uri="{BB962C8B-B14F-4D97-AF65-F5344CB8AC3E}">
        <p14:creationId xmlns:p14="http://schemas.microsoft.com/office/powerpoint/2010/main" val="304044033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3F771-0DB9-40F7-8877-0A5BE5B78D5D}"/>
              </a:ext>
            </a:extLst>
          </p:cNvPr>
          <p:cNvSpPr>
            <a:spLocks noGrp="1"/>
          </p:cNvSpPr>
          <p:nvPr>
            <p:ph type="title"/>
          </p:nvPr>
        </p:nvSpPr>
        <p:spPr>
          <a:xfrm>
            <a:off x="161510" y="233645"/>
            <a:ext cx="5670630" cy="630070"/>
          </a:xfrm>
        </p:spPr>
        <p:txBody>
          <a:bodyPr/>
          <a:lstStyle/>
          <a:p>
            <a:r>
              <a:rPr lang="en-US" dirty="0"/>
              <a:t>Worst-Case, Best-Case, and </a:t>
            </a:r>
            <a:br>
              <a:rPr lang="en-US" dirty="0"/>
            </a:br>
            <a:r>
              <a:rPr lang="en-US" dirty="0"/>
              <a:t>Average-Case Efficiencies</a:t>
            </a:r>
            <a:endParaRPr lang="en-IN" dirty="0"/>
          </a:p>
        </p:txBody>
      </p:sp>
      <p:pic>
        <p:nvPicPr>
          <p:cNvPr id="5" name="Content Placeholder 4">
            <a:extLst>
              <a:ext uri="{FF2B5EF4-FFF2-40B4-BE49-F238E27FC236}">
                <a16:creationId xmlns:a16="http://schemas.microsoft.com/office/drawing/2014/main" id="{AA60AE25-12AB-46BE-AF88-B914D292CD9A}"/>
              </a:ext>
            </a:extLst>
          </p:cNvPr>
          <p:cNvPicPr>
            <a:picLocks noGrp="1" noChangeAspect="1"/>
          </p:cNvPicPr>
          <p:nvPr>
            <p:ph idx="1"/>
          </p:nvPr>
        </p:nvPicPr>
        <p:blipFill>
          <a:blip r:embed="rId2"/>
          <a:stretch>
            <a:fillRect/>
          </a:stretch>
        </p:blipFill>
        <p:spPr>
          <a:xfrm>
            <a:off x="0" y="1313765"/>
            <a:ext cx="9144000" cy="4500500"/>
          </a:xfrm>
          <a:prstGeom prst="rect">
            <a:avLst/>
          </a:prstGeom>
        </p:spPr>
      </p:pic>
      <p:sp>
        <p:nvSpPr>
          <p:cNvPr id="3" name="Date Placeholder 2">
            <a:extLst>
              <a:ext uri="{FF2B5EF4-FFF2-40B4-BE49-F238E27FC236}">
                <a16:creationId xmlns:a16="http://schemas.microsoft.com/office/drawing/2014/main" id="{DBAF02A0-3463-EC73-AF00-1D9EB5E67E28}"/>
              </a:ext>
            </a:extLst>
          </p:cNvPr>
          <p:cNvSpPr>
            <a:spLocks noGrp="1"/>
          </p:cNvSpPr>
          <p:nvPr>
            <p:ph type="dt" sz="half" idx="10"/>
          </p:nvPr>
        </p:nvSpPr>
        <p:spPr/>
        <p:txBody>
          <a:bodyPr/>
          <a:lstStyle/>
          <a:p>
            <a:pPr>
              <a:defRPr/>
            </a:pPr>
            <a:fld id="{BF4DF70F-20F4-4322-9851-5689A0E0DCE2}"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77115328-D3B4-19B9-DA16-80A7583BD8B9}"/>
              </a:ext>
            </a:extLst>
          </p:cNvPr>
          <p:cNvSpPr>
            <a:spLocks noGrp="1"/>
          </p:cNvSpPr>
          <p:nvPr>
            <p:ph type="sldNum" sz="quarter" idx="12"/>
          </p:nvPr>
        </p:nvSpPr>
        <p:spPr/>
        <p:txBody>
          <a:bodyPr/>
          <a:lstStyle/>
          <a:p>
            <a:pPr>
              <a:defRPr/>
            </a:pPr>
            <a:fld id="{937DAA19-78E2-454A-BF0A-AB51F6D45129}" type="slidenum">
              <a:rPr lang="en-US" altLang="en-US" smtClean="0"/>
              <a:pPr>
                <a:defRPr/>
              </a:pPr>
              <a:t>80</a:t>
            </a:fld>
            <a:endParaRPr lang="en-US" altLang="en-US"/>
          </a:p>
        </p:txBody>
      </p:sp>
    </p:spTree>
    <p:extLst>
      <p:ext uri="{BB962C8B-B14F-4D97-AF65-F5344CB8AC3E}">
        <p14:creationId xmlns:p14="http://schemas.microsoft.com/office/powerpoint/2010/main" val="20417497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642878-2D5A-45A4-A4E7-6398316E3A5E}"/>
              </a:ext>
            </a:extLst>
          </p:cNvPr>
          <p:cNvSpPr>
            <a:spLocks noGrp="1"/>
          </p:cNvSpPr>
          <p:nvPr>
            <p:ph idx="1"/>
          </p:nvPr>
        </p:nvSpPr>
        <p:spPr>
          <a:xfrm>
            <a:off x="457200" y="1133745"/>
            <a:ext cx="8229600" cy="4992419"/>
          </a:xfrm>
        </p:spPr>
        <p:txBody>
          <a:bodyPr>
            <a:normAutofit/>
          </a:bodyPr>
          <a:lstStyle/>
          <a:p>
            <a:pPr algn="just"/>
            <a:r>
              <a:rPr lang="en-US" sz="2800" dirty="0"/>
              <a:t>The </a:t>
            </a:r>
            <a:r>
              <a:rPr lang="en-US" sz="2800" b="1" i="1" dirty="0"/>
              <a:t>worst-case efficiency </a:t>
            </a:r>
            <a:r>
              <a:rPr lang="en-US" sz="2800" dirty="0"/>
              <a:t>of an algorithm is its efficiency for the worst-case input of size </a:t>
            </a:r>
            <a:r>
              <a:rPr lang="en-US" sz="2800" i="1" dirty="0"/>
              <a:t>n</a:t>
            </a:r>
            <a:r>
              <a:rPr lang="en-US" sz="2800" dirty="0"/>
              <a:t>, which is an input (or inputs) of size </a:t>
            </a:r>
            <a:r>
              <a:rPr lang="en-US" sz="2800" i="1" dirty="0"/>
              <a:t>n </a:t>
            </a:r>
            <a:r>
              <a:rPr lang="en-US" sz="2800" dirty="0"/>
              <a:t>for which the algorithm runs the longest among all possible inputs of that size. </a:t>
            </a:r>
            <a:r>
              <a:rPr lang="en-IN" sz="2800" i="1" dirty="0" err="1"/>
              <a:t>C</a:t>
            </a:r>
            <a:r>
              <a:rPr lang="en-IN" sz="2800" i="1" baseline="-25000" dirty="0" err="1"/>
              <a:t>worst</a:t>
            </a:r>
            <a:r>
              <a:rPr lang="en-IN" sz="2800" i="1" baseline="-25000" dirty="0"/>
              <a:t>(n)</a:t>
            </a:r>
            <a:r>
              <a:rPr lang="en-IN" sz="2800" i="1" dirty="0"/>
              <a:t> </a:t>
            </a:r>
            <a:r>
              <a:rPr lang="en-IN" sz="2800" dirty="0"/>
              <a:t>= </a:t>
            </a:r>
            <a:r>
              <a:rPr lang="en-IN" sz="2800" i="1" dirty="0"/>
              <a:t>n</a:t>
            </a:r>
          </a:p>
          <a:p>
            <a:pPr algn="just"/>
            <a:endParaRPr lang="en-IN" sz="2800" i="1" dirty="0"/>
          </a:p>
          <a:p>
            <a:pPr algn="just"/>
            <a:r>
              <a:rPr lang="en-US" sz="2800" dirty="0"/>
              <a:t>The </a:t>
            </a:r>
            <a:r>
              <a:rPr lang="en-US" sz="2800" b="1" i="1" dirty="0"/>
              <a:t>best-case efficiency </a:t>
            </a:r>
            <a:r>
              <a:rPr lang="en-US" sz="2800" dirty="0"/>
              <a:t>of an algorithm is its efficiency for the best-case input of size </a:t>
            </a:r>
            <a:r>
              <a:rPr lang="en-US" sz="2800" i="1" dirty="0"/>
              <a:t>n</a:t>
            </a:r>
            <a:r>
              <a:rPr lang="en-US" sz="2800" dirty="0"/>
              <a:t>, which is an input (or inputs) of size </a:t>
            </a:r>
            <a:r>
              <a:rPr lang="en-US" sz="2800" i="1" dirty="0"/>
              <a:t>n </a:t>
            </a:r>
            <a:r>
              <a:rPr lang="en-US" sz="2800" dirty="0"/>
              <a:t>for which the algorithm runs the fastest among all possible inputs of that size</a:t>
            </a:r>
            <a:endParaRPr lang="en-IN" sz="2800" dirty="0"/>
          </a:p>
        </p:txBody>
      </p:sp>
      <p:sp>
        <p:nvSpPr>
          <p:cNvPr id="2" name="Date Placeholder 1">
            <a:extLst>
              <a:ext uri="{FF2B5EF4-FFF2-40B4-BE49-F238E27FC236}">
                <a16:creationId xmlns:a16="http://schemas.microsoft.com/office/drawing/2014/main" id="{5082686A-21DD-B311-EE23-815D43BA5B0A}"/>
              </a:ext>
            </a:extLst>
          </p:cNvPr>
          <p:cNvSpPr>
            <a:spLocks noGrp="1"/>
          </p:cNvSpPr>
          <p:nvPr>
            <p:ph type="dt" sz="half" idx="10"/>
          </p:nvPr>
        </p:nvSpPr>
        <p:spPr/>
        <p:txBody>
          <a:bodyPr/>
          <a:lstStyle/>
          <a:p>
            <a:pPr>
              <a:defRPr/>
            </a:pPr>
            <a:fld id="{797D86FE-B764-4971-9A02-603339AEE695}"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C9B2238F-5280-0728-0057-928FF90AD59C}"/>
              </a:ext>
            </a:extLst>
          </p:cNvPr>
          <p:cNvSpPr>
            <a:spLocks noGrp="1"/>
          </p:cNvSpPr>
          <p:nvPr>
            <p:ph type="sldNum" sz="quarter" idx="12"/>
          </p:nvPr>
        </p:nvSpPr>
        <p:spPr/>
        <p:txBody>
          <a:bodyPr/>
          <a:lstStyle/>
          <a:p>
            <a:pPr>
              <a:defRPr/>
            </a:pPr>
            <a:fld id="{937DAA19-78E2-454A-BF0A-AB51F6D45129}" type="slidenum">
              <a:rPr lang="en-US" altLang="en-US" smtClean="0"/>
              <a:pPr>
                <a:defRPr/>
              </a:pPr>
              <a:t>81</a:t>
            </a:fld>
            <a:endParaRPr lang="en-US" altLang="en-US"/>
          </a:p>
        </p:txBody>
      </p:sp>
    </p:spTree>
    <p:extLst>
      <p:ext uri="{BB962C8B-B14F-4D97-AF65-F5344CB8AC3E}">
        <p14:creationId xmlns:p14="http://schemas.microsoft.com/office/powerpoint/2010/main" val="253849108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A0A574-C6C6-4A01-864D-CC50698069A9}"/>
              </a:ext>
            </a:extLst>
          </p:cNvPr>
          <p:cNvSpPr>
            <a:spLocks noGrp="1"/>
          </p:cNvSpPr>
          <p:nvPr>
            <p:ph idx="1"/>
          </p:nvPr>
        </p:nvSpPr>
        <p:spPr/>
        <p:txBody>
          <a:bodyPr/>
          <a:lstStyle/>
          <a:p>
            <a:pPr marL="0" indent="0" algn="just">
              <a:buNone/>
            </a:pPr>
            <a:r>
              <a:rPr lang="en-US" dirty="0"/>
              <a:t>The best-case inputs for sequential search are lists of size </a:t>
            </a:r>
            <a:r>
              <a:rPr lang="en-US" i="1" dirty="0"/>
              <a:t>n </a:t>
            </a:r>
            <a:r>
              <a:rPr lang="en-US" dirty="0"/>
              <a:t>with their first element equal to a search key; accordingly, </a:t>
            </a:r>
            <a:r>
              <a:rPr lang="en-US" i="1" dirty="0" err="1"/>
              <a:t>C</a:t>
            </a:r>
            <a:r>
              <a:rPr lang="en-US" i="1" baseline="-25000" dirty="0" err="1"/>
              <a:t>best</a:t>
            </a:r>
            <a:r>
              <a:rPr lang="en-US" i="1" dirty="0"/>
              <a:t>(n) </a:t>
            </a:r>
            <a:r>
              <a:rPr lang="en-US" dirty="0"/>
              <a:t>= 1</a:t>
            </a:r>
            <a:endParaRPr lang="en-IN" dirty="0"/>
          </a:p>
        </p:txBody>
      </p:sp>
      <p:sp>
        <p:nvSpPr>
          <p:cNvPr id="2" name="Date Placeholder 1">
            <a:extLst>
              <a:ext uri="{FF2B5EF4-FFF2-40B4-BE49-F238E27FC236}">
                <a16:creationId xmlns:a16="http://schemas.microsoft.com/office/drawing/2014/main" id="{FA9065BC-06FE-E745-5714-0A0244E0F7EA}"/>
              </a:ext>
            </a:extLst>
          </p:cNvPr>
          <p:cNvSpPr>
            <a:spLocks noGrp="1"/>
          </p:cNvSpPr>
          <p:nvPr>
            <p:ph type="dt" sz="half" idx="10"/>
          </p:nvPr>
        </p:nvSpPr>
        <p:spPr/>
        <p:txBody>
          <a:bodyPr/>
          <a:lstStyle/>
          <a:p>
            <a:pPr>
              <a:defRPr/>
            </a:pPr>
            <a:fld id="{7DF42AD9-B8AE-4E0D-A539-69E56EA130BE}"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6AF4D023-3FBE-8D12-59CF-2780691A5E6D}"/>
              </a:ext>
            </a:extLst>
          </p:cNvPr>
          <p:cNvSpPr>
            <a:spLocks noGrp="1"/>
          </p:cNvSpPr>
          <p:nvPr>
            <p:ph type="sldNum" sz="quarter" idx="12"/>
          </p:nvPr>
        </p:nvSpPr>
        <p:spPr/>
        <p:txBody>
          <a:bodyPr/>
          <a:lstStyle/>
          <a:p>
            <a:pPr>
              <a:defRPr/>
            </a:pPr>
            <a:fld id="{937DAA19-78E2-454A-BF0A-AB51F6D45129}" type="slidenum">
              <a:rPr lang="en-US" altLang="en-US" smtClean="0"/>
              <a:pPr>
                <a:defRPr/>
              </a:pPr>
              <a:t>82</a:t>
            </a:fld>
            <a:endParaRPr lang="en-US" altLang="en-US"/>
          </a:p>
        </p:txBody>
      </p:sp>
    </p:spTree>
    <p:extLst>
      <p:ext uri="{BB962C8B-B14F-4D97-AF65-F5344CB8AC3E}">
        <p14:creationId xmlns:p14="http://schemas.microsoft.com/office/powerpoint/2010/main" val="153439218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E5A1F2-566C-452B-A593-641D1AF4FC02}"/>
              </a:ext>
            </a:extLst>
          </p:cNvPr>
          <p:cNvSpPr>
            <a:spLocks noGrp="1"/>
          </p:cNvSpPr>
          <p:nvPr>
            <p:ph idx="1"/>
          </p:nvPr>
        </p:nvSpPr>
        <p:spPr>
          <a:xfrm>
            <a:off x="457200" y="1088741"/>
            <a:ext cx="8229600" cy="5037424"/>
          </a:xfrm>
        </p:spPr>
        <p:txBody>
          <a:bodyPr>
            <a:normAutofit lnSpcReduction="10000"/>
          </a:bodyPr>
          <a:lstStyle/>
          <a:p>
            <a:pPr algn="just"/>
            <a:r>
              <a:rPr lang="en-US" sz="3000" dirty="0"/>
              <a:t>To analyze the algorithm’s average case efficiency, we must make some assumptions about possible inputs of size </a:t>
            </a:r>
            <a:r>
              <a:rPr lang="en-US" sz="3000" i="1" dirty="0"/>
              <a:t>n</a:t>
            </a:r>
          </a:p>
          <a:p>
            <a:pPr algn="just"/>
            <a:endParaRPr lang="en-US" sz="3000" dirty="0"/>
          </a:p>
          <a:p>
            <a:pPr algn="just"/>
            <a:r>
              <a:rPr lang="en-US" sz="3000" dirty="0"/>
              <a:t>Let’s consider again sequential search:</a:t>
            </a:r>
          </a:p>
          <a:p>
            <a:pPr algn="just"/>
            <a:endParaRPr lang="en-US" sz="3000" dirty="0"/>
          </a:p>
          <a:p>
            <a:pPr algn="just"/>
            <a:r>
              <a:rPr lang="en-US" sz="3000" dirty="0"/>
              <a:t>The standard assumptions are that </a:t>
            </a:r>
          </a:p>
          <a:p>
            <a:pPr lvl="1" algn="just"/>
            <a:r>
              <a:rPr lang="en-US" sz="2600" dirty="0"/>
              <a:t>(a) the probability of a successful search is equal to </a:t>
            </a:r>
            <a:r>
              <a:rPr lang="en-US" sz="2600" i="1" dirty="0"/>
              <a:t>p </a:t>
            </a:r>
            <a:r>
              <a:rPr lang="en-US" sz="2600" dirty="0"/>
              <a:t>(0 ≤ </a:t>
            </a:r>
            <a:r>
              <a:rPr lang="en-US" sz="2600" i="1" dirty="0"/>
              <a:t>p </a:t>
            </a:r>
            <a:r>
              <a:rPr lang="en-US" sz="2600" dirty="0"/>
              <a:t>≤ 1) and </a:t>
            </a:r>
          </a:p>
          <a:p>
            <a:pPr lvl="1" algn="just"/>
            <a:r>
              <a:rPr lang="en-US" sz="2600" dirty="0"/>
              <a:t>(b) the probability of the first match occurring in the </a:t>
            </a:r>
            <a:r>
              <a:rPr lang="en-US" sz="2600" i="1" dirty="0" err="1"/>
              <a:t>i</a:t>
            </a:r>
            <a:r>
              <a:rPr lang="en-US" sz="2600" dirty="0" err="1"/>
              <a:t>th</a:t>
            </a:r>
            <a:r>
              <a:rPr lang="en-US" sz="2600" dirty="0"/>
              <a:t> position of the list is the same </a:t>
            </a:r>
            <a:r>
              <a:rPr lang="en-IN" sz="2600" dirty="0"/>
              <a:t>for every </a:t>
            </a:r>
            <a:r>
              <a:rPr lang="en-IN" sz="2600" i="1" dirty="0" err="1"/>
              <a:t>i</a:t>
            </a:r>
            <a:r>
              <a:rPr lang="en-IN" sz="2600" dirty="0"/>
              <a:t>.</a:t>
            </a:r>
          </a:p>
        </p:txBody>
      </p:sp>
      <p:sp>
        <p:nvSpPr>
          <p:cNvPr id="2" name="Date Placeholder 1">
            <a:extLst>
              <a:ext uri="{FF2B5EF4-FFF2-40B4-BE49-F238E27FC236}">
                <a16:creationId xmlns:a16="http://schemas.microsoft.com/office/drawing/2014/main" id="{10044448-8F01-8C29-71D3-D5C312978295}"/>
              </a:ext>
            </a:extLst>
          </p:cNvPr>
          <p:cNvSpPr>
            <a:spLocks noGrp="1"/>
          </p:cNvSpPr>
          <p:nvPr>
            <p:ph type="dt" sz="half" idx="10"/>
          </p:nvPr>
        </p:nvSpPr>
        <p:spPr/>
        <p:txBody>
          <a:bodyPr/>
          <a:lstStyle/>
          <a:p>
            <a:pPr>
              <a:defRPr/>
            </a:pPr>
            <a:fld id="{28270781-A7A7-4805-9833-BA22ED6D6D47}"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C51E564A-1E78-FE96-B945-7856FC80507B}"/>
              </a:ext>
            </a:extLst>
          </p:cNvPr>
          <p:cNvSpPr>
            <a:spLocks noGrp="1"/>
          </p:cNvSpPr>
          <p:nvPr>
            <p:ph type="sldNum" sz="quarter" idx="12"/>
          </p:nvPr>
        </p:nvSpPr>
        <p:spPr/>
        <p:txBody>
          <a:bodyPr/>
          <a:lstStyle/>
          <a:p>
            <a:pPr>
              <a:defRPr/>
            </a:pPr>
            <a:fld id="{937DAA19-78E2-454A-BF0A-AB51F6D45129}" type="slidenum">
              <a:rPr lang="en-US" altLang="en-US" smtClean="0"/>
              <a:pPr>
                <a:defRPr/>
              </a:pPr>
              <a:t>83</a:t>
            </a:fld>
            <a:endParaRPr lang="en-US" altLang="en-US"/>
          </a:p>
        </p:txBody>
      </p:sp>
    </p:spTree>
    <p:extLst>
      <p:ext uri="{BB962C8B-B14F-4D97-AF65-F5344CB8AC3E}">
        <p14:creationId xmlns:p14="http://schemas.microsoft.com/office/powerpoint/2010/main" val="273061420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A08FC2-5201-4113-AD7A-91F7EB63F1EA}"/>
              </a:ext>
            </a:extLst>
          </p:cNvPr>
          <p:cNvSpPr>
            <a:spLocks noGrp="1"/>
          </p:cNvSpPr>
          <p:nvPr>
            <p:ph idx="1"/>
          </p:nvPr>
        </p:nvSpPr>
        <p:spPr>
          <a:xfrm>
            <a:off x="457200" y="1088741"/>
            <a:ext cx="8229600" cy="5037424"/>
          </a:xfrm>
        </p:spPr>
        <p:txBody>
          <a:bodyPr>
            <a:normAutofit/>
          </a:bodyPr>
          <a:lstStyle/>
          <a:p>
            <a:pPr algn="just"/>
            <a:r>
              <a:rPr lang="en-US" sz="2800" dirty="0"/>
              <a:t>In the case of a successful search, the probability of the first match occurring in the </a:t>
            </a:r>
            <a:r>
              <a:rPr lang="en-US" sz="2800" i="1" dirty="0" err="1"/>
              <a:t>i</a:t>
            </a:r>
            <a:r>
              <a:rPr lang="en-US" sz="2800" dirty="0" err="1"/>
              <a:t>th</a:t>
            </a:r>
            <a:r>
              <a:rPr lang="en-US" sz="2800" dirty="0"/>
              <a:t> position of the list is </a:t>
            </a:r>
            <a:r>
              <a:rPr lang="en-US" sz="2800" i="1" dirty="0" err="1"/>
              <a:t>p/n</a:t>
            </a:r>
            <a:r>
              <a:rPr lang="en-US" sz="2800" i="1" dirty="0"/>
              <a:t> </a:t>
            </a:r>
            <a:r>
              <a:rPr lang="en-US" sz="2800" dirty="0"/>
              <a:t>for every </a:t>
            </a:r>
            <a:r>
              <a:rPr lang="en-US" sz="2800" i="1" dirty="0" err="1"/>
              <a:t>i</a:t>
            </a:r>
            <a:r>
              <a:rPr lang="en-US" sz="2800" dirty="0"/>
              <a:t>, and the number of comparisons made by the algorithm in such a situation is obviously </a:t>
            </a:r>
            <a:r>
              <a:rPr lang="en-US" sz="2800" i="1" dirty="0"/>
              <a:t>i</a:t>
            </a:r>
          </a:p>
          <a:p>
            <a:pPr algn="just"/>
            <a:endParaRPr lang="en-US" sz="2800" i="1" dirty="0"/>
          </a:p>
          <a:p>
            <a:pPr algn="just"/>
            <a:r>
              <a:rPr lang="en-US" sz="2800" dirty="0"/>
              <a:t>In the case of an unsuccessful search, the number of comparisons will be </a:t>
            </a:r>
            <a:r>
              <a:rPr lang="en-US" sz="2800" i="1" dirty="0"/>
              <a:t>n </a:t>
            </a:r>
            <a:r>
              <a:rPr lang="en-US" sz="2800" dirty="0"/>
              <a:t>with the probability of such a search being </a:t>
            </a:r>
            <a:r>
              <a:rPr lang="en-US" sz="2800" i="1" dirty="0"/>
              <a:t>(</a:t>
            </a:r>
            <a:r>
              <a:rPr lang="en-US" sz="2800" dirty="0"/>
              <a:t>1− </a:t>
            </a:r>
            <a:r>
              <a:rPr lang="en-US" sz="2800" i="1" dirty="0"/>
              <a:t>p)</a:t>
            </a:r>
            <a:endParaRPr lang="en-IN" sz="2800" dirty="0"/>
          </a:p>
        </p:txBody>
      </p:sp>
      <p:sp>
        <p:nvSpPr>
          <p:cNvPr id="2" name="Date Placeholder 1">
            <a:extLst>
              <a:ext uri="{FF2B5EF4-FFF2-40B4-BE49-F238E27FC236}">
                <a16:creationId xmlns:a16="http://schemas.microsoft.com/office/drawing/2014/main" id="{FF4458FE-C23E-657A-A237-C6129AEF5D80}"/>
              </a:ext>
            </a:extLst>
          </p:cNvPr>
          <p:cNvSpPr>
            <a:spLocks noGrp="1"/>
          </p:cNvSpPr>
          <p:nvPr>
            <p:ph type="dt" sz="half" idx="10"/>
          </p:nvPr>
        </p:nvSpPr>
        <p:spPr/>
        <p:txBody>
          <a:bodyPr/>
          <a:lstStyle/>
          <a:p>
            <a:pPr>
              <a:defRPr/>
            </a:pPr>
            <a:fld id="{9E2958F5-6DF4-42A3-BCEF-EAB67E87D61D}"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852817FA-65D4-AF27-0C64-82C0C208AC1F}"/>
              </a:ext>
            </a:extLst>
          </p:cNvPr>
          <p:cNvSpPr>
            <a:spLocks noGrp="1"/>
          </p:cNvSpPr>
          <p:nvPr>
            <p:ph type="sldNum" sz="quarter" idx="12"/>
          </p:nvPr>
        </p:nvSpPr>
        <p:spPr/>
        <p:txBody>
          <a:bodyPr/>
          <a:lstStyle/>
          <a:p>
            <a:pPr>
              <a:defRPr/>
            </a:pPr>
            <a:fld id="{937DAA19-78E2-454A-BF0A-AB51F6D45129}" type="slidenum">
              <a:rPr lang="en-US" altLang="en-US" smtClean="0"/>
              <a:pPr>
                <a:defRPr/>
              </a:pPr>
              <a:t>84</a:t>
            </a:fld>
            <a:endParaRPr lang="en-US" altLang="en-US"/>
          </a:p>
        </p:txBody>
      </p:sp>
    </p:spTree>
    <p:extLst>
      <p:ext uri="{BB962C8B-B14F-4D97-AF65-F5344CB8AC3E}">
        <p14:creationId xmlns:p14="http://schemas.microsoft.com/office/powerpoint/2010/main" val="405662747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A33AD18-4D1C-407A-9EE3-9CFA4DAD4AB2}"/>
              </a:ext>
            </a:extLst>
          </p:cNvPr>
          <p:cNvPicPr>
            <a:picLocks noChangeAspect="1"/>
          </p:cNvPicPr>
          <p:nvPr/>
        </p:nvPicPr>
        <p:blipFill>
          <a:blip r:embed="rId2"/>
          <a:stretch>
            <a:fillRect/>
          </a:stretch>
        </p:blipFill>
        <p:spPr>
          <a:xfrm>
            <a:off x="23982" y="1808820"/>
            <a:ext cx="9120018" cy="3510390"/>
          </a:xfrm>
          <a:prstGeom prst="rect">
            <a:avLst/>
          </a:prstGeom>
        </p:spPr>
      </p:pic>
      <p:sp>
        <p:nvSpPr>
          <p:cNvPr id="2" name="Date Placeholder 1">
            <a:extLst>
              <a:ext uri="{FF2B5EF4-FFF2-40B4-BE49-F238E27FC236}">
                <a16:creationId xmlns:a16="http://schemas.microsoft.com/office/drawing/2014/main" id="{3416DB4D-8261-B120-5FEE-F2A73A20F6A3}"/>
              </a:ext>
            </a:extLst>
          </p:cNvPr>
          <p:cNvSpPr>
            <a:spLocks noGrp="1"/>
          </p:cNvSpPr>
          <p:nvPr>
            <p:ph type="dt" sz="half" idx="10"/>
          </p:nvPr>
        </p:nvSpPr>
        <p:spPr/>
        <p:txBody>
          <a:bodyPr/>
          <a:lstStyle/>
          <a:p>
            <a:pPr>
              <a:defRPr/>
            </a:pPr>
            <a:fld id="{9F808F35-A788-4C15-8EFB-B24ABF7B44F5}"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6CD81B71-351E-7C28-4018-29D5ED441EAF}"/>
              </a:ext>
            </a:extLst>
          </p:cNvPr>
          <p:cNvSpPr>
            <a:spLocks noGrp="1"/>
          </p:cNvSpPr>
          <p:nvPr>
            <p:ph type="sldNum" sz="quarter" idx="12"/>
          </p:nvPr>
        </p:nvSpPr>
        <p:spPr/>
        <p:txBody>
          <a:bodyPr/>
          <a:lstStyle/>
          <a:p>
            <a:pPr>
              <a:defRPr/>
            </a:pPr>
            <a:fld id="{937DAA19-78E2-454A-BF0A-AB51F6D45129}" type="slidenum">
              <a:rPr lang="en-US" altLang="en-US" smtClean="0"/>
              <a:pPr>
                <a:defRPr/>
              </a:pPr>
              <a:t>85</a:t>
            </a:fld>
            <a:endParaRPr lang="en-US" altLang="en-US"/>
          </a:p>
        </p:txBody>
      </p:sp>
    </p:spTree>
    <p:extLst>
      <p:ext uri="{BB962C8B-B14F-4D97-AF65-F5344CB8AC3E}">
        <p14:creationId xmlns:p14="http://schemas.microsoft.com/office/powerpoint/2010/main" val="186935969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387475-DBD6-4CF6-86AF-AA0F497D16B2}"/>
              </a:ext>
            </a:extLst>
          </p:cNvPr>
          <p:cNvSpPr>
            <a:spLocks noGrp="1"/>
          </p:cNvSpPr>
          <p:nvPr>
            <p:ph idx="1"/>
          </p:nvPr>
        </p:nvSpPr>
        <p:spPr>
          <a:xfrm>
            <a:off x="457200" y="908721"/>
            <a:ext cx="8229600" cy="5217444"/>
          </a:xfrm>
        </p:spPr>
        <p:txBody>
          <a:bodyPr>
            <a:normAutofit/>
          </a:bodyPr>
          <a:lstStyle/>
          <a:p>
            <a:pPr algn="just"/>
            <a:r>
              <a:rPr lang="en-US" sz="2600" dirty="0"/>
              <a:t>This general formula yields some quite reasonable answers</a:t>
            </a:r>
          </a:p>
          <a:p>
            <a:pPr algn="just"/>
            <a:endParaRPr lang="en-US" sz="2600" dirty="0"/>
          </a:p>
          <a:p>
            <a:pPr algn="just"/>
            <a:r>
              <a:rPr lang="en-US" sz="2600" dirty="0"/>
              <a:t>For example, if </a:t>
            </a:r>
            <a:r>
              <a:rPr lang="en-US" sz="2600" i="1" dirty="0"/>
              <a:t>p </a:t>
            </a:r>
            <a:r>
              <a:rPr lang="en-US" sz="2600" dirty="0"/>
              <a:t>= 1 (the search must be successful), the average number of key comparisons made by sequential search is </a:t>
            </a:r>
            <a:r>
              <a:rPr lang="en-US" sz="2600" i="1" dirty="0"/>
              <a:t>(n </a:t>
            </a:r>
            <a:r>
              <a:rPr lang="en-US" sz="2600" dirty="0"/>
              <a:t>+ 1</a:t>
            </a:r>
            <a:r>
              <a:rPr lang="en-US" sz="2600" i="1" dirty="0"/>
              <a:t>)/</a:t>
            </a:r>
            <a:r>
              <a:rPr lang="en-US" sz="2600" dirty="0"/>
              <a:t>2; that is, the algorithm will inspect, on average, about half of the list’s elements</a:t>
            </a:r>
          </a:p>
          <a:p>
            <a:pPr algn="just"/>
            <a:endParaRPr lang="en-US" sz="2600" dirty="0"/>
          </a:p>
          <a:p>
            <a:pPr algn="just"/>
            <a:r>
              <a:rPr lang="en-US" sz="2600" dirty="0"/>
              <a:t>If </a:t>
            </a:r>
            <a:r>
              <a:rPr lang="en-US" sz="2600" i="1" dirty="0"/>
              <a:t>p </a:t>
            </a:r>
            <a:r>
              <a:rPr lang="en-US" sz="2600" dirty="0"/>
              <a:t>= 0 (the search must be unsuccessful), the average number of key comparisons will be </a:t>
            </a:r>
            <a:r>
              <a:rPr lang="en-US" sz="2600" i="1" dirty="0"/>
              <a:t>n </a:t>
            </a:r>
            <a:r>
              <a:rPr lang="en-US" sz="2600" dirty="0"/>
              <a:t>because the algorithm will inspect all </a:t>
            </a:r>
            <a:r>
              <a:rPr lang="en-US" sz="2600" i="1" dirty="0"/>
              <a:t>n </a:t>
            </a:r>
            <a:r>
              <a:rPr lang="en-US" sz="2600" dirty="0"/>
              <a:t>elements on all such inputs</a:t>
            </a:r>
            <a:endParaRPr lang="en-IN" sz="2600" dirty="0"/>
          </a:p>
        </p:txBody>
      </p:sp>
      <p:sp>
        <p:nvSpPr>
          <p:cNvPr id="2" name="Date Placeholder 1">
            <a:extLst>
              <a:ext uri="{FF2B5EF4-FFF2-40B4-BE49-F238E27FC236}">
                <a16:creationId xmlns:a16="http://schemas.microsoft.com/office/drawing/2014/main" id="{1A3942FB-5F37-0EDC-23ED-82E5E02CE7BD}"/>
              </a:ext>
            </a:extLst>
          </p:cNvPr>
          <p:cNvSpPr>
            <a:spLocks noGrp="1"/>
          </p:cNvSpPr>
          <p:nvPr>
            <p:ph type="dt" sz="half" idx="10"/>
          </p:nvPr>
        </p:nvSpPr>
        <p:spPr/>
        <p:txBody>
          <a:bodyPr/>
          <a:lstStyle/>
          <a:p>
            <a:pPr>
              <a:defRPr/>
            </a:pPr>
            <a:fld id="{02931857-FF20-4532-B6B2-53330E6D5DA4}"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80351E7C-00C2-670A-5AA2-EF22DD709C7D}"/>
              </a:ext>
            </a:extLst>
          </p:cNvPr>
          <p:cNvSpPr>
            <a:spLocks noGrp="1"/>
          </p:cNvSpPr>
          <p:nvPr>
            <p:ph type="sldNum" sz="quarter" idx="12"/>
          </p:nvPr>
        </p:nvSpPr>
        <p:spPr/>
        <p:txBody>
          <a:bodyPr/>
          <a:lstStyle/>
          <a:p>
            <a:pPr>
              <a:defRPr/>
            </a:pPr>
            <a:fld id="{937DAA19-78E2-454A-BF0A-AB51F6D45129}" type="slidenum">
              <a:rPr lang="en-US" altLang="en-US" smtClean="0"/>
              <a:pPr>
                <a:defRPr/>
              </a:pPr>
              <a:t>86</a:t>
            </a:fld>
            <a:endParaRPr lang="en-US" altLang="en-US"/>
          </a:p>
        </p:txBody>
      </p:sp>
    </p:spTree>
    <p:extLst>
      <p:ext uri="{BB962C8B-B14F-4D97-AF65-F5344CB8AC3E}">
        <p14:creationId xmlns:p14="http://schemas.microsoft.com/office/powerpoint/2010/main" val="121129202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233645"/>
            <a:ext cx="6127035" cy="688785"/>
          </a:xfrm>
        </p:spPr>
        <p:txBody>
          <a:bodyPr>
            <a:normAutofit fontScale="90000"/>
          </a:bodyPr>
          <a:lstStyle/>
          <a:p>
            <a:pPr algn="just"/>
            <a:r>
              <a:rPr lang="en-US" dirty="0"/>
              <a:t>Asymptotic Notations and Basic Efficiency Classes</a:t>
            </a:r>
          </a:p>
        </p:txBody>
      </p:sp>
      <p:sp>
        <p:nvSpPr>
          <p:cNvPr id="5" name="Content Placeholder 4"/>
          <p:cNvSpPr>
            <a:spLocks noGrp="1"/>
          </p:cNvSpPr>
          <p:nvPr>
            <p:ph idx="1"/>
          </p:nvPr>
        </p:nvSpPr>
        <p:spPr/>
        <p:txBody>
          <a:bodyPr/>
          <a:lstStyle/>
          <a:p>
            <a:pPr algn="just"/>
            <a:r>
              <a:rPr lang="en-US" dirty="0"/>
              <a:t>Asymptotic notation is a way of comparing functions that ignores constant factors and small input sizes.</a:t>
            </a:r>
          </a:p>
          <a:p>
            <a:pPr algn="just"/>
            <a:endParaRPr lang="en-US" dirty="0"/>
          </a:p>
          <a:p>
            <a:pPr marL="0" indent="0" algn="just">
              <a:buNone/>
            </a:pPr>
            <a:r>
              <a:rPr lang="en-US" dirty="0"/>
              <a:t>1. Big Oh Notation(O)</a:t>
            </a:r>
          </a:p>
          <a:p>
            <a:pPr marL="0" indent="0" algn="just">
              <a:buNone/>
            </a:pPr>
            <a:r>
              <a:rPr lang="en-US" dirty="0"/>
              <a:t>2. Big Omega Notation(</a:t>
            </a:r>
            <a:r>
              <a:rPr lang="el-GR" dirty="0"/>
              <a:t>Ω</a:t>
            </a:r>
            <a:r>
              <a:rPr lang="en-US" dirty="0"/>
              <a:t>)</a:t>
            </a:r>
          </a:p>
          <a:p>
            <a:pPr marL="0" indent="0" algn="just">
              <a:buNone/>
            </a:pPr>
            <a:r>
              <a:rPr lang="en-US" dirty="0"/>
              <a:t>3. Big Theta Notation(</a:t>
            </a:r>
            <a:r>
              <a:rPr lang="el-GR" dirty="0"/>
              <a:t>θ</a:t>
            </a:r>
            <a:r>
              <a:rPr lang="en-US" dirty="0"/>
              <a:t>)</a:t>
            </a:r>
          </a:p>
        </p:txBody>
      </p:sp>
      <p:sp>
        <p:nvSpPr>
          <p:cNvPr id="2" name="Date Placeholder 1">
            <a:extLst>
              <a:ext uri="{FF2B5EF4-FFF2-40B4-BE49-F238E27FC236}">
                <a16:creationId xmlns:a16="http://schemas.microsoft.com/office/drawing/2014/main" id="{FB338E25-AE3C-0552-43D4-8056FFCD093D}"/>
              </a:ext>
            </a:extLst>
          </p:cNvPr>
          <p:cNvSpPr>
            <a:spLocks noGrp="1"/>
          </p:cNvSpPr>
          <p:nvPr>
            <p:ph type="dt" sz="half" idx="10"/>
          </p:nvPr>
        </p:nvSpPr>
        <p:spPr/>
        <p:txBody>
          <a:bodyPr/>
          <a:lstStyle/>
          <a:p>
            <a:pPr>
              <a:defRPr/>
            </a:pPr>
            <a:fld id="{1B5B83D9-0E8B-429E-80A5-B6850DBCEAF0}"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437D5086-8B5C-84AA-D279-42259E78D488}"/>
              </a:ext>
            </a:extLst>
          </p:cNvPr>
          <p:cNvSpPr>
            <a:spLocks noGrp="1"/>
          </p:cNvSpPr>
          <p:nvPr>
            <p:ph type="sldNum" sz="quarter" idx="12"/>
          </p:nvPr>
        </p:nvSpPr>
        <p:spPr/>
        <p:txBody>
          <a:bodyPr/>
          <a:lstStyle/>
          <a:p>
            <a:pPr>
              <a:defRPr/>
            </a:pPr>
            <a:fld id="{937DAA19-78E2-454A-BF0A-AB51F6D45129}" type="slidenum">
              <a:rPr lang="en-US" altLang="en-US" smtClean="0"/>
              <a:pPr>
                <a:defRPr/>
              </a:pPr>
              <a:t>87</a:t>
            </a:fld>
            <a:endParaRPr lang="en-US" altLang="en-US"/>
          </a:p>
        </p:txBody>
      </p:sp>
    </p:spTree>
    <p:extLst>
      <p:ext uri="{BB962C8B-B14F-4D97-AF65-F5344CB8AC3E}">
        <p14:creationId xmlns:p14="http://schemas.microsoft.com/office/powerpoint/2010/main" val="66556055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56" y="188640"/>
            <a:ext cx="6037025" cy="360919"/>
          </a:xfrm>
        </p:spPr>
        <p:txBody>
          <a:bodyPr/>
          <a:lstStyle/>
          <a:p>
            <a:r>
              <a:rPr lang="en-US" dirty="0"/>
              <a:t>Informal Definition</a:t>
            </a:r>
          </a:p>
        </p:txBody>
      </p:sp>
      <p:sp>
        <p:nvSpPr>
          <p:cNvPr id="3" name="Content Placeholder 2"/>
          <p:cNvSpPr>
            <a:spLocks noGrp="1"/>
          </p:cNvSpPr>
          <p:nvPr>
            <p:ph idx="1"/>
          </p:nvPr>
        </p:nvSpPr>
        <p:spPr/>
        <p:txBody>
          <a:bodyPr>
            <a:normAutofit/>
          </a:bodyPr>
          <a:lstStyle/>
          <a:p>
            <a:pPr algn="just"/>
            <a:r>
              <a:rPr lang="en-US" sz="2800" dirty="0"/>
              <a:t>Big-Oh Notation(O): O(g(n)) is the set of all functions with a smaller or same order of growth as g(n)</a:t>
            </a:r>
          </a:p>
          <a:p>
            <a:r>
              <a:rPr lang="en-US" sz="2800" dirty="0" err="1"/>
              <a:t>Eg</a:t>
            </a:r>
            <a:r>
              <a:rPr lang="en-US" sz="2800" dirty="0"/>
              <a:t>: n </a:t>
            </a:r>
            <a:r>
              <a:rPr lang="en-US" sz="2800" dirty="0">
                <a:latin typeface="Times New Roman" pitchFamily="18" charset="0"/>
                <a:cs typeface="Times New Roman" pitchFamily="18" charset="0"/>
              </a:rPr>
              <a:t>∈ O(n</a:t>
            </a:r>
            <a:r>
              <a:rPr lang="en-US" sz="2800" baseline="30000" dirty="0">
                <a:latin typeface="Times New Roman" pitchFamily="18" charset="0"/>
                <a:cs typeface="Times New Roman" pitchFamily="18" charset="0"/>
              </a:rPr>
              <a:t>2</a:t>
            </a:r>
            <a:r>
              <a:rPr lang="en-US" sz="2800" dirty="0">
                <a:latin typeface="Times New Roman" pitchFamily="18" charset="0"/>
                <a:cs typeface="Times New Roman" pitchFamily="18" charset="0"/>
              </a:rPr>
              <a:t>)</a:t>
            </a:r>
          </a:p>
          <a:p>
            <a:r>
              <a:rPr lang="en-US" sz="2600" dirty="0">
                <a:latin typeface="Times New Roman" pitchFamily="18" charset="0"/>
                <a:cs typeface="Times New Roman" pitchFamily="18" charset="0"/>
              </a:rPr>
              <a:t>100n+5 ∈ O(n</a:t>
            </a:r>
            <a:r>
              <a:rPr lang="en-US" sz="2600" baseline="30000" dirty="0">
                <a:latin typeface="Times New Roman" pitchFamily="18" charset="0"/>
                <a:cs typeface="Times New Roman" pitchFamily="18" charset="0"/>
              </a:rPr>
              <a:t>2</a:t>
            </a:r>
            <a:r>
              <a:rPr lang="en-US" sz="2600" dirty="0">
                <a:latin typeface="Times New Roman" pitchFamily="18" charset="0"/>
                <a:cs typeface="Times New Roman" pitchFamily="18" charset="0"/>
              </a:rPr>
              <a:t>)</a:t>
            </a:r>
          </a:p>
          <a:p>
            <a:r>
              <a:rPr lang="en-US" sz="2600" dirty="0">
                <a:latin typeface="Times New Roman" pitchFamily="18" charset="0"/>
                <a:cs typeface="Times New Roman" pitchFamily="18" charset="0"/>
              </a:rPr>
              <a:t>(1/2)n(n-1) ∈ O(n</a:t>
            </a:r>
            <a:r>
              <a:rPr lang="en-US" sz="2600" baseline="30000" dirty="0">
                <a:latin typeface="Times New Roman" pitchFamily="18" charset="0"/>
                <a:cs typeface="Times New Roman" pitchFamily="18" charset="0"/>
              </a:rPr>
              <a:t>2</a:t>
            </a:r>
            <a:r>
              <a:rPr lang="en-US" sz="2600" dirty="0">
                <a:latin typeface="Times New Roman" pitchFamily="18" charset="0"/>
                <a:cs typeface="Times New Roman" pitchFamily="18" charset="0"/>
              </a:rPr>
              <a:t>)</a:t>
            </a:r>
          </a:p>
          <a:p>
            <a:r>
              <a:rPr lang="en-US" sz="2600" dirty="0">
                <a:latin typeface="Times New Roman" pitchFamily="18" charset="0"/>
                <a:cs typeface="Times New Roman" pitchFamily="18" charset="0"/>
              </a:rPr>
              <a:t>n</a:t>
            </a:r>
            <a:r>
              <a:rPr lang="en-US" sz="2600" baseline="30000" dirty="0">
                <a:latin typeface="Times New Roman" pitchFamily="18" charset="0"/>
                <a:cs typeface="Times New Roman" pitchFamily="18" charset="0"/>
              </a:rPr>
              <a:t>3</a:t>
            </a:r>
            <a:r>
              <a:rPr lang="en-US" sz="2600" dirty="0">
                <a:latin typeface="Times New Roman" pitchFamily="18" charset="0"/>
                <a:cs typeface="Times New Roman" pitchFamily="18" charset="0"/>
              </a:rPr>
              <a:t> ∉ O(n</a:t>
            </a:r>
            <a:r>
              <a:rPr lang="en-US" sz="2600" baseline="30000" dirty="0">
                <a:latin typeface="Times New Roman" pitchFamily="18" charset="0"/>
                <a:cs typeface="Times New Roman" pitchFamily="18" charset="0"/>
              </a:rPr>
              <a:t>2</a:t>
            </a:r>
            <a:r>
              <a:rPr lang="en-US" sz="2600" dirty="0">
                <a:latin typeface="Times New Roman" pitchFamily="18" charset="0"/>
                <a:cs typeface="Times New Roman" pitchFamily="18" charset="0"/>
              </a:rPr>
              <a:t>)</a:t>
            </a:r>
          </a:p>
          <a:p>
            <a:r>
              <a:rPr lang="en-US" sz="2600" dirty="0">
                <a:latin typeface="Times New Roman" pitchFamily="18" charset="0"/>
                <a:cs typeface="Times New Roman" pitchFamily="18" charset="0"/>
              </a:rPr>
              <a:t>0.00001 n</a:t>
            </a:r>
            <a:r>
              <a:rPr lang="en-US" sz="2600" baseline="30000" dirty="0">
                <a:latin typeface="Times New Roman" pitchFamily="18" charset="0"/>
                <a:cs typeface="Times New Roman" pitchFamily="18" charset="0"/>
              </a:rPr>
              <a:t>3</a:t>
            </a:r>
            <a:r>
              <a:rPr lang="en-US" sz="2600" dirty="0">
                <a:latin typeface="Times New Roman" pitchFamily="18" charset="0"/>
                <a:cs typeface="Times New Roman" pitchFamily="18" charset="0"/>
              </a:rPr>
              <a:t> ∉ O(n</a:t>
            </a:r>
            <a:r>
              <a:rPr lang="en-US" sz="2600" baseline="30000" dirty="0">
                <a:latin typeface="Times New Roman" pitchFamily="18" charset="0"/>
                <a:cs typeface="Times New Roman" pitchFamily="18" charset="0"/>
              </a:rPr>
              <a:t>2</a:t>
            </a:r>
            <a:r>
              <a:rPr lang="en-US" sz="2600" dirty="0">
                <a:latin typeface="Times New Roman" pitchFamily="18" charset="0"/>
                <a:cs typeface="Times New Roman" pitchFamily="18" charset="0"/>
              </a:rPr>
              <a:t>)</a:t>
            </a:r>
          </a:p>
          <a:p>
            <a:r>
              <a:rPr lang="en-US" sz="2600" dirty="0">
                <a:latin typeface="Times New Roman" pitchFamily="18" charset="0"/>
                <a:cs typeface="Times New Roman" pitchFamily="18" charset="0"/>
              </a:rPr>
              <a:t>n</a:t>
            </a:r>
            <a:r>
              <a:rPr lang="en-US" sz="2600" baseline="30000" dirty="0">
                <a:latin typeface="Times New Roman" pitchFamily="18" charset="0"/>
                <a:cs typeface="Times New Roman" pitchFamily="18" charset="0"/>
              </a:rPr>
              <a:t>4</a:t>
            </a:r>
            <a:r>
              <a:rPr lang="en-US" sz="2600" dirty="0">
                <a:latin typeface="Times New Roman" pitchFamily="18" charset="0"/>
                <a:cs typeface="Times New Roman" pitchFamily="18" charset="0"/>
              </a:rPr>
              <a:t>+n+1 ∉ O(n</a:t>
            </a:r>
            <a:r>
              <a:rPr lang="en-US" sz="2600" baseline="30000" dirty="0">
                <a:latin typeface="Times New Roman" pitchFamily="18" charset="0"/>
                <a:cs typeface="Times New Roman" pitchFamily="18" charset="0"/>
              </a:rPr>
              <a:t>2</a:t>
            </a:r>
            <a:r>
              <a:rPr lang="en-US" sz="2600" dirty="0">
                <a:latin typeface="Times New Roman" pitchFamily="18" charset="0"/>
                <a:cs typeface="Times New Roman" pitchFamily="18" charset="0"/>
              </a:rPr>
              <a:t>)</a:t>
            </a:r>
          </a:p>
          <a:p>
            <a:pPr>
              <a:buNone/>
            </a:pPr>
            <a:endParaRPr lang="en-US" b="1" baseline="30000" dirty="0"/>
          </a:p>
          <a:p>
            <a:pPr>
              <a:buNone/>
            </a:pPr>
            <a:endParaRPr lang="en-US" baseline="30000" dirty="0"/>
          </a:p>
        </p:txBody>
      </p:sp>
      <p:sp>
        <p:nvSpPr>
          <p:cNvPr id="4" name="Date Placeholder 3">
            <a:extLst>
              <a:ext uri="{FF2B5EF4-FFF2-40B4-BE49-F238E27FC236}">
                <a16:creationId xmlns:a16="http://schemas.microsoft.com/office/drawing/2014/main" id="{EB06205F-02C9-72D4-F989-26FCB8087A19}"/>
              </a:ext>
            </a:extLst>
          </p:cNvPr>
          <p:cNvSpPr>
            <a:spLocks noGrp="1"/>
          </p:cNvSpPr>
          <p:nvPr>
            <p:ph type="dt" sz="half" idx="10"/>
          </p:nvPr>
        </p:nvSpPr>
        <p:spPr/>
        <p:txBody>
          <a:bodyPr/>
          <a:lstStyle/>
          <a:p>
            <a:pPr>
              <a:defRPr/>
            </a:pPr>
            <a:fld id="{B82B9FCE-24BB-49B9-A425-66D6845A3C17}" type="datetime2">
              <a:rPr lang="en-US" smtClean="0"/>
              <a:t>Wednesday, January 22, 2025</a:t>
            </a:fld>
            <a:endParaRPr lang="en-US" altLang="en-US"/>
          </a:p>
        </p:txBody>
      </p:sp>
      <p:sp>
        <p:nvSpPr>
          <p:cNvPr id="5" name="Slide Number Placeholder 4">
            <a:extLst>
              <a:ext uri="{FF2B5EF4-FFF2-40B4-BE49-F238E27FC236}">
                <a16:creationId xmlns:a16="http://schemas.microsoft.com/office/drawing/2014/main" id="{CF8012F2-70F6-ABBF-B47D-02762748AD2B}"/>
              </a:ext>
            </a:extLst>
          </p:cNvPr>
          <p:cNvSpPr>
            <a:spLocks noGrp="1"/>
          </p:cNvSpPr>
          <p:nvPr>
            <p:ph type="sldNum" sz="quarter" idx="12"/>
          </p:nvPr>
        </p:nvSpPr>
        <p:spPr/>
        <p:txBody>
          <a:bodyPr/>
          <a:lstStyle/>
          <a:p>
            <a:pPr>
              <a:defRPr/>
            </a:pPr>
            <a:fld id="{937DAA19-78E2-454A-BF0A-AB51F6D45129}" type="slidenum">
              <a:rPr lang="en-US" altLang="en-US" smtClean="0"/>
              <a:pPr>
                <a:defRPr/>
              </a:pPr>
              <a:t>88</a:t>
            </a:fld>
            <a:endParaRPr lang="en-US" altLang="en-US"/>
          </a:p>
        </p:txBody>
      </p:sp>
    </p:spTree>
    <p:extLst>
      <p:ext uri="{BB962C8B-B14F-4D97-AF65-F5344CB8AC3E}">
        <p14:creationId xmlns:p14="http://schemas.microsoft.com/office/powerpoint/2010/main" val="328161297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088740"/>
            <a:ext cx="7886700" cy="4401233"/>
          </a:xfrm>
        </p:spPr>
        <p:txBody>
          <a:bodyPr/>
          <a:lstStyle/>
          <a:p>
            <a:pPr marL="0" indent="0">
              <a:buNone/>
            </a:pPr>
            <a:r>
              <a:rPr lang="en-US" dirty="0"/>
              <a:t>Big Omega Notation(</a:t>
            </a:r>
            <a:r>
              <a:rPr lang="el-GR" dirty="0"/>
              <a:t>Ω</a:t>
            </a:r>
            <a:r>
              <a:rPr lang="en-US" dirty="0"/>
              <a:t>): </a:t>
            </a:r>
          </a:p>
          <a:p>
            <a:pPr marL="0" indent="0">
              <a:buNone/>
            </a:pPr>
            <a:endParaRPr lang="en-US" dirty="0"/>
          </a:p>
          <a:p>
            <a:pPr marL="0" indent="0" algn="just">
              <a:buNone/>
            </a:pPr>
            <a:r>
              <a:rPr lang="el-GR" sz="2800" dirty="0"/>
              <a:t>Ω</a:t>
            </a:r>
            <a:r>
              <a:rPr lang="en-US" sz="2800" dirty="0"/>
              <a:t>(g(n)) is the set of all functions with a larger or same order of growth as g(n).</a:t>
            </a:r>
          </a:p>
          <a:p>
            <a:pPr algn="just"/>
            <a:r>
              <a:rPr lang="en-US" sz="2800" dirty="0">
                <a:latin typeface="Times New Roman" pitchFamily="18" charset="0"/>
                <a:cs typeface="Times New Roman" pitchFamily="18" charset="0"/>
              </a:rPr>
              <a:t>n</a:t>
            </a:r>
            <a:r>
              <a:rPr lang="en-US" sz="2800" baseline="30000" dirty="0">
                <a:latin typeface="Times New Roman" pitchFamily="18" charset="0"/>
                <a:cs typeface="Times New Roman" pitchFamily="18" charset="0"/>
              </a:rPr>
              <a:t>3</a:t>
            </a:r>
            <a:r>
              <a:rPr lang="en-US" sz="2800" dirty="0">
                <a:latin typeface="Times New Roman" pitchFamily="18" charset="0"/>
                <a:cs typeface="Times New Roman" pitchFamily="18" charset="0"/>
              </a:rPr>
              <a:t> ∈ </a:t>
            </a:r>
            <a:r>
              <a:rPr lang="el-GR" sz="2800" dirty="0"/>
              <a:t>Ω</a:t>
            </a:r>
            <a:r>
              <a:rPr lang="en-US" sz="2800" dirty="0">
                <a:latin typeface="Times New Roman" pitchFamily="18" charset="0"/>
                <a:cs typeface="Times New Roman" pitchFamily="18" charset="0"/>
              </a:rPr>
              <a:t>(n</a:t>
            </a:r>
            <a:r>
              <a:rPr lang="en-US" sz="2800" baseline="30000" dirty="0">
                <a:latin typeface="Times New Roman" pitchFamily="18" charset="0"/>
                <a:cs typeface="Times New Roman" pitchFamily="18" charset="0"/>
              </a:rPr>
              <a:t>2</a:t>
            </a:r>
            <a:r>
              <a:rPr lang="en-US" sz="2800" dirty="0">
                <a:latin typeface="Times New Roman" pitchFamily="18" charset="0"/>
                <a:cs typeface="Times New Roman" pitchFamily="18" charset="0"/>
              </a:rPr>
              <a:t>)</a:t>
            </a:r>
          </a:p>
          <a:p>
            <a:pPr algn="just"/>
            <a:r>
              <a:rPr lang="en-US" sz="2800" dirty="0">
                <a:latin typeface="Times New Roman" pitchFamily="18" charset="0"/>
                <a:cs typeface="Times New Roman" pitchFamily="18" charset="0"/>
              </a:rPr>
              <a:t>(1/2)n(n-1) ∈ </a:t>
            </a:r>
            <a:r>
              <a:rPr lang="el-GR" sz="2800" dirty="0"/>
              <a:t>Ω</a:t>
            </a:r>
            <a:r>
              <a:rPr lang="en-US" sz="2800" dirty="0">
                <a:latin typeface="Times New Roman" pitchFamily="18" charset="0"/>
                <a:cs typeface="Times New Roman" pitchFamily="18" charset="0"/>
              </a:rPr>
              <a:t>(n</a:t>
            </a:r>
            <a:r>
              <a:rPr lang="en-US" sz="2800" baseline="30000" dirty="0">
                <a:latin typeface="Times New Roman" pitchFamily="18" charset="0"/>
                <a:cs typeface="Times New Roman" pitchFamily="18" charset="0"/>
              </a:rPr>
              <a:t>2</a:t>
            </a:r>
            <a:r>
              <a:rPr lang="en-US" sz="2800" dirty="0">
                <a:latin typeface="Times New Roman" pitchFamily="18" charset="0"/>
                <a:cs typeface="Times New Roman" pitchFamily="18" charset="0"/>
              </a:rPr>
              <a:t>)</a:t>
            </a:r>
          </a:p>
          <a:p>
            <a:pPr algn="just"/>
            <a:r>
              <a:rPr lang="en-US" sz="2800" dirty="0">
                <a:latin typeface="Times New Roman" pitchFamily="18" charset="0"/>
                <a:cs typeface="Times New Roman" pitchFamily="18" charset="0"/>
              </a:rPr>
              <a:t>100n+5 ∉ </a:t>
            </a:r>
            <a:r>
              <a:rPr lang="el-GR" sz="2800" dirty="0"/>
              <a:t>Ω</a:t>
            </a:r>
            <a:r>
              <a:rPr lang="en-US" sz="2800" dirty="0">
                <a:latin typeface="Times New Roman" pitchFamily="18" charset="0"/>
                <a:cs typeface="Times New Roman" pitchFamily="18" charset="0"/>
              </a:rPr>
              <a:t>(n</a:t>
            </a:r>
            <a:r>
              <a:rPr lang="en-US" sz="2800" baseline="30000" dirty="0">
                <a:latin typeface="Times New Roman" pitchFamily="18" charset="0"/>
                <a:cs typeface="Times New Roman" pitchFamily="18" charset="0"/>
              </a:rPr>
              <a:t>2</a:t>
            </a:r>
            <a:r>
              <a:rPr lang="en-US" sz="2800"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2" name="Date Placeholder 1">
            <a:extLst>
              <a:ext uri="{FF2B5EF4-FFF2-40B4-BE49-F238E27FC236}">
                <a16:creationId xmlns:a16="http://schemas.microsoft.com/office/drawing/2014/main" id="{3320BBEB-4137-9C1B-90A3-4ED722B8A748}"/>
              </a:ext>
            </a:extLst>
          </p:cNvPr>
          <p:cNvSpPr>
            <a:spLocks noGrp="1"/>
          </p:cNvSpPr>
          <p:nvPr>
            <p:ph type="dt" sz="half" idx="10"/>
          </p:nvPr>
        </p:nvSpPr>
        <p:spPr/>
        <p:txBody>
          <a:bodyPr/>
          <a:lstStyle/>
          <a:p>
            <a:pPr>
              <a:defRPr/>
            </a:pPr>
            <a:fld id="{8E4F0D18-9761-416A-B89D-CF37B850459C}"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5B82D1E1-88C8-EA0C-0FCE-36B9EB15083F}"/>
              </a:ext>
            </a:extLst>
          </p:cNvPr>
          <p:cNvSpPr>
            <a:spLocks noGrp="1"/>
          </p:cNvSpPr>
          <p:nvPr>
            <p:ph type="sldNum" sz="quarter" idx="12"/>
          </p:nvPr>
        </p:nvSpPr>
        <p:spPr/>
        <p:txBody>
          <a:bodyPr/>
          <a:lstStyle/>
          <a:p>
            <a:pPr>
              <a:defRPr/>
            </a:pPr>
            <a:fld id="{937DAA19-78E2-454A-BF0A-AB51F6D45129}" type="slidenum">
              <a:rPr lang="en-US" altLang="en-US" smtClean="0"/>
              <a:pPr>
                <a:defRPr/>
              </a:pPr>
              <a:t>89</a:t>
            </a:fld>
            <a:endParaRPr lang="en-US" altLang="en-US"/>
          </a:p>
        </p:txBody>
      </p:sp>
    </p:spTree>
    <p:extLst>
      <p:ext uri="{BB962C8B-B14F-4D97-AF65-F5344CB8AC3E}">
        <p14:creationId xmlns:p14="http://schemas.microsoft.com/office/powerpoint/2010/main" val="389472217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127707"/>
            <a:ext cx="7886700" cy="4362266"/>
          </a:xfrm>
        </p:spPr>
        <p:txBody>
          <a:bodyPr/>
          <a:lstStyle/>
          <a:p>
            <a:pPr marL="0" indent="0">
              <a:buNone/>
            </a:pPr>
            <a:r>
              <a:rPr lang="en-US" dirty="0"/>
              <a:t>Big Theta Notation(</a:t>
            </a:r>
            <a:r>
              <a:rPr lang="el-GR" dirty="0"/>
              <a:t>θ</a:t>
            </a:r>
            <a:r>
              <a:rPr lang="en-US" dirty="0"/>
              <a:t>):</a:t>
            </a:r>
          </a:p>
          <a:p>
            <a:pPr marL="0" indent="0">
              <a:buNone/>
            </a:pPr>
            <a:endParaRPr lang="en-US" dirty="0"/>
          </a:p>
          <a:p>
            <a:pPr marL="0" indent="0" algn="just">
              <a:buNone/>
            </a:pPr>
            <a:r>
              <a:rPr lang="el-GR" sz="2800" dirty="0"/>
              <a:t>θ</a:t>
            </a:r>
            <a:r>
              <a:rPr lang="en-US" sz="2800" dirty="0"/>
              <a:t>(g(n)) is the set of all functions that have the same order of growth as g(n).</a:t>
            </a:r>
          </a:p>
          <a:p>
            <a:pPr algn="just"/>
            <a:r>
              <a:rPr lang="en-US" sz="2800" dirty="0" err="1"/>
              <a:t>Eg</a:t>
            </a:r>
            <a:r>
              <a:rPr lang="en-US" sz="2800" dirty="0"/>
              <a:t>: an</a:t>
            </a:r>
            <a:r>
              <a:rPr lang="en-US" sz="2800" baseline="30000" dirty="0"/>
              <a:t>2</a:t>
            </a:r>
            <a:r>
              <a:rPr lang="en-US" sz="2800" dirty="0"/>
              <a:t>+bn+c</a:t>
            </a:r>
            <a:r>
              <a:rPr lang="en-US" sz="2800" dirty="0">
                <a:latin typeface="Times New Roman" pitchFamily="18" charset="0"/>
                <a:cs typeface="Times New Roman" pitchFamily="18" charset="0"/>
              </a:rPr>
              <a:t> ∈</a:t>
            </a:r>
            <a:r>
              <a:rPr lang="en-US" sz="2800" dirty="0"/>
              <a:t> </a:t>
            </a:r>
            <a:r>
              <a:rPr lang="el-GR" sz="2800" dirty="0"/>
              <a:t>θ</a:t>
            </a:r>
            <a:r>
              <a:rPr lang="en-US" sz="2800" dirty="0"/>
              <a:t>(n</a:t>
            </a:r>
            <a:r>
              <a:rPr lang="en-US" sz="2800" baseline="30000" dirty="0"/>
              <a:t>2</a:t>
            </a:r>
            <a:r>
              <a:rPr lang="en-US" sz="2800" dirty="0"/>
              <a:t>) where a&gt;0</a:t>
            </a:r>
          </a:p>
        </p:txBody>
      </p:sp>
      <p:sp>
        <p:nvSpPr>
          <p:cNvPr id="2" name="Date Placeholder 1">
            <a:extLst>
              <a:ext uri="{FF2B5EF4-FFF2-40B4-BE49-F238E27FC236}">
                <a16:creationId xmlns:a16="http://schemas.microsoft.com/office/drawing/2014/main" id="{B8EE4F80-7B42-F9CF-4C92-2D2FF3AA53DA}"/>
              </a:ext>
            </a:extLst>
          </p:cNvPr>
          <p:cNvSpPr>
            <a:spLocks noGrp="1"/>
          </p:cNvSpPr>
          <p:nvPr>
            <p:ph type="dt" sz="half" idx="10"/>
          </p:nvPr>
        </p:nvSpPr>
        <p:spPr/>
        <p:txBody>
          <a:bodyPr/>
          <a:lstStyle/>
          <a:p>
            <a:pPr>
              <a:defRPr/>
            </a:pPr>
            <a:fld id="{BB19E59D-FF8D-49C0-B41E-5CF0741E8435}"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A94F7F68-9ABD-BA56-A996-8EBE5E9121F1}"/>
              </a:ext>
            </a:extLst>
          </p:cNvPr>
          <p:cNvSpPr>
            <a:spLocks noGrp="1"/>
          </p:cNvSpPr>
          <p:nvPr>
            <p:ph type="sldNum" sz="quarter" idx="12"/>
          </p:nvPr>
        </p:nvSpPr>
        <p:spPr/>
        <p:txBody>
          <a:bodyPr/>
          <a:lstStyle/>
          <a:p>
            <a:pPr>
              <a:defRPr/>
            </a:pPr>
            <a:fld id="{937DAA19-78E2-454A-BF0A-AB51F6D45129}" type="slidenum">
              <a:rPr lang="en-US" altLang="en-US" smtClean="0"/>
              <a:pPr>
                <a:defRPr/>
              </a:pPr>
              <a:t>90</a:t>
            </a:fld>
            <a:endParaRPr lang="en-US" altLang="en-US"/>
          </a:p>
        </p:txBody>
      </p:sp>
    </p:spTree>
    <p:extLst>
      <p:ext uri="{BB962C8B-B14F-4D97-AF65-F5344CB8AC3E}">
        <p14:creationId xmlns:p14="http://schemas.microsoft.com/office/powerpoint/2010/main" val="1665269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8308"/>
            <a:ext cx="6012160" cy="360919"/>
          </a:xfrm>
        </p:spPr>
        <p:txBody>
          <a:bodyPr/>
          <a:lstStyle/>
          <a:p>
            <a:r>
              <a:rPr lang="en-US" dirty="0"/>
              <a:t>Formal Definitions</a:t>
            </a:r>
          </a:p>
        </p:txBody>
      </p:sp>
      <p:sp>
        <p:nvSpPr>
          <p:cNvPr id="3" name="Content Placeholder 2"/>
          <p:cNvSpPr>
            <a:spLocks noGrp="1"/>
          </p:cNvSpPr>
          <p:nvPr>
            <p:ph idx="1"/>
          </p:nvPr>
        </p:nvSpPr>
        <p:spPr>
          <a:xfrm>
            <a:off x="116505" y="1101467"/>
            <a:ext cx="8570295" cy="5024698"/>
          </a:xfrm>
        </p:spPr>
        <p:txBody>
          <a:bodyPr>
            <a:normAutofit/>
          </a:bodyPr>
          <a:lstStyle/>
          <a:p>
            <a:pPr algn="just"/>
            <a:r>
              <a:rPr lang="en-US" sz="2600" dirty="0">
                <a:latin typeface="Times New Roman" pitchFamily="18" charset="0"/>
                <a:cs typeface="Times New Roman" pitchFamily="18" charset="0"/>
              </a:rPr>
              <a:t>A function t(n) is said to be O(g(n)), denoted t(n) ∈ O(g(n)), if t(n) is bounded above by some constant multiple of g(n) for all large n, i.e., if there exist some positive constant c and some non negative integer n</a:t>
            </a:r>
            <a:r>
              <a:rPr lang="en-US" sz="2600" baseline="-25000" dirty="0">
                <a:latin typeface="Times New Roman" pitchFamily="18" charset="0"/>
                <a:cs typeface="Times New Roman" pitchFamily="18" charset="0"/>
              </a:rPr>
              <a:t>0   </a:t>
            </a:r>
            <a:r>
              <a:rPr lang="en-US" sz="2600" dirty="0">
                <a:latin typeface="Times New Roman" pitchFamily="18" charset="0"/>
                <a:cs typeface="Times New Roman" pitchFamily="18" charset="0"/>
              </a:rPr>
              <a:t>Such that  t(n) ≤ </a:t>
            </a:r>
            <a:r>
              <a:rPr lang="en-US" sz="2600" dirty="0" err="1">
                <a:latin typeface="Times New Roman" pitchFamily="18" charset="0"/>
                <a:cs typeface="Times New Roman" pitchFamily="18" charset="0"/>
              </a:rPr>
              <a:t>c.g</a:t>
            </a:r>
            <a:r>
              <a:rPr lang="en-US" sz="2600" dirty="0">
                <a:latin typeface="Times New Roman" pitchFamily="18" charset="0"/>
                <a:cs typeface="Times New Roman" pitchFamily="18" charset="0"/>
              </a:rPr>
              <a:t>(n) for all n≥ n</a:t>
            </a:r>
            <a:r>
              <a:rPr lang="en-US" sz="2600" baseline="-25000" dirty="0">
                <a:latin typeface="Times New Roman" pitchFamily="18" charset="0"/>
                <a:cs typeface="Times New Roman" pitchFamily="18" charset="0"/>
              </a:rPr>
              <a:t>0 </a:t>
            </a:r>
          </a:p>
          <a:p>
            <a:endParaRPr lang="en-US" sz="1800" baseline="-25000" dirty="0">
              <a:latin typeface="Times New Roman" pitchFamily="18" charset="0"/>
              <a:cs typeface="Times New Roman" pitchFamily="18" charset="0"/>
            </a:endParaRPr>
          </a:p>
          <a:p>
            <a:endParaRPr lang="en-US" sz="1800" dirty="0">
              <a:latin typeface="Times New Roman" pitchFamily="18" charset="0"/>
              <a:cs typeface="Times New Roman" pitchFamily="18" charset="0"/>
            </a:endParaRPr>
          </a:p>
        </p:txBody>
      </p:sp>
      <p:sp>
        <p:nvSpPr>
          <p:cNvPr id="4" name="Rectangle 3">
            <a:extLst>
              <a:ext uri="{FF2B5EF4-FFF2-40B4-BE49-F238E27FC236}">
                <a16:creationId xmlns:a16="http://schemas.microsoft.com/office/drawing/2014/main" id="{2FE0BA24-2784-4EF0-BE65-609E6DD60788}"/>
              </a:ext>
            </a:extLst>
          </p:cNvPr>
          <p:cNvSpPr/>
          <p:nvPr/>
        </p:nvSpPr>
        <p:spPr>
          <a:xfrm>
            <a:off x="-5081" y="609023"/>
            <a:ext cx="2832891" cy="492443"/>
          </a:xfrm>
          <a:prstGeom prst="rect">
            <a:avLst/>
          </a:prstGeom>
        </p:spPr>
        <p:txBody>
          <a:bodyPr wrap="none">
            <a:spAutoFit/>
          </a:bodyPr>
          <a:lstStyle/>
          <a:p>
            <a:r>
              <a:rPr lang="en-US" sz="2600" b="1" dirty="0"/>
              <a:t>Big Oh Notation(O)</a:t>
            </a:r>
            <a:endParaRPr lang="en-IN" sz="2600" b="1" dirty="0"/>
          </a:p>
        </p:txBody>
      </p:sp>
      <p:pic>
        <p:nvPicPr>
          <p:cNvPr id="5" name="Picture 4">
            <a:extLst>
              <a:ext uri="{FF2B5EF4-FFF2-40B4-BE49-F238E27FC236}">
                <a16:creationId xmlns:a16="http://schemas.microsoft.com/office/drawing/2014/main" id="{683D1326-1409-4D4C-AA12-E7D693581DB3}"/>
              </a:ext>
            </a:extLst>
          </p:cNvPr>
          <p:cNvPicPr>
            <a:picLocks noChangeAspect="1"/>
          </p:cNvPicPr>
          <p:nvPr/>
        </p:nvPicPr>
        <p:blipFill>
          <a:blip r:embed="rId2"/>
          <a:stretch>
            <a:fillRect/>
          </a:stretch>
        </p:blipFill>
        <p:spPr>
          <a:xfrm>
            <a:off x="1460692" y="3029788"/>
            <a:ext cx="7026743" cy="3828211"/>
          </a:xfrm>
          <a:prstGeom prst="rect">
            <a:avLst/>
          </a:prstGeom>
        </p:spPr>
      </p:pic>
      <p:sp>
        <p:nvSpPr>
          <p:cNvPr id="6" name="Date Placeholder 5">
            <a:extLst>
              <a:ext uri="{FF2B5EF4-FFF2-40B4-BE49-F238E27FC236}">
                <a16:creationId xmlns:a16="http://schemas.microsoft.com/office/drawing/2014/main" id="{0F6E821F-5124-1EBA-8A9B-EB4043D11ED3}"/>
              </a:ext>
            </a:extLst>
          </p:cNvPr>
          <p:cNvSpPr>
            <a:spLocks noGrp="1"/>
          </p:cNvSpPr>
          <p:nvPr>
            <p:ph type="dt" sz="half" idx="10"/>
          </p:nvPr>
        </p:nvSpPr>
        <p:spPr/>
        <p:txBody>
          <a:bodyPr/>
          <a:lstStyle/>
          <a:p>
            <a:pPr>
              <a:defRPr/>
            </a:pPr>
            <a:fld id="{12C3DEA9-3581-48D9-80C7-55C0F89D06E5}" type="datetime2">
              <a:rPr lang="en-US" smtClean="0"/>
              <a:t>Wednesday, January 22, 2025</a:t>
            </a:fld>
            <a:endParaRPr lang="en-US" altLang="en-US"/>
          </a:p>
        </p:txBody>
      </p:sp>
      <p:sp>
        <p:nvSpPr>
          <p:cNvPr id="7" name="Slide Number Placeholder 6">
            <a:extLst>
              <a:ext uri="{FF2B5EF4-FFF2-40B4-BE49-F238E27FC236}">
                <a16:creationId xmlns:a16="http://schemas.microsoft.com/office/drawing/2014/main" id="{57B67EB0-FBBA-FDE6-BCF9-107FD387DA8B}"/>
              </a:ext>
            </a:extLst>
          </p:cNvPr>
          <p:cNvSpPr>
            <a:spLocks noGrp="1"/>
          </p:cNvSpPr>
          <p:nvPr>
            <p:ph type="sldNum" sz="quarter" idx="12"/>
          </p:nvPr>
        </p:nvSpPr>
        <p:spPr/>
        <p:txBody>
          <a:bodyPr/>
          <a:lstStyle/>
          <a:p>
            <a:pPr>
              <a:defRPr/>
            </a:pPr>
            <a:fld id="{937DAA19-78E2-454A-BF0A-AB51F6D45129}" type="slidenum">
              <a:rPr lang="en-US" altLang="en-US" smtClean="0"/>
              <a:pPr>
                <a:defRPr/>
              </a:pPr>
              <a:t>91</a:t>
            </a:fld>
            <a:endParaRPr lang="en-US" altLang="en-US"/>
          </a:p>
        </p:txBody>
      </p:sp>
    </p:spTree>
    <p:extLst>
      <p:ext uri="{BB962C8B-B14F-4D97-AF65-F5344CB8AC3E}">
        <p14:creationId xmlns:p14="http://schemas.microsoft.com/office/powerpoint/2010/main" val="335602753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66018"/>
            <a:ext cx="8229600" cy="4525963"/>
          </a:xfrm>
        </p:spPr>
        <p:txBody>
          <a:bodyPr>
            <a:normAutofit/>
          </a:bodyPr>
          <a:lstStyle/>
          <a:p>
            <a:pPr marL="0" indent="0">
              <a:buNone/>
            </a:pPr>
            <a:r>
              <a:rPr lang="en-US" sz="2800" dirty="0">
                <a:latin typeface="Times New Roman" pitchFamily="18" charset="0"/>
                <a:cs typeface="Times New Roman" pitchFamily="18" charset="0"/>
              </a:rPr>
              <a:t>Example:</a:t>
            </a:r>
          </a:p>
          <a:p>
            <a:pPr marL="0" indent="0">
              <a:buNone/>
            </a:pPr>
            <a:r>
              <a:rPr lang="en-US" sz="2800" dirty="0">
                <a:latin typeface="Times New Roman" pitchFamily="18" charset="0"/>
                <a:cs typeface="Times New Roman" pitchFamily="18" charset="0"/>
              </a:rPr>
              <a:t> </a:t>
            </a:r>
          </a:p>
          <a:p>
            <a:pPr marL="0" indent="0">
              <a:buNone/>
            </a:pPr>
            <a:r>
              <a:rPr lang="en-US" sz="2800" dirty="0">
                <a:latin typeface="Times New Roman" pitchFamily="18" charset="0"/>
                <a:cs typeface="Times New Roman" pitchFamily="18" charset="0"/>
              </a:rPr>
              <a:t>Let t(n)=100n+5. Express t(n) using Big-Oh(O)</a:t>
            </a:r>
          </a:p>
          <a:p>
            <a:pPr>
              <a:buNone/>
            </a:pPr>
            <a:r>
              <a:rPr lang="en-US" sz="2800" dirty="0">
                <a:latin typeface="Times New Roman" pitchFamily="18" charset="0"/>
                <a:cs typeface="Times New Roman" pitchFamily="18" charset="0"/>
              </a:rPr>
              <a:t>    t(n) ≤ </a:t>
            </a:r>
            <a:r>
              <a:rPr lang="en-US" sz="2800" dirty="0" err="1">
                <a:latin typeface="Times New Roman" pitchFamily="18" charset="0"/>
                <a:cs typeface="Times New Roman" pitchFamily="18" charset="0"/>
              </a:rPr>
              <a:t>c.g</a:t>
            </a:r>
            <a:r>
              <a:rPr lang="en-US" sz="2800" dirty="0">
                <a:latin typeface="Times New Roman" pitchFamily="18" charset="0"/>
                <a:cs typeface="Times New Roman" pitchFamily="18" charset="0"/>
              </a:rPr>
              <a:t>(n) for all n≥ n</a:t>
            </a:r>
            <a:r>
              <a:rPr lang="en-US" sz="2800" baseline="-25000" dirty="0">
                <a:latin typeface="Times New Roman" pitchFamily="18" charset="0"/>
                <a:cs typeface="Times New Roman" pitchFamily="18" charset="0"/>
              </a:rPr>
              <a:t>0</a:t>
            </a:r>
          </a:p>
          <a:p>
            <a:pPr>
              <a:buNone/>
            </a:pPr>
            <a:r>
              <a:rPr lang="en-US" sz="2800" baseline="-25000" dirty="0">
                <a:latin typeface="Times New Roman" pitchFamily="18" charset="0"/>
                <a:cs typeface="Times New Roman" pitchFamily="18" charset="0"/>
              </a:rPr>
              <a:t>  </a:t>
            </a:r>
            <a:r>
              <a:rPr lang="en-US" sz="2800" dirty="0">
                <a:latin typeface="Times New Roman" pitchFamily="18" charset="0"/>
                <a:cs typeface="Times New Roman" pitchFamily="18" charset="0"/>
              </a:rPr>
              <a:t>  100n+5 ≤ 101n for n ≥5</a:t>
            </a:r>
          </a:p>
          <a:p>
            <a:pPr>
              <a:buNone/>
            </a:pPr>
            <a:r>
              <a:rPr lang="en-US" sz="2800" dirty="0">
                <a:latin typeface="Times New Roman" pitchFamily="18" charset="0"/>
                <a:cs typeface="Times New Roman" pitchFamily="18" charset="0"/>
              </a:rPr>
              <a:t>    c=101, g(n)=n, n</a:t>
            </a:r>
            <a:r>
              <a:rPr lang="en-US" sz="2800" baseline="-25000" dirty="0">
                <a:latin typeface="Times New Roman" pitchFamily="18" charset="0"/>
                <a:cs typeface="Times New Roman" pitchFamily="18" charset="0"/>
              </a:rPr>
              <a:t>0 </a:t>
            </a:r>
            <a:r>
              <a:rPr lang="en-US" sz="2800" dirty="0">
                <a:latin typeface="Times New Roman" pitchFamily="18" charset="0"/>
                <a:cs typeface="Times New Roman" pitchFamily="18" charset="0"/>
              </a:rPr>
              <a:t>=5</a:t>
            </a:r>
          </a:p>
          <a:p>
            <a:pPr>
              <a:buNone/>
            </a:pPr>
            <a:r>
              <a:rPr lang="en-US" sz="2800" dirty="0">
                <a:latin typeface="Times New Roman" pitchFamily="18" charset="0"/>
                <a:cs typeface="Times New Roman" pitchFamily="18" charset="0"/>
              </a:rPr>
              <a:t>    ∴ t(n) ∈ O(g(n))</a:t>
            </a:r>
          </a:p>
        </p:txBody>
      </p:sp>
      <p:sp>
        <p:nvSpPr>
          <p:cNvPr id="2" name="Date Placeholder 1">
            <a:extLst>
              <a:ext uri="{FF2B5EF4-FFF2-40B4-BE49-F238E27FC236}">
                <a16:creationId xmlns:a16="http://schemas.microsoft.com/office/drawing/2014/main" id="{1D5DDC34-7A28-31E4-2A04-EA96829BCA49}"/>
              </a:ext>
            </a:extLst>
          </p:cNvPr>
          <p:cNvSpPr>
            <a:spLocks noGrp="1"/>
          </p:cNvSpPr>
          <p:nvPr>
            <p:ph type="dt" sz="half" idx="10"/>
          </p:nvPr>
        </p:nvSpPr>
        <p:spPr/>
        <p:txBody>
          <a:bodyPr/>
          <a:lstStyle/>
          <a:p>
            <a:pPr>
              <a:defRPr/>
            </a:pPr>
            <a:fld id="{4E3C2AB9-CD79-4B59-8079-37F78F698E07}"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AADF1A72-D2BF-7439-F3B0-B7F6D4E440F4}"/>
              </a:ext>
            </a:extLst>
          </p:cNvPr>
          <p:cNvSpPr>
            <a:spLocks noGrp="1"/>
          </p:cNvSpPr>
          <p:nvPr>
            <p:ph type="sldNum" sz="quarter" idx="12"/>
          </p:nvPr>
        </p:nvSpPr>
        <p:spPr/>
        <p:txBody>
          <a:bodyPr/>
          <a:lstStyle/>
          <a:p>
            <a:pPr>
              <a:defRPr/>
            </a:pPr>
            <a:fld id="{937DAA19-78E2-454A-BF0A-AB51F6D45129}" type="slidenum">
              <a:rPr lang="en-US" altLang="en-US" smtClean="0"/>
              <a:pPr>
                <a:defRPr/>
              </a:pPr>
              <a:t>92</a:t>
            </a:fld>
            <a:endParaRPr lang="en-US" altLang="en-US"/>
          </a:p>
        </p:txBody>
      </p:sp>
    </p:spTree>
    <p:extLst>
      <p:ext uri="{BB962C8B-B14F-4D97-AF65-F5344CB8AC3E}">
        <p14:creationId xmlns:p14="http://schemas.microsoft.com/office/powerpoint/2010/main" val="247458074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Big Omega Notation(</a:t>
            </a:r>
            <a:r>
              <a:rPr lang="el-GR" dirty="0">
                <a:solidFill>
                  <a:schemeClr val="tx1"/>
                </a:solidFill>
              </a:rPr>
              <a:t>Ω</a:t>
            </a:r>
            <a:r>
              <a:rPr lang="en-US" dirty="0">
                <a:solidFill>
                  <a:schemeClr val="tx1"/>
                </a:solidFill>
              </a:rPr>
              <a:t>)</a:t>
            </a:r>
          </a:p>
        </p:txBody>
      </p:sp>
      <p:sp>
        <p:nvSpPr>
          <p:cNvPr id="3" name="Content Placeholder 2"/>
          <p:cNvSpPr>
            <a:spLocks noGrp="1"/>
          </p:cNvSpPr>
          <p:nvPr>
            <p:ph idx="1"/>
          </p:nvPr>
        </p:nvSpPr>
        <p:spPr>
          <a:xfrm>
            <a:off x="155155" y="863716"/>
            <a:ext cx="8229600" cy="1980220"/>
          </a:xfrm>
        </p:spPr>
        <p:txBody>
          <a:bodyPr>
            <a:normAutofit lnSpcReduction="10000"/>
          </a:bodyPr>
          <a:lstStyle/>
          <a:p>
            <a:pPr algn="just"/>
            <a:r>
              <a:rPr lang="en-US" sz="2600" dirty="0">
                <a:latin typeface="Times New Roman" pitchFamily="18" charset="0"/>
                <a:cs typeface="Times New Roman" pitchFamily="18" charset="0"/>
              </a:rPr>
              <a:t>A function t(n) is said to be in </a:t>
            </a:r>
            <a:r>
              <a:rPr lang="el-GR" sz="2600" dirty="0">
                <a:latin typeface="Times New Roman" pitchFamily="18" charset="0"/>
                <a:cs typeface="Times New Roman" pitchFamily="18" charset="0"/>
              </a:rPr>
              <a:t>Ω</a:t>
            </a:r>
            <a:r>
              <a:rPr lang="en-US" sz="2600" dirty="0">
                <a:latin typeface="Times New Roman" pitchFamily="18" charset="0"/>
                <a:cs typeface="Times New Roman" pitchFamily="18" charset="0"/>
              </a:rPr>
              <a:t>(g(n)), denoted t(n) ∈</a:t>
            </a:r>
            <a:r>
              <a:rPr lang="el-GR" sz="2600" dirty="0">
                <a:latin typeface="Times New Roman" pitchFamily="18" charset="0"/>
                <a:cs typeface="Times New Roman" pitchFamily="18" charset="0"/>
              </a:rPr>
              <a:t>Ω</a:t>
            </a:r>
            <a:r>
              <a:rPr lang="en-US" sz="2600" dirty="0">
                <a:latin typeface="Times New Roman" pitchFamily="18" charset="0"/>
                <a:cs typeface="Times New Roman" pitchFamily="18" charset="0"/>
              </a:rPr>
              <a:t>(g(n)), if t(n) is bounded below by some constant multiple of g(n) for all large n, i.e., if there exist some positive constant c and some non negative integer n</a:t>
            </a:r>
            <a:r>
              <a:rPr lang="en-US" sz="2600" baseline="-25000" dirty="0">
                <a:latin typeface="Times New Roman" pitchFamily="18" charset="0"/>
                <a:cs typeface="Times New Roman" pitchFamily="18" charset="0"/>
              </a:rPr>
              <a:t>0   </a:t>
            </a:r>
            <a:r>
              <a:rPr lang="en-US" sz="2600" dirty="0">
                <a:latin typeface="Times New Roman" pitchFamily="18" charset="0"/>
                <a:cs typeface="Times New Roman" pitchFamily="18" charset="0"/>
              </a:rPr>
              <a:t>Such that  t(n) ≥  </a:t>
            </a:r>
            <a:r>
              <a:rPr lang="en-US" sz="2600" dirty="0" err="1">
                <a:latin typeface="Times New Roman" pitchFamily="18" charset="0"/>
                <a:cs typeface="Times New Roman" pitchFamily="18" charset="0"/>
              </a:rPr>
              <a:t>c.g</a:t>
            </a:r>
            <a:r>
              <a:rPr lang="en-US" sz="2600" dirty="0">
                <a:latin typeface="Times New Roman" pitchFamily="18" charset="0"/>
                <a:cs typeface="Times New Roman" pitchFamily="18" charset="0"/>
              </a:rPr>
              <a:t>(n) for all n≥ n</a:t>
            </a:r>
            <a:r>
              <a:rPr lang="en-US" sz="2600" baseline="-25000" dirty="0">
                <a:latin typeface="Times New Roman" pitchFamily="18" charset="0"/>
                <a:cs typeface="Times New Roman" pitchFamily="18" charset="0"/>
              </a:rPr>
              <a:t>0 </a:t>
            </a:r>
            <a:endParaRPr lang="en-US" sz="2600" dirty="0">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0A442DC0-3FCA-4BFC-B63B-D2F111E3C831}"/>
              </a:ext>
            </a:extLst>
          </p:cNvPr>
          <p:cNvPicPr>
            <a:picLocks noChangeAspect="1"/>
          </p:cNvPicPr>
          <p:nvPr/>
        </p:nvPicPr>
        <p:blipFill>
          <a:blip r:embed="rId2"/>
          <a:stretch>
            <a:fillRect/>
          </a:stretch>
        </p:blipFill>
        <p:spPr>
          <a:xfrm>
            <a:off x="1691680" y="2843936"/>
            <a:ext cx="5997590" cy="4014064"/>
          </a:xfrm>
          <a:prstGeom prst="rect">
            <a:avLst/>
          </a:prstGeom>
        </p:spPr>
      </p:pic>
      <p:sp>
        <p:nvSpPr>
          <p:cNvPr id="5" name="Date Placeholder 4">
            <a:extLst>
              <a:ext uri="{FF2B5EF4-FFF2-40B4-BE49-F238E27FC236}">
                <a16:creationId xmlns:a16="http://schemas.microsoft.com/office/drawing/2014/main" id="{747CCACB-3B89-E8B8-86D6-6FB17D0186CE}"/>
              </a:ext>
            </a:extLst>
          </p:cNvPr>
          <p:cNvSpPr>
            <a:spLocks noGrp="1"/>
          </p:cNvSpPr>
          <p:nvPr>
            <p:ph type="dt" sz="half" idx="10"/>
          </p:nvPr>
        </p:nvSpPr>
        <p:spPr/>
        <p:txBody>
          <a:bodyPr/>
          <a:lstStyle/>
          <a:p>
            <a:pPr>
              <a:defRPr/>
            </a:pPr>
            <a:fld id="{484F60DC-7C4C-440D-854B-17AC48798775}" type="datetime2">
              <a:rPr lang="en-US" smtClean="0"/>
              <a:t>Wednesday, January 22, 2025</a:t>
            </a:fld>
            <a:endParaRPr lang="en-US" altLang="en-US"/>
          </a:p>
        </p:txBody>
      </p:sp>
      <p:sp>
        <p:nvSpPr>
          <p:cNvPr id="6" name="Slide Number Placeholder 5">
            <a:extLst>
              <a:ext uri="{FF2B5EF4-FFF2-40B4-BE49-F238E27FC236}">
                <a16:creationId xmlns:a16="http://schemas.microsoft.com/office/drawing/2014/main" id="{3BD7B3BC-4BA9-D120-333D-D6AC473DFACC}"/>
              </a:ext>
            </a:extLst>
          </p:cNvPr>
          <p:cNvSpPr>
            <a:spLocks noGrp="1"/>
          </p:cNvSpPr>
          <p:nvPr>
            <p:ph type="sldNum" sz="quarter" idx="12"/>
          </p:nvPr>
        </p:nvSpPr>
        <p:spPr/>
        <p:txBody>
          <a:bodyPr/>
          <a:lstStyle/>
          <a:p>
            <a:pPr>
              <a:defRPr/>
            </a:pPr>
            <a:fld id="{937DAA19-78E2-454A-BF0A-AB51F6D45129}" type="slidenum">
              <a:rPr lang="en-US" altLang="en-US" smtClean="0"/>
              <a:pPr>
                <a:defRPr/>
              </a:pPr>
              <a:t>93</a:t>
            </a:fld>
            <a:endParaRPr lang="en-US" altLang="en-US"/>
          </a:p>
        </p:txBody>
      </p:sp>
    </p:spTree>
    <p:extLst>
      <p:ext uri="{BB962C8B-B14F-4D97-AF65-F5344CB8AC3E}">
        <p14:creationId xmlns:p14="http://schemas.microsoft.com/office/powerpoint/2010/main" val="17696135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latin typeface="Times New Roman" pitchFamily="18" charset="0"/>
                <a:cs typeface="Times New Roman" pitchFamily="18" charset="0"/>
              </a:rPr>
              <a:t>Let t(n)=10n</a:t>
            </a:r>
            <a:r>
              <a:rPr lang="en-US" baseline="30000" dirty="0">
                <a:latin typeface="Times New Roman" pitchFamily="18" charset="0"/>
                <a:cs typeface="Times New Roman" pitchFamily="18" charset="0"/>
              </a:rPr>
              <a:t>3</a:t>
            </a:r>
            <a:r>
              <a:rPr lang="en-US" dirty="0">
                <a:latin typeface="Times New Roman" pitchFamily="18" charset="0"/>
                <a:cs typeface="Times New Roman" pitchFamily="18" charset="0"/>
              </a:rPr>
              <a:t>+5. Express t(n) using Omega</a:t>
            </a:r>
            <a:r>
              <a:rPr lang="en-US" dirty="0"/>
              <a:t>(</a:t>
            </a:r>
            <a:r>
              <a:rPr lang="el-GR" dirty="0"/>
              <a:t>Ω</a:t>
            </a:r>
            <a:r>
              <a:rPr lang="en-US" dirty="0"/>
              <a:t>)</a:t>
            </a:r>
            <a:endParaRPr lang="en-US" dirty="0">
              <a:latin typeface="Times New Roman" pitchFamily="18" charset="0"/>
              <a:cs typeface="Times New Roman" pitchFamily="18" charset="0"/>
            </a:endParaRPr>
          </a:p>
          <a:p>
            <a:pPr>
              <a:buNone/>
            </a:pPr>
            <a:r>
              <a:rPr lang="en-US" dirty="0">
                <a:latin typeface="Times New Roman" pitchFamily="18" charset="0"/>
                <a:cs typeface="Times New Roman" pitchFamily="18" charset="0"/>
              </a:rPr>
              <a:t>    t(n) ≥ </a:t>
            </a:r>
            <a:r>
              <a:rPr lang="en-US" dirty="0" err="1">
                <a:latin typeface="Times New Roman" pitchFamily="18" charset="0"/>
                <a:cs typeface="Times New Roman" pitchFamily="18" charset="0"/>
              </a:rPr>
              <a:t>c.g</a:t>
            </a:r>
            <a:r>
              <a:rPr lang="en-US" dirty="0">
                <a:latin typeface="Times New Roman" pitchFamily="18" charset="0"/>
                <a:cs typeface="Times New Roman" pitchFamily="18" charset="0"/>
              </a:rPr>
              <a:t>(n) for all n≥ n</a:t>
            </a:r>
            <a:r>
              <a:rPr lang="en-US" baseline="-25000" dirty="0">
                <a:latin typeface="Times New Roman" pitchFamily="18" charset="0"/>
                <a:cs typeface="Times New Roman" pitchFamily="18" charset="0"/>
              </a:rPr>
              <a:t>0</a:t>
            </a:r>
          </a:p>
          <a:p>
            <a:pPr>
              <a:buNone/>
            </a:pPr>
            <a:r>
              <a:rPr lang="en-US" baseline="-25000" dirty="0">
                <a:latin typeface="Times New Roman" pitchFamily="18" charset="0"/>
                <a:cs typeface="Times New Roman" pitchFamily="18" charset="0"/>
              </a:rPr>
              <a:t>    </a:t>
            </a:r>
            <a:r>
              <a:rPr lang="en-US" dirty="0">
                <a:latin typeface="Times New Roman" pitchFamily="18" charset="0"/>
                <a:cs typeface="Times New Roman" pitchFamily="18" charset="0"/>
              </a:rPr>
              <a:t>10n</a:t>
            </a:r>
            <a:r>
              <a:rPr lang="en-US" baseline="30000" dirty="0">
                <a:latin typeface="Times New Roman" pitchFamily="18" charset="0"/>
                <a:cs typeface="Times New Roman" pitchFamily="18" charset="0"/>
              </a:rPr>
              <a:t>3</a:t>
            </a:r>
            <a:r>
              <a:rPr lang="en-US" dirty="0">
                <a:latin typeface="Times New Roman" pitchFamily="18" charset="0"/>
                <a:cs typeface="Times New Roman" pitchFamily="18" charset="0"/>
              </a:rPr>
              <a:t>+5 ≤ 10n</a:t>
            </a:r>
            <a:r>
              <a:rPr lang="en-US" baseline="30000" dirty="0">
                <a:latin typeface="Times New Roman" pitchFamily="18" charset="0"/>
                <a:cs typeface="Times New Roman" pitchFamily="18" charset="0"/>
              </a:rPr>
              <a:t>3</a:t>
            </a:r>
            <a:r>
              <a:rPr lang="en-US" dirty="0">
                <a:latin typeface="Times New Roman" pitchFamily="18" charset="0"/>
                <a:cs typeface="Times New Roman" pitchFamily="18" charset="0"/>
              </a:rPr>
              <a:t> for n ≥0</a:t>
            </a:r>
          </a:p>
          <a:p>
            <a:pPr>
              <a:buNone/>
            </a:pPr>
            <a:r>
              <a:rPr lang="en-US" dirty="0">
                <a:latin typeface="Times New Roman" pitchFamily="18" charset="0"/>
                <a:cs typeface="Times New Roman" pitchFamily="18" charset="0"/>
              </a:rPr>
              <a:t>    c=10, g(n)=n</a:t>
            </a:r>
            <a:r>
              <a:rPr lang="en-US" baseline="30000" dirty="0">
                <a:latin typeface="Times New Roman" pitchFamily="18" charset="0"/>
                <a:cs typeface="Times New Roman" pitchFamily="18" charset="0"/>
              </a:rPr>
              <a:t>3</a:t>
            </a:r>
            <a:r>
              <a:rPr lang="en-US" dirty="0">
                <a:latin typeface="Times New Roman" pitchFamily="18" charset="0"/>
                <a:cs typeface="Times New Roman" pitchFamily="18" charset="0"/>
              </a:rPr>
              <a:t>, n</a:t>
            </a:r>
            <a:r>
              <a:rPr lang="en-US" baseline="-25000" dirty="0">
                <a:latin typeface="Times New Roman" pitchFamily="18" charset="0"/>
                <a:cs typeface="Times New Roman" pitchFamily="18" charset="0"/>
              </a:rPr>
              <a:t>0 </a:t>
            </a:r>
            <a:r>
              <a:rPr lang="en-US" dirty="0">
                <a:latin typeface="Times New Roman" pitchFamily="18" charset="0"/>
                <a:cs typeface="Times New Roman" pitchFamily="18" charset="0"/>
              </a:rPr>
              <a:t>=0</a:t>
            </a:r>
          </a:p>
          <a:p>
            <a:pPr>
              <a:buNone/>
            </a:pPr>
            <a:r>
              <a:rPr lang="en-US" dirty="0">
                <a:latin typeface="Times New Roman" pitchFamily="18" charset="0"/>
                <a:cs typeface="Times New Roman" pitchFamily="18" charset="0"/>
              </a:rPr>
              <a:t>    ∴ t(n) ∈</a:t>
            </a:r>
            <a:r>
              <a:rPr lang="el-GR" dirty="0">
                <a:latin typeface="Times New Roman" pitchFamily="18" charset="0"/>
                <a:cs typeface="Times New Roman" pitchFamily="18" charset="0"/>
              </a:rPr>
              <a:t>Ω</a:t>
            </a:r>
            <a:r>
              <a:rPr lang="en-US" dirty="0">
                <a:latin typeface="Times New Roman" pitchFamily="18" charset="0"/>
                <a:cs typeface="Times New Roman" pitchFamily="18" charset="0"/>
              </a:rPr>
              <a:t>(g(n</a:t>
            </a:r>
            <a:r>
              <a:rPr lang="en-US" baseline="30000" dirty="0">
                <a:latin typeface="Times New Roman" pitchFamily="18" charset="0"/>
                <a:cs typeface="Times New Roman" pitchFamily="18" charset="0"/>
              </a:rPr>
              <a:t>3</a:t>
            </a:r>
            <a:r>
              <a:rPr lang="en-US" dirty="0">
                <a:latin typeface="Times New Roman" pitchFamily="18" charset="0"/>
                <a:cs typeface="Times New Roman" pitchFamily="18" charset="0"/>
              </a:rPr>
              <a:t>))</a:t>
            </a:r>
          </a:p>
          <a:p>
            <a:endParaRPr lang="en-US" dirty="0"/>
          </a:p>
        </p:txBody>
      </p:sp>
      <p:sp>
        <p:nvSpPr>
          <p:cNvPr id="2" name="Date Placeholder 1">
            <a:extLst>
              <a:ext uri="{FF2B5EF4-FFF2-40B4-BE49-F238E27FC236}">
                <a16:creationId xmlns:a16="http://schemas.microsoft.com/office/drawing/2014/main" id="{EDDBE007-0337-C98C-7458-E889B0DAFA67}"/>
              </a:ext>
            </a:extLst>
          </p:cNvPr>
          <p:cNvSpPr>
            <a:spLocks noGrp="1"/>
          </p:cNvSpPr>
          <p:nvPr>
            <p:ph type="dt" sz="half" idx="10"/>
          </p:nvPr>
        </p:nvSpPr>
        <p:spPr/>
        <p:txBody>
          <a:bodyPr/>
          <a:lstStyle/>
          <a:p>
            <a:pPr>
              <a:defRPr/>
            </a:pPr>
            <a:fld id="{F81B8CD9-B913-4890-A5DD-3E160FC998E3}"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4305D4C0-F8CF-845F-7449-DE9EE6D60DCC}"/>
              </a:ext>
            </a:extLst>
          </p:cNvPr>
          <p:cNvSpPr>
            <a:spLocks noGrp="1"/>
          </p:cNvSpPr>
          <p:nvPr>
            <p:ph type="sldNum" sz="quarter" idx="12"/>
          </p:nvPr>
        </p:nvSpPr>
        <p:spPr/>
        <p:txBody>
          <a:bodyPr/>
          <a:lstStyle/>
          <a:p>
            <a:pPr>
              <a:defRPr/>
            </a:pPr>
            <a:fld id="{937DAA19-78E2-454A-BF0A-AB51F6D45129}" type="slidenum">
              <a:rPr lang="en-US" altLang="en-US" smtClean="0"/>
              <a:pPr>
                <a:defRPr/>
              </a:pPr>
              <a:t>94</a:t>
            </a:fld>
            <a:endParaRPr lang="en-US" altLang="en-US"/>
          </a:p>
        </p:txBody>
      </p:sp>
    </p:spTree>
    <p:extLst>
      <p:ext uri="{BB962C8B-B14F-4D97-AF65-F5344CB8AC3E}">
        <p14:creationId xmlns:p14="http://schemas.microsoft.com/office/powerpoint/2010/main" val="26634919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Big Theta Notation(</a:t>
            </a:r>
            <a:r>
              <a:rPr lang="el-GR" dirty="0">
                <a:solidFill>
                  <a:schemeClr val="tx1"/>
                </a:solidFill>
              </a:rPr>
              <a:t>θ</a:t>
            </a:r>
            <a:r>
              <a:rPr lang="en-US" dirty="0">
                <a:solidFill>
                  <a:schemeClr val="tx1"/>
                </a:solidFill>
              </a:rPr>
              <a:t>)</a:t>
            </a:r>
          </a:p>
        </p:txBody>
      </p:sp>
      <p:sp>
        <p:nvSpPr>
          <p:cNvPr id="3" name="Content Placeholder 2"/>
          <p:cNvSpPr>
            <a:spLocks noGrp="1"/>
          </p:cNvSpPr>
          <p:nvPr>
            <p:ph idx="1"/>
          </p:nvPr>
        </p:nvSpPr>
        <p:spPr>
          <a:xfrm>
            <a:off x="341531" y="1133745"/>
            <a:ext cx="8505944" cy="4318128"/>
          </a:xfrm>
        </p:spPr>
        <p:txBody>
          <a:bodyPr>
            <a:normAutofit/>
          </a:bodyPr>
          <a:lstStyle/>
          <a:p>
            <a:pPr algn="just"/>
            <a:r>
              <a:rPr lang="en-US" sz="2400" dirty="0">
                <a:latin typeface="Times New Roman" pitchFamily="18" charset="0"/>
                <a:cs typeface="Times New Roman" pitchFamily="18" charset="0"/>
              </a:rPr>
              <a:t>A function t(n) is said to be in </a:t>
            </a:r>
            <a:r>
              <a:rPr lang="el-GR" sz="2400" dirty="0">
                <a:latin typeface="Times New Roman" pitchFamily="18" charset="0"/>
                <a:cs typeface="Times New Roman" pitchFamily="18" charset="0"/>
              </a:rPr>
              <a:t>θ</a:t>
            </a:r>
            <a:r>
              <a:rPr lang="en-US" sz="2400" dirty="0">
                <a:latin typeface="Times New Roman" pitchFamily="18" charset="0"/>
                <a:cs typeface="Times New Roman" pitchFamily="18" charset="0"/>
              </a:rPr>
              <a:t>(g(n)), denoted t(n) ∈</a:t>
            </a:r>
            <a:r>
              <a:rPr lang="el-GR" sz="2400" dirty="0">
                <a:latin typeface="Times New Roman" pitchFamily="18" charset="0"/>
                <a:cs typeface="Times New Roman" pitchFamily="18" charset="0"/>
              </a:rPr>
              <a:t> θ</a:t>
            </a:r>
            <a:r>
              <a:rPr lang="en-US" sz="2400" dirty="0">
                <a:latin typeface="Times New Roman" pitchFamily="18" charset="0"/>
                <a:cs typeface="Times New Roman" pitchFamily="18" charset="0"/>
              </a:rPr>
              <a:t>(g(n)), if t(n) is bounded both above and below by some constant multiple of g(n) for all large n, i.e., if there exist some positive constant c</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rPr>
              <a:t> and c</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 and some non negative integer n</a:t>
            </a:r>
            <a:r>
              <a:rPr lang="en-US" sz="2400" baseline="-25000" dirty="0">
                <a:latin typeface="Times New Roman" pitchFamily="18" charset="0"/>
                <a:cs typeface="Times New Roman" pitchFamily="18" charset="0"/>
              </a:rPr>
              <a:t>0   </a:t>
            </a:r>
            <a:r>
              <a:rPr lang="en-US" sz="2400" dirty="0">
                <a:latin typeface="Times New Roman" pitchFamily="18" charset="0"/>
                <a:cs typeface="Times New Roman" pitchFamily="18" charset="0"/>
              </a:rPr>
              <a:t>Such that c</a:t>
            </a:r>
            <a:r>
              <a:rPr lang="en-US" sz="2400" baseline="-25000" dirty="0">
                <a:latin typeface="Times New Roman" pitchFamily="18" charset="0"/>
                <a:cs typeface="Times New Roman" pitchFamily="18" charset="0"/>
              </a:rPr>
              <a:t>2 </a:t>
            </a:r>
            <a:r>
              <a:rPr lang="en-US" sz="2400" dirty="0">
                <a:latin typeface="Times New Roman" pitchFamily="18" charset="0"/>
                <a:cs typeface="Times New Roman" pitchFamily="18" charset="0"/>
              </a:rPr>
              <a:t>.g(n) ≤ t(n) ≤ c</a:t>
            </a:r>
            <a:r>
              <a:rPr lang="en-US" sz="2400" baseline="-25000" dirty="0">
                <a:latin typeface="Times New Roman" pitchFamily="18" charset="0"/>
                <a:cs typeface="Times New Roman" pitchFamily="18" charset="0"/>
              </a:rPr>
              <a:t>1</a:t>
            </a:r>
            <a:r>
              <a:rPr lang="en-US" sz="2400" dirty="0">
                <a:latin typeface="Times New Roman" pitchFamily="18" charset="0"/>
                <a:cs typeface="Times New Roman" pitchFamily="18" charset="0"/>
              </a:rPr>
              <a:t>.g(n) for all n≥ n</a:t>
            </a:r>
            <a:r>
              <a:rPr lang="en-US" sz="2400" baseline="-25000" dirty="0">
                <a:latin typeface="Times New Roman" pitchFamily="18" charset="0"/>
                <a:cs typeface="Times New Roman" pitchFamily="18" charset="0"/>
              </a:rPr>
              <a:t>0 </a:t>
            </a:r>
            <a:endParaRPr lang="en-US" sz="2400" dirty="0">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BEFB2D7D-92ED-4953-BB50-7B34CF6232C4}"/>
              </a:ext>
            </a:extLst>
          </p:cNvPr>
          <p:cNvPicPr>
            <a:picLocks noChangeAspect="1"/>
          </p:cNvPicPr>
          <p:nvPr/>
        </p:nvPicPr>
        <p:blipFill>
          <a:blip r:embed="rId2"/>
          <a:stretch>
            <a:fillRect/>
          </a:stretch>
        </p:blipFill>
        <p:spPr>
          <a:xfrm>
            <a:off x="1286635" y="3112110"/>
            <a:ext cx="6255695" cy="3745890"/>
          </a:xfrm>
          <a:prstGeom prst="rect">
            <a:avLst/>
          </a:prstGeom>
        </p:spPr>
      </p:pic>
      <p:sp>
        <p:nvSpPr>
          <p:cNvPr id="5" name="Date Placeholder 4">
            <a:extLst>
              <a:ext uri="{FF2B5EF4-FFF2-40B4-BE49-F238E27FC236}">
                <a16:creationId xmlns:a16="http://schemas.microsoft.com/office/drawing/2014/main" id="{110C5B8C-B8A4-D32A-0EAA-1292BC74D456}"/>
              </a:ext>
            </a:extLst>
          </p:cNvPr>
          <p:cNvSpPr>
            <a:spLocks noGrp="1"/>
          </p:cNvSpPr>
          <p:nvPr>
            <p:ph type="dt" sz="half" idx="10"/>
          </p:nvPr>
        </p:nvSpPr>
        <p:spPr/>
        <p:txBody>
          <a:bodyPr/>
          <a:lstStyle/>
          <a:p>
            <a:pPr>
              <a:defRPr/>
            </a:pPr>
            <a:fld id="{62EC35F0-5C9E-4F36-8A19-37F9FCAFE8CA}" type="datetime2">
              <a:rPr lang="en-US" smtClean="0"/>
              <a:t>Wednesday, January 22, 2025</a:t>
            </a:fld>
            <a:endParaRPr lang="en-US" altLang="en-US"/>
          </a:p>
        </p:txBody>
      </p:sp>
      <p:sp>
        <p:nvSpPr>
          <p:cNvPr id="6" name="Slide Number Placeholder 5">
            <a:extLst>
              <a:ext uri="{FF2B5EF4-FFF2-40B4-BE49-F238E27FC236}">
                <a16:creationId xmlns:a16="http://schemas.microsoft.com/office/drawing/2014/main" id="{F2BB0102-0B8A-3AC0-61F6-6CBEF65DE326}"/>
              </a:ext>
            </a:extLst>
          </p:cNvPr>
          <p:cNvSpPr>
            <a:spLocks noGrp="1"/>
          </p:cNvSpPr>
          <p:nvPr>
            <p:ph type="sldNum" sz="quarter" idx="12"/>
          </p:nvPr>
        </p:nvSpPr>
        <p:spPr/>
        <p:txBody>
          <a:bodyPr/>
          <a:lstStyle/>
          <a:p>
            <a:pPr>
              <a:defRPr/>
            </a:pPr>
            <a:fld id="{937DAA19-78E2-454A-BF0A-AB51F6D45129}" type="slidenum">
              <a:rPr lang="en-US" altLang="en-US" smtClean="0"/>
              <a:pPr>
                <a:defRPr/>
              </a:pPr>
              <a:t>95</a:t>
            </a:fld>
            <a:endParaRPr lang="en-US" altLang="en-US"/>
          </a:p>
        </p:txBody>
      </p:sp>
    </p:spTree>
    <p:extLst>
      <p:ext uri="{BB962C8B-B14F-4D97-AF65-F5344CB8AC3E}">
        <p14:creationId xmlns:p14="http://schemas.microsoft.com/office/powerpoint/2010/main" val="237450860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25930DA-DF3A-4C44-8960-5F393E111E0E}"/>
              </a:ext>
            </a:extLst>
          </p:cNvPr>
          <p:cNvPicPr>
            <a:picLocks noChangeAspect="1"/>
          </p:cNvPicPr>
          <p:nvPr/>
        </p:nvPicPr>
        <p:blipFill>
          <a:blip r:embed="rId2"/>
          <a:stretch>
            <a:fillRect/>
          </a:stretch>
        </p:blipFill>
        <p:spPr>
          <a:xfrm>
            <a:off x="0" y="1171433"/>
            <a:ext cx="9144000" cy="4372801"/>
          </a:xfrm>
          <a:prstGeom prst="rect">
            <a:avLst/>
          </a:prstGeom>
        </p:spPr>
      </p:pic>
      <p:sp>
        <p:nvSpPr>
          <p:cNvPr id="2" name="Date Placeholder 1">
            <a:extLst>
              <a:ext uri="{FF2B5EF4-FFF2-40B4-BE49-F238E27FC236}">
                <a16:creationId xmlns:a16="http://schemas.microsoft.com/office/drawing/2014/main" id="{5A6ABC86-D18B-9E34-FC3E-C486C182887B}"/>
              </a:ext>
            </a:extLst>
          </p:cNvPr>
          <p:cNvSpPr>
            <a:spLocks noGrp="1"/>
          </p:cNvSpPr>
          <p:nvPr>
            <p:ph type="dt" sz="half" idx="10"/>
          </p:nvPr>
        </p:nvSpPr>
        <p:spPr/>
        <p:txBody>
          <a:bodyPr/>
          <a:lstStyle/>
          <a:p>
            <a:pPr>
              <a:defRPr/>
            </a:pPr>
            <a:fld id="{E9DC0854-9AED-4E53-A051-4BCE683DAD71}"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4E158793-D69D-F1A4-5BA6-A7BD7F07A2CD}"/>
              </a:ext>
            </a:extLst>
          </p:cNvPr>
          <p:cNvSpPr>
            <a:spLocks noGrp="1"/>
          </p:cNvSpPr>
          <p:nvPr>
            <p:ph type="sldNum" sz="quarter" idx="12"/>
          </p:nvPr>
        </p:nvSpPr>
        <p:spPr/>
        <p:txBody>
          <a:bodyPr/>
          <a:lstStyle/>
          <a:p>
            <a:pPr>
              <a:defRPr/>
            </a:pPr>
            <a:fld id="{937DAA19-78E2-454A-BF0A-AB51F6D45129}" type="slidenum">
              <a:rPr lang="en-US" altLang="en-US" smtClean="0"/>
              <a:pPr>
                <a:defRPr/>
              </a:pPr>
              <a:t>96</a:t>
            </a:fld>
            <a:endParaRPr lang="en-US" altLang="en-US"/>
          </a:p>
        </p:txBody>
      </p:sp>
    </p:spTree>
    <p:extLst>
      <p:ext uri="{BB962C8B-B14F-4D97-AF65-F5344CB8AC3E}">
        <p14:creationId xmlns:p14="http://schemas.microsoft.com/office/powerpoint/2010/main" val="259990294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83995F6-419A-4330-9850-E1D48ADA3330}"/>
              </a:ext>
            </a:extLst>
          </p:cNvPr>
          <p:cNvPicPr>
            <a:picLocks noChangeAspect="1"/>
          </p:cNvPicPr>
          <p:nvPr/>
        </p:nvPicPr>
        <p:blipFill>
          <a:blip r:embed="rId2"/>
          <a:stretch>
            <a:fillRect/>
          </a:stretch>
        </p:blipFill>
        <p:spPr>
          <a:xfrm>
            <a:off x="21443" y="0"/>
            <a:ext cx="9122557" cy="6129300"/>
          </a:xfrm>
          <a:prstGeom prst="rect">
            <a:avLst/>
          </a:prstGeom>
        </p:spPr>
      </p:pic>
      <p:sp>
        <p:nvSpPr>
          <p:cNvPr id="2" name="Date Placeholder 1">
            <a:extLst>
              <a:ext uri="{FF2B5EF4-FFF2-40B4-BE49-F238E27FC236}">
                <a16:creationId xmlns:a16="http://schemas.microsoft.com/office/drawing/2014/main" id="{DDFD74B9-0374-D010-74C7-69CACB37E00D}"/>
              </a:ext>
            </a:extLst>
          </p:cNvPr>
          <p:cNvSpPr>
            <a:spLocks noGrp="1"/>
          </p:cNvSpPr>
          <p:nvPr>
            <p:ph type="dt" sz="half" idx="10"/>
          </p:nvPr>
        </p:nvSpPr>
        <p:spPr/>
        <p:txBody>
          <a:bodyPr/>
          <a:lstStyle/>
          <a:p>
            <a:pPr>
              <a:defRPr/>
            </a:pPr>
            <a:fld id="{88C87B7C-2B2A-402F-85B8-233143708972}"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189DB19C-2093-2735-EE18-F9E94F0E47F0}"/>
              </a:ext>
            </a:extLst>
          </p:cNvPr>
          <p:cNvSpPr>
            <a:spLocks noGrp="1"/>
          </p:cNvSpPr>
          <p:nvPr>
            <p:ph type="sldNum" sz="quarter" idx="12"/>
          </p:nvPr>
        </p:nvSpPr>
        <p:spPr/>
        <p:txBody>
          <a:bodyPr/>
          <a:lstStyle/>
          <a:p>
            <a:pPr>
              <a:defRPr/>
            </a:pPr>
            <a:fld id="{937DAA19-78E2-454A-BF0A-AB51F6D45129}" type="slidenum">
              <a:rPr lang="en-US" altLang="en-US" smtClean="0"/>
              <a:pPr>
                <a:defRPr/>
              </a:pPr>
              <a:t>97</a:t>
            </a:fld>
            <a:endParaRPr lang="en-US" altLang="en-US"/>
          </a:p>
        </p:txBody>
      </p:sp>
    </p:spTree>
    <p:extLst>
      <p:ext uri="{BB962C8B-B14F-4D97-AF65-F5344CB8AC3E}">
        <p14:creationId xmlns:p14="http://schemas.microsoft.com/office/powerpoint/2010/main" val="88172500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6161D-7348-4710-ACD3-50BD927D3309}"/>
              </a:ext>
            </a:extLst>
          </p:cNvPr>
          <p:cNvSpPr>
            <a:spLocks noGrp="1"/>
          </p:cNvSpPr>
          <p:nvPr>
            <p:ph type="title"/>
          </p:nvPr>
        </p:nvSpPr>
        <p:spPr>
          <a:xfrm>
            <a:off x="58615" y="157162"/>
            <a:ext cx="6082030" cy="868805"/>
          </a:xfrm>
        </p:spPr>
        <p:txBody>
          <a:bodyPr/>
          <a:lstStyle/>
          <a:p>
            <a:r>
              <a:rPr lang="en-US" dirty="0"/>
              <a:t>Using Limits for Comparing Orders of Growth</a:t>
            </a:r>
            <a:endParaRPr lang="en-IN" dirty="0"/>
          </a:p>
        </p:txBody>
      </p:sp>
      <p:pic>
        <p:nvPicPr>
          <p:cNvPr id="5" name="Content Placeholder 4">
            <a:extLst>
              <a:ext uri="{FF2B5EF4-FFF2-40B4-BE49-F238E27FC236}">
                <a16:creationId xmlns:a16="http://schemas.microsoft.com/office/drawing/2014/main" id="{6B3C7709-21AE-4077-9B64-5043D0C8FA17}"/>
              </a:ext>
            </a:extLst>
          </p:cNvPr>
          <p:cNvPicPr>
            <a:picLocks noGrp="1" noChangeAspect="1"/>
          </p:cNvPicPr>
          <p:nvPr>
            <p:ph idx="1"/>
          </p:nvPr>
        </p:nvPicPr>
        <p:blipFill>
          <a:blip r:embed="rId2"/>
          <a:stretch>
            <a:fillRect/>
          </a:stretch>
        </p:blipFill>
        <p:spPr>
          <a:xfrm>
            <a:off x="58616" y="2348882"/>
            <a:ext cx="9085384" cy="1395154"/>
          </a:xfrm>
          <a:prstGeom prst="rect">
            <a:avLst/>
          </a:prstGeom>
        </p:spPr>
      </p:pic>
      <p:sp>
        <p:nvSpPr>
          <p:cNvPr id="3" name="Date Placeholder 2">
            <a:extLst>
              <a:ext uri="{FF2B5EF4-FFF2-40B4-BE49-F238E27FC236}">
                <a16:creationId xmlns:a16="http://schemas.microsoft.com/office/drawing/2014/main" id="{85E3D3BE-7A55-BF4C-8762-B986C8EBC41B}"/>
              </a:ext>
            </a:extLst>
          </p:cNvPr>
          <p:cNvSpPr>
            <a:spLocks noGrp="1"/>
          </p:cNvSpPr>
          <p:nvPr>
            <p:ph type="dt" sz="half" idx="10"/>
          </p:nvPr>
        </p:nvSpPr>
        <p:spPr/>
        <p:txBody>
          <a:bodyPr/>
          <a:lstStyle/>
          <a:p>
            <a:pPr>
              <a:defRPr/>
            </a:pPr>
            <a:fld id="{DCDAD90E-D4DD-424F-955A-35E98771E54A}"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A0E33622-4C76-79FA-C5B2-D74745BFBC83}"/>
              </a:ext>
            </a:extLst>
          </p:cNvPr>
          <p:cNvSpPr>
            <a:spLocks noGrp="1"/>
          </p:cNvSpPr>
          <p:nvPr>
            <p:ph type="sldNum" sz="quarter" idx="12"/>
          </p:nvPr>
        </p:nvSpPr>
        <p:spPr/>
        <p:txBody>
          <a:bodyPr/>
          <a:lstStyle/>
          <a:p>
            <a:pPr>
              <a:defRPr/>
            </a:pPr>
            <a:fld id="{937DAA19-78E2-454A-BF0A-AB51F6D45129}" type="slidenum">
              <a:rPr lang="en-US" altLang="en-US" smtClean="0"/>
              <a:pPr>
                <a:defRPr/>
              </a:pPr>
              <a:t>98</a:t>
            </a:fld>
            <a:endParaRPr lang="en-US" altLang="en-US"/>
          </a:p>
        </p:txBody>
      </p:sp>
    </p:spTree>
    <p:extLst>
      <p:ext uri="{BB962C8B-B14F-4D97-AF65-F5344CB8AC3E}">
        <p14:creationId xmlns:p14="http://schemas.microsoft.com/office/powerpoint/2010/main" val="427169313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68040F5-E6CB-4971-9F07-113E63A14729}"/>
              </a:ext>
            </a:extLst>
          </p:cNvPr>
          <p:cNvPicPr>
            <a:picLocks noChangeAspect="1"/>
          </p:cNvPicPr>
          <p:nvPr/>
        </p:nvPicPr>
        <p:blipFill>
          <a:blip r:embed="rId2"/>
          <a:stretch>
            <a:fillRect/>
          </a:stretch>
        </p:blipFill>
        <p:spPr>
          <a:xfrm>
            <a:off x="57248" y="1718810"/>
            <a:ext cx="9086751" cy="3060340"/>
          </a:xfrm>
          <a:prstGeom prst="rect">
            <a:avLst/>
          </a:prstGeom>
        </p:spPr>
      </p:pic>
      <p:sp>
        <p:nvSpPr>
          <p:cNvPr id="2" name="Date Placeholder 1">
            <a:extLst>
              <a:ext uri="{FF2B5EF4-FFF2-40B4-BE49-F238E27FC236}">
                <a16:creationId xmlns:a16="http://schemas.microsoft.com/office/drawing/2014/main" id="{31C72CAC-BECD-5460-3294-C88FF1CB8288}"/>
              </a:ext>
            </a:extLst>
          </p:cNvPr>
          <p:cNvSpPr>
            <a:spLocks noGrp="1"/>
          </p:cNvSpPr>
          <p:nvPr>
            <p:ph type="dt" sz="half" idx="10"/>
          </p:nvPr>
        </p:nvSpPr>
        <p:spPr/>
        <p:txBody>
          <a:bodyPr/>
          <a:lstStyle/>
          <a:p>
            <a:pPr>
              <a:defRPr/>
            </a:pPr>
            <a:fld id="{E6B6D5C5-5362-41C0-81A3-CE096F2EB547}"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91783DA2-A7FE-FA1D-775F-C1EE5CC9EF85}"/>
              </a:ext>
            </a:extLst>
          </p:cNvPr>
          <p:cNvSpPr>
            <a:spLocks noGrp="1"/>
          </p:cNvSpPr>
          <p:nvPr>
            <p:ph type="sldNum" sz="quarter" idx="12"/>
          </p:nvPr>
        </p:nvSpPr>
        <p:spPr/>
        <p:txBody>
          <a:bodyPr/>
          <a:lstStyle/>
          <a:p>
            <a:pPr>
              <a:defRPr/>
            </a:pPr>
            <a:fld id="{937DAA19-78E2-454A-BF0A-AB51F6D45129}" type="slidenum">
              <a:rPr lang="en-US" altLang="en-US" smtClean="0"/>
              <a:pPr>
                <a:defRPr/>
              </a:pPr>
              <a:t>99</a:t>
            </a:fld>
            <a:endParaRPr lang="en-US" altLang="en-US"/>
          </a:p>
        </p:txBody>
      </p:sp>
    </p:spTree>
    <p:extLst>
      <p:ext uri="{BB962C8B-B14F-4D97-AF65-F5344CB8AC3E}">
        <p14:creationId xmlns:p14="http://schemas.microsoft.com/office/powerpoint/2010/main" val="287041265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0864939-9632-47BE-B236-D5327C74BF34}"/>
              </a:ext>
            </a:extLst>
          </p:cNvPr>
          <p:cNvPicPr>
            <a:picLocks noChangeAspect="1"/>
          </p:cNvPicPr>
          <p:nvPr/>
        </p:nvPicPr>
        <p:blipFill>
          <a:blip r:embed="rId2"/>
          <a:stretch>
            <a:fillRect/>
          </a:stretch>
        </p:blipFill>
        <p:spPr>
          <a:xfrm>
            <a:off x="1" y="1628800"/>
            <a:ext cx="9144000" cy="3195355"/>
          </a:xfrm>
          <a:prstGeom prst="rect">
            <a:avLst/>
          </a:prstGeom>
        </p:spPr>
      </p:pic>
      <p:sp>
        <p:nvSpPr>
          <p:cNvPr id="2" name="Date Placeholder 1">
            <a:extLst>
              <a:ext uri="{FF2B5EF4-FFF2-40B4-BE49-F238E27FC236}">
                <a16:creationId xmlns:a16="http://schemas.microsoft.com/office/drawing/2014/main" id="{09D8608A-A6AB-566F-E591-291201A75C26}"/>
              </a:ext>
            </a:extLst>
          </p:cNvPr>
          <p:cNvSpPr>
            <a:spLocks noGrp="1"/>
          </p:cNvSpPr>
          <p:nvPr>
            <p:ph type="dt" sz="half" idx="10"/>
          </p:nvPr>
        </p:nvSpPr>
        <p:spPr/>
        <p:txBody>
          <a:bodyPr/>
          <a:lstStyle/>
          <a:p>
            <a:pPr>
              <a:defRPr/>
            </a:pPr>
            <a:fld id="{5D4AB34F-2DE4-4E53-A4B6-8A2137E15B38}"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55E9C959-7968-9680-2618-61A17E31DC01}"/>
              </a:ext>
            </a:extLst>
          </p:cNvPr>
          <p:cNvSpPr>
            <a:spLocks noGrp="1"/>
          </p:cNvSpPr>
          <p:nvPr>
            <p:ph type="sldNum" sz="quarter" idx="12"/>
          </p:nvPr>
        </p:nvSpPr>
        <p:spPr/>
        <p:txBody>
          <a:bodyPr/>
          <a:lstStyle/>
          <a:p>
            <a:pPr>
              <a:defRPr/>
            </a:pPr>
            <a:fld id="{937DAA19-78E2-454A-BF0A-AB51F6D45129}" type="slidenum">
              <a:rPr lang="en-US" altLang="en-US" smtClean="0"/>
              <a:pPr>
                <a:defRPr/>
              </a:pPr>
              <a:t>100</a:t>
            </a:fld>
            <a:endParaRPr lang="en-US" altLang="en-US"/>
          </a:p>
        </p:txBody>
      </p:sp>
    </p:spTree>
    <p:extLst>
      <p:ext uri="{BB962C8B-B14F-4D97-AF65-F5344CB8AC3E}">
        <p14:creationId xmlns:p14="http://schemas.microsoft.com/office/powerpoint/2010/main" val="142998005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A551B7A-5475-4D99-B12C-D6B28F7BA0DC}"/>
              </a:ext>
            </a:extLst>
          </p:cNvPr>
          <p:cNvPicPr>
            <a:picLocks noChangeAspect="1"/>
          </p:cNvPicPr>
          <p:nvPr/>
        </p:nvPicPr>
        <p:blipFill>
          <a:blip r:embed="rId2"/>
          <a:stretch>
            <a:fillRect/>
          </a:stretch>
        </p:blipFill>
        <p:spPr>
          <a:xfrm>
            <a:off x="-18251" y="1718810"/>
            <a:ext cx="9180501" cy="3420380"/>
          </a:xfrm>
          <a:prstGeom prst="rect">
            <a:avLst/>
          </a:prstGeom>
        </p:spPr>
      </p:pic>
      <p:sp>
        <p:nvSpPr>
          <p:cNvPr id="2" name="Date Placeholder 1">
            <a:extLst>
              <a:ext uri="{FF2B5EF4-FFF2-40B4-BE49-F238E27FC236}">
                <a16:creationId xmlns:a16="http://schemas.microsoft.com/office/drawing/2014/main" id="{87E40A1B-0A25-AF6A-D52C-83B879A38619}"/>
              </a:ext>
            </a:extLst>
          </p:cNvPr>
          <p:cNvSpPr>
            <a:spLocks noGrp="1"/>
          </p:cNvSpPr>
          <p:nvPr>
            <p:ph type="dt" sz="half" idx="10"/>
          </p:nvPr>
        </p:nvSpPr>
        <p:spPr/>
        <p:txBody>
          <a:bodyPr/>
          <a:lstStyle/>
          <a:p>
            <a:pPr>
              <a:defRPr/>
            </a:pPr>
            <a:fld id="{C29ED715-3AD0-4293-BE54-1B2B641DBC70}"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21B478DF-944D-6778-7511-BD249789280B}"/>
              </a:ext>
            </a:extLst>
          </p:cNvPr>
          <p:cNvSpPr>
            <a:spLocks noGrp="1"/>
          </p:cNvSpPr>
          <p:nvPr>
            <p:ph type="sldNum" sz="quarter" idx="12"/>
          </p:nvPr>
        </p:nvSpPr>
        <p:spPr/>
        <p:txBody>
          <a:bodyPr/>
          <a:lstStyle/>
          <a:p>
            <a:pPr>
              <a:defRPr/>
            </a:pPr>
            <a:fld id="{937DAA19-78E2-454A-BF0A-AB51F6D45129}" type="slidenum">
              <a:rPr lang="en-US" altLang="en-US" smtClean="0"/>
              <a:pPr>
                <a:defRPr/>
              </a:pPr>
              <a:t>101</a:t>
            </a:fld>
            <a:endParaRPr lang="en-US" altLang="en-US"/>
          </a:p>
        </p:txBody>
      </p:sp>
    </p:spTree>
    <p:extLst>
      <p:ext uri="{BB962C8B-B14F-4D97-AF65-F5344CB8AC3E}">
        <p14:creationId xmlns:p14="http://schemas.microsoft.com/office/powerpoint/2010/main" val="124798467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8939D3-1F44-4917-BDD0-A395090F502E}"/>
              </a:ext>
            </a:extLst>
          </p:cNvPr>
          <p:cNvPicPr>
            <a:picLocks noChangeAspect="1"/>
          </p:cNvPicPr>
          <p:nvPr/>
        </p:nvPicPr>
        <p:blipFill>
          <a:blip r:embed="rId2"/>
          <a:stretch>
            <a:fillRect/>
          </a:stretch>
        </p:blipFill>
        <p:spPr>
          <a:xfrm>
            <a:off x="-12990" y="1763815"/>
            <a:ext cx="9156989" cy="3325653"/>
          </a:xfrm>
          <a:prstGeom prst="rect">
            <a:avLst/>
          </a:prstGeom>
        </p:spPr>
      </p:pic>
      <p:sp>
        <p:nvSpPr>
          <p:cNvPr id="2" name="Date Placeholder 1">
            <a:extLst>
              <a:ext uri="{FF2B5EF4-FFF2-40B4-BE49-F238E27FC236}">
                <a16:creationId xmlns:a16="http://schemas.microsoft.com/office/drawing/2014/main" id="{EB1D1F10-92BE-525E-6144-DC2928D42CA6}"/>
              </a:ext>
            </a:extLst>
          </p:cNvPr>
          <p:cNvSpPr>
            <a:spLocks noGrp="1"/>
          </p:cNvSpPr>
          <p:nvPr>
            <p:ph type="dt" sz="half" idx="10"/>
          </p:nvPr>
        </p:nvSpPr>
        <p:spPr/>
        <p:txBody>
          <a:bodyPr/>
          <a:lstStyle/>
          <a:p>
            <a:pPr>
              <a:defRPr/>
            </a:pPr>
            <a:fld id="{8D61D5BC-9B70-4306-B2C0-E2A9FB9B6B24}"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EF2A1A54-9809-9DDB-3899-CE80EED994AF}"/>
              </a:ext>
            </a:extLst>
          </p:cNvPr>
          <p:cNvSpPr>
            <a:spLocks noGrp="1"/>
          </p:cNvSpPr>
          <p:nvPr>
            <p:ph type="sldNum" sz="quarter" idx="12"/>
          </p:nvPr>
        </p:nvSpPr>
        <p:spPr/>
        <p:txBody>
          <a:bodyPr/>
          <a:lstStyle/>
          <a:p>
            <a:pPr>
              <a:defRPr/>
            </a:pPr>
            <a:fld id="{937DAA19-78E2-454A-BF0A-AB51F6D45129}" type="slidenum">
              <a:rPr lang="en-US" altLang="en-US" smtClean="0"/>
              <a:pPr>
                <a:defRPr/>
              </a:pPr>
              <a:t>102</a:t>
            </a:fld>
            <a:endParaRPr lang="en-US" altLang="en-US"/>
          </a:p>
        </p:txBody>
      </p:sp>
    </p:spTree>
    <p:extLst>
      <p:ext uri="{BB962C8B-B14F-4D97-AF65-F5344CB8AC3E}">
        <p14:creationId xmlns:p14="http://schemas.microsoft.com/office/powerpoint/2010/main" val="391671587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72A20-449D-4B92-9513-E139C9EFC504}"/>
              </a:ext>
            </a:extLst>
          </p:cNvPr>
          <p:cNvSpPr>
            <a:spLocks noGrp="1"/>
          </p:cNvSpPr>
          <p:nvPr>
            <p:ph type="title"/>
          </p:nvPr>
        </p:nvSpPr>
        <p:spPr/>
        <p:txBody>
          <a:bodyPr/>
          <a:lstStyle/>
          <a:p>
            <a:r>
              <a:rPr lang="en-IN" b="0" dirty="0"/>
              <a:t>o</a:t>
            </a:r>
            <a:r>
              <a:rPr lang="en-IN" dirty="0"/>
              <a:t>-notation (Little oh)</a:t>
            </a:r>
          </a:p>
        </p:txBody>
      </p:sp>
      <p:pic>
        <p:nvPicPr>
          <p:cNvPr id="5" name="Content Placeholder 4">
            <a:extLst>
              <a:ext uri="{FF2B5EF4-FFF2-40B4-BE49-F238E27FC236}">
                <a16:creationId xmlns:a16="http://schemas.microsoft.com/office/drawing/2014/main" id="{BA6E6BD0-FB04-4F5F-83CB-B0E12E7CDBFC}"/>
              </a:ext>
            </a:extLst>
          </p:cNvPr>
          <p:cNvPicPr>
            <a:picLocks noGrp="1" noChangeAspect="1"/>
          </p:cNvPicPr>
          <p:nvPr>
            <p:ph idx="1"/>
          </p:nvPr>
        </p:nvPicPr>
        <p:blipFill>
          <a:blip r:embed="rId2"/>
          <a:stretch>
            <a:fillRect/>
          </a:stretch>
        </p:blipFill>
        <p:spPr>
          <a:xfrm>
            <a:off x="-1" y="1043735"/>
            <a:ext cx="9144001" cy="3060340"/>
          </a:xfrm>
          <a:prstGeom prst="rect">
            <a:avLst/>
          </a:prstGeom>
        </p:spPr>
      </p:pic>
      <p:sp>
        <p:nvSpPr>
          <p:cNvPr id="6" name="Rectangle 5">
            <a:extLst>
              <a:ext uri="{FF2B5EF4-FFF2-40B4-BE49-F238E27FC236}">
                <a16:creationId xmlns:a16="http://schemas.microsoft.com/office/drawing/2014/main" id="{95CACAB7-03BF-4C00-B854-55D64BCB2458}"/>
              </a:ext>
            </a:extLst>
          </p:cNvPr>
          <p:cNvSpPr/>
          <p:nvPr/>
        </p:nvSpPr>
        <p:spPr>
          <a:xfrm>
            <a:off x="386535" y="4689140"/>
            <a:ext cx="8190910" cy="830997"/>
          </a:xfrm>
          <a:prstGeom prst="rect">
            <a:avLst/>
          </a:prstGeom>
        </p:spPr>
        <p:txBody>
          <a:bodyPr wrap="square">
            <a:spAutoFit/>
          </a:bodyPr>
          <a:lstStyle/>
          <a:p>
            <a:r>
              <a:rPr lang="en-US" sz="2400" dirty="0">
                <a:latin typeface="Times-Roman"/>
              </a:rPr>
              <a:t>Intuitively, in </a:t>
            </a:r>
            <a:r>
              <a:rPr lang="en-US" sz="2400" dirty="0">
                <a:latin typeface="MT2MIT"/>
              </a:rPr>
              <a:t>o</a:t>
            </a:r>
            <a:r>
              <a:rPr lang="en-US" sz="2400" dirty="0">
                <a:latin typeface="Times-Roman"/>
              </a:rPr>
              <a:t>-notation, the function </a:t>
            </a:r>
            <a:r>
              <a:rPr lang="en-US" sz="2400" dirty="0">
                <a:latin typeface="MT2MIT"/>
              </a:rPr>
              <a:t>f .n/ </a:t>
            </a:r>
            <a:r>
              <a:rPr lang="en-US" sz="2400" dirty="0">
                <a:latin typeface="Times-Roman"/>
              </a:rPr>
              <a:t>becomes insignificant relative to </a:t>
            </a:r>
            <a:r>
              <a:rPr lang="en-US" sz="2400" dirty="0">
                <a:latin typeface="MT2MIT"/>
              </a:rPr>
              <a:t>g(n) </a:t>
            </a:r>
            <a:r>
              <a:rPr lang="en-US" sz="2400" dirty="0">
                <a:latin typeface="Times-Roman"/>
              </a:rPr>
              <a:t>as </a:t>
            </a:r>
            <a:r>
              <a:rPr lang="en-US" sz="2400" dirty="0">
                <a:latin typeface="MT2MIT"/>
              </a:rPr>
              <a:t>n </a:t>
            </a:r>
            <a:r>
              <a:rPr lang="en-US" sz="2400" dirty="0">
                <a:latin typeface="Times-Roman"/>
              </a:rPr>
              <a:t>approaches infinity; that is,</a:t>
            </a:r>
            <a:endParaRPr lang="en-IN" sz="2400" dirty="0"/>
          </a:p>
        </p:txBody>
      </p:sp>
      <p:pic>
        <p:nvPicPr>
          <p:cNvPr id="7" name="Picture 6">
            <a:extLst>
              <a:ext uri="{FF2B5EF4-FFF2-40B4-BE49-F238E27FC236}">
                <a16:creationId xmlns:a16="http://schemas.microsoft.com/office/drawing/2014/main" id="{402B301C-E9EA-46C9-B811-CF6DA938C3FA}"/>
              </a:ext>
            </a:extLst>
          </p:cNvPr>
          <p:cNvPicPr>
            <a:picLocks noChangeAspect="1"/>
          </p:cNvPicPr>
          <p:nvPr/>
        </p:nvPicPr>
        <p:blipFill>
          <a:blip r:embed="rId3"/>
          <a:stretch>
            <a:fillRect/>
          </a:stretch>
        </p:blipFill>
        <p:spPr>
          <a:xfrm>
            <a:off x="2006715" y="5549378"/>
            <a:ext cx="3960440" cy="1111647"/>
          </a:xfrm>
          <a:prstGeom prst="rect">
            <a:avLst/>
          </a:prstGeom>
        </p:spPr>
      </p:pic>
      <p:sp>
        <p:nvSpPr>
          <p:cNvPr id="3" name="Date Placeholder 2">
            <a:extLst>
              <a:ext uri="{FF2B5EF4-FFF2-40B4-BE49-F238E27FC236}">
                <a16:creationId xmlns:a16="http://schemas.microsoft.com/office/drawing/2014/main" id="{9EB5EABE-82D3-7509-B820-2F9167EB4C51}"/>
              </a:ext>
            </a:extLst>
          </p:cNvPr>
          <p:cNvSpPr>
            <a:spLocks noGrp="1"/>
          </p:cNvSpPr>
          <p:nvPr>
            <p:ph type="dt" sz="half" idx="10"/>
          </p:nvPr>
        </p:nvSpPr>
        <p:spPr/>
        <p:txBody>
          <a:bodyPr/>
          <a:lstStyle/>
          <a:p>
            <a:pPr>
              <a:defRPr/>
            </a:pPr>
            <a:fld id="{4339789C-448D-42C9-A252-1A8852C3E607}"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29521E6E-B54F-9C79-9E89-193638422EE8}"/>
              </a:ext>
            </a:extLst>
          </p:cNvPr>
          <p:cNvSpPr>
            <a:spLocks noGrp="1"/>
          </p:cNvSpPr>
          <p:nvPr>
            <p:ph type="sldNum" sz="quarter" idx="12"/>
          </p:nvPr>
        </p:nvSpPr>
        <p:spPr/>
        <p:txBody>
          <a:bodyPr/>
          <a:lstStyle/>
          <a:p>
            <a:pPr>
              <a:defRPr/>
            </a:pPr>
            <a:fld id="{937DAA19-78E2-454A-BF0A-AB51F6D45129}" type="slidenum">
              <a:rPr lang="en-US" altLang="en-US" smtClean="0"/>
              <a:pPr>
                <a:defRPr/>
              </a:pPr>
              <a:t>103</a:t>
            </a:fld>
            <a:endParaRPr lang="en-US" altLang="en-US"/>
          </a:p>
        </p:txBody>
      </p:sp>
    </p:spTree>
    <p:extLst>
      <p:ext uri="{BB962C8B-B14F-4D97-AF65-F5344CB8AC3E}">
        <p14:creationId xmlns:p14="http://schemas.microsoft.com/office/powerpoint/2010/main" val="84559647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62D23CD-3453-4DFF-A931-9B52316FBF32}"/>
              </a:ext>
            </a:extLst>
          </p:cNvPr>
          <p:cNvPicPr>
            <a:picLocks noChangeAspect="1"/>
          </p:cNvPicPr>
          <p:nvPr/>
        </p:nvPicPr>
        <p:blipFill>
          <a:blip r:embed="rId2"/>
          <a:stretch>
            <a:fillRect/>
          </a:stretch>
        </p:blipFill>
        <p:spPr>
          <a:xfrm>
            <a:off x="0" y="844012"/>
            <a:ext cx="9144000" cy="5105268"/>
          </a:xfrm>
          <a:prstGeom prst="rect">
            <a:avLst/>
          </a:prstGeom>
        </p:spPr>
      </p:pic>
      <p:sp>
        <p:nvSpPr>
          <p:cNvPr id="2" name="Date Placeholder 1">
            <a:extLst>
              <a:ext uri="{FF2B5EF4-FFF2-40B4-BE49-F238E27FC236}">
                <a16:creationId xmlns:a16="http://schemas.microsoft.com/office/drawing/2014/main" id="{71B0191D-FF80-2806-AF0E-20A90AEF7771}"/>
              </a:ext>
            </a:extLst>
          </p:cNvPr>
          <p:cNvSpPr>
            <a:spLocks noGrp="1"/>
          </p:cNvSpPr>
          <p:nvPr>
            <p:ph type="dt" sz="half" idx="10"/>
          </p:nvPr>
        </p:nvSpPr>
        <p:spPr/>
        <p:txBody>
          <a:bodyPr/>
          <a:lstStyle/>
          <a:p>
            <a:pPr>
              <a:defRPr/>
            </a:pPr>
            <a:fld id="{9664930B-BBB3-4387-B6F7-600DE29C521B}"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4BCDEC48-F3AC-CA80-3511-5D53F2D55E8F}"/>
              </a:ext>
            </a:extLst>
          </p:cNvPr>
          <p:cNvSpPr>
            <a:spLocks noGrp="1"/>
          </p:cNvSpPr>
          <p:nvPr>
            <p:ph type="sldNum" sz="quarter" idx="12"/>
          </p:nvPr>
        </p:nvSpPr>
        <p:spPr/>
        <p:txBody>
          <a:bodyPr/>
          <a:lstStyle/>
          <a:p>
            <a:pPr>
              <a:defRPr/>
            </a:pPr>
            <a:fld id="{937DAA19-78E2-454A-BF0A-AB51F6D45129}" type="slidenum">
              <a:rPr lang="en-US" altLang="en-US" smtClean="0"/>
              <a:pPr>
                <a:defRPr/>
              </a:pPr>
              <a:t>104</a:t>
            </a:fld>
            <a:endParaRPr lang="en-US" altLang="en-US"/>
          </a:p>
        </p:txBody>
      </p:sp>
    </p:spTree>
    <p:extLst>
      <p:ext uri="{BB962C8B-B14F-4D97-AF65-F5344CB8AC3E}">
        <p14:creationId xmlns:p14="http://schemas.microsoft.com/office/powerpoint/2010/main" val="343405185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97A63-3755-42FF-8CAD-A09B3BDD948F}"/>
              </a:ext>
            </a:extLst>
          </p:cNvPr>
          <p:cNvSpPr>
            <a:spLocks noGrp="1"/>
          </p:cNvSpPr>
          <p:nvPr>
            <p:ph type="title"/>
          </p:nvPr>
        </p:nvSpPr>
        <p:spPr/>
        <p:txBody>
          <a:bodyPr/>
          <a:lstStyle/>
          <a:p>
            <a:r>
              <a:rPr lang="en-IN" dirty="0"/>
              <a:t>Comparing functions</a:t>
            </a:r>
          </a:p>
        </p:txBody>
      </p:sp>
      <p:sp>
        <p:nvSpPr>
          <p:cNvPr id="3" name="Content Placeholder 2">
            <a:extLst>
              <a:ext uri="{FF2B5EF4-FFF2-40B4-BE49-F238E27FC236}">
                <a16:creationId xmlns:a16="http://schemas.microsoft.com/office/drawing/2014/main" id="{9F3E9DE3-A64F-47C5-9252-2CF6CA5DB0B3}"/>
              </a:ext>
            </a:extLst>
          </p:cNvPr>
          <p:cNvSpPr>
            <a:spLocks noGrp="1"/>
          </p:cNvSpPr>
          <p:nvPr>
            <p:ph idx="1"/>
          </p:nvPr>
        </p:nvSpPr>
        <p:spPr>
          <a:xfrm>
            <a:off x="457200" y="1898830"/>
            <a:ext cx="8229600" cy="3285365"/>
          </a:xfrm>
        </p:spPr>
        <p:txBody>
          <a:bodyPr>
            <a:normAutofit/>
          </a:bodyPr>
          <a:lstStyle/>
          <a:p>
            <a:pPr algn="just"/>
            <a:r>
              <a:rPr lang="en-US" sz="2800" dirty="0"/>
              <a:t>Many of the relational properties of real numbers apply to asymptotic comparisons as well</a:t>
            </a:r>
          </a:p>
          <a:p>
            <a:pPr algn="just"/>
            <a:endParaRPr lang="en-US" sz="2800" dirty="0"/>
          </a:p>
          <a:p>
            <a:pPr algn="just"/>
            <a:r>
              <a:rPr lang="en-US" sz="2800" dirty="0"/>
              <a:t>For the following, assume that f (n) and g(n) are asymptotically positive</a:t>
            </a:r>
            <a:endParaRPr lang="en-IN" sz="2800" dirty="0"/>
          </a:p>
        </p:txBody>
      </p:sp>
      <p:sp>
        <p:nvSpPr>
          <p:cNvPr id="4" name="Date Placeholder 3">
            <a:extLst>
              <a:ext uri="{FF2B5EF4-FFF2-40B4-BE49-F238E27FC236}">
                <a16:creationId xmlns:a16="http://schemas.microsoft.com/office/drawing/2014/main" id="{44EA01B0-916F-5C25-2362-DC8A08B3C6F5}"/>
              </a:ext>
            </a:extLst>
          </p:cNvPr>
          <p:cNvSpPr>
            <a:spLocks noGrp="1"/>
          </p:cNvSpPr>
          <p:nvPr>
            <p:ph type="dt" sz="half" idx="10"/>
          </p:nvPr>
        </p:nvSpPr>
        <p:spPr/>
        <p:txBody>
          <a:bodyPr/>
          <a:lstStyle/>
          <a:p>
            <a:pPr>
              <a:defRPr/>
            </a:pPr>
            <a:fld id="{6D675D05-B418-4D0C-AA29-43C0C0A2F181}" type="datetime2">
              <a:rPr lang="en-US" smtClean="0"/>
              <a:t>Wednesday, January 22, 2025</a:t>
            </a:fld>
            <a:endParaRPr lang="en-US" altLang="en-US"/>
          </a:p>
        </p:txBody>
      </p:sp>
      <p:sp>
        <p:nvSpPr>
          <p:cNvPr id="5" name="Slide Number Placeholder 4">
            <a:extLst>
              <a:ext uri="{FF2B5EF4-FFF2-40B4-BE49-F238E27FC236}">
                <a16:creationId xmlns:a16="http://schemas.microsoft.com/office/drawing/2014/main" id="{11675B01-E37D-2AD4-B5EA-DD21E8B95EB9}"/>
              </a:ext>
            </a:extLst>
          </p:cNvPr>
          <p:cNvSpPr>
            <a:spLocks noGrp="1"/>
          </p:cNvSpPr>
          <p:nvPr>
            <p:ph type="sldNum" sz="quarter" idx="12"/>
          </p:nvPr>
        </p:nvSpPr>
        <p:spPr/>
        <p:txBody>
          <a:bodyPr/>
          <a:lstStyle/>
          <a:p>
            <a:pPr>
              <a:defRPr/>
            </a:pPr>
            <a:fld id="{937DAA19-78E2-454A-BF0A-AB51F6D45129}" type="slidenum">
              <a:rPr lang="en-US" altLang="en-US" smtClean="0"/>
              <a:pPr>
                <a:defRPr/>
              </a:pPr>
              <a:t>105</a:t>
            </a:fld>
            <a:endParaRPr lang="en-US" altLang="en-US"/>
          </a:p>
        </p:txBody>
      </p:sp>
    </p:spTree>
    <p:extLst>
      <p:ext uri="{BB962C8B-B14F-4D97-AF65-F5344CB8AC3E}">
        <p14:creationId xmlns:p14="http://schemas.microsoft.com/office/powerpoint/2010/main" val="385577335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7A54055-EECD-4C05-B87F-B17B6D55AA78}"/>
              </a:ext>
            </a:extLst>
          </p:cNvPr>
          <p:cNvPicPr>
            <a:picLocks noChangeAspect="1"/>
          </p:cNvPicPr>
          <p:nvPr/>
        </p:nvPicPr>
        <p:blipFill>
          <a:blip r:embed="rId2"/>
          <a:stretch>
            <a:fillRect/>
          </a:stretch>
        </p:blipFill>
        <p:spPr>
          <a:xfrm>
            <a:off x="0" y="1853825"/>
            <a:ext cx="9143999" cy="3105345"/>
          </a:xfrm>
          <a:prstGeom prst="rect">
            <a:avLst/>
          </a:prstGeom>
        </p:spPr>
      </p:pic>
      <p:sp>
        <p:nvSpPr>
          <p:cNvPr id="2" name="Date Placeholder 1">
            <a:extLst>
              <a:ext uri="{FF2B5EF4-FFF2-40B4-BE49-F238E27FC236}">
                <a16:creationId xmlns:a16="http://schemas.microsoft.com/office/drawing/2014/main" id="{0A999A49-7862-FFB1-149B-F09759BB43EA}"/>
              </a:ext>
            </a:extLst>
          </p:cNvPr>
          <p:cNvSpPr>
            <a:spLocks noGrp="1"/>
          </p:cNvSpPr>
          <p:nvPr>
            <p:ph type="dt" sz="half" idx="10"/>
          </p:nvPr>
        </p:nvSpPr>
        <p:spPr/>
        <p:txBody>
          <a:bodyPr/>
          <a:lstStyle/>
          <a:p>
            <a:pPr>
              <a:defRPr/>
            </a:pPr>
            <a:fld id="{477963FD-FF53-423E-AAB6-873CD06F5A44}"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1EC74E33-2EC5-5401-AC86-3BD03917F96B}"/>
              </a:ext>
            </a:extLst>
          </p:cNvPr>
          <p:cNvSpPr>
            <a:spLocks noGrp="1"/>
          </p:cNvSpPr>
          <p:nvPr>
            <p:ph type="sldNum" sz="quarter" idx="12"/>
          </p:nvPr>
        </p:nvSpPr>
        <p:spPr/>
        <p:txBody>
          <a:bodyPr/>
          <a:lstStyle/>
          <a:p>
            <a:pPr>
              <a:defRPr/>
            </a:pPr>
            <a:fld id="{937DAA19-78E2-454A-BF0A-AB51F6D45129}" type="slidenum">
              <a:rPr lang="en-US" altLang="en-US" smtClean="0"/>
              <a:pPr>
                <a:defRPr/>
              </a:pPr>
              <a:t>106</a:t>
            </a:fld>
            <a:endParaRPr lang="en-US" altLang="en-US"/>
          </a:p>
        </p:txBody>
      </p:sp>
    </p:spTree>
    <p:extLst>
      <p:ext uri="{BB962C8B-B14F-4D97-AF65-F5344CB8AC3E}">
        <p14:creationId xmlns:p14="http://schemas.microsoft.com/office/powerpoint/2010/main" val="69836805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897BEB-BB6F-4302-AC4F-C9B073891094}"/>
              </a:ext>
            </a:extLst>
          </p:cNvPr>
          <p:cNvPicPr>
            <a:picLocks noChangeAspect="1"/>
          </p:cNvPicPr>
          <p:nvPr/>
        </p:nvPicPr>
        <p:blipFill>
          <a:blip r:embed="rId2"/>
          <a:stretch>
            <a:fillRect/>
          </a:stretch>
        </p:blipFill>
        <p:spPr>
          <a:xfrm>
            <a:off x="0" y="1133745"/>
            <a:ext cx="5269240" cy="1845205"/>
          </a:xfrm>
          <a:prstGeom prst="rect">
            <a:avLst/>
          </a:prstGeom>
        </p:spPr>
      </p:pic>
      <p:pic>
        <p:nvPicPr>
          <p:cNvPr id="6" name="Picture 5">
            <a:extLst>
              <a:ext uri="{FF2B5EF4-FFF2-40B4-BE49-F238E27FC236}">
                <a16:creationId xmlns:a16="http://schemas.microsoft.com/office/drawing/2014/main" id="{A924E96F-BF01-4865-98A3-7D621558FD7C}"/>
              </a:ext>
            </a:extLst>
          </p:cNvPr>
          <p:cNvPicPr>
            <a:picLocks noChangeAspect="1"/>
          </p:cNvPicPr>
          <p:nvPr/>
        </p:nvPicPr>
        <p:blipFill>
          <a:blip r:embed="rId3"/>
          <a:stretch>
            <a:fillRect/>
          </a:stretch>
        </p:blipFill>
        <p:spPr>
          <a:xfrm>
            <a:off x="0" y="3203975"/>
            <a:ext cx="9144000" cy="3188657"/>
          </a:xfrm>
          <a:prstGeom prst="rect">
            <a:avLst/>
          </a:prstGeom>
        </p:spPr>
      </p:pic>
      <p:sp>
        <p:nvSpPr>
          <p:cNvPr id="2" name="Date Placeholder 1">
            <a:extLst>
              <a:ext uri="{FF2B5EF4-FFF2-40B4-BE49-F238E27FC236}">
                <a16:creationId xmlns:a16="http://schemas.microsoft.com/office/drawing/2014/main" id="{D342A1ED-684C-40A6-C1FD-B940D07E91EA}"/>
              </a:ext>
            </a:extLst>
          </p:cNvPr>
          <p:cNvSpPr>
            <a:spLocks noGrp="1"/>
          </p:cNvSpPr>
          <p:nvPr>
            <p:ph type="dt" sz="half" idx="10"/>
          </p:nvPr>
        </p:nvSpPr>
        <p:spPr/>
        <p:txBody>
          <a:bodyPr/>
          <a:lstStyle/>
          <a:p>
            <a:pPr>
              <a:defRPr/>
            </a:pPr>
            <a:fld id="{8E644E96-D669-454F-B417-C68A2E7FE48F}"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B1D23EEE-12BD-4249-0C6F-05F969D4930E}"/>
              </a:ext>
            </a:extLst>
          </p:cNvPr>
          <p:cNvSpPr>
            <a:spLocks noGrp="1"/>
          </p:cNvSpPr>
          <p:nvPr>
            <p:ph type="sldNum" sz="quarter" idx="12"/>
          </p:nvPr>
        </p:nvSpPr>
        <p:spPr/>
        <p:txBody>
          <a:bodyPr/>
          <a:lstStyle/>
          <a:p>
            <a:pPr>
              <a:defRPr/>
            </a:pPr>
            <a:fld id="{937DAA19-78E2-454A-BF0A-AB51F6D45129}" type="slidenum">
              <a:rPr lang="en-US" altLang="en-US" smtClean="0"/>
              <a:pPr>
                <a:defRPr/>
              </a:pPr>
              <a:t>107</a:t>
            </a:fld>
            <a:endParaRPr lang="en-US" altLang="en-US"/>
          </a:p>
        </p:txBody>
      </p:sp>
    </p:spTree>
    <p:extLst>
      <p:ext uri="{BB962C8B-B14F-4D97-AF65-F5344CB8AC3E}">
        <p14:creationId xmlns:p14="http://schemas.microsoft.com/office/powerpoint/2010/main" val="389442571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8282FA4-13B0-45B6-AD93-1899218256F5}"/>
              </a:ext>
            </a:extLst>
          </p:cNvPr>
          <p:cNvPicPr>
            <a:picLocks noChangeAspect="1"/>
          </p:cNvPicPr>
          <p:nvPr/>
        </p:nvPicPr>
        <p:blipFill>
          <a:blip r:embed="rId2"/>
          <a:stretch>
            <a:fillRect/>
          </a:stretch>
        </p:blipFill>
        <p:spPr>
          <a:xfrm>
            <a:off x="5285" y="1448780"/>
            <a:ext cx="9133429" cy="3960440"/>
          </a:xfrm>
          <a:prstGeom prst="rect">
            <a:avLst/>
          </a:prstGeom>
        </p:spPr>
      </p:pic>
      <p:sp>
        <p:nvSpPr>
          <p:cNvPr id="2" name="Date Placeholder 1">
            <a:extLst>
              <a:ext uri="{FF2B5EF4-FFF2-40B4-BE49-F238E27FC236}">
                <a16:creationId xmlns:a16="http://schemas.microsoft.com/office/drawing/2014/main" id="{5693CFE0-5C2A-6B26-B7CE-35E1EFF63692}"/>
              </a:ext>
            </a:extLst>
          </p:cNvPr>
          <p:cNvSpPr>
            <a:spLocks noGrp="1"/>
          </p:cNvSpPr>
          <p:nvPr>
            <p:ph type="dt" sz="half" idx="10"/>
          </p:nvPr>
        </p:nvSpPr>
        <p:spPr/>
        <p:txBody>
          <a:bodyPr/>
          <a:lstStyle/>
          <a:p>
            <a:pPr>
              <a:defRPr/>
            </a:pPr>
            <a:fld id="{85BC8DE1-73DB-433A-AF45-5C2B18B8BD3E}"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C703355B-7B74-31B6-7C8A-4ABC0A01EC68}"/>
              </a:ext>
            </a:extLst>
          </p:cNvPr>
          <p:cNvSpPr>
            <a:spLocks noGrp="1"/>
          </p:cNvSpPr>
          <p:nvPr>
            <p:ph type="sldNum" sz="quarter" idx="12"/>
          </p:nvPr>
        </p:nvSpPr>
        <p:spPr/>
        <p:txBody>
          <a:bodyPr/>
          <a:lstStyle/>
          <a:p>
            <a:pPr>
              <a:defRPr/>
            </a:pPr>
            <a:fld id="{937DAA19-78E2-454A-BF0A-AB51F6D45129}" type="slidenum">
              <a:rPr lang="en-US" altLang="en-US" smtClean="0"/>
              <a:pPr>
                <a:defRPr/>
              </a:pPr>
              <a:t>108</a:t>
            </a:fld>
            <a:endParaRPr lang="en-US" altLang="en-US"/>
          </a:p>
        </p:txBody>
      </p:sp>
    </p:spTree>
    <p:extLst>
      <p:ext uri="{BB962C8B-B14F-4D97-AF65-F5344CB8AC3E}">
        <p14:creationId xmlns:p14="http://schemas.microsoft.com/office/powerpoint/2010/main" val="338680767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4B6DA59-0660-4B8B-A35C-8386D9B1E57D}"/>
              </a:ext>
            </a:extLst>
          </p:cNvPr>
          <p:cNvPicPr>
            <a:picLocks noChangeAspect="1"/>
          </p:cNvPicPr>
          <p:nvPr/>
        </p:nvPicPr>
        <p:blipFill>
          <a:blip r:embed="rId2"/>
          <a:stretch>
            <a:fillRect/>
          </a:stretch>
        </p:blipFill>
        <p:spPr>
          <a:xfrm>
            <a:off x="47461" y="1763815"/>
            <a:ext cx="9049080" cy="3330370"/>
          </a:xfrm>
          <a:prstGeom prst="rect">
            <a:avLst/>
          </a:prstGeom>
        </p:spPr>
      </p:pic>
      <p:sp>
        <p:nvSpPr>
          <p:cNvPr id="2" name="Date Placeholder 1">
            <a:extLst>
              <a:ext uri="{FF2B5EF4-FFF2-40B4-BE49-F238E27FC236}">
                <a16:creationId xmlns:a16="http://schemas.microsoft.com/office/drawing/2014/main" id="{C19F31C2-7F7D-A9F6-D035-7499CFBF48EE}"/>
              </a:ext>
            </a:extLst>
          </p:cNvPr>
          <p:cNvSpPr>
            <a:spLocks noGrp="1"/>
          </p:cNvSpPr>
          <p:nvPr>
            <p:ph type="dt" sz="half" idx="10"/>
          </p:nvPr>
        </p:nvSpPr>
        <p:spPr/>
        <p:txBody>
          <a:bodyPr/>
          <a:lstStyle/>
          <a:p>
            <a:pPr>
              <a:defRPr/>
            </a:pPr>
            <a:fld id="{3C4C1D88-2EAA-4F7D-994B-737CA5F01FBE}"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BC401F97-B339-7F8D-96DD-E58205B2B964}"/>
              </a:ext>
            </a:extLst>
          </p:cNvPr>
          <p:cNvSpPr>
            <a:spLocks noGrp="1"/>
          </p:cNvSpPr>
          <p:nvPr>
            <p:ph type="sldNum" sz="quarter" idx="12"/>
          </p:nvPr>
        </p:nvSpPr>
        <p:spPr/>
        <p:txBody>
          <a:bodyPr/>
          <a:lstStyle/>
          <a:p>
            <a:pPr>
              <a:defRPr/>
            </a:pPr>
            <a:fld id="{937DAA19-78E2-454A-BF0A-AB51F6D45129}" type="slidenum">
              <a:rPr lang="en-US" altLang="en-US" smtClean="0"/>
              <a:pPr>
                <a:defRPr/>
              </a:pPr>
              <a:t>109</a:t>
            </a:fld>
            <a:endParaRPr lang="en-US" altLang="en-US"/>
          </a:p>
        </p:txBody>
      </p:sp>
    </p:spTree>
    <p:extLst>
      <p:ext uri="{BB962C8B-B14F-4D97-AF65-F5344CB8AC3E}">
        <p14:creationId xmlns:p14="http://schemas.microsoft.com/office/powerpoint/2010/main" val="46215007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46F61-047F-4952-9BB2-AEC71B966C9F}"/>
              </a:ext>
            </a:extLst>
          </p:cNvPr>
          <p:cNvSpPr>
            <a:spLocks noGrp="1"/>
          </p:cNvSpPr>
          <p:nvPr>
            <p:ph type="title"/>
          </p:nvPr>
        </p:nvSpPr>
        <p:spPr>
          <a:xfrm>
            <a:off x="58" y="551376"/>
            <a:ext cx="7534115" cy="360919"/>
          </a:xfrm>
        </p:spPr>
        <p:txBody>
          <a:bodyPr/>
          <a:lstStyle/>
          <a:p>
            <a:r>
              <a:rPr lang="en-US" dirty="0"/>
              <a:t>Standard notations and common functions</a:t>
            </a:r>
            <a:endParaRPr lang="en-IN" dirty="0"/>
          </a:p>
        </p:txBody>
      </p:sp>
      <p:sp>
        <p:nvSpPr>
          <p:cNvPr id="3" name="Content Placeholder 2">
            <a:extLst>
              <a:ext uri="{FF2B5EF4-FFF2-40B4-BE49-F238E27FC236}">
                <a16:creationId xmlns:a16="http://schemas.microsoft.com/office/drawing/2014/main" id="{7FB42E6C-871F-4672-BA64-7FA074504C23}"/>
              </a:ext>
            </a:extLst>
          </p:cNvPr>
          <p:cNvSpPr>
            <a:spLocks noGrp="1"/>
          </p:cNvSpPr>
          <p:nvPr>
            <p:ph idx="1"/>
          </p:nvPr>
        </p:nvSpPr>
        <p:spPr/>
        <p:txBody>
          <a:bodyPr>
            <a:normAutofit/>
          </a:bodyPr>
          <a:lstStyle/>
          <a:p>
            <a:pPr marL="0" indent="0">
              <a:buNone/>
            </a:pPr>
            <a:endParaRPr lang="en-US" sz="2800" dirty="0"/>
          </a:p>
          <a:p>
            <a:pPr marL="0" indent="0" algn="just">
              <a:buNone/>
            </a:pPr>
            <a:r>
              <a:rPr lang="en-US" sz="2800" dirty="0"/>
              <a:t>This section reviews some standard mathematical functions and notations and explores </a:t>
            </a:r>
            <a:r>
              <a:rPr lang="en-IN" sz="2800" dirty="0"/>
              <a:t>the relationships among them</a:t>
            </a:r>
          </a:p>
        </p:txBody>
      </p:sp>
      <p:sp>
        <p:nvSpPr>
          <p:cNvPr id="4" name="Date Placeholder 3">
            <a:extLst>
              <a:ext uri="{FF2B5EF4-FFF2-40B4-BE49-F238E27FC236}">
                <a16:creationId xmlns:a16="http://schemas.microsoft.com/office/drawing/2014/main" id="{554F6F8F-E980-FCCA-CB1D-B1857D0586CE}"/>
              </a:ext>
            </a:extLst>
          </p:cNvPr>
          <p:cNvSpPr>
            <a:spLocks noGrp="1"/>
          </p:cNvSpPr>
          <p:nvPr>
            <p:ph type="dt" sz="half" idx="10"/>
          </p:nvPr>
        </p:nvSpPr>
        <p:spPr/>
        <p:txBody>
          <a:bodyPr/>
          <a:lstStyle/>
          <a:p>
            <a:pPr>
              <a:defRPr/>
            </a:pPr>
            <a:fld id="{34CF3ED9-C7FE-4506-BB36-50A96DB6C7F6}" type="datetime2">
              <a:rPr lang="en-US" smtClean="0"/>
              <a:t>Wednesday, January 22, 2025</a:t>
            </a:fld>
            <a:endParaRPr lang="en-US" altLang="en-US"/>
          </a:p>
        </p:txBody>
      </p:sp>
      <p:sp>
        <p:nvSpPr>
          <p:cNvPr id="5" name="Slide Number Placeholder 4">
            <a:extLst>
              <a:ext uri="{FF2B5EF4-FFF2-40B4-BE49-F238E27FC236}">
                <a16:creationId xmlns:a16="http://schemas.microsoft.com/office/drawing/2014/main" id="{50C5B9F8-CDF2-DC62-4E98-5DAC9D8272DB}"/>
              </a:ext>
            </a:extLst>
          </p:cNvPr>
          <p:cNvSpPr>
            <a:spLocks noGrp="1"/>
          </p:cNvSpPr>
          <p:nvPr>
            <p:ph type="sldNum" sz="quarter" idx="12"/>
          </p:nvPr>
        </p:nvSpPr>
        <p:spPr/>
        <p:txBody>
          <a:bodyPr/>
          <a:lstStyle/>
          <a:p>
            <a:pPr>
              <a:defRPr/>
            </a:pPr>
            <a:fld id="{937DAA19-78E2-454A-BF0A-AB51F6D45129}" type="slidenum">
              <a:rPr lang="en-US" altLang="en-US" smtClean="0"/>
              <a:pPr>
                <a:defRPr/>
              </a:pPr>
              <a:t>110</a:t>
            </a:fld>
            <a:endParaRPr lang="en-US" altLang="en-US"/>
          </a:p>
        </p:txBody>
      </p:sp>
    </p:spTree>
    <p:extLst>
      <p:ext uri="{BB962C8B-B14F-4D97-AF65-F5344CB8AC3E}">
        <p14:creationId xmlns:p14="http://schemas.microsoft.com/office/powerpoint/2010/main" val="23140345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B7A96-CEF0-466F-8774-B360EF07510B}"/>
              </a:ext>
            </a:extLst>
          </p:cNvPr>
          <p:cNvSpPr>
            <a:spLocks noGrp="1"/>
          </p:cNvSpPr>
          <p:nvPr>
            <p:ph type="title"/>
          </p:nvPr>
        </p:nvSpPr>
        <p:spPr/>
        <p:txBody>
          <a:bodyPr/>
          <a:lstStyle/>
          <a:p>
            <a:r>
              <a:rPr lang="en-IN" dirty="0"/>
              <a:t>Monotonicity</a:t>
            </a:r>
          </a:p>
        </p:txBody>
      </p:sp>
      <p:pic>
        <p:nvPicPr>
          <p:cNvPr id="5" name="Content Placeholder 4">
            <a:extLst>
              <a:ext uri="{FF2B5EF4-FFF2-40B4-BE49-F238E27FC236}">
                <a16:creationId xmlns:a16="http://schemas.microsoft.com/office/drawing/2014/main" id="{63028CB0-F781-4718-A0A8-522F9FF89E65}"/>
              </a:ext>
            </a:extLst>
          </p:cNvPr>
          <p:cNvPicPr>
            <a:picLocks noGrp="1" noChangeAspect="1"/>
          </p:cNvPicPr>
          <p:nvPr>
            <p:ph idx="1"/>
          </p:nvPr>
        </p:nvPicPr>
        <p:blipFill>
          <a:blip r:embed="rId2"/>
          <a:stretch>
            <a:fillRect/>
          </a:stretch>
        </p:blipFill>
        <p:spPr>
          <a:xfrm>
            <a:off x="0" y="2438890"/>
            <a:ext cx="9144000" cy="1710190"/>
          </a:xfrm>
          <a:prstGeom prst="rect">
            <a:avLst/>
          </a:prstGeom>
        </p:spPr>
      </p:pic>
      <p:sp>
        <p:nvSpPr>
          <p:cNvPr id="3" name="Date Placeholder 2">
            <a:extLst>
              <a:ext uri="{FF2B5EF4-FFF2-40B4-BE49-F238E27FC236}">
                <a16:creationId xmlns:a16="http://schemas.microsoft.com/office/drawing/2014/main" id="{9A5908F7-B25E-737D-971D-6CA44B98F487}"/>
              </a:ext>
            </a:extLst>
          </p:cNvPr>
          <p:cNvSpPr>
            <a:spLocks noGrp="1"/>
          </p:cNvSpPr>
          <p:nvPr>
            <p:ph type="dt" sz="half" idx="10"/>
          </p:nvPr>
        </p:nvSpPr>
        <p:spPr/>
        <p:txBody>
          <a:bodyPr/>
          <a:lstStyle/>
          <a:p>
            <a:pPr>
              <a:defRPr/>
            </a:pPr>
            <a:fld id="{37F689CF-9B90-4498-9219-24FE811E4CD6}"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B37FD3CB-98D6-45A8-F7EB-F6B7E2ACDD75}"/>
              </a:ext>
            </a:extLst>
          </p:cNvPr>
          <p:cNvSpPr>
            <a:spLocks noGrp="1"/>
          </p:cNvSpPr>
          <p:nvPr>
            <p:ph type="sldNum" sz="quarter" idx="12"/>
          </p:nvPr>
        </p:nvSpPr>
        <p:spPr/>
        <p:txBody>
          <a:bodyPr/>
          <a:lstStyle/>
          <a:p>
            <a:pPr>
              <a:defRPr/>
            </a:pPr>
            <a:fld id="{937DAA19-78E2-454A-BF0A-AB51F6D45129}" type="slidenum">
              <a:rPr lang="en-US" altLang="en-US" smtClean="0"/>
              <a:pPr>
                <a:defRPr/>
              </a:pPr>
              <a:t>111</a:t>
            </a:fld>
            <a:endParaRPr lang="en-US" altLang="en-US"/>
          </a:p>
        </p:txBody>
      </p:sp>
    </p:spTree>
    <p:extLst>
      <p:ext uri="{BB962C8B-B14F-4D97-AF65-F5344CB8AC3E}">
        <p14:creationId xmlns:p14="http://schemas.microsoft.com/office/powerpoint/2010/main" val="262870504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16B2D-DF0A-4C3B-9F3C-17AFDD450A0E}"/>
              </a:ext>
            </a:extLst>
          </p:cNvPr>
          <p:cNvSpPr>
            <a:spLocks noGrp="1"/>
          </p:cNvSpPr>
          <p:nvPr>
            <p:ph type="title"/>
          </p:nvPr>
        </p:nvSpPr>
        <p:spPr/>
        <p:txBody>
          <a:bodyPr/>
          <a:lstStyle/>
          <a:p>
            <a:r>
              <a:rPr lang="en-IN" dirty="0"/>
              <a:t>Floors and ceilings</a:t>
            </a:r>
          </a:p>
        </p:txBody>
      </p:sp>
      <p:pic>
        <p:nvPicPr>
          <p:cNvPr id="5" name="Picture 4">
            <a:extLst>
              <a:ext uri="{FF2B5EF4-FFF2-40B4-BE49-F238E27FC236}">
                <a16:creationId xmlns:a16="http://schemas.microsoft.com/office/drawing/2014/main" id="{86CA339D-90BC-4719-9D5E-D8C845C7C068}"/>
              </a:ext>
            </a:extLst>
          </p:cNvPr>
          <p:cNvPicPr>
            <a:picLocks noChangeAspect="1"/>
          </p:cNvPicPr>
          <p:nvPr/>
        </p:nvPicPr>
        <p:blipFill>
          <a:blip r:embed="rId2"/>
          <a:stretch>
            <a:fillRect/>
          </a:stretch>
        </p:blipFill>
        <p:spPr>
          <a:xfrm>
            <a:off x="0" y="1358769"/>
            <a:ext cx="9144000" cy="4500501"/>
          </a:xfrm>
          <a:prstGeom prst="rect">
            <a:avLst/>
          </a:prstGeom>
        </p:spPr>
      </p:pic>
      <p:sp>
        <p:nvSpPr>
          <p:cNvPr id="3" name="Date Placeholder 2">
            <a:extLst>
              <a:ext uri="{FF2B5EF4-FFF2-40B4-BE49-F238E27FC236}">
                <a16:creationId xmlns:a16="http://schemas.microsoft.com/office/drawing/2014/main" id="{A7583531-9381-4127-8657-A9FA23665AEA}"/>
              </a:ext>
            </a:extLst>
          </p:cNvPr>
          <p:cNvSpPr>
            <a:spLocks noGrp="1"/>
          </p:cNvSpPr>
          <p:nvPr>
            <p:ph type="dt" sz="half" idx="10"/>
          </p:nvPr>
        </p:nvSpPr>
        <p:spPr/>
        <p:txBody>
          <a:bodyPr/>
          <a:lstStyle/>
          <a:p>
            <a:pPr>
              <a:defRPr/>
            </a:pPr>
            <a:fld id="{36130A02-DD14-45B3-9B2D-DC373102A0A7}"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5531CF67-9076-7AB1-83EC-9A349CD76E45}"/>
              </a:ext>
            </a:extLst>
          </p:cNvPr>
          <p:cNvSpPr>
            <a:spLocks noGrp="1"/>
          </p:cNvSpPr>
          <p:nvPr>
            <p:ph type="sldNum" sz="quarter" idx="12"/>
          </p:nvPr>
        </p:nvSpPr>
        <p:spPr/>
        <p:txBody>
          <a:bodyPr/>
          <a:lstStyle/>
          <a:p>
            <a:pPr>
              <a:defRPr/>
            </a:pPr>
            <a:fld id="{937DAA19-78E2-454A-BF0A-AB51F6D45129}" type="slidenum">
              <a:rPr lang="en-US" altLang="en-US" smtClean="0"/>
              <a:pPr>
                <a:defRPr/>
              </a:pPr>
              <a:t>112</a:t>
            </a:fld>
            <a:endParaRPr lang="en-US" altLang="en-US"/>
          </a:p>
        </p:txBody>
      </p:sp>
    </p:spTree>
    <p:extLst>
      <p:ext uri="{BB962C8B-B14F-4D97-AF65-F5344CB8AC3E}">
        <p14:creationId xmlns:p14="http://schemas.microsoft.com/office/powerpoint/2010/main" val="426399155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AE060-FC9B-49A9-B930-518EF251058F}"/>
              </a:ext>
            </a:extLst>
          </p:cNvPr>
          <p:cNvSpPr>
            <a:spLocks noGrp="1"/>
          </p:cNvSpPr>
          <p:nvPr>
            <p:ph type="title"/>
          </p:nvPr>
        </p:nvSpPr>
        <p:spPr/>
        <p:txBody>
          <a:bodyPr/>
          <a:lstStyle/>
          <a:p>
            <a:r>
              <a:rPr lang="en-IN" dirty="0"/>
              <a:t>Modular arithmetic</a:t>
            </a:r>
          </a:p>
        </p:txBody>
      </p:sp>
      <p:pic>
        <p:nvPicPr>
          <p:cNvPr id="5" name="Content Placeholder 4">
            <a:extLst>
              <a:ext uri="{FF2B5EF4-FFF2-40B4-BE49-F238E27FC236}">
                <a16:creationId xmlns:a16="http://schemas.microsoft.com/office/drawing/2014/main" id="{AA4B5325-E306-403A-8505-705F78C04634}"/>
              </a:ext>
            </a:extLst>
          </p:cNvPr>
          <p:cNvPicPr>
            <a:picLocks noGrp="1" noChangeAspect="1"/>
          </p:cNvPicPr>
          <p:nvPr>
            <p:ph idx="1"/>
          </p:nvPr>
        </p:nvPicPr>
        <p:blipFill>
          <a:blip r:embed="rId2"/>
          <a:stretch>
            <a:fillRect/>
          </a:stretch>
        </p:blipFill>
        <p:spPr>
          <a:xfrm>
            <a:off x="0" y="2168860"/>
            <a:ext cx="9144000" cy="2034500"/>
          </a:xfrm>
          <a:prstGeom prst="rect">
            <a:avLst/>
          </a:prstGeom>
        </p:spPr>
      </p:pic>
      <p:sp>
        <p:nvSpPr>
          <p:cNvPr id="3" name="Date Placeholder 2">
            <a:extLst>
              <a:ext uri="{FF2B5EF4-FFF2-40B4-BE49-F238E27FC236}">
                <a16:creationId xmlns:a16="http://schemas.microsoft.com/office/drawing/2014/main" id="{25D96E26-6954-9E1F-8AB8-E4A39032AD71}"/>
              </a:ext>
            </a:extLst>
          </p:cNvPr>
          <p:cNvSpPr>
            <a:spLocks noGrp="1"/>
          </p:cNvSpPr>
          <p:nvPr>
            <p:ph type="dt" sz="half" idx="10"/>
          </p:nvPr>
        </p:nvSpPr>
        <p:spPr/>
        <p:txBody>
          <a:bodyPr/>
          <a:lstStyle/>
          <a:p>
            <a:pPr>
              <a:defRPr/>
            </a:pPr>
            <a:fld id="{B6983BF1-58A5-4D30-B108-4238DB0A3C96}"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72331D54-D497-FA26-EDEF-9082B41CE1DC}"/>
              </a:ext>
            </a:extLst>
          </p:cNvPr>
          <p:cNvSpPr>
            <a:spLocks noGrp="1"/>
          </p:cNvSpPr>
          <p:nvPr>
            <p:ph type="sldNum" sz="quarter" idx="12"/>
          </p:nvPr>
        </p:nvSpPr>
        <p:spPr/>
        <p:txBody>
          <a:bodyPr/>
          <a:lstStyle/>
          <a:p>
            <a:pPr>
              <a:defRPr/>
            </a:pPr>
            <a:fld id="{937DAA19-78E2-454A-BF0A-AB51F6D45129}" type="slidenum">
              <a:rPr lang="en-US" altLang="en-US" smtClean="0"/>
              <a:pPr>
                <a:defRPr/>
              </a:pPr>
              <a:t>113</a:t>
            </a:fld>
            <a:endParaRPr lang="en-US" altLang="en-US"/>
          </a:p>
        </p:txBody>
      </p:sp>
    </p:spTree>
    <p:extLst>
      <p:ext uri="{BB962C8B-B14F-4D97-AF65-F5344CB8AC3E}">
        <p14:creationId xmlns:p14="http://schemas.microsoft.com/office/powerpoint/2010/main" val="73623340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DBAE687-E524-46CA-9452-2A9B89B32773}"/>
              </a:ext>
            </a:extLst>
          </p:cNvPr>
          <p:cNvPicPr>
            <a:picLocks noChangeAspect="1"/>
          </p:cNvPicPr>
          <p:nvPr/>
        </p:nvPicPr>
        <p:blipFill>
          <a:blip r:embed="rId2"/>
          <a:stretch>
            <a:fillRect/>
          </a:stretch>
        </p:blipFill>
        <p:spPr>
          <a:xfrm>
            <a:off x="0" y="1988840"/>
            <a:ext cx="9144000" cy="2094910"/>
          </a:xfrm>
          <a:prstGeom prst="rect">
            <a:avLst/>
          </a:prstGeom>
        </p:spPr>
      </p:pic>
      <p:sp>
        <p:nvSpPr>
          <p:cNvPr id="2" name="Date Placeholder 1">
            <a:extLst>
              <a:ext uri="{FF2B5EF4-FFF2-40B4-BE49-F238E27FC236}">
                <a16:creationId xmlns:a16="http://schemas.microsoft.com/office/drawing/2014/main" id="{B0F7741C-5ACE-2BC5-A4BC-A739E6B38705}"/>
              </a:ext>
            </a:extLst>
          </p:cNvPr>
          <p:cNvSpPr>
            <a:spLocks noGrp="1"/>
          </p:cNvSpPr>
          <p:nvPr>
            <p:ph type="dt" sz="half" idx="10"/>
          </p:nvPr>
        </p:nvSpPr>
        <p:spPr/>
        <p:txBody>
          <a:bodyPr/>
          <a:lstStyle/>
          <a:p>
            <a:pPr>
              <a:defRPr/>
            </a:pPr>
            <a:fld id="{0E1EE1E6-8EB8-46D0-846C-FDEC73E8A9BA}"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A10BCDB6-9F47-B6D3-6D76-A2FBA1206155}"/>
              </a:ext>
            </a:extLst>
          </p:cNvPr>
          <p:cNvSpPr>
            <a:spLocks noGrp="1"/>
          </p:cNvSpPr>
          <p:nvPr>
            <p:ph type="sldNum" sz="quarter" idx="12"/>
          </p:nvPr>
        </p:nvSpPr>
        <p:spPr/>
        <p:txBody>
          <a:bodyPr/>
          <a:lstStyle/>
          <a:p>
            <a:pPr>
              <a:defRPr/>
            </a:pPr>
            <a:fld id="{937DAA19-78E2-454A-BF0A-AB51F6D45129}" type="slidenum">
              <a:rPr lang="en-US" altLang="en-US" smtClean="0"/>
              <a:pPr>
                <a:defRPr/>
              </a:pPr>
              <a:t>114</a:t>
            </a:fld>
            <a:endParaRPr lang="en-US" altLang="en-US"/>
          </a:p>
        </p:txBody>
      </p:sp>
    </p:spTree>
    <p:extLst>
      <p:ext uri="{BB962C8B-B14F-4D97-AF65-F5344CB8AC3E}">
        <p14:creationId xmlns:p14="http://schemas.microsoft.com/office/powerpoint/2010/main" val="247733672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AA29D-D2AC-4260-BDB8-9D194E4A1B5F}"/>
              </a:ext>
            </a:extLst>
          </p:cNvPr>
          <p:cNvSpPr>
            <a:spLocks noGrp="1"/>
          </p:cNvSpPr>
          <p:nvPr>
            <p:ph type="title"/>
          </p:nvPr>
        </p:nvSpPr>
        <p:spPr/>
        <p:txBody>
          <a:bodyPr/>
          <a:lstStyle/>
          <a:p>
            <a:r>
              <a:rPr lang="en-IN" dirty="0"/>
              <a:t>Polynomials</a:t>
            </a:r>
          </a:p>
        </p:txBody>
      </p:sp>
      <p:pic>
        <p:nvPicPr>
          <p:cNvPr id="5" name="Picture 4">
            <a:extLst>
              <a:ext uri="{FF2B5EF4-FFF2-40B4-BE49-F238E27FC236}">
                <a16:creationId xmlns:a16="http://schemas.microsoft.com/office/drawing/2014/main" id="{F31034B4-DE1F-4478-BAAF-1ABE0A20F3E4}"/>
              </a:ext>
            </a:extLst>
          </p:cNvPr>
          <p:cNvPicPr>
            <a:picLocks noChangeAspect="1"/>
          </p:cNvPicPr>
          <p:nvPr/>
        </p:nvPicPr>
        <p:blipFill>
          <a:blip r:embed="rId2"/>
          <a:stretch>
            <a:fillRect/>
          </a:stretch>
        </p:blipFill>
        <p:spPr>
          <a:xfrm>
            <a:off x="0" y="1493786"/>
            <a:ext cx="9144000" cy="3003730"/>
          </a:xfrm>
          <a:prstGeom prst="rect">
            <a:avLst/>
          </a:prstGeom>
        </p:spPr>
      </p:pic>
      <p:sp>
        <p:nvSpPr>
          <p:cNvPr id="3" name="Date Placeholder 2">
            <a:extLst>
              <a:ext uri="{FF2B5EF4-FFF2-40B4-BE49-F238E27FC236}">
                <a16:creationId xmlns:a16="http://schemas.microsoft.com/office/drawing/2014/main" id="{8F0420CF-610E-36A5-72E3-44F29B48966F}"/>
              </a:ext>
            </a:extLst>
          </p:cNvPr>
          <p:cNvSpPr>
            <a:spLocks noGrp="1"/>
          </p:cNvSpPr>
          <p:nvPr>
            <p:ph type="dt" sz="half" idx="10"/>
          </p:nvPr>
        </p:nvSpPr>
        <p:spPr/>
        <p:txBody>
          <a:bodyPr/>
          <a:lstStyle/>
          <a:p>
            <a:pPr>
              <a:defRPr/>
            </a:pPr>
            <a:fld id="{26F43066-C3F7-4EB6-A67E-B85F6076DAEF}"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5D495D17-28DD-1B57-9BB2-419A3607638F}"/>
              </a:ext>
            </a:extLst>
          </p:cNvPr>
          <p:cNvSpPr>
            <a:spLocks noGrp="1"/>
          </p:cNvSpPr>
          <p:nvPr>
            <p:ph type="sldNum" sz="quarter" idx="12"/>
          </p:nvPr>
        </p:nvSpPr>
        <p:spPr/>
        <p:txBody>
          <a:bodyPr/>
          <a:lstStyle/>
          <a:p>
            <a:pPr>
              <a:defRPr/>
            </a:pPr>
            <a:fld id="{937DAA19-78E2-454A-BF0A-AB51F6D45129}" type="slidenum">
              <a:rPr lang="en-US" altLang="en-US" smtClean="0"/>
              <a:pPr>
                <a:defRPr/>
              </a:pPr>
              <a:t>115</a:t>
            </a:fld>
            <a:endParaRPr lang="en-US" altLang="en-US"/>
          </a:p>
        </p:txBody>
      </p:sp>
    </p:spTree>
    <p:extLst>
      <p:ext uri="{BB962C8B-B14F-4D97-AF65-F5344CB8AC3E}">
        <p14:creationId xmlns:p14="http://schemas.microsoft.com/office/powerpoint/2010/main" val="49244488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F1327-B5B1-4414-8267-A577BC7066E9}"/>
              </a:ext>
            </a:extLst>
          </p:cNvPr>
          <p:cNvSpPr>
            <a:spLocks noGrp="1"/>
          </p:cNvSpPr>
          <p:nvPr>
            <p:ph type="title"/>
          </p:nvPr>
        </p:nvSpPr>
        <p:spPr/>
        <p:txBody>
          <a:bodyPr/>
          <a:lstStyle/>
          <a:p>
            <a:r>
              <a:rPr lang="en-IN" dirty="0"/>
              <a:t>Exponentials</a:t>
            </a:r>
          </a:p>
        </p:txBody>
      </p:sp>
      <p:pic>
        <p:nvPicPr>
          <p:cNvPr id="5" name="Content Placeholder 4">
            <a:extLst>
              <a:ext uri="{FF2B5EF4-FFF2-40B4-BE49-F238E27FC236}">
                <a16:creationId xmlns:a16="http://schemas.microsoft.com/office/drawing/2014/main" id="{1BA01444-B9F8-427D-9B42-7A3F40CC8981}"/>
              </a:ext>
            </a:extLst>
          </p:cNvPr>
          <p:cNvPicPr>
            <a:picLocks noGrp="1" noChangeAspect="1"/>
          </p:cNvPicPr>
          <p:nvPr>
            <p:ph idx="1"/>
          </p:nvPr>
        </p:nvPicPr>
        <p:blipFill>
          <a:blip r:embed="rId2"/>
          <a:stretch>
            <a:fillRect/>
          </a:stretch>
        </p:blipFill>
        <p:spPr>
          <a:xfrm>
            <a:off x="0" y="1763815"/>
            <a:ext cx="9143999" cy="3167883"/>
          </a:xfrm>
          <a:prstGeom prst="rect">
            <a:avLst/>
          </a:prstGeom>
        </p:spPr>
      </p:pic>
      <p:sp>
        <p:nvSpPr>
          <p:cNvPr id="3" name="Date Placeholder 2">
            <a:extLst>
              <a:ext uri="{FF2B5EF4-FFF2-40B4-BE49-F238E27FC236}">
                <a16:creationId xmlns:a16="http://schemas.microsoft.com/office/drawing/2014/main" id="{2E5C2688-0AAF-5201-F3B1-F979FD4FFA55}"/>
              </a:ext>
            </a:extLst>
          </p:cNvPr>
          <p:cNvSpPr>
            <a:spLocks noGrp="1"/>
          </p:cNvSpPr>
          <p:nvPr>
            <p:ph type="dt" sz="half" idx="10"/>
          </p:nvPr>
        </p:nvSpPr>
        <p:spPr/>
        <p:txBody>
          <a:bodyPr/>
          <a:lstStyle/>
          <a:p>
            <a:pPr>
              <a:defRPr/>
            </a:pPr>
            <a:fld id="{6BE45D06-775D-43CD-9F13-A939DB0241A9}"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6B647B85-99B0-2330-1921-8CA778B16885}"/>
              </a:ext>
            </a:extLst>
          </p:cNvPr>
          <p:cNvSpPr>
            <a:spLocks noGrp="1"/>
          </p:cNvSpPr>
          <p:nvPr>
            <p:ph type="sldNum" sz="quarter" idx="12"/>
          </p:nvPr>
        </p:nvSpPr>
        <p:spPr/>
        <p:txBody>
          <a:bodyPr/>
          <a:lstStyle/>
          <a:p>
            <a:pPr>
              <a:defRPr/>
            </a:pPr>
            <a:fld id="{937DAA19-78E2-454A-BF0A-AB51F6D45129}" type="slidenum">
              <a:rPr lang="en-US" altLang="en-US" smtClean="0"/>
              <a:pPr>
                <a:defRPr/>
              </a:pPr>
              <a:t>116</a:t>
            </a:fld>
            <a:endParaRPr lang="en-US" altLang="en-US"/>
          </a:p>
        </p:txBody>
      </p:sp>
    </p:spTree>
    <p:extLst>
      <p:ext uri="{BB962C8B-B14F-4D97-AF65-F5344CB8AC3E}">
        <p14:creationId xmlns:p14="http://schemas.microsoft.com/office/powerpoint/2010/main" val="103179251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B8267-F29F-4907-9130-942DAF64769A}"/>
              </a:ext>
            </a:extLst>
          </p:cNvPr>
          <p:cNvSpPr>
            <a:spLocks noGrp="1"/>
          </p:cNvSpPr>
          <p:nvPr>
            <p:ph type="title"/>
          </p:nvPr>
        </p:nvSpPr>
        <p:spPr/>
        <p:txBody>
          <a:bodyPr/>
          <a:lstStyle/>
          <a:p>
            <a:r>
              <a:rPr lang="en-IN" dirty="0"/>
              <a:t>Logarithms</a:t>
            </a:r>
          </a:p>
        </p:txBody>
      </p:sp>
      <p:pic>
        <p:nvPicPr>
          <p:cNvPr id="5" name="Picture 4">
            <a:extLst>
              <a:ext uri="{FF2B5EF4-FFF2-40B4-BE49-F238E27FC236}">
                <a16:creationId xmlns:a16="http://schemas.microsoft.com/office/drawing/2014/main" id="{D0231F05-1AFA-4DFD-8F0E-C0F0051D9723}"/>
              </a:ext>
            </a:extLst>
          </p:cNvPr>
          <p:cNvPicPr>
            <a:picLocks noChangeAspect="1"/>
          </p:cNvPicPr>
          <p:nvPr/>
        </p:nvPicPr>
        <p:blipFill>
          <a:blip r:embed="rId2"/>
          <a:stretch>
            <a:fillRect/>
          </a:stretch>
        </p:blipFill>
        <p:spPr>
          <a:xfrm>
            <a:off x="155155" y="1684521"/>
            <a:ext cx="8988845" cy="3229644"/>
          </a:xfrm>
          <a:prstGeom prst="rect">
            <a:avLst/>
          </a:prstGeom>
        </p:spPr>
      </p:pic>
      <p:sp>
        <p:nvSpPr>
          <p:cNvPr id="3" name="Date Placeholder 2">
            <a:extLst>
              <a:ext uri="{FF2B5EF4-FFF2-40B4-BE49-F238E27FC236}">
                <a16:creationId xmlns:a16="http://schemas.microsoft.com/office/drawing/2014/main" id="{F1A64946-9AE6-317F-F268-1F87131789B2}"/>
              </a:ext>
            </a:extLst>
          </p:cNvPr>
          <p:cNvSpPr>
            <a:spLocks noGrp="1"/>
          </p:cNvSpPr>
          <p:nvPr>
            <p:ph type="dt" sz="half" idx="10"/>
          </p:nvPr>
        </p:nvSpPr>
        <p:spPr/>
        <p:txBody>
          <a:bodyPr/>
          <a:lstStyle/>
          <a:p>
            <a:pPr>
              <a:defRPr/>
            </a:pPr>
            <a:fld id="{924CC9A7-BF1D-4151-A95F-9ABF2C93FCD2}"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BA4F758F-9271-A13B-C921-4F3166A50991}"/>
              </a:ext>
            </a:extLst>
          </p:cNvPr>
          <p:cNvSpPr>
            <a:spLocks noGrp="1"/>
          </p:cNvSpPr>
          <p:nvPr>
            <p:ph type="sldNum" sz="quarter" idx="12"/>
          </p:nvPr>
        </p:nvSpPr>
        <p:spPr/>
        <p:txBody>
          <a:bodyPr/>
          <a:lstStyle/>
          <a:p>
            <a:pPr>
              <a:defRPr/>
            </a:pPr>
            <a:fld id="{937DAA19-78E2-454A-BF0A-AB51F6D45129}" type="slidenum">
              <a:rPr lang="en-US" altLang="en-US" smtClean="0"/>
              <a:pPr>
                <a:defRPr/>
              </a:pPr>
              <a:t>117</a:t>
            </a:fld>
            <a:endParaRPr lang="en-US" altLang="en-US"/>
          </a:p>
        </p:txBody>
      </p:sp>
    </p:spTree>
    <p:extLst>
      <p:ext uri="{BB962C8B-B14F-4D97-AF65-F5344CB8AC3E}">
        <p14:creationId xmlns:p14="http://schemas.microsoft.com/office/powerpoint/2010/main" val="384530120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B8125DC-0CFE-47B9-833C-F08EAE63D96B}"/>
              </a:ext>
            </a:extLst>
          </p:cNvPr>
          <p:cNvPicPr>
            <a:picLocks noChangeAspect="1"/>
          </p:cNvPicPr>
          <p:nvPr/>
        </p:nvPicPr>
        <p:blipFill>
          <a:blip r:embed="rId2"/>
          <a:stretch>
            <a:fillRect/>
          </a:stretch>
        </p:blipFill>
        <p:spPr>
          <a:xfrm>
            <a:off x="0" y="1043736"/>
            <a:ext cx="9144000" cy="4455494"/>
          </a:xfrm>
          <a:prstGeom prst="rect">
            <a:avLst/>
          </a:prstGeom>
        </p:spPr>
      </p:pic>
      <p:sp>
        <p:nvSpPr>
          <p:cNvPr id="2" name="Date Placeholder 1">
            <a:extLst>
              <a:ext uri="{FF2B5EF4-FFF2-40B4-BE49-F238E27FC236}">
                <a16:creationId xmlns:a16="http://schemas.microsoft.com/office/drawing/2014/main" id="{6DE45869-8CD2-AFCB-0446-9C8C099361BD}"/>
              </a:ext>
            </a:extLst>
          </p:cNvPr>
          <p:cNvSpPr>
            <a:spLocks noGrp="1"/>
          </p:cNvSpPr>
          <p:nvPr>
            <p:ph type="dt" sz="half" idx="10"/>
          </p:nvPr>
        </p:nvSpPr>
        <p:spPr/>
        <p:txBody>
          <a:bodyPr/>
          <a:lstStyle/>
          <a:p>
            <a:pPr>
              <a:defRPr/>
            </a:pPr>
            <a:fld id="{5C2BBE17-F121-4031-8A2F-3F17B00900A7}"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5C4D65CE-6717-7F80-D73E-D69A7C3F49F5}"/>
              </a:ext>
            </a:extLst>
          </p:cNvPr>
          <p:cNvSpPr>
            <a:spLocks noGrp="1"/>
          </p:cNvSpPr>
          <p:nvPr>
            <p:ph type="sldNum" sz="quarter" idx="12"/>
          </p:nvPr>
        </p:nvSpPr>
        <p:spPr/>
        <p:txBody>
          <a:bodyPr/>
          <a:lstStyle/>
          <a:p>
            <a:pPr>
              <a:defRPr/>
            </a:pPr>
            <a:fld id="{937DAA19-78E2-454A-BF0A-AB51F6D45129}" type="slidenum">
              <a:rPr lang="en-US" altLang="en-US" smtClean="0"/>
              <a:pPr>
                <a:defRPr/>
              </a:pPr>
              <a:t>118</a:t>
            </a:fld>
            <a:endParaRPr lang="en-US" altLang="en-US"/>
          </a:p>
        </p:txBody>
      </p:sp>
    </p:spTree>
    <p:extLst>
      <p:ext uri="{BB962C8B-B14F-4D97-AF65-F5344CB8AC3E}">
        <p14:creationId xmlns:p14="http://schemas.microsoft.com/office/powerpoint/2010/main" val="286317253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334164-71D3-423A-80B3-ED66A95E4004}"/>
              </a:ext>
            </a:extLst>
          </p:cNvPr>
          <p:cNvSpPr>
            <a:spLocks noGrp="1"/>
          </p:cNvSpPr>
          <p:nvPr>
            <p:ph idx="1"/>
          </p:nvPr>
        </p:nvSpPr>
        <p:spPr>
          <a:xfrm>
            <a:off x="457200" y="1268761"/>
            <a:ext cx="8229600" cy="4857404"/>
          </a:xfrm>
        </p:spPr>
        <p:txBody>
          <a:bodyPr>
            <a:normAutofit/>
          </a:bodyPr>
          <a:lstStyle/>
          <a:p>
            <a:pPr algn="just"/>
            <a:r>
              <a:rPr lang="en-US" sz="2800" dirty="0"/>
              <a:t>Changing the base of a logarithm from one constant to another changes the value of the logarithm by only a constant factor, and so we shall often use the notation “lg n” when we don’t care about constant factors, such as in O-notation</a:t>
            </a:r>
          </a:p>
          <a:p>
            <a:pPr algn="just"/>
            <a:endParaRPr lang="en-US" sz="2800" dirty="0"/>
          </a:p>
          <a:p>
            <a:pPr algn="just"/>
            <a:r>
              <a:rPr lang="en-US" sz="2800" dirty="0"/>
              <a:t>Computer scientists find 2 to be the most natural base for logarithms because so many algorithms and data structures involve splitting a problem into </a:t>
            </a:r>
            <a:r>
              <a:rPr lang="en-IN" sz="2800" dirty="0"/>
              <a:t>two parts</a:t>
            </a:r>
          </a:p>
        </p:txBody>
      </p:sp>
      <p:sp>
        <p:nvSpPr>
          <p:cNvPr id="2" name="Date Placeholder 1">
            <a:extLst>
              <a:ext uri="{FF2B5EF4-FFF2-40B4-BE49-F238E27FC236}">
                <a16:creationId xmlns:a16="http://schemas.microsoft.com/office/drawing/2014/main" id="{A6DDDC29-C2F9-E167-60F7-F8E46921F142}"/>
              </a:ext>
            </a:extLst>
          </p:cNvPr>
          <p:cNvSpPr>
            <a:spLocks noGrp="1"/>
          </p:cNvSpPr>
          <p:nvPr>
            <p:ph type="dt" sz="half" idx="10"/>
          </p:nvPr>
        </p:nvSpPr>
        <p:spPr/>
        <p:txBody>
          <a:bodyPr/>
          <a:lstStyle/>
          <a:p>
            <a:pPr>
              <a:defRPr/>
            </a:pPr>
            <a:fld id="{C7EF0FDF-DD05-4960-9DF5-5536234059B8}"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C8EC4AF7-431E-54A7-D51B-9623B0EABDF5}"/>
              </a:ext>
            </a:extLst>
          </p:cNvPr>
          <p:cNvSpPr>
            <a:spLocks noGrp="1"/>
          </p:cNvSpPr>
          <p:nvPr>
            <p:ph type="sldNum" sz="quarter" idx="12"/>
          </p:nvPr>
        </p:nvSpPr>
        <p:spPr/>
        <p:txBody>
          <a:bodyPr/>
          <a:lstStyle/>
          <a:p>
            <a:pPr>
              <a:defRPr/>
            </a:pPr>
            <a:fld id="{937DAA19-78E2-454A-BF0A-AB51F6D45129}" type="slidenum">
              <a:rPr lang="en-US" altLang="en-US" smtClean="0"/>
              <a:pPr>
                <a:defRPr/>
              </a:pPr>
              <a:t>119</a:t>
            </a:fld>
            <a:endParaRPr lang="en-US" altLang="en-US"/>
          </a:p>
        </p:txBody>
      </p:sp>
    </p:spTree>
    <p:extLst>
      <p:ext uri="{BB962C8B-B14F-4D97-AF65-F5344CB8AC3E}">
        <p14:creationId xmlns:p14="http://schemas.microsoft.com/office/powerpoint/2010/main" val="308149400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77C24-4033-41F6-8105-9617CB1D9469}"/>
              </a:ext>
            </a:extLst>
          </p:cNvPr>
          <p:cNvSpPr>
            <a:spLocks noGrp="1"/>
          </p:cNvSpPr>
          <p:nvPr>
            <p:ph type="title"/>
          </p:nvPr>
        </p:nvSpPr>
        <p:spPr/>
        <p:txBody>
          <a:bodyPr/>
          <a:lstStyle/>
          <a:p>
            <a:r>
              <a:rPr lang="en-IN" dirty="0"/>
              <a:t>Factorials</a:t>
            </a:r>
          </a:p>
        </p:txBody>
      </p:sp>
      <p:pic>
        <p:nvPicPr>
          <p:cNvPr id="5" name="Content Placeholder 4">
            <a:extLst>
              <a:ext uri="{FF2B5EF4-FFF2-40B4-BE49-F238E27FC236}">
                <a16:creationId xmlns:a16="http://schemas.microsoft.com/office/drawing/2014/main" id="{D67F4C08-FC4F-404D-9320-ABE3F777B88D}"/>
              </a:ext>
            </a:extLst>
          </p:cNvPr>
          <p:cNvPicPr>
            <a:picLocks noGrp="1" noChangeAspect="1"/>
          </p:cNvPicPr>
          <p:nvPr>
            <p:ph idx="1"/>
          </p:nvPr>
        </p:nvPicPr>
        <p:blipFill>
          <a:blip r:embed="rId2"/>
          <a:stretch>
            <a:fillRect/>
          </a:stretch>
        </p:blipFill>
        <p:spPr>
          <a:xfrm>
            <a:off x="0" y="2123855"/>
            <a:ext cx="9144000" cy="2475275"/>
          </a:xfrm>
          <a:prstGeom prst="rect">
            <a:avLst/>
          </a:prstGeom>
        </p:spPr>
      </p:pic>
      <p:sp>
        <p:nvSpPr>
          <p:cNvPr id="3" name="Date Placeholder 2">
            <a:extLst>
              <a:ext uri="{FF2B5EF4-FFF2-40B4-BE49-F238E27FC236}">
                <a16:creationId xmlns:a16="http://schemas.microsoft.com/office/drawing/2014/main" id="{D2947363-C254-8285-D67A-E2AC26E42C70}"/>
              </a:ext>
            </a:extLst>
          </p:cNvPr>
          <p:cNvSpPr>
            <a:spLocks noGrp="1"/>
          </p:cNvSpPr>
          <p:nvPr>
            <p:ph type="dt" sz="half" idx="10"/>
          </p:nvPr>
        </p:nvSpPr>
        <p:spPr/>
        <p:txBody>
          <a:bodyPr/>
          <a:lstStyle/>
          <a:p>
            <a:pPr>
              <a:defRPr/>
            </a:pPr>
            <a:fld id="{801B520A-50BB-43D9-9CDA-AC2147A3E051}"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94414ADC-9DD1-6E71-CEE0-DD52D03D9736}"/>
              </a:ext>
            </a:extLst>
          </p:cNvPr>
          <p:cNvSpPr>
            <a:spLocks noGrp="1"/>
          </p:cNvSpPr>
          <p:nvPr>
            <p:ph type="sldNum" sz="quarter" idx="12"/>
          </p:nvPr>
        </p:nvSpPr>
        <p:spPr/>
        <p:txBody>
          <a:bodyPr/>
          <a:lstStyle/>
          <a:p>
            <a:pPr>
              <a:defRPr/>
            </a:pPr>
            <a:fld id="{937DAA19-78E2-454A-BF0A-AB51F6D45129}" type="slidenum">
              <a:rPr lang="en-US" altLang="en-US" smtClean="0"/>
              <a:pPr>
                <a:defRPr/>
              </a:pPr>
              <a:t>120</a:t>
            </a:fld>
            <a:endParaRPr lang="en-US" altLang="en-US"/>
          </a:p>
        </p:txBody>
      </p:sp>
    </p:spTree>
    <p:extLst>
      <p:ext uri="{BB962C8B-B14F-4D97-AF65-F5344CB8AC3E}">
        <p14:creationId xmlns:p14="http://schemas.microsoft.com/office/powerpoint/2010/main" val="95461951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53775-E8DE-4661-BCB1-7159F7D17947}"/>
              </a:ext>
            </a:extLst>
          </p:cNvPr>
          <p:cNvSpPr>
            <a:spLocks noGrp="1"/>
          </p:cNvSpPr>
          <p:nvPr>
            <p:ph type="title"/>
          </p:nvPr>
        </p:nvSpPr>
        <p:spPr/>
        <p:txBody>
          <a:bodyPr/>
          <a:lstStyle/>
          <a:p>
            <a:r>
              <a:rPr lang="en-IN" dirty="0"/>
              <a:t>Functional iteration</a:t>
            </a:r>
          </a:p>
        </p:txBody>
      </p:sp>
      <p:pic>
        <p:nvPicPr>
          <p:cNvPr id="5" name="Picture 4">
            <a:extLst>
              <a:ext uri="{FF2B5EF4-FFF2-40B4-BE49-F238E27FC236}">
                <a16:creationId xmlns:a16="http://schemas.microsoft.com/office/drawing/2014/main" id="{663FF4B3-E012-4F58-8592-3D992EBAB96B}"/>
              </a:ext>
            </a:extLst>
          </p:cNvPr>
          <p:cNvPicPr>
            <a:picLocks noChangeAspect="1"/>
          </p:cNvPicPr>
          <p:nvPr/>
        </p:nvPicPr>
        <p:blipFill>
          <a:blip r:embed="rId2"/>
          <a:stretch>
            <a:fillRect/>
          </a:stretch>
        </p:blipFill>
        <p:spPr>
          <a:xfrm>
            <a:off x="0" y="1673805"/>
            <a:ext cx="9144000" cy="3015335"/>
          </a:xfrm>
          <a:prstGeom prst="rect">
            <a:avLst/>
          </a:prstGeom>
        </p:spPr>
      </p:pic>
      <p:sp>
        <p:nvSpPr>
          <p:cNvPr id="3" name="Date Placeholder 2">
            <a:extLst>
              <a:ext uri="{FF2B5EF4-FFF2-40B4-BE49-F238E27FC236}">
                <a16:creationId xmlns:a16="http://schemas.microsoft.com/office/drawing/2014/main" id="{5C1D9C09-4453-39EA-B61A-4D4C31247162}"/>
              </a:ext>
            </a:extLst>
          </p:cNvPr>
          <p:cNvSpPr>
            <a:spLocks noGrp="1"/>
          </p:cNvSpPr>
          <p:nvPr>
            <p:ph type="dt" sz="half" idx="10"/>
          </p:nvPr>
        </p:nvSpPr>
        <p:spPr/>
        <p:txBody>
          <a:bodyPr/>
          <a:lstStyle/>
          <a:p>
            <a:pPr>
              <a:defRPr/>
            </a:pPr>
            <a:fld id="{8642AA51-1DC5-4077-9858-F1D2CA261DDB}"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49A6E177-069F-E656-4FEE-360F5F5B218D}"/>
              </a:ext>
            </a:extLst>
          </p:cNvPr>
          <p:cNvSpPr>
            <a:spLocks noGrp="1"/>
          </p:cNvSpPr>
          <p:nvPr>
            <p:ph type="sldNum" sz="quarter" idx="12"/>
          </p:nvPr>
        </p:nvSpPr>
        <p:spPr/>
        <p:txBody>
          <a:bodyPr/>
          <a:lstStyle/>
          <a:p>
            <a:pPr>
              <a:defRPr/>
            </a:pPr>
            <a:fld id="{937DAA19-78E2-454A-BF0A-AB51F6D45129}" type="slidenum">
              <a:rPr lang="en-US" altLang="en-US" smtClean="0"/>
              <a:pPr>
                <a:defRPr/>
              </a:pPr>
              <a:t>121</a:t>
            </a:fld>
            <a:endParaRPr lang="en-US" altLang="en-US"/>
          </a:p>
        </p:txBody>
      </p:sp>
    </p:spTree>
    <p:extLst>
      <p:ext uri="{BB962C8B-B14F-4D97-AF65-F5344CB8AC3E}">
        <p14:creationId xmlns:p14="http://schemas.microsoft.com/office/powerpoint/2010/main" val="189026272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D572F-492B-4E6C-8760-A2BBB88FA64A}"/>
              </a:ext>
            </a:extLst>
          </p:cNvPr>
          <p:cNvSpPr>
            <a:spLocks noGrp="1"/>
          </p:cNvSpPr>
          <p:nvPr>
            <p:ph type="title"/>
          </p:nvPr>
        </p:nvSpPr>
        <p:spPr/>
        <p:txBody>
          <a:bodyPr/>
          <a:lstStyle/>
          <a:p>
            <a:r>
              <a:rPr lang="en-IN" dirty="0"/>
              <a:t>The iterated logarithm function</a:t>
            </a:r>
          </a:p>
        </p:txBody>
      </p:sp>
      <p:sp>
        <p:nvSpPr>
          <p:cNvPr id="3" name="Content Placeholder 2">
            <a:extLst>
              <a:ext uri="{FF2B5EF4-FFF2-40B4-BE49-F238E27FC236}">
                <a16:creationId xmlns:a16="http://schemas.microsoft.com/office/drawing/2014/main" id="{D4BD679A-EAA5-414A-9C9A-CB23F727BF89}"/>
              </a:ext>
            </a:extLst>
          </p:cNvPr>
          <p:cNvSpPr>
            <a:spLocks noGrp="1"/>
          </p:cNvSpPr>
          <p:nvPr>
            <p:ph idx="1"/>
          </p:nvPr>
        </p:nvSpPr>
        <p:spPr>
          <a:xfrm>
            <a:off x="457199" y="1396136"/>
            <a:ext cx="8229600" cy="4525963"/>
          </a:xfrm>
        </p:spPr>
        <p:txBody>
          <a:bodyPr>
            <a:normAutofit/>
          </a:bodyPr>
          <a:lstStyle/>
          <a:p>
            <a:pPr algn="just"/>
            <a:r>
              <a:rPr lang="en-IN" sz="2800" dirty="0"/>
              <a:t>The iterated logarithm function </a:t>
            </a:r>
            <a:r>
              <a:rPr lang="en-US" sz="2800" dirty="0"/>
              <a:t>is the number of times the logarithm function must be iteratively applied before the result is less than or equal to 1</a:t>
            </a:r>
          </a:p>
          <a:p>
            <a:pPr algn="just"/>
            <a:endParaRPr lang="en-IN" sz="2800" dirty="0"/>
          </a:p>
        </p:txBody>
      </p:sp>
      <p:pic>
        <p:nvPicPr>
          <p:cNvPr id="6" name="Picture 5">
            <a:extLst>
              <a:ext uri="{FF2B5EF4-FFF2-40B4-BE49-F238E27FC236}">
                <a16:creationId xmlns:a16="http://schemas.microsoft.com/office/drawing/2014/main" id="{F9B52316-2CD6-4DB1-82A7-CFDDABB07E8A}"/>
              </a:ext>
            </a:extLst>
          </p:cNvPr>
          <p:cNvPicPr>
            <a:picLocks noChangeAspect="1"/>
          </p:cNvPicPr>
          <p:nvPr/>
        </p:nvPicPr>
        <p:blipFill>
          <a:blip r:embed="rId2"/>
          <a:stretch>
            <a:fillRect/>
          </a:stretch>
        </p:blipFill>
        <p:spPr>
          <a:xfrm>
            <a:off x="0" y="3248980"/>
            <a:ext cx="9144000" cy="2212883"/>
          </a:xfrm>
          <a:prstGeom prst="rect">
            <a:avLst/>
          </a:prstGeom>
        </p:spPr>
      </p:pic>
      <p:sp>
        <p:nvSpPr>
          <p:cNvPr id="4" name="Date Placeholder 3">
            <a:extLst>
              <a:ext uri="{FF2B5EF4-FFF2-40B4-BE49-F238E27FC236}">
                <a16:creationId xmlns:a16="http://schemas.microsoft.com/office/drawing/2014/main" id="{27C02A66-C2F8-7F52-010E-EB697502FC43}"/>
              </a:ext>
            </a:extLst>
          </p:cNvPr>
          <p:cNvSpPr>
            <a:spLocks noGrp="1"/>
          </p:cNvSpPr>
          <p:nvPr>
            <p:ph type="dt" sz="half" idx="10"/>
          </p:nvPr>
        </p:nvSpPr>
        <p:spPr/>
        <p:txBody>
          <a:bodyPr/>
          <a:lstStyle/>
          <a:p>
            <a:pPr>
              <a:defRPr/>
            </a:pPr>
            <a:fld id="{ED139C42-F286-4DCF-81A8-B2B46A8DDBE9}" type="datetime2">
              <a:rPr lang="en-US" smtClean="0"/>
              <a:t>Wednesday, January 22, 2025</a:t>
            </a:fld>
            <a:endParaRPr lang="en-US" altLang="en-US"/>
          </a:p>
        </p:txBody>
      </p:sp>
      <p:sp>
        <p:nvSpPr>
          <p:cNvPr id="5" name="Slide Number Placeholder 4">
            <a:extLst>
              <a:ext uri="{FF2B5EF4-FFF2-40B4-BE49-F238E27FC236}">
                <a16:creationId xmlns:a16="http://schemas.microsoft.com/office/drawing/2014/main" id="{C14957C9-EA29-4F06-D584-7E8AA705A27A}"/>
              </a:ext>
            </a:extLst>
          </p:cNvPr>
          <p:cNvSpPr>
            <a:spLocks noGrp="1"/>
          </p:cNvSpPr>
          <p:nvPr>
            <p:ph type="sldNum" sz="quarter" idx="12"/>
          </p:nvPr>
        </p:nvSpPr>
        <p:spPr/>
        <p:txBody>
          <a:bodyPr/>
          <a:lstStyle/>
          <a:p>
            <a:pPr>
              <a:defRPr/>
            </a:pPr>
            <a:fld id="{937DAA19-78E2-454A-BF0A-AB51F6D45129}" type="slidenum">
              <a:rPr lang="en-US" altLang="en-US" smtClean="0"/>
              <a:pPr>
                <a:defRPr/>
              </a:pPr>
              <a:t>122</a:t>
            </a:fld>
            <a:endParaRPr lang="en-US" altLang="en-US"/>
          </a:p>
        </p:txBody>
      </p:sp>
    </p:spTree>
    <p:extLst>
      <p:ext uri="{BB962C8B-B14F-4D97-AF65-F5344CB8AC3E}">
        <p14:creationId xmlns:p14="http://schemas.microsoft.com/office/powerpoint/2010/main" val="321262893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04A2A-4F28-4880-B8DB-68F38F3B458D}"/>
              </a:ext>
            </a:extLst>
          </p:cNvPr>
          <p:cNvSpPr>
            <a:spLocks noGrp="1"/>
          </p:cNvSpPr>
          <p:nvPr>
            <p:ph type="title"/>
          </p:nvPr>
        </p:nvSpPr>
        <p:spPr/>
        <p:txBody>
          <a:bodyPr/>
          <a:lstStyle/>
          <a:p>
            <a:r>
              <a:rPr lang="en-IN" dirty="0"/>
              <a:t>Fibonacci numbers</a:t>
            </a:r>
          </a:p>
        </p:txBody>
      </p:sp>
      <p:pic>
        <p:nvPicPr>
          <p:cNvPr id="5" name="Content Placeholder 4">
            <a:extLst>
              <a:ext uri="{FF2B5EF4-FFF2-40B4-BE49-F238E27FC236}">
                <a16:creationId xmlns:a16="http://schemas.microsoft.com/office/drawing/2014/main" id="{ACB227C4-E4DB-4D6D-B8E5-D974B413405B}"/>
              </a:ext>
            </a:extLst>
          </p:cNvPr>
          <p:cNvPicPr>
            <a:picLocks noGrp="1" noChangeAspect="1"/>
          </p:cNvPicPr>
          <p:nvPr>
            <p:ph idx="1"/>
          </p:nvPr>
        </p:nvPicPr>
        <p:blipFill>
          <a:blip r:embed="rId2"/>
          <a:stretch>
            <a:fillRect/>
          </a:stretch>
        </p:blipFill>
        <p:spPr>
          <a:xfrm>
            <a:off x="0" y="1898830"/>
            <a:ext cx="9144000" cy="2475275"/>
          </a:xfrm>
          <a:prstGeom prst="rect">
            <a:avLst/>
          </a:prstGeom>
        </p:spPr>
      </p:pic>
      <p:sp>
        <p:nvSpPr>
          <p:cNvPr id="3" name="Date Placeholder 2">
            <a:extLst>
              <a:ext uri="{FF2B5EF4-FFF2-40B4-BE49-F238E27FC236}">
                <a16:creationId xmlns:a16="http://schemas.microsoft.com/office/drawing/2014/main" id="{62355799-96F1-07F1-581C-5AEFB6695A5E}"/>
              </a:ext>
            </a:extLst>
          </p:cNvPr>
          <p:cNvSpPr>
            <a:spLocks noGrp="1"/>
          </p:cNvSpPr>
          <p:nvPr>
            <p:ph type="dt" sz="half" idx="10"/>
          </p:nvPr>
        </p:nvSpPr>
        <p:spPr/>
        <p:txBody>
          <a:bodyPr/>
          <a:lstStyle/>
          <a:p>
            <a:pPr>
              <a:defRPr/>
            </a:pPr>
            <a:fld id="{262FC4D6-6FD3-4954-9968-8847186A85B0}"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D8F43207-9830-7CEB-8FAD-B40041BC443A}"/>
              </a:ext>
            </a:extLst>
          </p:cNvPr>
          <p:cNvSpPr>
            <a:spLocks noGrp="1"/>
          </p:cNvSpPr>
          <p:nvPr>
            <p:ph type="sldNum" sz="quarter" idx="12"/>
          </p:nvPr>
        </p:nvSpPr>
        <p:spPr/>
        <p:txBody>
          <a:bodyPr/>
          <a:lstStyle/>
          <a:p>
            <a:pPr>
              <a:defRPr/>
            </a:pPr>
            <a:fld id="{937DAA19-78E2-454A-BF0A-AB51F6D45129}" type="slidenum">
              <a:rPr lang="en-US" altLang="en-US" smtClean="0"/>
              <a:pPr>
                <a:defRPr/>
              </a:pPr>
              <a:t>123</a:t>
            </a:fld>
            <a:endParaRPr lang="en-US" altLang="en-US"/>
          </a:p>
        </p:txBody>
      </p:sp>
    </p:spTree>
    <p:extLst>
      <p:ext uri="{BB962C8B-B14F-4D97-AF65-F5344CB8AC3E}">
        <p14:creationId xmlns:p14="http://schemas.microsoft.com/office/powerpoint/2010/main" val="312523266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A92BE4-DCBB-4364-9C01-848135D345AB}"/>
              </a:ext>
            </a:extLst>
          </p:cNvPr>
          <p:cNvSpPr>
            <a:spLocks noGrp="1"/>
          </p:cNvSpPr>
          <p:nvPr>
            <p:ph idx="1"/>
          </p:nvPr>
        </p:nvSpPr>
        <p:spPr>
          <a:xfrm>
            <a:off x="457200" y="2589257"/>
            <a:ext cx="8229600" cy="1575175"/>
          </a:xfrm>
        </p:spPr>
        <p:txBody>
          <a:bodyPr>
            <a:normAutofit/>
          </a:bodyPr>
          <a:lstStyle/>
          <a:p>
            <a:pPr marL="0" indent="0" algn="ctr">
              <a:buNone/>
            </a:pPr>
            <a:r>
              <a:rPr lang="en-IN" sz="3600" b="1" dirty="0">
                <a:solidFill>
                  <a:srgbClr val="FF0000"/>
                </a:solidFill>
              </a:rPr>
              <a:t>Mathematical Analysis of Non-recursive Algorithms</a:t>
            </a:r>
          </a:p>
        </p:txBody>
      </p:sp>
      <p:sp>
        <p:nvSpPr>
          <p:cNvPr id="2" name="Date Placeholder 1">
            <a:extLst>
              <a:ext uri="{FF2B5EF4-FFF2-40B4-BE49-F238E27FC236}">
                <a16:creationId xmlns:a16="http://schemas.microsoft.com/office/drawing/2014/main" id="{276DA8FF-8B4F-B891-AE91-7F64A163ADD5}"/>
              </a:ext>
            </a:extLst>
          </p:cNvPr>
          <p:cNvSpPr>
            <a:spLocks noGrp="1"/>
          </p:cNvSpPr>
          <p:nvPr>
            <p:ph type="dt" sz="half" idx="10"/>
          </p:nvPr>
        </p:nvSpPr>
        <p:spPr/>
        <p:txBody>
          <a:bodyPr/>
          <a:lstStyle/>
          <a:p>
            <a:pPr>
              <a:defRPr/>
            </a:pPr>
            <a:fld id="{BC2D541C-7E7C-44E0-A6FA-5C0AC3E35C46}"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41D55E0D-49B5-091C-17A1-D68116E26045}"/>
              </a:ext>
            </a:extLst>
          </p:cNvPr>
          <p:cNvSpPr>
            <a:spLocks noGrp="1"/>
          </p:cNvSpPr>
          <p:nvPr>
            <p:ph type="sldNum" sz="quarter" idx="12"/>
          </p:nvPr>
        </p:nvSpPr>
        <p:spPr/>
        <p:txBody>
          <a:bodyPr/>
          <a:lstStyle/>
          <a:p>
            <a:pPr>
              <a:defRPr/>
            </a:pPr>
            <a:fld id="{937DAA19-78E2-454A-BF0A-AB51F6D45129}" type="slidenum">
              <a:rPr lang="en-US" altLang="en-US" smtClean="0"/>
              <a:pPr>
                <a:defRPr/>
              </a:pPr>
              <a:t>124</a:t>
            </a:fld>
            <a:endParaRPr lang="en-US" altLang="en-US"/>
          </a:p>
        </p:txBody>
      </p:sp>
    </p:spTree>
    <p:extLst>
      <p:ext uri="{BB962C8B-B14F-4D97-AF65-F5344CB8AC3E}">
        <p14:creationId xmlns:p14="http://schemas.microsoft.com/office/powerpoint/2010/main" val="142188335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886BD-D9EF-4149-A663-86E407A0F7A5}"/>
              </a:ext>
            </a:extLst>
          </p:cNvPr>
          <p:cNvSpPr>
            <a:spLocks noGrp="1"/>
          </p:cNvSpPr>
          <p:nvPr>
            <p:ph type="title"/>
          </p:nvPr>
        </p:nvSpPr>
        <p:spPr>
          <a:xfrm>
            <a:off x="0" y="351344"/>
            <a:ext cx="7534115" cy="360919"/>
          </a:xfrm>
        </p:spPr>
        <p:txBody>
          <a:bodyPr/>
          <a:lstStyle/>
          <a:p>
            <a:r>
              <a:rPr lang="en-US" dirty="0"/>
              <a:t>General Plan for Analyzing the Time Efficiency of Nonrecursive Algorithms</a:t>
            </a:r>
            <a:endParaRPr lang="en-IN" dirty="0"/>
          </a:p>
        </p:txBody>
      </p:sp>
      <p:sp>
        <p:nvSpPr>
          <p:cNvPr id="3" name="Content Placeholder 2">
            <a:extLst>
              <a:ext uri="{FF2B5EF4-FFF2-40B4-BE49-F238E27FC236}">
                <a16:creationId xmlns:a16="http://schemas.microsoft.com/office/drawing/2014/main" id="{E6FF482D-39B0-4BF2-9663-8C537AA202BF}"/>
              </a:ext>
            </a:extLst>
          </p:cNvPr>
          <p:cNvSpPr>
            <a:spLocks noGrp="1"/>
          </p:cNvSpPr>
          <p:nvPr>
            <p:ph idx="1"/>
          </p:nvPr>
        </p:nvSpPr>
        <p:spPr>
          <a:xfrm>
            <a:off x="457200" y="1313765"/>
            <a:ext cx="8229600" cy="4812399"/>
          </a:xfrm>
        </p:spPr>
        <p:txBody>
          <a:bodyPr>
            <a:normAutofit/>
          </a:bodyPr>
          <a:lstStyle/>
          <a:p>
            <a:pPr marL="514350" indent="-514350" algn="just">
              <a:buAutoNum type="arabicPeriod"/>
            </a:pPr>
            <a:r>
              <a:rPr lang="en-US" sz="2800" dirty="0"/>
              <a:t>Decide on a parameter (or parameters) indicating an input’s size.</a:t>
            </a:r>
          </a:p>
          <a:p>
            <a:pPr marL="514350" indent="-514350" algn="just">
              <a:buAutoNum type="arabicPeriod"/>
            </a:pPr>
            <a:r>
              <a:rPr lang="en-US" sz="2800" dirty="0"/>
              <a:t>Identify the algorithm’s basic operation. (As a rule, it is located in the innermost </a:t>
            </a:r>
            <a:r>
              <a:rPr lang="en-IN" sz="2800" dirty="0"/>
              <a:t>loop.)</a:t>
            </a:r>
          </a:p>
          <a:p>
            <a:pPr marL="514350" indent="-514350" algn="just">
              <a:buFont typeface="+mj-lt"/>
              <a:buAutoNum type="arabicPeriod"/>
            </a:pPr>
            <a:r>
              <a:rPr lang="en-US" sz="2800" dirty="0"/>
              <a:t>Check whether the number of times the basic operation is executed depends only on the size of an input. If it also depends on some additional property, the worst-case, average-case, and, if necessary, best-case efficiencies have to </a:t>
            </a:r>
            <a:r>
              <a:rPr lang="en-IN" sz="2800" dirty="0"/>
              <a:t>be investigated separately.</a:t>
            </a:r>
          </a:p>
        </p:txBody>
      </p:sp>
      <p:sp>
        <p:nvSpPr>
          <p:cNvPr id="4" name="Date Placeholder 3">
            <a:extLst>
              <a:ext uri="{FF2B5EF4-FFF2-40B4-BE49-F238E27FC236}">
                <a16:creationId xmlns:a16="http://schemas.microsoft.com/office/drawing/2014/main" id="{DFCC5B23-4D61-3A91-2781-9FB433D15233}"/>
              </a:ext>
            </a:extLst>
          </p:cNvPr>
          <p:cNvSpPr>
            <a:spLocks noGrp="1"/>
          </p:cNvSpPr>
          <p:nvPr>
            <p:ph type="dt" sz="half" idx="10"/>
          </p:nvPr>
        </p:nvSpPr>
        <p:spPr/>
        <p:txBody>
          <a:bodyPr/>
          <a:lstStyle/>
          <a:p>
            <a:pPr>
              <a:defRPr/>
            </a:pPr>
            <a:fld id="{D452E6DD-F836-4828-A233-D2790201014C}" type="datetime2">
              <a:rPr lang="en-US" smtClean="0"/>
              <a:t>Wednesday, January 22, 2025</a:t>
            </a:fld>
            <a:endParaRPr lang="en-US" altLang="en-US"/>
          </a:p>
        </p:txBody>
      </p:sp>
      <p:sp>
        <p:nvSpPr>
          <p:cNvPr id="5" name="Slide Number Placeholder 4">
            <a:extLst>
              <a:ext uri="{FF2B5EF4-FFF2-40B4-BE49-F238E27FC236}">
                <a16:creationId xmlns:a16="http://schemas.microsoft.com/office/drawing/2014/main" id="{7A2FAAE8-423D-C3ED-F7EE-B2C4B7772A1D}"/>
              </a:ext>
            </a:extLst>
          </p:cNvPr>
          <p:cNvSpPr>
            <a:spLocks noGrp="1"/>
          </p:cNvSpPr>
          <p:nvPr>
            <p:ph type="sldNum" sz="quarter" idx="12"/>
          </p:nvPr>
        </p:nvSpPr>
        <p:spPr/>
        <p:txBody>
          <a:bodyPr/>
          <a:lstStyle/>
          <a:p>
            <a:pPr>
              <a:defRPr/>
            </a:pPr>
            <a:fld id="{937DAA19-78E2-454A-BF0A-AB51F6D45129}" type="slidenum">
              <a:rPr lang="en-US" altLang="en-US" smtClean="0"/>
              <a:pPr>
                <a:defRPr/>
              </a:pPr>
              <a:t>125</a:t>
            </a:fld>
            <a:endParaRPr lang="en-US" altLang="en-US"/>
          </a:p>
        </p:txBody>
      </p:sp>
    </p:spTree>
    <p:extLst>
      <p:ext uri="{BB962C8B-B14F-4D97-AF65-F5344CB8AC3E}">
        <p14:creationId xmlns:p14="http://schemas.microsoft.com/office/powerpoint/2010/main" val="85203890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6DF907-325A-4BB8-BC65-8D39B84EE616}"/>
              </a:ext>
            </a:extLst>
          </p:cNvPr>
          <p:cNvSpPr>
            <a:spLocks noGrp="1"/>
          </p:cNvSpPr>
          <p:nvPr>
            <p:ph idx="1"/>
          </p:nvPr>
        </p:nvSpPr>
        <p:spPr/>
        <p:txBody>
          <a:bodyPr>
            <a:normAutofit/>
          </a:bodyPr>
          <a:lstStyle/>
          <a:p>
            <a:pPr marL="0" indent="0" algn="just">
              <a:buNone/>
            </a:pPr>
            <a:r>
              <a:rPr lang="en-US" sz="2800" b="1" dirty="0"/>
              <a:t>4. </a:t>
            </a:r>
            <a:r>
              <a:rPr lang="en-US" sz="2800" dirty="0"/>
              <a:t>Set up a sum expressing the number of times the algorithm’s basic operation </a:t>
            </a:r>
            <a:r>
              <a:rPr lang="en-IN" sz="2800" dirty="0"/>
              <a:t>is executed</a:t>
            </a:r>
          </a:p>
          <a:p>
            <a:pPr marL="0" indent="0" algn="just">
              <a:buNone/>
            </a:pPr>
            <a:endParaRPr lang="en-IN" sz="2800" dirty="0"/>
          </a:p>
          <a:p>
            <a:pPr marL="0" indent="0" algn="just">
              <a:buNone/>
            </a:pPr>
            <a:r>
              <a:rPr lang="en-US" sz="2800" b="1" dirty="0"/>
              <a:t>5. </a:t>
            </a:r>
            <a:r>
              <a:rPr lang="en-US" sz="2800" dirty="0"/>
              <a:t>Using standard formulas and rules of sum manipulation, either find a closed form formula for the count or, at the very least, establish its order of growth.</a:t>
            </a:r>
            <a:endParaRPr lang="en-IN" sz="2800" dirty="0"/>
          </a:p>
          <a:p>
            <a:pPr algn="just"/>
            <a:endParaRPr lang="en-IN" sz="2800" dirty="0"/>
          </a:p>
        </p:txBody>
      </p:sp>
      <p:sp>
        <p:nvSpPr>
          <p:cNvPr id="2" name="Date Placeholder 1">
            <a:extLst>
              <a:ext uri="{FF2B5EF4-FFF2-40B4-BE49-F238E27FC236}">
                <a16:creationId xmlns:a16="http://schemas.microsoft.com/office/drawing/2014/main" id="{8791D685-E33B-8442-8494-10CCDD3E736F}"/>
              </a:ext>
            </a:extLst>
          </p:cNvPr>
          <p:cNvSpPr>
            <a:spLocks noGrp="1"/>
          </p:cNvSpPr>
          <p:nvPr>
            <p:ph type="dt" sz="half" idx="10"/>
          </p:nvPr>
        </p:nvSpPr>
        <p:spPr/>
        <p:txBody>
          <a:bodyPr/>
          <a:lstStyle/>
          <a:p>
            <a:pPr>
              <a:defRPr/>
            </a:pPr>
            <a:fld id="{D2CBF53F-28C0-4103-AAA1-852DD4270104}"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5043DF11-BEC5-B383-D842-84255CDFF4B7}"/>
              </a:ext>
            </a:extLst>
          </p:cNvPr>
          <p:cNvSpPr>
            <a:spLocks noGrp="1"/>
          </p:cNvSpPr>
          <p:nvPr>
            <p:ph type="sldNum" sz="quarter" idx="12"/>
          </p:nvPr>
        </p:nvSpPr>
        <p:spPr/>
        <p:txBody>
          <a:bodyPr/>
          <a:lstStyle/>
          <a:p>
            <a:pPr>
              <a:defRPr/>
            </a:pPr>
            <a:fld id="{937DAA19-78E2-454A-BF0A-AB51F6D45129}" type="slidenum">
              <a:rPr lang="en-US" altLang="en-US" smtClean="0"/>
              <a:pPr>
                <a:defRPr/>
              </a:pPr>
              <a:t>126</a:t>
            </a:fld>
            <a:endParaRPr lang="en-US" altLang="en-US"/>
          </a:p>
        </p:txBody>
      </p:sp>
    </p:spTree>
    <p:extLst>
      <p:ext uri="{BB962C8B-B14F-4D97-AF65-F5344CB8AC3E}">
        <p14:creationId xmlns:p14="http://schemas.microsoft.com/office/powerpoint/2010/main" val="332810126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CF879CF-0199-403C-A9F9-6811F5170799}"/>
              </a:ext>
            </a:extLst>
          </p:cNvPr>
          <p:cNvPicPr>
            <a:picLocks noChangeAspect="1"/>
          </p:cNvPicPr>
          <p:nvPr/>
        </p:nvPicPr>
        <p:blipFill>
          <a:blip r:embed="rId2"/>
          <a:stretch>
            <a:fillRect/>
          </a:stretch>
        </p:blipFill>
        <p:spPr>
          <a:xfrm>
            <a:off x="0" y="1061201"/>
            <a:ext cx="9143999" cy="4735597"/>
          </a:xfrm>
          <a:prstGeom prst="rect">
            <a:avLst/>
          </a:prstGeom>
        </p:spPr>
      </p:pic>
      <p:sp>
        <p:nvSpPr>
          <p:cNvPr id="2" name="Date Placeholder 1">
            <a:extLst>
              <a:ext uri="{FF2B5EF4-FFF2-40B4-BE49-F238E27FC236}">
                <a16:creationId xmlns:a16="http://schemas.microsoft.com/office/drawing/2014/main" id="{561AA8DF-742B-47AD-9C43-DC0C9B0930A0}"/>
              </a:ext>
            </a:extLst>
          </p:cNvPr>
          <p:cNvSpPr>
            <a:spLocks noGrp="1"/>
          </p:cNvSpPr>
          <p:nvPr>
            <p:ph type="dt" sz="half" idx="10"/>
          </p:nvPr>
        </p:nvSpPr>
        <p:spPr/>
        <p:txBody>
          <a:bodyPr/>
          <a:lstStyle/>
          <a:p>
            <a:pPr>
              <a:defRPr/>
            </a:pPr>
            <a:fld id="{A68CCD88-2109-465E-8F3C-FF65BA2126D2}"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B3EB9F89-5088-F6EE-D975-49262E528C3E}"/>
              </a:ext>
            </a:extLst>
          </p:cNvPr>
          <p:cNvSpPr>
            <a:spLocks noGrp="1"/>
          </p:cNvSpPr>
          <p:nvPr>
            <p:ph type="sldNum" sz="quarter" idx="12"/>
          </p:nvPr>
        </p:nvSpPr>
        <p:spPr/>
        <p:txBody>
          <a:bodyPr/>
          <a:lstStyle/>
          <a:p>
            <a:pPr>
              <a:defRPr/>
            </a:pPr>
            <a:fld id="{937DAA19-78E2-454A-BF0A-AB51F6D45129}" type="slidenum">
              <a:rPr lang="en-US" altLang="en-US" smtClean="0"/>
              <a:pPr>
                <a:defRPr/>
              </a:pPr>
              <a:t>127</a:t>
            </a:fld>
            <a:endParaRPr lang="en-US" altLang="en-US"/>
          </a:p>
        </p:txBody>
      </p:sp>
    </p:spTree>
    <p:extLst>
      <p:ext uri="{BB962C8B-B14F-4D97-AF65-F5344CB8AC3E}">
        <p14:creationId xmlns:p14="http://schemas.microsoft.com/office/powerpoint/2010/main" val="327316170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C066F0-2672-4CAA-A96C-25579A3DE95B}"/>
              </a:ext>
            </a:extLst>
          </p:cNvPr>
          <p:cNvSpPr>
            <a:spLocks noGrp="1"/>
          </p:cNvSpPr>
          <p:nvPr>
            <p:ph idx="1"/>
          </p:nvPr>
        </p:nvSpPr>
        <p:spPr>
          <a:xfrm>
            <a:off x="477104" y="1166018"/>
            <a:ext cx="8229600" cy="4525963"/>
          </a:xfrm>
        </p:spPr>
        <p:txBody>
          <a:bodyPr>
            <a:normAutofit/>
          </a:bodyPr>
          <a:lstStyle/>
          <a:p>
            <a:pPr algn="just"/>
            <a:r>
              <a:rPr lang="en-US" sz="2800" dirty="0"/>
              <a:t>Let us denote </a:t>
            </a:r>
            <a:r>
              <a:rPr lang="en-US" sz="2800" i="1" dirty="0"/>
              <a:t>C(n) </a:t>
            </a:r>
            <a:r>
              <a:rPr lang="en-US" sz="2800" dirty="0"/>
              <a:t>the number of times this comparison is executed and try to find a formula expressing it as a function of size </a:t>
            </a:r>
            <a:r>
              <a:rPr lang="en-US" sz="2800" i="1" dirty="0"/>
              <a:t>n</a:t>
            </a:r>
          </a:p>
          <a:p>
            <a:pPr algn="just"/>
            <a:endParaRPr lang="en-US" sz="2800" i="1" dirty="0"/>
          </a:p>
          <a:p>
            <a:pPr algn="just"/>
            <a:r>
              <a:rPr lang="en-US" sz="2800" dirty="0"/>
              <a:t>The algorithm makes one comparison on each execution of the loop, which is repeated for each value of the loop’s variable </a:t>
            </a:r>
            <a:r>
              <a:rPr lang="en-US" sz="2800" i="1" dirty="0" err="1"/>
              <a:t>i</a:t>
            </a:r>
            <a:r>
              <a:rPr lang="en-US" sz="2800" i="1" dirty="0"/>
              <a:t> </a:t>
            </a:r>
            <a:r>
              <a:rPr lang="en-US" sz="2800" dirty="0"/>
              <a:t>within the bounds 1 and </a:t>
            </a:r>
            <a:r>
              <a:rPr lang="en-US" sz="2800" i="1" dirty="0"/>
              <a:t>n </a:t>
            </a:r>
            <a:r>
              <a:rPr lang="en-US" sz="2800" dirty="0"/>
              <a:t>− 1, inclusive</a:t>
            </a:r>
            <a:endParaRPr lang="en-IN" sz="2800" dirty="0"/>
          </a:p>
        </p:txBody>
      </p:sp>
      <p:sp>
        <p:nvSpPr>
          <p:cNvPr id="2" name="Date Placeholder 1">
            <a:extLst>
              <a:ext uri="{FF2B5EF4-FFF2-40B4-BE49-F238E27FC236}">
                <a16:creationId xmlns:a16="http://schemas.microsoft.com/office/drawing/2014/main" id="{05149AE4-1FB6-B617-8366-723CA2E6E9D8}"/>
              </a:ext>
            </a:extLst>
          </p:cNvPr>
          <p:cNvSpPr>
            <a:spLocks noGrp="1"/>
          </p:cNvSpPr>
          <p:nvPr>
            <p:ph type="dt" sz="half" idx="10"/>
          </p:nvPr>
        </p:nvSpPr>
        <p:spPr/>
        <p:txBody>
          <a:bodyPr/>
          <a:lstStyle/>
          <a:p>
            <a:pPr>
              <a:defRPr/>
            </a:pPr>
            <a:fld id="{3FD556B9-D367-472B-9FBE-D164FCC688C6}"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BF45DD93-C462-FD6B-0567-3C4EAC9930C0}"/>
              </a:ext>
            </a:extLst>
          </p:cNvPr>
          <p:cNvSpPr>
            <a:spLocks noGrp="1"/>
          </p:cNvSpPr>
          <p:nvPr>
            <p:ph type="sldNum" sz="quarter" idx="12"/>
          </p:nvPr>
        </p:nvSpPr>
        <p:spPr/>
        <p:txBody>
          <a:bodyPr/>
          <a:lstStyle/>
          <a:p>
            <a:pPr>
              <a:defRPr/>
            </a:pPr>
            <a:fld id="{937DAA19-78E2-454A-BF0A-AB51F6D45129}" type="slidenum">
              <a:rPr lang="en-US" altLang="en-US" smtClean="0"/>
              <a:pPr>
                <a:defRPr/>
              </a:pPr>
              <a:t>128</a:t>
            </a:fld>
            <a:endParaRPr lang="en-US" altLang="en-US"/>
          </a:p>
        </p:txBody>
      </p:sp>
    </p:spTree>
    <p:extLst>
      <p:ext uri="{BB962C8B-B14F-4D97-AF65-F5344CB8AC3E}">
        <p14:creationId xmlns:p14="http://schemas.microsoft.com/office/powerpoint/2010/main" val="184000254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9C1448-E24E-431B-A6AE-50CB67A21D5F}"/>
              </a:ext>
            </a:extLst>
          </p:cNvPr>
          <p:cNvSpPr>
            <a:spLocks noGrp="1"/>
          </p:cNvSpPr>
          <p:nvPr>
            <p:ph idx="1"/>
          </p:nvPr>
        </p:nvSpPr>
        <p:spPr>
          <a:xfrm>
            <a:off x="457200" y="1166018"/>
            <a:ext cx="8229600" cy="4525963"/>
          </a:xfrm>
        </p:spPr>
        <p:txBody>
          <a:bodyPr/>
          <a:lstStyle/>
          <a:p>
            <a:r>
              <a:rPr lang="en-IN" dirty="0"/>
              <a:t>Therefore, we get the </a:t>
            </a:r>
            <a:r>
              <a:rPr lang="en-US" dirty="0"/>
              <a:t>following sum for </a:t>
            </a:r>
            <a:r>
              <a:rPr lang="en-US" i="1" dirty="0"/>
              <a:t>C(n)</a:t>
            </a:r>
            <a:r>
              <a:rPr lang="en-US" dirty="0"/>
              <a:t>:</a:t>
            </a:r>
          </a:p>
          <a:p>
            <a:r>
              <a:rPr lang="en-US" dirty="0"/>
              <a:t>u-l+1</a:t>
            </a:r>
            <a:endParaRPr lang="en-IN" dirty="0"/>
          </a:p>
        </p:txBody>
      </p:sp>
      <p:pic>
        <p:nvPicPr>
          <p:cNvPr id="5" name="Picture 4">
            <a:extLst>
              <a:ext uri="{FF2B5EF4-FFF2-40B4-BE49-F238E27FC236}">
                <a16:creationId xmlns:a16="http://schemas.microsoft.com/office/drawing/2014/main" id="{0F0700E0-65BD-4037-9287-A0B52418BB19}"/>
              </a:ext>
            </a:extLst>
          </p:cNvPr>
          <p:cNvPicPr>
            <a:picLocks noChangeAspect="1"/>
          </p:cNvPicPr>
          <p:nvPr/>
        </p:nvPicPr>
        <p:blipFill>
          <a:blip r:embed="rId2"/>
          <a:stretch>
            <a:fillRect/>
          </a:stretch>
        </p:blipFill>
        <p:spPr>
          <a:xfrm>
            <a:off x="0" y="2213865"/>
            <a:ext cx="9143999" cy="3318285"/>
          </a:xfrm>
          <a:prstGeom prst="rect">
            <a:avLst/>
          </a:prstGeom>
        </p:spPr>
      </p:pic>
      <p:sp>
        <p:nvSpPr>
          <p:cNvPr id="2" name="Date Placeholder 1">
            <a:extLst>
              <a:ext uri="{FF2B5EF4-FFF2-40B4-BE49-F238E27FC236}">
                <a16:creationId xmlns:a16="http://schemas.microsoft.com/office/drawing/2014/main" id="{478C27D5-B763-C799-EA8C-22E750D13C4E}"/>
              </a:ext>
            </a:extLst>
          </p:cNvPr>
          <p:cNvSpPr>
            <a:spLocks noGrp="1"/>
          </p:cNvSpPr>
          <p:nvPr>
            <p:ph type="dt" sz="half" idx="10"/>
          </p:nvPr>
        </p:nvSpPr>
        <p:spPr/>
        <p:txBody>
          <a:bodyPr/>
          <a:lstStyle/>
          <a:p>
            <a:pPr>
              <a:defRPr/>
            </a:pPr>
            <a:fld id="{10DAFF32-1551-4B0B-A28A-FC3E81E63D1A}"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2234E422-DD53-D6C9-2E50-6C7BF34A1C59}"/>
              </a:ext>
            </a:extLst>
          </p:cNvPr>
          <p:cNvSpPr>
            <a:spLocks noGrp="1"/>
          </p:cNvSpPr>
          <p:nvPr>
            <p:ph type="sldNum" sz="quarter" idx="12"/>
          </p:nvPr>
        </p:nvSpPr>
        <p:spPr/>
        <p:txBody>
          <a:bodyPr/>
          <a:lstStyle/>
          <a:p>
            <a:pPr>
              <a:defRPr/>
            </a:pPr>
            <a:fld id="{937DAA19-78E2-454A-BF0A-AB51F6D45129}" type="slidenum">
              <a:rPr lang="en-US" altLang="en-US" smtClean="0"/>
              <a:pPr>
                <a:defRPr/>
              </a:pPr>
              <a:t>129</a:t>
            </a:fld>
            <a:endParaRPr lang="en-US" altLang="en-US"/>
          </a:p>
        </p:txBody>
      </p:sp>
    </p:spTree>
    <p:extLst>
      <p:ext uri="{BB962C8B-B14F-4D97-AF65-F5344CB8AC3E}">
        <p14:creationId xmlns:p14="http://schemas.microsoft.com/office/powerpoint/2010/main" val="279882421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C781B8-5A72-4F8B-9502-998FBD0928C9}"/>
              </a:ext>
            </a:extLst>
          </p:cNvPr>
          <p:cNvSpPr>
            <a:spLocks noGrp="1"/>
          </p:cNvSpPr>
          <p:nvPr>
            <p:ph idx="1"/>
          </p:nvPr>
        </p:nvSpPr>
        <p:spPr>
          <a:xfrm>
            <a:off x="457200" y="1133745"/>
            <a:ext cx="8345270" cy="4992419"/>
          </a:xfrm>
        </p:spPr>
        <p:txBody>
          <a:bodyPr/>
          <a:lstStyle/>
          <a:p>
            <a:pPr algn="just"/>
            <a:r>
              <a:rPr lang="en-US" dirty="0"/>
              <a:t>We use especially frequently two basic rules </a:t>
            </a:r>
            <a:r>
              <a:rPr lang="en-IN" dirty="0"/>
              <a:t>of sum manipulation</a:t>
            </a:r>
          </a:p>
        </p:txBody>
      </p:sp>
      <p:pic>
        <p:nvPicPr>
          <p:cNvPr id="5" name="Picture 4">
            <a:extLst>
              <a:ext uri="{FF2B5EF4-FFF2-40B4-BE49-F238E27FC236}">
                <a16:creationId xmlns:a16="http://schemas.microsoft.com/office/drawing/2014/main" id="{407798FF-0AC3-419F-AEC4-EAD57FB2B3D9}"/>
              </a:ext>
            </a:extLst>
          </p:cNvPr>
          <p:cNvPicPr>
            <a:picLocks noChangeAspect="1"/>
          </p:cNvPicPr>
          <p:nvPr/>
        </p:nvPicPr>
        <p:blipFill>
          <a:blip r:embed="rId2"/>
          <a:stretch>
            <a:fillRect/>
          </a:stretch>
        </p:blipFill>
        <p:spPr>
          <a:xfrm>
            <a:off x="0" y="2303875"/>
            <a:ext cx="9144000" cy="2883310"/>
          </a:xfrm>
          <a:prstGeom prst="rect">
            <a:avLst/>
          </a:prstGeom>
        </p:spPr>
      </p:pic>
      <p:sp>
        <p:nvSpPr>
          <p:cNvPr id="2" name="Date Placeholder 1">
            <a:extLst>
              <a:ext uri="{FF2B5EF4-FFF2-40B4-BE49-F238E27FC236}">
                <a16:creationId xmlns:a16="http://schemas.microsoft.com/office/drawing/2014/main" id="{46FA6C8F-CE16-F192-B601-3BA276CFE9E1}"/>
              </a:ext>
            </a:extLst>
          </p:cNvPr>
          <p:cNvSpPr>
            <a:spLocks noGrp="1"/>
          </p:cNvSpPr>
          <p:nvPr>
            <p:ph type="dt" sz="half" idx="10"/>
          </p:nvPr>
        </p:nvSpPr>
        <p:spPr/>
        <p:txBody>
          <a:bodyPr/>
          <a:lstStyle/>
          <a:p>
            <a:pPr>
              <a:defRPr/>
            </a:pPr>
            <a:fld id="{1740B488-2B81-4211-AF42-7A24EF340A5D}"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BB738413-A690-7DB7-8412-E6E1FBE57EC4}"/>
              </a:ext>
            </a:extLst>
          </p:cNvPr>
          <p:cNvSpPr>
            <a:spLocks noGrp="1"/>
          </p:cNvSpPr>
          <p:nvPr>
            <p:ph type="sldNum" sz="quarter" idx="12"/>
          </p:nvPr>
        </p:nvSpPr>
        <p:spPr/>
        <p:txBody>
          <a:bodyPr/>
          <a:lstStyle/>
          <a:p>
            <a:pPr>
              <a:defRPr/>
            </a:pPr>
            <a:fld id="{937DAA19-78E2-454A-BF0A-AB51F6D45129}" type="slidenum">
              <a:rPr lang="en-US" altLang="en-US" smtClean="0"/>
              <a:pPr>
                <a:defRPr/>
              </a:pPr>
              <a:t>130</a:t>
            </a:fld>
            <a:endParaRPr lang="en-US" altLang="en-US"/>
          </a:p>
        </p:txBody>
      </p:sp>
    </p:spTree>
    <p:extLst>
      <p:ext uri="{BB962C8B-B14F-4D97-AF65-F5344CB8AC3E}">
        <p14:creationId xmlns:p14="http://schemas.microsoft.com/office/powerpoint/2010/main" val="215349572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074521E-FEC3-4881-978C-030EF621DEDB}"/>
              </a:ext>
            </a:extLst>
          </p:cNvPr>
          <p:cNvPicPr>
            <a:picLocks noChangeAspect="1"/>
          </p:cNvPicPr>
          <p:nvPr/>
        </p:nvPicPr>
        <p:blipFill>
          <a:blip r:embed="rId2"/>
          <a:stretch>
            <a:fillRect/>
          </a:stretch>
        </p:blipFill>
        <p:spPr>
          <a:xfrm>
            <a:off x="0" y="2033844"/>
            <a:ext cx="9144000" cy="2115235"/>
          </a:xfrm>
          <a:prstGeom prst="rect">
            <a:avLst/>
          </a:prstGeom>
        </p:spPr>
      </p:pic>
      <p:sp>
        <p:nvSpPr>
          <p:cNvPr id="2" name="Date Placeholder 1">
            <a:extLst>
              <a:ext uri="{FF2B5EF4-FFF2-40B4-BE49-F238E27FC236}">
                <a16:creationId xmlns:a16="http://schemas.microsoft.com/office/drawing/2014/main" id="{80DD14D4-592C-BBAD-03D2-8780065BB400}"/>
              </a:ext>
            </a:extLst>
          </p:cNvPr>
          <p:cNvSpPr>
            <a:spLocks noGrp="1"/>
          </p:cNvSpPr>
          <p:nvPr>
            <p:ph type="dt" sz="half" idx="10"/>
          </p:nvPr>
        </p:nvSpPr>
        <p:spPr/>
        <p:txBody>
          <a:bodyPr/>
          <a:lstStyle/>
          <a:p>
            <a:pPr>
              <a:defRPr/>
            </a:pPr>
            <a:fld id="{A26F2AD9-BC66-45F1-950E-6C404A293192}"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25369A41-6049-7929-7684-C25C2AAD808F}"/>
              </a:ext>
            </a:extLst>
          </p:cNvPr>
          <p:cNvSpPr>
            <a:spLocks noGrp="1"/>
          </p:cNvSpPr>
          <p:nvPr>
            <p:ph type="sldNum" sz="quarter" idx="12"/>
          </p:nvPr>
        </p:nvSpPr>
        <p:spPr/>
        <p:txBody>
          <a:bodyPr/>
          <a:lstStyle/>
          <a:p>
            <a:pPr>
              <a:defRPr/>
            </a:pPr>
            <a:fld id="{937DAA19-78E2-454A-BF0A-AB51F6D45129}" type="slidenum">
              <a:rPr lang="en-US" altLang="en-US" smtClean="0"/>
              <a:pPr>
                <a:defRPr/>
              </a:pPr>
              <a:t>131</a:t>
            </a:fld>
            <a:endParaRPr lang="en-US" altLang="en-US"/>
          </a:p>
        </p:txBody>
      </p:sp>
    </p:spTree>
    <p:extLst>
      <p:ext uri="{BB962C8B-B14F-4D97-AF65-F5344CB8AC3E}">
        <p14:creationId xmlns:p14="http://schemas.microsoft.com/office/powerpoint/2010/main" val="227864267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808F876-E564-4995-B373-46DC16F2B2EF}"/>
              </a:ext>
            </a:extLst>
          </p:cNvPr>
          <p:cNvPicPr>
            <a:picLocks noChangeAspect="1"/>
          </p:cNvPicPr>
          <p:nvPr/>
        </p:nvPicPr>
        <p:blipFill>
          <a:blip r:embed="rId2"/>
          <a:stretch>
            <a:fillRect/>
          </a:stretch>
        </p:blipFill>
        <p:spPr>
          <a:xfrm>
            <a:off x="0" y="1004945"/>
            <a:ext cx="9143999" cy="4848110"/>
          </a:xfrm>
          <a:prstGeom prst="rect">
            <a:avLst/>
          </a:prstGeom>
        </p:spPr>
      </p:pic>
      <p:sp>
        <p:nvSpPr>
          <p:cNvPr id="2" name="Date Placeholder 1">
            <a:extLst>
              <a:ext uri="{FF2B5EF4-FFF2-40B4-BE49-F238E27FC236}">
                <a16:creationId xmlns:a16="http://schemas.microsoft.com/office/drawing/2014/main" id="{012EE7D8-4BDC-B1DD-ADDF-09769FAFBDA4}"/>
              </a:ext>
            </a:extLst>
          </p:cNvPr>
          <p:cNvSpPr>
            <a:spLocks noGrp="1"/>
          </p:cNvSpPr>
          <p:nvPr>
            <p:ph type="dt" sz="half" idx="10"/>
          </p:nvPr>
        </p:nvSpPr>
        <p:spPr/>
        <p:txBody>
          <a:bodyPr/>
          <a:lstStyle/>
          <a:p>
            <a:pPr>
              <a:defRPr/>
            </a:pPr>
            <a:fld id="{6452D20B-A5F1-479C-BAF0-1678F81EE4F8}"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2D42C654-7935-DB14-0F33-E3C20D8EEE51}"/>
              </a:ext>
            </a:extLst>
          </p:cNvPr>
          <p:cNvSpPr>
            <a:spLocks noGrp="1"/>
          </p:cNvSpPr>
          <p:nvPr>
            <p:ph type="sldNum" sz="quarter" idx="12"/>
          </p:nvPr>
        </p:nvSpPr>
        <p:spPr/>
        <p:txBody>
          <a:bodyPr/>
          <a:lstStyle/>
          <a:p>
            <a:pPr>
              <a:defRPr/>
            </a:pPr>
            <a:fld id="{937DAA19-78E2-454A-BF0A-AB51F6D45129}" type="slidenum">
              <a:rPr lang="en-US" altLang="en-US" smtClean="0"/>
              <a:pPr>
                <a:defRPr/>
              </a:pPr>
              <a:t>132</a:t>
            </a:fld>
            <a:endParaRPr lang="en-US" altLang="en-US"/>
          </a:p>
        </p:txBody>
      </p:sp>
    </p:spTree>
    <p:extLst>
      <p:ext uri="{BB962C8B-B14F-4D97-AF65-F5344CB8AC3E}">
        <p14:creationId xmlns:p14="http://schemas.microsoft.com/office/powerpoint/2010/main" val="413361737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D055D6E-3CD0-478A-8B97-CF6DC63B5DDD}"/>
              </a:ext>
            </a:extLst>
          </p:cNvPr>
          <p:cNvPicPr>
            <a:picLocks noChangeAspect="1"/>
          </p:cNvPicPr>
          <p:nvPr/>
        </p:nvPicPr>
        <p:blipFill>
          <a:blip r:embed="rId2"/>
          <a:stretch>
            <a:fillRect/>
          </a:stretch>
        </p:blipFill>
        <p:spPr>
          <a:xfrm>
            <a:off x="0" y="1194555"/>
            <a:ext cx="9144000" cy="4468889"/>
          </a:xfrm>
          <a:prstGeom prst="rect">
            <a:avLst/>
          </a:prstGeom>
        </p:spPr>
      </p:pic>
      <p:sp>
        <p:nvSpPr>
          <p:cNvPr id="2" name="Date Placeholder 1">
            <a:extLst>
              <a:ext uri="{FF2B5EF4-FFF2-40B4-BE49-F238E27FC236}">
                <a16:creationId xmlns:a16="http://schemas.microsoft.com/office/drawing/2014/main" id="{6CF276FF-4570-83A2-B138-DF068BBF69C3}"/>
              </a:ext>
            </a:extLst>
          </p:cNvPr>
          <p:cNvSpPr>
            <a:spLocks noGrp="1"/>
          </p:cNvSpPr>
          <p:nvPr>
            <p:ph type="dt" sz="half" idx="10"/>
          </p:nvPr>
        </p:nvSpPr>
        <p:spPr/>
        <p:txBody>
          <a:bodyPr/>
          <a:lstStyle/>
          <a:p>
            <a:pPr>
              <a:defRPr/>
            </a:pPr>
            <a:fld id="{33561898-F8D7-4C64-9352-20FC7C3360DA}"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AA70A78B-775B-52FE-ECFF-EB095BC490F8}"/>
              </a:ext>
            </a:extLst>
          </p:cNvPr>
          <p:cNvSpPr>
            <a:spLocks noGrp="1"/>
          </p:cNvSpPr>
          <p:nvPr>
            <p:ph type="sldNum" sz="quarter" idx="12"/>
          </p:nvPr>
        </p:nvSpPr>
        <p:spPr/>
        <p:txBody>
          <a:bodyPr/>
          <a:lstStyle/>
          <a:p>
            <a:pPr>
              <a:defRPr/>
            </a:pPr>
            <a:fld id="{937DAA19-78E2-454A-BF0A-AB51F6D45129}" type="slidenum">
              <a:rPr lang="en-US" altLang="en-US" smtClean="0"/>
              <a:pPr>
                <a:defRPr/>
              </a:pPr>
              <a:t>133</a:t>
            </a:fld>
            <a:endParaRPr lang="en-US" altLang="en-US"/>
          </a:p>
        </p:txBody>
      </p:sp>
    </p:spTree>
    <p:extLst>
      <p:ext uri="{BB962C8B-B14F-4D97-AF65-F5344CB8AC3E}">
        <p14:creationId xmlns:p14="http://schemas.microsoft.com/office/powerpoint/2010/main" val="281802370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83AF98E-C7A4-49EB-8A7B-171FB0EB031A}"/>
              </a:ext>
            </a:extLst>
          </p:cNvPr>
          <p:cNvPicPr>
            <a:picLocks noChangeAspect="1"/>
          </p:cNvPicPr>
          <p:nvPr/>
        </p:nvPicPr>
        <p:blipFill>
          <a:blip r:embed="rId2"/>
          <a:stretch>
            <a:fillRect/>
          </a:stretch>
        </p:blipFill>
        <p:spPr>
          <a:xfrm>
            <a:off x="0" y="984698"/>
            <a:ext cx="9144000" cy="4888603"/>
          </a:xfrm>
          <a:prstGeom prst="rect">
            <a:avLst/>
          </a:prstGeom>
        </p:spPr>
      </p:pic>
      <p:sp>
        <p:nvSpPr>
          <p:cNvPr id="2" name="Date Placeholder 1">
            <a:extLst>
              <a:ext uri="{FF2B5EF4-FFF2-40B4-BE49-F238E27FC236}">
                <a16:creationId xmlns:a16="http://schemas.microsoft.com/office/drawing/2014/main" id="{C7CAF46B-03AD-E67C-671E-D04B5B675823}"/>
              </a:ext>
            </a:extLst>
          </p:cNvPr>
          <p:cNvSpPr>
            <a:spLocks noGrp="1"/>
          </p:cNvSpPr>
          <p:nvPr>
            <p:ph type="dt" sz="half" idx="10"/>
          </p:nvPr>
        </p:nvSpPr>
        <p:spPr/>
        <p:txBody>
          <a:bodyPr/>
          <a:lstStyle/>
          <a:p>
            <a:pPr>
              <a:defRPr/>
            </a:pPr>
            <a:fld id="{E6CF4B12-BEBE-4F04-8BAC-1ED4034C9CF3}"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4D9BF240-AA58-5CB5-795B-3FE1A59CD2AC}"/>
              </a:ext>
            </a:extLst>
          </p:cNvPr>
          <p:cNvSpPr>
            <a:spLocks noGrp="1"/>
          </p:cNvSpPr>
          <p:nvPr>
            <p:ph type="sldNum" sz="quarter" idx="12"/>
          </p:nvPr>
        </p:nvSpPr>
        <p:spPr/>
        <p:txBody>
          <a:bodyPr/>
          <a:lstStyle/>
          <a:p>
            <a:pPr>
              <a:defRPr/>
            </a:pPr>
            <a:fld id="{937DAA19-78E2-454A-BF0A-AB51F6D45129}" type="slidenum">
              <a:rPr lang="en-US" altLang="en-US" smtClean="0"/>
              <a:pPr>
                <a:defRPr/>
              </a:pPr>
              <a:t>134</a:t>
            </a:fld>
            <a:endParaRPr lang="en-US" altLang="en-US"/>
          </a:p>
        </p:txBody>
      </p:sp>
    </p:spTree>
    <p:extLst>
      <p:ext uri="{BB962C8B-B14F-4D97-AF65-F5344CB8AC3E}">
        <p14:creationId xmlns:p14="http://schemas.microsoft.com/office/powerpoint/2010/main" val="174495467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32E98DC-AE98-4433-8C0D-7657EC60A384}"/>
              </a:ext>
            </a:extLst>
          </p:cNvPr>
          <p:cNvPicPr>
            <a:picLocks noChangeAspect="1"/>
          </p:cNvPicPr>
          <p:nvPr/>
        </p:nvPicPr>
        <p:blipFill>
          <a:blip r:embed="rId2"/>
          <a:stretch>
            <a:fillRect/>
          </a:stretch>
        </p:blipFill>
        <p:spPr>
          <a:xfrm>
            <a:off x="-17147" y="1628800"/>
            <a:ext cx="9178296" cy="3600400"/>
          </a:xfrm>
          <a:prstGeom prst="rect">
            <a:avLst/>
          </a:prstGeom>
        </p:spPr>
      </p:pic>
      <p:sp>
        <p:nvSpPr>
          <p:cNvPr id="2" name="Date Placeholder 1">
            <a:extLst>
              <a:ext uri="{FF2B5EF4-FFF2-40B4-BE49-F238E27FC236}">
                <a16:creationId xmlns:a16="http://schemas.microsoft.com/office/drawing/2014/main" id="{7DA0DEFB-DA87-5AE3-B426-839A6678DA4B}"/>
              </a:ext>
            </a:extLst>
          </p:cNvPr>
          <p:cNvSpPr>
            <a:spLocks noGrp="1"/>
          </p:cNvSpPr>
          <p:nvPr>
            <p:ph type="dt" sz="half" idx="10"/>
          </p:nvPr>
        </p:nvSpPr>
        <p:spPr/>
        <p:txBody>
          <a:bodyPr/>
          <a:lstStyle/>
          <a:p>
            <a:pPr>
              <a:defRPr/>
            </a:pPr>
            <a:fld id="{8FAFDA99-9552-4251-8CA1-9C8D57062775}"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72CBD8B9-031B-B957-A562-4F3AFFAD1263}"/>
              </a:ext>
            </a:extLst>
          </p:cNvPr>
          <p:cNvSpPr>
            <a:spLocks noGrp="1"/>
          </p:cNvSpPr>
          <p:nvPr>
            <p:ph type="sldNum" sz="quarter" idx="12"/>
          </p:nvPr>
        </p:nvSpPr>
        <p:spPr/>
        <p:txBody>
          <a:bodyPr/>
          <a:lstStyle/>
          <a:p>
            <a:pPr>
              <a:defRPr/>
            </a:pPr>
            <a:fld id="{937DAA19-78E2-454A-BF0A-AB51F6D45129}" type="slidenum">
              <a:rPr lang="en-US" altLang="en-US" smtClean="0"/>
              <a:pPr>
                <a:defRPr/>
              </a:pPr>
              <a:t>135</a:t>
            </a:fld>
            <a:endParaRPr lang="en-US" altLang="en-US"/>
          </a:p>
        </p:txBody>
      </p:sp>
    </p:spTree>
    <p:extLst>
      <p:ext uri="{BB962C8B-B14F-4D97-AF65-F5344CB8AC3E}">
        <p14:creationId xmlns:p14="http://schemas.microsoft.com/office/powerpoint/2010/main" val="215315566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99CB3F3-A522-415B-A85D-26A4D725FCE0}"/>
              </a:ext>
            </a:extLst>
          </p:cNvPr>
          <p:cNvPicPr>
            <a:picLocks noChangeAspect="1"/>
          </p:cNvPicPr>
          <p:nvPr/>
        </p:nvPicPr>
        <p:blipFill>
          <a:blip r:embed="rId2"/>
          <a:stretch>
            <a:fillRect/>
          </a:stretch>
        </p:blipFill>
        <p:spPr>
          <a:xfrm>
            <a:off x="0" y="1576941"/>
            <a:ext cx="9127079" cy="3697264"/>
          </a:xfrm>
          <a:prstGeom prst="rect">
            <a:avLst/>
          </a:prstGeom>
        </p:spPr>
      </p:pic>
      <p:sp>
        <p:nvSpPr>
          <p:cNvPr id="2" name="Date Placeholder 1">
            <a:extLst>
              <a:ext uri="{FF2B5EF4-FFF2-40B4-BE49-F238E27FC236}">
                <a16:creationId xmlns:a16="http://schemas.microsoft.com/office/drawing/2014/main" id="{5C93D42D-FD24-63A3-C37F-61A54D25274D}"/>
              </a:ext>
            </a:extLst>
          </p:cNvPr>
          <p:cNvSpPr>
            <a:spLocks noGrp="1"/>
          </p:cNvSpPr>
          <p:nvPr>
            <p:ph type="dt" sz="half" idx="10"/>
          </p:nvPr>
        </p:nvSpPr>
        <p:spPr/>
        <p:txBody>
          <a:bodyPr/>
          <a:lstStyle/>
          <a:p>
            <a:pPr>
              <a:defRPr/>
            </a:pPr>
            <a:fld id="{910D8BBF-CF68-4EE8-A730-CC05F804400C}"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957FC4C8-F50C-E57C-1B52-85C9EE7D5515}"/>
              </a:ext>
            </a:extLst>
          </p:cNvPr>
          <p:cNvSpPr>
            <a:spLocks noGrp="1"/>
          </p:cNvSpPr>
          <p:nvPr>
            <p:ph type="sldNum" sz="quarter" idx="12"/>
          </p:nvPr>
        </p:nvSpPr>
        <p:spPr/>
        <p:txBody>
          <a:bodyPr/>
          <a:lstStyle/>
          <a:p>
            <a:pPr>
              <a:defRPr/>
            </a:pPr>
            <a:fld id="{937DAA19-78E2-454A-BF0A-AB51F6D45129}" type="slidenum">
              <a:rPr lang="en-US" altLang="en-US" smtClean="0"/>
              <a:pPr>
                <a:defRPr/>
              </a:pPr>
              <a:t>136</a:t>
            </a:fld>
            <a:endParaRPr lang="en-US" altLang="en-US"/>
          </a:p>
        </p:txBody>
      </p:sp>
    </p:spTree>
    <p:extLst>
      <p:ext uri="{BB962C8B-B14F-4D97-AF65-F5344CB8AC3E}">
        <p14:creationId xmlns:p14="http://schemas.microsoft.com/office/powerpoint/2010/main" val="417897687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0EAE09E-3C2C-4CB7-A6B9-9257C2F5A580}"/>
              </a:ext>
            </a:extLst>
          </p:cNvPr>
          <p:cNvPicPr>
            <a:picLocks noChangeAspect="1"/>
          </p:cNvPicPr>
          <p:nvPr/>
        </p:nvPicPr>
        <p:blipFill>
          <a:blip r:embed="rId2"/>
          <a:stretch>
            <a:fillRect/>
          </a:stretch>
        </p:blipFill>
        <p:spPr>
          <a:xfrm>
            <a:off x="43061" y="1403775"/>
            <a:ext cx="9057877" cy="4050450"/>
          </a:xfrm>
          <a:prstGeom prst="rect">
            <a:avLst/>
          </a:prstGeom>
        </p:spPr>
      </p:pic>
      <p:sp>
        <p:nvSpPr>
          <p:cNvPr id="2" name="Date Placeholder 1">
            <a:extLst>
              <a:ext uri="{FF2B5EF4-FFF2-40B4-BE49-F238E27FC236}">
                <a16:creationId xmlns:a16="http://schemas.microsoft.com/office/drawing/2014/main" id="{296E21F4-53A8-6B9D-0216-2EBAB8CA6526}"/>
              </a:ext>
            </a:extLst>
          </p:cNvPr>
          <p:cNvSpPr>
            <a:spLocks noGrp="1"/>
          </p:cNvSpPr>
          <p:nvPr>
            <p:ph type="dt" sz="half" idx="10"/>
          </p:nvPr>
        </p:nvSpPr>
        <p:spPr/>
        <p:txBody>
          <a:bodyPr/>
          <a:lstStyle/>
          <a:p>
            <a:pPr>
              <a:defRPr/>
            </a:pPr>
            <a:fld id="{000576C4-00C0-40A3-A767-30A2CB347668}"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9512CA87-D690-5501-E63D-21B1248AB996}"/>
              </a:ext>
            </a:extLst>
          </p:cNvPr>
          <p:cNvSpPr>
            <a:spLocks noGrp="1"/>
          </p:cNvSpPr>
          <p:nvPr>
            <p:ph type="sldNum" sz="quarter" idx="12"/>
          </p:nvPr>
        </p:nvSpPr>
        <p:spPr/>
        <p:txBody>
          <a:bodyPr/>
          <a:lstStyle/>
          <a:p>
            <a:pPr>
              <a:defRPr/>
            </a:pPr>
            <a:fld id="{937DAA19-78E2-454A-BF0A-AB51F6D45129}" type="slidenum">
              <a:rPr lang="en-US" altLang="en-US" smtClean="0"/>
              <a:pPr>
                <a:defRPr/>
              </a:pPr>
              <a:t>137</a:t>
            </a:fld>
            <a:endParaRPr lang="en-US" altLang="en-US"/>
          </a:p>
        </p:txBody>
      </p:sp>
    </p:spTree>
    <p:extLst>
      <p:ext uri="{BB962C8B-B14F-4D97-AF65-F5344CB8AC3E}">
        <p14:creationId xmlns:p14="http://schemas.microsoft.com/office/powerpoint/2010/main" val="15192464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7F8C096-A6AC-447E-AA33-EA28600C5B35}"/>
              </a:ext>
            </a:extLst>
          </p:cNvPr>
          <p:cNvPicPr>
            <a:picLocks noChangeAspect="1"/>
          </p:cNvPicPr>
          <p:nvPr/>
        </p:nvPicPr>
        <p:blipFill>
          <a:blip r:embed="rId2"/>
          <a:stretch>
            <a:fillRect/>
          </a:stretch>
        </p:blipFill>
        <p:spPr>
          <a:xfrm>
            <a:off x="0" y="2123855"/>
            <a:ext cx="9144000" cy="2160240"/>
          </a:xfrm>
          <a:prstGeom prst="rect">
            <a:avLst/>
          </a:prstGeom>
        </p:spPr>
      </p:pic>
      <p:sp>
        <p:nvSpPr>
          <p:cNvPr id="2" name="Date Placeholder 1">
            <a:extLst>
              <a:ext uri="{FF2B5EF4-FFF2-40B4-BE49-F238E27FC236}">
                <a16:creationId xmlns:a16="http://schemas.microsoft.com/office/drawing/2014/main" id="{95EC78F1-DD2E-19BB-522F-53113AB3CEEC}"/>
              </a:ext>
            </a:extLst>
          </p:cNvPr>
          <p:cNvSpPr>
            <a:spLocks noGrp="1"/>
          </p:cNvSpPr>
          <p:nvPr>
            <p:ph type="dt" sz="half" idx="10"/>
          </p:nvPr>
        </p:nvSpPr>
        <p:spPr/>
        <p:txBody>
          <a:bodyPr/>
          <a:lstStyle/>
          <a:p>
            <a:pPr>
              <a:defRPr/>
            </a:pPr>
            <a:fld id="{4F491E40-7506-4FA6-95F6-6E2727431A18}"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5488A0D2-245D-1529-8A48-7816C98514E0}"/>
              </a:ext>
            </a:extLst>
          </p:cNvPr>
          <p:cNvSpPr>
            <a:spLocks noGrp="1"/>
          </p:cNvSpPr>
          <p:nvPr>
            <p:ph type="sldNum" sz="quarter" idx="12"/>
          </p:nvPr>
        </p:nvSpPr>
        <p:spPr/>
        <p:txBody>
          <a:bodyPr/>
          <a:lstStyle/>
          <a:p>
            <a:pPr>
              <a:defRPr/>
            </a:pPr>
            <a:fld id="{937DAA19-78E2-454A-BF0A-AB51F6D45129}" type="slidenum">
              <a:rPr lang="en-US" altLang="en-US" smtClean="0"/>
              <a:pPr>
                <a:defRPr/>
              </a:pPr>
              <a:t>138</a:t>
            </a:fld>
            <a:endParaRPr lang="en-US" altLang="en-US"/>
          </a:p>
        </p:txBody>
      </p:sp>
    </p:spTree>
    <p:extLst>
      <p:ext uri="{BB962C8B-B14F-4D97-AF65-F5344CB8AC3E}">
        <p14:creationId xmlns:p14="http://schemas.microsoft.com/office/powerpoint/2010/main" val="428034414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1C0FEAA-6A4D-47D4-BDE9-F649335B1E9B}"/>
              </a:ext>
            </a:extLst>
          </p:cNvPr>
          <p:cNvPicPr>
            <a:picLocks noChangeAspect="1"/>
          </p:cNvPicPr>
          <p:nvPr/>
        </p:nvPicPr>
        <p:blipFill>
          <a:blip r:embed="rId2"/>
          <a:stretch>
            <a:fillRect/>
          </a:stretch>
        </p:blipFill>
        <p:spPr>
          <a:xfrm>
            <a:off x="0" y="1076525"/>
            <a:ext cx="9120261" cy="4692735"/>
          </a:xfrm>
          <a:prstGeom prst="rect">
            <a:avLst/>
          </a:prstGeom>
        </p:spPr>
      </p:pic>
      <p:sp>
        <p:nvSpPr>
          <p:cNvPr id="6" name="Title 1">
            <a:extLst>
              <a:ext uri="{FF2B5EF4-FFF2-40B4-BE49-F238E27FC236}">
                <a16:creationId xmlns:a16="http://schemas.microsoft.com/office/drawing/2014/main" id="{6ACB472D-683B-4337-B382-48D547D16024}"/>
              </a:ext>
            </a:extLst>
          </p:cNvPr>
          <p:cNvSpPr>
            <a:spLocks noGrp="1"/>
          </p:cNvSpPr>
          <p:nvPr>
            <p:ph type="title"/>
          </p:nvPr>
        </p:nvSpPr>
        <p:spPr>
          <a:xfrm>
            <a:off x="155156" y="219935"/>
            <a:ext cx="5721990" cy="360919"/>
          </a:xfrm>
        </p:spPr>
        <p:txBody>
          <a:bodyPr/>
          <a:lstStyle/>
          <a:p>
            <a:r>
              <a:rPr lang="en-US" dirty="0"/>
              <a:t>Assignments…</a:t>
            </a:r>
            <a:endParaRPr lang="en-IN" dirty="0"/>
          </a:p>
        </p:txBody>
      </p:sp>
      <p:sp>
        <p:nvSpPr>
          <p:cNvPr id="2" name="Date Placeholder 1">
            <a:extLst>
              <a:ext uri="{FF2B5EF4-FFF2-40B4-BE49-F238E27FC236}">
                <a16:creationId xmlns:a16="http://schemas.microsoft.com/office/drawing/2014/main" id="{D7A21E53-3D3C-ABF2-0146-DD108E1DECDC}"/>
              </a:ext>
            </a:extLst>
          </p:cNvPr>
          <p:cNvSpPr>
            <a:spLocks noGrp="1"/>
          </p:cNvSpPr>
          <p:nvPr>
            <p:ph type="dt" sz="half" idx="10"/>
          </p:nvPr>
        </p:nvSpPr>
        <p:spPr/>
        <p:txBody>
          <a:bodyPr/>
          <a:lstStyle/>
          <a:p>
            <a:pPr>
              <a:defRPr/>
            </a:pPr>
            <a:fld id="{BD11CCFF-44F9-43AC-94CA-F94890B0DF67}"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115B5FC2-376D-9237-CF37-9A0D8F887662}"/>
              </a:ext>
            </a:extLst>
          </p:cNvPr>
          <p:cNvSpPr>
            <a:spLocks noGrp="1"/>
          </p:cNvSpPr>
          <p:nvPr>
            <p:ph type="sldNum" sz="quarter" idx="12"/>
          </p:nvPr>
        </p:nvSpPr>
        <p:spPr/>
        <p:txBody>
          <a:bodyPr/>
          <a:lstStyle/>
          <a:p>
            <a:pPr>
              <a:defRPr/>
            </a:pPr>
            <a:fld id="{937DAA19-78E2-454A-BF0A-AB51F6D45129}" type="slidenum">
              <a:rPr lang="en-US" altLang="en-US" smtClean="0"/>
              <a:pPr>
                <a:defRPr/>
              </a:pPr>
              <a:t>139</a:t>
            </a:fld>
            <a:endParaRPr lang="en-US" altLang="en-US"/>
          </a:p>
        </p:txBody>
      </p:sp>
    </p:spTree>
    <p:extLst>
      <p:ext uri="{BB962C8B-B14F-4D97-AF65-F5344CB8AC3E}">
        <p14:creationId xmlns:p14="http://schemas.microsoft.com/office/powerpoint/2010/main" val="270240126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0AA85F5-6898-4676-830E-3E8CBF844B90}"/>
              </a:ext>
            </a:extLst>
          </p:cNvPr>
          <p:cNvPicPr>
            <a:picLocks noChangeAspect="1"/>
          </p:cNvPicPr>
          <p:nvPr/>
        </p:nvPicPr>
        <p:blipFill rotWithShape="1">
          <a:blip r:embed="rId2"/>
          <a:srcRect r="13489" b="45406"/>
          <a:stretch/>
        </p:blipFill>
        <p:spPr>
          <a:xfrm>
            <a:off x="0" y="825197"/>
            <a:ext cx="9163548" cy="5664143"/>
          </a:xfrm>
          <a:prstGeom prst="rect">
            <a:avLst/>
          </a:prstGeom>
        </p:spPr>
      </p:pic>
      <p:sp>
        <p:nvSpPr>
          <p:cNvPr id="2" name="Date Placeholder 1">
            <a:extLst>
              <a:ext uri="{FF2B5EF4-FFF2-40B4-BE49-F238E27FC236}">
                <a16:creationId xmlns:a16="http://schemas.microsoft.com/office/drawing/2014/main" id="{D94725CD-5171-3C8F-6AAF-92AF3243FEB7}"/>
              </a:ext>
            </a:extLst>
          </p:cNvPr>
          <p:cNvSpPr>
            <a:spLocks noGrp="1"/>
          </p:cNvSpPr>
          <p:nvPr>
            <p:ph type="dt" sz="half" idx="10"/>
          </p:nvPr>
        </p:nvSpPr>
        <p:spPr/>
        <p:txBody>
          <a:bodyPr/>
          <a:lstStyle/>
          <a:p>
            <a:pPr>
              <a:defRPr/>
            </a:pPr>
            <a:fld id="{A1C0323B-D196-43B1-BEEE-7CD46224D556}"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58599E5D-46A0-B08C-3368-B5B6A0C718B5}"/>
              </a:ext>
            </a:extLst>
          </p:cNvPr>
          <p:cNvSpPr>
            <a:spLocks noGrp="1"/>
          </p:cNvSpPr>
          <p:nvPr>
            <p:ph type="sldNum" sz="quarter" idx="12"/>
          </p:nvPr>
        </p:nvSpPr>
        <p:spPr/>
        <p:txBody>
          <a:bodyPr/>
          <a:lstStyle/>
          <a:p>
            <a:pPr>
              <a:defRPr/>
            </a:pPr>
            <a:fld id="{937DAA19-78E2-454A-BF0A-AB51F6D45129}" type="slidenum">
              <a:rPr lang="en-US" altLang="en-US" smtClean="0"/>
              <a:pPr>
                <a:defRPr/>
              </a:pPr>
              <a:t>140</a:t>
            </a:fld>
            <a:endParaRPr lang="en-US" altLang="en-US"/>
          </a:p>
        </p:txBody>
      </p:sp>
    </p:spTree>
    <p:extLst>
      <p:ext uri="{BB962C8B-B14F-4D97-AF65-F5344CB8AC3E}">
        <p14:creationId xmlns:p14="http://schemas.microsoft.com/office/powerpoint/2010/main" val="86835402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A6F45A-98F5-4A48-8389-EAC5048BC109}"/>
              </a:ext>
            </a:extLst>
          </p:cNvPr>
          <p:cNvPicPr>
            <a:picLocks noChangeAspect="1"/>
          </p:cNvPicPr>
          <p:nvPr/>
        </p:nvPicPr>
        <p:blipFill rotWithShape="1">
          <a:blip r:embed="rId2"/>
          <a:srcRect l="2306" t="53937" r="12846"/>
          <a:stretch/>
        </p:blipFill>
        <p:spPr>
          <a:xfrm>
            <a:off x="0" y="1045684"/>
            <a:ext cx="9144000" cy="4862358"/>
          </a:xfrm>
          <a:prstGeom prst="rect">
            <a:avLst/>
          </a:prstGeom>
        </p:spPr>
      </p:pic>
      <p:sp>
        <p:nvSpPr>
          <p:cNvPr id="2" name="Date Placeholder 1">
            <a:extLst>
              <a:ext uri="{FF2B5EF4-FFF2-40B4-BE49-F238E27FC236}">
                <a16:creationId xmlns:a16="http://schemas.microsoft.com/office/drawing/2014/main" id="{52703627-A4AD-BFF4-AE2B-9C0E33B6119C}"/>
              </a:ext>
            </a:extLst>
          </p:cNvPr>
          <p:cNvSpPr>
            <a:spLocks noGrp="1"/>
          </p:cNvSpPr>
          <p:nvPr>
            <p:ph type="dt" sz="half" idx="10"/>
          </p:nvPr>
        </p:nvSpPr>
        <p:spPr/>
        <p:txBody>
          <a:bodyPr/>
          <a:lstStyle/>
          <a:p>
            <a:pPr>
              <a:defRPr/>
            </a:pPr>
            <a:fld id="{739E72F0-E3F9-4191-B760-0028BCE310F5}"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4870CDAF-CA00-B29F-36E6-1466F3A34255}"/>
              </a:ext>
            </a:extLst>
          </p:cNvPr>
          <p:cNvSpPr>
            <a:spLocks noGrp="1"/>
          </p:cNvSpPr>
          <p:nvPr>
            <p:ph type="sldNum" sz="quarter" idx="12"/>
          </p:nvPr>
        </p:nvSpPr>
        <p:spPr/>
        <p:txBody>
          <a:bodyPr/>
          <a:lstStyle/>
          <a:p>
            <a:pPr>
              <a:defRPr/>
            </a:pPr>
            <a:fld id="{937DAA19-78E2-454A-BF0A-AB51F6D45129}" type="slidenum">
              <a:rPr lang="en-US" altLang="en-US" smtClean="0"/>
              <a:pPr>
                <a:defRPr/>
              </a:pPr>
              <a:t>141</a:t>
            </a:fld>
            <a:endParaRPr lang="en-US" altLang="en-US"/>
          </a:p>
        </p:txBody>
      </p:sp>
    </p:spTree>
    <p:extLst>
      <p:ext uri="{BB962C8B-B14F-4D97-AF65-F5344CB8AC3E}">
        <p14:creationId xmlns:p14="http://schemas.microsoft.com/office/powerpoint/2010/main" val="285575716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A92BE4-DCBB-4364-9C01-848135D345AB}"/>
              </a:ext>
            </a:extLst>
          </p:cNvPr>
          <p:cNvSpPr>
            <a:spLocks noGrp="1"/>
          </p:cNvSpPr>
          <p:nvPr>
            <p:ph idx="1"/>
          </p:nvPr>
        </p:nvSpPr>
        <p:spPr>
          <a:xfrm>
            <a:off x="457200" y="2589257"/>
            <a:ext cx="8229600" cy="1575175"/>
          </a:xfrm>
        </p:spPr>
        <p:txBody>
          <a:bodyPr>
            <a:normAutofit/>
          </a:bodyPr>
          <a:lstStyle/>
          <a:p>
            <a:pPr marL="0" indent="0" algn="ctr">
              <a:buNone/>
            </a:pPr>
            <a:r>
              <a:rPr lang="en-IN" sz="3600" b="1" dirty="0">
                <a:solidFill>
                  <a:srgbClr val="FF0000"/>
                </a:solidFill>
              </a:rPr>
              <a:t>Mathematical Analysis of Recursive Algorithms</a:t>
            </a:r>
          </a:p>
        </p:txBody>
      </p:sp>
      <p:sp>
        <p:nvSpPr>
          <p:cNvPr id="2" name="Date Placeholder 1">
            <a:extLst>
              <a:ext uri="{FF2B5EF4-FFF2-40B4-BE49-F238E27FC236}">
                <a16:creationId xmlns:a16="http://schemas.microsoft.com/office/drawing/2014/main" id="{DA9D725E-6A1A-14F3-B849-F42F81812B4F}"/>
              </a:ext>
            </a:extLst>
          </p:cNvPr>
          <p:cNvSpPr>
            <a:spLocks noGrp="1"/>
          </p:cNvSpPr>
          <p:nvPr>
            <p:ph type="dt" sz="half" idx="10"/>
          </p:nvPr>
        </p:nvSpPr>
        <p:spPr/>
        <p:txBody>
          <a:bodyPr/>
          <a:lstStyle/>
          <a:p>
            <a:pPr>
              <a:defRPr/>
            </a:pPr>
            <a:fld id="{BD09DE40-15B6-4B5E-9666-DC74C80E1BAB}"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3C78576B-9625-B2D5-343A-86EC421D84C8}"/>
              </a:ext>
            </a:extLst>
          </p:cNvPr>
          <p:cNvSpPr>
            <a:spLocks noGrp="1"/>
          </p:cNvSpPr>
          <p:nvPr>
            <p:ph type="sldNum" sz="quarter" idx="12"/>
          </p:nvPr>
        </p:nvSpPr>
        <p:spPr/>
        <p:txBody>
          <a:bodyPr/>
          <a:lstStyle/>
          <a:p>
            <a:pPr>
              <a:defRPr/>
            </a:pPr>
            <a:fld id="{937DAA19-78E2-454A-BF0A-AB51F6D45129}" type="slidenum">
              <a:rPr lang="en-US" altLang="en-US" smtClean="0"/>
              <a:pPr>
                <a:defRPr/>
              </a:pPr>
              <a:t>142</a:t>
            </a:fld>
            <a:endParaRPr lang="en-US" altLang="en-US"/>
          </a:p>
        </p:txBody>
      </p:sp>
    </p:spTree>
    <p:extLst>
      <p:ext uri="{BB962C8B-B14F-4D97-AF65-F5344CB8AC3E}">
        <p14:creationId xmlns:p14="http://schemas.microsoft.com/office/powerpoint/2010/main" val="160255453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B9D97-BEEA-426C-A848-32B660E88B04}"/>
              </a:ext>
            </a:extLst>
          </p:cNvPr>
          <p:cNvSpPr>
            <a:spLocks noGrp="1"/>
          </p:cNvSpPr>
          <p:nvPr>
            <p:ph type="title"/>
          </p:nvPr>
        </p:nvSpPr>
        <p:spPr>
          <a:xfrm>
            <a:off x="161511" y="370917"/>
            <a:ext cx="6120680" cy="360919"/>
          </a:xfrm>
        </p:spPr>
        <p:txBody>
          <a:bodyPr/>
          <a:lstStyle/>
          <a:p>
            <a:r>
              <a:rPr lang="en-US" dirty="0"/>
              <a:t>General Plan for Analyzing the Time Efficiency of Recursive Algorithms</a:t>
            </a:r>
            <a:endParaRPr lang="en-IN" dirty="0"/>
          </a:p>
        </p:txBody>
      </p:sp>
      <p:sp>
        <p:nvSpPr>
          <p:cNvPr id="3" name="Content Placeholder 2">
            <a:extLst>
              <a:ext uri="{FF2B5EF4-FFF2-40B4-BE49-F238E27FC236}">
                <a16:creationId xmlns:a16="http://schemas.microsoft.com/office/drawing/2014/main" id="{072D8EBD-7562-40CE-877F-40482FD90081}"/>
              </a:ext>
            </a:extLst>
          </p:cNvPr>
          <p:cNvSpPr>
            <a:spLocks noGrp="1"/>
          </p:cNvSpPr>
          <p:nvPr>
            <p:ph idx="1"/>
          </p:nvPr>
        </p:nvSpPr>
        <p:spPr/>
        <p:txBody>
          <a:bodyPr>
            <a:noAutofit/>
          </a:bodyPr>
          <a:lstStyle/>
          <a:p>
            <a:pPr marL="514350" indent="-514350" algn="just">
              <a:buAutoNum type="arabicPeriod"/>
            </a:pPr>
            <a:r>
              <a:rPr lang="en-US" sz="2600" dirty="0"/>
              <a:t>Decide on a parameter (or parameters) indicating an input’s size</a:t>
            </a:r>
          </a:p>
          <a:p>
            <a:pPr marL="514350" indent="-514350" algn="just">
              <a:buAutoNum type="arabicPeriod"/>
            </a:pPr>
            <a:endParaRPr lang="en-US" sz="2600" dirty="0"/>
          </a:p>
          <a:p>
            <a:pPr marL="514350" indent="-514350" algn="just">
              <a:buFont typeface="+mj-lt"/>
              <a:buAutoNum type="arabicPeriod"/>
            </a:pPr>
            <a:r>
              <a:rPr lang="en-US" sz="2600" dirty="0"/>
              <a:t>Identify the algorithm’s basic operation</a:t>
            </a:r>
          </a:p>
          <a:p>
            <a:pPr marL="0" indent="0" algn="just">
              <a:buNone/>
            </a:pPr>
            <a:endParaRPr lang="en-US" sz="2600" dirty="0"/>
          </a:p>
          <a:p>
            <a:pPr marL="0" indent="0" algn="just">
              <a:buNone/>
            </a:pPr>
            <a:r>
              <a:rPr lang="en-US" sz="2600" b="1" dirty="0"/>
              <a:t>3. </a:t>
            </a:r>
            <a:r>
              <a:rPr lang="en-US" sz="2600" dirty="0"/>
              <a:t>Check whether the number of times the basic operation is executed can vary on different inputs of the same size; if it can, the worst-case, average-case, and best-case efficiencies must be investigated separately.</a:t>
            </a:r>
          </a:p>
        </p:txBody>
      </p:sp>
      <p:sp>
        <p:nvSpPr>
          <p:cNvPr id="4" name="Date Placeholder 3">
            <a:extLst>
              <a:ext uri="{FF2B5EF4-FFF2-40B4-BE49-F238E27FC236}">
                <a16:creationId xmlns:a16="http://schemas.microsoft.com/office/drawing/2014/main" id="{4C103815-C49C-5F92-F31D-8E281B89B1A8}"/>
              </a:ext>
            </a:extLst>
          </p:cNvPr>
          <p:cNvSpPr>
            <a:spLocks noGrp="1"/>
          </p:cNvSpPr>
          <p:nvPr>
            <p:ph type="dt" sz="half" idx="10"/>
          </p:nvPr>
        </p:nvSpPr>
        <p:spPr/>
        <p:txBody>
          <a:bodyPr/>
          <a:lstStyle/>
          <a:p>
            <a:pPr>
              <a:defRPr/>
            </a:pPr>
            <a:fld id="{1852EB0D-E9C4-460D-964F-596A3CCF35F1}" type="datetime2">
              <a:rPr lang="en-US" smtClean="0"/>
              <a:t>Wednesday, January 22, 2025</a:t>
            </a:fld>
            <a:endParaRPr lang="en-US" altLang="en-US"/>
          </a:p>
        </p:txBody>
      </p:sp>
      <p:sp>
        <p:nvSpPr>
          <p:cNvPr id="5" name="Slide Number Placeholder 4">
            <a:extLst>
              <a:ext uri="{FF2B5EF4-FFF2-40B4-BE49-F238E27FC236}">
                <a16:creationId xmlns:a16="http://schemas.microsoft.com/office/drawing/2014/main" id="{A1728B38-8107-2478-44D8-D5D1E9972C92}"/>
              </a:ext>
            </a:extLst>
          </p:cNvPr>
          <p:cNvSpPr>
            <a:spLocks noGrp="1"/>
          </p:cNvSpPr>
          <p:nvPr>
            <p:ph type="sldNum" sz="quarter" idx="12"/>
          </p:nvPr>
        </p:nvSpPr>
        <p:spPr/>
        <p:txBody>
          <a:bodyPr/>
          <a:lstStyle/>
          <a:p>
            <a:pPr>
              <a:defRPr/>
            </a:pPr>
            <a:fld id="{937DAA19-78E2-454A-BF0A-AB51F6D45129}" type="slidenum">
              <a:rPr lang="en-US" altLang="en-US" smtClean="0"/>
              <a:pPr>
                <a:defRPr/>
              </a:pPr>
              <a:t>143</a:t>
            </a:fld>
            <a:endParaRPr lang="en-US" altLang="en-US"/>
          </a:p>
        </p:txBody>
      </p:sp>
    </p:spTree>
    <p:extLst>
      <p:ext uri="{BB962C8B-B14F-4D97-AF65-F5344CB8AC3E}">
        <p14:creationId xmlns:p14="http://schemas.microsoft.com/office/powerpoint/2010/main" val="292214815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7E2043-AB74-44E5-9576-EB1EC1010949}"/>
              </a:ext>
            </a:extLst>
          </p:cNvPr>
          <p:cNvSpPr>
            <a:spLocks noGrp="1"/>
          </p:cNvSpPr>
          <p:nvPr>
            <p:ph idx="1"/>
          </p:nvPr>
        </p:nvSpPr>
        <p:spPr/>
        <p:txBody>
          <a:bodyPr>
            <a:normAutofit/>
          </a:bodyPr>
          <a:lstStyle/>
          <a:p>
            <a:pPr marL="0" indent="0" algn="just">
              <a:buNone/>
            </a:pPr>
            <a:r>
              <a:rPr lang="en-US" sz="2800" b="1" dirty="0"/>
              <a:t>4. </a:t>
            </a:r>
            <a:r>
              <a:rPr lang="en-US" sz="2800" dirty="0"/>
              <a:t>Set up a recurrence relation, with an appropriate initial condition, for the number of times the basic operation is executed</a:t>
            </a:r>
          </a:p>
          <a:p>
            <a:pPr marL="0" indent="0" algn="just">
              <a:buNone/>
            </a:pPr>
            <a:endParaRPr lang="en-US" sz="2800" dirty="0"/>
          </a:p>
          <a:p>
            <a:pPr marL="0" indent="0" algn="just">
              <a:buNone/>
            </a:pPr>
            <a:r>
              <a:rPr lang="en-US" sz="2800" b="1" dirty="0"/>
              <a:t>5. </a:t>
            </a:r>
            <a:r>
              <a:rPr lang="en-US" sz="2800" dirty="0"/>
              <a:t>Solve the recurrence or, at least, ascertain the order of growth of its solution</a:t>
            </a:r>
            <a:endParaRPr lang="en-IN" sz="2800" dirty="0"/>
          </a:p>
          <a:p>
            <a:pPr algn="just"/>
            <a:endParaRPr lang="en-IN" sz="2800" dirty="0"/>
          </a:p>
        </p:txBody>
      </p:sp>
      <p:sp>
        <p:nvSpPr>
          <p:cNvPr id="2" name="Date Placeholder 1">
            <a:extLst>
              <a:ext uri="{FF2B5EF4-FFF2-40B4-BE49-F238E27FC236}">
                <a16:creationId xmlns:a16="http://schemas.microsoft.com/office/drawing/2014/main" id="{FC8188F1-8C99-95B2-0E7C-71147AF7337D}"/>
              </a:ext>
            </a:extLst>
          </p:cNvPr>
          <p:cNvSpPr>
            <a:spLocks noGrp="1"/>
          </p:cNvSpPr>
          <p:nvPr>
            <p:ph type="dt" sz="half" idx="10"/>
          </p:nvPr>
        </p:nvSpPr>
        <p:spPr/>
        <p:txBody>
          <a:bodyPr/>
          <a:lstStyle/>
          <a:p>
            <a:pPr>
              <a:defRPr/>
            </a:pPr>
            <a:fld id="{75B8838A-A233-4D07-8930-C0E7926A9D45}" type="datetime2">
              <a:rPr lang="en-US" smtClean="0"/>
              <a:t>Wednesday, January 22, 2025</a:t>
            </a:fld>
            <a:endParaRPr lang="en-US" altLang="en-US"/>
          </a:p>
        </p:txBody>
      </p:sp>
      <p:sp>
        <p:nvSpPr>
          <p:cNvPr id="4" name="Slide Number Placeholder 3">
            <a:extLst>
              <a:ext uri="{FF2B5EF4-FFF2-40B4-BE49-F238E27FC236}">
                <a16:creationId xmlns:a16="http://schemas.microsoft.com/office/drawing/2014/main" id="{66A943D8-43F5-C18C-1285-05A0E87F93D5}"/>
              </a:ext>
            </a:extLst>
          </p:cNvPr>
          <p:cNvSpPr>
            <a:spLocks noGrp="1"/>
          </p:cNvSpPr>
          <p:nvPr>
            <p:ph type="sldNum" sz="quarter" idx="12"/>
          </p:nvPr>
        </p:nvSpPr>
        <p:spPr/>
        <p:txBody>
          <a:bodyPr/>
          <a:lstStyle/>
          <a:p>
            <a:pPr>
              <a:defRPr/>
            </a:pPr>
            <a:fld id="{937DAA19-78E2-454A-BF0A-AB51F6D45129}" type="slidenum">
              <a:rPr lang="en-US" altLang="en-US" smtClean="0"/>
              <a:pPr>
                <a:defRPr/>
              </a:pPr>
              <a:t>144</a:t>
            </a:fld>
            <a:endParaRPr lang="en-US" altLang="en-US"/>
          </a:p>
        </p:txBody>
      </p:sp>
    </p:spTree>
    <p:extLst>
      <p:ext uri="{BB962C8B-B14F-4D97-AF65-F5344CB8AC3E}">
        <p14:creationId xmlns:p14="http://schemas.microsoft.com/office/powerpoint/2010/main" val="29574377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3B42713-FBC0-455B-9495-CD59AC372488}"/>
              </a:ext>
            </a:extLst>
          </p:cNvPr>
          <p:cNvPicPr>
            <a:picLocks noChangeAspect="1"/>
          </p:cNvPicPr>
          <p:nvPr/>
        </p:nvPicPr>
        <p:blipFill>
          <a:blip r:embed="rId2"/>
          <a:stretch>
            <a:fillRect/>
          </a:stretch>
        </p:blipFill>
        <p:spPr>
          <a:xfrm>
            <a:off x="24578" y="998730"/>
            <a:ext cx="9119422" cy="4770530"/>
          </a:xfrm>
          <a:prstGeom prst="rect">
            <a:avLst/>
          </a:prstGeom>
        </p:spPr>
      </p:pic>
      <p:sp>
        <p:nvSpPr>
          <p:cNvPr id="2" name="Date Placeholder 1">
            <a:extLst>
              <a:ext uri="{FF2B5EF4-FFF2-40B4-BE49-F238E27FC236}">
                <a16:creationId xmlns:a16="http://schemas.microsoft.com/office/drawing/2014/main" id="{730CC116-CDD6-3571-E284-5D4885A47EDE}"/>
              </a:ext>
            </a:extLst>
          </p:cNvPr>
          <p:cNvSpPr>
            <a:spLocks noGrp="1"/>
          </p:cNvSpPr>
          <p:nvPr>
            <p:ph type="dt" sz="half" idx="10"/>
          </p:nvPr>
        </p:nvSpPr>
        <p:spPr/>
        <p:txBody>
          <a:bodyPr/>
          <a:lstStyle/>
          <a:p>
            <a:pPr>
              <a:defRPr/>
            </a:pPr>
            <a:fld id="{3A72FBBA-9A61-4E49-9B82-F898DDE7FF45}"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82BF3A8A-27E3-3A35-5983-E963A1BCC1A3}"/>
              </a:ext>
            </a:extLst>
          </p:cNvPr>
          <p:cNvSpPr>
            <a:spLocks noGrp="1"/>
          </p:cNvSpPr>
          <p:nvPr>
            <p:ph type="sldNum" sz="quarter" idx="12"/>
          </p:nvPr>
        </p:nvSpPr>
        <p:spPr/>
        <p:txBody>
          <a:bodyPr/>
          <a:lstStyle/>
          <a:p>
            <a:pPr>
              <a:defRPr/>
            </a:pPr>
            <a:fld id="{937DAA19-78E2-454A-BF0A-AB51F6D45129}" type="slidenum">
              <a:rPr lang="en-US" altLang="en-US" smtClean="0"/>
              <a:pPr>
                <a:defRPr/>
              </a:pPr>
              <a:t>145</a:t>
            </a:fld>
            <a:endParaRPr lang="en-US" altLang="en-US"/>
          </a:p>
        </p:txBody>
      </p:sp>
    </p:spTree>
    <p:extLst>
      <p:ext uri="{BB962C8B-B14F-4D97-AF65-F5344CB8AC3E}">
        <p14:creationId xmlns:p14="http://schemas.microsoft.com/office/powerpoint/2010/main" val="417020975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1CA9E6C-2C81-41E0-8F1F-615FFE4611F0}"/>
              </a:ext>
            </a:extLst>
          </p:cNvPr>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154" t="-363" r="2751" b="63571"/>
          <a:stretch/>
        </p:blipFill>
        <p:spPr>
          <a:xfrm>
            <a:off x="-14068" y="1223755"/>
            <a:ext cx="9158067" cy="4095455"/>
          </a:xfrm>
        </p:spPr>
      </p:pic>
      <p:sp>
        <p:nvSpPr>
          <p:cNvPr id="2" name="Date Placeholder 1">
            <a:extLst>
              <a:ext uri="{FF2B5EF4-FFF2-40B4-BE49-F238E27FC236}">
                <a16:creationId xmlns:a16="http://schemas.microsoft.com/office/drawing/2014/main" id="{585A85C0-EB98-48AE-0BA6-D724EDC5A36F}"/>
              </a:ext>
            </a:extLst>
          </p:cNvPr>
          <p:cNvSpPr>
            <a:spLocks noGrp="1"/>
          </p:cNvSpPr>
          <p:nvPr>
            <p:ph type="dt" sz="half" idx="10"/>
          </p:nvPr>
        </p:nvSpPr>
        <p:spPr/>
        <p:txBody>
          <a:bodyPr/>
          <a:lstStyle/>
          <a:p>
            <a:pPr>
              <a:defRPr/>
            </a:pPr>
            <a:fld id="{FA598423-42A1-47DB-8766-721BEE2DB0CF}"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A711BC58-9C80-5D91-55CF-2D1117C12341}"/>
              </a:ext>
            </a:extLst>
          </p:cNvPr>
          <p:cNvSpPr>
            <a:spLocks noGrp="1"/>
          </p:cNvSpPr>
          <p:nvPr>
            <p:ph type="sldNum" sz="quarter" idx="12"/>
          </p:nvPr>
        </p:nvSpPr>
        <p:spPr/>
        <p:txBody>
          <a:bodyPr/>
          <a:lstStyle/>
          <a:p>
            <a:pPr>
              <a:defRPr/>
            </a:pPr>
            <a:fld id="{937DAA19-78E2-454A-BF0A-AB51F6D45129}" type="slidenum">
              <a:rPr lang="en-US" altLang="en-US" smtClean="0"/>
              <a:pPr>
                <a:defRPr/>
              </a:pPr>
              <a:t>146</a:t>
            </a:fld>
            <a:endParaRPr lang="en-US" altLang="en-US"/>
          </a:p>
        </p:txBody>
      </p:sp>
    </p:spTree>
    <p:extLst>
      <p:ext uri="{BB962C8B-B14F-4D97-AF65-F5344CB8AC3E}">
        <p14:creationId xmlns:p14="http://schemas.microsoft.com/office/powerpoint/2010/main" val="117855473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74A244CF-896D-483F-9364-ECB46A4913F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5051" r="1274" b="3405"/>
          <a:stretch/>
        </p:blipFill>
        <p:spPr>
          <a:xfrm>
            <a:off x="0" y="683696"/>
            <a:ext cx="9144000" cy="6174304"/>
          </a:xfrm>
          <a:prstGeom prst="rect">
            <a:avLst/>
          </a:prstGeom>
        </p:spPr>
      </p:pic>
      <p:sp>
        <p:nvSpPr>
          <p:cNvPr id="2" name="Date Placeholder 1">
            <a:extLst>
              <a:ext uri="{FF2B5EF4-FFF2-40B4-BE49-F238E27FC236}">
                <a16:creationId xmlns:a16="http://schemas.microsoft.com/office/drawing/2014/main" id="{82DB0228-4EBA-DC69-E772-6028AB90FAC1}"/>
              </a:ext>
            </a:extLst>
          </p:cNvPr>
          <p:cNvSpPr>
            <a:spLocks noGrp="1"/>
          </p:cNvSpPr>
          <p:nvPr>
            <p:ph type="dt" sz="half" idx="10"/>
          </p:nvPr>
        </p:nvSpPr>
        <p:spPr/>
        <p:txBody>
          <a:bodyPr/>
          <a:lstStyle/>
          <a:p>
            <a:pPr>
              <a:defRPr/>
            </a:pPr>
            <a:fld id="{7DDC0875-5861-41A1-832D-9586DD9D5531}"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1BC61E10-69F7-1AF1-B355-42E040BD5CF3}"/>
              </a:ext>
            </a:extLst>
          </p:cNvPr>
          <p:cNvSpPr>
            <a:spLocks noGrp="1"/>
          </p:cNvSpPr>
          <p:nvPr>
            <p:ph type="sldNum" sz="quarter" idx="12"/>
          </p:nvPr>
        </p:nvSpPr>
        <p:spPr/>
        <p:txBody>
          <a:bodyPr/>
          <a:lstStyle/>
          <a:p>
            <a:pPr>
              <a:defRPr/>
            </a:pPr>
            <a:fld id="{937DAA19-78E2-454A-BF0A-AB51F6D45129}" type="slidenum">
              <a:rPr lang="en-US" altLang="en-US" smtClean="0"/>
              <a:pPr>
                <a:defRPr/>
              </a:pPr>
              <a:t>147</a:t>
            </a:fld>
            <a:endParaRPr lang="en-US" altLang="en-US"/>
          </a:p>
        </p:txBody>
      </p:sp>
    </p:spTree>
    <p:extLst>
      <p:ext uri="{BB962C8B-B14F-4D97-AF65-F5344CB8AC3E}">
        <p14:creationId xmlns:p14="http://schemas.microsoft.com/office/powerpoint/2010/main" val="82951137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878E9C96-56C9-4780-95B2-02761A0A4028}"/>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1178750"/>
            <a:ext cx="9144000" cy="4680520"/>
          </a:xfrm>
        </p:spPr>
      </p:pic>
      <p:sp>
        <p:nvSpPr>
          <p:cNvPr id="2" name="Date Placeholder 1">
            <a:extLst>
              <a:ext uri="{FF2B5EF4-FFF2-40B4-BE49-F238E27FC236}">
                <a16:creationId xmlns:a16="http://schemas.microsoft.com/office/drawing/2014/main" id="{E450D35B-20CF-0361-14D0-14D9A18A6370}"/>
              </a:ext>
            </a:extLst>
          </p:cNvPr>
          <p:cNvSpPr>
            <a:spLocks noGrp="1"/>
          </p:cNvSpPr>
          <p:nvPr>
            <p:ph type="dt" sz="half" idx="10"/>
          </p:nvPr>
        </p:nvSpPr>
        <p:spPr/>
        <p:txBody>
          <a:bodyPr/>
          <a:lstStyle/>
          <a:p>
            <a:pPr>
              <a:defRPr/>
            </a:pPr>
            <a:fld id="{A05F99C4-5DDC-43B1-B24C-49A89AE15455}"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17C9730A-D0A7-8A41-1BE3-62A64A9D0EE2}"/>
              </a:ext>
            </a:extLst>
          </p:cNvPr>
          <p:cNvSpPr>
            <a:spLocks noGrp="1"/>
          </p:cNvSpPr>
          <p:nvPr>
            <p:ph type="sldNum" sz="quarter" idx="12"/>
          </p:nvPr>
        </p:nvSpPr>
        <p:spPr/>
        <p:txBody>
          <a:bodyPr/>
          <a:lstStyle/>
          <a:p>
            <a:pPr>
              <a:defRPr/>
            </a:pPr>
            <a:fld id="{937DAA19-78E2-454A-BF0A-AB51F6D45129}" type="slidenum">
              <a:rPr lang="en-US" altLang="en-US" smtClean="0"/>
              <a:pPr>
                <a:defRPr/>
              </a:pPr>
              <a:t>148</a:t>
            </a:fld>
            <a:endParaRPr lang="en-US" altLang="en-US"/>
          </a:p>
        </p:txBody>
      </p:sp>
    </p:spTree>
    <p:extLst>
      <p:ext uri="{BB962C8B-B14F-4D97-AF65-F5344CB8AC3E}">
        <p14:creationId xmlns:p14="http://schemas.microsoft.com/office/powerpoint/2010/main" val="228015280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A4B5EC8B-9A62-460C-BF22-7B77CDA1A71C}"/>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773705"/>
            <a:ext cx="9144000" cy="5490609"/>
          </a:xfrm>
        </p:spPr>
      </p:pic>
      <p:sp>
        <p:nvSpPr>
          <p:cNvPr id="2" name="Date Placeholder 1">
            <a:extLst>
              <a:ext uri="{FF2B5EF4-FFF2-40B4-BE49-F238E27FC236}">
                <a16:creationId xmlns:a16="http://schemas.microsoft.com/office/drawing/2014/main" id="{FB5037BD-99A5-D18A-3BC1-28937B991329}"/>
              </a:ext>
            </a:extLst>
          </p:cNvPr>
          <p:cNvSpPr>
            <a:spLocks noGrp="1"/>
          </p:cNvSpPr>
          <p:nvPr>
            <p:ph type="dt" sz="half" idx="10"/>
          </p:nvPr>
        </p:nvSpPr>
        <p:spPr/>
        <p:txBody>
          <a:bodyPr/>
          <a:lstStyle/>
          <a:p>
            <a:pPr>
              <a:defRPr/>
            </a:pPr>
            <a:fld id="{DF6ED11B-ED8E-4E60-B40A-929C036C6B6F}"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E82CCA92-1739-8938-3FF4-D9D53C8030ED}"/>
              </a:ext>
            </a:extLst>
          </p:cNvPr>
          <p:cNvSpPr>
            <a:spLocks noGrp="1"/>
          </p:cNvSpPr>
          <p:nvPr>
            <p:ph type="sldNum" sz="quarter" idx="12"/>
          </p:nvPr>
        </p:nvSpPr>
        <p:spPr/>
        <p:txBody>
          <a:bodyPr/>
          <a:lstStyle/>
          <a:p>
            <a:pPr>
              <a:defRPr/>
            </a:pPr>
            <a:fld id="{937DAA19-78E2-454A-BF0A-AB51F6D45129}" type="slidenum">
              <a:rPr lang="en-US" altLang="en-US" smtClean="0"/>
              <a:pPr>
                <a:defRPr/>
              </a:pPr>
              <a:t>149</a:t>
            </a:fld>
            <a:endParaRPr lang="en-US" altLang="en-US"/>
          </a:p>
        </p:txBody>
      </p:sp>
    </p:spTree>
    <p:extLst>
      <p:ext uri="{BB962C8B-B14F-4D97-AF65-F5344CB8AC3E}">
        <p14:creationId xmlns:p14="http://schemas.microsoft.com/office/powerpoint/2010/main" val="143362165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4741FCCE-88CF-41F5-83E4-BABD868E04CA}"/>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43999" cy="6858000"/>
          </a:xfrm>
        </p:spPr>
      </p:pic>
      <p:sp>
        <p:nvSpPr>
          <p:cNvPr id="2" name="Date Placeholder 1">
            <a:extLst>
              <a:ext uri="{FF2B5EF4-FFF2-40B4-BE49-F238E27FC236}">
                <a16:creationId xmlns:a16="http://schemas.microsoft.com/office/drawing/2014/main" id="{B0E7599E-EE82-C1D3-4694-A275A08AC220}"/>
              </a:ext>
            </a:extLst>
          </p:cNvPr>
          <p:cNvSpPr>
            <a:spLocks noGrp="1"/>
          </p:cNvSpPr>
          <p:nvPr>
            <p:ph type="dt" sz="half" idx="10"/>
          </p:nvPr>
        </p:nvSpPr>
        <p:spPr/>
        <p:txBody>
          <a:bodyPr/>
          <a:lstStyle/>
          <a:p>
            <a:pPr>
              <a:defRPr/>
            </a:pPr>
            <a:fld id="{A578E507-B4CF-4E5F-9738-85311D6B4D91}"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8CC76C7E-9972-E3FB-5E50-62B929F79FE9}"/>
              </a:ext>
            </a:extLst>
          </p:cNvPr>
          <p:cNvSpPr>
            <a:spLocks noGrp="1"/>
          </p:cNvSpPr>
          <p:nvPr>
            <p:ph type="sldNum" sz="quarter" idx="12"/>
          </p:nvPr>
        </p:nvSpPr>
        <p:spPr/>
        <p:txBody>
          <a:bodyPr/>
          <a:lstStyle/>
          <a:p>
            <a:pPr>
              <a:defRPr/>
            </a:pPr>
            <a:fld id="{937DAA19-78E2-454A-BF0A-AB51F6D45129}" type="slidenum">
              <a:rPr lang="en-US" altLang="en-US" smtClean="0"/>
              <a:pPr>
                <a:defRPr/>
              </a:pPr>
              <a:t>150</a:t>
            </a:fld>
            <a:endParaRPr lang="en-US" altLang="en-US"/>
          </a:p>
        </p:txBody>
      </p:sp>
    </p:spTree>
    <p:extLst>
      <p:ext uri="{BB962C8B-B14F-4D97-AF65-F5344CB8AC3E}">
        <p14:creationId xmlns:p14="http://schemas.microsoft.com/office/powerpoint/2010/main" val="321555919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5D528C51-8E34-4B02-AA32-DB0DCC5754E7}"/>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638690"/>
            <a:ext cx="9144000" cy="6219310"/>
          </a:xfrm>
        </p:spPr>
      </p:pic>
      <p:sp>
        <p:nvSpPr>
          <p:cNvPr id="2" name="Date Placeholder 1">
            <a:extLst>
              <a:ext uri="{FF2B5EF4-FFF2-40B4-BE49-F238E27FC236}">
                <a16:creationId xmlns:a16="http://schemas.microsoft.com/office/drawing/2014/main" id="{413A34F0-CB15-ABCB-BA12-A741995F5462}"/>
              </a:ext>
            </a:extLst>
          </p:cNvPr>
          <p:cNvSpPr>
            <a:spLocks noGrp="1"/>
          </p:cNvSpPr>
          <p:nvPr>
            <p:ph type="dt" sz="half" idx="10"/>
          </p:nvPr>
        </p:nvSpPr>
        <p:spPr/>
        <p:txBody>
          <a:bodyPr/>
          <a:lstStyle/>
          <a:p>
            <a:pPr>
              <a:defRPr/>
            </a:pPr>
            <a:fld id="{1FA822D2-50DB-4E4A-813A-D66579D464F5}"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9A07BF3E-D025-393B-2E3F-34D292920F96}"/>
              </a:ext>
            </a:extLst>
          </p:cNvPr>
          <p:cNvSpPr>
            <a:spLocks noGrp="1"/>
          </p:cNvSpPr>
          <p:nvPr>
            <p:ph type="sldNum" sz="quarter" idx="12"/>
          </p:nvPr>
        </p:nvSpPr>
        <p:spPr/>
        <p:txBody>
          <a:bodyPr/>
          <a:lstStyle/>
          <a:p>
            <a:pPr>
              <a:defRPr/>
            </a:pPr>
            <a:fld id="{937DAA19-78E2-454A-BF0A-AB51F6D45129}" type="slidenum">
              <a:rPr lang="en-US" altLang="en-US" smtClean="0"/>
              <a:pPr>
                <a:defRPr/>
              </a:pPr>
              <a:t>151</a:t>
            </a:fld>
            <a:endParaRPr lang="en-US" altLang="en-US"/>
          </a:p>
        </p:txBody>
      </p:sp>
    </p:spTree>
    <p:extLst>
      <p:ext uri="{BB962C8B-B14F-4D97-AF65-F5344CB8AC3E}">
        <p14:creationId xmlns:p14="http://schemas.microsoft.com/office/powerpoint/2010/main" val="296857862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934AED10-5445-4521-B35F-5DA75FB4C622}"/>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638690"/>
            <a:ext cx="9143999" cy="6219309"/>
          </a:xfrm>
        </p:spPr>
      </p:pic>
      <p:sp>
        <p:nvSpPr>
          <p:cNvPr id="2" name="Date Placeholder 1">
            <a:extLst>
              <a:ext uri="{FF2B5EF4-FFF2-40B4-BE49-F238E27FC236}">
                <a16:creationId xmlns:a16="http://schemas.microsoft.com/office/drawing/2014/main" id="{2E7247F1-8A58-D54D-7C7E-EF011E22C98F}"/>
              </a:ext>
            </a:extLst>
          </p:cNvPr>
          <p:cNvSpPr>
            <a:spLocks noGrp="1"/>
          </p:cNvSpPr>
          <p:nvPr>
            <p:ph type="dt" sz="half" idx="10"/>
          </p:nvPr>
        </p:nvSpPr>
        <p:spPr/>
        <p:txBody>
          <a:bodyPr/>
          <a:lstStyle/>
          <a:p>
            <a:pPr>
              <a:defRPr/>
            </a:pPr>
            <a:fld id="{7B047C96-FFAB-41C0-A673-6B555394C60D}"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E8E307CE-6ECF-BF54-1E20-9BB8574C3454}"/>
              </a:ext>
            </a:extLst>
          </p:cNvPr>
          <p:cNvSpPr>
            <a:spLocks noGrp="1"/>
          </p:cNvSpPr>
          <p:nvPr>
            <p:ph type="sldNum" sz="quarter" idx="12"/>
          </p:nvPr>
        </p:nvSpPr>
        <p:spPr/>
        <p:txBody>
          <a:bodyPr/>
          <a:lstStyle/>
          <a:p>
            <a:pPr>
              <a:defRPr/>
            </a:pPr>
            <a:fld id="{937DAA19-78E2-454A-BF0A-AB51F6D45129}" type="slidenum">
              <a:rPr lang="en-US" altLang="en-US" smtClean="0"/>
              <a:pPr>
                <a:defRPr/>
              </a:pPr>
              <a:t>152</a:t>
            </a:fld>
            <a:endParaRPr lang="en-US" altLang="en-US"/>
          </a:p>
        </p:txBody>
      </p:sp>
    </p:spTree>
    <p:extLst>
      <p:ext uri="{BB962C8B-B14F-4D97-AF65-F5344CB8AC3E}">
        <p14:creationId xmlns:p14="http://schemas.microsoft.com/office/powerpoint/2010/main" val="56341361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4B85240-2C5F-4211-8677-2F29D0763971}"/>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p:spPr>
      </p:pic>
      <p:sp>
        <p:nvSpPr>
          <p:cNvPr id="2" name="Date Placeholder 1">
            <a:extLst>
              <a:ext uri="{FF2B5EF4-FFF2-40B4-BE49-F238E27FC236}">
                <a16:creationId xmlns:a16="http://schemas.microsoft.com/office/drawing/2014/main" id="{29799B97-9780-417A-E2F7-D9D05DDEC736}"/>
              </a:ext>
            </a:extLst>
          </p:cNvPr>
          <p:cNvSpPr>
            <a:spLocks noGrp="1"/>
          </p:cNvSpPr>
          <p:nvPr>
            <p:ph type="dt" sz="half" idx="10"/>
          </p:nvPr>
        </p:nvSpPr>
        <p:spPr/>
        <p:txBody>
          <a:bodyPr/>
          <a:lstStyle/>
          <a:p>
            <a:pPr>
              <a:defRPr/>
            </a:pPr>
            <a:fld id="{DA212C28-E007-4006-8B26-75CCD557A86F}"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2751F450-166B-D3CB-9082-300B208A16E9}"/>
              </a:ext>
            </a:extLst>
          </p:cNvPr>
          <p:cNvSpPr>
            <a:spLocks noGrp="1"/>
          </p:cNvSpPr>
          <p:nvPr>
            <p:ph type="sldNum" sz="quarter" idx="12"/>
          </p:nvPr>
        </p:nvSpPr>
        <p:spPr/>
        <p:txBody>
          <a:bodyPr/>
          <a:lstStyle/>
          <a:p>
            <a:pPr>
              <a:defRPr/>
            </a:pPr>
            <a:fld id="{937DAA19-78E2-454A-BF0A-AB51F6D45129}" type="slidenum">
              <a:rPr lang="en-US" altLang="en-US" smtClean="0"/>
              <a:pPr>
                <a:defRPr/>
              </a:pPr>
              <a:t>153</a:t>
            </a:fld>
            <a:endParaRPr lang="en-US" altLang="en-US"/>
          </a:p>
        </p:txBody>
      </p:sp>
    </p:spTree>
    <p:extLst>
      <p:ext uri="{BB962C8B-B14F-4D97-AF65-F5344CB8AC3E}">
        <p14:creationId xmlns:p14="http://schemas.microsoft.com/office/powerpoint/2010/main" val="212346172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9F94B1F-5060-4C27-881B-CA5A89187464}"/>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638690"/>
            <a:ext cx="9143999" cy="5670629"/>
          </a:xfrm>
        </p:spPr>
      </p:pic>
      <p:sp>
        <p:nvSpPr>
          <p:cNvPr id="2" name="Date Placeholder 1">
            <a:extLst>
              <a:ext uri="{FF2B5EF4-FFF2-40B4-BE49-F238E27FC236}">
                <a16:creationId xmlns:a16="http://schemas.microsoft.com/office/drawing/2014/main" id="{8158D84A-65C7-378F-FB1E-3F5F30196928}"/>
              </a:ext>
            </a:extLst>
          </p:cNvPr>
          <p:cNvSpPr>
            <a:spLocks noGrp="1"/>
          </p:cNvSpPr>
          <p:nvPr>
            <p:ph type="dt" sz="half" idx="10"/>
          </p:nvPr>
        </p:nvSpPr>
        <p:spPr/>
        <p:txBody>
          <a:bodyPr/>
          <a:lstStyle/>
          <a:p>
            <a:pPr>
              <a:defRPr/>
            </a:pPr>
            <a:fld id="{118D9E2E-3D59-4B5E-B8F5-C8AF265C3335}"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D5111B65-97EC-34FF-536B-DE8F86A6769C}"/>
              </a:ext>
            </a:extLst>
          </p:cNvPr>
          <p:cNvSpPr>
            <a:spLocks noGrp="1"/>
          </p:cNvSpPr>
          <p:nvPr>
            <p:ph type="sldNum" sz="quarter" idx="12"/>
          </p:nvPr>
        </p:nvSpPr>
        <p:spPr/>
        <p:txBody>
          <a:bodyPr/>
          <a:lstStyle/>
          <a:p>
            <a:pPr>
              <a:defRPr/>
            </a:pPr>
            <a:fld id="{937DAA19-78E2-454A-BF0A-AB51F6D45129}" type="slidenum">
              <a:rPr lang="en-US" altLang="en-US" smtClean="0"/>
              <a:pPr>
                <a:defRPr/>
              </a:pPr>
              <a:t>154</a:t>
            </a:fld>
            <a:endParaRPr lang="en-US" altLang="en-US"/>
          </a:p>
        </p:txBody>
      </p:sp>
    </p:spTree>
    <p:extLst>
      <p:ext uri="{BB962C8B-B14F-4D97-AF65-F5344CB8AC3E}">
        <p14:creationId xmlns:p14="http://schemas.microsoft.com/office/powerpoint/2010/main" val="416940801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999BD849-DA18-4881-B82A-9D8DC6B9616B}"/>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883" y="1178750"/>
            <a:ext cx="9144000" cy="4500500"/>
          </a:xfrm>
        </p:spPr>
      </p:pic>
      <p:sp>
        <p:nvSpPr>
          <p:cNvPr id="2" name="Date Placeholder 1">
            <a:extLst>
              <a:ext uri="{FF2B5EF4-FFF2-40B4-BE49-F238E27FC236}">
                <a16:creationId xmlns:a16="http://schemas.microsoft.com/office/drawing/2014/main" id="{D8327723-B415-0331-27B9-0F633EF9BF76}"/>
              </a:ext>
            </a:extLst>
          </p:cNvPr>
          <p:cNvSpPr>
            <a:spLocks noGrp="1"/>
          </p:cNvSpPr>
          <p:nvPr>
            <p:ph type="dt" sz="half" idx="10"/>
          </p:nvPr>
        </p:nvSpPr>
        <p:spPr/>
        <p:txBody>
          <a:bodyPr/>
          <a:lstStyle/>
          <a:p>
            <a:pPr>
              <a:defRPr/>
            </a:pPr>
            <a:fld id="{092F0F58-9D58-437F-9214-48CDCC36301C}"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49018AAD-5494-4DC2-B8BF-16145BFB09E1}"/>
              </a:ext>
            </a:extLst>
          </p:cNvPr>
          <p:cNvSpPr>
            <a:spLocks noGrp="1"/>
          </p:cNvSpPr>
          <p:nvPr>
            <p:ph type="sldNum" sz="quarter" idx="12"/>
          </p:nvPr>
        </p:nvSpPr>
        <p:spPr/>
        <p:txBody>
          <a:bodyPr/>
          <a:lstStyle/>
          <a:p>
            <a:pPr>
              <a:defRPr/>
            </a:pPr>
            <a:fld id="{937DAA19-78E2-454A-BF0A-AB51F6D45129}" type="slidenum">
              <a:rPr lang="en-US" altLang="en-US" smtClean="0"/>
              <a:pPr>
                <a:defRPr/>
              </a:pPr>
              <a:t>155</a:t>
            </a:fld>
            <a:endParaRPr lang="en-US" altLang="en-US"/>
          </a:p>
        </p:txBody>
      </p:sp>
    </p:spTree>
    <p:extLst>
      <p:ext uri="{BB962C8B-B14F-4D97-AF65-F5344CB8AC3E}">
        <p14:creationId xmlns:p14="http://schemas.microsoft.com/office/powerpoint/2010/main" val="2110204294"/>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572DDCFB-5D6B-4D14-82AC-90296D47C7D2}"/>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p:spPr>
      </p:pic>
      <p:sp>
        <p:nvSpPr>
          <p:cNvPr id="2" name="Date Placeholder 1">
            <a:extLst>
              <a:ext uri="{FF2B5EF4-FFF2-40B4-BE49-F238E27FC236}">
                <a16:creationId xmlns:a16="http://schemas.microsoft.com/office/drawing/2014/main" id="{10DD4FD1-2685-E22A-9DD8-2DC6C571068F}"/>
              </a:ext>
            </a:extLst>
          </p:cNvPr>
          <p:cNvSpPr>
            <a:spLocks noGrp="1"/>
          </p:cNvSpPr>
          <p:nvPr>
            <p:ph type="dt" sz="half" idx="10"/>
          </p:nvPr>
        </p:nvSpPr>
        <p:spPr/>
        <p:txBody>
          <a:bodyPr/>
          <a:lstStyle/>
          <a:p>
            <a:pPr>
              <a:defRPr/>
            </a:pPr>
            <a:fld id="{16B79607-1163-477A-BF76-11F21231194D}"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60A02828-709D-D4B8-A8AD-8C629221699C}"/>
              </a:ext>
            </a:extLst>
          </p:cNvPr>
          <p:cNvSpPr>
            <a:spLocks noGrp="1"/>
          </p:cNvSpPr>
          <p:nvPr>
            <p:ph type="sldNum" sz="quarter" idx="12"/>
          </p:nvPr>
        </p:nvSpPr>
        <p:spPr/>
        <p:txBody>
          <a:bodyPr/>
          <a:lstStyle/>
          <a:p>
            <a:pPr>
              <a:defRPr/>
            </a:pPr>
            <a:fld id="{937DAA19-78E2-454A-BF0A-AB51F6D45129}" type="slidenum">
              <a:rPr lang="en-US" altLang="en-US" smtClean="0"/>
              <a:pPr>
                <a:defRPr/>
              </a:pPr>
              <a:t>156</a:t>
            </a:fld>
            <a:endParaRPr lang="en-US" altLang="en-US"/>
          </a:p>
        </p:txBody>
      </p:sp>
    </p:spTree>
    <p:extLst>
      <p:ext uri="{BB962C8B-B14F-4D97-AF65-F5344CB8AC3E}">
        <p14:creationId xmlns:p14="http://schemas.microsoft.com/office/powerpoint/2010/main" val="424117607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B1CC1977-AFBC-4C99-86A5-3D4C7927E15C}"/>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638690"/>
            <a:ext cx="9144000" cy="6219310"/>
          </a:xfrm>
        </p:spPr>
      </p:pic>
      <p:sp>
        <p:nvSpPr>
          <p:cNvPr id="2" name="Date Placeholder 1">
            <a:extLst>
              <a:ext uri="{FF2B5EF4-FFF2-40B4-BE49-F238E27FC236}">
                <a16:creationId xmlns:a16="http://schemas.microsoft.com/office/drawing/2014/main" id="{56F1EA97-05E9-7140-3C05-5ACE1D0AF3D0}"/>
              </a:ext>
            </a:extLst>
          </p:cNvPr>
          <p:cNvSpPr>
            <a:spLocks noGrp="1"/>
          </p:cNvSpPr>
          <p:nvPr>
            <p:ph type="dt" sz="half" idx="10"/>
          </p:nvPr>
        </p:nvSpPr>
        <p:spPr/>
        <p:txBody>
          <a:bodyPr/>
          <a:lstStyle/>
          <a:p>
            <a:pPr>
              <a:defRPr/>
            </a:pPr>
            <a:fld id="{5AD13C1A-4C2F-4DA8-B8DC-BB365DD9838F}" type="datetime2">
              <a:rPr lang="en-US" smtClean="0"/>
              <a:t>Wednesday, January 22, 2025</a:t>
            </a:fld>
            <a:endParaRPr lang="en-US" altLang="en-US"/>
          </a:p>
        </p:txBody>
      </p:sp>
      <p:sp>
        <p:nvSpPr>
          <p:cNvPr id="3" name="Slide Number Placeholder 2">
            <a:extLst>
              <a:ext uri="{FF2B5EF4-FFF2-40B4-BE49-F238E27FC236}">
                <a16:creationId xmlns:a16="http://schemas.microsoft.com/office/drawing/2014/main" id="{D495D286-2268-7BF0-94D1-17573E700CF3}"/>
              </a:ext>
            </a:extLst>
          </p:cNvPr>
          <p:cNvSpPr>
            <a:spLocks noGrp="1"/>
          </p:cNvSpPr>
          <p:nvPr>
            <p:ph type="sldNum" sz="quarter" idx="12"/>
          </p:nvPr>
        </p:nvSpPr>
        <p:spPr/>
        <p:txBody>
          <a:bodyPr/>
          <a:lstStyle/>
          <a:p>
            <a:pPr>
              <a:defRPr/>
            </a:pPr>
            <a:fld id="{937DAA19-78E2-454A-BF0A-AB51F6D45129}" type="slidenum">
              <a:rPr lang="en-US" altLang="en-US" smtClean="0"/>
              <a:pPr>
                <a:defRPr/>
              </a:pPr>
              <a:t>157</a:t>
            </a:fld>
            <a:endParaRPr lang="en-US" altLang="en-US"/>
          </a:p>
        </p:txBody>
      </p:sp>
    </p:spTree>
    <p:extLst>
      <p:ext uri="{BB962C8B-B14F-4D97-AF65-F5344CB8AC3E}">
        <p14:creationId xmlns:p14="http://schemas.microsoft.com/office/powerpoint/2010/main" val="21252616"/>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93785"/>
            <a:ext cx="8229600" cy="4632379"/>
          </a:xfrm>
        </p:spPr>
        <p:txBody>
          <a:bodyPr/>
          <a:lstStyle/>
          <a:p>
            <a:pPr marL="0" indent="0" algn="ctr">
              <a:buNone/>
            </a:pPr>
            <a:endParaRPr lang="en-US" dirty="0"/>
          </a:p>
          <a:p>
            <a:pPr marL="0" indent="0" algn="ctr">
              <a:buNone/>
            </a:pPr>
            <a:endParaRPr lang="en-US" dirty="0"/>
          </a:p>
          <a:p>
            <a:pPr marL="0" indent="0" algn="ctr">
              <a:buNone/>
            </a:pPr>
            <a:r>
              <a:rPr lang="en-US" sz="6000" b="1" dirty="0">
                <a:solidFill>
                  <a:srgbClr val="D927B3"/>
                </a:solidFill>
                <a:latin typeface="Monotype Corsiva" panose="03010101010201010101" pitchFamily="66" charset="0"/>
              </a:rPr>
              <a:t>Thank You!!!</a:t>
            </a:r>
          </a:p>
        </p:txBody>
      </p:sp>
    </p:spTree>
    <p:extLst>
      <p:ext uri="{BB962C8B-B14F-4D97-AF65-F5344CB8AC3E}">
        <p14:creationId xmlns:p14="http://schemas.microsoft.com/office/powerpoint/2010/main" val="1610731470"/>
      </p:ext>
    </p:extLst>
  </p:cSld>
  <p:clrMapOvr>
    <a:masterClrMapping/>
  </p:clrMapOvr>
</p:sld>
</file>

<file path=ppt/theme/theme1.xml><?xml version="1.0" encoding="utf-8"?>
<a:theme xmlns:a="http://schemas.openxmlformats.org/drawingml/2006/main" name="Theme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5367</TotalTime>
  <Words>5517</Words>
  <Application>Microsoft Office PowerPoint</Application>
  <PresentationFormat>On-screen Show (4:3)</PresentationFormat>
  <Paragraphs>680</Paragraphs>
  <Slides>158</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158</vt:i4>
      </vt:variant>
    </vt:vector>
  </HeadingPairs>
  <TitlesOfParts>
    <vt:vector size="167" baseType="lpstr">
      <vt:lpstr>Arial</vt:lpstr>
      <vt:lpstr>Calibri</vt:lpstr>
      <vt:lpstr>Monotype Corsiva</vt:lpstr>
      <vt:lpstr>MT2MIT</vt:lpstr>
      <vt:lpstr>Times New Roman</vt:lpstr>
      <vt:lpstr>Times-Roman</vt:lpstr>
      <vt:lpstr>Trebuchet MS</vt:lpstr>
      <vt:lpstr>Univers-Bold</vt:lpstr>
      <vt:lpstr>Theme2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Graphs</vt:lpstr>
      <vt:lpstr>PowerPoint Presentation</vt:lpstr>
      <vt:lpstr>PowerPoint Presentation</vt:lpstr>
      <vt:lpstr>PowerPoint Presentation</vt:lpstr>
      <vt:lpstr>Graph Representations</vt:lpstr>
      <vt:lpstr>PowerPoint Presentation</vt:lpstr>
      <vt:lpstr>PowerPoint Presentation</vt:lpstr>
      <vt:lpstr>Weighted Graphs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Sets and Dictionaries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Analysis Framework</vt:lpstr>
      <vt:lpstr>Measuring an Input’s Size</vt:lpstr>
      <vt:lpstr>PowerPoint Presentation</vt:lpstr>
      <vt:lpstr>PowerPoint Presentation</vt:lpstr>
      <vt:lpstr>PowerPoint Presentation</vt:lpstr>
      <vt:lpstr>Units for Measuring Running Time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Worst-Case, Best-Case, and  Average-Case Efficiencies</vt:lpstr>
      <vt:lpstr>PowerPoint Presentation</vt:lpstr>
      <vt:lpstr>PowerPoint Presentation</vt:lpstr>
      <vt:lpstr>PowerPoint Presentation</vt:lpstr>
      <vt:lpstr>PowerPoint Presentation</vt:lpstr>
      <vt:lpstr>PowerPoint Presentation</vt:lpstr>
      <vt:lpstr>PowerPoint Presentation</vt:lpstr>
      <vt:lpstr>Asymptotic Notations and Basic Efficiency Classes</vt:lpstr>
      <vt:lpstr>Informal Definition</vt:lpstr>
      <vt:lpstr>PowerPoint Presentation</vt:lpstr>
      <vt:lpstr>PowerPoint Presentation</vt:lpstr>
      <vt:lpstr>Formal Definitions</vt:lpstr>
      <vt:lpstr>PowerPoint Presentation</vt:lpstr>
      <vt:lpstr>Big Omega Notation(Ω)</vt:lpstr>
      <vt:lpstr>PowerPoint Presentation</vt:lpstr>
      <vt:lpstr>Big Theta Notation(θ)</vt:lpstr>
      <vt:lpstr>PowerPoint Presentation</vt:lpstr>
      <vt:lpstr>PowerPoint Presentation</vt:lpstr>
      <vt:lpstr>Using Limits for Comparing Orders of Growth</vt:lpstr>
      <vt:lpstr>PowerPoint Presentation</vt:lpstr>
      <vt:lpstr>PowerPoint Presentation</vt:lpstr>
      <vt:lpstr>PowerPoint Presentation</vt:lpstr>
      <vt:lpstr>PowerPoint Presentation</vt:lpstr>
      <vt:lpstr>o-notation (Little oh)</vt:lpstr>
      <vt:lpstr>PowerPoint Presentation</vt:lpstr>
      <vt:lpstr>Comparing functions</vt:lpstr>
      <vt:lpstr>PowerPoint Presentation</vt:lpstr>
      <vt:lpstr>PowerPoint Presentation</vt:lpstr>
      <vt:lpstr>PowerPoint Presentation</vt:lpstr>
      <vt:lpstr>PowerPoint Presentation</vt:lpstr>
      <vt:lpstr>Standard notations and common functions</vt:lpstr>
      <vt:lpstr>Monotonicity</vt:lpstr>
      <vt:lpstr>Floors and ceilings</vt:lpstr>
      <vt:lpstr>Modular arithmetic</vt:lpstr>
      <vt:lpstr>PowerPoint Presentation</vt:lpstr>
      <vt:lpstr>Polynomials</vt:lpstr>
      <vt:lpstr>Exponentials</vt:lpstr>
      <vt:lpstr>Logarithms</vt:lpstr>
      <vt:lpstr>PowerPoint Presentation</vt:lpstr>
      <vt:lpstr>PowerPoint Presentation</vt:lpstr>
      <vt:lpstr>Factorials</vt:lpstr>
      <vt:lpstr>Functional iteration</vt:lpstr>
      <vt:lpstr>The iterated logarithm function</vt:lpstr>
      <vt:lpstr>Fibonacci numbers</vt:lpstr>
      <vt:lpstr>PowerPoint Presentation</vt:lpstr>
      <vt:lpstr>General Plan for Analyzing the Time Efficiency of Nonrecursive Algorithms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Assignments…</vt:lpstr>
      <vt:lpstr>PowerPoint Presentation</vt:lpstr>
      <vt:lpstr>PowerPoint Presentation</vt:lpstr>
      <vt:lpstr>PowerPoint Presentation</vt:lpstr>
      <vt:lpstr>General Plan for Analyzing the Time Efficiency of Recursive Algorithms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NITTE EDUCATION TRUST</dc:title>
  <dc:creator>Jaya Executive Assistant</dc:creator>
  <cp:lastModifiedBy>Dr. Roshan Fernandes</cp:lastModifiedBy>
  <cp:revision>1785</cp:revision>
  <dcterms:created xsi:type="dcterms:W3CDTF">2016-06-22T07:40:32Z</dcterms:created>
  <dcterms:modified xsi:type="dcterms:W3CDTF">2025-01-22T16:53:31Z</dcterms:modified>
</cp:coreProperties>
</file>